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Lst>
  <p:sldIdLst>
    <p:sldId id="256" r:id="rId2"/>
    <p:sldId id="258" r:id="rId3"/>
    <p:sldId id="259" r:id="rId4"/>
    <p:sldId id="260" r:id="rId5"/>
    <p:sldId id="261" r:id="rId6"/>
    <p:sldId id="262" r:id="rId7"/>
    <p:sldId id="263"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5" r:id="rId28"/>
    <p:sldId id="286" r:id="rId29"/>
    <p:sldId id="287" r:id="rId30"/>
    <p:sldId id="288" r:id="rId31"/>
    <p:sldId id="291" r:id="rId32"/>
    <p:sldId id="289" r:id="rId33"/>
    <p:sldId id="290" r:id="rId34"/>
    <p:sldId id="292" r:id="rId35"/>
    <p:sldId id="293" r:id="rId36"/>
    <p:sldId id="294" r:id="rId37"/>
    <p:sldId id="296" r:id="rId38"/>
    <p:sldId id="297" r:id="rId39"/>
    <p:sldId id="298" r:id="rId40"/>
    <p:sldId id="299" r:id="rId41"/>
    <p:sldId id="300" r:id="rId42"/>
    <p:sldId id="301" r:id="rId43"/>
    <p:sldId id="302" r:id="rId44"/>
    <p:sldId id="303" r:id="rId45"/>
    <p:sldId id="304" r:id="rId46"/>
    <p:sldId id="305" r:id="rId47"/>
    <p:sldId id="264" r:id="rId48"/>
    <p:sldId id="295" r:id="rId49"/>
    <p:sldId id="306"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38" autoAdjust="0"/>
    <p:restoredTop sz="94660"/>
  </p:normalViewPr>
  <p:slideViewPr>
    <p:cSldViewPr snapToGrid="0">
      <p:cViewPr varScale="1">
        <p:scale>
          <a:sx n="88" d="100"/>
          <a:sy n="88" d="100"/>
        </p:scale>
        <p:origin x="50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66DECF7E-790B-4208-BE85-BA64866361CA}" type="datetimeFigureOut">
              <a:rPr lang="es-PE" smtClean="0"/>
              <a:t>12/05/2026</a:t>
            </a:fld>
            <a:endParaRPr lang="es-PE"/>
          </a:p>
        </p:txBody>
      </p:sp>
      <p:sp>
        <p:nvSpPr>
          <p:cNvPr id="5" name="Footer Placeholder 4"/>
          <p:cNvSpPr>
            <a:spLocks noGrp="1"/>
          </p:cNvSpPr>
          <p:nvPr>
            <p:ph type="ftr" sz="quarter" idx="11"/>
          </p:nvPr>
        </p:nvSpPr>
        <p:spPr/>
        <p:txBody>
          <a:bodyPr/>
          <a:lstStyle/>
          <a:p>
            <a:endParaRPr lang="es-PE"/>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s-PE"/>
          </a:p>
        </p:txBody>
      </p:sp>
      <p:sp>
        <p:nvSpPr>
          <p:cNvPr id="6" name="Slide Number Placeholder 5"/>
          <p:cNvSpPr>
            <a:spLocks noGrp="1"/>
          </p:cNvSpPr>
          <p:nvPr>
            <p:ph type="sldNum" sz="quarter" idx="12"/>
          </p:nvPr>
        </p:nvSpPr>
        <p:spPr>
          <a:xfrm>
            <a:off x="531812" y="4529540"/>
            <a:ext cx="779767" cy="365125"/>
          </a:xfrm>
        </p:spPr>
        <p:txBody>
          <a:bodyPr/>
          <a:lstStyle/>
          <a:p>
            <a:fld id="{3CBCDB17-0A84-4892-86BE-98D36B6B4B13}" type="slidenum">
              <a:rPr lang="es-PE" smtClean="0"/>
              <a:t>‹Nº›</a:t>
            </a:fld>
            <a:endParaRPr lang="es-PE"/>
          </a:p>
        </p:txBody>
      </p:sp>
    </p:spTree>
    <p:extLst>
      <p:ext uri="{BB962C8B-B14F-4D97-AF65-F5344CB8AC3E}">
        <p14:creationId xmlns:p14="http://schemas.microsoft.com/office/powerpoint/2010/main" val="334998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6DECF7E-790B-4208-BE85-BA64866361CA}" type="datetimeFigureOut">
              <a:rPr lang="es-PE" smtClean="0"/>
              <a:t>12/05/2026</a:t>
            </a:fld>
            <a:endParaRPr lang="es-PE"/>
          </a:p>
        </p:txBody>
      </p:sp>
      <p:sp>
        <p:nvSpPr>
          <p:cNvPr id="5" name="Footer Placeholder 4"/>
          <p:cNvSpPr>
            <a:spLocks noGrp="1"/>
          </p:cNvSpPr>
          <p:nvPr>
            <p:ph type="ftr" sz="quarter" idx="11"/>
          </p:nvPr>
        </p:nvSpPr>
        <p:spPr/>
        <p:txBody>
          <a:bodyPr/>
          <a:lstStyle/>
          <a:p>
            <a:endParaRPr lang="es-PE"/>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s-PE"/>
          </a:p>
        </p:txBody>
      </p:sp>
      <p:sp>
        <p:nvSpPr>
          <p:cNvPr id="6" name="Slide Number Placeholder 5"/>
          <p:cNvSpPr>
            <a:spLocks noGrp="1"/>
          </p:cNvSpPr>
          <p:nvPr>
            <p:ph type="sldNum" sz="quarter" idx="12"/>
          </p:nvPr>
        </p:nvSpPr>
        <p:spPr/>
        <p:txBody>
          <a:bodyPr/>
          <a:lstStyle/>
          <a:p>
            <a:fld id="{3CBCDB17-0A84-4892-86BE-98D36B6B4B13}" type="slidenum">
              <a:rPr lang="es-PE" smtClean="0"/>
              <a:t>‹Nº›</a:t>
            </a:fld>
            <a:endParaRPr lang="es-PE"/>
          </a:p>
        </p:txBody>
      </p:sp>
    </p:spTree>
    <p:extLst>
      <p:ext uri="{BB962C8B-B14F-4D97-AF65-F5344CB8AC3E}">
        <p14:creationId xmlns:p14="http://schemas.microsoft.com/office/powerpoint/2010/main" val="4269225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66DECF7E-790B-4208-BE85-BA64866361CA}" type="datetimeFigureOut">
              <a:rPr lang="es-PE" smtClean="0"/>
              <a:t>12/05/2026</a:t>
            </a:fld>
            <a:endParaRPr lang="es-PE"/>
          </a:p>
        </p:txBody>
      </p:sp>
      <p:sp>
        <p:nvSpPr>
          <p:cNvPr id="5" name="Footer Placeholder 4"/>
          <p:cNvSpPr>
            <a:spLocks noGrp="1"/>
          </p:cNvSpPr>
          <p:nvPr>
            <p:ph type="ftr" sz="quarter" idx="11"/>
          </p:nvPr>
        </p:nvSpPr>
        <p:spPr/>
        <p:txBody>
          <a:bodyPr/>
          <a:lstStyle/>
          <a:p>
            <a:endParaRPr lang="es-PE"/>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s-PE"/>
          </a:p>
        </p:txBody>
      </p:sp>
      <p:sp>
        <p:nvSpPr>
          <p:cNvPr id="6" name="Slide Number Placeholder 5"/>
          <p:cNvSpPr>
            <a:spLocks noGrp="1"/>
          </p:cNvSpPr>
          <p:nvPr>
            <p:ph type="sldNum" sz="quarter" idx="12"/>
          </p:nvPr>
        </p:nvSpPr>
        <p:spPr>
          <a:xfrm>
            <a:off x="531812" y="3244139"/>
            <a:ext cx="779767" cy="365125"/>
          </a:xfrm>
        </p:spPr>
        <p:txBody>
          <a:bodyPr/>
          <a:lstStyle/>
          <a:p>
            <a:fld id="{3CBCDB17-0A84-4892-86BE-98D36B6B4B13}" type="slidenum">
              <a:rPr lang="es-PE" smtClean="0"/>
              <a:t>‹Nº›</a:t>
            </a:fld>
            <a:endParaRPr lang="es-PE"/>
          </a:p>
        </p:txBody>
      </p:sp>
    </p:spTree>
    <p:extLst>
      <p:ext uri="{BB962C8B-B14F-4D97-AF65-F5344CB8AC3E}">
        <p14:creationId xmlns:p14="http://schemas.microsoft.com/office/powerpoint/2010/main" val="12671732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6DECF7E-790B-4208-BE85-BA64866361CA}" type="datetimeFigureOut">
              <a:rPr lang="es-PE" smtClean="0"/>
              <a:t>12/05/2026</a:t>
            </a:fld>
            <a:endParaRPr lang="es-PE"/>
          </a:p>
        </p:txBody>
      </p:sp>
      <p:sp>
        <p:nvSpPr>
          <p:cNvPr id="6" name="Footer Placeholder 5"/>
          <p:cNvSpPr>
            <a:spLocks noGrp="1"/>
          </p:cNvSpPr>
          <p:nvPr>
            <p:ph type="ftr" sz="quarter" idx="11"/>
          </p:nvPr>
        </p:nvSpPr>
        <p:spPr/>
        <p:txBody>
          <a:bodyPr/>
          <a:lstStyle/>
          <a:p>
            <a:endParaRPr lang="es-PE"/>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s-PE"/>
          </a:p>
        </p:txBody>
      </p:sp>
      <p:sp>
        <p:nvSpPr>
          <p:cNvPr id="13" name="Slide Number Placeholder 5"/>
          <p:cNvSpPr>
            <a:spLocks noGrp="1"/>
          </p:cNvSpPr>
          <p:nvPr>
            <p:ph type="sldNum" sz="quarter" idx="12"/>
          </p:nvPr>
        </p:nvSpPr>
        <p:spPr>
          <a:xfrm>
            <a:off x="531812" y="787782"/>
            <a:ext cx="779767" cy="365125"/>
          </a:xfrm>
        </p:spPr>
        <p:txBody>
          <a:bodyPr/>
          <a:lstStyle/>
          <a:p>
            <a:fld id="{3CBCDB17-0A84-4892-86BE-98D36B6B4B13}" type="slidenum">
              <a:rPr lang="es-PE" smtClean="0"/>
              <a:t>‹Nº›</a:t>
            </a:fld>
            <a:endParaRPr lang="es-PE"/>
          </a:p>
        </p:txBody>
      </p:sp>
    </p:spTree>
    <p:extLst>
      <p:ext uri="{BB962C8B-B14F-4D97-AF65-F5344CB8AC3E}">
        <p14:creationId xmlns:p14="http://schemas.microsoft.com/office/powerpoint/2010/main" val="1421801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66DECF7E-790B-4208-BE85-BA64866361CA}" type="datetimeFigureOut">
              <a:rPr lang="es-PE" smtClean="0"/>
              <a:t>12/05/2026</a:t>
            </a:fld>
            <a:endParaRPr lang="es-PE"/>
          </a:p>
        </p:txBody>
      </p:sp>
      <p:sp>
        <p:nvSpPr>
          <p:cNvPr id="8" name="Footer Placeholder 7"/>
          <p:cNvSpPr>
            <a:spLocks noGrp="1"/>
          </p:cNvSpPr>
          <p:nvPr>
            <p:ph type="ftr" sz="quarter" idx="11"/>
          </p:nvPr>
        </p:nvSpPr>
        <p:spPr/>
        <p:txBody>
          <a:bodyPr/>
          <a:lstStyle/>
          <a:p>
            <a:endParaRPr lang="es-PE"/>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s-PE"/>
          </a:p>
        </p:txBody>
      </p:sp>
      <p:sp>
        <p:nvSpPr>
          <p:cNvPr id="13" name="Slide Number Placeholder 5"/>
          <p:cNvSpPr>
            <a:spLocks noGrp="1"/>
          </p:cNvSpPr>
          <p:nvPr>
            <p:ph type="sldNum" sz="quarter" idx="12"/>
          </p:nvPr>
        </p:nvSpPr>
        <p:spPr>
          <a:xfrm>
            <a:off x="531812" y="787782"/>
            <a:ext cx="779767" cy="365125"/>
          </a:xfrm>
        </p:spPr>
        <p:txBody>
          <a:bodyPr/>
          <a:lstStyle/>
          <a:p>
            <a:fld id="{3CBCDB17-0A84-4892-86BE-98D36B6B4B13}" type="slidenum">
              <a:rPr lang="es-PE" smtClean="0"/>
              <a:t>‹Nº›</a:t>
            </a:fld>
            <a:endParaRPr lang="es-PE"/>
          </a:p>
        </p:txBody>
      </p:sp>
    </p:spTree>
    <p:extLst>
      <p:ext uri="{BB962C8B-B14F-4D97-AF65-F5344CB8AC3E}">
        <p14:creationId xmlns:p14="http://schemas.microsoft.com/office/powerpoint/2010/main" val="12408654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66DECF7E-790B-4208-BE85-BA64866361CA}" type="datetimeFigureOut">
              <a:rPr lang="es-PE" smtClean="0"/>
              <a:t>12/05/2026</a:t>
            </a:fld>
            <a:endParaRPr lang="es-PE"/>
          </a:p>
        </p:txBody>
      </p:sp>
      <p:sp>
        <p:nvSpPr>
          <p:cNvPr id="4" name="Footer Placeholder 3"/>
          <p:cNvSpPr>
            <a:spLocks noGrp="1"/>
          </p:cNvSpPr>
          <p:nvPr>
            <p:ph type="ftr" sz="quarter" idx="11"/>
          </p:nvPr>
        </p:nvSpPr>
        <p:spPr/>
        <p:txBody>
          <a:bodyPr/>
          <a:lstStyle/>
          <a:p>
            <a:endParaRPr lang="es-PE"/>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s-PE"/>
          </a:p>
        </p:txBody>
      </p:sp>
      <p:sp>
        <p:nvSpPr>
          <p:cNvPr id="5" name="Slide Number Placeholder 4"/>
          <p:cNvSpPr>
            <a:spLocks noGrp="1"/>
          </p:cNvSpPr>
          <p:nvPr>
            <p:ph type="sldNum" sz="quarter" idx="12"/>
          </p:nvPr>
        </p:nvSpPr>
        <p:spPr/>
        <p:txBody>
          <a:bodyPr/>
          <a:lstStyle/>
          <a:p>
            <a:fld id="{3CBCDB17-0A84-4892-86BE-98D36B6B4B13}" type="slidenum">
              <a:rPr lang="es-PE" smtClean="0"/>
              <a:t>‹Nº›</a:t>
            </a:fld>
            <a:endParaRPr lang="es-PE"/>
          </a:p>
        </p:txBody>
      </p:sp>
    </p:spTree>
    <p:extLst>
      <p:ext uri="{BB962C8B-B14F-4D97-AF65-F5344CB8AC3E}">
        <p14:creationId xmlns:p14="http://schemas.microsoft.com/office/powerpoint/2010/main" val="606315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DECF7E-790B-4208-BE85-BA64866361CA}" type="datetimeFigureOut">
              <a:rPr lang="es-PE" smtClean="0"/>
              <a:t>12/05/2026</a:t>
            </a:fld>
            <a:endParaRPr lang="es-PE"/>
          </a:p>
        </p:txBody>
      </p:sp>
      <p:sp>
        <p:nvSpPr>
          <p:cNvPr id="3" name="Footer Placeholder 2"/>
          <p:cNvSpPr>
            <a:spLocks noGrp="1"/>
          </p:cNvSpPr>
          <p:nvPr>
            <p:ph type="ftr" sz="quarter" idx="11"/>
          </p:nvPr>
        </p:nvSpPr>
        <p:spPr/>
        <p:txBody>
          <a:bodyPr/>
          <a:lstStyle/>
          <a:p>
            <a:endParaRPr lang="es-PE"/>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s-PE"/>
          </a:p>
        </p:txBody>
      </p:sp>
      <p:sp>
        <p:nvSpPr>
          <p:cNvPr id="4" name="Slide Number Placeholder 3"/>
          <p:cNvSpPr>
            <a:spLocks noGrp="1"/>
          </p:cNvSpPr>
          <p:nvPr>
            <p:ph type="sldNum" sz="quarter" idx="12"/>
          </p:nvPr>
        </p:nvSpPr>
        <p:spPr/>
        <p:txBody>
          <a:bodyPr/>
          <a:lstStyle/>
          <a:p>
            <a:fld id="{3CBCDB17-0A84-4892-86BE-98D36B6B4B13}" type="slidenum">
              <a:rPr lang="es-PE" smtClean="0"/>
              <a:t>‹Nº›</a:t>
            </a:fld>
            <a:endParaRPr lang="es-PE"/>
          </a:p>
        </p:txBody>
      </p:sp>
    </p:spTree>
    <p:extLst>
      <p:ext uri="{BB962C8B-B14F-4D97-AF65-F5344CB8AC3E}">
        <p14:creationId xmlns:p14="http://schemas.microsoft.com/office/powerpoint/2010/main" val="25324076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6DECF7E-790B-4208-BE85-BA64866361CA}" type="datetimeFigureOut">
              <a:rPr lang="es-PE" smtClean="0"/>
              <a:t>12/05/2026</a:t>
            </a:fld>
            <a:endParaRPr lang="es-PE"/>
          </a:p>
        </p:txBody>
      </p:sp>
      <p:sp>
        <p:nvSpPr>
          <p:cNvPr id="6" name="Footer Placeholder 5"/>
          <p:cNvSpPr>
            <a:spLocks noGrp="1"/>
          </p:cNvSpPr>
          <p:nvPr>
            <p:ph type="ftr" sz="quarter" idx="11"/>
          </p:nvPr>
        </p:nvSpPr>
        <p:spPr/>
        <p:txBody>
          <a:bodyPr/>
          <a:lstStyle/>
          <a:p>
            <a:endParaRPr lang="es-PE"/>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s-PE"/>
          </a:p>
        </p:txBody>
      </p:sp>
      <p:sp>
        <p:nvSpPr>
          <p:cNvPr id="7" name="Slide Number Placeholder 6"/>
          <p:cNvSpPr>
            <a:spLocks noGrp="1"/>
          </p:cNvSpPr>
          <p:nvPr>
            <p:ph type="sldNum" sz="quarter" idx="12"/>
          </p:nvPr>
        </p:nvSpPr>
        <p:spPr/>
        <p:txBody>
          <a:bodyPr/>
          <a:lstStyle/>
          <a:p>
            <a:fld id="{3CBCDB17-0A84-4892-86BE-98D36B6B4B13}" type="slidenum">
              <a:rPr lang="es-PE" smtClean="0"/>
              <a:t>‹Nº›</a:t>
            </a:fld>
            <a:endParaRPr lang="es-PE"/>
          </a:p>
        </p:txBody>
      </p:sp>
    </p:spTree>
    <p:extLst>
      <p:ext uri="{BB962C8B-B14F-4D97-AF65-F5344CB8AC3E}">
        <p14:creationId xmlns:p14="http://schemas.microsoft.com/office/powerpoint/2010/main" val="2575442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6DECF7E-790B-4208-BE85-BA64866361CA}" type="datetimeFigureOut">
              <a:rPr lang="es-PE" smtClean="0"/>
              <a:t>12/05/2026</a:t>
            </a:fld>
            <a:endParaRPr lang="es-PE"/>
          </a:p>
        </p:txBody>
      </p:sp>
      <p:sp>
        <p:nvSpPr>
          <p:cNvPr id="6" name="Footer Placeholder 5"/>
          <p:cNvSpPr>
            <a:spLocks noGrp="1"/>
          </p:cNvSpPr>
          <p:nvPr>
            <p:ph type="ftr" sz="quarter" idx="11"/>
          </p:nvPr>
        </p:nvSpPr>
        <p:spPr/>
        <p:txBody>
          <a:bodyPr/>
          <a:lstStyle/>
          <a:p>
            <a:endParaRPr lang="es-PE"/>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s-PE"/>
          </a:p>
        </p:txBody>
      </p:sp>
      <p:sp>
        <p:nvSpPr>
          <p:cNvPr id="7" name="Slide Number Placeholder 6"/>
          <p:cNvSpPr>
            <a:spLocks noGrp="1"/>
          </p:cNvSpPr>
          <p:nvPr>
            <p:ph type="sldNum" sz="quarter" idx="12"/>
          </p:nvPr>
        </p:nvSpPr>
        <p:spPr>
          <a:xfrm>
            <a:off x="531812" y="4983087"/>
            <a:ext cx="779767" cy="365125"/>
          </a:xfrm>
        </p:spPr>
        <p:txBody>
          <a:bodyPr/>
          <a:lstStyle/>
          <a:p>
            <a:fld id="{3CBCDB17-0A84-4892-86BE-98D36B6B4B13}" type="slidenum">
              <a:rPr lang="es-PE" smtClean="0"/>
              <a:t>‹Nº›</a:t>
            </a:fld>
            <a:endParaRPr lang="es-PE"/>
          </a:p>
        </p:txBody>
      </p:sp>
    </p:spTree>
    <p:extLst>
      <p:ext uri="{BB962C8B-B14F-4D97-AF65-F5344CB8AC3E}">
        <p14:creationId xmlns:p14="http://schemas.microsoft.com/office/powerpoint/2010/main" val="11550253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66DECF7E-790B-4208-BE85-BA64866361CA}" type="datetimeFigureOut">
              <a:rPr lang="es-PE" smtClean="0"/>
              <a:t>12/05/2026</a:t>
            </a:fld>
            <a:endParaRPr lang="es-PE"/>
          </a:p>
        </p:txBody>
      </p:sp>
      <p:sp>
        <p:nvSpPr>
          <p:cNvPr id="5" name="Footer Placeholder 4"/>
          <p:cNvSpPr>
            <a:spLocks noGrp="1"/>
          </p:cNvSpPr>
          <p:nvPr>
            <p:ph type="ftr" sz="quarter" idx="11"/>
          </p:nvPr>
        </p:nvSpPr>
        <p:spPr/>
        <p:txBody>
          <a:bodyPr/>
          <a:lstStyle/>
          <a:p>
            <a:endParaRPr lang="es-PE"/>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s-PE"/>
          </a:p>
        </p:txBody>
      </p:sp>
      <p:sp>
        <p:nvSpPr>
          <p:cNvPr id="6" name="Slide Number Placeholder 5"/>
          <p:cNvSpPr>
            <a:spLocks noGrp="1"/>
          </p:cNvSpPr>
          <p:nvPr>
            <p:ph type="sldNum" sz="quarter" idx="12"/>
          </p:nvPr>
        </p:nvSpPr>
        <p:spPr>
          <a:xfrm>
            <a:off x="531812" y="3244139"/>
            <a:ext cx="779767" cy="365125"/>
          </a:xfrm>
        </p:spPr>
        <p:txBody>
          <a:bodyPr/>
          <a:lstStyle/>
          <a:p>
            <a:fld id="{3CBCDB17-0A84-4892-86BE-98D36B6B4B13}" type="slidenum">
              <a:rPr lang="es-PE" smtClean="0"/>
              <a:t>‹Nº›</a:t>
            </a:fld>
            <a:endParaRPr lang="es-PE"/>
          </a:p>
        </p:txBody>
      </p:sp>
    </p:spTree>
    <p:extLst>
      <p:ext uri="{BB962C8B-B14F-4D97-AF65-F5344CB8AC3E}">
        <p14:creationId xmlns:p14="http://schemas.microsoft.com/office/powerpoint/2010/main" val="28044909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66DECF7E-790B-4208-BE85-BA64866361CA}" type="datetimeFigureOut">
              <a:rPr lang="es-PE" smtClean="0"/>
              <a:t>12/05/2026</a:t>
            </a:fld>
            <a:endParaRPr lang="es-PE"/>
          </a:p>
        </p:txBody>
      </p:sp>
      <p:sp>
        <p:nvSpPr>
          <p:cNvPr id="5" name="Footer Placeholder 4"/>
          <p:cNvSpPr>
            <a:spLocks noGrp="1"/>
          </p:cNvSpPr>
          <p:nvPr>
            <p:ph type="ftr" sz="quarter" idx="11"/>
          </p:nvPr>
        </p:nvSpPr>
        <p:spPr/>
        <p:txBody>
          <a:bodyPr/>
          <a:lstStyle/>
          <a:p>
            <a:endParaRPr lang="es-PE"/>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s-PE"/>
          </a:p>
        </p:txBody>
      </p:sp>
      <p:sp>
        <p:nvSpPr>
          <p:cNvPr id="6" name="Slide Number Placeholder 5"/>
          <p:cNvSpPr>
            <a:spLocks noGrp="1"/>
          </p:cNvSpPr>
          <p:nvPr>
            <p:ph type="sldNum" sz="quarter" idx="12"/>
          </p:nvPr>
        </p:nvSpPr>
        <p:spPr>
          <a:xfrm>
            <a:off x="531812" y="3244139"/>
            <a:ext cx="779767" cy="365125"/>
          </a:xfrm>
        </p:spPr>
        <p:txBody>
          <a:bodyPr/>
          <a:lstStyle/>
          <a:p>
            <a:fld id="{3CBCDB17-0A84-4892-86BE-98D36B6B4B13}" type="slidenum">
              <a:rPr lang="es-PE" smtClean="0"/>
              <a:t>‹Nº›</a:t>
            </a:fld>
            <a:endParaRPr lang="es-PE"/>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1695892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66DECF7E-790B-4208-BE85-BA64866361CA}" type="datetimeFigureOut">
              <a:rPr lang="es-PE" smtClean="0"/>
              <a:t>12/05/2026</a:t>
            </a:fld>
            <a:endParaRPr lang="es-PE"/>
          </a:p>
        </p:txBody>
      </p:sp>
      <p:sp>
        <p:nvSpPr>
          <p:cNvPr id="6" name="Footer Placeholder 5"/>
          <p:cNvSpPr>
            <a:spLocks noGrp="1"/>
          </p:cNvSpPr>
          <p:nvPr>
            <p:ph type="ftr" sz="quarter" idx="11"/>
          </p:nvPr>
        </p:nvSpPr>
        <p:spPr/>
        <p:txBody>
          <a:bodyPr/>
          <a:lstStyle/>
          <a:p>
            <a:endParaRPr lang="es-PE"/>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s-PE"/>
          </a:p>
        </p:txBody>
      </p:sp>
      <p:sp>
        <p:nvSpPr>
          <p:cNvPr id="7" name="Slide Number Placeholder 6"/>
          <p:cNvSpPr>
            <a:spLocks noGrp="1"/>
          </p:cNvSpPr>
          <p:nvPr>
            <p:ph type="sldNum" sz="quarter" idx="12"/>
          </p:nvPr>
        </p:nvSpPr>
        <p:spPr>
          <a:xfrm>
            <a:off x="531812" y="4983087"/>
            <a:ext cx="779767" cy="365125"/>
          </a:xfrm>
        </p:spPr>
        <p:txBody>
          <a:bodyPr/>
          <a:lstStyle/>
          <a:p>
            <a:fld id="{3CBCDB17-0A84-4892-86BE-98D36B6B4B13}" type="slidenum">
              <a:rPr lang="es-PE" smtClean="0"/>
              <a:t>‹Nº›</a:t>
            </a:fld>
            <a:endParaRPr lang="es-PE"/>
          </a:p>
        </p:txBody>
      </p:sp>
    </p:spTree>
    <p:extLst>
      <p:ext uri="{BB962C8B-B14F-4D97-AF65-F5344CB8AC3E}">
        <p14:creationId xmlns:p14="http://schemas.microsoft.com/office/powerpoint/2010/main" val="26741826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66DECF7E-790B-4208-BE85-BA64866361CA}" type="datetimeFigureOut">
              <a:rPr lang="es-PE" smtClean="0"/>
              <a:t>12/05/2026</a:t>
            </a:fld>
            <a:endParaRPr lang="es-PE"/>
          </a:p>
        </p:txBody>
      </p:sp>
      <p:sp>
        <p:nvSpPr>
          <p:cNvPr id="6" name="Footer Placeholder 5"/>
          <p:cNvSpPr>
            <a:spLocks noGrp="1"/>
          </p:cNvSpPr>
          <p:nvPr>
            <p:ph type="ftr" sz="quarter" idx="11"/>
          </p:nvPr>
        </p:nvSpPr>
        <p:spPr/>
        <p:txBody>
          <a:bodyPr/>
          <a:lstStyle/>
          <a:p>
            <a:endParaRPr lang="es-PE"/>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s-PE"/>
          </a:p>
        </p:txBody>
      </p:sp>
      <p:sp>
        <p:nvSpPr>
          <p:cNvPr id="7" name="Slide Number Placeholder 6"/>
          <p:cNvSpPr>
            <a:spLocks noGrp="1"/>
          </p:cNvSpPr>
          <p:nvPr>
            <p:ph type="sldNum" sz="quarter" idx="12"/>
          </p:nvPr>
        </p:nvSpPr>
        <p:spPr>
          <a:xfrm>
            <a:off x="531812" y="4983087"/>
            <a:ext cx="779767" cy="365125"/>
          </a:xfrm>
        </p:spPr>
        <p:txBody>
          <a:bodyPr/>
          <a:lstStyle/>
          <a:p>
            <a:fld id="{3CBCDB17-0A84-4892-86BE-98D36B6B4B13}" type="slidenum">
              <a:rPr lang="es-PE" smtClean="0"/>
              <a:t>‹Nº›</a:t>
            </a:fld>
            <a:endParaRPr lang="es-PE"/>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1905647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66DECF7E-790B-4208-BE85-BA64866361CA}" type="datetimeFigureOut">
              <a:rPr lang="es-PE" smtClean="0"/>
              <a:t>12/05/2026</a:t>
            </a:fld>
            <a:endParaRPr lang="es-PE"/>
          </a:p>
        </p:txBody>
      </p:sp>
      <p:sp>
        <p:nvSpPr>
          <p:cNvPr id="6" name="Footer Placeholder 5"/>
          <p:cNvSpPr>
            <a:spLocks noGrp="1"/>
          </p:cNvSpPr>
          <p:nvPr>
            <p:ph type="ftr" sz="quarter" idx="11"/>
          </p:nvPr>
        </p:nvSpPr>
        <p:spPr/>
        <p:txBody>
          <a:bodyPr/>
          <a:lstStyle/>
          <a:p>
            <a:endParaRPr lang="es-PE"/>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s-PE"/>
          </a:p>
        </p:txBody>
      </p:sp>
      <p:sp>
        <p:nvSpPr>
          <p:cNvPr id="7" name="Slide Number Placeholder 6"/>
          <p:cNvSpPr>
            <a:spLocks noGrp="1"/>
          </p:cNvSpPr>
          <p:nvPr>
            <p:ph type="sldNum" sz="quarter" idx="12"/>
          </p:nvPr>
        </p:nvSpPr>
        <p:spPr>
          <a:xfrm>
            <a:off x="531812" y="4983087"/>
            <a:ext cx="779767" cy="365125"/>
          </a:xfrm>
        </p:spPr>
        <p:txBody>
          <a:bodyPr/>
          <a:lstStyle/>
          <a:p>
            <a:fld id="{3CBCDB17-0A84-4892-86BE-98D36B6B4B13}" type="slidenum">
              <a:rPr lang="es-PE" smtClean="0"/>
              <a:t>‹Nº›</a:t>
            </a:fld>
            <a:endParaRPr lang="es-PE"/>
          </a:p>
        </p:txBody>
      </p:sp>
    </p:spTree>
    <p:extLst>
      <p:ext uri="{BB962C8B-B14F-4D97-AF65-F5344CB8AC3E}">
        <p14:creationId xmlns:p14="http://schemas.microsoft.com/office/powerpoint/2010/main" val="12749004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6DECF7E-790B-4208-BE85-BA64866361CA}" type="datetimeFigureOut">
              <a:rPr lang="es-PE" smtClean="0"/>
              <a:t>12/05/2026</a:t>
            </a:fld>
            <a:endParaRPr lang="es-PE"/>
          </a:p>
        </p:txBody>
      </p:sp>
      <p:sp>
        <p:nvSpPr>
          <p:cNvPr id="5" name="Footer Placeholder 4"/>
          <p:cNvSpPr>
            <a:spLocks noGrp="1"/>
          </p:cNvSpPr>
          <p:nvPr>
            <p:ph type="ftr" sz="quarter" idx="11"/>
          </p:nvPr>
        </p:nvSpPr>
        <p:spPr/>
        <p:txBody>
          <a:bodyPr/>
          <a:lstStyle/>
          <a:p>
            <a:endParaRPr lang="es-PE"/>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s-PE"/>
          </a:p>
        </p:txBody>
      </p:sp>
      <p:sp>
        <p:nvSpPr>
          <p:cNvPr id="6" name="Slide Number Placeholder 5"/>
          <p:cNvSpPr>
            <a:spLocks noGrp="1"/>
          </p:cNvSpPr>
          <p:nvPr>
            <p:ph type="sldNum" sz="quarter" idx="12"/>
          </p:nvPr>
        </p:nvSpPr>
        <p:spPr/>
        <p:txBody>
          <a:bodyPr/>
          <a:lstStyle/>
          <a:p>
            <a:fld id="{3CBCDB17-0A84-4892-86BE-98D36B6B4B13}" type="slidenum">
              <a:rPr lang="es-PE" smtClean="0"/>
              <a:t>‹Nº›</a:t>
            </a:fld>
            <a:endParaRPr lang="es-PE"/>
          </a:p>
        </p:txBody>
      </p:sp>
    </p:spTree>
    <p:extLst>
      <p:ext uri="{BB962C8B-B14F-4D97-AF65-F5344CB8AC3E}">
        <p14:creationId xmlns:p14="http://schemas.microsoft.com/office/powerpoint/2010/main" val="5553854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6DECF7E-790B-4208-BE85-BA64866361CA}" type="datetimeFigureOut">
              <a:rPr lang="es-PE" smtClean="0"/>
              <a:t>12/05/2026</a:t>
            </a:fld>
            <a:endParaRPr lang="es-PE"/>
          </a:p>
        </p:txBody>
      </p:sp>
      <p:sp>
        <p:nvSpPr>
          <p:cNvPr id="5" name="Footer Placeholder 4"/>
          <p:cNvSpPr>
            <a:spLocks noGrp="1"/>
          </p:cNvSpPr>
          <p:nvPr>
            <p:ph type="ftr" sz="quarter" idx="11"/>
          </p:nvPr>
        </p:nvSpPr>
        <p:spPr/>
        <p:txBody>
          <a:bodyPr/>
          <a:lstStyle/>
          <a:p>
            <a:endParaRPr lang="es-PE"/>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s-PE"/>
          </a:p>
        </p:txBody>
      </p:sp>
      <p:sp>
        <p:nvSpPr>
          <p:cNvPr id="6" name="Slide Number Placeholder 5"/>
          <p:cNvSpPr>
            <a:spLocks noGrp="1"/>
          </p:cNvSpPr>
          <p:nvPr>
            <p:ph type="sldNum" sz="quarter" idx="12"/>
          </p:nvPr>
        </p:nvSpPr>
        <p:spPr/>
        <p:txBody>
          <a:bodyPr/>
          <a:lstStyle/>
          <a:p>
            <a:fld id="{3CBCDB17-0A84-4892-86BE-98D36B6B4B13}" type="slidenum">
              <a:rPr lang="es-PE" smtClean="0"/>
              <a:t>‹Nº›</a:t>
            </a:fld>
            <a:endParaRPr lang="es-PE"/>
          </a:p>
        </p:txBody>
      </p:sp>
    </p:spTree>
    <p:extLst>
      <p:ext uri="{BB962C8B-B14F-4D97-AF65-F5344CB8AC3E}">
        <p14:creationId xmlns:p14="http://schemas.microsoft.com/office/powerpoint/2010/main" val="1666393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s-PE"/>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s-PE"/>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s-PE"/>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s-PE"/>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s-PE"/>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s-PE"/>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s-PE"/>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s-PE"/>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s-PE"/>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s-PE"/>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s-PE"/>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s-PE"/>
            </a:p>
          </p:txBody>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s-PE"/>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s-PE"/>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s-PE"/>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s-PE"/>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s-PE"/>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s-PE"/>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s-PE"/>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s-PE"/>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s-PE"/>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s-PE"/>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s-PE"/>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s-PE"/>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66DECF7E-790B-4208-BE85-BA64866361CA}" type="datetimeFigureOut">
              <a:rPr lang="es-PE" smtClean="0"/>
              <a:t>12/05/2026</a:t>
            </a:fld>
            <a:endParaRPr lang="es-PE"/>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PE"/>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3CBCDB17-0A84-4892-86BE-98D36B6B4B13}" type="slidenum">
              <a:rPr lang="es-PE" smtClean="0"/>
              <a:t>‹Nº›</a:t>
            </a:fld>
            <a:endParaRPr lang="es-PE"/>
          </a:p>
        </p:txBody>
      </p:sp>
    </p:spTree>
    <p:extLst>
      <p:ext uri="{BB962C8B-B14F-4D97-AF65-F5344CB8AC3E}">
        <p14:creationId xmlns:p14="http://schemas.microsoft.com/office/powerpoint/2010/main" val="3540506933"/>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www.ibm.com/mx-es/think/topics/infrastructure" TargetMode="External"/><Relationship Id="rId2" Type="http://schemas.openxmlformats.org/officeDocument/2006/relationships/hyperlink" Target="https://www.ibm.com/mx-es/think/topics/api"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www.ibm.com/es-es/think/topics/virtualization" TargetMode="External"/><Relationship Id="rId2" Type="http://schemas.openxmlformats.org/officeDocument/2006/relationships/hyperlink" Target="https://www.ibm.com/es-es/think/topics/virtual-machines" TargetMode="External"/><Relationship Id="rId1" Type="http://schemas.openxmlformats.org/officeDocument/2006/relationships/slideLayout" Target="../slideLayouts/slideLayout1.xml"/><Relationship Id="rId5" Type="http://schemas.openxmlformats.org/officeDocument/2006/relationships/hyperlink" Target="https://www.ibm.com/es-es/topics/automation" TargetMode="External"/><Relationship Id="rId4" Type="http://schemas.openxmlformats.org/officeDocument/2006/relationships/hyperlink" Target="https://www.ibm.com/es-es/think/topics/single-pane-of-glas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hyperlink" Target="https://www.ieee.org/" TargetMode="Externa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hyperlink" Target="https://www.cloudflare.com/learning/ddos/glossary/open-systems-interconnection-model-osi/" TargetMode="External"/><Relationship Id="rId2" Type="http://schemas.openxmlformats.org/officeDocument/2006/relationships/hyperlink" Target="https://www.cloudflare.com/learning/network-layer/what-is-ipsec/" TargetMode="External"/><Relationship Id="rId1" Type="http://schemas.openxmlformats.org/officeDocument/2006/relationships/slideLayout" Target="../slideLayouts/slideLayout1.xml"/><Relationship Id="rId6" Type="http://schemas.openxmlformats.org/officeDocument/2006/relationships/hyperlink" Target="https://www.cloudflare.com/learning/access-management/what-is-a-vpn/" TargetMode="External"/><Relationship Id="rId5" Type="http://schemas.openxmlformats.org/officeDocument/2006/relationships/hyperlink" Target="https://www.cloudflare.com/learning/ssl/what-is-encryption/" TargetMode="External"/><Relationship Id="rId4" Type="http://schemas.openxmlformats.org/officeDocument/2006/relationships/hyperlink" Target="https://www.cloudflare.com/learning/network-layer/what-is-the-network-layer/" TargetMode="External"/></Relationships>
</file>

<file path=ppt/slides/_rels/slide38.xml.rels><?xml version="1.0" encoding="UTF-8" standalone="yes"?>
<Relationships xmlns="http://schemas.openxmlformats.org/package/2006/relationships"><Relationship Id="rId3" Type="http://schemas.openxmlformats.org/officeDocument/2006/relationships/hyperlink" Target="https://www.cloudflare.com/learning/ddos/glossary/hypertext-transfer-protocol-http/" TargetMode="External"/><Relationship Id="rId2" Type="http://schemas.openxmlformats.org/officeDocument/2006/relationships/hyperlink" Target="https://www.cloudflare.com/learning/ssl/what-is-ssl/" TargetMode="External"/><Relationship Id="rId1" Type="http://schemas.openxmlformats.org/officeDocument/2006/relationships/slideLayout" Target="../slideLayouts/slideLayout1.xml"/><Relationship Id="rId5" Type="http://schemas.openxmlformats.org/officeDocument/2006/relationships/hyperlink" Target="https://www.cloudflare.com/learning/ssl/transport-layer-security-tls/" TargetMode="External"/><Relationship Id="rId4" Type="http://schemas.openxmlformats.org/officeDocument/2006/relationships/hyperlink" Target="https://www.cloudflare.com/learning/cdn/glossary/origin-server/"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hyperlink" Target="https://www.incibe.es/sites/default/files/contenidos/guias/doc/guia_glosario_ciberseguridad_metad.pdf" TargetMode="Externa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hyperlink" Target="https://www.incibe.es/empresas/blog/necesitas-mas-informacion-utiliza-tu-registro-log" TargetMode="External"/><Relationship Id="rId2" Type="http://schemas.openxmlformats.org/officeDocument/2006/relationships/hyperlink" Target="https://www.incibe.es/sites/default/files/contenidos/guias/doc/guia_glosario_ciberseguridad_2021.pdf" TargetMode="External"/><Relationship Id="rId1" Type="http://schemas.openxmlformats.org/officeDocument/2006/relationships/slideLayout" Target="../slideLayouts/slideLayout1.xml"/><Relationship Id="rId4" Type="http://schemas.openxmlformats.org/officeDocument/2006/relationships/hyperlink" Target="https://www.incibe.es/empresas/blog/seguridad-instalacion-y-uso-dispositivos-iot-guia-aproximacion-el-empresario" TargetMode="External"/></Relationships>
</file>

<file path=ppt/slides/_rels/slide42.xml.rels><?xml version="1.0" encoding="UTF-8" standalone="yes"?>
<Relationships xmlns="http://schemas.openxmlformats.org/package/2006/relationships"><Relationship Id="rId2" Type="http://schemas.openxmlformats.org/officeDocument/2006/relationships/hyperlink" Target="https://www.incibe.es/empresas/blog/seguridad-instalacion-y-uso-dispositivos-iot-guia-aproximacion-el-empresario" TargetMode="Externa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hyperlink" Target="https://www.incibe.es/empresas/blog/seguridad-instalacion-y-uso-dispositivos-iot-guia-aproximacion-el-empresario" TargetMode="Externa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hyperlink" Target="https://www.incibe.es/empresas/blog/seguridad-instalacion-y-uso-dispositivos-iot-guia-aproximacion-el-empresario" TargetMode="Externa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hyperlink" Target="https://www.incibe.es/empresas/blog/seguridad-instalacion-y-uso-dispositivos-iot-guia-aproximacion-el-empresario" TargetMode="Externa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hyperlink" Target="https://www.incibe.es/empresas/blog/seguridad-instalacion-y-uso-dispositivos-iot-guia-aproximacion-el-empresario" TargetMode="Externa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8" Type="http://schemas.openxmlformats.org/officeDocument/2006/relationships/hyperlink" Target="https://www.skylaneoptics.com/es/noticias/arquitectura-de-una-red-de-fibra-optica-gpon-ftth-estructura-y-funcionamiento/" TargetMode="External"/><Relationship Id="rId3" Type="http://schemas.openxmlformats.org/officeDocument/2006/relationships/hyperlink" Target="https://www.nutanix.com/es/info/software-defined-networking" TargetMode="External"/><Relationship Id="rId7" Type="http://schemas.openxmlformats.org/officeDocument/2006/relationships/hyperlink" Target="https://www.google.com/search?q=https://riull.ull.es/xmlui/bitstream/handle/915/42537/Control%2520de%2520centros%2520de%2520datos%2520multitenant%2520mediante%2520SDN.pdf" TargetMode="External"/><Relationship Id="rId2" Type="http://schemas.openxmlformats.org/officeDocument/2006/relationships/hyperlink" Target="https://www.ibm.com/mx-es/think/topics/sdn" TargetMode="External"/><Relationship Id="rId1" Type="http://schemas.openxmlformats.org/officeDocument/2006/relationships/slideLayout" Target="../slideLayouts/slideLayout1.xml"/><Relationship Id="rId6" Type="http://schemas.openxmlformats.org/officeDocument/2006/relationships/hyperlink" Target="https://www.kordz.com/articles/category-cables-from-cat5e-to-cat8/" TargetMode="External"/><Relationship Id="rId5" Type="http://schemas.openxmlformats.org/officeDocument/2006/relationships/hyperlink" Target="https://www.infor.uva.es/~fdiaz/sd/2005_06/doc/SD_TE01_20060227.pdf" TargetMode="External"/><Relationship Id="rId10" Type="http://schemas.openxmlformats.org/officeDocument/2006/relationships/hyperlink" Target="https://repository.unad.edu.co/handle/10596/48929" TargetMode="External"/><Relationship Id="rId4" Type="http://schemas.openxmlformats.org/officeDocument/2006/relationships/hyperlink" Target="https://www.google.com/search?q=https://ieeexplore.ieee.org/document/11289536" TargetMode="External"/><Relationship Id="rId9" Type="http://schemas.openxmlformats.org/officeDocument/2006/relationships/hyperlink" Target="https://dspace.espoch.edu.ec/handle/123456789/14080" TargetMode="External"/></Relationships>
</file>

<file path=ppt/slides/_rels/slide48.xml.rels><?xml version="1.0" encoding="UTF-8" standalone="yes"?>
<Relationships xmlns="http://schemas.openxmlformats.org/package/2006/relationships"><Relationship Id="rId3" Type="http://schemas.openxmlformats.org/officeDocument/2006/relationships/hyperlink" Target="https://www.incibe.es/empresas/blog/son-y-sirven-los-siem-ids-e-ips" TargetMode="External"/><Relationship Id="rId7" Type="http://schemas.openxmlformats.org/officeDocument/2006/relationships/hyperlink" Target="https://preyproject.com/blog/device-security-in-schools-byod-for-lovers-and-haters" TargetMode="External"/><Relationship Id="rId2" Type="http://schemas.openxmlformats.org/officeDocument/2006/relationships/hyperlink" Target="https://www.cloudflare.com/es-es/learning/network-layer/ipsec-vs-ssl-vpn/" TargetMode="External"/><Relationship Id="rId1" Type="http://schemas.openxmlformats.org/officeDocument/2006/relationships/slideLayout" Target="../slideLayouts/slideLayout1.xml"/><Relationship Id="rId6" Type="http://schemas.openxmlformats.org/officeDocument/2006/relationships/hyperlink" Target="https://www.google.com/search?q=https://www.eye-security.com/cybersecurity-learning-hub/" TargetMode="External"/><Relationship Id="rId5" Type="http://schemas.openxmlformats.org/officeDocument/2006/relationships/hyperlink" Target="https://oa.upm.es/71578/" TargetMode="External"/><Relationship Id="rId4" Type="http://schemas.openxmlformats.org/officeDocument/2006/relationships/hyperlink" Target="https://www.ibm.com/es-es/think/topics/ddos"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D691ABBC-5510-4A93-EC56-8D4A89E70EF4}"/>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BF15751C-2047-E5E4-95B3-CD97AB29CD45}"/>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0" y="0"/>
            <a:ext cx="12192000" cy="11480226"/>
          </a:xfrm>
          <a:prstGeom prst="rect">
            <a:avLst/>
          </a:prstGeom>
        </p:spPr>
      </p:pic>
      <p:sp>
        <p:nvSpPr>
          <p:cNvPr id="10" name="CuadroTexto 9">
            <a:extLst>
              <a:ext uri="{FF2B5EF4-FFF2-40B4-BE49-F238E27FC236}">
                <a16:creationId xmlns:a16="http://schemas.microsoft.com/office/drawing/2014/main" id="{6D9E22E2-DB02-C39D-B2E1-413296A96F4D}"/>
              </a:ext>
            </a:extLst>
          </p:cNvPr>
          <p:cNvSpPr txBox="1"/>
          <p:nvPr/>
        </p:nvSpPr>
        <p:spPr>
          <a:xfrm>
            <a:off x="3870960" y="194578"/>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DF825331-8FBF-4E7D-13FD-7560665C820B}"/>
              </a:ext>
            </a:extLst>
          </p:cNvPr>
          <p:cNvSpPr txBox="1"/>
          <p:nvPr/>
        </p:nvSpPr>
        <p:spPr>
          <a:xfrm>
            <a:off x="441960" y="4337834"/>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462687D1-6BDF-124B-6391-DBBD7447E486}"/>
              </a:ext>
            </a:extLst>
          </p:cNvPr>
          <p:cNvSpPr txBox="1"/>
          <p:nvPr/>
        </p:nvSpPr>
        <p:spPr>
          <a:xfrm>
            <a:off x="715010" y="1372503"/>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pic>
        <p:nvPicPr>
          <p:cNvPr id="14" name="Gráfico 13" descr="Red social con relleno sólido">
            <a:extLst>
              <a:ext uri="{FF2B5EF4-FFF2-40B4-BE49-F238E27FC236}">
                <a16:creationId xmlns:a16="http://schemas.microsoft.com/office/drawing/2014/main" id="{845354A2-52D7-0AD0-5DF8-00900973A7D4}"/>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9839324" y="5861327"/>
            <a:ext cx="1057275" cy="1057275"/>
          </a:xfrm>
          <a:prstGeom prst="rect">
            <a:avLst/>
          </a:prstGeom>
        </p:spPr>
      </p:pic>
      <p:sp>
        <p:nvSpPr>
          <p:cNvPr id="15" name="CuadroTexto 14">
            <a:extLst>
              <a:ext uri="{FF2B5EF4-FFF2-40B4-BE49-F238E27FC236}">
                <a16:creationId xmlns:a16="http://schemas.microsoft.com/office/drawing/2014/main" id="{1ED3422C-82B2-A3C3-715A-8B40B5E1A21A}"/>
              </a:ext>
            </a:extLst>
          </p:cNvPr>
          <p:cNvSpPr txBox="1"/>
          <p:nvPr/>
        </p:nvSpPr>
        <p:spPr>
          <a:xfrm>
            <a:off x="7879080" y="5491996"/>
            <a:ext cx="3139440" cy="646331"/>
          </a:xfrm>
          <a:prstGeom prst="rect">
            <a:avLst/>
          </a:prstGeom>
          <a:noFill/>
        </p:spPr>
        <p:txBody>
          <a:bodyPr wrap="square" rtlCol="0">
            <a:spAutoFit/>
          </a:bodyPr>
          <a:lstStyle/>
          <a:p>
            <a:r>
              <a:rPr lang="es-MX" b="1" dirty="0">
                <a:solidFill>
                  <a:schemeClr val="bg1"/>
                </a:solidFill>
                <a:latin typeface="Aharoni" panose="02010803020104030203" pitchFamily="2" charset="-79"/>
                <a:cs typeface="Aharoni" panose="02010803020104030203" pitchFamily="2" charset="-79"/>
              </a:rPr>
              <a:t>Curso: Redes de computadoras</a:t>
            </a:r>
            <a:endParaRPr lang="es-PE" b="1" dirty="0">
              <a:solidFill>
                <a:schemeClr val="bg1"/>
              </a:solidFill>
              <a:latin typeface="Aharoni" panose="02010803020104030203" pitchFamily="2" charset="-79"/>
              <a:cs typeface="Aharoni" panose="02010803020104030203" pitchFamily="2" charset="-79"/>
            </a:endParaRPr>
          </a:p>
        </p:txBody>
      </p:sp>
      <p:sp>
        <p:nvSpPr>
          <p:cNvPr id="16" name="CuadroTexto 15">
            <a:extLst>
              <a:ext uri="{FF2B5EF4-FFF2-40B4-BE49-F238E27FC236}">
                <a16:creationId xmlns:a16="http://schemas.microsoft.com/office/drawing/2014/main" id="{9FBEBC1C-BA06-B9D4-CB29-CE81043083E9}"/>
              </a:ext>
            </a:extLst>
          </p:cNvPr>
          <p:cNvSpPr txBox="1"/>
          <p:nvPr/>
        </p:nvSpPr>
        <p:spPr>
          <a:xfrm>
            <a:off x="410210" y="2828280"/>
            <a:ext cx="13060680" cy="830997"/>
          </a:xfrm>
          <a:prstGeom prst="rect">
            <a:avLst/>
          </a:prstGeom>
          <a:noFill/>
        </p:spPr>
        <p:txBody>
          <a:bodyPr wrap="square" rtlCol="0">
            <a:spAutoFit/>
          </a:bodyPr>
          <a:lstStyle/>
          <a:p>
            <a:r>
              <a:rPr lang="es-MX" sz="4800" dirty="0">
                <a:solidFill>
                  <a:schemeClr val="bg1"/>
                </a:solidFill>
                <a:latin typeface="Aharoni" panose="02010803020104030203" pitchFamily="2" charset="-79"/>
                <a:cs typeface="Aharoni" panose="02010803020104030203" pitchFamily="2" charset="-79"/>
              </a:rPr>
              <a:t>Exposición de trabajo  de investigación</a:t>
            </a:r>
            <a:endParaRPr lang="es-PE" sz="4800" dirty="0">
              <a:solidFill>
                <a:schemeClr val="bg1"/>
              </a:solidFill>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9241308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78956-2B55-0D61-EAF1-8747B9AB1EA1}"/>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546B035F-7658-31A8-A0A9-3CD510F6BC79}"/>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03DB3E70-E3A4-8952-9599-19F22DAEB036}"/>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0" y="-1980879"/>
            <a:ext cx="12192000" cy="11480226"/>
          </a:xfrm>
          <a:prstGeom prst="rect">
            <a:avLst/>
          </a:prstGeom>
        </p:spPr>
      </p:pic>
      <p:sp>
        <p:nvSpPr>
          <p:cNvPr id="10" name="CuadroTexto 9">
            <a:extLst>
              <a:ext uri="{FF2B5EF4-FFF2-40B4-BE49-F238E27FC236}">
                <a16:creationId xmlns:a16="http://schemas.microsoft.com/office/drawing/2014/main" id="{605D05A3-2457-B765-EBC4-873A845F38C7}"/>
              </a:ext>
            </a:extLst>
          </p:cNvPr>
          <p:cNvSpPr txBox="1"/>
          <p:nvPr/>
        </p:nvSpPr>
        <p:spPr>
          <a:xfrm>
            <a:off x="1783080" y="-4130539"/>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70BB1638-64C4-9C6A-A878-7B8DE8413E88}"/>
              </a:ext>
            </a:extLst>
          </p:cNvPr>
          <p:cNvSpPr txBox="1"/>
          <p:nvPr/>
        </p:nvSpPr>
        <p:spPr>
          <a:xfrm>
            <a:off x="-1062990" y="-387109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916B6697-24BE-B678-AE27-DA4D4B093978}"/>
              </a:ext>
            </a:extLst>
          </p:cNvPr>
          <p:cNvSpPr txBox="1"/>
          <p:nvPr/>
        </p:nvSpPr>
        <p:spPr>
          <a:xfrm>
            <a:off x="1783080" y="-3211543"/>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pic>
        <p:nvPicPr>
          <p:cNvPr id="14" name="Gráfico 13" descr="Red social con relleno sólido">
            <a:extLst>
              <a:ext uri="{FF2B5EF4-FFF2-40B4-BE49-F238E27FC236}">
                <a16:creationId xmlns:a16="http://schemas.microsoft.com/office/drawing/2014/main" id="{B28AFD0F-BEFF-B18E-547E-2F7104226C1E}"/>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10845124" y="4805263"/>
            <a:ext cx="718226" cy="718226"/>
          </a:xfrm>
          <a:prstGeom prst="rect">
            <a:avLst/>
          </a:prstGeom>
        </p:spPr>
      </p:pic>
      <p:sp>
        <p:nvSpPr>
          <p:cNvPr id="15" name="CuadroTexto 14">
            <a:extLst>
              <a:ext uri="{FF2B5EF4-FFF2-40B4-BE49-F238E27FC236}">
                <a16:creationId xmlns:a16="http://schemas.microsoft.com/office/drawing/2014/main" id="{B1F03C4C-654D-4ADC-F84C-A3330DC0214E}"/>
              </a:ext>
            </a:extLst>
          </p:cNvPr>
          <p:cNvSpPr txBox="1"/>
          <p:nvPr/>
        </p:nvSpPr>
        <p:spPr>
          <a:xfrm>
            <a:off x="9646920" y="-3146663"/>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sp>
        <p:nvSpPr>
          <p:cNvPr id="2" name="CuadroTexto 1">
            <a:extLst>
              <a:ext uri="{FF2B5EF4-FFF2-40B4-BE49-F238E27FC236}">
                <a16:creationId xmlns:a16="http://schemas.microsoft.com/office/drawing/2014/main" id="{CA4A7D72-A71A-2FF0-A2A7-07C1E15B32A5}"/>
              </a:ext>
            </a:extLst>
          </p:cNvPr>
          <p:cNvSpPr txBox="1"/>
          <p:nvPr/>
        </p:nvSpPr>
        <p:spPr>
          <a:xfrm>
            <a:off x="3079750" y="1965696"/>
            <a:ext cx="5306736" cy="4524315"/>
          </a:xfrm>
          <a:prstGeom prst="rect">
            <a:avLst/>
          </a:prstGeom>
          <a:noFill/>
        </p:spPr>
        <p:txBody>
          <a:bodyPr wrap="square" rtlCol="0">
            <a:spAutoFit/>
          </a:bodyPr>
          <a:lstStyle/>
          <a:p>
            <a:pPr marL="342900" indent="-342900">
              <a:buAutoNum type="alphaUcPeriod"/>
            </a:pPr>
            <a:r>
              <a:rPr lang="es-MX" b="1" dirty="0">
                <a:solidFill>
                  <a:schemeClr val="bg1"/>
                </a:solidFill>
              </a:rPr>
              <a:t>Infraestructura y Tecnologías de Red</a:t>
            </a:r>
          </a:p>
          <a:p>
            <a:endParaRPr lang="es-MX" dirty="0">
              <a:solidFill>
                <a:schemeClr val="bg1"/>
              </a:solidFill>
            </a:endParaRPr>
          </a:p>
          <a:p>
            <a:r>
              <a:rPr lang="es-MX" dirty="0">
                <a:solidFill>
                  <a:schemeClr val="bg1"/>
                </a:solidFill>
                <a:latin typeface="Book Antiqua" panose="02040602050305030304" pitchFamily="18" charset="0"/>
              </a:rPr>
              <a:t>SDN (Software Defined Networking) - Redes programables para centros de datos.</a:t>
            </a:r>
          </a:p>
          <a:p>
            <a:r>
              <a:rPr lang="es-MX" dirty="0">
                <a:solidFill>
                  <a:schemeClr val="bg1"/>
                </a:solidFill>
                <a:latin typeface="Book Antiqua" panose="02040602050305030304" pitchFamily="18" charset="0"/>
              </a:rPr>
              <a:t>Redes 5G y su impacto en la industria - Beneficios, latencia, aplicaciones IoT.</a:t>
            </a:r>
          </a:p>
          <a:p>
            <a:r>
              <a:rPr lang="es-MX" dirty="0">
                <a:solidFill>
                  <a:schemeClr val="bg1"/>
                </a:solidFill>
                <a:latin typeface="Book Antiqua" panose="02040602050305030304" pitchFamily="18" charset="0"/>
              </a:rPr>
              <a:t>Virtualización de Redes (NFV: Network Function Virtualization).</a:t>
            </a:r>
          </a:p>
          <a:p>
            <a:r>
              <a:rPr lang="es-MX" dirty="0">
                <a:solidFill>
                  <a:schemeClr val="bg1"/>
                </a:solidFill>
                <a:latin typeface="Book Antiqua" panose="02040602050305030304" pitchFamily="18" charset="0"/>
              </a:rPr>
              <a:t>Arquitecturas Cliente/Servidor vs. Computación Distribuida</a:t>
            </a:r>
          </a:p>
          <a:p>
            <a:r>
              <a:rPr lang="es-MX" dirty="0">
                <a:solidFill>
                  <a:schemeClr val="bg1"/>
                </a:solidFill>
                <a:latin typeface="Book Antiqua" panose="02040602050305030304" pitchFamily="18" charset="0"/>
              </a:rPr>
              <a:t>Topologías Modernas en Centros de Datos (Leaf-Spine)</a:t>
            </a:r>
          </a:p>
          <a:p>
            <a:r>
              <a:rPr lang="es-MX" dirty="0">
                <a:solidFill>
                  <a:schemeClr val="bg1"/>
                </a:solidFill>
                <a:latin typeface="Book Antiqua" panose="02040602050305030304" pitchFamily="18" charset="0"/>
              </a:rPr>
              <a:t>Evolución del Cableado Estructurado de Cat5e a Cat8</a:t>
            </a:r>
          </a:p>
          <a:p>
            <a:r>
              <a:rPr lang="es-MX" dirty="0">
                <a:solidFill>
                  <a:schemeClr val="bg1"/>
                </a:solidFill>
                <a:latin typeface="Book Antiqua" panose="02040602050305030304" pitchFamily="18" charset="0"/>
              </a:rPr>
              <a:t>Tecnologías de Conectividad por Fibra Óptica (GPON, FTTH)</a:t>
            </a:r>
          </a:p>
        </p:txBody>
      </p:sp>
      <p:pic>
        <p:nvPicPr>
          <p:cNvPr id="4" name="Gráfico 3" descr="Informática en la nube con relleno sólido">
            <a:extLst>
              <a:ext uri="{FF2B5EF4-FFF2-40B4-BE49-F238E27FC236}">
                <a16:creationId xmlns:a16="http://schemas.microsoft.com/office/drawing/2014/main" id="{0F9499B3-0616-5C80-9BE9-DEC0AA1199D2}"/>
              </a:ext>
            </a:extLst>
          </p:cNvPr>
          <p:cNvPicPr>
            <a:picLocks noChangeAspect="1"/>
          </p:cNvPicPr>
          <p:nvPr/>
        </p:nvPicPr>
        <p:blipFill>
          <a:blip r:embed="rId5">
            <a:extLst>
              <a:ext uri="{96DAC541-7B7A-43D3-8B79-37D633B846F1}">
                <asvg:svgBlip xmlns:asvg="http://schemas.microsoft.com/office/drawing/2016/SVG/main"/>
              </a:ext>
            </a:extLst>
          </a:blip>
          <a:stretch>
            <a:fillRect/>
          </a:stretch>
        </p:blipFill>
        <p:spPr>
          <a:xfrm>
            <a:off x="1049020" y="907966"/>
            <a:ext cx="1125220" cy="1150505"/>
          </a:xfrm>
          <a:prstGeom prst="rect">
            <a:avLst/>
          </a:prstGeom>
        </p:spPr>
      </p:pic>
      <p:sp>
        <p:nvSpPr>
          <p:cNvPr id="5" name="CuadroTexto 4">
            <a:extLst>
              <a:ext uri="{FF2B5EF4-FFF2-40B4-BE49-F238E27FC236}">
                <a16:creationId xmlns:a16="http://schemas.microsoft.com/office/drawing/2014/main" id="{76142B83-9C91-786E-49AD-91BF64E9AF57}"/>
              </a:ext>
            </a:extLst>
          </p:cNvPr>
          <p:cNvSpPr txBox="1"/>
          <p:nvPr/>
        </p:nvSpPr>
        <p:spPr>
          <a:xfrm>
            <a:off x="2760980" y="-30357"/>
            <a:ext cx="832231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INTRODUCCION: </a:t>
            </a:r>
            <a:endParaRPr lang="es-PE" sz="8000" dirty="0">
              <a:solidFill>
                <a:schemeClr val="bg1"/>
              </a:solidFill>
              <a:latin typeface="Aharoni" panose="02010803020104030203" pitchFamily="2" charset="-79"/>
              <a:cs typeface="Aharoni" panose="02010803020104030203" pitchFamily="2" charset="-79"/>
            </a:endParaRPr>
          </a:p>
        </p:txBody>
      </p:sp>
      <p:pic>
        <p:nvPicPr>
          <p:cNvPr id="8" name="Gráfico 7" descr="Informática en la nube con relleno sólido">
            <a:extLst>
              <a:ext uri="{FF2B5EF4-FFF2-40B4-BE49-F238E27FC236}">
                <a16:creationId xmlns:a16="http://schemas.microsoft.com/office/drawing/2014/main" id="{49DF7A06-B6BE-A47E-E37B-179B412CB8DE}"/>
              </a:ext>
            </a:extLst>
          </p:cNvPr>
          <p:cNvPicPr>
            <a:picLocks noChangeAspect="1"/>
          </p:cNvPicPr>
          <p:nvPr/>
        </p:nvPicPr>
        <p:blipFill>
          <a:blip r:embed="rId5">
            <a:extLst>
              <a:ext uri="{96DAC541-7B7A-43D3-8B79-37D633B846F1}">
                <asvg:svgBlip xmlns:asvg="http://schemas.microsoft.com/office/drawing/2016/SVG/main"/>
              </a:ext>
            </a:extLst>
          </a:blip>
          <a:stretch>
            <a:fillRect/>
          </a:stretch>
        </p:blipFill>
        <p:spPr>
          <a:xfrm>
            <a:off x="1049020" y="3289135"/>
            <a:ext cx="858240" cy="877526"/>
          </a:xfrm>
          <a:prstGeom prst="rect">
            <a:avLst/>
          </a:prstGeom>
        </p:spPr>
      </p:pic>
      <p:pic>
        <p:nvPicPr>
          <p:cNvPr id="13" name="Gráfico 12" descr="Informática en la nube con relleno sólido">
            <a:extLst>
              <a:ext uri="{FF2B5EF4-FFF2-40B4-BE49-F238E27FC236}">
                <a16:creationId xmlns:a16="http://schemas.microsoft.com/office/drawing/2014/main" id="{FCDCD133-E56A-C0F2-B34D-ABA783DDF68F}"/>
              </a:ext>
            </a:extLst>
          </p:cNvPr>
          <p:cNvPicPr>
            <a:picLocks noChangeAspect="1"/>
          </p:cNvPicPr>
          <p:nvPr/>
        </p:nvPicPr>
        <p:blipFill>
          <a:blip r:embed="rId5">
            <a:extLst>
              <a:ext uri="{96DAC541-7B7A-43D3-8B79-37D633B846F1}">
                <asvg:svgBlip xmlns:asvg="http://schemas.microsoft.com/office/drawing/2016/SVG/main"/>
              </a:ext>
            </a:extLst>
          </a:blip>
          <a:stretch>
            <a:fillRect/>
          </a:stretch>
        </p:blipFill>
        <p:spPr>
          <a:xfrm>
            <a:off x="1110755" y="5126155"/>
            <a:ext cx="672325" cy="687433"/>
          </a:xfrm>
          <a:prstGeom prst="rect">
            <a:avLst/>
          </a:prstGeom>
        </p:spPr>
      </p:pic>
      <p:pic>
        <p:nvPicPr>
          <p:cNvPr id="16" name="Gráfico 15" descr="Red social con relleno sólido">
            <a:extLst>
              <a:ext uri="{FF2B5EF4-FFF2-40B4-BE49-F238E27FC236}">
                <a16:creationId xmlns:a16="http://schemas.microsoft.com/office/drawing/2014/main" id="{378CC8EF-5636-9E30-D183-81460275C363}"/>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10515715" y="1355266"/>
            <a:ext cx="1150505" cy="1150505"/>
          </a:xfrm>
          <a:prstGeom prst="rect">
            <a:avLst/>
          </a:prstGeom>
        </p:spPr>
      </p:pic>
      <p:pic>
        <p:nvPicPr>
          <p:cNvPr id="17" name="Gráfico 16" descr="Red social con relleno sólido">
            <a:extLst>
              <a:ext uri="{FF2B5EF4-FFF2-40B4-BE49-F238E27FC236}">
                <a16:creationId xmlns:a16="http://schemas.microsoft.com/office/drawing/2014/main" id="{9C7FAB00-19EC-F4B8-D1EE-AFFB9BC8C204}"/>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10685780" y="3243604"/>
            <a:ext cx="914400" cy="914400"/>
          </a:xfrm>
          <a:prstGeom prst="rect">
            <a:avLst/>
          </a:prstGeom>
        </p:spPr>
      </p:pic>
    </p:spTree>
    <p:extLst>
      <p:ext uri="{BB962C8B-B14F-4D97-AF65-F5344CB8AC3E}">
        <p14:creationId xmlns:p14="http://schemas.microsoft.com/office/powerpoint/2010/main" val="31343904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F6C8D-FDB6-3814-66AD-82E8489E12A9}"/>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F6D3EDB2-111F-BE37-F1F3-825FDECDE591}"/>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14" name="Gráfico 13" descr="Red social con relleno sólido">
            <a:extLst>
              <a:ext uri="{FF2B5EF4-FFF2-40B4-BE49-F238E27FC236}">
                <a16:creationId xmlns:a16="http://schemas.microsoft.com/office/drawing/2014/main" id="{83182960-6EB6-E70C-9E6A-081C96EB67A6}"/>
              </a:ext>
            </a:extLst>
          </p:cNvPr>
          <p:cNvPicPr>
            <a:picLocks noChangeAspect="1"/>
          </p:cNvPicPr>
          <p:nvPr/>
        </p:nvPicPr>
        <p:blipFill>
          <a:blip r:embed="rId2">
            <a:extLst>
              <a:ext uri="{96DAC541-7B7A-43D3-8B79-37D633B846F1}">
                <asvg:svgBlip xmlns:asvg="http://schemas.microsoft.com/office/drawing/2016/SVG/main"/>
              </a:ext>
            </a:extLst>
          </a:blip>
          <a:stretch>
            <a:fillRect/>
          </a:stretch>
        </p:blipFill>
        <p:spPr>
          <a:xfrm>
            <a:off x="9189720" y="5676662"/>
            <a:ext cx="914400" cy="914400"/>
          </a:xfrm>
          <a:prstGeom prst="rect">
            <a:avLst/>
          </a:prstGeom>
        </p:spPr>
      </p:pic>
      <p:sp>
        <p:nvSpPr>
          <p:cNvPr id="15" name="CuadroTexto 14">
            <a:extLst>
              <a:ext uri="{FF2B5EF4-FFF2-40B4-BE49-F238E27FC236}">
                <a16:creationId xmlns:a16="http://schemas.microsoft.com/office/drawing/2014/main" id="{FA3856EF-6B45-011F-51E8-C219F2BB98DE}"/>
              </a:ext>
            </a:extLst>
          </p:cNvPr>
          <p:cNvSpPr txBox="1"/>
          <p:nvPr/>
        </p:nvSpPr>
        <p:spPr>
          <a:xfrm>
            <a:off x="8471535" y="56766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sp>
        <p:nvSpPr>
          <p:cNvPr id="2" name="CuadroTexto 1">
            <a:extLst>
              <a:ext uri="{FF2B5EF4-FFF2-40B4-BE49-F238E27FC236}">
                <a16:creationId xmlns:a16="http://schemas.microsoft.com/office/drawing/2014/main" id="{6E41301F-9D60-D472-4C14-1D2FC82C4A88}"/>
              </a:ext>
            </a:extLst>
          </p:cNvPr>
          <p:cNvSpPr txBox="1"/>
          <p:nvPr/>
        </p:nvSpPr>
        <p:spPr bwMode="white">
          <a:xfrm>
            <a:off x="1993900" y="-80518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3" name="Imagen 2" descr="Una montaña con nieve&#10;&#10;El contenido generado por IA puede ser incorrecto.">
            <a:extLst>
              <a:ext uri="{FF2B5EF4-FFF2-40B4-BE49-F238E27FC236}">
                <a16:creationId xmlns:a16="http://schemas.microsoft.com/office/drawing/2014/main" id="{0BA7E17D-6E49-372D-E4EE-8AF7592ABDD7}"/>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0" y="-4615082"/>
            <a:ext cx="12192000" cy="11480226"/>
          </a:xfrm>
          <a:prstGeom prst="rect">
            <a:avLst/>
          </a:prstGeom>
        </p:spPr>
      </p:pic>
      <p:pic>
        <p:nvPicPr>
          <p:cNvPr id="4" name="Gráfico 3" descr="Red social con relleno sólido">
            <a:extLst>
              <a:ext uri="{FF2B5EF4-FFF2-40B4-BE49-F238E27FC236}">
                <a16:creationId xmlns:a16="http://schemas.microsoft.com/office/drawing/2014/main" id="{F84041E7-991C-9E93-6652-F19C307D7C73}"/>
              </a:ext>
            </a:extLst>
          </p:cNvPr>
          <p:cNvPicPr>
            <a:picLocks noChangeAspect="1"/>
          </p:cNvPicPr>
          <p:nvPr/>
        </p:nvPicPr>
        <p:blipFill>
          <a:blip r:embed="rId2">
            <a:extLst>
              <a:ext uri="{96DAC541-7B7A-43D3-8B79-37D633B846F1}">
                <asvg:svgBlip xmlns:asvg="http://schemas.microsoft.com/office/drawing/2016/SVG/main"/>
              </a:ext>
            </a:extLst>
          </a:blip>
          <a:stretch>
            <a:fillRect/>
          </a:stretch>
        </p:blipFill>
        <p:spPr>
          <a:xfrm>
            <a:off x="10284460" y="3458644"/>
            <a:ext cx="1359576" cy="1359576"/>
          </a:xfrm>
          <a:prstGeom prst="rect">
            <a:avLst/>
          </a:prstGeom>
        </p:spPr>
      </p:pic>
      <p:sp>
        <p:nvSpPr>
          <p:cNvPr id="5" name="CuadroTexto 4">
            <a:extLst>
              <a:ext uri="{FF2B5EF4-FFF2-40B4-BE49-F238E27FC236}">
                <a16:creationId xmlns:a16="http://schemas.microsoft.com/office/drawing/2014/main" id="{7E433F17-4140-0054-58C1-5742A67977DA}"/>
              </a:ext>
            </a:extLst>
          </p:cNvPr>
          <p:cNvSpPr txBox="1"/>
          <p:nvPr/>
        </p:nvSpPr>
        <p:spPr>
          <a:xfrm>
            <a:off x="13072704" y="2052354"/>
            <a:ext cx="5306736" cy="4524315"/>
          </a:xfrm>
          <a:prstGeom prst="rect">
            <a:avLst/>
          </a:prstGeom>
          <a:noFill/>
        </p:spPr>
        <p:txBody>
          <a:bodyPr wrap="square" rtlCol="0">
            <a:spAutoFit/>
          </a:bodyPr>
          <a:lstStyle/>
          <a:p>
            <a:pPr marL="342900" indent="-342900">
              <a:buAutoNum type="alphaUcPeriod"/>
            </a:pPr>
            <a:r>
              <a:rPr lang="es-MX" b="1" dirty="0">
                <a:solidFill>
                  <a:schemeClr val="bg1"/>
                </a:solidFill>
              </a:rPr>
              <a:t>Infraestructura y Tecnologías de Red</a:t>
            </a:r>
          </a:p>
          <a:p>
            <a:endParaRPr lang="es-MX" dirty="0">
              <a:solidFill>
                <a:schemeClr val="bg1"/>
              </a:solidFill>
            </a:endParaRPr>
          </a:p>
          <a:p>
            <a:r>
              <a:rPr lang="es-MX" dirty="0">
                <a:solidFill>
                  <a:schemeClr val="bg1"/>
                </a:solidFill>
                <a:latin typeface="Book Antiqua" panose="02040602050305030304" pitchFamily="18" charset="0"/>
              </a:rPr>
              <a:t>SDN (Software Defined Networking) - Redes programables para centros de datos.</a:t>
            </a:r>
          </a:p>
          <a:p>
            <a:r>
              <a:rPr lang="es-MX" dirty="0">
                <a:solidFill>
                  <a:schemeClr val="bg1"/>
                </a:solidFill>
                <a:latin typeface="Book Antiqua" panose="02040602050305030304" pitchFamily="18" charset="0"/>
              </a:rPr>
              <a:t>Redes 5G y su impacto en la industria - Beneficios, latencia, aplicaciones IoT.</a:t>
            </a:r>
          </a:p>
          <a:p>
            <a:r>
              <a:rPr lang="es-MX" dirty="0">
                <a:solidFill>
                  <a:schemeClr val="bg1"/>
                </a:solidFill>
                <a:latin typeface="Book Antiqua" panose="02040602050305030304" pitchFamily="18" charset="0"/>
              </a:rPr>
              <a:t>Virtualización de Redes (NFV: Network Function Virtualization).</a:t>
            </a:r>
          </a:p>
          <a:p>
            <a:r>
              <a:rPr lang="es-MX" dirty="0">
                <a:solidFill>
                  <a:schemeClr val="bg1"/>
                </a:solidFill>
                <a:latin typeface="Book Antiqua" panose="02040602050305030304" pitchFamily="18" charset="0"/>
              </a:rPr>
              <a:t>Arquitecturas Cliente/Servidor vs. Computación Distribuida</a:t>
            </a:r>
          </a:p>
          <a:p>
            <a:r>
              <a:rPr lang="es-MX" dirty="0">
                <a:solidFill>
                  <a:schemeClr val="bg1"/>
                </a:solidFill>
                <a:latin typeface="Book Antiqua" panose="02040602050305030304" pitchFamily="18" charset="0"/>
              </a:rPr>
              <a:t>Topologías Modernas en Centros de Datos (Leaf-Spine)</a:t>
            </a:r>
          </a:p>
          <a:p>
            <a:r>
              <a:rPr lang="es-MX" dirty="0">
                <a:solidFill>
                  <a:schemeClr val="bg1"/>
                </a:solidFill>
                <a:latin typeface="Book Antiqua" panose="02040602050305030304" pitchFamily="18" charset="0"/>
              </a:rPr>
              <a:t>Evolución del Cableado Estructurado de Cat5e a Cat8</a:t>
            </a:r>
          </a:p>
          <a:p>
            <a:r>
              <a:rPr lang="es-MX" dirty="0">
                <a:solidFill>
                  <a:schemeClr val="bg1"/>
                </a:solidFill>
                <a:latin typeface="Book Antiqua" panose="02040602050305030304" pitchFamily="18" charset="0"/>
              </a:rPr>
              <a:t>Tecnologías de Conectividad por Fibra Óptica (GPON, FTTH)</a:t>
            </a:r>
          </a:p>
        </p:txBody>
      </p:sp>
      <p:pic>
        <p:nvPicPr>
          <p:cNvPr id="7" name="Gráfico 6" descr="Informática en la nube con relleno sólido">
            <a:extLst>
              <a:ext uri="{FF2B5EF4-FFF2-40B4-BE49-F238E27FC236}">
                <a16:creationId xmlns:a16="http://schemas.microsoft.com/office/drawing/2014/main" id="{C5E1DD7E-918B-5BE1-DA2A-4C07C2C7EDE2}"/>
              </a:ext>
            </a:extLst>
          </p:cNvPr>
          <p:cNvPicPr>
            <a:picLocks noChangeAspect="1"/>
          </p:cNvPicPr>
          <p:nvPr/>
        </p:nvPicPr>
        <p:blipFill>
          <a:blip r:embed="rId5">
            <a:extLst>
              <a:ext uri="{96DAC541-7B7A-43D3-8B79-37D633B846F1}">
                <asvg:svgBlip xmlns:asvg="http://schemas.microsoft.com/office/drawing/2016/SVG/main"/>
              </a:ext>
            </a:extLst>
          </a:blip>
          <a:stretch>
            <a:fillRect/>
          </a:stretch>
        </p:blipFill>
        <p:spPr>
          <a:xfrm>
            <a:off x="325120" y="5101409"/>
            <a:ext cx="1125220" cy="1150505"/>
          </a:xfrm>
          <a:prstGeom prst="rect">
            <a:avLst/>
          </a:prstGeom>
        </p:spPr>
      </p:pic>
      <p:sp>
        <p:nvSpPr>
          <p:cNvPr id="8" name="CuadroTexto 7">
            <a:extLst>
              <a:ext uri="{FF2B5EF4-FFF2-40B4-BE49-F238E27FC236}">
                <a16:creationId xmlns:a16="http://schemas.microsoft.com/office/drawing/2014/main" id="{9687E31B-A0AA-67C6-9A75-253E855959E7}"/>
              </a:ext>
            </a:extLst>
          </p:cNvPr>
          <p:cNvSpPr txBox="1"/>
          <p:nvPr/>
        </p:nvSpPr>
        <p:spPr>
          <a:xfrm>
            <a:off x="13368020" y="-2905859"/>
            <a:ext cx="5041900" cy="2554545"/>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INTRODUCCION: </a:t>
            </a:r>
            <a:endParaRPr lang="es-PE" sz="8000" dirty="0">
              <a:solidFill>
                <a:schemeClr val="bg1"/>
              </a:solidFill>
              <a:latin typeface="Aharoni" panose="02010803020104030203" pitchFamily="2" charset="-79"/>
              <a:cs typeface="Aharoni" panose="02010803020104030203" pitchFamily="2" charset="-79"/>
            </a:endParaRPr>
          </a:p>
        </p:txBody>
      </p:sp>
      <p:sp>
        <p:nvSpPr>
          <p:cNvPr id="13" name="CuadroTexto 12">
            <a:extLst>
              <a:ext uri="{FF2B5EF4-FFF2-40B4-BE49-F238E27FC236}">
                <a16:creationId xmlns:a16="http://schemas.microsoft.com/office/drawing/2014/main" id="{D78E538C-A53A-1883-A052-175DE1F32773}"/>
              </a:ext>
            </a:extLst>
          </p:cNvPr>
          <p:cNvSpPr txBox="1"/>
          <p:nvPr/>
        </p:nvSpPr>
        <p:spPr>
          <a:xfrm>
            <a:off x="917575" y="180520"/>
            <a:ext cx="10356850" cy="1231106"/>
          </a:xfrm>
          <a:prstGeom prst="rect">
            <a:avLst/>
          </a:prstGeom>
          <a:noFill/>
        </p:spPr>
        <p:txBody>
          <a:bodyPr wrap="square" rtlCol="0">
            <a:spAutoFit/>
          </a:bodyPr>
          <a:lstStyle/>
          <a:p>
            <a:r>
              <a:rPr lang="es-MX" sz="2800" b="1" dirty="0">
                <a:solidFill>
                  <a:schemeClr val="bg1"/>
                </a:solidFill>
                <a:latin typeface="Aharoni" panose="02010803020104030203" pitchFamily="2" charset="-79"/>
                <a:cs typeface="Aharoni" panose="02010803020104030203" pitchFamily="2" charset="-79"/>
              </a:rPr>
              <a:t>SDN (Software Defined Networking) – Redes Programables para centros de datos</a:t>
            </a:r>
            <a:endParaRPr lang="es-PE" sz="2800" dirty="0">
              <a:solidFill>
                <a:schemeClr val="bg1"/>
              </a:solidFill>
              <a:latin typeface="Aharoni" panose="02010803020104030203" pitchFamily="2" charset="-79"/>
              <a:cs typeface="Aharoni" panose="02010803020104030203" pitchFamily="2" charset="-79"/>
            </a:endParaRPr>
          </a:p>
          <a:p>
            <a:endParaRPr lang="es-PE" dirty="0"/>
          </a:p>
        </p:txBody>
      </p:sp>
      <p:sp>
        <p:nvSpPr>
          <p:cNvPr id="16" name="CuadroTexto 15">
            <a:extLst>
              <a:ext uri="{FF2B5EF4-FFF2-40B4-BE49-F238E27FC236}">
                <a16:creationId xmlns:a16="http://schemas.microsoft.com/office/drawing/2014/main" id="{0E06CCA7-8C8A-6919-660D-429F6FBDBE6E}"/>
              </a:ext>
            </a:extLst>
          </p:cNvPr>
          <p:cNvSpPr txBox="1"/>
          <p:nvPr/>
        </p:nvSpPr>
        <p:spPr>
          <a:xfrm>
            <a:off x="1907540" y="1614010"/>
            <a:ext cx="7739380" cy="4062651"/>
          </a:xfrm>
          <a:prstGeom prst="rect">
            <a:avLst/>
          </a:prstGeom>
          <a:noFill/>
        </p:spPr>
        <p:txBody>
          <a:bodyPr wrap="square" rtlCol="0">
            <a:spAutoFit/>
          </a:bodyPr>
          <a:lstStyle/>
          <a:p>
            <a:r>
              <a:rPr lang="es-MX" sz="2000" b="1" dirty="0">
                <a:solidFill>
                  <a:schemeClr val="bg1"/>
                </a:solidFill>
                <a:latin typeface="Book Antiqua" panose="02040602050305030304" pitchFamily="18" charset="0"/>
              </a:rPr>
              <a:t>1.- ¿Qué es SDN?</a:t>
            </a:r>
            <a:endParaRPr lang="es-PE" sz="2000" dirty="0">
              <a:solidFill>
                <a:schemeClr val="bg1"/>
              </a:solidFill>
              <a:latin typeface="Book Antiqua" panose="02040602050305030304" pitchFamily="18" charset="0"/>
            </a:endParaRPr>
          </a:p>
          <a:p>
            <a:r>
              <a:rPr lang="es-PE" sz="2000" dirty="0">
                <a:solidFill>
                  <a:schemeClr val="bg1"/>
                </a:solidFill>
                <a:latin typeface="Book Antiqua" panose="02040602050305030304" pitchFamily="18" charset="0"/>
              </a:rPr>
              <a:t>Las redes definidas por software (SDN) son un enfoque controlado por software para la arquitectura de redes impulsada por interfaces de programación de aplicaciones</a:t>
            </a:r>
            <a:r>
              <a:rPr lang="es-PE" sz="2000" dirty="0">
                <a:solidFill>
                  <a:schemeClr val="bg1"/>
                </a:solidFill>
                <a:latin typeface="Book Antiqua" panose="02040602050305030304" pitchFamily="18" charset="0"/>
                <a:hlinkClick r:id="rId2">
                  <a:extLst>
                    <a:ext uri="{A12FA001-AC4F-418D-AE19-62706E023703}">
                      <ahyp:hlinkClr xmlns:ahyp="http://schemas.microsoft.com/office/drawing/2018/hyperlinkcolor" val="tx"/>
                    </a:ext>
                  </a:extLst>
                </a:hlinkClick>
              </a:rPr>
              <a:t>(API)</a:t>
            </a:r>
            <a:r>
              <a:rPr lang="es-PE" sz="2000" dirty="0">
                <a:solidFill>
                  <a:schemeClr val="bg1"/>
                </a:solidFill>
                <a:latin typeface="Book Antiqua" panose="02040602050305030304" pitchFamily="18" charset="0"/>
              </a:rPr>
              <a:t>. SDN aprovecha una plataforma centralizada para comunicarse con </a:t>
            </a:r>
            <a:r>
              <a:rPr lang="es-PE" sz="2000" dirty="0">
                <a:solidFill>
                  <a:schemeClr val="bg1"/>
                </a:solidFill>
                <a:latin typeface="Book Antiqua" panose="02040602050305030304" pitchFamily="18" charset="0"/>
                <a:hlinkClick r:id="rId3">
                  <a:extLst>
                    <a:ext uri="{A12FA001-AC4F-418D-AE19-62706E023703}">
                      <ahyp:hlinkClr xmlns:ahyp="http://schemas.microsoft.com/office/drawing/2018/hyperlinkcolor" val="tx"/>
                    </a:ext>
                  </a:extLst>
                </a:hlinkClick>
              </a:rPr>
              <a:t>la infraestructura de TI</a:t>
            </a:r>
            <a:r>
              <a:rPr lang="es-PE" sz="2000" dirty="0">
                <a:solidFill>
                  <a:schemeClr val="bg1"/>
                </a:solidFill>
                <a:latin typeface="Book Antiqua" panose="02040602050305030304" pitchFamily="18" charset="0"/>
              </a:rPr>
              <a:t> y dirigir el tráfico de red.</a:t>
            </a:r>
          </a:p>
          <a:p>
            <a:r>
              <a:rPr lang="es-PE" sz="2000" dirty="0">
                <a:solidFill>
                  <a:schemeClr val="bg1"/>
                </a:solidFill>
                <a:latin typeface="Book Antiqua" panose="02040602050305030304" pitchFamily="18" charset="0"/>
              </a:rPr>
              <a:t>La red definida por software (SDN) describe una arquitectura que separa el plano de control de la red y el plano de reenvío, con el objetivo de simplificar y mejorar el control de la red. Los equipos de TI tienen mayor capacidad de adaptarse rápidamente a los cambiantes requisitos del negocio y a las necesidades de sus aplicaciones.</a:t>
            </a:r>
          </a:p>
          <a:p>
            <a:endParaRPr lang="es-PE" dirty="0"/>
          </a:p>
        </p:txBody>
      </p:sp>
      <p:pic>
        <p:nvPicPr>
          <p:cNvPr id="23" name="Gráfico 22" descr="Red social con relleno sólido">
            <a:extLst>
              <a:ext uri="{FF2B5EF4-FFF2-40B4-BE49-F238E27FC236}">
                <a16:creationId xmlns:a16="http://schemas.microsoft.com/office/drawing/2014/main" id="{7205C47C-394D-D8BA-905D-C20D4DD66E36}"/>
              </a:ext>
            </a:extLst>
          </p:cNvPr>
          <p:cNvPicPr>
            <a:picLocks noChangeAspect="1"/>
          </p:cNvPicPr>
          <p:nvPr/>
        </p:nvPicPr>
        <p:blipFill>
          <a:blip r:embed="rId2">
            <a:extLst>
              <a:ext uri="{96DAC541-7B7A-43D3-8B79-37D633B846F1}">
                <asvg:svgBlip xmlns:asvg="http://schemas.microsoft.com/office/drawing/2016/SVG/main"/>
              </a:ext>
            </a:extLst>
          </a:blip>
          <a:stretch>
            <a:fillRect/>
          </a:stretch>
        </p:blipFill>
        <p:spPr>
          <a:xfrm>
            <a:off x="10527208" y="2159977"/>
            <a:ext cx="784503" cy="784503"/>
          </a:xfrm>
          <a:prstGeom prst="rect">
            <a:avLst/>
          </a:prstGeom>
        </p:spPr>
      </p:pic>
      <p:pic>
        <p:nvPicPr>
          <p:cNvPr id="25" name="Gráfico 24" descr="Red social con relleno sólido">
            <a:extLst>
              <a:ext uri="{FF2B5EF4-FFF2-40B4-BE49-F238E27FC236}">
                <a16:creationId xmlns:a16="http://schemas.microsoft.com/office/drawing/2014/main" id="{EBCE04A0-4FF7-B1D1-1B0D-EB0AEC7F2045}"/>
              </a:ext>
            </a:extLst>
          </p:cNvPr>
          <p:cNvPicPr>
            <a:picLocks noChangeAspect="1"/>
          </p:cNvPicPr>
          <p:nvPr/>
        </p:nvPicPr>
        <p:blipFill>
          <a:blip r:embed="rId2">
            <a:extLst>
              <a:ext uri="{96DAC541-7B7A-43D3-8B79-37D633B846F1}">
                <asvg:svgBlip xmlns:asvg="http://schemas.microsoft.com/office/drawing/2016/SVG/main"/>
              </a:ext>
            </a:extLst>
          </a:blip>
          <a:stretch>
            <a:fillRect/>
          </a:stretch>
        </p:blipFill>
        <p:spPr>
          <a:xfrm>
            <a:off x="10607040" y="1283338"/>
            <a:ext cx="487958" cy="487958"/>
          </a:xfrm>
          <a:prstGeom prst="rect">
            <a:avLst/>
          </a:prstGeom>
        </p:spPr>
      </p:pic>
    </p:spTree>
    <p:extLst>
      <p:ext uri="{BB962C8B-B14F-4D97-AF65-F5344CB8AC3E}">
        <p14:creationId xmlns:p14="http://schemas.microsoft.com/office/powerpoint/2010/main" val="1625305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3F5F8-8090-4D3C-9FB2-4D1191EA7E3D}"/>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373C2B2B-58C5-1A0A-6BD4-0616E2522E3A}"/>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7C257EFC-B84B-9048-CC65-2EAD2CA2FF54}"/>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0" y="-6014433"/>
            <a:ext cx="12192000" cy="12872433"/>
          </a:xfrm>
          <a:prstGeom prst="rect">
            <a:avLst/>
          </a:prstGeom>
        </p:spPr>
      </p:pic>
      <p:sp>
        <p:nvSpPr>
          <p:cNvPr id="10" name="CuadroTexto 9">
            <a:extLst>
              <a:ext uri="{FF2B5EF4-FFF2-40B4-BE49-F238E27FC236}">
                <a16:creationId xmlns:a16="http://schemas.microsoft.com/office/drawing/2014/main" id="{DDB9F4DB-3409-B956-50BB-789DEE59ABB0}"/>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E71F7698-0FC6-77CD-9690-D2979543F6CF}"/>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BDACFFDD-D2FA-07D9-6BF5-9A28D6F5E332}"/>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pic>
        <p:nvPicPr>
          <p:cNvPr id="14" name="Gráfico 13" descr="Red social con relleno sólido">
            <a:extLst>
              <a:ext uri="{FF2B5EF4-FFF2-40B4-BE49-F238E27FC236}">
                <a16:creationId xmlns:a16="http://schemas.microsoft.com/office/drawing/2014/main" id="{654D8765-B36A-3EA5-7E76-EA9487F3E789}"/>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10596145" y="438889"/>
            <a:ext cx="784503" cy="784503"/>
          </a:xfrm>
          <a:prstGeom prst="rect">
            <a:avLst/>
          </a:prstGeom>
        </p:spPr>
      </p:pic>
      <p:sp>
        <p:nvSpPr>
          <p:cNvPr id="15" name="CuadroTexto 14">
            <a:extLst>
              <a:ext uri="{FF2B5EF4-FFF2-40B4-BE49-F238E27FC236}">
                <a16:creationId xmlns:a16="http://schemas.microsoft.com/office/drawing/2014/main" id="{B6237049-B59E-B690-B796-8A32D1E9DBA1}"/>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sp>
        <p:nvSpPr>
          <p:cNvPr id="3" name="CuadroTexto 2">
            <a:extLst>
              <a:ext uri="{FF2B5EF4-FFF2-40B4-BE49-F238E27FC236}">
                <a16:creationId xmlns:a16="http://schemas.microsoft.com/office/drawing/2014/main" id="{1CBD4A6F-0B0C-0D05-9753-3E3997558D53}"/>
              </a:ext>
            </a:extLst>
          </p:cNvPr>
          <p:cNvSpPr txBox="1"/>
          <p:nvPr/>
        </p:nvSpPr>
        <p:spPr>
          <a:xfrm>
            <a:off x="266700" y="1240572"/>
            <a:ext cx="6134100" cy="5355312"/>
          </a:xfrm>
          <a:prstGeom prst="rect">
            <a:avLst/>
          </a:prstGeom>
          <a:noFill/>
        </p:spPr>
        <p:txBody>
          <a:bodyPr wrap="square" rtlCol="0">
            <a:spAutoFit/>
          </a:bodyPr>
          <a:lstStyle/>
          <a:p>
            <a:r>
              <a:rPr lang="es-PE" b="1" dirty="0">
                <a:solidFill>
                  <a:schemeClr val="bg1"/>
                </a:solidFill>
                <a:latin typeface="Book Antiqua" panose="02040602050305030304" pitchFamily="18" charset="0"/>
              </a:rPr>
              <a:t>2.-Características de la red definida por software</a:t>
            </a:r>
            <a:endParaRPr lang="es-PE" dirty="0">
              <a:solidFill>
                <a:schemeClr val="bg1"/>
              </a:solidFill>
              <a:latin typeface="Book Antiqua" panose="02040602050305030304" pitchFamily="18" charset="0"/>
            </a:endParaRPr>
          </a:p>
          <a:p>
            <a:r>
              <a:rPr lang="es-PE" dirty="0">
                <a:solidFill>
                  <a:schemeClr val="bg1"/>
                </a:solidFill>
                <a:latin typeface="Book Antiqua" panose="02040602050305030304" pitchFamily="18" charset="0"/>
              </a:rPr>
              <a:t>Hay 4 características únicas y definitorias de las redes definidas por software:</a:t>
            </a:r>
          </a:p>
          <a:p>
            <a:pPr lvl="0"/>
            <a:r>
              <a:rPr lang="es-PE" b="1" dirty="0">
                <a:solidFill>
                  <a:schemeClr val="bg1"/>
                </a:solidFill>
                <a:latin typeface="Book Antiqua" panose="02040602050305030304" pitchFamily="18" charset="0"/>
              </a:rPr>
              <a:t>Ágil</a:t>
            </a:r>
            <a:r>
              <a:rPr lang="es-PE" dirty="0">
                <a:solidFill>
                  <a:schemeClr val="bg1"/>
                </a:solidFill>
                <a:latin typeface="Book Antiqua" panose="02040602050305030304" pitchFamily="18" charset="0"/>
              </a:rPr>
              <a:t>. A medida que cambian las necesidades empresariales y de las aplicaciones, los administradores pueden ajustar la configuración de la red más ágilmente.</a:t>
            </a:r>
          </a:p>
          <a:p>
            <a:pPr lvl="0"/>
            <a:r>
              <a:rPr lang="es-PE" b="1" dirty="0">
                <a:solidFill>
                  <a:schemeClr val="bg1"/>
                </a:solidFill>
                <a:latin typeface="Book Antiqua" panose="02040602050305030304" pitchFamily="18" charset="0"/>
              </a:rPr>
              <a:t>Gestión centralizada</a:t>
            </a:r>
            <a:r>
              <a:rPr lang="es-PE" dirty="0">
                <a:solidFill>
                  <a:schemeClr val="bg1"/>
                </a:solidFill>
                <a:latin typeface="Book Antiqua" panose="02040602050305030304" pitchFamily="18" charset="0"/>
              </a:rPr>
              <a:t>. La SDN consolida la inteligencia de red, que proporciona una visión holística de la configuración y la actividad de la red.</a:t>
            </a:r>
          </a:p>
          <a:p>
            <a:pPr lvl="0"/>
            <a:r>
              <a:rPr lang="es-PE" b="1" dirty="0">
                <a:solidFill>
                  <a:schemeClr val="bg1"/>
                </a:solidFill>
                <a:latin typeface="Book Antiqua" panose="02040602050305030304" pitchFamily="18" charset="0"/>
              </a:rPr>
              <a:t>Programable</a:t>
            </a:r>
            <a:r>
              <a:rPr lang="es-PE" dirty="0">
                <a:solidFill>
                  <a:schemeClr val="bg1"/>
                </a:solidFill>
                <a:latin typeface="Book Antiqua" panose="02040602050305030304" pitchFamily="18" charset="0"/>
              </a:rPr>
              <a:t>. La capacidad de programar directamente las características de la red y de configurar los recursos de red de forma fácil y rápida a través de los servicios automatizados de SDN. </a:t>
            </a:r>
          </a:p>
          <a:p>
            <a:pPr lvl="0"/>
            <a:r>
              <a:rPr lang="es-PE" b="1" dirty="0">
                <a:solidFill>
                  <a:schemeClr val="bg1"/>
                </a:solidFill>
                <a:latin typeface="Book Antiqua" panose="02040602050305030304" pitchFamily="18" charset="0"/>
              </a:rPr>
              <a:t>Conectividad abierta</a:t>
            </a:r>
            <a:r>
              <a:rPr lang="es-PE" dirty="0">
                <a:solidFill>
                  <a:schemeClr val="bg1"/>
                </a:solidFill>
                <a:latin typeface="Book Antiqua" panose="02040602050305030304" pitchFamily="18" charset="0"/>
              </a:rPr>
              <a:t>. La SDN se basa en estándares abiertos y se implementa siguiéndolos. En consecuencia, la SDN agiliza el diseño de la red y proporciona redes consistentes en una arquitectura independiente del proveedor.</a:t>
            </a:r>
          </a:p>
          <a:p>
            <a:endParaRPr lang="es-PE" dirty="0"/>
          </a:p>
        </p:txBody>
      </p:sp>
      <p:sp>
        <p:nvSpPr>
          <p:cNvPr id="4" name="CuadroTexto 3">
            <a:extLst>
              <a:ext uri="{FF2B5EF4-FFF2-40B4-BE49-F238E27FC236}">
                <a16:creationId xmlns:a16="http://schemas.microsoft.com/office/drawing/2014/main" id="{69E06D3D-A27A-9B8E-08A8-8E7B86472124}"/>
              </a:ext>
            </a:extLst>
          </p:cNvPr>
          <p:cNvSpPr txBox="1"/>
          <p:nvPr/>
        </p:nvSpPr>
        <p:spPr>
          <a:xfrm>
            <a:off x="6858001" y="1545085"/>
            <a:ext cx="5269695" cy="4524315"/>
          </a:xfrm>
          <a:prstGeom prst="rect">
            <a:avLst/>
          </a:prstGeom>
          <a:noFill/>
        </p:spPr>
        <p:txBody>
          <a:bodyPr wrap="square" rtlCol="0">
            <a:spAutoFit/>
          </a:bodyPr>
          <a:lstStyle/>
          <a:p>
            <a:r>
              <a:rPr lang="es-PE" b="1" dirty="0">
                <a:solidFill>
                  <a:schemeClr val="bg1"/>
                </a:solidFill>
                <a:latin typeface="Book Antiqua" panose="02040602050305030304" pitchFamily="18" charset="0"/>
              </a:rPr>
              <a:t>3.-Cómo funciona SDN:</a:t>
            </a:r>
            <a:endParaRPr lang="es-PE" dirty="0">
              <a:solidFill>
                <a:schemeClr val="bg1"/>
              </a:solidFill>
              <a:latin typeface="Book Antiqua" panose="02040602050305030304" pitchFamily="18" charset="0"/>
            </a:endParaRPr>
          </a:p>
          <a:p>
            <a:r>
              <a:rPr lang="es-PE" dirty="0">
                <a:solidFill>
                  <a:schemeClr val="bg1"/>
                </a:solidFill>
                <a:latin typeface="Book Antiqua" panose="02040602050305030304" pitchFamily="18" charset="0"/>
              </a:rPr>
              <a:t> La arquitectura SDN se compone de tres capas que se comunican mediante API hacia el norte (interfaces que permiten que los componentes de nivel inferior se comuniquen con componentes de nivel superior) y API hacia el sur que facilitan la comunicación en la dirección opuesta. Las tres capas son:</a:t>
            </a:r>
          </a:p>
          <a:p>
            <a:pPr lvl="0" fontAlgn="base"/>
            <a:r>
              <a:rPr lang="es-PE" b="1" dirty="0">
                <a:solidFill>
                  <a:schemeClr val="bg1"/>
                </a:solidFill>
                <a:latin typeface="Book Antiqua" panose="02040602050305030304" pitchFamily="18" charset="0"/>
              </a:rPr>
              <a:t>Capa de aplicación:</a:t>
            </a:r>
            <a:endParaRPr lang="es-PE" dirty="0">
              <a:solidFill>
                <a:schemeClr val="bg1"/>
              </a:solidFill>
              <a:latin typeface="Book Antiqua" panose="02040602050305030304" pitchFamily="18" charset="0"/>
            </a:endParaRPr>
          </a:p>
          <a:p>
            <a:pPr fontAlgn="base"/>
            <a:r>
              <a:rPr lang="es-PE" dirty="0">
                <a:solidFill>
                  <a:schemeClr val="bg1"/>
                </a:solidFill>
                <a:latin typeface="Book Antiqua" panose="02040602050305030304" pitchFamily="18" charset="0"/>
              </a:rPr>
              <a:t>La capa de aplicación incluye aplicaciones y programas de red. La capa de aplicación se comunica con la capa de control a través de su interfaz hacia el norte, informando a la capa de control de las necesidades de recursos de la aplicación. </a:t>
            </a:r>
          </a:p>
          <a:p>
            <a:endParaRPr lang="es-PE" dirty="0"/>
          </a:p>
        </p:txBody>
      </p:sp>
      <p:cxnSp>
        <p:nvCxnSpPr>
          <p:cNvPr id="7" name="Conector recto 6">
            <a:extLst>
              <a:ext uri="{FF2B5EF4-FFF2-40B4-BE49-F238E27FC236}">
                <a16:creationId xmlns:a16="http://schemas.microsoft.com/office/drawing/2014/main" id="{E50A4113-86D4-B614-1AFC-6E792CB506D0}"/>
              </a:ext>
            </a:extLst>
          </p:cNvPr>
          <p:cNvCxnSpPr>
            <a:cxnSpLocks/>
          </p:cNvCxnSpPr>
          <p:nvPr/>
        </p:nvCxnSpPr>
        <p:spPr>
          <a:xfrm>
            <a:off x="6629400" y="1291009"/>
            <a:ext cx="0" cy="5032465"/>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sp>
        <p:nvSpPr>
          <p:cNvPr id="17" name="CuadroTexto 16">
            <a:extLst>
              <a:ext uri="{FF2B5EF4-FFF2-40B4-BE49-F238E27FC236}">
                <a16:creationId xmlns:a16="http://schemas.microsoft.com/office/drawing/2014/main" id="{79BA43A5-68C0-154B-68AF-D4B47F1BFAA1}"/>
              </a:ext>
            </a:extLst>
          </p:cNvPr>
          <p:cNvSpPr txBox="1"/>
          <p:nvPr/>
        </p:nvSpPr>
        <p:spPr>
          <a:xfrm>
            <a:off x="838200" y="67840"/>
            <a:ext cx="10515600" cy="707886"/>
          </a:xfrm>
          <a:prstGeom prst="rect">
            <a:avLst/>
          </a:prstGeom>
          <a:noFill/>
        </p:spPr>
        <p:txBody>
          <a:bodyPr wrap="square" rtlCol="0">
            <a:spAutoFit/>
          </a:bodyPr>
          <a:lstStyle/>
          <a:p>
            <a:r>
              <a:rPr lang="es-MX" sz="4000" dirty="0">
                <a:solidFill>
                  <a:schemeClr val="bg1"/>
                </a:solidFill>
                <a:latin typeface="Aharoni" panose="02010803020104030203" pitchFamily="2" charset="-79"/>
                <a:cs typeface="Aharoni" panose="02010803020104030203" pitchFamily="2" charset="-79"/>
              </a:rPr>
              <a:t>Características y funcionalidad del SDN</a:t>
            </a:r>
            <a:endParaRPr lang="es-PE" sz="4000" dirty="0">
              <a:solidFill>
                <a:schemeClr val="bg1"/>
              </a:solidFill>
              <a:latin typeface="Aharoni" panose="02010803020104030203" pitchFamily="2" charset="-79"/>
              <a:cs typeface="Aharoni" panose="02010803020104030203" pitchFamily="2" charset="-79"/>
            </a:endParaRPr>
          </a:p>
        </p:txBody>
      </p:sp>
      <p:pic>
        <p:nvPicPr>
          <p:cNvPr id="18" name="Gráfico 17" descr="Red social con relleno sólido">
            <a:extLst>
              <a:ext uri="{FF2B5EF4-FFF2-40B4-BE49-F238E27FC236}">
                <a16:creationId xmlns:a16="http://schemas.microsoft.com/office/drawing/2014/main" id="{A8DBC8BA-01A8-E907-FCF8-7325BEDE910F}"/>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53697" y="193953"/>
            <a:ext cx="784503" cy="784503"/>
          </a:xfrm>
          <a:prstGeom prst="rect">
            <a:avLst/>
          </a:prstGeom>
        </p:spPr>
      </p:pic>
      <p:pic>
        <p:nvPicPr>
          <p:cNvPr id="19" name="Gráfico 18" descr="Red social con relleno sólido">
            <a:extLst>
              <a:ext uri="{FF2B5EF4-FFF2-40B4-BE49-F238E27FC236}">
                <a16:creationId xmlns:a16="http://schemas.microsoft.com/office/drawing/2014/main" id="{9C41D351-F3C7-B4A1-6A18-1890771FCE74}"/>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10961548" y="5928282"/>
            <a:ext cx="784503" cy="784503"/>
          </a:xfrm>
          <a:prstGeom prst="rect">
            <a:avLst/>
          </a:prstGeom>
        </p:spPr>
      </p:pic>
    </p:spTree>
    <p:extLst>
      <p:ext uri="{BB962C8B-B14F-4D97-AF65-F5344CB8AC3E}">
        <p14:creationId xmlns:p14="http://schemas.microsoft.com/office/powerpoint/2010/main" val="4236606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24D01-114B-342C-A6F6-BCCE34D21D2D}"/>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5F7B3289-D771-EDEA-7193-91F3DA34A829}"/>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E3E7ECB8-96AD-B1FF-A7D0-68CC8F3B0AFC}"/>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0" y="-6014433"/>
            <a:ext cx="12192000" cy="12872433"/>
          </a:xfrm>
          <a:prstGeom prst="rect">
            <a:avLst/>
          </a:prstGeom>
        </p:spPr>
      </p:pic>
      <p:sp>
        <p:nvSpPr>
          <p:cNvPr id="10" name="CuadroTexto 9">
            <a:extLst>
              <a:ext uri="{FF2B5EF4-FFF2-40B4-BE49-F238E27FC236}">
                <a16:creationId xmlns:a16="http://schemas.microsoft.com/office/drawing/2014/main" id="{6D32D828-E5A9-104D-37CE-CB3732D33512}"/>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6D5C2832-3C0D-F33A-EAD8-8444F4782EFA}"/>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3E341D0A-5454-6B02-2EA4-AC138892B68A}"/>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pic>
        <p:nvPicPr>
          <p:cNvPr id="14" name="Gráfico 13" descr="Red social con relleno sólido">
            <a:extLst>
              <a:ext uri="{FF2B5EF4-FFF2-40B4-BE49-F238E27FC236}">
                <a16:creationId xmlns:a16="http://schemas.microsoft.com/office/drawing/2014/main" id="{535F9801-A18C-50F2-2CE3-3734B7BD9666}"/>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10596145" y="438889"/>
            <a:ext cx="784503" cy="784503"/>
          </a:xfrm>
          <a:prstGeom prst="rect">
            <a:avLst/>
          </a:prstGeom>
        </p:spPr>
      </p:pic>
      <p:sp>
        <p:nvSpPr>
          <p:cNvPr id="15" name="CuadroTexto 14">
            <a:extLst>
              <a:ext uri="{FF2B5EF4-FFF2-40B4-BE49-F238E27FC236}">
                <a16:creationId xmlns:a16="http://schemas.microsoft.com/office/drawing/2014/main" id="{E2513923-0D75-86CC-8C03-6961F0BA6943}"/>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sp>
        <p:nvSpPr>
          <p:cNvPr id="3" name="CuadroTexto 2">
            <a:extLst>
              <a:ext uri="{FF2B5EF4-FFF2-40B4-BE49-F238E27FC236}">
                <a16:creationId xmlns:a16="http://schemas.microsoft.com/office/drawing/2014/main" id="{DD980CC6-5217-B344-F55E-9F3760D30DFF}"/>
              </a:ext>
            </a:extLst>
          </p:cNvPr>
          <p:cNvSpPr txBox="1"/>
          <p:nvPr/>
        </p:nvSpPr>
        <p:spPr>
          <a:xfrm>
            <a:off x="266700" y="1240572"/>
            <a:ext cx="11925300" cy="4801314"/>
          </a:xfrm>
          <a:prstGeom prst="rect">
            <a:avLst/>
          </a:prstGeom>
          <a:noFill/>
        </p:spPr>
        <p:txBody>
          <a:bodyPr wrap="square" rtlCol="0">
            <a:spAutoFit/>
          </a:bodyPr>
          <a:lstStyle/>
          <a:p>
            <a:pPr lvl="0" fontAlgn="base"/>
            <a:r>
              <a:rPr lang="es-PE" b="1" dirty="0">
                <a:solidFill>
                  <a:schemeClr val="bg1"/>
                </a:solidFill>
              </a:rPr>
              <a:t>Capa de control:</a:t>
            </a:r>
            <a:endParaRPr lang="es-PE" dirty="0">
              <a:solidFill>
                <a:schemeClr val="bg1"/>
              </a:solidFill>
            </a:endParaRPr>
          </a:p>
          <a:p>
            <a:pPr fontAlgn="base"/>
            <a:r>
              <a:rPr lang="es-PE" dirty="0">
                <a:solidFill>
                  <a:schemeClr val="bg1"/>
                </a:solidFill>
              </a:rPr>
              <a:t>La capa de control actúa como el cerebro, o sistema operativo de red, que gestiona el movimiento del tráfico y los datos. La capa de control desempeña un papel clave en la asignación de recursos en toda la red. Es la capa central que permite la comunicación entre la capa de aplicación y la capa de infraestructura.</a:t>
            </a:r>
          </a:p>
          <a:p>
            <a:pPr lvl="0" fontAlgn="base"/>
            <a:r>
              <a:rPr lang="es-PE" b="1" dirty="0">
                <a:solidFill>
                  <a:schemeClr val="bg1"/>
                </a:solidFill>
              </a:rPr>
              <a:t>Capa de infraestructura:</a:t>
            </a:r>
            <a:endParaRPr lang="es-PE" dirty="0">
              <a:solidFill>
                <a:schemeClr val="bg1"/>
              </a:solidFill>
            </a:endParaRPr>
          </a:p>
          <a:p>
            <a:pPr fontAlgn="base"/>
            <a:r>
              <a:rPr lang="es-PE" dirty="0">
                <a:solidFill>
                  <a:schemeClr val="bg1"/>
                </a:solidFill>
              </a:rPr>
              <a:t>Esta capa está formada por conmutadores físicos y enrutadores que mueven paquetes de datos y tráfico de red a través de la red.</a:t>
            </a:r>
          </a:p>
          <a:p>
            <a:pPr fontAlgn="base"/>
            <a:r>
              <a:rPr lang="es-PE" dirty="0">
                <a:solidFill>
                  <a:schemeClr val="bg1"/>
                </a:solidFill>
              </a:rPr>
              <a:t>Estas incluyen:</a:t>
            </a:r>
          </a:p>
          <a:p>
            <a:r>
              <a:rPr lang="es-PE" dirty="0">
                <a:solidFill>
                  <a:schemeClr val="bg1"/>
                </a:solidFill>
              </a:rPr>
              <a:t>- Aplicaciones: Las aplicaciones tienen la tarea de transmitir información sobre la red o solicitudes de disponibilidad o asignación de recursos específicos.</a:t>
            </a:r>
          </a:p>
          <a:p>
            <a:r>
              <a:rPr lang="es-PE" dirty="0">
                <a:solidFill>
                  <a:schemeClr val="bg1"/>
                </a:solidFill>
              </a:rPr>
              <a:t>- Controladores SDN: Los controladores SDN gestionan la comunicación con las aplicaciones para determinar el destino de los paquetes de datos. Los controladores son los balanceadores de carga dentro de las SDN.</a:t>
            </a:r>
          </a:p>
          <a:p>
            <a:r>
              <a:rPr lang="es-PE" dirty="0">
                <a:solidFill>
                  <a:schemeClr val="bg1"/>
                </a:solidFill>
              </a:rPr>
              <a:t>- Dispositivos de red: Los dispositivos de red reciben instrucciones de los controladores sobre cómo enrutar los paquetes.</a:t>
            </a:r>
          </a:p>
          <a:p>
            <a:endParaRPr lang="es-PE" dirty="0"/>
          </a:p>
        </p:txBody>
      </p:sp>
      <p:sp>
        <p:nvSpPr>
          <p:cNvPr id="17" name="CuadroTexto 16">
            <a:extLst>
              <a:ext uri="{FF2B5EF4-FFF2-40B4-BE49-F238E27FC236}">
                <a16:creationId xmlns:a16="http://schemas.microsoft.com/office/drawing/2014/main" id="{3451924C-418C-239E-9505-D433D2BA683F}"/>
              </a:ext>
            </a:extLst>
          </p:cNvPr>
          <p:cNvSpPr txBox="1"/>
          <p:nvPr/>
        </p:nvSpPr>
        <p:spPr>
          <a:xfrm>
            <a:off x="2849880" y="-1032"/>
            <a:ext cx="10515600" cy="707886"/>
          </a:xfrm>
          <a:prstGeom prst="rect">
            <a:avLst/>
          </a:prstGeom>
          <a:noFill/>
        </p:spPr>
        <p:txBody>
          <a:bodyPr wrap="square" rtlCol="0">
            <a:spAutoFit/>
          </a:bodyPr>
          <a:lstStyle/>
          <a:p>
            <a:r>
              <a:rPr lang="es-MX" sz="4000" dirty="0">
                <a:solidFill>
                  <a:schemeClr val="bg1"/>
                </a:solidFill>
                <a:latin typeface="Aharoni" panose="02010803020104030203" pitchFamily="2" charset="-79"/>
                <a:cs typeface="Aharoni" panose="02010803020104030203" pitchFamily="2" charset="-79"/>
              </a:rPr>
              <a:t>funcionalidad del SDN</a:t>
            </a:r>
            <a:endParaRPr lang="es-PE" sz="4000" dirty="0">
              <a:solidFill>
                <a:schemeClr val="bg1"/>
              </a:solidFill>
              <a:latin typeface="Aharoni" panose="02010803020104030203" pitchFamily="2" charset="-79"/>
              <a:cs typeface="Aharoni" panose="02010803020104030203" pitchFamily="2" charset="-79"/>
            </a:endParaRPr>
          </a:p>
        </p:txBody>
      </p:sp>
      <p:pic>
        <p:nvPicPr>
          <p:cNvPr id="18" name="Gráfico 17" descr="Red social con relleno sólido">
            <a:extLst>
              <a:ext uri="{FF2B5EF4-FFF2-40B4-BE49-F238E27FC236}">
                <a16:creationId xmlns:a16="http://schemas.microsoft.com/office/drawing/2014/main" id="{B95CC71B-19BB-E69E-687F-1DBCDD220AA6}"/>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53697" y="193953"/>
            <a:ext cx="784503" cy="784503"/>
          </a:xfrm>
          <a:prstGeom prst="rect">
            <a:avLst/>
          </a:prstGeom>
        </p:spPr>
      </p:pic>
      <p:pic>
        <p:nvPicPr>
          <p:cNvPr id="19" name="Gráfico 18" descr="Red social con relleno sólido">
            <a:extLst>
              <a:ext uri="{FF2B5EF4-FFF2-40B4-BE49-F238E27FC236}">
                <a16:creationId xmlns:a16="http://schemas.microsoft.com/office/drawing/2014/main" id="{9D83DEE6-38A6-44A1-72AD-358EB65E71CA}"/>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10961548" y="5928282"/>
            <a:ext cx="784503" cy="784503"/>
          </a:xfrm>
          <a:prstGeom prst="rect">
            <a:avLst/>
          </a:prstGeom>
        </p:spPr>
      </p:pic>
    </p:spTree>
    <p:extLst>
      <p:ext uri="{BB962C8B-B14F-4D97-AF65-F5344CB8AC3E}">
        <p14:creationId xmlns:p14="http://schemas.microsoft.com/office/powerpoint/2010/main" val="959197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59137-16C0-F756-9BCA-17957E37B28C}"/>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FF76DD18-3AF2-AEA1-7625-62520686A65B}"/>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F96506BD-6FCC-FF47-1276-E6E5320FBC68}"/>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0" y="-6014433"/>
            <a:ext cx="12192000" cy="12872433"/>
          </a:xfrm>
          <a:prstGeom prst="rect">
            <a:avLst/>
          </a:prstGeom>
        </p:spPr>
      </p:pic>
      <p:sp>
        <p:nvSpPr>
          <p:cNvPr id="10" name="CuadroTexto 9">
            <a:extLst>
              <a:ext uri="{FF2B5EF4-FFF2-40B4-BE49-F238E27FC236}">
                <a16:creationId xmlns:a16="http://schemas.microsoft.com/office/drawing/2014/main" id="{9DDDA077-1244-F666-47C7-843C62891965}"/>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3BD472C6-CB9A-A74F-0BC1-1E09FD228A46}"/>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EE35613B-4E2B-01D3-B98A-0D6E0C9F5551}"/>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pic>
        <p:nvPicPr>
          <p:cNvPr id="14" name="Gráfico 13" descr="Red social con relleno sólido">
            <a:extLst>
              <a:ext uri="{FF2B5EF4-FFF2-40B4-BE49-F238E27FC236}">
                <a16:creationId xmlns:a16="http://schemas.microsoft.com/office/drawing/2014/main" id="{EA6168A4-A5A6-8914-A574-07DADCD298A6}"/>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10596145" y="438889"/>
            <a:ext cx="784503" cy="784503"/>
          </a:xfrm>
          <a:prstGeom prst="rect">
            <a:avLst/>
          </a:prstGeom>
        </p:spPr>
      </p:pic>
      <p:sp>
        <p:nvSpPr>
          <p:cNvPr id="15" name="CuadroTexto 14">
            <a:extLst>
              <a:ext uri="{FF2B5EF4-FFF2-40B4-BE49-F238E27FC236}">
                <a16:creationId xmlns:a16="http://schemas.microsoft.com/office/drawing/2014/main" id="{A674E090-63A7-8BDE-72BF-D7B20DF48D1C}"/>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sp>
        <p:nvSpPr>
          <p:cNvPr id="3" name="CuadroTexto 2">
            <a:extLst>
              <a:ext uri="{FF2B5EF4-FFF2-40B4-BE49-F238E27FC236}">
                <a16:creationId xmlns:a16="http://schemas.microsoft.com/office/drawing/2014/main" id="{2A72BD82-8992-9D4C-16B6-4CBFE0B3531E}"/>
              </a:ext>
            </a:extLst>
          </p:cNvPr>
          <p:cNvSpPr txBox="1"/>
          <p:nvPr/>
        </p:nvSpPr>
        <p:spPr>
          <a:xfrm>
            <a:off x="266699" y="1240572"/>
            <a:ext cx="11707951" cy="4247317"/>
          </a:xfrm>
          <a:prstGeom prst="rect">
            <a:avLst/>
          </a:prstGeom>
          <a:noFill/>
        </p:spPr>
        <p:txBody>
          <a:bodyPr wrap="square" rtlCol="0">
            <a:spAutoFit/>
          </a:bodyPr>
          <a:lstStyle/>
          <a:p>
            <a:r>
              <a:rPr lang="es-PE" b="1" dirty="0">
                <a:solidFill>
                  <a:schemeClr val="bg1"/>
                </a:solidFill>
              </a:rPr>
              <a:t>4.-</a:t>
            </a:r>
            <a:r>
              <a:rPr lang="es-PE" dirty="0">
                <a:solidFill>
                  <a:schemeClr val="bg1"/>
                </a:solidFill>
              </a:rPr>
              <a:t> </a:t>
            </a:r>
            <a:r>
              <a:rPr lang="es-PE" b="1" dirty="0">
                <a:solidFill>
                  <a:schemeClr val="bg1"/>
                </a:solidFill>
              </a:rPr>
              <a:t>Tipos de SDN:</a:t>
            </a:r>
            <a:endParaRPr lang="es-PE" dirty="0">
              <a:solidFill>
                <a:schemeClr val="bg1"/>
              </a:solidFill>
            </a:endParaRPr>
          </a:p>
          <a:p>
            <a:r>
              <a:rPr lang="es-PE" b="1" dirty="0">
                <a:solidFill>
                  <a:schemeClr val="bg1"/>
                </a:solidFill>
              </a:rPr>
              <a:t>- SDN abierto</a:t>
            </a:r>
            <a:r>
              <a:rPr lang="es-PE" dirty="0">
                <a:solidFill>
                  <a:schemeClr val="bg1"/>
                </a:solidFill>
              </a:rPr>
              <a:t>: Los protocolos abiertos se utilizan para controlar los dispositivos virtuales y físicos responsables de enrutar los paquetes de datos. Open SDN permite que diversos equipos de operadores de red, desarrolladores y proveedores trabajen juntos en la optimización.</a:t>
            </a:r>
          </a:p>
          <a:p>
            <a:r>
              <a:rPr lang="es-PE" b="1" dirty="0">
                <a:solidFill>
                  <a:schemeClr val="bg1"/>
                </a:solidFill>
              </a:rPr>
              <a:t>- SDN de API:</a:t>
            </a:r>
            <a:r>
              <a:rPr lang="es-PE" dirty="0">
                <a:solidFill>
                  <a:schemeClr val="bg1"/>
                </a:solidFill>
              </a:rPr>
              <a:t> A través de interfaces de programación, a menudo llamadas API de dirección sur, las organizaciones controlan el flujo de datos hacia y desde cada dispositivo. SDN de API permite que las plataformas de orquestación, las herramientas de gestión de la nube y los sistemas de gestión de redes se integren con la infraestructura de SDN.</a:t>
            </a:r>
          </a:p>
          <a:p>
            <a:r>
              <a:rPr lang="es-PE" b="1" dirty="0">
                <a:solidFill>
                  <a:schemeClr val="bg1"/>
                </a:solidFill>
              </a:rPr>
              <a:t>- SDN de modelo superpuesto:</a:t>
            </a:r>
            <a:r>
              <a:rPr lang="es-PE" dirty="0">
                <a:solidFill>
                  <a:schemeClr val="bg1"/>
                </a:solidFill>
              </a:rPr>
              <a:t> Las redes virtuales se ejecutan sobre el hardware existente, creando túneles con canales tanto a centros de datos remotos como </a:t>
            </a:r>
            <a:r>
              <a:rPr lang="es-PE" dirty="0" err="1">
                <a:solidFill>
                  <a:schemeClr val="bg1"/>
                </a:solidFill>
              </a:rPr>
              <a:t>on</a:t>
            </a:r>
            <a:r>
              <a:rPr lang="es-PE" dirty="0">
                <a:solidFill>
                  <a:schemeClr val="bg1"/>
                </a:solidFill>
              </a:rPr>
              <a:t> premises. A continuación, este modelo asigna el ancho de banda y los dispositivos a cada canal.</a:t>
            </a:r>
          </a:p>
          <a:p>
            <a:r>
              <a:rPr lang="es-PE" b="1" dirty="0">
                <a:solidFill>
                  <a:schemeClr val="bg1"/>
                </a:solidFill>
              </a:rPr>
              <a:t>- SDN de modelo híbrido:</a:t>
            </a:r>
            <a:r>
              <a:rPr lang="es-PE" dirty="0">
                <a:solidFill>
                  <a:schemeClr val="bg1"/>
                </a:solidFill>
              </a:rPr>
              <a:t> Al combinar SDN y redes tradicionales, el modelo híbrido asigna el protocolo óptimo para cada tipo de tráfico. El SDN híbrido se emplea a menudo como un enfoque incremental para el SDN, permitiendo a las empresas integrar SDN en entornos heredados</a:t>
            </a:r>
            <a:r>
              <a:rPr lang="es-PE" dirty="0"/>
              <a:t>.</a:t>
            </a:r>
          </a:p>
          <a:p>
            <a:endParaRPr lang="es-PE" dirty="0"/>
          </a:p>
        </p:txBody>
      </p:sp>
      <p:sp>
        <p:nvSpPr>
          <p:cNvPr id="17" name="CuadroTexto 16">
            <a:extLst>
              <a:ext uri="{FF2B5EF4-FFF2-40B4-BE49-F238E27FC236}">
                <a16:creationId xmlns:a16="http://schemas.microsoft.com/office/drawing/2014/main" id="{81A0E93A-7C28-0BAB-72C7-F8DAD54AAB09}"/>
              </a:ext>
            </a:extLst>
          </p:cNvPr>
          <p:cNvSpPr txBox="1"/>
          <p:nvPr/>
        </p:nvSpPr>
        <p:spPr>
          <a:xfrm>
            <a:off x="1905000" y="62756"/>
            <a:ext cx="10515600" cy="707886"/>
          </a:xfrm>
          <a:prstGeom prst="rect">
            <a:avLst/>
          </a:prstGeom>
          <a:noFill/>
        </p:spPr>
        <p:txBody>
          <a:bodyPr wrap="square" rtlCol="0">
            <a:spAutoFit/>
          </a:bodyPr>
          <a:lstStyle/>
          <a:p>
            <a:r>
              <a:rPr lang="es-MX" sz="4000" dirty="0">
                <a:solidFill>
                  <a:schemeClr val="bg1"/>
                </a:solidFill>
                <a:latin typeface="Aharoni" panose="02010803020104030203" pitchFamily="2" charset="-79"/>
                <a:cs typeface="Aharoni" panose="02010803020104030203" pitchFamily="2" charset="-79"/>
              </a:rPr>
              <a:t>LOS TIPOS DE SDN:</a:t>
            </a:r>
            <a:endParaRPr lang="es-PE" sz="4000" dirty="0">
              <a:solidFill>
                <a:schemeClr val="bg1"/>
              </a:solidFill>
              <a:latin typeface="Aharoni" panose="02010803020104030203" pitchFamily="2" charset="-79"/>
              <a:cs typeface="Aharoni" panose="02010803020104030203" pitchFamily="2" charset="-79"/>
            </a:endParaRPr>
          </a:p>
        </p:txBody>
      </p:sp>
      <p:pic>
        <p:nvPicPr>
          <p:cNvPr id="18" name="Gráfico 17" descr="Red social con relleno sólido">
            <a:extLst>
              <a:ext uri="{FF2B5EF4-FFF2-40B4-BE49-F238E27FC236}">
                <a16:creationId xmlns:a16="http://schemas.microsoft.com/office/drawing/2014/main" id="{2C5B3E74-2822-3499-2576-42FB42FAFACE}"/>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53697" y="193953"/>
            <a:ext cx="784503" cy="784503"/>
          </a:xfrm>
          <a:prstGeom prst="rect">
            <a:avLst/>
          </a:prstGeom>
        </p:spPr>
      </p:pic>
      <p:pic>
        <p:nvPicPr>
          <p:cNvPr id="19" name="Gráfico 18" descr="Red social con relleno sólido">
            <a:extLst>
              <a:ext uri="{FF2B5EF4-FFF2-40B4-BE49-F238E27FC236}">
                <a16:creationId xmlns:a16="http://schemas.microsoft.com/office/drawing/2014/main" id="{910BF403-5F29-A514-D8E2-D8F0BD0D9695}"/>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10961548" y="5928282"/>
            <a:ext cx="784503" cy="784503"/>
          </a:xfrm>
          <a:prstGeom prst="rect">
            <a:avLst/>
          </a:prstGeom>
        </p:spPr>
      </p:pic>
    </p:spTree>
    <p:extLst>
      <p:ext uri="{BB962C8B-B14F-4D97-AF65-F5344CB8AC3E}">
        <p14:creationId xmlns:p14="http://schemas.microsoft.com/office/powerpoint/2010/main" val="10016104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A816A-8093-C1B3-092E-7B1A0F4A8C43}"/>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F0BF135A-C022-E486-D6A8-ADF7854C043F}"/>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D23D210E-52C0-4244-8AF1-51BFC1B9A4D8}"/>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0" y="-6014433"/>
            <a:ext cx="12192000" cy="12872433"/>
          </a:xfrm>
          <a:prstGeom prst="rect">
            <a:avLst/>
          </a:prstGeom>
        </p:spPr>
      </p:pic>
      <p:sp>
        <p:nvSpPr>
          <p:cNvPr id="10" name="CuadroTexto 9">
            <a:extLst>
              <a:ext uri="{FF2B5EF4-FFF2-40B4-BE49-F238E27FC236}">
                <a16:creationId xmlns:a16="http://schemas.microsoft.com/office/drawing/2014/main" id="{A1E4B043-5CDC-9C56-84EE-D031C1EAA745}"/>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A9710BE8-82DD-3394-3BFE-93A203CC6157}"/>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3CA5845C-96E0-77DA-AC09-23594ECDF351}"/>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pic>
        <p:nvPicPr>
          <p:cNvPr id="14" name="Gráfico 13" descr="Red social con relleno sólido">
            <a:extLst>
              <a:ext uri="{FF2B5EF4-FFF2-40B4-BE49-F238E27FC236}">
                <a16:creationId xmlns:a16="http://schemas.microsoft.com/office/drawing/2014/main" id="{99620895-3A95-AFAE-C9F2-17ECA205D162}"/>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10596145" y="438889"/>
            <a:ext cx="784503" cy="784503"/>
          </a:xfrm>
          <a:prstGeom prst="rect">
            <a:avLst/>
          </a:prstGeom>
        </p:spPr>
      </p:pic>
      <p:sp>
        <p:nvSpPr>
          <p:cNvPr id="15" name="CuadroTexto 14">
            <a:extLst>
              <a:ext uri="{FF2B5EF4-FFF2-40B4-BE49-F238E27FC236}">
                <a16:creationId xmlns:a16="http://schemas.microsoft.com/office/drawing/2014/main" id="{C2468C5C-CD90-2523-60F7-6F0DC2F55ADC}"/>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sp>
        <p:nvSpPr>
          <p:cNvPr id="3" name="CuadroTexto 2">
            <a:extLst>
              <a:ext uri="{FF2B5EF4-FFF2-40B4-BE49-F238E27FC236}">
                <a16:creationId xmlns:a16="http://schemas.microsoft.com/office/drawing/2014/main" id="{3C696B57-BAB9-9803-CAB7-9744A412BBAD}"/>
              </a:ext>
            </a:extLst>
          </p:cNvPr>
          <p:cNvSpPr txBox="1"/>
          <p:nvPr/>
        </p:nvSpPr>
        <p:spPr>
          <a:xfrm>
            <a:off x="266699" y="1240572"/>
            <a:ext cx="5029201" cy="3139321"/>
          </a:xfrm>
          <a:prstGeom prst="rect">
            <a:avLst/>
          </a:prstGeom>
          <a:noFill/>
        </p:spPr>
        <p:txBody>
          <a:bodyPr wrap="square" rtlCol="0">
            <a:spAutoFit/>
          </a:bodyPr>
          <a:lstStyle/>
          <a:p>
            <a:r>
              <a:rPr lang="es-PE" sz="2000" b="1" dirty="0">
                <a:solidFill>
                  <a:schemeClr val="bg1"/>
                </a:solidFill>
              </a:rPr>
              <a:t>5.- Beneficios de SDN:</a:t>
            </a:r>
            <a:endParaRPr lang="es-PE" sz="2000" dirty="0">
              <a:solidFill>
                <a:schemeClr val="bg1"/>
              </a:solidFill>
            </a:endParaRPr>
          </a:p>
          <a:p>
            <a:r>
              <a:rPr lang="es-PE" sz="2000" dirty="0">
                <a:solidFill>
                  <a:schemeClr val="bg1"/>
                </a:solidFill>
              </a:rPr>
              <a:t>- Facilidad de control de la red</a:t>
            </a:r>
          </a:p>
          <a:p>
            <a:r>
              <a:rPr lang="es-PE" sz="2000" dirty="0">
                <a:solidFill>
                  <a:schemeClr val="bg1"/>
                </a:solidFill>
              </a:rPr>
              <a:t>- Agilidad</a:t>
            </a:r>
          </a:p>
          <a:p>
            <a:r>
              <a:rPr lang="es-PE" sz="2000" dirty="0">
                <a:solidFill>
                  <a:schemeClr val="bg1"/>
                </a:solidFill>
              </a:rPr>
              <a:t>- Flexibilidad</a:t>
            </a:r>
          </a:p>
          <a:p>
            <a:r>
              <a:rPr lang="es-PE" sz="2000" dirty="0">
                <a:solidFill>
                  <a:schemeClr val="bg1"/>
                </a:solidFill>
              </a:rPr>
              <a:t>- Mayor control sobre la seguridad de la red</a:t>
            </a:r>
          </a:p>
          <a:p>
            <a:r>
              <a:rPr lang="es-PE" sz="2000" dirty="0">
                <a:solidFill>
                  <a:schemeClr val="bg1"/>
                </a:solidFill>
              </a:rPr>
              <a:t>- Diseño y operación de red simplificados</a:t>
            </a:r>
          </a:p>
          <a:p>
            <a:r>
              <a:rPr lang="es-PE" sz="2000" dirty="0">
                <a:solidFill>
                  <a:schemeClr val="bg1"/>
                </a:solidFill>
              </a:rPr>
              <a:t>- Modernizar las telecomunicaciones</a:t>
            </a:r>
          </a:p>
          <a:p>
            <a:endParaRPr lang="es-PE" dirty="0"/>
          </a:p>
        </p:txBody>
      </p:sp>
      <p:sp>
        <p:nvSpPr>
          <p:cNvPr id="17" name="CuadroTexto 16">
            <a:extLst>
              <a:ext uri="{FF2B5EF4-FFF2-40B4-BE49-F238E27FC236}">
                <a16:creationId xmlns:a16="http://schemas.microsoft.com/office/drawing/2014/main" id="{A8643E6B-02DD-965A-259C-DA829E77DFD7}"/>
              </a:ext>
            </a:extLst>
          </p:cNvPr>
          <p:cNvSpPr txBox="1"/>
          <p:nvPr/>
        </p:nvSpPr>
        <p:spPr>
          <a:xfrm>
            <a:off x="1905000" y="62756"/>
            <a:ext cx="10515600" cy="707886"/>
          </a:xfrm>
          <a:prstGeom prst="rect">
            <a:avLst/>
          </a:prstGeom>
          <a:noFill/>
        </p:spPr>
        <p:txBody>
          <a:bodyPr wrap="square" rtlCol="0">
            <a:spAutoFit/>
          </a:bodyPr>
          <a:lstStyle/>
          <a:p>
            <a:r>
              <a:rPr lang="es-MX" sz="4000" dirty="0">
                <a:solidFill>
                  <a:schemeClr val="bg1"/>
                </a:solidFill>
                <a:latin typeface="Aharoni" panose="02010803020104030203" pitchFamily="2" charset="-79"/>
                <a:cs typeface="Aharoni" panose="02010803020104030203" pitchFamily="2" charset="-79"/>
              </a:rPr>
              <a:t>Los Beneficios y Riegos de SDN:</a:t>
            </a:r>
            <a:endParaRPr lang="es-PE" sz="4000" dirty="0">
              <a:solidFill>
                <a:schemeClr val="bg1"/>
              </a:solidFill>
              <a:latin typeface="Aharoni" panose="02010803020104030203" pitchFamily="2" charset="-79"/>
              <a:cs typeface="Aharoni" panose="02010803020104030203" pitchFamily="2" charset="-79"/>
            </a:endParaRPr>
          </a:p>
        </p:txBody>
      </p:sp>
      <p:pic>
        <p:nvPicPr>
          <p:cNvPr id="18" name="Gráfico 17" descr="Red social con relleno sólido">
            <a:extLst>
              <a:ext uri="{FF2B5EF4-FFF2-40B4-BE49-F238E27FC236}">
                <a16:creationId xmlns:a16="http://schemas.microsoft.com/office/drawing/2014/main" id="{D79BBED3-C6E3-AE93-B5AD-A5A55BCFD444}"/>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53697" y="193953"/>
            <a:ext cx="784503" cy="784503"/>
          </a:xfrm>
          <a:prstGeom prst="rect">
            <a:avLst/>
          </a:prstGeom>
        </p:spPr>
      </p:pic>
      <p:cxnSp>
        <p:nvCxnSpPr>
          <p:cNvPr id="4" name="Conector recto 3">
            <a:extLst>
              <a:ext uri="{FF2B5EF4-FFF2-40B4-BE49-F238E27FC236}">
                <a16:creationId xmlns:a16="http://schemas.microsoft.com/office/drawing/2014/main" id="{43830391-6AF3-FB32-A0ED-BABE5DD4A4B9}"/>
              </a:ext>
            </a:extLst>
          </p:cNvPr>
          <p:cNvCxnSpPr>
            <a:cxnSpLocks/>
          </p:cNvCxnSpPr>
          <p:nvPr/>
        </p:nvCxnSpPr>
        <p:spPr>
          <a:xfrm>
            <a:off x="5486400" y="1223392"/>
            <a:ext cx="0" cy="470489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sp>
        <p:nvSpPr>
          <p:cNvPr id="5" name="CuadroTexto 4">
            <a:extLst>
              <a:ext uri="{FF2B5EF4-FFF2-40B4-BE49-F238E27FC236}">
                <a16:creationId xmlns:a16="http://schemas.microsoft.com/office/drawing/2014/main" id="{9835861F-4068-BCAB-4021-6318EAB40497}"/>
              </a:ext>
            </a:extLst>
          </p:cNvPr>
          <p:cNvSpPr txBox="1"/>
          <p:nvPr/>
        </p:nvSpPr>
        <p:spPr>
          <a:xfrm>
            <a:off x="5715000" y="1223392"/>
            <a:ext cx="6210301" cy="4985980"/>
          </a:xfrm>
          <a:prstGeom prst="rect">
            <a:avLst/>
          </a:prstGeom>
          <a:noFill/>
        </p:spPr>
        <p:txBody>
          <a:bodyPr wrap="square" rtlCol="0">
            <a:spAutoFit/>
          </a:bodyPr>
          <a:lstStyle/>
          <a:p>
            <a:r>
              <a:rPr lang="es-PE" sz="2000" b="1" dirty="0">
                <a:solidFill>
                  <a:schemeClr val="bg1"/>
                </a:solidFill>
              </a:rPr>
              <a:t>6.- Los riesgos de las redes definidas por software:</a:t>
            </a:r>
            <a:endParaRPr lang="es-PE" sz="2000" dirty="0">
              <a:solidFill>
                <a:schemeClr val="bg1"/>
              </a:solidFill>
            </a:endParaRPr>
          </a:p>
          <a:p>
            <a:r>
              <a:rPr lang="es-PE" sz="2000" dirty="0">
                <a:solidFill>
                  <a:schemeClr val="bg1"/>
                </a:solidFill>
              </a:rPr>
              <a:t>Las soluciones SDN tienen beneficios significativos, pero pueden suponer un riesgo si no se implementan correctamente. El controlador es fundamental para mantener una red segura. Es centralizado y, por lo tanto, es un punto único de falla potencial. Esta vulnerabilidad potencial se puede mitigar mediante la implementación de redundancia de controlador en la red con conmutación automática por error. Esto puede ser costoso, pero no es diferente de crear redundancia en otras áreas de la red para garantizar la continuidad del negocio.</a:t>
            </a:r>
          </a:p>
          <a:p>
            <a:endParaRPr lang="es-PE" dirty="0"/>
          </a:p>
        </p:txBody>
      </p:sp>
      <p:pic>
        <p:nvPicPr>
          <p:cNvPr id="13" name="Gráfico 12" descr="Tendencia al alza con relleno sólido">
            <a:extLst>
              <a:ext uri="{FF2B5EF4-FFF2-40B4-BE49-F238E27FC236}">
                <a16:creationId xmlns:a16="http://schemas.microsoft.com/office/drawing/2014/main" id="{C1596451-E947-6A25-0248-60D355A41B3C}"/>
              </a:ext>
            </a:extLst>
          </p:cNvPr>
          <p:cNvPicPr>
            <a:picLocks noChangeAspect="1"/>
          </p:cNvPicPr>
          <p:nvPr/>
        </p:nvPicPr>
        <p:blipFill>
          <a:blip r:embed="rId5">
            <a:extLst>
              <a:ext uri="{96DAC541-7B7A-43D3-8B79-37D633B846F1}">
                <asvg:svgBlip xmlns:asvg="http://schemas.microsoft.com/office/drawing/2016/SVG/main"/>
              </a:ext>
            </a:extLst>
          </a:blip>
          <a:stretch>
            <a:fillRect/>
          </a:stretch>
        </p:blipFill>
        <p:spPr>
          <a:xfrm>
            <a:off x="819150" y="4849823"/>
            <a:ext cx="1543050" cy="1470710"/>
          </a:xfrm>
          <a:prstGeom prst="rect">
            <a:avLst/>
          </a:prstGeom>
        </p:spPr>
      </p:pic>
      <p:pic>
        <p:nvPicPr>
          <p:cNvPr id="20" name="Gráfico 19" descr="Presentación con gráfico de barras con relleno sólido">
            <a:extLst>
              <a:ext uri="{FF2B5EF4-FFF2-40B4-BE49-F238E27FC236}">
                <a16:creationId xmlns:a16="http://schemas.microsoft.com/office/drawing/2014/main" id="{7B962E93-7CBE-77C8-0146-E8B0A6880765}"/>
              </a:ext>
            </a:extLst>
          </p:cNvPr>
          <p:cNvPicPr>
            <a:picLocks noChangeAspect="1"/>
          </p:cNvPicPr>
          <p:nvPr/>
        </p:nvPicPr>
        <p:blipFill>
          <a:blip r:embed="rId7">
            <a:extLst>
              <a:ext uri="{96DAC541-7B7A-43D3-8B79-37D633B846F1}">
                <asvg:svgBlip xmlns:asvg="http://schemas.microsoft.com/office/drawing/2016/SVG/main"/>
              </a:ext>
            </a:extLst>
          </a:blip>
          <a:stretch>
            <a:fillRect/>
          </a:stretch>
        </p:blipFill>
        <p:spPr>
          <a:xfrm>
            <a:off x="10687051" y="5752172"/>
            <a:ext cx="914400" cy="914400"/>
          </a:xfrm>
          <a:prstGeom prst="rect">
            <a:avLst/>
          </a:prstGeom>
        </p:spPr>
      </p:pic>
    </p:spTree>
    <p:extLst>
      <p:ext uri="{BB962C8B-B14F-4D97-AF65-F5344CB8AC3E}">
        <p14:creationId xmlns:p14="http://schemas.microsoft.com/office/powerpoint/2010/main" val="25870324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2E442-10EB-3969-CB4E-1EA845088FB9}"/>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092C69AB-C213-867E-B598-F9EC9D0065B9}"/>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241130B4-6FD0-C233-4E16-84E5551636C1}"/>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0" y="-6014433"/>
            <a:ext cx="12192000" cy="12872433"/>
          </a:xfrm>
          <a:prstGeom prst="rect">
            <a:avLst/>
          </a:prstGeom>
        </p:spPr>
      </p:pic>
      <p:sp>
        <p:nvSpPr>
          <p:cNvPr id="10" name="CuadroTexto 9">
            <a:extLst>
              <a:ext uri="{FF2B5EF4-FFF2-40B4-BE49-F238E27FC236}">
                <a16:creationId xmlns:a16="http://schemas.microsoft.com/office/drawing/2014/main" id="{2F52DD78-B6F1-663B-C955-0D49A5C62D8C}"/>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3F0AD6FD-5DD6-A54A-3796-5E9D78866ECD}"/>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950EFC94-9916-48FE-089E-1AF35EA14C69}"/>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pic>
        <p:nvPicPr>
          <p:cNvPr id="14" name="Gráfico 13" descr="Red social con relleno sólido">
            <a:extLst>
              <a:ext uri="{FF2B5EF4-FFF2-40B4-BE49-F238E27FC236}">
                <a16:creationId xmlns:a16="http://schemas.microsoft.com/office/drawing/2014/main" id="{2FE30536-07DE-A911-27A3-ED6C1F71E2BB}"/>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11236938" y="3110477"/>
            <a:ext cx="784503" cy="784503"/>
          </a:xfrm>
          <a:prstGeom prst="rect">
            <a:avLst/>
          </a:prstGeom>
        </p:spPr>
      </p:pic>
      <p:sp>
        <p:nvSpPr>
          <p:cNvPr id="15" name="CuadroTexto 14">
            <a:extLst>
              <a:ext uri="{FF2B5EF4-FFF2-40B4-BE49-F238E27FC236}">
                <a16:creationId xmlns:a16="http://schemas.microsoft.com/office/drawing/2014/main" id="{FA8500E0-D41C-764B-68C3-0B0143D98FC8}"/>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sp>
        <p:nvSpPr>
          <p:cNvPr id="3" name="CuadroTexto 2">
            <a:extLst>
              <a:ext uri="{FF2B5EF4-FFF2-40B4-BE49-F238E27FC236}">
                <a16:creationId xmlns:a16="http://schemas.microsoft.com/office/drawing/2014/main" id="{7E211853-A834-B672-3E31-8DA3F98ADF30}"/>
              </a:ext>
            </a:extLst>
          </p:cNvPr>
          <p:cNvSpPr txBox="1"/>
          <p:nvPr/>
        </p:nvSpPr>
        <p:spPr>
          <a:xfrm>
            <a:off x="266699" y="1240572"/>
            <a:ext cx="5829301" cy="4524315"/>
          </a:xfrm>
          <a:prstGeom prst="rect">
            <a:avLst/>
          </a:prstGeom>
          <a:noFill/>
        </p:spPr>
        <p:txBody>
          <a:bodyPr wrap="square" rtlCol="0">
            <a:spAutoFit/>
          </a:bodyPr>
          <a:lstStyle/>
          <a:p>
            <a:r>
              <a:rPr lang="es-PE" b="1" dirty="0">
                <a:solidFill>
                  <a:schemeClr val="bg1"/>
                </a:solidFill>
                <a:latin typeface="Book Antiqua" panose="02040602050305030304" pitchFamily="18" charset="0"/>
              </a:rPr>
              <a:t>1. Beneficios Industriales (Enfoque en </a:t>
            </a:r>
            <a:r>
              <a:rPr lang="es-PE" b="1" dirty="0" err="1">
                <a:solidFill>
                  <a:schemeClr val="bg1"/>
                </a:solidFill>
                <a:latin typeface="Book Antiqua" panose="02040602050305030304" pitchFamily="18" charset="0"/>
              </a:rPr>
              <a:t>IIoT</a:t>
            </a:r>
            <a:r>
              <a:rPr lang="es-PE" b="1" dirty="0">
                <a:solidFill>
                  <a:schemeClr val="bg1"/>
                </a:solidFill>
                <a:latin typeface="Book Antiqua" panose="02040602050305030304" pitchFamily="18" charset="0"/>
              </a:rPr>
              <a:t>)</a:t>
            </a:r>
            <a:endParaRPr lang="es-PE" dirty="0">
              <a:solidFill>
                <a:schemeClr val="bg1"/>
              </a:solidFill>
              <a:latin typeface="Book Antiqua" panose="02040602050305030304" pitchFamily="18" charset="0"/>
            </a:endParaRPr>
          </a:p>
          <a:p>
            <a:r>
              <a:rPr lang="es-PE" dirty="0">
                <a:solidFill>
                  <a:schemeClr val="bg1"/>
                </a:solidFill>
                <a:latin typeface="Book Antiqua" panose="02040602050305030304" pitchFamily="18" charset="0"/>
              </a:rPr>
              <a:t>El artículo destaca que el 5G es el habilitador del </a:t>
            </a:r>
            <a:r>
              <a:rPr lang="es-PE" b="1" dirty="0" err="1">
                <a:solidFill>
                  <a:schemeClr val="bg1"/>
                </a:solidFill>
                <a:latin typeface="Book Antiqua" panose="02040602050305030304" pitchFamily="18" charset="0"/>
              </a:rPr>
              <a:t>IIoT</a:t>
            </a:r>
            <a:r>
              <a:rPr lang="es-PE" b="1" dirty="0">
                <a:solidFill>
                  <a:schemeClr val="bg1"/>
                </a:solidFill>
                <a:latin typeface="Book Antiqua" panose="02040602050305030304" pitchFamily="18" charset="0"/>
              </a:rPr>
              <a:t> (Internet de las Cosas Industrial)</a:t>
            </a:r>
            <a:r>
              <a:rPr lang="es-PE" dirty="0">
                <a:solidFill>
                  <a:schemeClr val="bg1"/>
                </a:solidFill>
                <a:latin typeface="Book Antiqua" panose="02040602050305030304" pitchFamily="18" charset="0"/>
              </a:rPr>
              <a:t>. Los beneficios clave que menciona de forma implícita y explícita son:</a:t>
            </a:r>
          </a:p>
          <a:p>
            <a:pPr lvl="0"/>
            <a:r>
              <a:rPr lang="es-PE" b="1" dirty="0">
                <a:solidFill>
                  <a:schemeClr val="bg1"/>
                </a:solidFill>
                <a:latin typeface="Book Antiqua" panose="02040602050305030304" pitchFamily="18" charset="0"/>
              </a:rPr>
              <a:t>Conectividad Masiva:</a:t>
            </a:r>
            <a:r>
              <a:rPr lang="es-PE" dirty="0">
                <a:solidFill>
                  <a:schemeClr val="bg1"/>
                </a:solidFill>
                <a:latin typeface="Book Antiqua" panose="02040602050305030304" pitchFamily="18" charset="0"/>
              </a:rPr>
              <a:t> Capacidad de gestionar una densidad enorme de sensores y actuadores en una sola red de fábrica.</a:t>
            </a:r>
          </a:p>
          <a:p>
            <a:pPr lvl="0"/>
            <a:r>
              <a:rPr lang="es-PE" b="1" dirty="0">
                <a:solidFill>
                  <a:schemeClr val="bg1"/>
                </a:solidFill>
                <a:latin typeface="Book Antiqua" panose="02040602050305030304" pitchFamily="18" charset="0"/>
              </a:rPr>
              <a:t>Network </a:t>
            </a:r>
            <a:r>
              <a:rPr lang="es-PE" b="1" dirty="0" err="1">
                <a:solidFill>
                  <a:schemeClr val="bg1"/>
                </a:solidFill>
                <a:latin typeface="Book Antiqua" panose="02040602050305030304" pitchFamily="18" charset="0"/>
              </a:rPr>
              <a:t>Slicing</a:t>
            </a:r>
            <a:r>
              <a:rPr lang="es-PE" b="1" dirty="0">
                <a:solidFill>
                  <a:schemeClr val="bg1"/>
                </a:solidFill>
                <a:latin typeface="Book Antiqua" panose="02040602050305030304" pitchFamily="18" charset="0"/>
              </a:rPr>
              <a:t> (Fragmentación de Red):</a:t>
            </a:r>
            <a:r>
              <a:rPr lang="es-PE" dirty="0">
                <a:solidFill>
                  <a:schemeClr val="bg1"/>
                </a:solidFill>
                <a:latin typeface="Book Antiqua" panose="02040602050305030304" pitchFamily="18" charset="0"/>
              </a:rPr>
              <a:t> Este es el beneficio tecnológico más importante que cita el </a:t>
            </a:r>
            <a:r>
              <a:rPr lang="es-PE" dirty="0" err="1">
                <a:solidFill>
                  <a:schemeClr val="bg1"/>
                </a:solidFill>
                <a:latin typeface="Book Antiqua" panose="02040602050305030304" pitchFamily="18" charset="0"/>
              </a:rPr>
              <a:t>paper</a:t>
            </a:r>
            <a:r>
              <a:rPr lang="es-PE" dirty="0">
                <a:solidFill>
                  <a:schemeClr val="bg1"/>
                </a:solidFill>
                <a:latin typeface="Book Antiqua" panose="02040602050305030304" pitchFamily="18" charset="0"/>
              </a:rPr>
              <a:t>. Permite crear "parcelas" virtuales de red dedicadas a funciones específicas (por ejemplo, una parcela solo para sensores críticos y otra para servicios generales), garantizando que el tráfico de una no afecte a la otra.</a:t>
            </a:r>
          </a:p>
          <a:p>
            <a:pPr lvl="0"/>
            <a:r>
              <a:rPr lang="es-PE" b="1" dirty="0">
                <a:solidFill>
                  <a:schemeClr val="bg1"/>
                </a:solidFill>
                <a:latin typeface="Book Antiqua" panose="02040602050305030304" pitchFamily="18" charset="0"/>
              </a:rPr>
              <a:t>Fiabilidad:</a:t>
            </a:r>
            <a:r>
              <a:rPr lang="es-PE" dirty="0">
                <a:solidFill>
                  <a:schemeClr val="bg1"/>
                </a:solidFill>
                <a:latin typeface="Book Antiqua" panose="02040602050305030304" pitchFamily="18" charset="0"/>
              </a:rPr>
              <a:t> El estándar 5G permite niveles de disponibilidad de red necesarios para la manufactura automatizada.</a:t>
            </a:r>
          </a:p>
        </p:txBody>
      </p:sp>
      <p:sp>
        <p:nvSpPr>
          <p:cNvPr id="17" name="CuadroTexto 16">
            <a:extLst>
              <a:ext uri="{FF2B5EF4-FFF2-40B4-BE49-F238E27FC236}">
                <a16:creationId xmlns:a16="http://schemas.microsoft.com/office/drawing/2014/main" id="{7C9C6F4E-052A-501F-22E0-921A13F5CB23}"/>
              </a:ext>
            </a:extLst>
          </p:cNvPr>
          <p:cNvSpPr txBox="1"/>
          <p:nvPr/>
        </p:nvSpPr>
        <p:spPr>
          <a:xfrm>
            <a:off x="3098801" y="-68943"/>
            <a:ext cx="10515600" cy="1015663"/>
          </a:xfrm>
          <a:prstGeom prst="rect">
            <a:avLst/>
          </a:prstGeom>
          <a:noFill/>
        </p:spPr>
        <p:txBody>
          <a:bodyPr wrap="square" rtlCol="0">
            <a:spAutoFit/>
          </a:bodyPr>
          <a:lstStyle/>
          <a:p>
            <a:r>
              <a:rPr lang="es-MX" sz="6000" dirty="0">
                <a:solidFill>
                  <a:schemeClr val="bg1"/>
                </a:solidFill>
                <a:latin typeface="Aharoni" panose="02010803020104030203" pitchFamily="2" charset="-79"/>
                <a:cs typeface="Aharoni" panose="02010803020104030203" pitchFamily="2" charset="-79"/>
              </a:rPr>
              <a:t>:::::: REDES 5G ::::::</a:t>
            </a:r>
            <a:endParaRPr lang="es-PE" sz="6000" dirty="0">
              <a:solidFill>
                <a:schemeClr val="bg1"/>
              </a:solidFill>
              <a:latin typeface="Aharoni" panose="02010803020104030203" pitchFamily="2" charset="-79"/>
              <a:cs typeface="Aharoni" panose="02010803020104030203" pitchFamily="2" charset="-79"/>
            </a:endParaRPr>
          </a:p>
        </p:txBody>
      </p:sp>
      <p:pic>
        <p:nvPicPr>
          <p:cNvPr id="4" name="Imagen 3" descr="Qué es la tecnología 5G? - Oficina de Tecnología de Información">
            <a:extLst>
              <a:ext uri="{FF2B5EF4-FFF2-40B4-BE49-F238E27FC236}">
                <a16:creationId xmlns:a16="http://schemas.microsoft.com/office/drawing/2014/main" id="{21105755-8774-FCA9-4086-A2791826E927}"/>
              </a:ext>
            </a:extLst>
          </p:cNvPr>
          <p:cNvPicPr>
            <a:picLocks noChangeAspect="1"/>
          </p:cNvPicPr>
          <p:nvPr/>
        </p:nvPicPr>
        <p:blipFill>
          <a:blip/>
          <a:stretch>
            <a:fillRect/>
          </a:stretch>
        </p:blipFill>
        <p:spPr>
          <a:xfrm>
            <a:off x="7129045" y="2122706"/>
            <a:ext cx="3467100" cy="2003961"/>
          </a:xfrm>
          <a:prstGeom prst="rect">
            <a:avLst/>
          </a:prstGeom>
        </p:spPr>
      </p:pic>
      <p:pic>
        <p:nvPicPr>
          <p:cNvPr id="7" name="Gráfico 6" descr="Red social con relleno sólido">
            <a:extLst>
              <a:ext uri="{FF2B5EF4-FFF2-40B4-BE49-F238E27FC236}">
                <a16:creationId xmlns:a16="http://schemas.microsoft.com/office/drawing/2014/main" id="{94564572-CA34-0C4E-9258-B6BD341D23E0}"/>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9139844" y="5153989"/>
            <a:ext cx="1221796" cy="1221796"/>
          </a:xfrm>
          <a:prstGeom prst="rect">
            <a:avLst/>
          </a:prstGeom>
        </p:spPr>
      </p:pic>
      <p:pic>
        <p:nvPicPr>
          <p:cNvPr id="8" name="Gráfico 7" descr="Red social con relleno sólido">
            <a:extLst>
              <a:ext uri="{FF2B5EF4-FFF2-40B4-BE49-F238E27FC236}">
                <a16:creationId xmlns:a16="http://schemas.microsoft.com/office/drawing/2014/main" id="{9E6FCCD8-0683-47DD-B818-063A61FB97D1}"/>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10596145" y="303412"/>
            <a:ext cx="1221796" cy="1221796"/>
          </a:xfrm>
          <a:prstGeom prst="rect">
            <a:avLst/>
          </a:prstGeom>
        </p:spPr>
      </p:pic>
      <p:pic>
        <p:nvPicPr>
          <p:cNvPr id="19" name="Gráfico 18" descr="Nube con relleno sólido">
            <a:extLst>
              <a:ext uri="{FF2B5EF4-FFF2-40B4-BE49-F238E27FC236}">
                <a16:creationId xmlns:a16="http://schemas.microsoft.com/office/drawing/2014/main" id="{F6B4E51F-DC53-A1C3-D72A-7AECEFFC06B5}"/>
              </a:ext>
            </a:extLst>
          </p:cNvPr>
          <p:cNvPicPr>
            <a:picLocks noChangeAspect="1"/>
          </p:cNvPicPr>
          <p:nvPr/>
        </p:nvPicPr>
        <p:blipFill>
          <a:blip r:embed="rId6">
            <a:extLst>
              <a:ext uri="{96DAC541-7B7A-43D3-8B79-37D633B846F1}">
                <asvg:svgBlip xmlns:asvg="http://schemas.microsoft.com/office/drawing/2016/SVG/main"/>
              </a:ext>
            </a:extLst>
          </a:blip>
          <a:stretch>
            <a:fillRect/>
          </a:stretch>
        </p:blipFill>
        <p:spPr>
          <a:xfrm>
            <a:off x="1277621" y="-35417"/>
            <a:ext cx="914400" cy="914400"/>
          </a:xfrm>
          <a:prstGeom prst="rect">
            <a:avLst/>
          </a:prstGeom>
        </p:spPr>
      </p:pic>
    </p:spTree>
    <p:extLst>
      <p:ext uri="{BB962C8B-B14F-4D97-AF65-F5344CB8AC3E}">
        <p14:creationId xmlns:p14="http://schemas.microsoft.com/office/powerpoint/2010/main" val="34373398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D6114-1F68-F6DC-C01A-4968A9F321DB}"/>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01352429-A4AB-FC6A-36CB-BC45A2F17577}"/>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DF10E701-E4CC-33FF-DB46-A605CE1871A7}"/>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0" y="-6014433"/>
            <a:ext cx="12192000" cy="12872433"/>
          </a:xfrm>
          <a:prstGeom prst="rect">
            <a:avLst/>
          </a:prstGeom>
        </p:spPr>
      </p:pic>
      <p:sp>
        <p:nvSpPr>
          <p:cNvPr id="10" name="CuadroTexto 9">
            <a:extLst>
              <a:ext uri="{FF2B5EF4-FFF2-40B4-BE49-F238E27FC236}">
                <a16:creationId xmlns:a16="http://schemas.microsoft.com/office/drawing/2014/main" id="{36A41791-F9DC-F709-F88B-088F90181E55}"/>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84A1445C-1D9F-7547-89CC-96084A05D3BF}"/>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6794039C-E8C0-39A7-0D15-2D04CD21BEF6}"/>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sp>
        <p:nvSpPr>
          <p:cNvPr id="15" name="CuadroTexto 14">
            <a:extLst>
              <a:ext uri="{FF2B5EF4-FFF2-40B4-BE49-F238E27FC236}">
                <a16:creationId xmlns:a16="http://schemas.microsoft.com/office/drawing/2014/main" id="{7E4930A8-0B75-890A-E0EB-11393EB0D1EC}"/>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sp>
        <p:nvSpPr>
          <p:cNvPr id="3" name="CuadroTexto 2">
            <a:extLst>
              <a:ext uri="{FF2B5EF4-FFF2-40B4-BE49-F238E27FC236}">
                <a16:creationId xmlns:a16="http://schemas.microsoft.com/office/drawing/2014/main" id="{2F5E7C81-9308-156D-1751-8E7F902D8C66}"/>
              </a:ext>
            </a:extLst>
          </p:cNvPr>
          <p:cNvSpPr txBox="1"/>
          <p:nvPr/>
        </p:nvSpPr>
        <p:spPr>
          <a:xfrm>
            <a:off x="266699" y="1240572"/>
            <a:ext cx="5829301" cy="3693319"/>
          </a:xfrm>
          <a:prstGeom prst="rect">
            <a:avLst/>
          </a:prstGeom>
          <a:noFill/>
        </p:spPr>
        <p:txBody>
          <a:bodyPr wrap="square" rtlCol="0">
            <a:spAutoFit/>
          </a:bodyPr>
          <a:lstStyle/>
          <a:p>
            <a:r>
              <a:rPr lang="es-PE" b="1" dirty="0">
                <a:solidFill>
                  <a:schemeClr val="bg1"/>
                </a:solidFill>
              </a:rPr>
              <a:t>2. Latencia (El factor crítico en el </a:t>
            </a:r>
            <a:r>
              <a:rPr lang="es-PE" b="1" dirty="0" err="1">
                <a:solidFill>
                  <a:schemeClr val="bg1"/>
                </a:solidFill>
              </a:rPr>
              <a:t>paper</a:t>
            </a:r>
            <a:r>
              <a:rPr lang="es-PE" b="1" dirty="0">
                <a:solidFill>
                  <a:schemeClr val="bg1"/>
                </a:solidFill>
              </a:rPr>
              <a:t>)</a:t>
            </a:r>
            <a:endParaRPr lang="es-PE" dirty="0">
              <a:solidFill>
                <a:schemeClr val="bg1"/>
              </a:solidFill>
            </a:endParaRPr>
          </a:p>
          <a:p>
            <a:r>
              <a:rPr lang="es-PE" dirty="0">
                <a:solidFill>
                  <a:schemeClr val="bg1"/>
                </a:solidFill>
              </a:rPr>
              <a:t>El </a:t>
            </a:r>
            <a:r>
              <a:rPr lang="es-PE" dirty="0" err="1">
                <a:solidFill>
                  <a:schemeClr val="bg1"/>
                </a:solidFill>
              </a:rPr>
              <a:t>paper</a:t>
            </a:r>
            <a:r>
              <a:rPr lang="es-PE" dirty="0">
                <a:solidFill>
                  <a:schemeClr val="bg1"/>
                </a:solidFill>
              </a:rPr>
              <a:t> enfatiza que el éxito de las redes industriales 5G depende de la </a:t>
            </a:r>
            <a:r>
              <a:rPr lang="es-PE" b="1" dirty="0">
                <a:solidFill>
                  <a:schemeClr val="bg1"/>
                </a:solidFill>
              </a:rPr>
              <a:t>URLLC (Ultra-</a:t>
            </a:r>
            <a:r>
              <a:rPr lang="es-PE" b="1" dirty="0" err="1">
                <a:solidFill>
                  <a:schemeClr val="bg1"/>
                </a:solidFill>
              </a:rPr>
              <a:t>Reliable</a:t>
            </a:r>
            <a:r>
              <a:rPr lang="es-PE" b="1" dirty="0">
                <a:solidFill>
                  <a:schemeClr val="bg1"/>
                </a:solidFill>
              </a:rPr>
              <a:t> Low-</a:t>
            </a:r>
            <a:r>
              <a:rPr lang="es-PE" b="1" dirty="0" err="1">
                <a:solidFill>
                  <a:schemeClr val="bg1"/>
                </a:solidFill>
              </a:rPr>
              <a:t>Latency</a:t>
            </a:r>
            <a:r>
              <a:rPr lang="es-PE" b="1" dirty="0">
                <a:solidFill>
                  <a:schemeClr val="bg1"/>
                </a:solidFill>
              </a:rPr>
              <a:t> </a:t>
            </a:r>
            <a:r>
              <a:rPr lang="es-PE" b="1" dirty="0" err="1">
                <a:solidFill>
                  <a:schemeClr val="bg1"/>
                </a:solidFill>
              </a:rPr>
              <a:t>Communications</a:t>
            </a:r>
            <a:r>
              <a:rPr lang="es-PE" b="1" dirty="0">
                <a:solidFill>
                  <a:schemeClr val="bg1"/>
                </a:solidFill>
              </a:rPr>
              <a:t>)</a:t>
            </a:r>
            <a:r>
              <a:rPr lang="es-PE" dirty="0">
                <a:solidFill>
                  <a:schemeClr val="bg1"/>
                </a:solidFill>
              </a:rPr>
              <a:t>.</a:t>
            </a:r>
          </a:p>
          <a:p>
            <a:pPr lvl="0"/>
            <a:r>
              <a:rPr lang="es-PE" b="1" dirty="0">
                <a:solidFill>
                  <a:schemeClr val="bg1"/>
                </a:solidFill>
              </a:rPr>
              <a:t>Baja latencia:</a:t>
            </a:r>
            <a:r>
              <a:rPr lang="es-PE" dirty="0">
                <a:solidFill>
                  <a:schemeClr val="bg1"/>
                </a:solidFill>
              </a:rPr>
              <a:t> Es esencial para sistemas de control de bucle cerrado donde los robots deben reaccionar en milisegundos.</a:t>
            </a:r>
          </a:p>
          <a:p>
            <a:pPr lvl="0"/>
            <a:r>
              <a:rPr lang="es-PE" b="1" dirty="0">
                <a:solidFill>
                  <a:schemeClr val="bg1"/>
                </a:solidFill>
              </a:rPr>
              <a:t>El riesgo:</a:t>
            </a:r>
            <a:r>
              <a:rPr lang="es-PE" dirty="0">
                <a:solidFill>
                  <a:schemeClr val="bg1"/>
                </a:solidFill>
              </a:rPr>
              <a:t> El artículo investiga precisamente cómo un ataque puede degradar esta latencia, lo cual es crítico porque en la industria, un retraso de pocos milisegundos puede causar una falla en la línea de producción o un accidente.</a:t>
            </a:r>
          </a:p>
          <a:p>
            <a:pPr lvl="0"/>
            <a:r>
              <a:rPr lang="es-PE" dirty="0">
                <a:solidFill>
                  <a:schemeClr val="bg1"/>
                </a:solidFill>
                <a:latin typeface="Book Antiqua" panose="02040602050305030304" pitchFamily="18" charset="0"/>
              </a:rPr>
              <a:t>.</a:t>
            </a:r>
          </a:p>
        </p:txBody>
      </p:sp>
      <p:sp>
        <p:nvSpPr>
          <p:cNvPr id="17" name="CuadroTexto 16">
            <a:extLst>
              <a:ext uri="{FF2B5EF4-FFF2-40B4-BE49-F238E27FC236}">
                <a16:creationId xmlns:a16="http://schemas.microsoft.com/office/drawing/2014/main" id="{5BA39BF9-9157-BCB3-CB4C-613CBF4A8E7D}"/>
              </a:ext>
            </a:extLst>
          </p:cNvPr>
          <p:cNvSpPr txBox="1"/>
          <p:nvPr/>
        </p:nvSpPr>
        <p:spPr>
          <a:xfrm>
            <a:off x="3098801" y="-68943"/>
            <a:ext cx="10515600" cy="1015663"/>
          </a:xfrm>
          <a:prstGeom prst="rect">
            <a:avLst/>
          </a:prstGeom>
          <a:noFill/>
        </p:spPr>
        <p:txBody>
          <a:bodyPr wrap="square" rtlCol="0">
            <a:spAutoFit/>
          </a:bodyPr>
          <a:lstStyle/>
          <a:p>
            <a:r>
              <a:rPr lang="es-MX" sz="6000" dirty="0">
                <a:solidFill>
                  <a:schemeClr val="bg1"/>
                </a:solidFill>
                <a:latin typeface="Aharoni" panose="02010803020104030203" pitchFamily="2" charset="-79"/>
                <a:cs typeface="Aharoni" panose="02010803020104030203" pitchFamily="2" charset="-79"/>
              </a:rPr>
              <a:t>:::::: REDES 5G ::::::</a:t>
            </a:r>
            <a:endParaRPr lang="es-PE" sz="6000" dirty="0">
              <a:solidFill>
                <a:schemeClr val="bg1"/>
              </a:solidFill>
              <a:latin typeface="Aharoni" panose="02010803020104030203" pitchFamily="2" charset="-79"/>
              <a:cs typeface="Aharoni" panose="02010803020104030203" pitchFamily="2" charset="-79"/>
            </a:endParaRPr>
          </a:p>
        </p:txBody>
      </p:sp>
      <p:pic>
        <p:nvPicPr>
          <p:cNvPr id="7" name="Gráfico 6" descr="Red social con relleno sólido">
            <a:extLst>
              <a:ext uri="{FF2B5EF4-FFF2-40B4-BE49-F238E27FC236}">
                <a16:creationId xmlns:a16="http://schemas.microsoft.com/office/drawing/2014/main" id="{79FA07EA-CE7B-9BF3-EFD7-117D43DE8559}"/>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10379654" y="5546240"/>
            <a:ext cx="1221796" cy="1221796"/>
          </a:xfrm>
          <a:prstGeom prst="rect">
            <a:avLst/>
          </a:prstGeom>
        </p:spPr>
      </p:pic>
      <p:pic>
        <p:nvPicPr>
          <p:cNvPr id="8" name="Gráfico 7" descr="Red social con relleno sólido">
            <a:extLst>
              <a:ext uri="{FF2B5EF4-FFF2-40B4-BE49-F238E27FC236}">
                <a16:creationId xmlns:a16="http://schemas.microsoft.com/office/drawing/2014/main" id="{D3992307-6CD5-946B-EA24-C6FCF711036E}"/>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10765706" y="0"/>
            <a:ext cx="1221796" cy="1221796"/>
          </a:xfrm>
          <a:prstGeom prst="rect">
            <a:avLst/>
          </a:prstGeom>
        </p:spPr>
      </p:pic>
      <p:pic>
        <p:nvPicPr>
          <p:cNvPr id="19" name="Gráfico 18" descr="Nube con relleno sólido">
            <a:extLst>
              <a:ext uri="{FF2B5EF4-FFF2-40B4-BE49-F238E27FC236}">
                <a16:creationId xmlns:a16="http://schemas.microsoft.com/office/drawing/2014/main" id="{AB4D2C4D-F534-9319-61F4-F716F099966B}"/>
              </a:ext>
            </a:extLst>
          </p:cNvPr>
          <p:cNvPicPr>
            <a:picLocks noChangeAspect="1"/>
          </p:cNvPicPr>
          <p:nvPr/>
        </p:nvPicPr>
        <p:blipFill>
          <a:blip r:embed="rId5">
            <a:extLst>
              <a:ext uri="{96DAC541-7B7A-43D3-8B79-37D633B846F1}">
                <asvg:svgBlip xmlns:asvg="http://schemas.microsoft.com/office/drawing/2016/SVG/main"/>
              </a:ext>
            </a:extLst>
          </a:blip>
          <a:stretch>
            <a:fillRect/>
          </a:stretch>
        </p:blipFill>
        <p:spPr>
          <a:xfrm>
            <a:off x="1277621" y="-35417"/>
            <a:ext cx="914400" cy="914400"/>
          </a:xfrm>
          <a:prstGeom prst="rect">
            <a:avLst/>
          </a:prstGeom>
        </p:spPr>
      </p:pic>
      <p:cxnSp>
        <p:nvCxnSpPr>
          <p:cNvPr id="5" name="Conector recto 4">
            <a:extLst>
              <a:ext uri="{FF2B5EF4-FFF2-40B4-BE49-F238E27FC236}">
                <a16:creationId xmlns:a16="http://schemas.microsoft.com/office/drawing/2014/main" id="{D2D395BA-C674-D80C-B9C4-704AC687BBD9}"/>
              </a:ext>
            </a:extLst>
          </p:cNvPr>
          <p:cNvCxnSpPr/>
          <p:nvPr/>
        </p:nvCxnSpPr>
        <p:spPr>
          <a:xfrm>
            <a:off x="6324600" y="1259621"/>
            <a:ext cx="0" cy="3693319"/>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sp>
        <p:nvSpPr>
          <p:cNvPr id="13" name="CuadroTexto 12">
            <a:extLst>
              <a:ext uri="{FF2B5EF4-FFF2-40B4-BE49-F238E27FC236}">
                <a16:creationId xmlns:a16="http://schemas.microsoft.com/office/drawing/2014/main" id="{BFFD9CCE-58C4-79CF-E0B8-219175FF4182}"/>
              </a:ext>
            </a:extLst>
          </p:cNvPr>
          <p:cNvSpPr txBox="1"/>
          <p:nvPr/>
        </p:nvSpPr>
        <p:spPr>
          <a:xfrm>
            <a:off x="6591300" y="1240572"/>
            <a:ext cx="5010150" cy="4524315"/>
          </a:xfrm>
          <a:prstGeom prst="rect">
            <a:avLst/>
          </a:prstGeom>
          <a:noFill/>
        </p:spPr>
        <p:txBody>
          <a:bodyPr wrap="square" rtlCol="0">
            <a:spAutoFit/>
          </a:bodyPr>
          <a:lstStyle/>
          <a:p>
            <a:r>
              <a:rPr lang="es-PE" b="1" dirty="0">
                <a:solidFill>
                  <a:schemeClr val="bg1"/>
                </a:solidFill>
              </a:rPr>
              <a:t>3. Aplicaciones </a:t>
            </a:r>
            <a:r>
              <a:rPr lang="es-PE" b="1" dirty="0" err="1">
                <a:solidFill>
                  <a:schemeClr val="bg1"/>
                </a:solidFill>
              </a:rPr>
              <a:t>IoT</a:t>
            </a:r>
            <a:r>
              <a:rPr lang="es-PE" b="1" dirty="0">
                <a:solidFill>
                  <a:schemeClr val="bg1"/>
                </a:solidFill>
              </a:rPr>
              <a:t> (</a:t>
            </a:r>
            <a:r>
              <a:rPr lang="es-PE" b="1" dirty="0" err="1">
                <a:solidFill>
                  <a:schemeClr val="bg1"/>
                </a:solidFill>
              </a:rPr>
              <a:t>IIoT</a:t>
            </a:r>
            <a:r>
              <a:rPr lang="es-PE" b="1" dirty="0">
                <a:solidFill>
                  <a:schemeClr val="bg1"/>
                </a:solidFill>
              </a:rPr>
              <a:t>) mencionadas</a:t>
            </a:r>
            <a:endParaRPr lang="es-PE" dirty="0">
              <a:solidFill>
                <a:schemeClr val="bg1"/>
              </a:solidFill>
            </a:endParaRPr>
          </a:p>
          <a:p>
            <a:r>
              <a:rPr lang="es-PE" dirty="0">
                <a:solidFill>
                  <a:schemeClr val="bg1"/>
                </a:solidFill>
              </a:rPr>
              <a:t>El documento contextualiza el uso del 5G en entornos de </a:t>
            </a:r>
            <a:r>
              <a:rPr lang="es-PE" b="1" dirty="0">
                <a:solidFill>
                  <a:schemeClr val="bg1"/>
                </a:solidFill>
              </a:rPr>
              <a:t>Industria 4.0</a:t>
            </a:r>
            <a:r>
              <a:rPr lang="es-PE" dirty="0">
                <a:solidFill>
                  <a:schemeClr val="bg1"/>
                </a:solidFill>
              </a:rPr>
              <a:t>, donde el </a:t>
            </a:r>
            <a:r>
              <a:rPr lang="es-PE" dirty="0" err="1">
                <a:solidFill>
                  <a:schemeClr val="bg1"/>
                </a:solidFill>
              </a:rPr>
              <a:t>IoT</a:t>
            </a:r>
            <a:r>
              <a:rPr lang="es-PE" dirty="0">
                <a:solidFill>
                  <a:schemeClr val="bg1"/>
                </a:solidFill>
              </a:rPr>
              <a:t> se aplica para:</a:t>
            </a:r>
          </a:p>
          <a:p>
            <a:pPr lvl="0"/>
            <a:r>
              <a:rPr lang="es-PE" b="1" dirty="0">
                <a:solidFill>
                  <a:schemeClr val="bg1"/>
                </a:solidFill>
              </a:rPr>
              <a:t>Sistemas de Control Industrial (ICS):</a:t>
            </a:r>
            <a:r>
              <a:rPr lang="es-PE" dirty="0">
                <a:solidFill>
                  <a:schemeClr val="bg1"/>
                </a:solidFill>
              </a:rPr>
              <a:t> Monitoreo y control remoto de maquinaria pesada.</a:t>
            </a:r>
          </a:p>
          <a:p>
            <a:pPr lvl="0"/>
            <a:r>
              <a:rPr lang="es-PE" b="1" dirty="0">
                <a:solidFill>
                  <a:schemeClr val="bg1"/>
                </a:solidFill>
              </a:rPr>
              <a:t>Sensores Inteligentes:</a:t>
            </a:r>
            <a:r>
              <a:rPr lang="es-PE" dirty="0">
                <a:solidFill>
                  <a:schemeClr val="bg1"/>
                </a:solidFill>
              </a:rPr>
              <a:t> Recopilación de datos masivos para optimizar el rendimiento de la planta.</a:t>
            </a:r>
          </a:p>
          <a:p>
            <a:pPr lvl="0"/>
            <a:r>
              <a:rPr lang="es-PE" b="1" dirty="0">
                <a:solidFill>
                  <a:schemeClr val="bg1"/>
                </a:solidFill>
              </a:rPr>
              <a:t>Automatización de Procesos:</a:t>
            </a:r>
            <a:r>
              <a:rPr lang="es-PE" dirty="0">
                <a:solidFill>
                  <a:schemeClr val="bg1"/>
                </a:solidFill>
              </a:rPr>
              <a:t> Donde la comunicación máquina a máquina (M2M) requiere una infraestructura robusta que solo el 5G puede proveer mediante sus mecanismos de gestión de recursos.</a:t>
            </a:r>
          </a:p>
          <a:p>
            <a:endParaRPr lang="es-PE" dirty="0"/>
          </a:p>
        </p:txBody>
      </p:sp>
      <p:sp>
        <p:nvSpPr>
          <p:cNvPr id="16" name="Estrella: 4 puntas 15">
            <a:extLst>
              <a:ext uri="{FF2B5EF4-FFF2-40B4-BE49-F238E27FC236}">
                <a16:creationId xmlns:a16="http://schemas.microsoft.com/office/drawing/2014/main" id="{CBB4BAFA-D87C-BFB5-D5B5-DB10E5D5CBB2}"/>
              </a:ext>
            </a:extLst>
          </p:cNvPr>
          <p:cNvSpPr/>
          <p:nvPr/>
        </p:nvSpPr>
        <p:spPr>
          <a:xfrm>
            <a:off x="235905" y="113352"/>
            <a:ext cx="205103" cy="308431"/>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20" name="Imagen 19" descr="Cómo mejora la tecnología 5G el IoT? - Tesswave">
            <a:extLst>
              <a:ext uri="{FF2B5EF4-FFF2-40B4-BE49-F238E27FC236}">
                <a16:creationId xmlns:a16="http://schemas.microsoft.com/office/drawing/2014/main" id="{517A0F51-3E5B-CD54-E107-D66D4510393A}"/>
              </a:ext>
            </a:extLst>
          </p:cNvPr>
          <p:cNvPicPr>
            <a:picLocks noChangeAspect="1"/>
          </p:cNvPicPr>
          <p:nvPr/>
        </p:nvPicPr>
        <p:blipFill>
          <a:blip/>
          <a:stretch>
            <a:fillRect/>
          </a:stretch>
        </p:blipFill>
        <p:spPr>
          <a:xfrm>
            <a:off x="1051099" y="4846167"/>
            <a:ext cx="3368501" cy="176418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1569391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32190-8885-D6F6-0ACC-3F69C2BBB0B4}"/>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532C2DB4-D7C1-B7D0-F828-2D693E925AC8}"/>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AC992E30-EE69-E039-CD1C-05D64357D939}"/>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0" y="-6014433"/>
            <a:ext cx="12192000" cy="12872433"/>
          </a:xfrm>
          <a:prstGeom prst="rect">
            <a:avLst/>
          </a:prstGeom>
        </p:spPr>
      </p:pic>
      <p:sp>
        <p:nvSpPr>
          <p:cNvPr id="10" name="CuadroTexto 9">
            <a:extLst>
              <a:ext uri="{FF2B5EF4-FFF2-40B4-BE49-F238E27FC236}">
                <a16:creationId xmlns:a16="http://schemas.microsoft.com/office/drawing/2014/main" id="{87DE67B2-1733-C1AA-16AF-25144E300002}"/>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49E63517-0F39-A50A-65B3-9117ACFA69B5}"/>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B8447874-1272-3BCE-0565-BEC41BBA05AF}"/>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sp>
        <p:nvSpPr>
          <p:cNvPr id="15" name="CuadroTexto 14">
            <a:extLst>
              <a:ext uri="{FF2B5EF4-FFF2-40B4-BE49-F238E27FC236}">
                <a16:creationId xmlns:a16="http://schemas.microsoft.com/office/drawing/2014/main" id="{C183AC09-58F2-39A8-D043-E5C579D04E57}"/>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sp>
        <p:nvSpPr>
          <p:cNvPr id="3" name="CuadroTexto 2">
            <a:extLst>
              <a:ext uri="{FF2B5EF4-FFF2-40B4-BE49-F238E27FC236}">
                <a16:creationId xmlns:a16="http://schemas.microsoft.com/office/drawing/2014/main" id="{BBF719D5-50A8-10C3-1913-11EA9B863121}"/>
              </a:ext>
            </a:extLst>
          </p:cNvPr>
          <p:cNvSpPr txBox="1"/>
          <p:nvPr/>
        </p:nvSpPr>
        <p:spPr>
          <a:xfrm>
            <a:off x="1214635" y="1258595"/>
            <a:ext cx="6686551" cy="1200329"/>
          </a:xfrm>
          <a:prstGeom prst="rect">
            <a:avLst/>
          </a:prstGeom>
          <a:noFill/>
        </p:spPr>
        <p:txBody>
          <a:bodyPr wrap="square" rtlCol="0">
            <a:spAutoFit/>
          </a:bodyPr>
          <a:lstStyle/>
          <a:p>
            <a:pPr marL="285750" lvl="0" indent="-285750">
              <a:buFont typeface="Wingdings" panose="05000000000000000000" pitchFamily="2" charset="2"/>
              <a:buChar char="§"/>
            </a:pPr>
            <a:r>
              <a:rPr lang="es-PE" b="1" dirty="0">
                <a:solidFill>
                  <a:schemeClr val="bg1"/>
                </a:solidFill>
                <a:latin typeface="Book Antiqua" panose="02040602050305030304" pitchFamily="18" charset="0"/>
              </a:rPr>
              <a:t>Sistema Distribuido:</a:t>
            </a:r>
            <a:r>
              <a:rPr lang="es-PE" dirty="0">
                <a:solidFill>
                  <a:schemeClr val="bg1"/>
                </a:solidFill>
                <a:latin typeface="Book Antiqua" panose="02040602050305030304" pitchFamily="18" charset="0"/>
              </a:rPr>
              <a:t> Se define como un grupo de computadoras independientes que están conectadas entre sí para colaborar en una meta común, funcionando como un todo.</a:t>
            </a:r>
          </a:p>
        </p:txBody>
      </p:sp>
      <p:sp>
        <p:nvSpPr>
          <p:cNvPr id="17" name="CuadroTexto 16">
            <a:extLst>
              <a:ext uri="{FF2B5EF4-FFF2-40B4-BE49-F238E27FC236}">
                <a16:creationId xmlns:a16="http://schemas.microsoft.com/office/drawing/2014/main" id="{7BF59E59-4F8D-3306-0D44-3D42D81EDF9F}"/>
              </a:ext>
            </a:extLst>
          </p:cNvPr>
          <p:cNvSpPr txBox="1"/>
          <p:nvPr/>
        </p:nvSpPr>
        <p:spPr>
          <a:xfrm>
            <a:off x="812511" y="-87478"/>
            <a:ext cx="9550399" cy="923330"/>
          </a:xfrm>
          <a:prstGeom prst="rect">
            <a:avLst/>
          </a:prstGeom>
          <a:noFill/>
        </p:spPr>
        <p:txBody>
          <a:bodyPr wrap="square" rtlCol="0">
            <a:spAutoFit/>
          </a:bodyPr>
          <a:lstStyle/>
          <a:p>
            <a:r>
              <a:rPr lang="es-PE" sz="5400" b="1" dirty="0">
                <a:solidFill>
                  <a:schemeClr val="bg1"/>
                </a:solidFill>
                <a:latin typeface="Aharoni" panose="02010803020104030203" pitchFamily="2" charset="-79"/>
                <a:cs typeface="Aharoni" panose="02010803020104030203" pitchFamily="2" charset="-79"/>
              </a:rPr>
              <a:t> Definiciones Fundamentales</a:t>
            </a:r>
            <a:endParaRPr lang="es-PE" sz="5400" dirty="0">
              <a:solidFill>
                <a:schemeClr val="bg1"/>
              </a:solidFill>
              <a:latin typeface="Aharoni" panose="02010803020104030203" pitchFamily="2" charset="-79"/>
              <a:cs typeface="Aharoni" panose="02010803020104030203" pitchFamily="2" charset="-79"/>
            </a:endParaRPr>
          </a:p>
        </p:txBody>
      </p:sp>
      <p:pic>
        <p:nvPicPr>
          <p:cNvPr id="19" name="Gráfico 18" descr="Nube con relleno sólido">
            <a:extLst>
              <a:ext uri="{FF2B5EF4-FFF2-40B4-BE49-F238E27FC236}">
                <a16:creationId xmlns:a16="http://schemas.microsoft.com/office/drawing/2014/main" id="{8EBBC23A-8D4A-CF70-FBB0-CF8567750D14}"/>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355311" y="344195"/>
            <a:ext cx="914400" cy="914400"/>
          </a:xfrm>
          <a:prstGeom prst="rect">
            <a:avLst/>
          </a:prstGeom>
        </p:spPr>
      </p:pic>
      <p:pic>
        <p:nvPicPr>
          <p:cNvPr id="5" name="Imagen 4" descr="Sistemas Distribuídos">
            <a:extLst>
              <a:ext uri="{FF2B5EF4-FFF2-40B4-BE49-F238E27FC236}">
                <a16:creationId xmlns:a16="http://schemas.microsoft.com/office/drawing/2014/main" id="{EEA201F6-F2DE-6DAD-6296-1ED4F5577C90}"/>
              </a:ext>
            </a:extLst>
          </p:cNvPr>
          <p:cNvPicPr>
            <a:picLocks noChangeAspect="1"/>
          </p:cNvPicPr>
          <p:nvPr/>
        </p:nvPicPr>
        <p:blipFill>
          <a:blip/>
          <a:stretch>
            <a:fillRect/>
          </a:stretch>
        </p:blipFill>
        <p:spPr>
          <a:xfrm>
            <a:off x="9408814" y="912609"/>
            <a:ext cx="2164557" cy="1656445"/>
          </a:xfrm>
          <a:prstGeom prst="rect">
            <a:avLst/>
          </a:prstGeom>
        </p:spPr>
      </p:pic>
      <p:pic>
        <p:nvPicPr>
          <p:cNvPr id="13" name="Imagen 12" descr="ProfesorJava: Computación distribuida">
            <a:extLst>
              <a:ext uri="{FF2B5EF4-FFF2-40B4-BE49-F238E27FC236}">
                <a16:creationId xmlns:a16="http://schemas.microsoft.com/office/drawing/2014/main" id="{B76A2845-4764-7558-CDE2-ADD24C85B2A2}"/>
              </a:ext>
            </a:extLst>
          </p:cNvPr>
          <p:cNvPicPr>
            <a:picLocks noChangeAspect="1"/>
          </p:cNvPicPr>
          <p:nvPr/>
        </p:nvPicPr>
        <p:blipFill>
          <a:blip/>
          <a:stretch>
            <a:fillRect/>
          </a:stretch>
        </p:blipFill>
        <p:spPr>
          <a:xfrm>
            <a:off x="355311" y="2734858"/>
            <a:ext cx="2520836" cy="1323439"/>
          </a:xfrm>
          <a:prstGeom prst="rect">
            <a:avLst/>
          </a:prstGeom>
        </p:spPr>
      </p:pic>
      <p:cxnSp>
        <p:nvCxnSpPr>
          <p:cNvPr id="18" name="Conector recto de flecha 17">
            <a:extLst>
              <a:ext uri="{FF2B5EF4-FFF2-40B4-BE49-F238E27FC236}">
                <a16:creationId xmlns:a16="http://schemas.microsoft.com/office/drawing/2014/main" id="{194C884D-0947-7C5E-6BBC-605D6328BAD2}"/>
              </a:ext>
            </a:extLst>
          </p:cNvPr>
          <p:cNvCxnSpPr/>
          <p:nvPr/>
        </p:nvCxnSpPr>
        <p:spPr>
          <a:xfrm>
            <a:off x="7901186" y="1682252"/>
            <a:ext cx="1193800" cy="0"/>
          </a:xfrm>
          <a:prstGeom prst="straightConnector1">
            <a:avLst/>
          </a:prstGeom>
          <a:ln w="19050" cap="flat" cmpd="sng" algn="ctr">
            <a:solidFill>
              <a:schemeClr val="bg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0" name="CuadroTexto 19">
            <a:extLst>
              <a:ext uri="{FF2B5EF4-FFF2-40B4-BE49-F238E27FC236}">
                <a16:creationId xmlns:a16="http://schemas.microsoft.com/office/drawing/2014/main" id="{4FE119C0-3107-EE88-C2F8-D3850AE52F7E}"/>
              </a:ext>
            </a:extLst>
          </p:cNvPr>
          <p:cNvSpPr txBox="1"/>
          <p:nvPr/>
        </p:nvSpPr>
        <p:spPr>
          <a:xfrm>
            <a:off x="4557910" y="2881667"/>
            <a:ext cx="7721889" cy="923330"/>
          </a:xfrm>
          <a:prstGeom prst="rect">
            <a:avLst/>
          </a:prstGeom>
          <a:noFill/>
        </p:spPr>
        <p:txBody>
          <a:bodyPr wrap="square" rtlCol="0">
            <a:spAutoFit/>
          </a:bodyPr>
          <a:lstStyle/>
          <a:p>
            <a:pPr marL="285750" indent="-285750">
              <a:buFont typeface="Wingdings" panose="05000000000000000000" pitchFamily="2" charset="2"/>
              <a:buChar char="§"/>
            </a:pPr>
            <a:r>
              <a:rPr lang="es-PE" b="1" dirty="0">
                <a:solidFill>
                  <a:schemeClr val="bg1"/>
                </a:solidFill>
                <a:latin typeface="Book Antiqua" panose="02040602050305030304" pitchFamily="18" charset="0"/>
              </a:rPr>
              <a:t>Computación Distribuida:</a:t>
            </a:r>
            <a:r>
              <a:rPr lang="es-PE" dirty="0">
                <a:solidFill>
                  <a:schemeClr val="bg1"/>
                </a:solidFill>
                <a:latin typeface="Book Antiqua" panose="02040602050305030304" pitchFamily="18" charset="0"/>
              </a:rPr>
              <a:t> Es el proceso o la ejecución de tareas que ocurre específicamente dentro de ese sistema interconectado.</a:t>
            </a:r>
          </a:p>
          <a:p>
            <a:pPr marL="285750" indent="-285750">
              <a:buFont typeface="Wingdings" panose="05000000000000000000" pitchFamily="2" charset="2"/>
              <a:buChar char="§"/>
            </a:pPr>
            <a:endParaRPr lang="es-PE" dirty="0"/>
          </a:p>
        </p:txBody>
      </p:sp>
      <p:cxnSp>
        <p:nvCxnSpPr>
          <p:cNvPr id="21" name="Conector recto de flecha 20">
            <a:extLst>
              <a:ext uri="{FF2B5EF4-FFF2-40B4-BE49-F238E27FC236}">
                <a16:creationId xmlns:a16="http://schemas.microsoft.com/office/drawing/2014/main" id="{E80A858E-3613-6427-6873-08C2FF6337BC}"/>
              </a:ext>
            </a:extLst>
          </p:cNvPr>
          <p:cNvCxnSpPr>
            <a:cxnSpLocks/>
          </p:cNvCxnSpPr>
          <p:nvPr/>
        </p:nvCxnSpPr>
        <p:spPr>
          <a:xfrm flipH="1">
            <a:off x="3537346" y="3253934"/>
            <a:ext cx="1020564" cy="0"/>
          </a:xfrm>
          <a:prstGeom prst="straightConnector1">
            <a:avLst/>
          </a:prstGeom>
          <a:ln w="19050" cap="flat" cmpd="sng" algn="ctr">
            <a:solidFill>
              <a:schemeClr val="bg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23" name="Imagen 22" descr="Modelo cliente servidor: ¿Qué es? Características, Ventajas y Desventajas">
            <a:extLst>
              <a:ext uri="{FF2B5EF4-FFF2-40B4-BE49-F238E27FC236}">
                <a16:creationId xmlns:a16="http://schemas.microsoft.com/office/drawing/2014/main" id="{097AA982-8F89-8A9B-46B5-9A9232F259DC}"/>
              </a:ext>
            </a:extLst>
          </p:cNvPr>
          <p:cNvPicPr>
            <a:picLocks noChangeAspect="1"/>
          </p:cNvPicPr>
          <p:nvPr/>
        </p:nvPicPr>
        <p:blipFill>
          <a:blip/>
          <a:stretch>
            <a:fillRect/>
          </a:stretch>
        </p:blipFill>
        <p:spPr>
          <a:xfrm>
            <a:off x="8922196" y="4296314"/>
            <a:ext cx="2965004" cy="2142586"/>
          </a:xfrm>
          <a:prstGeom prst="rect">
            <a:avLst/>
          </a:prstGeom>
        </p:spPr>
      </p:pic>
      <p:sp>
        <p:nvSpPr>
          <p:cNvPr id="24" name="CuadroTexto 23">
            <a:extLst>
              <a:ext uri="{FF2B5EF4-FFF2-40B4-BE49-F238E27FC236}">
                <a16:creationId xmlns:a16="http://schemas.microsoft.com/office/drawing/2014/main" id="{43664283-80FB-6139-1112-1E3EA8903F13}"/>
              </a:ext>
            </a:extLst>
          </p:cNvPr>
          <p:cNvSpPr txBox="1"/>
          <p:nvPr/>
        </p:nvSpPr>
        <p:spPr>
          <a:xfrm>
            <a:off x="304800" y="4816051"/>
            <a:ext cx="6686551" cy="1754326"/>
          </a:xfrm>
          <a:prstGeom prst="rect">
            <a:avLst/>
          </a:prstGeom>
          <a:noFill/>
        </p:spPr>
        <p:txBody>
          <a:bodyPr wrap="square" rtlCol="0">
            <a:spAutoFit/>
          </a:bodyPr>
          <a:lstStyle/>
          <a:p>
            <a:pPr marL="285750" indent="-285750">
              <a:buFont typeface="Wingdings" panose="05000000000000000000" pitchFamily="2" charset="2"/>
              <a:buChar char="§"/>
            </a:pPr>
            <a:r>
              <a:rPr lang="es-PE" b="1" dirty="0">
                <a:solidFill>
                  <a:schemeClr val="bg1"/>
                </a:solidFill>
                <a:latin typeface="Book Antiqua" panose="02040602050305030304" pitchFamily="18" charset="0"/>
              </a:rPr>
              <a:t>Modelo Cliente-Servidor:</a:t>
            </a:r>
            <a:r>
              <a:rPr lang="es-PE" dirty="0">
                <a:solidFill>
                  <a:schemeClr val="bg1"/>
                </a:solidFill>
                <a:latin typeface="Book Antiqua" panose="02040602050305030304" pitchFamily="18" charset="0"/>
              </a:rPr>
              <a:t> Es una forma de computación distribuida donde los roles están muy claros: el servidor actúa como un proveedor que espera solicitudes, mientras que el cliente es quien inicia la comunicación para obtener una respuesta.</a:t>
            </a:r>
          </a:p>
          <a:p>
            <a:pPr marL="285750" indent="-285750">
              <a:buFont typeface="Wingdings" panose="05000000000000000000" pitchFamily="2" charset="2"/>
              <a:buChar char="§"/>
            </a:pPr>
            <a:endParaRPr lang="es-PE" dirty="0">
              <a:solidFill>
                <a:schemeClr val="bg1"/>
              </a:solidFill>
              <a:latin typeface="Book Antiqua" panose="02040602050305030304" pitchFamily="18" charset="0"/>
            </a:endParaRPr>
          </a:p>
        </p:txBody>
      </p:sp>
      <p:cxnSp>
        <p:nvCxnSpPr>
          <p:cNvPr id="26" name="Conector recto de flecha 25">
            <a:extLst>
              <a:ext uri="{FF2B5EF4-FFF2-40B4-BE49-F238E27FC236}">
                <a16:creationId xmlns:a16="http://schemas.microsoft.com/office/drawing/2014/main" id="{FFA9B75A-AA35-1EA5-F74A-EB15C51AB681}"/>
              </a:ext>
            </a:extLst>
          </p:cNvPr>
          <p:cNvCxnSpPr/>
          <p:nvPr/>
        </p:nvCxnSpPr>
        <p:spPr>
          <a:xfrm>
            <a:off x="6991351" y="5410200"/>
            <a:ext cx="1466849"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5762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FDB82-AF9A-0E36-A020-7B239B1F8913}"/>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598210BD-879B-0CF3-357C-1EB363C21588}"/>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84F08417-46E2-86AE-F26D-CB0244E2182B}"/>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0" y="-6014433"/>
            <a:ext cx="12192000" cy="12872433"/>
          </a:xfrm>
          <a:prstGeom prst="rect">
            <a:avLst/>
          </a:prstGeom>
        </p:spPr>
      </p:pic>
      <p:sp>
        <p:nvSpPr>
          <p:cNvPr id="10" name="CuadroTexto 9">
            <a:extLst>
              <a:ext uri="{FF2B5EF4-FFF2-40B4-BE49-F238E27FC236}">
                <a16:creationId xmlns:a16="http://schemas.microsoft.com/office/drawing/2014/main" id="{37BA85E2-5D35-F4F1-C334-B1EE9A25AEC7}"/>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3AAF6B5D-E249-C036-A80C-3C52E302740E}"/>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BCC3DC90-7A32-BB40-CEA3-FB77C0A0923E}"/>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sp>
        <p:nvSpPr>
          <p:cNvPr id="15" name="CuadroTexto 14">
            <a:extLst>
              <a:ext uri="{FF2B5EF4-FFF2-40B4-BE49-F238E27FC236}">
                <a16:creationId xmlns:a16="http://schemas.microsoft.com/office/drawing/2014/main" id="{78FE022E-6829-1F2A-9777-88244B6E486D}"/>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sp>
        <p:nvSpPr>
          <p:cNvPr id="3" name="CuadroTexto 2">
            <a:extLst>
              <a:ext uri="{FF2B5EF4-FFF2-40B4-BE49-F238E27FC236}">
                <a16:creationId xmlns:a16="http://schemas.microsoft.com/office/drawing/2014/main" id="{915DF849-B096-B91C-9AEF-B2F92A9ABBDA}"/>
              </a:ext>
            </a:extLst>
          </p:cNvPr>
          <p:cNvSpPr txBox="1"/>
          <p:nvPr/>
        </p:nvSpPr>
        <p:spPr>
          <a:xfrm>
            <a:off x="1214635" y="1258595"/>
            <a:ext cx="6686551" cy="1200329"/>
          </a:xfrm>
          <a:prstGeom prst="rect">
            <a:avLst/>
          </a:prstGeom>
          <a:noFill/>
        </p:spPr>
        <p:txBody>
          <a:bodyPr wrap="square" rtlCol="0">
            <a:spAutoFit/>
          </a:bodyPr>
          <a:lstStyle/>
          <a:p>
            <a:pPr marL="285750" lvl="0" indent="-285750">
              <a:buFont typeface="Wingdings" panose="05000000000000000000" pitchFamily="2" charset="2"/>
              <a:buChar char="§"/>
            </a:pPr>
            <a:r>
              <a:rPr lang="es-PE" b="1" dirty="0">
                <a:solidFill>
                  <a:schemeClr val="bg1"/>
                </a:solidFill>
                <a:latin typeface="Book Antiqua" panose="02040602050305030304" pitchFamily="18" charset="0"/>
              </a:rPr>
              <a:t>Roles:</a:t>
            </a:r>
            <a:r>
              <a:rPr lang="es-PE" dirty="0">
                <a:solidFill>
                  <a:schemeClr val="bg1"/>
                </a:solidFill>
                <a:latin typeface="Book Antiqua" panose="02040602050305030304" pitchFamily="18" charset="0"/>
              </a:rPr>
              <a:t> En el esquema Cliente-Servidor los roles son rígidos (uno siempre sirve y el otro siempre pide). En la computación distribuida o P2P, los procesos suelen tener las mismas capacidades y pueden intercambiar funciones.</a:t>
            </a:r>
          </a:p>
        </p:txBody>
      </p:sp>
      <p:sp>
        <p:nvSpPr>
          <p:cNvPr id="17" name="CuadroTexto 16">
            <a:extLst>
              <a:ext uri="{FF2B5EF4-FFF2-40B4-BE49-F238E27FC236}">
                <a16:creationId xmlns:a16="http://schemas.microsoft.com/office/drawing/2014/main" id="{36B3CA49-FC68-1A58-3482-C53E56300D3F}"/>
              </a:ext>
            </a:extLst>
          </p:cNvPr>
          <p:cNvSpPr txBox="1"/>
          <p:nvPr/>
        </p:nvSpPr>
        <p:spPr>
          <a:xfrm>
            <a:off x="812511" y="-87478"/>
            <a:ext cx="9550399" cy="923330"/>
          </a:xfrm>
          <a:prstGeom prst="rect">
            <a:avLst/>
          </a:prstGeom>
          <a:noFill/>
        </p:spPr>
        <p:txBody>
          <a:bodyPr wrap="square" rtlCol="0">
            <a:spAutoFit/>
          </a:bodyPr>
          <a:lstStyle/>
          <a:p>
            <a:r>
              <a:rPr lang="es-PE" sz="5400" b="1" dirty="0">
                <a:solidFill>
                  <a:schemeClr val="bg1"/>
                </a:solidFill>
                <a:latin typeface="Aharoni" panose="02010803020104030203" pitchFamily="2" charset="-79"/>
                <a:cs typeface="Aharoni" panose="02010803020104030203" pitchFamily="2" charset="-79"/>
              </a:rPr>
              <a:t> Definiciones Fundamentales</a:t>
            </a:r>
            <a:endParaRPr lang="es-PE" sz="5400" dirty="0">
              <a:solidFill>
                <a:schemeClr val="bg1"/>
              </a:solidFill>
              <a:latin typeface="Aharoni" panose="02010803020104030203" pitchFamily="2" charset="-79"/>
              <a:cs typeface="Aharoni" panose="02010803020104030203" pitchFamily="2" charset="-79"/>
            </a:endParaRPr>
          </a:p>
        </p:txBody>
      </p:sp>
      <p:pic>
        <p:nvPicPr>
          <p:cNvPr id="19" name="Gráfico 18" descr="Nube con relleno sólido">
            <a:extLst>
              <a:ext uri="{FF2B5EF4-FFF2-40B4-BE49-F238E27FC236}">
                <a16:creationId xmlns:a16="http://schemas.microsoft.com/office/drawing/2014/main" id="{FB54AC9D-8C25-672F-B27D-11976C3B3DEC}"/>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355311" y="344195"/>
            <a:ext cx="914400" cy="914400"/>
          </a:xfrm>
          <a:prstGeom prst="rect">
            <a:avLst/>
          </a:prstGeom>
        </p:spPr>
      </p:pic>
      <p:cxnSp>
        <p:nvCxnSpPr>
          <p:cNvPr id="18" name="Conector recto de flecha 17">
            <a:extLst>
              <a:ext uri="{FF2B5EF4-FFF2-40B4-BE49-F238E27FC236}">
                <a16:creationId xmlns:a16="http://schemas.microsoft.com/office/drawing/2014/main" id="{508A98EF-7946-43B3-3C4F-C5395A626474}"/>
              </a:ext>
            </a:extLst>
          </p:cNvPr>
          <p:cNvCxnSpPr>
            <a:cxnSpLocks/>
          </p:cNvCxnSpPr>
          <p:nvPr/>
        </p:nvCxnSpPr>
        <p:spPr>
          <a:xfrm>
            <a:off x="7901186" y="1682252"/>
            <a:ext cx="557014" cy="0"/>
          </a:xfrm>
          <a:prstGeom prst="straightConnector1">
            <a:avLst/>
          </a:prstGeom>
          <a:ln w="19050" cap="flat" cmpd="sng" algn="ctr">
            <a:solidFill>
              <a:schemeClr val="bg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0" name="CuadroTexto 19">
            <a:extLst>
              <a:ext uri="{FF2B5EF4-FFF2-40B4-BE49-F238E27FC236}">
                <a16:creationId xmlns:a16="http://schemas.microsoft.com/office/drawing/2014/main" id="{24549743-BC21-3C3B-950F-D805127FB321}"/>
              </a:ext>
            </a:extLst>
          </p:cNvPr>
          <p:cNvSpPr txBox="1"/>
          <p:nvPr/>
        </p:nvSpPr>
        <p:spPr>
          <a:xfrm>
            <a:off x="4557910" y="2881667"/>
            <a:ext cx="7721889" cy="1200329"/>
          </a:xfrm>
          <a:prstGeom prst="rect">
            <a:avLst/>
          </a:prstGeom>
          <a:noFill/>
        </p:spPr>
        <p:txBody>
          <a:bodyPr wrap="square" rtlCol="0">
            <a:spAutoFit/>
          </a:bodyPr>
          <a:lstStyle/>
          <a:p>
            <a:pPr lvl="0"/>
            <a:r>
              <a:rPr lang="es-PE" b="1" dirty="0">
                <a:solidFill>
                  <a:schemeClr val="bg1"/>
                </a:solidFill>
                <a:latin typeface="Book Antiqua" panose="02040602050305030304" pitchFamily="18" charset="0"/>
              </a:rPr>
              <a:t>Control:</a:t>
            </a:r>
            <a:r>
              <a:rPr lang="es-PE" dirty="0">
                <a:solidFill>
                  <a:schemeClr val="bg1"/>
                </a:solidFill>
                <a:latin typeface="Book Antiqua" panose="02040602050305030304" pitchFamily="18" charset="0"/>
              </a:rPr>
              <a:t> El modelo Cliente-Servidor es centralizado, ideal para servicios específicos de red. La computación distribuida es descentralizada, por lo que no depende de un único equipo principal.</a:t>
            </a:r>
          </a:p>
          <a:p>
            <a:pPr marL="285750" indent="-285750">
              <a:buFont typeface="Wingdings" panose="05000000000000000000" pitchFamily="2" charset="2"/>
              <a:buChar char="§"/>
            </a:pPr>
            <a:endParaRPr lang="es-PE" dirty="0"/>
          </a:p>
        </p:txBody>
      </p:sp>
      <p:cxnSp>
        <p:nvCxnSpPr>
          <p:cNvPr id="21" name="Conector recto de flecha 20">
            <a:extLst>
              <a:ext uri="{FF2B5EF4-FFF2-40B4-BE49-F238E27FC236}">
                <a16:creationId xmlns:a16="http://schemas.microsoft.com/office/drawing/2014/main" id="{FDA18D5D-93D9-7B9B-B85F-6323128BF2E7}"/>
              </a:ext>
            </a:extLst>
          </p:cNvPr>
          <p:cNvCxnSpPr>
            <a:cxnSpLocks/>
          </p:cNvCxnSpPr>
          <p:nvPr/>
        </p:nvCxnSpPr>
        <p:spPr>
          <a:xfrm flipH="1">
            <a:off x="3537346" y="3253934"/>
            <a:ext cx="1020564" cy="0"/>
          </a:xfrm>
          <a:prstGeom prst="straightConnector1">
            <a:avLst/>
          </a:prstGeom>
          <a:ln w="19050" cap="flat" cmpd="sng" algn="ctr">
            <a:solidFill>
              <a:schemeClr val="bg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4" name="CuadroTexto 23">
            <a:extLst>
              <a:ext uri="{FF2B5EF4-FFF2-40B4-BE49-F238E27FC236}">
                <a16:creationId xmlns:a16="http://schemas.microsoft.com/office/drawing/2014/main" id="{E1DB5743-CE13-0248-EE31-24BDAFD83C9B}"/>
              </a:ext>
            </a:extLst>
          </p:cNvPr>
          <p:cNvSpPr txBox="1"/>
          <p:nvPr/>
        </p:nvSpPr>
        <p:spPr>
          <a:xfrm>
            <a:off x="304800" y="4816051"/>
            <a:ext cx="6686551" cy="1477328"/>
          </a:xfrm>
          <a:prstGeom prst="rect">
            <a:avLst/>
          </a:prstGeom>
          <a:noFill/>
        </p:spPr>
        <p:txBody>
          <a:bodyPr wrap="square" rtlCol="0">
            <a:spAutoFit/>
          </a:bodyPr>
          <a:lstStyle/>
          <a:p>
            <a:pPr marL="285750" lvl="0" indent="-285750">
              <a:buFont typeface="Wingdings" panose="05000000000000000000" pitchFamily="2" charset="2"/>
              <a:buChar char="§"/>
            </a:pPr>
            <a:r>
              <a:rPr lang="es-PE" b="1" dirty="0">
                <a:solidFill>
                  <a:schemeClr val="bg1"/>
                </a:solidFill>
                <a:latin typeface="Book Antiqua" panose="02040602050305030304" pitchFamily="18" charset="0"/>
              </a:rPr>
              <a:t>Escalabilidad:</a:t>
            </a:r>
            <a:r>
              <a:rPr lang="es-PE" dirty="0">
                <a:solidFill>
                  <a:schemeClr val="bg1"/>
                </a:solidFill>
                <a:latin typeface="Book Antiqua" panose="02040602050305030304" pitchFamily="18" charset="0"/>
              </a:rPr>
              <a:t> Mientras que el Cliente-Servidor suele estar limitado por la potencia del servidor central, la computación distribuida permite crecer fácilmente añadiendo más recursos a la red según se necesite</a:t>
            </a:r>
            <a:r>
              <a:rPr lang="es-PE" dirty="0">
                <a:solidFill>
                  <a:schemeClr val="bg1"/>
                </a:solidFill>
              </a:rPr>
              <a:t>.</a:t>
            </a:r>
          </a:p>
          <a:p>
            <a:pPr marL="285750" indent="-285750">
              <a:buFont typeface="Wingdings" panose="05000000000000000000" pitchFamily="2" charset="2"/>
              <a:buChar char="§"/>
            </a:pPr>
            <a:endParaRPr lang="es-PE" dirty="0">
              <a:solidFill>
                <a:schemeClr val="bg1"/>
              </a:solidFill>
              <a:latin typeface="Book Antiqua" panose="02040602050305030304" pitchFamily="18" charset="0"/>
            </a:endParaRPr>
          </a:p>
        </p:txBody>
      </p:sp>
      <p:cxnSp>
        <p:nvCxnSpPr>
          <p:cNvPr id="26" name="Conector recto de flecha 25">
            <a:extLst>
              <a:ext uri="{FF2B5EF4-FFF2-40B4-BE49-F238E27FC236}">
                <a16:creationId xmlns:a16="http://schemas.microsoft.com/office/drawing/2014/main" id="{894CE0F9-35DC-950D-22F2-651B81CE318A}"/>
              </a:ext>
            </a:extLst>
          </p:cNvPr>
          <p:cNvCxnSpPr>
            <a:cxnSpLocks/>
          </p:cNvCxnSpPr>
          <p:nvPr/>
        </p:nvCxnSpPr>
        <p:spPr>
          <a:xfrm>
            <a:off x="7372350" y="5410200"/>
            <a:ext cx="108585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pic>
        <p:nvPicPr>
          <p:cNvPr id="2" name="Imagen 1" descr="1.1.2 «APLICACIONES CLIENTE-SERVIDOR» | &quot;DESARROLLO DE APLICACIONES PARA  AMBIENTES DISTRIBUIDOS&quot;">
            <a:extLst>
              <a:ext uri="{FF2B5EF4-FFF2-40B4-BE49-F238E27FC236}">
                <a16:creationId xmlns:a16="http://schemas.microsoft.com/office/drawing/2014/main" id="{3EE796A8-890C-4B5D-9A56-1FB9D10FD9B9}"/>
              </a:ext>
            </a:extLst>
          </p:cNvPr>
          <p:cNvPicPr>
            <a:picLocks noChangeAspect="1"/>
          </p:cNvPicPr>
          <p:nvPr/>
        </p:nvPicPr>
        <p:blipFill>
          <a:blip/>
          <a:stretch>
            <a:fillRect/>
          </a:stretch>
        </p:blipFill>
        <p:spPr>
          <a:xfrm>
            <a:off x="8675106" y="964722"/>
            <a:ext cx="3097504" cy="1770135"/>
          </a:xfrm>
          <a:prstGeom prst="rect">
            <a:avLst/>
          </a:prstGeom>
        </p:spPr>
      </p:pic>
      <p:pic>
        <p:nvPicPr>
          <p:cNvPr id="8" name="Imagen 7" descr="Ingenieria del Software: Modelo Cliente-Servidor">
            <a:extLst>
              <a:ext uri="{FF2B5EF4-FFF2-40B4-BE49-F238E27FC236}">
                <a16:creationId xmlns:a16="http://schemas.microsoft.com/office/drawing/2014/main" id="{4A1DFC46-0E8C-A1E6-A6EB-67130A85806D}"/>
              </a:ext>
            </a:extLst>
          </p:cNvPr>
          <p:cNvPicPr>
            <a:picLocks noChangeAspect="1"/>
          </p:cNvPicPr>
          <p:nvPr/>
        </p:nvPicPr>
        <p:blipFill>
          <a:blip/>
          <a:stretch>
            <a:fillRect/>
          </a:stretch>
        </p:blipFill>
        <p:spPr>
          <a:xfrm>
            <a:off x="556299" y="2637770"/>
            <a:ext cx="2520836" cy="1658544"/>
          </a:xfrm>
          <a:prstGeom prst="rect">
            <a:avLst/>
          </a:prstGeom>
        </p:spPr>
      </p:pic>
      <p:pic>
        <p:nvPicPr>
          <p:cNvPr id="14" name="Imagen 13" descr="Conceptos de escalabilidad en arquitectura de sistemas: | aodbc">
            <a:extLst>
              <a:ext uri="{FF2B5EF4-FFF2-40B4-BE49-F238E27FC236}">
                <a16:creationId xmlns:a16="http://schemas.microsoft.com/office/drawing/2014/main" id="{DBD8F4EB-ABA5-0D01-9346-EC59B4B1B189}"/>
              </a:ext>
            </a:extLst>
          </p:cNvPr>
          <p:cNvPicPr>
            <a:picLocks noChangeAspect="1"/>
          </p:cNvPicPr>
          <p:nvPr/>
        </p:nvPicPr>
        <p:blipFill>
          <a:blip/>
          <a:stretch>
            <a:fillRect/>
          </a:stretch>
        </p:blipFill>
        <p:spPr>
          <a:xfrm>
            <a:off x="9224962" y="4414489"/>
            <a:ext cx="2466975" cy="1847850"/>
          </a:xfrm>
          <a:prstGeom prst="rect">
            <a:avLst/>
          </a:prstGeom>
        </p:spPr>
      </p:pic>
    </p:spTree>
    <p:extLst>
      <p:ext uri="{BB962C8B-B14F-4D97-AF65-F5344CB8AC3E}">
        <p14:creationId xmlns:p14="http://schemas.microsoft.com/office/powerpoint/2010/main" val="31623025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F556B-B68D-6583-2AE8-00C5FFC2F5DC}"/>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DB7E68B8-7498-E76A-6E8C-1BFD3D16A48C}"/>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A02633FC-6ABB-92AC-B5D9-68550704EB00}"/>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0" y="-6014433"/>
            <a:ext cx="12192000" cy="12872433"/>
          </a:xfrm>
          <a:prstGeom prst="rect">
            <a:avLst/>
          </a:prstGeom>
        </p:spPr>
      </p:pic>
      <p:sp>
        <p:nvSpPr>
          <p:cNvPr id="10" name="CuadroTexto 9">
            <a:extLst>
              <a:ext uri="{FF2B5EF4-FFF2-40B4-BE49-F238E27FC236}">
                <a16:creationId xmlns:a16="http://schemas.microsoft.com/office/drawing/2014/main" id="{D6FF713E-A097-21F5-5053-D6B6BC49E81F}"/>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5C0202E8-E91E-0E62-BCAC-DFF33FA1321F}"/>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15486F5F-F751-8438-EC6D-BFD93C152FBE}"/>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sp>
        <p:nvSpPr>
          <p:cNvPr id="15" name="CuadroTexto 14">
            <a:extLst>
              <a:ext uri="{FF2B5EF4-FFF2-40B4-BE49-F238E27FC236}">
                <a16:creationId xmlns:a16="http://schemas.microsoft.com/office/drawing/2014/main" id="{FE158438-9042-93E6-749F-DA127A5BCD1F}"/>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sp>
        <p:nvSpPr>
          <p:cNvPr id="3" name="CuadroTexto 2">
            <a:extLst>
              <a:ext uri="{FF2B5EF4-FFF2-40B4-BE49-F238E27FC236}">
                <a16:creationId xmlns:a16="http://schemas.microsoft.com/office/drawing/2014/main" id="{DF38D559-7A04-BB0B-71CF-759E210532F3}"/>
              </a:ext>
            </a:extLst>
          </p:cNvPr>
          <p:cNvSpPr txBox="1"/>
          <p:nvPr/>
        </p:nvSpPr>
        <p:spPr>
          <a:xfrm>
            <a:off x="1214635" y="1258595"/>
            <a:ext cx="6686551" cy="1323439"/>
          </a:xfrm>
          <a:prstGeom prst="rect">
            <a:avLst/>
          </a:prstGeom>
          <a:noFill/>
        </p:spPr>
        <p:txBody>
          <a:bodyPr wrap="square" rtlCol="0">
            <a:spAutoFit/>
          </a:bodyPr>
          <a:lstStyle/>
          <a:p>
            <a:pPr lvl="0"/>
            <a:r>
              <a:rPr lang="es-PE" sz="2000" b="1" dirty="0">
                <a:solidFill>
                  <a:schemeClr val="bg1"/>
                </a:solidFill>
                <a:latin typeface="Book Antiqua" panose="02040602050305030304" pitchFamily="18" charset="0"/>
              </a:rPr>
              <a:t>Tolerancia a fallos:</a:t>
            </a:r>
            <a:r>
              <a:rPr lang="es-PE" sz="2000" dirty="0">
                <a:solidFill>
                  <a:schemeClr val="bg1"/>
                </a:solidFill>
                <a:latin typeface="Book Antiqua" panose="02040602050305030304" pitchFamily="18" charset="0"/>
              </a:rPr>
              <a:t> Si el servidor central falla, todo el servicio se detiene. En los sistemas distribuidos, al estar los recursos repartidos, si un nodo cae, los demás pueden seguir operando sin bloquear el sistema.</a:t>
            </a:r>
          </a:p>
        </p:txBody>
      </p:sp>
      <p:sp>
        <p:nvSpPr>
          <p:cNvPr id="17" name="CuadroTexto 16">
            <a:extLst>
              <a:ext uri="{FF2B5EF4-FFF2-40B4-BE49-F238E27FC236}">
                <a16:creationId xmlns:a16="http://schemas.microsoft.com/office/drawing/2014/main" id="{9965FD4E-A231-BA17-F49B-2D2A21F1739E}"/>
              </a:ext>
            </a:extLst>
          </p:cNvPr>
          <p:cNvSpPr txBox="1"/>
          <p:nvPr/>
        </p:nvSpPr>
        <p:spPr>
          <a:xfrm>
            <a:off x="812511" y="-87478"/>
            <a:ext cx="9550399" cy="923330"/>
          </a:xfrm>
          <a:prstGeom prst="rect">
            <a:avLst/>
          </a:prstGeom>
          <a:noFill/>
        </p:spPr>
        <p:txBody>
          <a:bodyPr wrap="square" rtlCol="0">
            <a:spAutoFit/>
          </a:bodyPr>
          <a:lstStyle/>
          <a:p>
            <a:r>
              <a:rPr lang="es-PE" sz="5400" b="1" dirty="0">
                <a:solidFill>
                  <a:schemeClr val="bg1"/>
                </a:solidFill>
                <a:latin typeface="Aharoni" panose="02010803020104030203" pitchFamily="2" charset="-79"/>
                <a:cs typeface="Aharoni" panose="02010803020104030203" pitchFamily="2" charset="-79"/>
              </a:rPr>
              <a:t> Definiciones Fundamentales</a:t>
            </a:r>
            <a:endParaRPr lang="es-PE" sz="5400" dirty="0">
              <a:solidFill>
                <a:schemeClr val="bg1"/>
              </a:solidFill>
              <a:latin typeface="Aharoni" panose="02010803020104030203" pitchFamily="2" charset="-79"/>
              <a:cs typeface="Aharoni" panose="02010803020104030203" pitchFamily="2" charset="-79"/>
            </a:endParaRPr>
          </a:p>
        </p:txBody>
      </p:sp>
      <p:pic>
        <p:nvPicPr>
          <p:cNvPr id="19" name="Gráfico 18" descr="Nube con relleno sólido">
            <a:extLst>
              <a:ext uri="{FF2B5EF4-FFF2-40B4-BE49-F238E27FC236}">
                <a16:creationId xmlns:a16="http://schemas.microsoft.com/office/drawing/2014/main" id="{73D02D09-43BF-80F8-E268-DD3E8A00FFD7}"/>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355311" y="344195"/>
            <a:ext cx="914400" cy="914400"/>
          </a:xfrm>
          <a:prstGeom prst="rect">
            <a:avLst/>
          </a:prstGeom>
        </p:spPr>
      </p:pic>
      <p:cxnSp>
        <p:nvCxnSpPr>
          <p:cNvPr id="18" name="Conector recto de flecha 17">
            <a:extLst>
              <a:ext uri="{FF2B5EF4-FFF2-40B4-BE49-F238E27FC236}">
                <a16:creationId xmlns:a16="http://schemas.microsoft.com/office/drawing/2014/main" id="{58A2EACC-5B5C-64D0-C417-2840639A58B5}"/>
              </a:ext>
            </a:extLst>
          </p:cNvPr>
          <p:cNvCxnSpPr>
            <a:cxnSpLocks/>
          </p:cNvCxnSpPr>
          <p:nvPr/>
        </p:nvCxnSpPr>
        <p:spPr>
          <a:xfrm>
            <a:off x="7901186" y="1682252"/>
            <a:ext cx="557014" cy="0"/>
          </a:xfrm>
          <a:prstGeom prst="straightConnector1">
            <a:avLst/>
          </a:prstGeom>
          <a:ln w="19050" cap="flat" cmpd="sng" algn="ctr">
            <a:solidFill>
              <a:schemeClr val="bg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4" name="CuadroTexto 23">
            <a:extLst>
              <a:ext uri="{FF2B5EF4-FFF2-40B4-BE49-F238E27FC236}">
                <a16:creationId xmlns:a16="http://schemas.microsoft.com/office/drawing/2014/main" id="{2488CDBB-81C3-6EDE-B119-823162C50949}"/>
              </a:ext>
            </a:extLst>
          </p:cNvPr>
          <p:cNvSpPr txBox="1"/>
          <p:nvPr/>
        </p:nvSpPr>
        <p:spPr>
          <a:xfrm>
            <a:off x="111961" y="4408426"/>
            <a:ext cx="6686551" cy="1200329"/>
          </a:xfrm>
          <a:prstGeom prst="rect">
            <a:avLst/>
          </a:prstGeom>
          <a:noFill/>
        </p:spPr>
        <p:txBody>
          <a:bodyPr wrap="square" rtlCol="0">
            <a:spAutoFit/>
          </a:bodyPr>
          <a:lstStyle/>
          <a:p>
            <a:pPr marL="285750" lvl="0" indent="-285750">
              <a:buFont typeface="Wingdings" panose="05000000000000000000" pitchFamily="2" charset="2"/>
              <a:buChar char="§"/>
            </a:pPr>
            <a:r>
              <a:rPr lang="es-PE" b="1" dirty="0">
                <a:solidFill>
                  <a:schemeClr val="bg1"/>
                </a:solidFill>
              </a:rPr>
              <a:t>Puntos de fallo:</a:t>
            </a:r>
            <a:r>
              <a:rPr lang="es-PE" dirty="0">
                <a:solidFill>
                  <a:schemeClr val="bg1"/>
                </a:solidFill>
              </a:rPr>
              <a:t> El Cliente-Servidor tiene un único punto crítico (el servidor). En la distribuida, existen múltiples puntos de fallo debido a la gran cantidad de máquinas involucradas.</a:t>
            </a:r>
            <a:endParaRPr lang="es-PE" dirty="0">
              <a:solidFill>
                <a:schemeClr val="bg1"/>
              </a:solidFill>
              <a:latin typeface="Book Antiqua" panose="02040602050305030304" pitchFamily="18" charset="0"/>
            </a:endParaRPr>
          </a:p>
        </p:txBody>
      </p:sp>
      <p:cxnSp>
        <p:nvCxnSpPr>
          <p:cNvPr id="26" name="Conector recto de flecha 25">
            <a:extLst>
              <a:ext uri="{FF2B5EF4-FFF2-40B4-BE49-F238E27FC236}">
                <a16:creationId xmlns:a16="http://schemas.microsoft.com/office/drawing/2014/main" id="{67EF38A6-BC0C-4A4A-9835-7721815B39C2}"/>
              </a:ext>
            </a:extLst>
          </p:cNvPr>
          <p:cNvCxnSpPr>
            <a:cxnSpLocks/>
          </p:cNvCxnSpPr>
          <p:nvPr/>
        </p:nvCxnSpPr>
        <p:spPr>
          <a:xfrm>
            <a:off x="7093843" y="4952109"/>
            <a:ext cx="807343"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pic>
        <p:nvPicPr>
          <p:cNvPr id="4" name="Imagen 3" descr="Qué es la tolerancia a fallos? ⚙️ 3 técnicas y definición — Wallarm">
            <a:extLst>
              <a:ext uri="{FF2B5EF4-FFF2-40B4-BE49-F238E27FC236}">
                <a16:creationId xmlns:a16="http://schemas.microsoft.com/office/drawing/2014/main" id="{EB5E9333-B916-1234-FFFC-4E81E8BF8834}"/>
              </a:ext>
            </a:extLst>
          </p:cNvPr>
          <p:cNvPicPr>
            <a:picLocks noChangeAspect="1"/>
          </p:cNvPicPr>
          <p:nvPr/>
        </p:nvPicPr>
        <p:blipFill>
          <a:blip/>
          <a:stretch>
            <a:fillRect/>
          </a:stretch>
        </p:blipFill>
        <p:spPr>
          <a:xfrm>
            <a:off x="8726031" y="751167"/>
            <a:ext cx="3273757" cy="1964254"/>
          </a:xfrm>
          <a:prstGeom prst="rect">
            <a:avLst/>
          </a:prstGeom>
        </p:spPr>
      </p:pic>
      <p:pic>
        <p:nvPicPr>
          <p:cNvPr id="5" name="Imagen 4" descr="Arquitectura cliente servidor explicación con ejemplos【Guía】">
            <a:extLst>
              <a:ext uri="{FF2B5EF4-FFF2-40B4-BE49-F238E27FC236}">
                <a16:creationId xmlns:a16="http://schemas.microsoft.com/office/drawing/2014/main" id="{5026B25A-CAB9-3F98-4BE9-219D7ACC6F14}"/>
              </a:ext>
            </a:extLst>
          </p:cNvPr>
          <p:cNvPicPr>
            <a:picLocks noChangeAspect="1"/>
          </p:cNvPicPr>
          <p:nvPr/>
        </p:nvPicPr>
        <p:blipFill>
          <a:blip/>
          <a:stretch>
            <a:fillRect/>
          </a:stretch>
        </p:blipFill>
        <p:spPr>
          <a:xfrm>
            <a:off x="8060829" y="3836377"/>
            <a:ext cx="3905980" cy="2289505"/>
          </a:xfrm>
          <a:prstGeom prst="rect">
            <a:avLst/>
          </a:prstGeom>
        </p:spPr>
      </p:pic>
    </p:spTree>
    <p:extLst>
      <p:ext uri="{BB962C8B-B14F-4D97-AF65-F5344CB8AC3E}">
        <p14:creationId xmlns:p14="http://schemas.microsoft.com/office/powerpoint/2010/main" val="17953410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9C4B1-81DA-448A-BF8C-48EF8B11861F}"/>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A9482BED-A31C-FA54-D094-F53A560409D3}"/>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BA25693B-38AA-702F-8FDB-4DD181A50E99}"/>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0" y="-6014433"/>
            <a:ext cx="12192000" cy="12872433"/>
          </a:xfrm>
          <a:prstGeom prst="rect">
            <a:avLst/>
          </a:prstGeom>
        </p:spPr>
      </p:pic>
      <p:sp>
        <p:nvSpPr>
          <p:cNvPr id="10" name="CuadroTexto 9">
            <a:extLst>
              <a:ext uri="{FF2B5EF4-FFF2-40B4-BE49-F238E27FC236}">
                <a16:creationId xmlns:a16="http://schemas.microsoft.com/office/drawing/2014/main" id="{56CBC07A-FB17-663E-4285-EA4C147E5FC5}"/>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D18DC5BF-4816-6F89-D7AA-44BF350A074F}"/>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7DAC4285-A6E7-7B06-5696-532FC4132950}"/>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sp>
        <p:nvSpPr>
          <p:cNvPr id="15" name="CuadroTexto 14">
            <a:extLst>
              <a:ext uri="{FF2B5EF4-FFF2-40B4-BE49-F238E27FC236}">
                <a16:creationId xmlns:a16="http://schemas.microsoft.com/office/drawing/2014/main" id="{F929DDB3-4720-FDAB-42A8-9DDEA20018D7}"/>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sp>
        <p:nvSpPr>
          <p:cNvPr id="17" name="CuadroTexto 16">
            <a:extLst>
              <a:ext uri="{FF2B5EF4-FFF2-40B4-BE49-F238E27FC236}">
                <a16:creationId xmlns:a16="http://schemas.microsoft.com/office/drawing/2014/main" id="{6342863D-EDA9-391E-320D-C101EFCFD691}"/>
              </a:ext>
            </a:extLst>
          </p:cNvPr>
          <p:cNvSpPr txBox="1"/>
          <p:nvPr/>
        </p:nvSpPr>
        <p:spPr>
          <a:xfrm>
            <a:off x="812511" y="-87478"/>
            <a:ext cx="9550399" cy="923330"/>
          </a:xfrm>
          <a:prstGeom prst="rect">
            <a:avLst/>
          </a:prstGeom>
          <a:noFill/>
        </p:spPr>
        <p:txBody>
          <a:bodyPr wrap="square" rtlCol="0">
            <a:spAutoFit/>
          </a:bodyPr>
          <a:lstStyle/>
          <a:p>
            <a:r>
              <a:rPr lang="es-PE" sz="5400" b="1" dirty="0">
                <a:solidFill>
                  <a:schemeClr val="bg1"/>
                </a:solidFill>
                <a:latin typeface="Aharoni" panose="02010803020104030203" pitchFamily="2" charset="-79"/>
                <a:cs typeface="Aharoni" panose="02010803020104030203" pitchFamily="2" charset="-79"/>
              </a:rPr>
              <a:t> CUADRO COMPARATIVO</a:t>
            </a:r>
            <a:endParaRPr lang="es-PE" sz="5400" dirty="0">
              <a:solidFill>
                <a:schemeClr val="bg1"/>
              </a:solidFill>
              <a:latin typeface="Aharoni" panose="02010803020104030203" pitchFamily="2" charset="-79"/>
              <a:cs typeface="Aharoni" panose="02010803020104030203" pitchFamily="2" charset="-79"/>
            </a:endParaRPr>
          </a:p>
        </p:txBody>
      </p:sp>
      <p:pic>
        <p:nvPicPr>
          <p:cNvPr id="19" name="Gráfico 18" descr="Nube con relleno sólido">
            <a:extLst>
              <a:ext uri="{FF2B5EF4-FFF2-40B4-BE49-F238E27FC236}">
                <a16:creationId xmlns:a16="http://schemas.microsoft.com/office/drawing/2014/main" id="{ECAEB6E2-F90D-60D6-DFD5-3DC91259C0CF}"/>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355311" y="344195"/>
            <a:ext cx="914400" cy="914400"/>
          </a:xfrm>
          <a:prstGeom prst="rect">
            <a:avLst/>
          </a:prstGeom>
        </p:spPr>
      </p:pic>
      <p:graphicFrame>
        <p:nvGraphicFramePr>
          <p:cNvPr id="2" name="Tabla 1">
            <a:extLst>
              <a:ext uri="{FF2B5EF4-FFF2-40B4-BE49-F238E27FC236}">
                <a16:creationId xmlns:a16="http://schemas.microsoft.com/office/drawing/2014/main" id="{7803C4A2-5F73-D909-54DB-F218FD787C2F}"/>
              </a:ext>
            </a:extLst>
          </p:cNvPr>
          <p:cNvGraphicFramePr>
            <a:graphicFrameLocks noGrp="1"/>
          </p:cNvGraphicFramePr>
          <p:nvPr>
            <p:extLst>
              <p:ext uri="{D42A27DB-BD31-4B8C-83A1-F6EECF244321}">
                <p14:modId xmlns:p14="http://schemas.microsoft.com/office/powerpoint/2010/main" val="2265749621"/>
              </p:ext>
            </p:extLst>
          </p:nvPr>
        </p:nvGraphicFramePr>
        <p:xfrm>
          <a:off x="1447510" y="1960919"/>
          <a:ext cx="8915400" cy="3405635"/>
        </p:xfrm>
        <a:graphic>
          <a:graphicData uri="http://schemas.openxmlformats.org/drawingml/2006/table">
            <a:tbl>
              <a:tblPr firstRow="1" firstCol="1" bandRow="1">
                <a:tableStyleId>{5C22544A-7EE6-4342-B048-85BDC9FD1C3A}</a:tableStyleId>
              </a:tblPr>
              <a:tblGrid>
                <a:gridCol w="2971800">
                  <a:extLst>
                    <a:ext uri="{9D8B030D-6E8A-4147-A177-3AD203B41FA5}">
                      <a16:colId xmlns:a16="http://schemas.microsoft.com/office/drawing/2014/main" val="292276436"/>
                    </a:ext>
                  </a:extLst>
                </a:gridCol>
                <a:gridCol w="2971800">
                  <a:extLst>
                    <a:ext uri="{9D8B030D-6E8A-4147-A177-3AD203B41FA5}">
                      <a16:colId xmlns:a16="http://schemas.microsoft.com/office/drawing/2014/main" val="3857551118"/>
                    </a:ext>
                  </a:extLst>
                </a:gridCol>
                <a:gridCol w="2971800">
                  <a:extLst>
                    <a:ext uri="{9D8B030D-6E8A-4147-A177-3AD203B41FA5}">
                      <a16:colId xmlns:a16="http://schemas.microsoft.com/office/drawing/2014/main" val="663251206"/>
                    </a:ext>
                  </a:extLst>
                </a:gridCol>
              </a:tblGrid>
              <a:tr h="0">
                <a:tc>
                  <a:txBody>
                    <a:bodyPr/>
                    <a:lstStyle/>
                    <a:p>
                      <a:pPr marL="342900" lvl="0" indent="-342900">
                        <a:lnSpc>
                          <a:spcPct val="115000"/>
                        </a:lnSpc>
                        <a:spcAft>
                          <a:spcPts val="800"/>
                        </a:spcAft>
                        <a:buSzPts val="1000"/>
                        <a:buFont typeface="Symbol" panose="05050102010706020507" pitchFamily="18" charset="2"/>
                        <a:buChar char=""/>
                        <a:tabLst>
                          <a:tab pos="678180" algn="l"/>
                        </a:tabLst>
                      </a:pPr>
                      <a:r>
                        <a:rPr lang="es-PE" sz="1200" kern="100">
                          <a:effectLst/>
                        </a:rPr>
                        <a:t>Característica</a:t>
                      </a:r>
                      <a:endParaRPr lang="es-PE"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342900" lvl="0" indent="-342900">
                        <a:lnSpc>
                          <a:spcPct val="115000"/>
                        </a:lnSpc>
                        <a:spcAft>
                          <a:spcPts val="800"/>
                        </a:spcAft>
                        <a:buSzPts val="1000"/>
                        <a:buFont typeface="Symbol" panose="05050102010706020507" pitchFamily="18" charset="2"/>
                        <a:buChar char=""/>
                        <a:tabLst>
                          <a:tab pos="678180" algn="l"/>
                        </a:tabLst>
                      </a:pPr>
                      <a:r>
                        <a:rPr lang="es-PE" sz="1200" kern="100" dirty="0">
                          <a:effectLst/>
                        </a:rPr>
                        <a:t>Modelo Cliente-Servidor</a:t>
                      </a:r>
                      <a:endParaRPr lang="es-PE"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342900" lvl="0" indent="-342900">
                        <a:lnSpc>
                          <a:spcPct val="115000"/>
                        </a:lnSpc>
                        <a:spcAft>
                          <a:spcPts val="800"/>
                        </a:spcAft>
                        <a:buSzPts val="1000"/>
                        <a:buFont typeface="Symbol" panose="05050102010706020507" pitchFamily="18" charset="2"/>
                        <a:buChar char=""/>
                        <a:tabLst>
                          <a:tab pos="678180" algn="l"/>
                        </a:tabLst>
                      </a:pPr>
                      <a:r>
                        <a:rPr lang="es-PE" sz="1200" kern="100">
                          <a:effectLst/>
                        </a:rPr>
                        <a:t>Computación Distribuida (Enfoque General/P2P)</a:t>
                      </a:r>
                      <a:endParaRPr lang="es-PE"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916986991"/>
                  </a:ext>
                </a:extLst>
              </a:tr>
              <a:tr h="0">
                <a:tc>
                  <a:txBody>
                    <a:bodyPr/>
                    <a:lstStyle/>
                    <a:p>
                      <a:pPr marL="342900" lvl="0" indent="-342900">
                        <a:lnSpc>
                          <a:spcPct val="115000"/>
                        </a:lnSpc>
                        <a:spcAft>
                          <a:spcPts val="800"/>
                        </a:spcAft>
                        <a:buSzPts val="1000"/>
                        <a:buFont typeface="Symbol" panose="05050102010706020507" pitchFamily="18" charset="2"/>
                        <a:buChar char=""/>
                        <a:tabLst>
                          <a:tab pos="678180" algn="l"/>
                        </a:tabLst>
                      </a:pPr>
                      <a:r>
                        <a:rPr lang="es-PE" sz="1200" kern="100">
                          <a:effectLst/>
                        </a:rPr>
                        <a:t>Roles</a:t>
                      </a:r>
                      <a:endParaRPr lang="es-PE"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342900" lvl="0" indent="-342900">
                        <a:lnSpc>
                          <a:spcPct val="115000"/>
                        </a:lnSpc>
                        <a:spcAft>
                          <a:spcPts val="800"/>
                        </a:spcAft>
                        <a:buSzPts val="1000"/>
                        <a:buFont typeface="Symbol" panose="05050102010706020507" pitchFamily="18" charset="2"/>
                        <a:buChar char=""/>
                        <a:tabLst>
                          <a:tab pos="678180" algn="l"/>
                        </a:tabLst>
                      </a:pPr>
                      <a:r>
                        <a:rPr lang="es-PE" sz="1200" kern="100">
                          <a:effectLst/>
                        </a:rPr>
                        <a:t>Roles fijos y diferenciados (Cliente vs. Servidor). </a:t>
                      </a:r>
                      <a:endParaRPr lang="es-PE"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342900" lvl="0" indent="-342900">
                        <a:lnSpc>
                          <a:spcPct val="115000"/>
                        </a:lnSpc>
                        <a:spcAft>
                          <a:spcPts val="800"/>
                        </a:spcAft>
                        <a:buSzPts val="1000"/>
                        <a:buFont typeface="Symbol" panose="05050102010706020507" pitchFamily="18" charset="2"/>
                        <a:buChar char=""/>
                        <a:tabLst>
                          <a:tab pos="678180" algn="l"/>
                        </a:tabLst>
                      </a:pPr>
                      <a:r>
                        <a:rPr lang="es-PE" sz="1200" kern="100">
                          <a:effectLst/>
                        </a:rPr>
                        <a:t>Los procesos pueden tener roles idénticos, con las mismas capacidades. </a:t>
                      </a:r>
                      <a:endParaRPr lang="es-PE"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3471578"/>
                  </a:ext>
                </a:extLst>
              </a:tr>
              <a:tr h="0">
                <a:tc>
                  <a:txBody>
                    <a:bodyPr/>
                    <a:lstStyle/>
                    <a:p>
                      <a:pPr marL="342900" lvl="0" indent="-342900">
                        <a:lnSpc>
                          <a:spcPct val="115000"/>
                        </a:lnSpc>
                        <a:spcAft>
                          <a:spcPts val="800"/>
                        </a:spcAft>
                        <a:buSzPts val="1000"/>
                        <a:buFont typeface="Symbol" panose="05050102010706020507" pitchFamily="18" charset="2"/>
                        <a:buChar char=""/>
                        <a:tabLst>
                          <a:tab pos="678180" algn="l"/>
                        </a:tabLst>
                      </a:pPr>
                      <a:r>
                        <a:rPr lang="es-PE" sz="1200" kern="100">
                          <a:effectLst/>
                        </a:rPr>
                        <a:t>Control</a:t>
                      </a:r>
                      <a:endParaRPr lang="es-PE"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342900" lvl="0" indent="-342900">
                        <a:lnSpc>
                          <a:spcPct val="115000"/>
                        </a:lnSpc>
                        <a:spcAft>
                          <a:spcPts val="800"/>
                        </a:spcAft>
                        <a:buSzPts val="1000"/>
                        <a:buFont typeface="Symbol" panose="05050102010706020507" pitchFamily="18" charset="2"/>
                        <a:buChar char=""/>
                        <a:tabLst>
                          <a:tab pos="678180" algn="l"/>
                        </a:tabLst>
                      </a:pPr>
                      <a:r>
                        <a:rPr lang="es-PE" sz="1200" kern="100">
                          <a:effectLst/>
                        </a:rPr>
                        <a:t>Centralizado: Ideal para servicios de red centralizados. </a:t>
                      </a:r>
                      <a:endParaRPr lang="es-PE"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342900" lvl="0" indent="-342900">
                        <a:lnSpc>
                          <a:spcPct val="115000"/>
                        </a:lnSpc>
                        <a:spcAft>
                          <a:spcPts val="800"/>
                        </a:spcAft>
                        <a:buSzPts val="1000"/>
                        <a:buFont typeface="Symbol" panose="05050102010706020507" pitchFamily="18" charset="2"/>
                        <a:buChar char=""/>
                        <a:tabLst>
                          <a:tab pos="678180" algn="l"/>
                        </a:tabLst>
                      </a:pPr>
                      <a:r>
                        <a:rPr lang="es-PE" sz="1200" kern="100">
                          <a:effectLst/>
                        </a:rPr>
                        <a:t>Descentralizado: No requiere un único servidor central. </a:t>
                      </a:r>
                      <a:endParaRPr lang="es-PE"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822833048"/>
                  </a:ext>
                </a:extLst>
              </a:tr>
              <a:tr h="0">
                <a:tc>
                  <a:txBody>
                    <a:bodyPr/>
                    <a:lstStyle/>
                    <a:p>
                      <a:pPr marL="342900" lvl="0" indent="-342900">
                        <a:lnSpc>
                          <a:spcPct val="115000"/>
                        </a:lnSpc>
                        <a:spcAft>
                          <a:spcPts val="800"/>
                        </a:spcAft>
                        <a:buSzPts val="1000"/>
                        <a:buFont typeface="Symbol" panose="05050102010706020507" pitchFamily="18" charset="2"/>
                        <a:buChar char=""/>
                        <a:tabLst>
                          <a:tab pos="678180" algn="l"/>
                        </a:tabLst>
                      </a:pPr>
                      <a:r>
                        <a:rPr lang="es-PE" sz="1200" kern="100">
                          <a:effectLst/>
                        </a:rPr>
                        <a:t>Escalabilidad</a:t>
                      </a:r>
                      <a:endParaRPr lang="es-PE"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342900" lvl="0" indent="-342900">
                        <a:lnSpc>
                          <a:spcPct val="115000"/>
                        </a:lnSpc>
                        <a:spcAft>
                          <a:spcPts val="800"/>
                        </a:spcAft>
                        <a:buSzPts val="1000"/>
                        <a:buFont typeface="Symbol" panose="05050102010706020507" pitchFamily="18" charset="2"/>
                        <a:buChar char=""/>
                        <a:tabLst>
                          <a:tab pos="678180" algn="l"/>
                        </a:tabLst>
                      </a:pPr>
                      <a:r>
                        <a:rPr lang="es-PE" sz="1200" kern="100">
                          <a:effectLst/>
                        </a:rPr>
                        <a:t>Limitada a menudo por la capacidad del computador central. </a:t>
                      </a:r>
                      <a:endParaRPr lang="es-PE"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342900" lvl="0" indent="-342900">
                        <a:lnSpc>
                          <a:spcPct val="115000"/>
                        </a:lnSpc>
                        <a:spcAft>
                          <a:spcPts val="800"/>
                        </a:spcAft>
                        <a:buSzPts val="1000"/>
                        <a:buFont typeface="Symbol" panose="05050102010706020507" pitchFamily="18" charset="2"/>
                        <a:buChar char=""/>
                        <a:tabLst>
                          <a:tab pos="678180" algn="l"/>
                        </a:tabLst>
                      </a:pPr>
                      <a:r>
                        <a:rPr lang="es-PE" sz="1200" kern="100">
                          <a:effectLst/>
                        </a:rPr>
                        <a:t>Alta: Permite incrementar recursos según la demanda. </a:t>
                      </a:r>
                      <a:endParaRPr lang="es-PE"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068370951"/>
                  </a:ext>
                </a:extLst>
              </a:tr>
              <a:tr h="0">
                <a:tc>
                  <a:txBody>
                    <a:bodyPr/>
                    <a:lstStyle/>
                    <a:p>
                      <a:pPr marL="342900" lvl="0" indent="-342900">
                        <a:lnSpc>
                          <a:spcPct val="115000"/>
                        </a:lnSpc>
                        <a:spcAft>
                          <a:spcPts val="800"/>
                        </a:spcAft>
                        <a:buSzPts val="1000"/>
                        <a:buFont typeface="Symbol" panose="05050102010706020507" pitchFamily="18" charset="2"/>
                        <a:buChar char=""/>
                        <a:tabLst>
                          <a:tab pos="678180" algn="l"/>
                        </a:tabLst>
                      </a:pPr>
                      <a:r>
                        <a:rPr lang="es-PE" sz="1200" kern="100">
                          <a:effectLst/>
                        </a:rPr>
                        <a:t>Tolerancia a fallos</a:t>
                      </a:r>
                      <a:endParaRPr lang="es-PE"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342900" lvl="0" indent="-342900">
                        <a:lnSpc>
                          <a:spcPct val="115000"/>
                        </a:lnSpc>
                        <a:spcAft>
                          <a:spcPts val="800"/>
                        </a:spcAft>
                        <a:buSzPts val="1000"/>
                        <a:buFont typeface="Symbol" panose="05050102010706020507" pitchFamily="18" charset="2"/>
                        <a:buChar char=""/>
                        <a:tabLst>
                          <a:tab pos="678180" algn="l"/>
                        </a:tabLst>
                      </a:pPr>
                      <a:r>
                        <a:rPr lang="es-PE" sz="1200" kern="100">
                          <a:effectLst/>
                        </a:rPr>
                        <a:t>Si el servidor central falla, el servicio suele interrumpirse. </a:t>
                      </a:r>
                      <a:endParaRPr lang="es-PE"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342900" lvl="0" indent="-342900">
                        <a:lnSpc>
                          <a:spcPct val="115000"/>
                        </a:lnSpc>
                        <a:spcAft>
                          <a:spcPts val="800"/>
                        </a:spcAft>
                        <a:buSzPts val="1000"/>
                        <a:buFont typeface="Symbol" panose="05050102010706020507" pitchFamily="18" charset="2"/>
                        <a:buChar char=""/>
                        <a:tabLst>
                          <a:tab pos="678180" algn="l"/>
                        </a:tabLst>
                      </a:pPr>
                      <a:r>
                        <a:rPr lang="es-PE" sz="1200" kern="100">
                          <a:effectLst/>
                        </a:rPr>
                        <a:t>Alta: Los recursos pueden replicarse; si un nodo cae, el servicio no se bloquea. </a:t>
                      </a:r>
                      <a:endParaRPr lang="es-PE"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116233056"/>
                  </a:ext>
                </a:extLst>
              </a:tr>
              <a:tr h="0">
                <a:tc>
                  <a:txBody>
                    <a:bodyPr/>
                    <a:lstStyle/>
                    <a:p>
                      <a:pPr marL="342900" lvl="0" indent="-342900">
                        <a:lnSpc>
                          <a:spcPct val="115000"/>
                        </a:lnSpc>
                        <a:spcAft>
                          <a:spcPts val="800"/>
                        </a:spcAft>
                        <a:buSzPts val="1000"/>
                        <a:buFont typeface="Symbol" panose="05050102010706020507" pitchFamily="18" charset="2"/>
                        <a:buChar char=""/>
                        <a:tabLst>
                          <a:tab pos="678180" algn="l"/>
                        </a:tabLst>
                      </a:pPr>
                      <a:r>
                        <a:rPr lang="es-PE" sz="1200" kern="100">
                          <a:effectLst/>
                        </a:rPr>
                        <a:t>Puntos de fallo</a:t>
                      </a:r>
                      <a:endParaRPr lang="es-PE"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342900" lvl="0" indent="-342900">
                        <a:lnSpc>
                          <a:spcPct val="115000"/>
                        </a:lnSpc>
                        <a:spcAft>
                          <a:spcPts val="800"/>
                        </a:spcAft>
                        <a:buSzPts val="1000"/>
                        <a:buFont typeface="Symbol" panose="05050102010706020507" pitchFamily="18" charset="2"/>
                        <a:buChar char=""/>
                        <a:tabLst>
                          <a:tab pos="678180" algn="l"/>
                        </a:tabLst>
                      </a:pPr>
                      <a:r>
                        <a:rPr lang="es-PE" sz="1200" kern="100">
                          <a:effectLst/>
                        </a:rPr>
                        <a:t>Un único punto crítico de fallo (el servidor). </a:t>
                      </a:r>
                      <a:endParaRPr lang="es-PE"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342900" lvl="0" indent="-342900">
                        <a:lnSpc>
                          <a:spcPct val="115000"/>
                        </a:lnSpc>
                        <a:spcAft>
                          <a:spcPts val="800"/>
                        </a:spcAft>
                        <a:buSzPts val="1000"/>
                        <a:buFont typeface="Symbol" panose="05050102010706020507" pitchFamily="18" charset="2"/>
                        <a:buChar char=""/>
                        <a:tabLst>
                          <a:tab pos="678180" algn="l"/>
                        </a:tabLst>
                      </a:pPr>
                      <a:r>
                        <a:rPr lang="es-PE" sz="1200" kern="100" dirty="0">
                          <a:effectLst/>
                        </a:rPr>
                        <a:t>Múltiples puntos de fallo debido a la cantidad de máquinas implicadas. </a:t>
                      </a:r>
                      <a:endParaRPr lang="es-PE"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826303873"/>
                  </a:ext>
                </a:extLst>
              </a:tr>
            </a:tbl>
          </a:graphicData>
        </a:graphic>
      </p:graphicFrame>
      <p:sp>
        <p:nvSpPr>
          <p:cNvPr id="7" name="CuadroTexto 6">
            <a:extLst>
              <a:ext uri="{FF2B5EF4-FFF2-40B4-BE49-F238E27FC236}">
                <a16:creationId xmlns:a16="http://schemas.microsoft.com/office/drawing/2014/main" id="{A6BC94CA-77E7-7B9C-F415-2D19D9E031E5}"/>
              </a:ext>
            </a:extLst>
          </p:cNvPr>
          <p:cNvSpPr txBox="1"/>
          <p:nvPr/>
        </p:nvSpPr>
        <p:spPr>
          <a:xfrm>
            <a:off x="1581150" y="1104900"/>
            <a:ext cx="6419850" cy="646331"/>
          </a:xfrm>
          <a:prstGeom prst="rect">
            <a:avLst/>
          </a:prstGeom>
          <a:noFill/>
        </p:spPr>
        <p:txBody>
          <a:bodyPr wrap="square" rtlCol="0">
            <a:spAutoFit/>
          </a:bodyPr>
          <a:lstStyle/>
          <a:p>
            <a:r>
              <a:rPr lang="es-MX" dirty="0">
                <a:solidFill>
                  <a:schemeClr val="bg1"/>
                </a:solidFill>
              </a:rPr>
              <a:t>a continuación se presenta  un cuadro con los puntos clave de  las característica.</a:t>
            </a:r>
            <a:endParaRPr lang="es-PE" dirty="0">
              <a:solidFill>
                <a:schemeClr val="bg1"/>
              </a:solidFill>
            </a:endParaRPr>
          </a:p>
        </p:txBody>
      </p:sp>
    </p:spTree>
    <p:extLst>
      <p:ext uri="{BB962C8B-B14F-4D97-AF65-F5344CB8AC3E}">
        <p14:creationId xmlns:p14="http://schemas.microsoft.com/office/powerpoint/2010/main" val="1467153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B7449-B356-4715-D0EE-67ED15948D6D}"/>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F8BB5FFA-73D5-6CB8-5343-192884FC5863}"/>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7AE104FF-26CF-19A1-90FC-5BAD15A572A3}"/>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0" y="-6014433"/>
            <a:ext cx="12192000" cy="12872433"/>
          </a:xfrm>
          <a:prstGeom prst="rect">
            <a:avLst/>
          </a:prstGeom>
        </p:spPr>
      </p:pic>
      <p:sp>
        <p:nvSpPr>
          <p:cNvPr id="10" name="CuadroTexto 9">
            <a:extLst>
              <a:ext uri="{FF2B5EF4-FFF2-40B4-BE49-F238E27FC236}">
                <a16:creationId xmlns:a16="http://schemas.microsoft.com/office/drawing/2014/main" id="{DA908139-AB18-7281-9062-7A71217BDF8A}"/>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576F526E-64F2-B4BB-0C03-37B7D693962D}"/>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936A8460-70F5-D829-A0DD-E467F574AD73}"/>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sp>
        <p:nvSpPr>
          <p:cNvPr id="15" name="CuadroTexto 14">
            <a:extLst>
              <a:ext uri="{FF2B5EF4-FFF2-40B4-BE49-F238E27FC236}">
                <a16:creationId xmlns:a16="http://schemas.microsoft.com/office/drawing/2014/main" id="{B60F37FC-7DDF-E6D4-DFE7-11874A58FF67}"/>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sp>
        <p:nvSpPr>
          <p:cNvPr id="17" name="CuadroTexto 16">
            <a:extLst>
              <a:ext uri="{FF2B5EF4-FFF2-40B4-BE49-F238E27FC236}">
                <a16:creationId xmlns:a16="http://schemas.microsoft.com/office/drawing/2014/main" id="{890C4CF2-4984-E18B-77C3-2D5E18B501FC}"/>
              </a:ext>
            </a:extLst>
          </p:cNvPr>
          <p:cNvSpPr txBox="1"/>
          <p:nvPr/>
        </p:nvSpPr>
        <p:spPr>
          <a:xfrm>
            <a:off x="1581150" y="-242279"/>
            <a:ext cx="11246139" cy="2031325"/>
          </a:xfrm>
          <a:prstGeom prst="rect">
            <a:avLst/>
          </a:prstGeom>
          <a:noFill/>
        </p:spPr>
        <p:txBody>
          <a:bodyPr wrap="square" rtlCol="0">
            <a:spAutoFit/>
          </a:bodyPr>
          <a:lstStyle/>
          <a:p>
            <a:r>
              <a:rPr lang="es-PE" sz="3600" b="1" dirty="0">
                <a:solidFill>
                  <a:schemeClr val="bg1"/>
                </a:solidFill>
                <a:latin typeface="Aharoni" panose="02010803020104030203" pitchFamily="2" charset="-79"/>
                <a:cs typeface="Aharoni" panose="02010803020104030203" pitchFamily="2" charset="-79"/>
              </a:rPr>
              <a:t> Ventajas y Desventajas de la Computación Distribuida</a:t>
            </a:r>
            <a:endParaRPr lang="es-PE" sz="3600" dirty="0">
              <a:solidFill>
                <a:schemeClr val="bg1"/>
              </a:solidFill>
              <a:latin typeface="Aharoni" panose="02010803020104030203" pitchFamily="2" charset="-79"/>
              <a:cs typeface="Aharoni" panose="02010803020104030203" pitchFamily="2" charset="-79"/>
            </a:endParaRPr>
          </a:p>
          <a:p>
            <a:endParaRPr lang="es-PE" sz="5400" dirty="0">
              <a:solidFill>
                <a:schemeClr val="bg1"/>
              </a:solidFill>
              <a:latin typeface="Aharoni" panose="02010803020104030203" pitchFamily="2" charset="-79"/>
              <a:cs typeface="Aharoni" panose="02010803020104030203" pitchFamily="2" charset="-79"/>
            </a:endParaRPr>
          </a:p>
        </p:txBody>
      </p:sp>
      <p:pic>
        <p:nvPicPr>
          <p:cNvPr id="19" name="Gráfico 18" descr="Nube con relleno sólido">
            <a:extLst>
              <a:ext uri="{FF2B5EF4-FFF2-40B4-BE49-F238E27FC236}">
                <a16:creationId xmlns:a16="http://schemas.microsoft.com/office/drawing/2014/main" id="{38C1F123-363D-AA78-1202-F43E526731E4}"/>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183861" y="-242279"/>
            <a:ext cx="914400" cy="914400"/>
          </a:xfrm>
          <a:prstGeom prst="rect">
            <a:avLst/>
          </a:prstGeom>
        </p:spPr>
      </p:pic>
      <p:sp>
        <p:nvSpPr>
          <p:cNvPr id="7" name="CuadroTexto 6">
            <a:extLst>
              <a:ext uri="{FF2B5EF4-FFF2-40B4-BE49-F238E27FC236}">
                <a16:creationId xmlns:a16="http://schemas.microsoft.com/office/drawing/2014/main" id="{E0D1FBC2-6927-C582-32E2-A544B229A8AE}"/>
              </a:ext>
            </a:extLst>
          </p:cNvPr>
          <p:cNvSpPr txBox="1"/>
          <p:nvPr/>
        </p:nvSpPr>
        <p:spPr>
          <a:xfrm>
            <a:off x="1689100" y="957196"/>
            <a:ext cx="6419850" cy="646331"/>
          </a:xfrm>
          <a:prstGeom prst="rect">
            <a:avLst/>
          </a:prstGeom>
          <a:noFill/>
        </p:spPr>
        <p:txBody>
          <a:bodyPr wrap="square" rtlCol="0">
            <a:spAutoFit/>
          </a:bodyPr>
          <a:lstStyle/>
          <a:p>
            <a:r>
              <a:rPr lang="es-PE" dirty="0">
                <a:solidFill>
                  <a:schemeClr val="bg1"/>
                </a:solidFill>
              </a:rPr>
              <a:t>Aunque es una opción económica y escalable para compartir recursos, presenta retos importantes:</a:t>
            </a:r>
          </a:p>
        </p:txBody>
      </p:sp>
      <p:sp>
        <p:nvSpPr>
          <p:cNvPr id="3" name="CuadroTexto 2">
            <a:extLst>
              <a:ext uri="{FF2B5EF4-FFF2-40B4-BE49-F238E27FC236}">
                <a16:creationId xmlns:a16="http://schemas.microsoft.com/office/drawing/2014/main" id="{9A66E9D0-A932-32B5-3D8F-A408380CD802}"/>
              </a:ext>
            </a:extLst>
          </p:cNvPr>
          <p:cNvSpPr txBox="1"/>
          <p:nvPr/>
        </p:nvSpPr>
        <p:spPr>
          <a:xfrm>
            <a:off x="183861" y="2019300"/>
            <a:ext cx="4464339" cy="2031325"/>
          </a:xfrm>
          <a:prstGeom prst="rect">
            <a:avLst/>
          </a:prstGeom>
          <a:noFill/>
        </p:spPr>
        <p:txBody>
          <a:bodyPr wrap="square" rtlCol="0">
            <a:spAutoFit/>
          </a:bodyPr>
          <a:lstStyle/>
          <a:p>
            <a:pPr marL="285750" indent="-285750">
              <a:buFont typeface="Wingdings" panose="05000000000000000000" pitchFamily="2" charset="2"/>
              <a:buChar char="q"/>
            </a:pPr>
            <a:r>
              <a:rPr lang="es-PE" b="1" dirty="0">
                <a:solidFill>
                  <a:schemeClr val="bg1"/>
                </a:solidFill>
              </a:rPr>
              <a:t>Seguridad:</a:t>
            </a:r>
            <a:r>
              <a:rPr lang="es-PE" dirty="0">
                <a:solidFill>
                  <a:schemeClr val="bg1"/>
                </a:solidFill>
              </a:rPr>
              <a:t> Al haber tantas máquinas y organizaciones conectadas de forma descentralizada, el sistema es más vulnerable a ataques que uno centralizado.</a:t>
            </a:r>
          </a:p>
          <a:p>
            <a:endParaRPr lang="es-PE" dirty="0"/>
          </a:p>
        </p:txBody>
      </p:sp>
      <p:pic>
        <p:nvPicPr>
          <p:cNvPr id="4" name="Imagen 3" descr="BIG DATA CON SISTEMAS DISTRIBUIDOS">
            <a:extLst>
              <a:ext uri="{FF2B5EF4-FFF2-40B4-BE49-F238E27FC236}">
                <a16:creationId xmlns:a16="http://schemas.microsoft.com/office/drawing/2014/main" id="{F34C7B5B-9BD6-C802-F23A-7F99E086D032}"/>
              </a:ext>
            </a:extLst>
          </p:cNvPr>
          <p:cNvPicPr>
            <a:picLocks noChangeAspect="1"/>
          </p:cNvPicPr>
          <p:nvPr/>
        </p:nvPicPr>
        <p:blipFill>
          <a:blip/>
          <a:stretch>
            <a:fillRect/>
          </a:stretch>
        </p:blipFill>
        <p:spPr>
          <a:xfrm>
            <a:off x="4651519" y="3424614"/>
            <a:ext cx="2552700" cy="2281614"/>
          </a:xfrm>
          <a:prstGeom prst="rect">
            <a:avLst/>
          </a:prstGeom>
        </p:spPr>
      </p:pic>
      <p:sp>
        <p:nvSpPr>
          <p:cNvPr id="5" name="CuadroTexto 4">
            <a:extLst>
              <a:ext uri="{FF2B5EF4-FFF2-40B4-BE49-F238E27FC236}">
                <a16:creationId xmlns:a16="http://schemas.microsoft.com/office/drawing/2014/main" id="{69D2CBFA-FE24-F4AB-BDA4-0AF340D12E26}"/>
              </a:ext>
            </a:extLst>
          </p:cNvPr>
          <p:cNvSpPr txBox="1"/>
          <p:nvPr/>
        </p:nvSpPr>
        <p:spPr>
          <a:xfrm>
            <a:off x="7772400" y="2019300"/>
            <a:ext cx="4114800" cy="1754326"/>
          </a:xfrm>
          <a:prstGeom prst="rect">
            <a:avLst/>
          </a:prstGeom>
          <a:noFill/>
        </p:spPr>
        <p:txBody>
          <a:bodyPr wrap="square" rtlCol="0">
            <a:spAutoFit/>
          </a:bodyPr>
          <a:lstStyle/>
          <a:p>
            <a:pPr marL="285750" indent="-285750">
              <a:buFont typeface="Wingdings" panose="05000000000000000000" pitchFamily="2" charset="2"/>
              <a:buChar char="q"/>
            </a:pPr>
            <a:r>
              <a:rPr lang="es-PE" b="1" dirty="0">
                <a:solidFill>
                  <a:schemeClr val="bg1"/>
                </a:solidFill>
                <a:latin typeface="Book Antiqua" panose="02040602050305030304" pitchFamily="18" charset="0"/>
              </a:rPr>
              <a:t>Complejidad:</a:t>
            </a:r>
            <a:r>
              <a:rPr lang="es-PE" dirty="0">
                <a:solidFill>
                  <a:schemeClr val="bg1"/>
                </a:solidFill>
                <a:latin typeface="Book Antiqua" panose="02040602050305030304" pitchFamily="18" charset="0"/>
              </a:rPr>
              <a:t> El funcionamiento depende totalmente de la red; cualquier fallo en los enlaces o en computadoras individuales puede complicar el rendimiento total.</a:t>
            </a:r>
          </a:p>
          <a:p>
            <a:endParaRPr lang="es-PE" dirty="0"/>
          </a:p>
        </p:txBody>
      </p:sp>
    </p:spTree>
    <p:extLst>
      <p:ext uri="{BB962C8B-B14F-4D97-AF65-F5344CB8AC3E}">
        <p14:creationId xmlns:p14="http://schemas.microsoft.com/office/powerpoint/2010/main" val="42431346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01EC9-45DF-7877-B9C2-A48E09F8836C}"/>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FA3CB76B-A47F-BF2A-5F43-5AEEE9DD608E}"/>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F51695DC-8B83-32C9-C071-986ED9EC542F}"/>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0" y="-6014433"/>
            <a:ext cx="12192000" cy="12872433"/>
          </a:xfrm>
          <a:prstGeom prst="rect">
            <a:avLst/>
          </a:prstGeom>
        </p:spPr>
      </p:pic>
      <p:sp>
        <p:nvSpPr>
          <p:cNvPr id="10" name="CuadroTexto 9">
            <a:extLst>
              <a:ext uri="{FF2B5EF4-FFF2-40B4-BE49-F238E27FC236}">
                <a16:creationId xmlns:a16="http://schemas.microsoft.com/office/drawing/2014/main" id="{DFFD1CAF-6DC5-18EB-BA1F-6D78446D1AB8}"/>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97507F59-EED4-A0F7-797E-2D59A8AFAB51}"/>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DE5C018B-2639-71D5-2450-2B6CEFAD27E7}"/>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sp>
        <p:nvSpPr>
          <p:cNvPr id="15" name="CuadroTexto 14">
            <a:extLst>
              <a:ext uri="{FF2B5EF4-FFF2-40B4-BE49-F238E27FC236}">
                <a16:creationId xmlns:a16="http://schemas.microsoft.com/office/drawing/2014/main" id="{2BD9F4E3-A628-82F7-F5DA-7CDF0E04654F}"/>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sp>
        <p:nvSpPr>
          <p:cNvPr id="17" name="CuadroTexto 16">
            <a:extLst>
              <a:ext uri="{FF2B5EF4-FFF2-40B4-BE49-F238E27FC236}">
                <a16:creationId xmlns:a16="http://schemas.microsoft.com/office/drawing/2014/main" id="{7CAE064C-CB45-FE8F-0E73-A4D494F0957C}"/>
              </a:ext>
            </a:extLst>
          </p:cNvPr>
          <p:cNvSpPr txBox="1"/>
          <p:nvPr/>
        </p:nvSpPr>
        <p:spPr>
          <a:xfrm>
            <a:off x="1581150" y="-242279"/>
            <a:ext cx="11246139" cy="1600438"/>
          </a:xfrm>
          <a:prstGeom prst="rect">
            <a:avLst/>
          </a:prstGeom>
          <a:noFill/>
        </p:spPr>
        <p:txBody>
          <a:bodyPr wrap="square" rtlCol="0">
            <a:spAutoFit/>
          </a:bodyPr>
          <a:lstStyle/>
          <a:p>
            <a:r>
              <a:rPr lang="es-PE" sz="4400" b="1" dirty="0">
                <a:solidFill>
                  <a:schemeClr val="bg1"/>
                </a:solidFill>
                <a:latin typeface="Aharoni" panose="02010803020104030203" pitchFamily="2" charset="-79"/>
                <a:cs typeface="Aharoni" panose="02010803020104030203" pitchFamily="2" charset="-79"/>
              </a:rPr>
              <a:t> </a:t>
            </a:r>
            <a:r>
              <a:rPr lang="es-PE" sz="4400" b="1" dirty="0">
                <a:solidFill>
                  <a:schemeClr val="bg1"/>
                </a:solidFill>
              </a:rPr>
              <a:t>4. El Rol del Middleware</a:t>
            </a:r>
            <a:endParaRPr lang="es-PE" sz="4400" dirty="0">
              <a:solidFill>
                <a:schemeClr val="bg1"/>
              </a:solidFill>
            </a:endParaRPr>
          </a:p>
          <a:p>
            <a:endParaRPr lang="es-PE" sz="5400" dirty="0">
              <a:solidFill>
                <a:schemeClr val="bg1"/>
              </a:solidFill>
              <a:latin typeface="Aharoni" panose="02010803020104030203" pitchFamily="2" charset="-79"/>
              <a:cs typeface="Aharoni" panose="02010803020104030203" pitchFamily="2" charset="-79"/>
            </a:endParaRPr>
          </a:p>
        </p:txBody>
      </p:sp>
      <p:pic>
        <p:nvPicPr>
          <p:cNvPr id="19" name="Gráfico 18" descr="Nube con relleno sólido">
            <a:extLst>
              <a:ext uri="{FF2B5EF4-FFF2-40B4-BE49-F238E27FC236}">
                <a16:creationId xmlns:a16="http://schemas.microsoft.com/office/drawing/2014/main" id="{80F6CE88-D5D8-CDD4-29C1-A0F3910289DF}"/>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183861" y="-242279"/>
            <a:ext cx="914400" cy="914400"/>
          </a:xfrm>
          <a:prstGeom prst="rect">
            <a:avLst/>
          </a:prstGeom>
        </p:spPr>
      </p:pic>
      <p:sp>
        <p:nvSpPr>
          <p:cNvPr id="3" name="CuadroTexto 2">
            <a:extLst>
              <a:ext uri="{FF2B5EF4-FFF2-40B4-BE49-F238E27FC236}">
                <a16:creationId xmlns:a16="http://schemas.microsoft.com/office/drawing/2014/main" id="{E8CFD3DF-1AD9-C6CE-B8EC-F3782A716FEE}"/>
              </a:ext>
            </a:extLst>
          </p:cNvPr>
          <p:cNvSpPr txBox="1"/>
          <p:nvPr/>
        </p:nvSpPr>
        <p:spPr>
          <a:xfrm>
            <a:off x="841693" y="722538"/>
            <a:ext cx="6060757" cy="5109091"/>
          </a:xfrm>
          <a:prstGeom prst="rect">
            <a:avLst/>
          </a:prstGeom>
          <a:noFill/>
        </p:spPr>
        <p:txBody>
          <a:bodyPr wrap="square" rtlCol="0">
            <a:spAutoFit/>
          </a:bodyPr>
          <a:lstStyle/>
          <a:p>
            <a:pPr marL="285750" indent="-285750">
              <a:buFont typeface="Wingdings" panose="05000000000000000000" pitchFamily="2" charset="2"/>
              <a:buChar char="§"/>
            </a:pPr>
            <a:r>
              <a:rPr lang="es-PE" sz="2800" dirty="0">
                <a:solidFill>
                  <a:schemeClr val="bg1"/>
                </a:solidFill>
                <a:latin typeface="Book Antiqua" panose="02040602050305030304" pitchFamily="18" charset="0"/>
              </a:rPr>
              <a:t>Para que la computación distribuida sea efectiva, se necesita el </a:t>
            </a:r>
            <a:r>
              <a:rPr lang="es-PE" sz="2800" b="1" dirty="0">
                <a:solidFill>
                  <a:schemeClr val="bg1"/>
                </a:solidFill>
                <a:latin typeface="Book Antiqua" panose="02040602050305030304" pitchFamily="18" charset="0"/>
              </a:rPr>
              <a:t>Middleware</a:t>
            </a:r>
            <a:r>
              <a:rPr lang="es-PE" sz="2800" dirty="0">
                <a:solidFill>
                  <a:schemeClr val="bg1"/>
                </a:solidFill>
                <a:latin typeface="Book Antiqua" panose="02040602050305030304" pitchFamily="18" charset="0"/>
              </a:rPr>
              <a:t>. Este es el software que permite que procesos en diferentes máquinas interactúen entre sí. Su función principal es ofrecer "transparencia de localización", logrando que la aplicación parezca que se ejecuta de forma local cuando en realidad está repartida por toda la red.</a:t>
            </a:r>
          </a:p>
          <a:p>
            <a:endParaRPr lang="es-PE" dirty="0"/>
          </a:p>
        </p:txBody>
      </p:sp>
      <p:pic>
        <p:nvPicPr>
          <p:cNvPr id="2" name="Imagen 1" descr="Qué es el Middleware y cómo ayuda en la integración de datos? - Conecta  Magazine">
            <a:extLst>
              <a:ext uri="{FF2B5EF4-FFF2-40B4-BE49-F238E27FC236}">
                <a16:creationId xmlns:a16="http://schemas.microsoft.com/office/drawing/2014/main" id="{20ADF248-79EA-B834-3D1E-41CAB7667712}"/>
              </a:ext>
            </a:extLst>
          </p:cNvPr>
          <p:cNvPicPr>
            <a:picLocks noChangeAspect="1"/>
          </p:cNvPicPr>
          <p:nvPr/>
        </p:nvPicPr>
        <p:blipFill>
          <a:blip/>
          <a:stretch>
            <a:fillRect/>
          </a:stretch>
        </p:blipFill>
        <p:spPr>
          <a:xfrm>
            <a:off x="6940551" y="1816543"/>
            <a:ext cx="4946650" cy="3105150"/>
          </a:xfrm>
          <a:prstGeom prst="rect">
            <a:avLst/>
          </a:prstGeom>
        </p:spPr>
      </p:pic>
    </p:spTree>
    <p:extLst>
      <p:ext uri="{BB962C8B-B14F-4D97-AF65-F5344CB8AC3E}">
        <p14:creationId xmlns:p14="http://schemas.microsoft.com/office/powerpoint/2010/main" val="6568792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3398A-75DC-7B7B-816E-3CB7F638203B}"/>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17E962E6-B417-54C7-1265-53BD5A2E6C5D}"/>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7105DEAE-A8B0-E906-657F-AFD8C68DEA25}"/>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0" y="-6014433"/>
            <a:ext cx="12192000" cy="12872433"/>
          </a:xfrm>
          <a:prstGeom prst="rect">
            <a:avLst/>
          </a:prstGeom>
        </p:spPr>
      </p:pic>
      <p:sp>
        <p:nvSpPr>
          <p:cNvPr id="10" name="CuadroTexto 9">
            <a:extLst>
              <a:ext uri="{FF2B5EF4-FFF2-40B4-BE49-F238E27FC236}">
                <a16:creationId xmlns:a16="http://schemas.microsoft.com/office/drawing/2014/main" id="{1B006345-DF44-CC34-7D2D-F4E93D781CA6}"/>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CBD7DFA1-AD89-194B-7974-57AC1441EC66}"/>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A683973F-B233-6F6F-2625-32E9EBD0B6F4}"/>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sp>
        <p:nvSpPr>
          <p:cNvPr id="15" name="CuadroTexto 14">
            <a:extLst>
              <a:ext uri="{FF2B5EF4-FFF2-40B4-BE49-F238E27FC236}">
                <a16:creationId xmlns:a16="http://schemas.microsoft.com/office/drawing/2014/main" id="{539F635C-B803-E72E-2314-14EA1BDBF517}"/>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sp>
        <p:nvSpPr>
          <p:cNvPr id="17" name="CuadroTexto 16">
            <a:extLst>
              <a:ext uri="{FF2B5EF4-FFF2-40B4-BE49-F238E27FC236}">
                <a16:creationId xmlns:a16="http://schemas.microsoft.com/office/drawing/2014/main" id="{CEA8C6E5-A551-62A7-13DE-E6220A3215A0}"/>
              </a:ext>
            </a:extLst>
          </p:cNvPr>
          <p:cNvSpPr txBox="1"/>
          <p:nvPr/>
        </p:nvSpPr>
        <p:spPr>
          <a:xfrm>
            <a:off x="1787554" y="-235781"/>
            <a:ext cx="11246139" cy="1754326"/>
          </a:xfrm>
          <a:prstGeom prst="rect">
            <a:avLst/>
          </a:prstGeom>
          <a:noFill/>
        </p:spPr>
        <p:txBody>
          <a:bodyPr wrap="square" rtlCol="0">
            <a:spAutoFit/>
          </a:bodyPr>
          <a:lstStyle/>
          <a:p>
            <a:r>
              <a:rPr lang="es-PE" sz="5400" b="1" dirty="0">
                <a:solidFill>
                  <a:schemeClr val="bg1"/>
                </a:solidFill>
                <a:latin typeface="Aharoni" panose="02010803020104030203" pitchFamily="2" charset="-79"/>
                <a:cs typeface="Aharoni" panose="02010803020104030203" pitchFamily="2" charset="-79"/>
              </a:rPr>
              <a:t> </a:t>
            </a:r>
            <a:r>
              <a:rPr lang="es-MX" sz="5400" b="1" dirty="0">
                <a:solidFill>
                  <a:schemeClr val="bg1"/>
                </a:solidFill>
                <a:latin typeface="Aharoni" panose="02010803020104030203" pitchFamily="2" charset="-79"/>
                <a:cs typeface="Aharoni" panose="02010803020104030203" pitchFamily="2" charset="-79"/>
              </a:rPr>
              <a:t>VIRTUALIZACIÓN DE REDES</a:t>
            </a:r>
            <a:endParaRPr lang="es-PE" sz="5400" dirty="0">
              <a:solidFill>
                <a:schemeClr val="bg1"/>
              </a:solidFill>
              <a:latin typeface="Aharoni" panose="02010803020104030203" pitchFamily="2" charset="-79"/>
              <a:cs typeface="Aharoni" panose="02010803020104030203" pitchFamily="2" charset="-79"/>
            </a:endParaRPr>
          </a:p>
          <a:p>
            <a:endParaRPr lang="es-PE" sz="5400" dirty="0">
              <a:solidFill>
                <a:schemeClr val="bg1"/>
              </a:solidFill>
              <a:latin typeface="Aharoni" panose="02010803020104030203" pitchFamily="2" charset="-79"/>
              <a:cs typeface="Aharoni" panose="02010803020104030203" pitchFamily="2" charset="-79"/>
            </a:endParaRPr>
          </a:p>
        </p:txBody>
      </p:sp>
      <p:pic>
        <p:nvPicPr>
          <p:cNvPr id="19" name="Gráfico 18" descr="Nube con relleno sólido">
            <a:extLst>
              <a:ext uri="{FF2B5EF4-FFF2-40B4-BE49-F238E27FC236}">
                <a16:creationId xmlns:a16="http://schemas.microsoft.com/office/drawing/2014/main" id="{D0FD7A0C-41AC-C341-26FA-4A96DEC2FE12}"/>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183861" y="-242279"/>
            <a:ext cx="914400" cy="914400"/>
          </a:xfrm>
          <a:prstGeom prst="rect">
            <a:avLst/>
          </a:prstGeom>
        </p:spPr>
      </p:pic>
      <p:sp>
        <p:nvSpPr>
          <p:cNvPr id="3" name="CuadroTexto 2">
            <a:extLst>
              <a:ext uri="{FF2B5EF4-FFF2-40B4-BE49-F238E27FC236}">
                <a16:creationId xmlns:a16="http://schemas.microsoft.com/office/drawing/2014/main" id="{7DB40F1A-F876-27BC-571E-FD09A6FAAE34}"/>
              </a:ext>
            </a:extLst>
          </p:cNvPr>
          <p:cNvSpPr txBox="1"/>
          <p:nvPr/>
        </p:nvSpPr>
        <p:spPr>
          <a:xfrm>
            <a:off x="445453" y="1240572"/>
            <a:ext cx="6060757" cy="5355312"/>
          </a:xfrm>
          <a:prstGeom prst="rect">
            <a:avLst/>
          </a:prstGeom>
          <a:noFill/>
        </p:spPr>
        <p:txBody>
          <a:bodyPr wrap="square" rtlCol="0">
            <a:spAutoFit/>
          </a:bodyPr>
          <a:lstStyle/>
          <a:p>
            <a:r>
              <a:rPr lang="es-MX" b="1" dirty="0">
                <a:solidFill>
                  <a:schemeClr val="bg1"/>
                </a:solidFill>
              </a:rPr>
              <a:t>1.- ¿Qué es Virtualización de Funciones de Red (NFV)?</a:t>
            </a:r>
          </a:p>
          <a:p>
            <a:endParaRPr lang="es-PE" dirty="0">
              <a:solidFill>
                <a:schemeClr val="bg1"/>
              </a:solidFill>
            </a:endParaRPr>
          </a:p>
          <a:p>
            <a:r>
              <a:rPr lang="es-PE" dirty="0">
                <a:solidFill>
                  <a:schemeClr val="bg1"/>
                </a:solidFill>
              </a:rPr>
              <a:t>La virtualización de funciones de red (NFV, del inglés </a:t>
            </a:r>
            <a:r>
              <a:rPr lang="es-PE" dirty="0" err="1">
                <a:solidFill>
                  <a:schemeClr val="bg1"/>
                </a:solidFill>
              </a:rPr>
              <a:t>network</a:t>
            </a:r>
            <a:r>
              <a:rPr lang="es-PE" dirty="0">
                <a:solidFill>
                  <a:schemeClr val="bg1"/>
                </a:solidFill>
              </a:rPr>
              <a:t> functions </a:t>
            </a:r>
            <a:r>
              <a:rPr lang="es-PE" dirty="0" err="1">
                <a:solidFill>
                  <a:schemeClr val="bg1"/>
                </a:solidFill>
              </a:rPr>
              <a:t>virtualization</a:t>
            </a:r>
            <a:r>
              <a:rPr lang="es-PE" dirty="0">
                <a:solidFill>
                  <a:schemeClr val="bg1"/>
                </a:solidFill>
              </a:rPr>
              <a:t>) es un proceso de arquitectura de red que traslada funciones de red como el equilibrio de carga y el cifrado del hardware físico a las </a:t>
            </a:r>
            <a:r>
              <a:rPr lang="es-PE" dirty="0">
                <a:solidFill>
                  <a:schemeClr val="bg1"/>
                </a:solidFill>
                <a:hlinkClick r:id="rId2">
                  <a:extLst>
                    <a:ext uri="{A12FA001-AC4F-418D-AE19-62706E023703}">
                      <ahyp:hlinkClr xmlns:ahyp="http://schemas.microsoft.com/office/drawing/2018/hyperlinkcolor" val="tx"/>
                    </a:ext>
                  </a:extLst>
                </a:hlinkClick>
              </a:rPr>
              <a:t>máquinas virtuales (VM).</a:t>
            </a:r>
            <a:r>
              <a:rPr lang="es-PE" dirty="0">
                <a:solidFill>
                  <a:schemeClr val="bg1"/>
                </a:solidFill>
              </a:rPr>
              <a:t> NFV ayuda a las organizaciones a reducir costes y optimizar la implementación de servicios.</a:t>
            </a:r>
          </a:p>
          <a:p>
            <a:r>
              <a:rPr lang="es-PE" dirty="0">
                <a:solidFill>
                  <a:schemeClr val="bg1"/>
                </a:solidFill>
              </a:rPr>
              <a:t>La arquitectura NFV utiliza la </a:t>
            </a:r>
            <a:r>
              <a:rPr lang="es-PE" dirty="0">
                <a:solidFill>
                  <a:schemeClr val="bg1"/>
                </a:solidFill>
                <a:hlinkClick r:id="rId3">
                  <a:extLst>
                    <a:ext uri="{A12FA001-AC4F-418D-AE19-62706E023703}">
                      <ahyp:hlinkClr xmlns:ahyp="http://schemas.microsoft.com/office/drawing/2018/hyperlinkcolor" val="tx"/>
                    </a:ext>
                  </a:extLst>
                </a:hlinkClick>
              </a:rPr>
              <a:t>virtualización</a:t>
            </a:r>
            <a:r>
              <a:rPr lang="es-PE" dirty="0">
                <a:solidFill>
                  <a:schemeClr val="bg1"/>
                </a:solidFill>
              </a:rPr>
              <a:t> y las máquinas virtuales para crear una red ágil que sea escalable, personalizable y gestionable a través </a:t>
            </a:r>
            <a:r>
              <a:rPr lang="es-PE" dirty="0">
                <a:solidFill>
                  <a:schemeClr val="bg1"/>
                </a:solidFill>
                <a:hlinkClick r:id="rId4">
                  <a:extLst>
                    <a:ext uri="{A12FA001-AC4F-418D-AE19-62706E023703}">
                      <ahyp:hlinkClr xmlns:ahyp="http://schemas.microsoft.com/office/drawing/2018/hyperlinkcolor" val="tx"/>
                    </a:ext>
                  </a:extLst>
                </a:hlinkClick>
              </a:rPr>
              <a:t>de un único panel</a:t>
            </a:r>
            <a:r>
              <a:rPr lang="es-PE" dirty="0">
                <a:solidFill>
                  <a:schemeClr val="bg1"/>
                </a:solidFill>
              </a:rPr>
              <a:t>. Un panel de control centralizado permite a los operadores de red </a:t>
            </a:r>
            <a:r>
              <a:rPr lang="es-PE" dirty="0">
                <a:solidFill>
                  <a:schemeClr val="bg1"/>
                </a:solidFill>
                <a:hlinkClick r:id="rId5">
                  <a:extLst>
                    <a:ext uri="{A12FA001-AC4F-418D-AE19-62706E023703}">
                      <ahyp:hlinkClr xmlns:ahyp="http://schemas.microsoft.com/office/drawing/2018/hyperlinkcolor" val="tx"/>
                    </a:ext>
                  </a:extLst>
                </a:hlinkClick>
              </a:rPr>
              <a:t>automatizar</a:t>
            </a:r>
            <a:r>
              <a:rPr lang="es-PE" dirty="0">
                <a:solidFill>
                  <a:schemeClr val="bg1"/>
                </a:solidFill>
              </a:rPr>
              <a:t> el aprovisionamiento y la orquestación de los recursos de red y responder rápidamente a los patrones de tráfico cambiantes y a las demandas de la red.</a:t>
            </a:r>
          </a:p>
          <a:p>
            <a:endParaRPr lang="es-PE" dirty="0"/>
          </a:p>
        </p:txBody>
      </p:sp>
      <p:pic>
        <p:nvPicPr>
          <p:cNvPr id="4" name="Imagen 3" descr="Introducción a la virtualización de redes">
            <a:extLst>
              <a:ext uri="{FF2B5EF4-FFF2-40B4-BE49-F238E27FC236}">
                <a16:creationId xmlns:a16="http://schemas.microsoft.com/office/drawing/2014/main" id="{5B3BFD56-2A13-0BD8-43C7-0D3B3A61EEA5}"/>
              </a:ext>
            </a:extLst>
          </p:cNvPr>
          <p:cNvPicPr>
            <a:picLocks noChangeAspect="1"/>
          </p:cNvPicPr>
          <p:nvPr/>
        </p:nvPicPr>
        <p:blipFill>
          <a:blip/>
          <a:stretch>
            <a:fillRect/>
          </a:stretch>
        </p:blipFill>
        <p:spPr>
          <a:xfrm>
            <a:off x="7201755" y="795783"/>
            <a:ext cx="4176214" cy="249719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5" name="Imagen 4" descr="Qué es la virtualización? – PC Rent México">
            <a:extLst>
              <a:ext uri="{FF2B5EF4-FFF2-40B4-BE49-F238E27FC236}">
                <a16:creationId xmlns:a16="http://schemas.microsoft.com/office/drawing/2014/main" id="{AF7CFAA8-B647-1AE3-FA1B-1AEDE1A630EB}"/>
              </a:ext>
            </a:extLst>
          </p:cNvPr>
          <p:cNvPicPr>
            <a:picLocks noChangeAspect="1"/>
          </p:cNvPicPr>
          <p:nvPr/>
        </p:nvPicPr>
        <p:blipFill>
          <a:blip/>
          <a:stretch>
            <a:fillRect/>
          </a:stretch>
        </p:blipFill>
        <p:spPr>
          <a:xfrm>
            <a:off x="7299733" y="3733562"/>
            <a:ext cx="4078236" cy="2826372"/>
          </a:xfrm>
          <a:prstGeom prst="rect">
            <a:avLst/>
          </a:prstGeom>
          <a:ln>
            <a:solidFill>
              <a:schemeClr val="bg1"/>
            </a:solidFill>
          </a:ln>
        </p:spPr>
      </p:pic>
      <p:cxnSp>
        <p:nvCxnSpPr>
          <p:cNvPr id="8" name="Conector recto 7">
            <a:extLst>
              <a:ext uri="{FF2B5EF4-FFF2-40B4-BE49-F238E27FC236}">
                <a16:creationId xmlns:a16="http://schemas.microsoft.com/office/drawing/2014/main" id="{23CE9A09-9EAA-C70F-151C-E3E494A49A26}"/>
              </a:ext>
            </a:extLst>
          </p:cNvPr>
          <p:cNvCxnSpPr>
            <a:cxnSpLocks/>
          </p:cNvCxnSpPr>
          <p:nvPr/>
        </p:nvCxnSpPr>
        <p:spPr>
          <a:xfrm>
            <a:off x="7086600" y="3566160"/>
            <a:ext cx="4291369"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42672354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A9FBF-2D5C-2B9A-82E0-EE89C96E0C62}"/>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861941F1-95F9-C18F-D06A-4CA932319B1C}"/>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52465C04-B56F-45DB-E2D2-9C5381E8162E}"/>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0" y="-6014433"/>
            <a:ext cx="12192000" cy="12872433"/>
          </a:xfrm>
          <a:prstGeom prst="rect">
            <a:avLst/>
          </a:prstGeom>
        </p:spPr>
      </p:pic>
      <p:sp>
        <p:nvSpPr>
          <p:cNvPr id="10" name="CuadroTexto 9">
            <a:extLst>
              <a:ext uri="{FF2B5EF4-FFF2-40B4-BE49-F238E27FC236}">
                <a16:creationId xmlns:a16="http://schemas.microsoft.com/office/drawing/2014/main" id="{BCDF5306-3767-CD12-D788-2A5F174C68C2}"/>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7E5A3AB3-246F-2F99-D486-E22DFB445227}"/>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B8C32BAD-FC73-5B28-6E25-A654DAE74020}"/>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sp>
        <p:nvSpPr>
          <p:cNvPr id="15" name="CuadroTexto 14">
            <a:extLst>
              <a:ext uri="{FF2B5EF4-FFF2-40B4-BE49-F238E27FC236}">
                <a16:creationId xmlns:a16="http://schemas.microsoft.com/office/drawing/2014/main" id="{8DA24DE7-8B9D-F29A-5026-8AE1847FF3B7}"/>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sp>
        <p:nvSpPr>
          <p:cNvPr id="17" name="CuadroTexto 16">
            <a:extLst>
              <a:ext uri="{FF2B5EF4-FFF2-40B4-BE49-F238E27FC236}">
                <a16:creationId xmlns:a16="http://schemas.microsoft.com/office/drawing/2014/main" id="{7D3403B8-15B1-8D90-0BB6-9D0EBF3696EE}"/>
              </a:ext>
            </a:extLst>
          </p:cNvPr>
          <p:cNvSpPr txBox="1"/>
          <p:nvPr/>
        </p:nvSpPr>
        <p:spPr>
          <a:xfrm>
            <a:off x="945861" y="-283062"/>
            <a:ext cx="11246139" cy="1323439"/>
          </a:xfrm>
          <a:prstGeom prst="rect">
            <a:avLst/>
          </a:prstGeom>
          <a:noFill/>
        </p:spPr>
        <p:txBody>
          <a:bodyPr wrap="square" rtlCol="0">
            <a:spAutoFit/>
          </a:bodyPr>
          <a:lstStyle/>
          <a:p>
            <a:r>
              <a:rPr lang="es-PE" sz="5400" b="1" dirty="0">
                <a:solidFill>
                  <a:schemeClr val="bg1"/>
                </a:solidFill>
                <a:latin typeface="Aharoni" panose="02010803020104030203" pitchFamily="2" charset="-79"/>
                <a:cs typeface="Aharoni" panose="02010803020104030203" pitchFamily="2" charset="-79"/>
              </a:rPr>
              <a:t> </a:t>
            </a:r>
            <a:r>
              <a:rPr lang="es-PE" sz="8000" b="1" dirty="0">
                <a:solidFill>
                  <a:schemeClr val="bg1"/>
                </a:solidFill>
                <a:latin typeface="Aharoni" panose="02010803020104030203" pitchFamily="2" charset="-79"/>
                <a:cs typeface="Aharoni" panose="02010803020104030203" pitchFamily="2" charset="-79"/>
              </a:rPr>
              <a:t>Arquitectura NFV</a:t>
            </a:r>
            <a:endParaRPr lang="es-PE" sz="8000" dirty="0">
              <a:solidFill>
                <a:schemeClr val="bg1"/>
              </a:solidFill>
              <a:latin typeface="Aharoni" panose="02010803020104030203" pitchFamily="2" charset="-79"/>
              <a:cs typeface="Aharoni" panose="02010803020104030203" pitchFamily="2" charset="-79"/>
            </a:endParaRPr>
          </a:p>
        </p:txBody>
      </p:sp>
      <p:pic>
        <p:nvPicPr>
          <p:cNvPr id="19" name="Gráfico 18" descr="Nube con relleno sólido">
            <a:extLst>
              <a:ext uri="{FF2B5EF4-FFF2-40B4-BE49-F238E27FC236}">
                <a16:creationId xmlns:a16="http://schemas.microsoft.com/office/drawing/2014/main" id="{D75B9CAD-790C-840E-108F-297FEF5648D0}"/>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183861" y="-242279"/>
            <a:ext cx="914400" cy="914400"/>
          </a:xfrm>
          <a:prstGeom prst="rect">
            <a:avLst/>
          </a:prstGeom>
        </p:spPr>
      </p:pic>
      <p:sp>
        <p:nvSpPr>
          <p:cNvPr id="3" name="CuadroTexto 2">
            <a:extLst>
              <a:ext uri="{FF2B5EF4-FFF2-40B4-BE49-F238E27FC236}">
                <a16:creationId xmlns:a16="http://schemas.microsoft.com/office/drawing/2014/main" id="{EDA72172-91C6-5694-F6B3-C066CEB17866}"/>
              </a:ext>
            </a:extLst>
          </p:cNvPr>
          <p:cNvSpPr txBox="1"/>
          <p:nvPr/>
        </p:nvSpPr>
        <p:spPr>
          <a:xfrm>
            <a:off x="521653" y="1040377"/>
            <a:ext cx="9308147" cy="1200329"/>
          </a:xfrm>
          <a:prstGeom prst="rect">
            <a:avLst/>
          </a:prstGeom>
          <a:noFill/>
        </p:spPr>
        <p:txBody>
          <a:bodyPr wrap="square" rtlCol="0">
            <a:spAutoFit/>
          </a:bodyPr>
          <a:lstStyle/>
          <a:p>
            <a:r>
              <a:rPr lang="es-PE" b="1" dirty="0">
                <a:solidFill>
                  <a:schemeClr val="bg1"/>
                </a:solidFill>
              </a:rPr>
              <a:t>2.- Arquitectura NFV: </a:t>
            </a:r>
            <a:r>
              <a:rPr lang="es-PE" dirty="0">
                <a:solidFill>
                  <a:schemeClr val="bg1"/>
                </a:solidFill>
              </a:rPr>
              <a:t>La arquitectura NFV consta de tres capas:</a:t>
            </a:r>
          </a:p>
          <a:p>
            <a:endParaRPr lang="es-PE" dirty="0">
              <a:solidFill>
                <a:schemeClr val="bg1"/>
              </a:solidFill>
            </a:endParaRPr>
          </a:p>
          <a:p>
            <a:endParaRPr lang="es-PE" dirty="0">
              <a:solidFill>
                <a:schemeClr val="bg1"/>
              </a:solidFill>
            </a:endParaRPr>
          </a:p>
          <a:p>
            <a:endParaRPr lang="es-PE" dirty="0"/>
          </a:p>
        </p:txBody>
      </p:sp>
      <p:pic>
        <p:nvPicPr>
          <p:cNvPr id="2" name="Imagen 1" descr="Explicación de la virtualización de funciones de red [ 4 recursos de  aprendizaje] - Geekflare Spain">
            <a:extLst>
              <a:ext uri="{FF2B5EF4-FFF2-40B4-BE49-F238E27FC236}">
                <a16:creationId xmlns:a16="http://schemas.microsoft.com/office/drawing/2014/main" id="{AD8DB5E9-9CAF-089D-54E6-811C11EF925C}"/>
              </a:ext>
            </a:extLst>
          </p:cNvPr>
          <p:cNvPicPr>
            <a:picLocks noChangeAspect="1"/>
          </p:cNvPicPr>
          <p:nvPr/>
        </p:nvPicPr>
        <p:blipFill>
          <a:blip/>
          <a:stretch>
            <a:fillRect/>
          </a:stretch>
        </p:blipFill>
        <p:spPr>
          <a:xfrm>
            <a:off x="8175227" y="1416818"/>
            <a:ext cx="3766345" cy="1647776"/>
          </a:xfrm>
          <a:prstGeom prst="rect">
            <a:avLst/>
          </a:prstGeom>
        </p:spPr>
      </p:pic>
      <p:sp>
        <p:nvSpPr>
          <p:cNvPr id="7" name="CuadroTexto 6">
            <a:extLst>
              <a:ext uri="{FF2B5EF4-FFF2-40B4-BE49-F238E27FC236}">
                <a16:creationId xmlns:a16="http://schemas.microsoft.com/office/drawing/2014/main" id="{7395AC88-D01F-5ED2-CFEE-64849FB17C01}"/>
              </a:ext>
            </a:extLst>
          </p:cNvPr>
          <p:cNvSpPr txBox="1"/>
          <p:nvPr/>
        </p:nvSpPr>
        <p:spPr>
          <a:xfrm>
            <a:off x="183861" y="1640541"/>
            <a:ext cx="7503288" cy="1600438"/>
          </a:xfrm>
          <a:prstGeom prst="rect">
            <a:avLst/>
          </a:prstGeom>
          <a:noFill/>
        </p:spPr>
        <p:txBody>
          <a:bodyPr wrap="square" rtlCol="0">
            <a:spAutoFit/>
          </a:bodyPr>
          <a:lstStyle/>
          <a:p>
            <a:pPr marL="285750" indent="-285750">
              <a:buFont typeface="Wingdings" panose="05000000000000000000" pitchFamily="2" charset="2"/>
              <a:buChar char="v"/>
            </a:pPr>
            <a:r>
              <a:rPr lang="es-PE" sz="1400" b="1" dirty="0">
                <a:solidFill>
                  <a:schemeClr val="bg1"/>
                </a:solidFill>
              </a:rPr>
              <a:t>Funciones de red virtualizadas (VNF):</a:t>
            </a:r>
            <a:r>
              <a:rPr lang="es-PE" sz="1400" dirty="0">
                <a:solidFill>
                  <a:schemeClr val="bg1"/>
                </a:solidFill>
              </a:rPr>
              <a:t> Las VNF trasladan funciones de red tradicionales, como firewalls y enrutamiento, del hardware físico al software virtual. Estas funciones pueden conectarse mediante el encadenamiento de servicios para automatizar procesos. Al gestionarlas de forma centralizada, los operadores optimizan el tráfico y la carga de los servidores, lo que mejora el control y evita caídas del sistema.</a:t>
            </a:r>
          </a:p>
          <a:p>
            <a:pPr marL="285750" indent="-285750">
              <a:buFont typeface="Wingdings" panose="05000000000000000000" pitchFamily="2" charset="2"/>
              <a:buChar char="v"/>
            </a:pPr>
            <a:endParaRPr lang="es-PE" sz="1400" dirty="0">
              <a:solidFill>
                <a:schemeClr val="bg1"/>
              </a:solidFill>
            </a:endParaRPr>
          </a:p>
        </p:txBody>
      </p:sp>
      <p:cxnSp>
        <p:nvCxnSpPr>
          <p:cNvPr id="14" name="Conector recto de flecha 13">
            <a:extLst>
              <a:ext uri="{FF2B5EF4-FFF2-40B4-BE49-F238E27FC236}">
                <a16:creationId xmlns:a16="http://schemas.microsoft.com/office/drawing/2014/main" id="{46E5DF7D-D6C3-9A3D-0308-480CEC870376}"/>
              </a:ext>
            </a:extLst>
          </p:cNvPr>
          <p:cNvCxnSpPr/>
          <p:nvPr/>
        </p:nvCxnSpPr>
        <p:spPr>
          <a:xfrm>
            <a:off x="7303212" y="2042160"/>
            <a:ext cx="767874" cy="0"/>
          </a:xfrm>
          <a:prstGeom prst="straightConnector1">
            <a:avLst/>
          </a:prstGeom>
          <a:ln>
            <a:solidFill>
              <a:schemeClr val="bg1"/>
            </a:solidFill>
            <a:tailEnd type="triangle"/>
          </a:ln>
        </p:spPr>
        <p:style>
          <a:lnRef idx="3">
            <a:schemeClr val="accent1"/>
          </a:lnRef>
          <a:fillRef idx="0">
            <a:schemeClr val="accent1"/>
          </a:fillRef>
          <a:effectRef idx="2">
            <a:schemeClr val="accent1"/>
          </a:effectRef>
          <a:fontRef idx="minor">
            <a:schemeClr val="tx1"/>
          </a:fontRef>
        </p:style>
      </p:cxnSp>
      <p:pic>
        <p:nvPicPr>
          <p:cNvPr id="18" name="Imagen 17" descr="virtualización de funciones de red nfv. concepto de máquinas virtuales de  tecnologías de arquitectura 3820810 Foto de stock en Vecteezy">
            <a:extLst>
              <a:ext uri="{FF2B5EF4-FFF2-40B4-BE49-F238E27FC236}">
                <a16:creationId xmlns:a16="http://schemas.microsoft.com/office/drawing/2014/main" id="{F2FD820A-D1ED-8C87-EA5B-A925D04C6E11}"/>
              </a:ext>
            </a:extLst>
          </p:cNvPr>
          <p:cNvPicPr>
            <a:picLocks noChangeAspect="1"/>
          </p:cNvPicPr>
          <p:nvPr/>
        </p:nvPicPr>
        <p:blipFill>
          <a:blip/>
          <a:stretch>
            <a:fillRect/>
          </a:stretch>
        </p:blipFill>
        <p:spPr>
          <a:xfrm>
            <a:off x="183861" y="3918228"/>
            <a:ext cx="3415792" cy="1600438"/>
          </a:xfrm>
          <a:prstGeom prst="rect">
            <a:avLst/>
          </a:prstGeom>
        </p:spPr>
      </p:pic>
      <p:sp>
        <p:nvSpPr>
          <p:cNvPr id="20" name="CuadroTexto 19">
            <a:extLst>
              <a:ext uri="{FF2B5EF4-FFF2-40B4-BE49-F238E27FC236}">
                <a16:creationId xmlns:a16="http://schemas.microsoft.com/office/drawing/2014/main" id="{78DEA3B1-D5FE-7D96-0F43-1B50A43DB9C9}"/>
              </a:ext>
            </a:extLst>
          </p:cNvPr>
          <p:cNvSpPr txBox="1"/>
          <p:nvPr/>
        </p:nvSpPr>
        <p:spPr>
          <a:xfrm>
            <a:off x="5501640" y="3906899"/>
            <a:ext cx="6690360" cy="2092881"/>
          </a:xfrm>
          <a:prstGeom prst="rect">
            <a:avLst/>
          </a:prstGeom>
          <a:noFill/>
        </p:spPr>
        <p:txBody>
          <a:bodyPr wrap="square" rtlCol="0">
            <a:spAutoFit/>
          </a:bodyPr>
          <a:lstStyle/>
          <a:p>
            <a:r>
              <a:rPr lang="es-PE" sz="1400" b="1" dirty="0">
                <a:solidFill>
                  <a:schemeClr val="bg1"/>
                </a:solidFill>
              </a:rPr>
              <a:t>Infraestructura de virtualización de funciones de red (NFVI):</a:t>
            </a:r>
            <a:r>
              <a:rPr lang="es-PE" sz="1400" dirty="0">
                <a:solidFill>
                  <a:schemeClr val="bg1"/>
                </a:solidFill>
              </a:rPr>
              <a:t> La infraestructura NFV agrupa los recursos físicos de computación, almacenamiento y red para entornos virtualizados. Mediante un software llamado hipervisor, se crea una capa de virtualización que permite separar las funciones de red del hardware real. Este hipervisor segmenta un solo equipo físico en múltiples máquinas virtuales independientes que operan en paralelo con sus propios sistemas. Así, la NFVI genera una red unificada que conecta todos estos recursos físicos y virtuales de manera eficiente.</a:t>
            </a:r>
          </a:p>
          <a:p>
            <a:endParaRPr lang="es-PE" dirty="0"/>
          </a:p>
        </p:txBody>
      </p:sp>
      <p:cxnSp>
        <p:nvCxnSpPr>
          <p:cNvPr id="21" name="Conector recto de flecha 20">
            <a:extLst>
              <a:ext uri="{FF2B5EF4-FFF2-40B4-BE49-F238E27FC236}">
                <a16:creationId xmlns:a16="http://schemas.microsoft.com/office/drawing/2014/main" id="{74DFD4EC-1FF3-91DA-E586-5EA2AB5A9747}"/>
              </a:ext>
            </a:extLst>
          </p:cNvPr>
          <p:cNvCxnSpPr>
            <a:cxnSpLocks/>
          </p:cNvCxnSpPr>
          <p:nvPr/>
        </p:nvCxnSpPr>
        <p:spPr>
          <a:xfrm flipH="1">
            <a:off x="4093446" y="4660821"/>
            <a:ext cx="1027194" cy="0"/>
          </a:xfrm>
          <a:prstGeom prst="straightConnector1">
            <a:avLst/>
          </a:prstGeom>
          <a:ln>
            <a:solidFill>
              <a:schemeClr val="bg1"/>
            </a:solidFill>
            <a:tailEnd type="triangle"/>
          </a:ln>
        </p:spPr>
        <p:style>
          <a:lnRef idx="3">
            <a:schemeClr val="accent1"/>
          </a:lnRef>
          <a:fillRef idx="0">
            <a:schemeClr val="accent1"/>
          </a:fillRef>
          <a:effectRef idx="2">
            <a:schemeClr val="accent1"/>
          </a:effectRef>
          <a:fontRef idx="minor">
            <a:schemeClr val="tx1"/>
          </a:fontRef>
        </p:style>
      </p:cxnSp>
      <p:cxnSp>
        <p:nvCxnSpPr>
          <p:cNvPr id="23" name="Conector recto de flecha 22">
            <a:extLst>
              <a:ext uri="{FF2B5EF4-FFF2-40B4-BE49-F238E27FC236}">
                <a16:creationId xmlns:a16="http://schemas.microsoft.com/office/drawing/2014/main" id="{A6E8CB9D-8FB4-AA04-E628-B5D5490A4B8C}"/>
              </a:ext>
            </a:extLst>
          </p:cNvPr>
          <p:cNvCxnSpPr>
            <a:cxnSpLocks/>
          </p:cNvCxnSpPr>
          <p:nvPr/>
        </p:nvCxnSpPr>
        <p:spPr>
          <a:xfrm>
            <a:off x="4093446" y="5093494"/>
            <a:ext cx="1027194" cy="0"/>
          </a:xfrm>
          <a:prstGeom prst="straightConnector1">
            <a:avLst/>
          </a:prstGeom>
          <a:ln>
            <a:solidFill>
              <a:schemeClr val="bg1"/>
            </a:solidFill>
            <a:tailEnd type="triangle"/>
          </a:ln>
        </p:spPr>
        <p:style>
          <a:lnRef idx="3">
            <a:schemeClr val="accent1"/>
          </a:lnRef>
          <a:fillRef idx="0">
            <a:schemeClr val="accent1"/>
          </a:fillRef>
          <a:effectRef idx="2">
            <a:schemeClr val="accent1"/>
          </a:effectRef>
          <a:fontRef idx="minor">
            <a:schemeClr val="tx1"/>
          </a:fontRef>
        </p:style>
      </p:cxnSp>
      <p:cxnSp>
        <p:nvCxnSpPr>
          <p:cNvPr id="26" name="Conector recto de flecha 25">
            <a:extLst>
              <a:ext uri="{FF2B5EF4-FFF2-40B4-BE49-F238E27FC236}">
                <a16:creationId xmlns:a16="http://schemas.microsoft.com/office/drawing/2014/main" id="{1C250F40-1D23-5E69-AD09-5E726C16C30E}"/>
              </a:ext>
            </a:extLst>
          </p:cNvPr>
          <p:cNvCxnSpPr>
            <a:cxnSpLocks/>
          </p:cNvCxnSpPr>
          <p:nvPr/>
        </p:nvCxnSpPr>
        <p:spPr>
          <a:xfrm flipH="1">
            <a:off x="7363932" y="2240706"/>
            <a:ext cx="707154" cy="0"/>
          </a:xfrm>
          <a:prstGeom prst="straightConnector1">
            <a:avLst/>
          </a:prstGeom>
          <a:ln>
            <a:solidFill>
              <a:schemeClr val="bg1"/>
            </a:solidFill>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714931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1174F-C089-4907-DD76-9F95137560D8}"/>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8BEBA559-BD57-9D67-2600-5F7C72A80D67}"/>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E84FB916-CD15-08F0-E992-5D84171B05DB}"/>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0" y="-6014433"/>
            <a:ext cx="12192000" cy="12872433"/>
          </a:xfrm>
          <a:prstGeom prst="rect">
            <a:avLst/>
          </a:prstGeom>
        </p:spPr>
      </p:pic>
      <p:sp>
        <p:nvSpPr>
          <p:cNvPr id="10" name="CuadroTexto 9">
            <a:extLst>
              <a:ext uri="{FF2B5EF4-FFF2-40B4-BE49-F238E27FC236}">
                <a16:creationId xmlns:a16="http://schemas.microsoft.com/office/drawing/2014/main" id="{F9FE68F7-31F1-F5CC-14FD-020EB40CE51C}"/>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5C21C821-037D-34C8-9C22-63B0E88C7CB4}"/>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B30B546E-3E97-D665-3A2B-F6C737D63779}"/>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sp>
        <p:nvSpPr>
          <p:cNvPr id="15" name="CuadroTexto 14">
            <a:extLst>
              <a:ext uri="{FF2B5EF4-FFF2-40B4-BE49-F238E27FC236}">
                <a16:creationId xmlns:a16="http://schemas.microsoft.com/office/drawing/2014/main" id="{DFA1FF4F-1B4A-11A9-1E69-83B94598AA3C}"/>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sp>
        <p:nvSpPr>
          <p:cNvPr id="17" name="CuadroTexto 16">
            <a:extLst>
              <a:ext uri="{FF2B5EF4-FFF2-40B4-BE49-F238E27FC236}">
                <a16:creationId xmlns:a16="http://schemas.microsoft.com/office/drawing/2014/main" id="{39BC753E-4E5D-480A-6ADD-6EB9B8C802F1}"/>
              </a:ext>
            </a:extLst>
          </p:cNvPr>
          <p:cNvSpPr txBox="1"/>
          <p:nvPr/>
        </p:nvSpPr>
        <p:spPr>
          <a:xfrm>
            <a:off x="945861" y="-283062"/>
            <a:ext cx="11246139" cy="1323439"/>
          </a:xfrm>
          <a:prstGeom prst="rect">
            <a:avLst/>
          </a:prstGeom>
          <a:noFill/>
        </p:spPr>
        <p:txBody>
          <a:bodyPr wrap="square" rtlCol="0">
            <a:spAutoFit/>
          </a:bodyPr>
          <a:lstStyle/>
          <a:p>
            <a:r>
              <a:rPr lang="es-PE" sz="5400" b="1" dirty="0">
                <a:solidFill>
                  <a:schemeClr val="bg1"/>
                </a:solidFill>
                <a:latin typeface="Aharoni" panose="02010803020104030203" pitchFamily="2" charset="-79"/>
                <a:cs typeface="Aharoni" panose="02010803020104030203" pitchFamily="2" charset="-79"/>
              </a:rPr>
              <a:t> </a:t>
            </a:r>
            <a:r>
              <a:rPr lang="es-PE" sz="8000" b="1" dirty="0">
                <a:solidFill>
                  <a:schemeClr val="bg1"/>
                </a:solidFill>
                <a:latin typeface="Aharoni" panose="02010803020104030203" pitchFamily="2" charset="-79"/>
                <a:cs typeface="Aharoni" panose="02010803020104030203" pitchFamily="2" charset="-79"/>
              </a:rPr>
              <a:t>Arquitectura NFV</a:t>
            </a:r>
            <a:endParaRPr lang="es-PE" sz="8000" dirty="0">
              <a:solidFill>
                <a:schemeClr val="bg1"/>
              </a:solidFill>
              <a:latin typeface="Aharoni" panose="02010803020104030203" pitchFamily="2" charset="-79"/>
              <a:cs typeface="Aharoni" panose="02010803020104030203" pitchFamily="2" charset="-79"/>
            </a:endParaRPr>
          </a:p>
        </p:txBody>
      </p:sp>
      <p:pic>
        <p:nvPicPr>
          <p:cNvPr id="19" name="Gráfico 18" descr="Nube con relleno sólido">
            <a:extLst>
              <a:ext uri="{FF2B5EF4-FFF2-40B4-BE49-F238E27FC236}">
                <a16:creationId xmlns:a16="http://schemas.microsoft.com/office/drawing/2014/main" id="{4F53449E-DE8A-D7BD-E605-4067825BB430}"/>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183861" y="-242279"/>
            <a:ext cx="914400" cy="914400"/>
          </a:xfrm>
          <a:prstGeom prst="rect">
            <a:avLst/>
          </a:prstGeom>
        </p:spPr>
      </p:pic>
      <p:sp>
        <p:nvSpPr>
          <p:cNvPr id="7" name="CuadroTexto 6">
            <a:extLst>
              <a:ext uri="{FF2B5EF4-FFF2-40B4-BE49-F238E27FC236}">
                <a16:creationId xmlns:a16="http://schemas.microsoft.com/office/drawing/2014/main" id="{01D389AD-96A5-E712-61EC-FEB5C412DA41}"/>
              </a:ext>
            </a:extLst>
          </p:cNvPr>
          <p:cNvSpPr txBox="1"/>
          <p:nvPr/>
        </p:nvSpPr>
        <p:spPr>
          <a:xfrm>
            <a:off x="183861" y="1640541"/>
            <a:ext cx="7228848" cy="1384995"/>
          </a:xfrm>
          <a:prstGeom prst="rect">
            <a:avLst/>
          </a:prstGeom>
          <a:noFill/>
        </p:spPr>
        <p:txBody>
          <a:bodyPr wrap="square" rtlCol="0">
            <a:spAutoFit/>
          </a:bodyPr>
          <a:lstStyle/>
          <a:p>
            <a:pPr lvl="0"/>
            <a:r>
              <a:rPr lang="es-PE" sz="1400" b="1" dirty="0">
                <a:solidFill>
                  <a:schemeClr val="bg1"/>
                </a:solidFill>
                <a:latin typeface="Book Antiqua" panose="02040602050305030304" pitchFamily="18" charset="0"/>
              </a:rPr>
              <a:t>Gestión, automatización y orquestación de redes (MANO):</a:t>
            </a:r>
            <a:r>
              <a:rPr lang="es-PE" sz="1400" dirty="0">
                <a:solidFill>
                  <a:schemeClr val="bg1"/>
                </a:solidFill>
                <a:latin typeface="Book Antiqua" panose="02040602050305030304" pitchFamily="18" charset="0"/>
              </a:rPr>
              <a:t> NFV MANO es el marco básico para gestionar la implementación, el aprovisionamiento, la monitorización y el rendimiento de las funciones de red virtualizadas. NFV MANO también crea una interfaz para que NFVI se comunique e interactúe con los sistemas de soporte operativo (OSS) y los sistemas de soporte empresarial (BSS) existentes.</a:t>
            </a:r>
          </a:p>
          <a:p>
            <a:pPr marL="285750" indent="-285750">
              <a:buFont typeface="Wingdings" panose="05000000000000000000" pitchFamily="2" charset="2"/>
              <a:buChar char="v"/>
            </a:pPr>
            <a:endParaRPr lang="es-PE" sz="1400" dirty="0">
              <a:solidFill>
                <a:schemeClr val="bg1"/>
              </a:solidFill>
            </a:endParaRPr>
          </a:p>
        </p:txBody>
      </p:sp>
      <p:cxnSp>
        <p:nvCxnSpPr>
          <p:cNvPr id="14" name="Conector recto de flecha 13">
            <a:extLst>
              <a:ext uri="{FF2B5EF4-FFF2-40B4-BE49-F238E27FC236}">
                <a16:creationId xmlns:a16="http://schemas.microsoft.com/office/drawing/2014/main" id="{D6F620F3-D9F3-09D3-F61E-2E571F08FE28}"/>
              </a:ext>
            </a:extLst>
          </p:cNvPr>
          <p:cNvCxnSpPr/>
          <p:nvPr/>
        </p:nvCxnSpPr>
        <p:spPr>
          <a:xfrm>
            <a:off x="7717509" y="2072640"/>
            <a:ext cx="767874" cy="0"/>
          </a:xfrm>
          <a:prstGeom prst="straightConnector1">
            <a:avLst/>
          </a:prstGeom>
          <a:ln>
            <a:solidFill>
              <a:schemeClr val="bg1"/>
            </a:solidFill>
            <a:tailEnd type="triangle"/>
          </a:ln>
        </p:spPr>
        <p:style>
          <a:lnRef idx="3">
            <a:schemeClr val="accent1"/>
          </a:lnRef>
          <a:fillRef idx="0">
            <a:schemeClr val="accent1"/>
          </a:fillRef>
          <a:effectRef idx="2">
            <a:schemeClr val="accent1"/>
          </a:effectRef>
          <a:fontRef idx="minor">
            <a:schemeClr val="tx1"/>
          </a:fontRef>
        </p:style>
      </p:cxnSp>
      <p:cxnSp>
        <p:nvCxnSpPr>
          <p:cNvPr id="26" name="Conector recto de flecha 25">
            <a:extLst>
              <a:ext uri="{FF2B5EF4-FFF2-40B4-BE49-F238E27FC236}">
                <a16:creationId xmlns:a16="http://schemas.microsoft.com/office/drawing/2014/main" id="{931F7E36-582F-78BE-5C3A-D94BD2C6C762}"/>
              </a:ext>
            </a:extLst>
          </p:cNvPr>
          <p:cNvCxnSpPr>
            <a:cxnSpLocks/>
          </p:cNvCxnSpPr>
          <p:nvPr/>
        </p:nvCxnSpPr>
        <p:spPr>
          <a:xfrm flipH="1">
            <a:off x="7717509" y="2425946"/>
            <a:ext cx="707154" cy="0"/>
          </a:xfrm>
          <a:prstGeom prst="straightConnector1">
            <a:avLst/>
          </a:prstGeom>
          <a:ln>
            <a:solidFill>
              <a:schemeClr val="bg1"/>
            </a:solidFill>
            <a:tailEnd type="triangle"/>
          </a:ln>
        </p:spPr>
        <p:style>
          <a:lnRef idx="3">
            <a:schemeClr val="accent1"/>
          </a:lnRef>
          <a:fillRef idx="0">
            <a:schemeClr val="accent1"/>
          </a:fillRef>
          <a:effectRef idx="2">
            <a:schemeClr val="accent1"/>
          </a:effectRef>
          <a:fontRef idx="minor">
            <a:schemeClr val="tx1"/>
          </a:fontRef>
        </p:style>
      </p:cxnSp>
      <p:pic>
        <p:nvPicPr>
          <p:cNvPr id="4" name="Imagen 3" descr="Orquestación y gestión de redes: Diferencias clave | Digi International">
            <a:extLst>
              <a:ext uri="{FF2B5EF4-FFF2-40B4-BE49-F238E27FC236}">
                <a16:creationId xmlns:a16="http://schemas.microsoft.com/office/drawing/2014/main" id="{75DE7F12-C5C1-1201-0696-2AF6257C3937}"/>
              </a:ext>
            </a:extLst>
          </p:cNvPr>
          <p:cNvPicPr>
            <a:picLocks noChangeAspect="1"/>
          </p:cNvPicPr>
          <p:nvPr/>
        </p:nvPicPr>
        <p:blipFill>
          <a:blip/>
          <a:stretch>
            <a:fillRect/>
          </a:stretch>
        </p:blipFill>
        <p:spPr>
          <a:xfrm>
            <a:off x="8846820" y="1112924"/>
            <a:ext cx="2992281" cy="2255564"/>
          </a:xfrm>
          <a:prstGeom prst="rect">
            <a:avLst/>
          </a:prstGeom>
        </p:spPr>
      </p:pic>
      <p:sp>
        <p:nvSpPr>
          <p:cNvPr id="5" name="CuadroTexto 4">
            <a:extLst>
              <a:ext uri="{FF2B5EF4-FFF2-40B4-BE49-F238E27FC236}">
                <a16:creationId xmlns:a16="http://schemas.microsoft.com/office/drawing/2014/main" id="{3CAD46F2-8029-5A91-14E2-0CA6628A1211}"/>
              </a:ext>
            </a:extLst>
          </p:cNvPr>
          <p:cNvSpPr txBox="1"/>
          <p:nvPr/>
        </p:nvSpPr>
        <p:spPr>
          <a:xfrm>
            <a:off x="183861" y="3025536"/>
            <a:ext cx="4022379" cy="461665"/>
          </a:xfrm>
          <a:prstGeom prst="rect">
            <a:avLst/>
          </a:prstGeom>
          <a:noFill/>
        </p:spPr>
        <p:txBody>
          <a:bodyPr wrap="square" rtlCol="0">
            <a:spAutoFit/>
          </a:bodyPr>
          <a:lstStyle/>
          <a:p>
            <a:r>
              <a:rPr lang="es-PE" sz="1200" dirty="0">
                <a:solidFill>
                  <a:schemeClr val="bg1"/>
                </a:solidFill>
              </a:rPr>
              <a:t>MANO se divide en tres subsecciones:</a:t>
            </a:r>
          </a:p>
          <a:p>
            <a:endParaRPr lang="es-PE" sz="1200" dirty="0"/>
          </a:p>
        </p:txBody>
      </p:sp>
      <p:sp>
        <p:nvSpPr>
          <p:cNvPr id="8" name="CuadroTexto 7">
            <a:extLst>
              <a:ext uri="{FF2B5EF4-FFF2-40B4-BE49-F238E27FC236}">
                <a16:creationId xmlns:a16="http://schemas.microsoft.com/office/drawing/2014/main" id="{2310DF43-F296-B716-650A-CEECC0B5EE2D}"/>
              </a:ext>
            </a:extLst>
          </p:cNvPr>
          <p:cNvSpPr txBox="1"/>
          <p:nvPr/>
        </p:nvSpPr>
        <p:spPr>
          <a:xfrm>
            <a:off x="183861" y="3733562"/>
            <a:ext cx="3687099" cy="2123658"/>
          </a:xfrm>
          <a:prstGeom prst="rect">
            <a:avLst/>
          </a:prstGeom>
          <a:noFill/>
        </p:spPr>
        <p:txBody>
          <a:bodyPr wrap="square" rtlCol="0">
            <a:spAutoFit/>
          </a:bodyPr>
          <a:lstStyle/>
          <a:p>
            <a:r>
              <a:rPr lang="es-PE" sz="1600" dirty="0">
                <a:solidFill>
                  <a:schemeClr val="bg1"/>
                </a:solidFill>
              </a:rPr>
              <a:t>1.- Orquestación de NFV: Utiliza tecnologías de virtualización para implementar nuevas funciones de red y suministrar recursos a las VNF existentes. La orquestación de NFV también sirve para autenticar las solicitudes de recursos NFVI.</a:t>
            </a:r>
          </a:p>
          <a:p>
            <a:endParaRPr lang="es-PE" dirty="0"/>
          </a:p>
        </p:txBody>
      </p:sp>
      <p:sp>
        <p:nvSpPr>
          <p:cNvPr id="13" name="CuadroTexto 12">
            <a:extLst>
              <a:ext uri="{FF2B5EF4-FFF2-40B4-BE49-F238E27FC236}">
                <a16:creationId xmlns:a16="http://schemas.microsoft.com/office/drawing/2014/main" id="{4DE01BFC-33F8-8A8E-A0EA-DAC45F7AC948}"/>
              </a:ext>
            </a:extLst>
          </p:cNvPr>
          <p:cNvSpPr txBox="1"/>
          <p:nvPr/>
        </p:nvSpPr>
        <p:spPr>
          <a:xfrm>
            <a:off x="4390101" y="3579569"/>
            <a:ext cx="3687099" cy="3323987"/>
          </a:xfrm>
          <a:prstGeom prst="rect">
            <a:avLst/>
          </a:prstGeom>
          <a:noFill/>
        </p:spPr>
        <p:txBody>
          <a:bodyPr wrap="square" rtlCol="0">
            <a:spAutoFit/>
          </a:bodyPr>
          <a:lstStyle/>
          <a:p>
            <a:r>
              <a:rPr lang="es-PE" sz="1600" dirty="0">
                <a:solidFill>
                  <a:schemeClr val="bg1"/>
                </a:solidFill>
                <a:latin typeface="Book Antiqua" panose="02040602050305030304" pitchFamily="18" charset="0"/>
              </a:rPr>
              <a:t>2.-</a:t>
            </a:r>
            <a:r>
              <a:rPr lang="es-PE" sz="1600" i="1" dirty="0">
                <a:solidFill>
                  <a:schemeClr val="bg1"/>
                </a:solidFill>
                <a:latin typeface="Book Antiqua" panose="02040602050305030304" pitchFamily="18" charset="0"/>
              </a:rPr>
              <a:t> </a:t>
            </a:r>
            <a:r>
              <a:rPr lang="es-PE" sz="1600" dirty="0">
                <a:solidFill>
                  <a:schemeClr val="bg1"/>
                </a:solidFill>
                <a:latin typeface="Book Antiqua" panose="02040602050305030304" pitchFamily="18" charset="0"/>
              </a:rPr>
              <a:t>Gestor de infraestructuras virtualizadas (VIM): Optimiza el ciclo de vida del software, los recursos virtuales y la red física. Las instancias VIM pueden gestionar múltiples recursos NFVI o especializarse en un aspecto concreto según sea necesario. Un VIM mantiene un registro de recursos virtuales y físicos que permite a los operadores de red mantener las operaciones e implementar nuevos servicios.</a:t>
            </a:r>
          </a:p>
          <a:p>
            <a:endParaRPr lang="es-PE" dirty="0"/>
          </a:p>
        </p:txBody>
      </p:sp>
      <p:sp>
        <p:nvSpPr>
          <p:cNvPr id="16" name="CuadroTexto 15">
            <a:extLst>
              <a:ext uri="{FF2B5EF4-FFF2-40B4-BE49-F238E27FC236}">
                <a16:creationId xmlns:a16="http://schemas.microsoft.com/office/drawing/2014/main" id="{A5FC8FED-A070-E1E4-5DC7-A4E3E94F1887}"/>
              </a:ext>
            </a:extLst>
          </p:cNvPr>
          <p:cNvSpPr txBox="1"/>
          <p:nvPr/>
        </p:nvSpPr>
        <p:spPr>
          <a:xfrm>
            <a:off x="8938750" y="3702679"/>
            <a:ext cx="3161319" cy="3077766"/>
          </a:xfrm>
          <a:prstGeom prst="rect">
            <a:avLst/>
          </a:prstGeom>
          <a:noFill/>
        </p:spPr>
        <p:txBody>
          <a:bodyPr wrap="square" rtlCol="0">
            <a:spAutoFit/>
          </a:bodyPr>
          <a:lstStyle/>
          <a:p>
            <a:r>
              <a:rPr lang="es-PE" sz="1600" dirty="0">
                <a:solidFill>
                  <a:schemeClr val="bg1"/>
                </a:solidFill>
                <a:latin typeface="Book Antiqua" panose="02040602050305030304" pitchFamily="18" charset="0"/>
              </a:rPr>
              <a:t>3.- Gestor de funciones de red virtualizada: Estandariza las funciones de red virtual y aumenta la interoperabilidad de las características de red definida por software (SDN). La gestión de VNF incluye la instanciación o creación de instancias, el escalado, la actualización y la terminación de funciones de red virtualizadas.</a:t>
            </a:r>
          </a:p>
          <a:p>
            <a:endParaRPr lang="es-PE" dirty="0"/>
          </a:p>
        </p:txBody>
      </p:sp>
      <p:cxnSp>
        <p:nvCxnSpPr>
          <p:cNvPr id="24" name="Conector recto 23">
            <a:extLst>
              <a:ext uri="{FF2B5EF4-FFF2-40B4-BE49-F238E27FC236}">
                <a16:creationId xmlns:a16="http://schemas.microsoft.com/office/drawing/2014/main" id="{50CD49EA-01C3-904F-47A4-F59AA184D0C1}"/>
              </a:ext>
            </a:extLst>
          </p:cNvPr>
          <p:cNvCxnSpPr/>
          <p:nvPr/>
        </p:nvCxnSpPr>
        <p:spPr>
          <a:xfrm>
            <a:off x="4053840" y="3702679"/>
            <a:ext cx="0" cy="2743841"/>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25" name="Conector recto 24">
            <a:extLst>
              <a:ext uri="{FF2B5EF4-FFF2-40B4-BE49-F238E27FC236}">
                <a16:creationId xmlns:a16="http://schemas.microsoft.com/office/drawing/2014/main" id="{554DF2E5-D63E-69D3-B0F0-2E629DAD8F98}"/>
              </a:ext>
            </a:extLst>
          </p:cNvPr>
          <p:cNvCxnSpPr/>
          <p:nvPr/>
        </p:nvCxnSpPr>
        <p:spPr>
          <a:xfrm>
            <a:off x="8485383" y="3788910"/>
            <a:ext cx="0" cy="2743841"/>
          </a:xfrm>
          <a:prstGeom prst="line">
            <a:avLst/>
          </a:prstGeom>
          <a:ln>
            <a:solidFill>
              <a:schemeClr val="bg1"/>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817321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1039F-6368-3752-57F1-EF0786E9C4BD}"/>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EE5E66CF-A781-EF1E-7486-F8F011F12E47}"/>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1F9DF344-4A36-7E77-6B2D-611906A2F4E1}"/>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0" y="-6014433"/>
            <a:ext cx="12192000" cy="12872433"/>
          </a:xfrm>
          <a:prstGeom prst="rect">
            <a:avLst/>
          </a:prstGeom>
        </p:spPr>
      </p:pic>
      <p:sp>
        <p:nvSpPr>
          <p:cNvPr id="10" name="CuadroTexto 9">
            <a:extLst>
              <a:ext uri="{FF2B5EF4-FFF2-40B4-BE49-F238E27FC236}">
                <a16:creationId xmlns:a16="http://schemas.microsoft.com/office/drawing/2014/main" id="{B457BD34-68AC-3B0A-F168-5A9A3C9A8119}"/>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C287C7EC-241A-F71F-4DB6-F62DD36D9A97}"/>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1A3F210F-1591-1B1F-B884-96771EF9AC2F}"/>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sp>
        <p:nvSpPr>
          <p:cNvPr id="15" name="CuadroTexto 14">
            <a:extLst>
              <a:ext uri="{FF2B5EF4-FFF2-40B4-BE49-F238E27FC236}">
                <a16:creationId xmlns:a16="http://schemas.microsoft.com/office/drawing/2014/main" id="{E3F889FA-5F37-9068-F140-B71D7459876D}"/>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sp>
        <p:nvSpPr>
          <p:cNvPr id="17" name="CuadroTexto 16">
            <a:extLst>
              <a:ext uri="{FF2B5EF4-FFF2-40B4-BE49-F238E27FC236}">
                <a16:creationId xmlns:a16="http://schemas.microsoft.com/office/drawing/2014/main" id="{1071BB0D-8C59-BAA1-1016-B2C9C470DCFD}"/>
              </a:ext>
            </a:extLst>
          </p:cNvPr>
          <p:cNvSpPr txBox="1"/>
          <p:nvPr/>
        </p:nvSpPr>
        <p:spPr>
          <a:xfrm>
            <a:off x="945861" y="-360113"/>
            <a:ext cx="11246139" cy="923330"/>
          </a:xfrm>
          <a:prstGeom prst="rect">
            <a:avLst/>
          </a:prstGeom>
          <a:noFill/>
        </p:spPr>
        <p:txBody>
          <a:bodyPr wrap="square" rtlCol="0">
            <a:spAutoFit/>
          </a:bodyPr>
          <a:lstStyle/>
          <a:p>
            <a:r>
              <a:rPr lang="es-PE" sz="5400" b="1" dirty="0">
                <a:solidFill>
                  <a:schemeClr val="bg1"/>
                </a:solidFill>
                <a:latin typeface="Aharoni" panose="02010803020104030203" pitchFamily="2" charset="-79"/>
                <a:cs typeface="Aharoni" panose="02010803020104030203" pitchFamily="2" charset="-79"/>
              </a:rPr>
              <a:t> LOS BENEFICIOS:</a:t>
            </a:r>
            <a:endParaRPr lang="es-PE" sz="8000" dirty="0">
              <a:solidFill>
                <a:schemeClr val="bg1"/>
              </a:solidFill>
              <a:latin typeface="Aharoni" panose="02010803020104030203" pitchFamily="2" charset="-79"/>
              <a:cs typeface="Aharoni" panose="02010803020104030203" pitchFamily="2" charset="-79"/>
            </a:endParaRPr>
          </a:p>
        </p:txBody>
      </p:sp>
      <p:pic>
        <p:nvPicPr>
          <p:cNvPr id="19" name="Gráfico 18" descr="Nube con relleno sólido">
            <a:extLst>
              <a:ext uri="{FF2B5EF4-FFF2-40B4-BE49-F238E27FC236}">
                <a16:creationId xmlns:a16="http://schemas.microsoft.com/office/drawing/2014/main" id="{E213E45A-56A7-2718-3438-E0565950B93B}"/>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183861" y="-242279"/>
            <a:ext cx="914400" cy="914400"/>
          </a:xfrm>
          <a:prstGeom prst="rect">
            <a:avLst/>
          </a:prstGeom>
        </p:spPr>
      </p:pic>
      <p:sp>
        <p:nvSpPr>
          <p:cNvPr id="7" name="CuadroTexto 6">
            <a:extLst>
              <a:ext uri="{FF2B5EF4-FFF2-40B4-BE49-F238E27FC236}">
                <a16:creationId xmlns:a16="http://schemas.microsoft.com/office/drawing/2014/main" id="{B44998C0-BC58-9728-BE9C-AB1C82383894}"/>
              </a:ext>
            </a:extLst>
          </p:cNvPr>
          <p:cNvSpPr txBox="1"/>
          <p:nvPr/>
        </p:nvSpPr>
        <p:spPr>
          <a:xfrm>
            <a:off x="473421" y="1141255"/>
            <a:ext cx="7228848" cy="3385542"/>
          </a:xfrm>
          <a:prstGeom prst="rect">
            <a:avLst/>
          </a:prstGeom>
          <a:noFill/>
        </p:spPr>
        <p:txBody>
          <a:bodyPr wrap="square" rtlCol="0">
            <a:spAutoFit/>
          </a:bodyPr>
          <a:lstStyle/>
          <a:p>
            <a:r>
              <a:rPr lang="es-PE" sz="2000" b="1" dirty="0">
                <a:solidFill>
                  <a:schemeClr val="bg1"/>
                </a:solidFill>
              </a:rPr>
              <a:t>3.- Beneficios de NFV:</a:t>
            </a:r>
          </a:p>
          <a:p>
            <a:endParaRPr lang="es-PE" sz="2000" dirty="0">
              <a:solidFill>
                <a:schemeClr val="bg1"/>
              </a:solidFill>
            </a:endParaRPr>
          </a:p>
          <a:p>
            <a:pPr marL="342900" indent="-342900">
              <a:buFontTx/>
              <a:buChar char="-"/>
            </a:pPr>
            <a:r>
              <a:rPr lang="es-PE" sz="2000" dirty="0">
                <a:solidFill>
                  <a:schemeClr val="bg1"/>
                </a:solidFill>
              </a:rPr>
              <a:t>Reducción de costos.</a:t>
            </a:r>
          </a:p>
          <a:p>
            <a:pPr marL="342900" indent="-342900">
              <a:buFontTx/>
              <a:buChar char="-"/>
            </a:pPr>
            <a:endParaRPr lang="es-PE" sz="2000" dirty="0">
              <a:solidFill>
                <a:schemeClr val="bg1"/>
              </a:solidFill>
            </a:endParaRPr>
          </a:p>
          <a:p>
            <a:pPr marL="342900" indent="-342900">
              <a:buFontTx/>
              <a:buChar char="-"/>
            </a:pPr>
            <a:endParaRPr lang="es-PE" sz="2000" dirty="0">
              <a:solidFill>
                <a:schemeClr val="bg1"/>
              </a:solidFill>
            </a:endParaRPr>
          </a:p>
          <a:p>
            <a:pPr marL="342900" indent="-342900">
              <a:buFontTx/>
              <a:buChar char="-"/>
            </a:pPr>
            <a:r>
              <a:rPr lang="es-PE" sz="2000" dirty="0">
                <a:solidFill>
                  <a:schemeClr val="bg1"/>
                </a:solidFill>
              </a:rPr>
              <a:t>Escalabilidad.</a:t>
            </a:r>
          </a:p>
          <a:p>
            <a:pPr marL="342900" indent="-342900">
              <a:buFontTx/>
              <a:buChar char="-"/>
            </a:pPr>
            <a:endParaRPr lang="es-PE" sz="2000" dirty="0">
              <a:solidFill>
                <a:schemeClr val="bg1"/>
              </a:solidFill>
            </a:endParaRPr>
          </a:p>
          <a:p>
            <a:pPr marL="342900" indent="-342900">
              <a:buFontTx/>
              <a:buChar char="-"/>
            </a:pPr>
            <a:endParaRPr lang="es-PE" sz="2000" dirty="0">
              <a:solidFill>
                <a:schemeClr val="bg1"/>
              </a:solidFill>
            </a:endParaRPr>
          </a:p>
          <a:p>
            <a:pPr marL="342900" indent="-342900">
              <a:buFontTx/>
              <a:buChar char="-"/>
            </a:pPr>
            <a:endParaRPr lang="es-PE" sz="2000" dirty="0">
              <a:solidFill>
                <a:schemeClr val="bg1"/>
              </a:solidFill>
            </a:endParaRPr>
          </a:p>
          <a:p>
            <a:r>
              <a:rPr lang="es-PE" sz="2000" dirty="0">
                <a:solidFill>
                  <a:schemeClr val="bg1"/>
                </a:solidFill>
              </a:rPr>
              <a:t>- Implementación más rápida</a:t>
            </a:r>
          </a:p>
          <a:p>
            <a:pPr marL="285750" indent="-285750">
              <a:buFont typeface="Wingdings" panose="05000000000000000000" pitchFamily="2" charset="2"/>
              <a:buChar char="v"/>
            </a:pPr>
            <a:endParaRPr lang="es-PE" sz="1400" dirty="0">
              <a:solidFill>
                <a:schemeClr val="bg1"/>
              </a:solidFill>
            </a:endParaRPr>
          </a:p>
        </p:txBody>
      </p:sp>
      <p:pic>
        <p:nvPicPr>
          <p:cNvPr id="2" name="Imagen 1" descr="What Is Network Functions Virtualization (NFV) – Infratech">
            <a:extLst>
              <a:ext uri="{FF2B5EF4-FFF2-40B4-BE49-F238E27FC236}">
                <a16:creationId xmlns:a16="http://schemas.microsoft.com/office/drawing/2014/main" id="{A332A32E-0B30-B045-3FEF-E81AF5879C02}"/>
              </a:ext>
            </a:extLst>
          </p:cNvPr>
          <p:cNvPicPr>
            <a:picLocks noChangeAspect="1"/>
          </p:cNvPicPr>
          <p:nvPr/>
        </p:nvPicPr>
        <p:blipFill>
          <a:blip/>
          <a:stretch>
            <a:fillRect/>
          </a:stretch>
        </p:blipFill>
        <p:spPr>
          <a:xfrm>
            <a:off x="5384316" y="1413295"/>
            <a:ext cx="6502884" cy="3353057"/>
          </a:xfrm>
          <a:prstGeom prst="rect">
            <a:avLst/>
          </a:prstGeom>
        </p:spPr>
      </p:pic>
    </p:spTree>
    <p:extLst>
      <p:ext uri="{BB962C8B-B14F-4D97-AF65-F5344CB8AC3E}">
        <p14:creationId xmlns:p14="http://schemas.microsoft.com/office/powerpoint/2010/main" val="15948945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D668C-B17B-9C0A-F662-63A5A3AFF79E}"/>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DF0EECD8-8C17-F355-653E-E6FBECA0770B}"/>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61C52223-93DF-E0CF-392A-0162537A31A9}"/>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0" y="-6014433"/>
            <a:ext cx="12192000" cy="12872433"/>
          </a:xfrm>
          <a:prstGeom prst="rect">
            <a:avLst/>
          </a:prstGeom>
        </p:spPr>
      </p:pic>
      <p:sp>
        <p:nvSpPr>
          <p:cNvPr id="10" name="CuadroTexto 9">
            <a:extLst>
              <a:ext uri="{FF2B5EF4-FFF2-40B4-BE49-F238E27FC236}">
                <a16:creationId xmlns:a16="http://schemas.microsoft.com/office/drawing/2014/main" id="{60570F26-37DF-FD47-19A2-A1012A8707E2}"/>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B24BA6E1-8855-3E16-8E6B-A852C1EFC75D}"/>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9E194C1C-7A5E-6C8C-7B55-F3452EDD1E5E}"/>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sp>
        <p:nvSpPr>
          <p:cNvPr id="15" name="CuadroTexto 14">
            <a:extLst>
              <a:ext uri="{FF2B5EF4-FFF2-40B4-BE49-F238E27FC236}">
                <a16:creationId xmlns:a16="http://schemas.microsoft.com/office/drawing/2014/main" id="{4C2ADFCD-187A-13B7-DE18-5618B713FA40}"/>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sp>
        <p:nvSpPr>
          <p:cNvPr id="17" name="CuadroTexto 16">
            <a:extLst>
              <a:ext uri="{FF2B5EF4-FFF2-40B4-BE49-F238E27FC236}">
                <a16:creationId xmlns:a16="http://schemas.microsoft.com/office/drawing/2014/main" id="{36C1A2EB-DCEF-5DD0-1722-5FB2494FD814}"/>
              </a:ext>
            </a:extLst>
          </p:cNvPr>
          <p:cNvSpPr txBox="1"/>
          <p:nvPr/>
        </p:nvSpPr>
        <p:spPr>
          <a:xfrm>
            <a:off x="945861" y="-60960"/>
            <a:ext cx="11246139" cy="2800767"/>
          </a:xfrm>
          <a:prstGeom prst="rect">
            <a:avLst/>
          </a:prstGeom>
          <a:noFill/>
        </p:spPr>
        <p:txBody>
          <a:bodyPr wrap="square" rtlCol="0">
            <a:spAutoFit/>
          </a:bodyPr>
          <a:lstStyle/>
          <a:p>
            <a:r>
              <a:rPr lang="es-PE" sz="4800" b="1" dirty="0">
                <a:solidFill>
                  <a:schemeClr val="bg1"/>
                </a:solidFill>
                <a:latin typeface="Aharoni" panose="02010803020104030203" pitchFamily="2" charset="-79"/>
                <a:cs typeface="Aharoni" panose="02010803020104030203" pitchFamily="2" charset="-79"/>
              </a:rPr>
              <a:t> </a:t>
            </a:r>
            <a:r>
              <a:rPr lang="es-MX" sz="4800" b="1" dirty="0">
                <a:solidFill>
                  <a:schemeClr val="bg1"/>
                </a:solidFill>
                <a:latin typeface="Aharoni" panose="02010803020104030203" pitchFamily="2" charset="-79"/>
                <a:cs typeface="Aharoni" panose="02010803020104030203" pitchFamily="2" charset="-79"/>
              </a:rPr>
              <a:t>EVOLUCIÓN DEL CABLEADO ESTRUCTURADO DE CAT5E A CAT8</a:t>
            </a:r>
            <a:endParaRPr lang="es-PE" sz="4800" dirty="0">
              <a:solidFill>
                <a:schemeClr val="bg1"/>
              </a:solidFill>
              <a:latin typeface="Aharoni" panose="02010803020104030203" pitchFamily="2" charset="-79"/>
              <a:cs typeface="Aharoni" panose="02010803020104030203" pitchFamily="2" charset="-79"/>
            </a:endParaRPr>
          </a:p>
          <a:p>
            <a:endParaRPr lang="es-PE" sz="8000" dirty="0">
              <a:solidFill>
                <a:schemeClr val="bg1"/>
              </a:solidFill>
              <a:latin typeface="Aharoni" panose="02010803020104030203" pitchFamily="2" charset="-79"/>
              <a:cs typeface="Aharoni" panose="02010803020104030203" pitchFamily="2" charset="-79"/>
            </a:endParaRPr>
          </a:p>
        </p:txBody>
      </p:sp>
      <p:pic>
        <p:nvPicPr>
          <p:cNvPr id="19" name="Gráfico 18" descr="Nube con relleno sólido">
            <a:extLst>
              <a:ext uri="{FF2B5EF4-FFF2-40B4-BE49-F238E27FC236}">
                <a16:creationId xmlns:a16="http://schemas.microsoft.com/office/drawing/2014/main" id="{74FCBBE1-047C-1836-FDA4-2F2CE9CCF6D6}"/>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183861" y="-242279"/>
            <a:ext cx="914400" cy="914400"/>
          </a:xfrm>
          <a:prstGeom prst="rect">
            <a:avLst/>
          </a:prstGeom>
        </p:spPr>
      </p:pic>
      <p:sp>
        <p:nvSpPr>
          <p:cNvPr id="3" name="CuadroTexto 2">
            <a:extLst>
              <a:ext uri="{FF2B5EF4-FFF2-40B4-BE49-F238E27FC236}">
                <a16:creationId xmlns:a16="http://schemas.microsoft.com/office/drawing/2014/main" id="{4D384863-6B00-EAA3-71E1-3AC66BFAC609}"/>
              </a:ext>
            </a:extLst>
          </p:cNvPr>
          <p:cNvSpPr txBox="1"/>
          <p:nvPr/>
        </p:nvSpPr>
        <p:spPr>
          <a:xfrm>
            <a:off x="365760" y="1556041"/>
            <a:ext cx="7818120" cy="400110"/>
          </a:xfrm>
          <a:prstGeom prst="rect">
            <a:avLst/>
          </a:prstGeom>
          <a:noFill/>
        </p:spPr>
        <p:txBody>
          <a:bodyPr wrap="square" rtlCol="0">
            <a:spAutoFit/>
          </a:bodyPr>
          <a:lstStyle/>
          <a:p>
            <a:r>
              <a:rPr lang="es-MX" sz="2000" dirty="0">
                <a:solidFill>
                  <a:schemeClr val="bg1"/>
                </a:solidFill>
              </a:rPr>
              <a:t>Definición:</a:t>
            </a:r>
            <a:endParaRPr lang="es-PE" sz="2000" dirty="0">
              <a:solidFill>
                <a:schemeClr val="bg1"/>
              </a:solidFill>
            </a:endParaRPr>
          </a:p>
        </p:txBody>
      </p:sp>
      <p:sp>
        <p:nvSpPr>
          <p:cNvPr id="4" name="CuadroTexto 3">
            <a:extLst>
              <a:ext uri="{FF2B5EF4-FFF2-40B4-BE49-F238E27FC236}">
                <a16:creationId xmlns:a16="http://schemas.microsoft.com/office/drawing/2014/main" id="{CC85DEA1-7144-0493-6B03-F5E07527A1EA}"/>
              </a:ext>
            </a:extLst>
          </p:cNvPr>
          <p:cNvSpPr txBox="1"/>
          <p:nvPr/>
        </p:nvSpPr>
        <p:spPr>
          <a:xfrm>
            <a:off x="183861" y="1971490"/>
            <a:ext cx="8289579" cy="2215991"/>
          </a:xfrm>
          <a:prstGeom prst="rect">
            <a:avLst/>
          </a:prstGeom>
          <a:noFill/>
        </p:spPr>
        <p:txBody>
          <a:bodyPr wrap="square" rtlCol="0">
            <a:spAutoFit/>
          </a:bodyPr>
          <a:lstStyle/>
          <a:p>
            <a:r>
              <a:rPr lang="es-MX" sz="1200" b="1" dirty="0">
                <a:solidFill>
                  <a:schemeClr val="bg1"/>
                </a:solidFill>
                <a:latin typeface="Book Antiqua" panose="02040602050305030304" pitchFamily="18" charset="0"/>
              </a:rPr>
              <a:t>1.- </a:t>
            </a:r>
            <a:r>
              <a:rPr lang="es-PE" sz="1200" b="1" dirty="0">
                <a:solidFill>
                  <a:schemeClr val="bg1"/>
                </a:solidFill>
                <a:latin typeface="Book Antiqua" panose="02040602050305030304" pitchFamily="18" charset="0"/>
              </a:rPr>
              <a:t>Cable de red Cat5e (Clase D):</a:t>
            </a:r>
            <a:endParaRPr lang="es-PE" sz="1200" dirty="0">
              <a:solidFill>
                <a:schemeClr val="bg1"/>
              </a:solidFill>
              <a:latin typeface="Book Antiqua" panose="02040602050305030304" pitchFamily="18" charset="0"/>
            </a:endParaRPr>
          </a:p>
          <a:p>
            <a:r>
              <a:rPr lang="es-PE" sz="1200" dirty="0">
                <a:solidFill>
                  <a:schemeClr val="bg1"/>
                </a:solidFill>
                <a:latin typeface="Book Antiqua" panose="02040602050305030304" pitchFamily="18" charset="0"/>
              </a:rPr>
              <a:t>El cable Cat5e (Categoría 5 mejorada) es un cable de par trenzado muy utilizado en redes Ethernet antiguas y sistemas audiovisuales. Este cable supuso una mejora respecto al estándar Cat5 original, introducido a mediados de la década de 1990. El estándar original permitía velocidades de transmisión de datos de hasta 100 Mbps a una distancia de 100 metros. Sin embargo, con el aumento de la velocidad de las redes, se hizo necesario desarrollar una versión mejorada del cable que pudiera soportar velocidades de datos más rápidas y reducir la diafonía. </a:t>
            </a:r>
          </a:p>
          <a:p>
            <a:r>
              <a:rPr lang="es-PE" sz="1200" dirty="0">
                <a:solidFill>
                  <a:schemeClr val="bg1"/>
                </a:solidFill>
                <a:latin typeface="Book Antiqua" panose="02040602050305030304" pitchFamily="18" charset="0"/>
              </a:rPr>
              <a:t>En 2001, se introdujo el cable Cat5e con pares de cables trenzados más apretados. Este trenzado ayuda a reducir las interferencias y la diafonía entre los cables, lo que permite una frecuencia de funcionamiento de 100 MHz con velocidades de transmisión de datos de hasta 1 Gbps a una distancia de 100 metros. Esto hace que el Cat5e sea adecuado para la mayoría de las redes Ethernet . </a:t>
            </a:r>
          </a:p>
          <a:p>
            <a:endParaRPr lang="es-PE" dirty="0"/>
          </a:p>
        </p:txBody>
      </p:sp>
      <p:pic>
        <p:nvPicPr>
          <p:cNvPr id="5" name="Imagen 4" descr="Kxable Cable Ethernet Cat5e de 25 pies, cable de Internet Cat 5e, cable de  conexión azul sin enganches, flexible, red, LAN, PoE, conector RJ45  estándar para PC, servidor, enrutador, módem, TV, PS5 :">
            <a:extLst>
              <a:ext uri="{FF2B5EF4-FFF2-40B4-BE49-F238E27FC236}">
                <a16:creationId xmlns:a16="http://schemas.microsoft.com/office/drawing/2014/main" id="{39FB65A8-3CA4-5B19-2431-80177AD8B0AE}"/>
              </a:ext>
            </a:extLst>
          </p:cNvPr>
          <p:cNvPicPr>
            <a:picLocks noChangeAspect="1"/>
          </p:cNvPicPr>
          <p:nvPr/>
        </p:nvPicPr>
        <p:blipFill>
          <a:blip/>
          <a:stretch>
            <a:fillRect/>
          </a:stretch>
        </p:blipFill>
        <p:spPr>
          <a:xfrm>
            <a:off x="9419301" y="1815960"/>
            <a:ext cx="2498313" cy="2494733"/>
          </a:xfrm>
          <a:prstGeom prst="rect">
            <a:avLst/>
          </a:prstGeom>
        </p:spPr>
      </p:pic>
      <p:cxnSp>
        <p:nvCxnSpPr>
          <p:cNvPr id="13" name="Conector recto de flecha 12">
            <a:extLst>
              <a:ext uri="{FF2B5EF4-FFF2-40B4-BE49-F238E27FC236}">
                <a16:creationId xmlns:a16="http://schemas.microsoft.com/office/drawing/2014/main" id="{D17B25B4-B541-E0E9-87ED-331326CCEB3D}"/>
              </a:ext>
            </a:extLst>
          </p:cNvPr>
          <p:cNvCxnSpPr/>
          <p:nvPr/>
        </p:nvCxnSpPr>
        <p:spPr>
          <a:xfrm>
            <a:off x="8473440" y="2739807"/>
            <a:ext cx="67056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recto de flecha 13">
            <a:extLst>
              <a:ext uri="{FF2B5EF4-FFF2-40B4-BE49-F238E27FC236}">
                <a16:creationId xmlns:a16="http://schemas.microsoft.com/office/drawing/2014/main" id="{208CF2E3-75F4-1BBA-2641-B2436FCF9722}"/>
              </a:ext>
            </a:extLst>
          </p:cNvPr>
          <p:cNvCxnSpPr>
            <a:cxnSpLocks/>
          </p:cNvCxnSpPr>
          <p:nvPr/>
        </p:nvCxnSpPr>
        <p:spPr>
          <a:xfrm flipH="1">
            <a:off x="8473440" y="2922687"/>
            <a:ext cx="67056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pic>
        <p:nvPicPr>
          <p:cNvPr id="20" name="Imagen 19" descr="Cable de Red Cat 6E 30 Metros TRAUTECH Pach Cord UTP RJ45 Testeado">
            <a:extLst>
              <a:ext uri="{FF2B5EF4-FFF2-40B4-BE49-F238E27FC236}">
                <a16:creationId xmlns:a16="http://schemas.microsoft.com/office/drawing/2014/main" id="{DD655DB3-861F-67EE-FF01-DDEA0BD6F8C9}"/>
              </a:ext>
            </a:extLst>
          </p:cNvPr>
          <p:cNvPicPr>
            <a:picLocks noChangeAspect="1"/>
          </p:cNvPicPr>
          <p:nvPr/>
        </p:nvPicPr>
        <p:blipFill>
          <a:blip/>
          <a:stretch>
            <a:fillRect/>
          </a:stretch>
        </p:blipFill>
        <p:spPr>
          <a:xfrm>
            <a:off x="122901" y="4435135"/>
            <a:ext cx="1950720" cy="1950720"/>
          </a:xfrm>
          <a:prstGeom prst="rect">
            <a:avLst/>
          </a:prstGeom>
        </p:spPr>
      </p:pic>
      <p:sp>
        <p:nvSpPr>
          <p:cNvPr id="21" name="CuadroTexto 20">
            <a:extLst>
              <a:ext uri="{FF2B5EF4-FFF2-40B4-BE49-F238E27FC236}">
                <a16:creationId xmlns:a16="http://schemas.microsoft.com/office/drawing/2014/main" id="{7EA98811-1FD0-65FA-D1AB-3CE9BE9D9CEC}"/>
              </a:ext>
            </a:extLst>
          </p:cNvPr>
          <p:cNvSpPr txBox="1"/>
          <p:nvPr/>
        </p:nvSpPr>
        <p:spPr>
          <a:xfrm>
            <a:off x="3230880" y="4602480"/>
            <a:ext cx="8503920" cy="2092881"/>
          </a:xfrm>
          <a:prstGeom prst="rect">
            <a:avLst/>
          </a:prstGeom>
          <a:noFill/>
        </p:spPr>
        <p:txBody>
          <a:bodyPr wrap="square" rtlCol="0">
            <a:spAutoFit/>
          </a:bodyPr>
          <a:lstStyle/>
          <a:p>
            <a:r>
              <a:rPr lang="es-PE" sz="1600" b="1" dirty="0">
                <a:solidFill>
                  <a:schemeClr val="bg1"/>
                </a:solidFill>
                <a:latin typeface="Book Antiqua" panose="02040602050305030304" pitchFamily="18" charset="0"/>
              </a:rPr>
              <a:t>2.- Cable de red Cat6 (Clase E):</a:t>
            </a:r>
            <a:endParaRPr lang="es-PE" sz="1600" dirty="0">
              <a:solidFill>
                <a:schemeClr val="bg1"/>
              </a:solidFill>
              <a:latin typeface="Book Antiqua" panose="02040602050305030304" pitchFamily="18" charset="0"/>
            </a:endParaRPr>
          </a:p>
          <a:p>
            <a:r>
              <a:rPr lang="es-PE" sz="1600" dirty="0">
                <a:solidFill>
                  <a:schemeClr val="bg1"/>
                </a:solidFill>
                <a:latin typeface="Book Antiqua" panose="02040602050305030304" pitchFamily="18" charset="0"/>
              </a:rPr>
              <a:t>El cable Cat6, también conocido como cable Ethernet de categoría 6 o clase E, apareció en 2002 como una mejora respecto al estándar Cat5e anterior. Este cable está diseñado para soportar una frecuencia de funcionamiento de 250 MHz con velocidades de transmisión de datos de hasta 1 Gbps a una distancia de 100 metros, y una impresionante velocidad de 10 Gigabits por segundo (Gbps) a distancias de hasta 55 metros. Es la opción ideal para equipos de red de alta velocidad y otros dispositivos que requieren conexiones rápidas. </a:t>
            </a:r>
          </a:p>
          <a:p>
            <a:endParaRPr lang="es-PE" dirty="0"/>
          </a:p>
        </p:txBody>
      </p:sp>
      <p:cxnSp>
        <p:nvCxnSpPr>
          <p:cNvPr id="22" name="Conector recto de flecha 21">
            <a:extLst>
              <a:ext uri="{FF2B5EF4-FFF2-40B4-BE49-F238E27FC236}">
                <a16:creationId xmlns:a16="http://schemas.microsoft.com/office/drawing/2014/main" id="{0798C806-9494-1E82-E7F5-AF233155BF82}"/>
              </a:ext>
            </a:extLst>
          </p:cNvPr>
          <p:cNvCxnSpPr>
            <a:cxnSpLocks/>
          </p:cNvCxnSpPr>
          <p:nvPr/>
        </p:nvCxnSpPr>
        <p:spPr>
          <a:xfrm flipH="1">
            <a:off x="2377440" y="5010567"/>
            <a:ext cx="67056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ector recto de flecha 23">
            <a:extLst>
              <a:ext uri="{FF2B5EF4-FFF2-40B4-BE49-F238E27FC236}">
                <a16:creationId xmlns:a16="http://schemas.microsoft.com/office/drawing/2014/main" id="{C2F43940-B061-167E-B2C0-07016418B802}"/>
              </a:ext>
            </a:extLst>
          </p:cNvPr>
          <p:cNvCxnSpPr/>
          <p:nvPr/>
        </p:nvCxnSpPr>
        <p:spPr>
          <a:xfrm>
            <a:off x="2377440" y="5269647"/>
            <a:ext cx="67056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5" name="Estrella: 4 puntas 24">
            <a:extLst>
              <a:ext uri="{FF2B5EF4-FFF2-40B4-BE49-F238E27FC236}">
                <a16:creationId xmlns:a16="http://schemas.microsoft.com/office/drawing/2014/main" id="{86E952D2-6149-1F15-D0B3-EFA7D94DF41F}"/>
              </a:ext>
            </a:extLst>
          </p:cNvPr>
          <p:cNvSpPr/>
          <p:nvPr/>
        </p:nvSpPr>
        <p:spPr>
          <a:xfrm>
            <a:off x="7482840" y="4187481"/>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6" name="Estrella: 4 puntas 25">
            <a:extLst>
              <a:ext uri="{FF2B5EF4-FFF2-40B4-BE49-F238E27FC236}">
                <a16:creationId xmlns:a16="http://schemas.microsoft.com/office/drawing/2014/main" id="{A8DD204F-B212-0F18-F38C-4B94B0D52C49}"/>
              </a:ext>
            </a:extLst>
          </p:cNvPr>
          <p:cNvSpPr/>
          <p:nvPr/>
        </p:nvSpPr>
        <p:spPr>
          <a:xfrm>
            <a:off x="2727960" y="3994367"/>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7" name="Estrella: 4 puntas 26">
            <a:extLst>
              <a:ext uri="{FF2B5EF4-FFF2-40B4-BE49-F238E27FC236}">
                <a16:creationId xmlns:a16="http://schemas.microsoft.com/office/drawing/2014/main" id="{4D9D9357-BBB1-C99F-0DC2-62D52D643DB1}"/>
              </a:ext>
            </a:extLst>
          </p:cNvPr>
          <p:cNvSpPr/>
          <p:nvPr/>
        </p:nvSpPr>
        <p:spPr>
          <a:xfrm>
            <a:off x="11131839" y="244459"/>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5266157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E026C-B09F-7A8B-FB6E-2C3A858176F8}"/>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E3E4D46A-F67E-0544-BCD9-35CD7865E333}"/>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55495BE4-8199-9F9E-D3FE-E568D1F67DD5}"/>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0" y="-6014433"/>
            <a:ext cx="12192000" cy="12872433"/>
          </a:xfrm>
          <a:prstGeom prst="rect">
            <a:avLst/>
          </a:prstGeom>
        </p:spPr>
      </p:pic>
      <p:sp>
        <p:nvSpPr>
          <p:cNvPr id="10" name="CuadroTexto 9">
            <a:extLst>
              <a:ext uri="{FF2B5EF4-FFF2-40B4-BE49-F238E27FC236}">
                <a16:creationId xmlns:a16="http://schemas.microsoft.com/office/drawing/2014/main" id="{C59C22F7-BDB7-D6D4-E357-5AE41EE43E90}"/>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F2431192-CDAA-68B3-2EF3-DDE45E656E10}"/>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CF181CF7-2CA2-E069-E34A-1501CE0BFBAF}"/>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sp>
        <p:nvSpPr>
          <p:cNvPr id="15" name="CuadroTexto 14">
            <a:extLst>
              <a:ext uri="{FF2B5EF4-FFF2-40B4-BE49-F238E27FC236}">
                <a16:creationId xmlns:a16="http://schemas.microsoft.com/office/drawing/2014/main" id="{222D0F81-D03E-FF62-CFFA-B2ED2B053129}"/>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sp>
        <p:nvSpPr>
          <p:cNvPr id="17" name="CuadroTexto 16">
            <a:extLst>
              <a:ext uri="{FF2B5EF4-FFF2-40B4-BE49-F238E27FC236}">
                <a16:creationId xmlns:a16="http://schemas.microsoft.com/office/drawing/2014/main" id="{8371C3FB-EE8B-4AB2-F8CD-71BF96644C83}"/>
              </a:ext>
            </a:extLst>
          </p:cNvPr>
          <p:cNvSpPr txBox="1"/>
          <p:nvPr/>
        </p:nvSpPr>
        <p:spPr>
          <a:xfrm>
            <a:off x="945861" y="-60960"/>
            <a:ext cx="11246139" cy="2800767"/>
          </a:xfrm>
          <a:prstGeom prst="rect">
            <a:avLst/>
          </a:prstGeom>
          <a:noFill/>
        </p:spPr>
        <p:txBody>
          <a:bodyPr wrap="square" rtlCol="0">
            <a:spAutoFit/>
          </a:bodyPr>
          <a:lstStyle/>
          <a:p>
            <a:r>
              <a:rPr lang="es-PE" sz="4800" b="1" dirty="0">
                <a:solidFill>
                  <a:schemeClr val="bg1"/>
                </a:solidFill>
                <a:latin typeface="Aharoni" panose="02010803020104030203" pitchFamily="2" charset="-79"/>
                <a:cs typeface="Aharoni" panose="02010803020104030203" pitchFamily="2" charset="-79"/>
              </a:rPr>
              <a:t> </a:t>
            </a:r>
            <a:r>
              <a:rPr lang="es-MX" sz="4800" b="1" dirty="0">
                <a:solidFill>
                  <a:schemeClr val="bg1"/>
                </a:solidFill>
                <a:latin typeface="Aharoni" panose="02010803020104030203" pitchFamily="2" charset="-79"/>
                <a:cs typeface="Aharoni" panose="02010803020104030203" pitchFamily="2" charset="-79"/>
              </a:rPr>
              <a:t>EVOLUCIÓN DEL CABLEADO ESTRUCTURADO DE CAT5E A CAT8</a:t>
            </a:r>
            <a:endParaRPr lang="es-PE" sz="4800" dirty="0">
              <a:solidFill>
                <a:schemeClr val="bg1"/>
              </a:solidFill>
              <a:latin typeface="Aharoni" panose="02010803020104030203" pitchFamily="2" charset="-79"/>
              <a:cs typeface="Aharoni" panose="02010803020104030203" pitchFamily="2" charset="-79"/>
            </a:endParaRPr>
          </a:p>
          <a:p>
            <a:endParaRPr lang="es-PE" sz="8000" dirty="0">
              <a:solidFill>
                <a:schemeClr val="bg1"/>
              </a:solidFill>
              <a:latin typeface="Aharoni" panose="02010803020104030203" pitchFamily="2" charset="-79"/>
              <a:cs typeface="Aharoni" panose="02010803020104030203" pitchFamily="2" charset="-79"/>
            </a:endParaRPr>
          </a:p>
        </p:txBody>
      </p:sp>
      <p:pic>
        <p:nvPicPr>
          <p:cNvPr id="19" name="Gráfico 18" descr="Nube con relleno sólido">
            <a:extLst>
              <a:ext uri="{FF2B5EF4-FFF2-40B4-BE49-F238E27FC236}">
                <a16:creationId xmlns:a16="http://schemas.microsoft.com/office/drawing/2014/main" id="{DA822706-F079-A3D5-B76E-09188FCDA5F5}"/>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183861" y="-242279"/>
            <a:ext cx="914400" cy="914400"/>
          </a:xfrm>
          <a:prstGeom prst="rect">
            <a:avLst/>
          </a:prstGeom>
        </p:spPr>
      </p:pic>
      <p:sp>
        <p:nvSpPr>
          <p:cNvPr id="3" name="CuadroTexto 2">
            <a:extLst>
              <a:ext uri="{FF2B5EF4-FFF2-40B4-BE49-F238E27FC236}">
                <a16:creationId xmlns:a16="http://schemas.microsoft.com/office/drawing/2014/main" id="{528B5B2C-CFF3-2E26-B097-D0B09EA3AD71}"/>
              </a:ext>
            </a:extLst>
          </p:cNvPr>
          <p:cNvSpPr txBox="1"/>
          <p:nvPr/>
        </p:nvSpPr>
        <p:spPr>
          <a:xfrm>
            <a:off x="365760" y="1556041"/>
            <a:ext cx="7818120" cy="400110"/>
          </a:xfrm>
          <a:prstGeom prst="rect">
            <a:avLst/>
          </a:prstGeom>
          <a:noFill/>
        </p:spPr>
        <p:txBody>
          <a:bodyPr wrap="square" rtlCol="0">
            <a:spAutoFit/>
          </a:bodyPr>
          <a:lstStyle/>
          <a:p>
            <a:r>
              <a:rPr lang="es-MX" sz="2000" dirty="0">
                <a:solidFill>
                  <a:schemeClr val="bg1"/>
                </a:solidFill>
              </a:rPr>
              <a:t>Definición:</a:t>
            </a:r>
            <a:endParaRPr lang="es-PE" sz="2000" dirty="0">
              <a:solidFill>
                <a:schemeClr val="bg1"/>
              </a:solidFill>
            </a:endParaRPr>
          </a:p>
        </p:txBody>
      </p:sp>
      <p:sp>
        <p:nvSpPr>
          <p:cNvPr id="4" name="CuadroTexto 3">
            <a:extLst>
              <a:ext uri="{FF2B5EF4-FFF2-40B4-BE49-F238E27FC236}">
                <a16:creationId xmlns:a16="http://schemas.microsoft.com/office/drawing/2014/main" id="{89578FBE-7DF6-B4AA-D7DC-B3DAFC50FB4B}"/>
              </a:ext>
            </a:extLst>
          </p:cNvPr>
          <p:cNvSpPr txBox="1"/>
          <p:nvPr/>
        </p:nvSpPr>
        <p:spPr>
          <a:xfrm>
            <a:off x="183861" y="1971490"/>
            <a:ext cx="8289579" cy="1877437"/>
          </a:xfrm>
          <a:prstGeom prst="rect">
            <a:avLst/>
          </a:prstGeom>
          <a:noFill/>
        </p:spPr>
        <p:txBody>
          <a:bodyPr wrap="square" rtlCol="0">
            <a:spAutoFit/>
          </a:bodyPr>
          <a:lstStyle/>
          <a:p>
            <a:r>
              <a:rPr lang="es-PE" sz="1400" b="1" dirty="0">
                <a:solidFill>
                  <a:schemeClr val="bg1"/>
                </a:solidFill>
                <a:latin typeface="Book Antiqua" panose="02040602050305030304" pitchFamily="18" charset="0"/>
              </a:rPr>
              <a:t>3.- Cable de red Cat6A (Clase E A):</a:t>
            </a:r>
            <a:endParaRPr lang="es-PE" sz="1400" dirty="0">
              <a:solidFill>
                <a:schemeClr val="bg1"/>
              </a:solidFill>
              <a:latin typeface="Book Antiqua" panose="02040602050305030304" pitchFamily="18" charset="0"/>
            </a:endParaRPr>
          </a:p>
          <a:p>
            <a:r>
              <a:rPr lang="es-PE" sz="1400" dirty="0">
                <a:solidFill>
                  <a:schemeClr val="bg1"/>
                </a:solidFill>
                <a:latin typeface="Book Antiqua" panose="02040602050305030304" pitchFamily="18" charset="0"/>
              </a:rPr>
              <a:t>El siguiente nivel después del Cat6 es el cable Cat6A (Clase EA), que permite una frecuencia de operación de 500 MHz con velocidades de transmisión de datos de hasta 10 Gbps a una distancia de hasta 100 metros. Mientras que el Cat6 normalmente utiliza cables y conectores U/UTP sin blindaje para minimizar el costo y cumplir con los requisitos de rendimiento, el Cat6A suele aprovechar una construcción blindada para reducir la diafonía externa. Estos cables generalmente se construyen con F/UTP y U/FTP porque ofrecen el mejor rendimiento en relación con el costo de construcción. </a:t>
            </a:r>
          </a:p>
          <a:p>
            <a:endParaRPr lang="es-PE" dirty="0"/>
          </a:p>
        </p:txBody>
      </p:sp>
      <p:cxnSp>
        <p:nvCxnSpPr>
          <p:cNvPr id="13" name="Conector recto de flecha 12">
            <a:extLst>
              <a:ext uri="{FF2B5EF4-FFF2-40B4-BE49-F238E27FC236}">
                <a16:creationId xmlns:a16="http://schemas.microsoft.com/office/drawing/2014/main" id="{DA2D6528-43B7-6870-DC84-990E071B2330}"/>
              </a:ext>
            </a:extLst>
          </p:cNvPr>
          <p:cNvCxnSpPr/>
          <p:nvPr/>
        </p:nvCxnSpPr>
        <p:spPr>
          <a:xfrm>
            <a:off x="8473440" y="2739807"/>
            <a:ext cx="67056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recto de flecha 13">
            <a:extLst>
              <a:ext uri="{FF2B5EF4-FFF2-40B4-BE49-F238E27FC236}">
                <a16:creationId xmlns:a16="http://schemas.microsoft.com/office/drawing/2014/main" id="{B7976235-EF72-7F08-A57B-5B02FB478BC7}"/>
              </a:ext>
            </a:extLst>
          </p:cNvPr>
          <p:cNvCxnSpPr>
            <a:cxnSpLocks/>
          </p:cNvCxnSpPr>
          <p:nvPr/>
        </p:nvCxnSpPr>
        <p:spPr>
          <a:xfrm flipH="1">
            <a:off x="8473440" y="2922687"/>
            <a:ext cx="67056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1" name="CuadroTexto 20">
            <a:extLst>
              <a:ext uri="{FF2B5EF4-FFF2-40B4-BE49-F238E27FC236}">
                <a16:creationId xmlns:a16="http://schemas.microsoft.com/office/drawing/2014/main" id="{132A2D68-B946-7642-AF46-CC00A1E2BC6F}"/>
              </a:ext>
            </a:extLst>
          </p:cNvPr>
          <p:cNvSpPr txBox="1"/>
          <p:nvPr/>
        </p:nvSpPr>
        <p:spPr>
          <a:xfrm>
            <a:off x="3345180" y="3945463"/>
            <a:ext cx="8503920" cy="2739211"/>
          </a:xfrm>
          <a:prstGeom prst="rect">
            <a:avLst/>
          </a:prstGeom>
          <a:noFill/>
        </p:spPr>
        <p:txBody>
          <a:bodyPr wrap="square" rtlCol="0">
            <a:spAutoFit/>
          </a:bodyPr>
          <a:lstStyle/>
          <a:p>
            <a:r>
              <a:rPr lang="es-PE" sz="1400" b="1" dirty="0">
                <a:solidFill>
                  <a:schemeClr val="bg1"/>
                </a:solidFill>
                <a:latin typeface="Book Antiqua" panose="02040602050305030304" pitchFamily="18" charset="0"/>
              </a:rPr>
              <a:t>4.- Cable de red Cat7 y Cat7A (Clase F y FA):</a:t>
            </a:r>
            <a:endParaRPr lang="es-PE" sz="1400" dirty="0">
              <a:solidFill>
                <a:schemeClr val="bg1"/>
              </a:solidFill>
              <a:latin typeface="Book Antiqua" panose="02040602050305030304" pitchFamily="18" charset="0"/>
            </a:endParaRPr>
          </a:p>
          <a:p>
            <a:r>
              <a:rPr lang="es-PE" sz="1400" dirty="0">
                <a:solidFill>
                  <a:schemeClr val="bg1"/>
                </a:solidFill>
                <a:latin typeface="Book Antiqua" panose="02040602050305030304" pitchFamily="18" charset="0"/>
              </a:rPr>
              <a:t>Los orígenes de los cables Cat7 y Cat7A (Clase F y FA) se remontan a principios de la década de 2000, cuando el </a:t>
            </a:r>
            <a:r>
              <a:rPr lang="es-PE" sz="1400" dirty="0">
                <a:solidFill>
                  <a:schemeClr val="bg1"/>
                </a:solidFill>
                <a:latin typeface="Book Antiqua" panose="02040602050305030304" pitchFamily="18" charset="0"/>
                <a:hlinkClick r:id="rId2">
                  <a:extLst>
                    <a:ext uri="{A12FA001-AC4F-418D-AE19-62706E023703}">
                      <ahyp:hlinkClr xmlns:ahyp="http://schemas.microsoft.com/office/drawing/2018/hyperlinkcolor" val="tx"/>
                    </a:ext>
                  </a:extLst>
                </a:hlinkClick>
              </a:rPr>
              <a:t>Instituto de Ingenieros Eléctricos y Electrónicos</a:t>
            </a:r>
            <a:r>
              <a:rPr lang="es-PE" sz="1400" dirty="0">
                <a:solidFill>
                  <a:schemeClr val="bg1"/>
                </a:solidFill>
                <a:latin typeface="Book Antiqua" panose="02040602050305030304" pitchFamily="18" charset="0"/>
              </a:rPr>
              <a:t> (IEEE) comenzó a trabajar en un nuevo estándar para redes Ethernet de alta velocidad. Este estándar, denominado 10GBASE-T, fue diseñado para permitir velocidades de transferencia de datos de hasta 10 Gbps a través de cableado de cobre. </a:t>
            </a:r>
          </a:p>
          <a:p>
            <a:r>
              <a:rPr lang="es-PE" sz="1400" dirty="0">
                <a:solidFill>
                  <a:schemeClr val="bg1"/>
                </a:solidFill>
                <a:latin typeface="Book Antiqua" panose="02040602050305030304" pitchFamily="18" charset="0"/>
              </a:rPr>
              <a:t>Para alcanzar velocidades tan elevadas, el nuevo estándar requería un cable capaz de manejar frecuencias más altas y, al mismo tiempo, ofrecer un blindaje superior contra la diafonía y las interferencias electromagnéticas. Esto dio lugar al desarrollo del cable Cat7, que puede manejar frecuencias de hasta 600 MHz y ofrece una mayor protección contra interferencias que los estándares anteriores de cable Ethernet. En 2002, la ISO/IEC estandarizó oficialmente el cable Cat7 y, en 2010, el Cat7A, que desde entonces se han utilizado principalmente en entornos de redes de alta velocidad y centros de datos. </a:t>
            </a:r>
          </a:p>
          <a:p>
            <a:endParaRPr lang="es-PE" dirty="0"/>
          </a:p>
        </p:txBody>
      </p:sp>
      <p:cxnSp>
        <p:nvCxnSpPr>
          <p:cNvPr id="22" name="Conector recto de flecha 21">
            <a:extLst>
              <a:ext uri="{FF2B5EF4-FFF2-40B4-BE49-F238E27FC236}">
                <a16:creationId xmlns:a16="http://schemas.microsoft.com/office/drawing/2014/main" id="{D71AFD65-3DF4-B6E9-76BF-7D7E552EB67C}"/>
              </a:ext>
            </a:extLst>
          </p:cNvPr>
          <p:cNvCxnSpPr>
            <a:cxnSpLocks/>
          </p:cNvCxnSpPr>
          <p:nvPr/>
        </p:nvCxnSpPr>
        <p:spPr>
          <a:xfrm flipH="1">
            <a:off x="2377440" y="5010567"/>
            <a:ext cx="67056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ector recto de flecha 23">
            <a:extLst>
              <a:ext uri="{FF2B5EF4-FFF2-40B4-BE49-F238E27FC236}">
                <a16:creationId xmlns:a16="http://schemas.microsoft.com/office/drawing/2014/main" id="{F01A8D45-AEB7-EDAD-8F43-8D8695D8E072}"/>
              </a:ext>
            </a:extLst>
          </p:cNvPr>
          <p:cNvCxnSpPr/>
          <p:nvPr/>
        </p:nvCxnSpPr>
        <p:spPr>
          <a:xfrm>
            <a:off x="2377440" y="5269647"/>
            <a:ext cx="67056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5" name="Estrella: 4 puntas 24">
            <a:extLst>
              <a:ext uri="{FF2B5EF4-FFF2-40B4-BE49-F238E27FC236}">
                <a16:creationId xmlns:a16="http://schemas.microsoft.com/office/drawing/2014/main" id="{36C06133-A4D7-9415-B3E9-26095DA3A02D}"/>
              </a:ext>
            </a:extLst>
          </p:cNvPr>
          <p:cNvSpPr/>
          <p:nvPr/>
        </p:nvSpPr>
        <p:spPr>
          <a:xfrm>
            <a:off x="8587740" y="3638757"/>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6" name="Estrella: 4 puntas 25">
            <a:extLst>
              <a:ext uri="{FF2B5EF4-FFF2-40B4-BE49-F238E27FC236}">
                <a16:creationId xmlns:a16="http://schemas.microsoft.com/office/drawing/2014/main" id="{A25ECDAF-CF4E-DD7E-68AC-C0DC5A70DC15}"/>
              </a:ext>
            </a:extLst>
          </p:cNvPr>
          <p:cNvSpPr/>
          <p:nvPr/>
        </p:nvSpPr>
        <p:spPr>
          <a:xfrm>
            <a:off x="2727960" y="3994367"/>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7" name="Estrella: 4 puntas 26">
            <a:extLst>
              <a:ext uri="{FF2B5EF4-FFF2-40B4-BE49-F238E27FC236}">
                <a16:creationId xmlns:a16="http://schemas.microsoft.com/office/drawing/2014/main" id="{2C100A40-326C-F0FC-39D4-8D9CDB35A46C}"/>
              </a:ext>
            </a:extLst>
          </p:cNvPr>
          <p:cNvSpPr/>
          <p:nvPr/>
        </p:nvSpPr>
        <p:spPr>
          <a:xfrm>
            <a:off x="11131839" y="244459"/>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2" name="Imagen 1" descr="Cable de 2m de Red Ethernet RJ45 Cat6a Blindado STP - Cable sin Enganche  Snagless - Azul">
            <a:extLst>
              <a:ext uri="{FF2B5EF4-FFF2-40B4-BE49-F238E27FC236}">
                <a16:creationId xmlns:a16="http://schemas.microsoft.com/office/drawing/2014/main" id="{1EC7FA96-50B7-F12E-C6EF-423AD29CF7C4}"/>
              </a:ext>
            </a:extLst>
          </p:cNvPr>
          <p:cNvPicPr>
            <a:picLocks noChangeAspect="1"/>
          </p:cNvPicPr>
          <p:nvPr/>
        </p:nvPicPr>
        <p:blipFill>
          <a:blip/>
          <a:stretch>
            <a:fillRect/>
          </a:stretch>
        </p:blipFill>
        <p:spPr>
          <a:xfrm>
            <a:off x="9692640" y="1872824"/>
            <a:ext cx="1889760" cy="1889760"/>
          </a:xfrm>
          <a:prstGeom prst="rect">
            <a:avLst/>
          </a:prstGeom>
        </p:spPr>
      </p:pic>
      <p:pic>
        <p:nvPicPr>
          <p:cNvPr id="7" name="Imagen 6" descr="Cable de Red Cat 7 Netcom Rj45 10 Gbps 80 Metros Patch Cord 100% Cobre">
            <a:extLst>
              <a:ext uri="{FF2B5EF4-FFF2-40B4-BE49-F238E27FC236}">
                <a16:creationId xmlns:a16="http://schemas.microsoft.com/office/drawing/2014/main" id="{7DC2A4A1-203B-535C-DAEF-4C8080212B37}"/>
              </a:ext>
            </a:extLst>
          </p:cNvPr>
          <p:cNvPicPr>
            <a:picLocks noChangeAspect="1"/>
          </p:cNvPicPr>
          <p:nvPr/>
        </p:nvPicPr>
        <p:blipFill>
          <a:blip/>
          <a:stretch>
            <a:fillRect/>
          </a:stretch>
        </p:blipFill>
        <p:spPr>
          <a:xfrm>
            <a:off x="130733" y="4118194"/>
            <a:ext cx="1990565" cy="1990565"/>
          </a:xfrm>
          <a:prstGeom prst="rect">
            <a:avLst/>
          </a:prstGeom>
        </p:spPr>
      </p:pic>
    </p:spTree>
    <p:extLst>
      <p:ext uri="{BB962C8B-B14F-4D97-AF65-F5344CB8AC3E}">
        <p14:creationId xmlns:p14="http://schemas.microsoft.com/office/powerpoint/2010/main" val="1741663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5CFA5-9119-8AFA-6666-F52410A56FF7}"/>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52B4AFF1-8C7C-A74D-E263-7F63D21AC877}"/>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0268066E-24E6-7165-B3D2-526E2F733B97}"/>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0" y="-6014433"/>
            <a:ext cx="12192000" cy="12872433"/>
          </a:xfrm>
          <a:prstGeom prst="rect">
            <a:avLst/>
          </a:prstGeom>
        </p:spPr>
      </p:pic>
      <p:sp>
        <p:nvSpPr>
          <p:cNvPr id="10" name="CuadroTexto 9">
            <a:extLst>
              <a:ext uri="{FF2B5EF4-FFF2-40B4-BE49-F238E27FC236}">
                <a16:creationId xmlns:a16="http://schemas.microsoft.com/office/drawing/2014/main" id="{330ECB93-20B9-41DD-1F6C-BE71113CBCE7}"/>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8475C876-BFE4-C374-FDCF-5EF51BEACDB2}"/>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62A99930-CCAB-7DEB-E75F-67615C667459}"/>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sp>
        <p:nvSpPr>
          <p:cNvPr id="15" name="CuadroTexto 14">
            <a:extLst>
              <a:ext uri="{FF2B5EF4-FFF2-40B4-BE49-F238E27FC236}">
                <a16:creationId xmlns:a16="http://schemas.microsoft.com/office/drawing/2014/main" id="{65EF933B-C3A8-3C5F-11E8-95D761B33221}"/>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sp>
        <p:nvSpPr>
          <p:cNvPr id="17" name="CuadroTexto 16">
            <a:extLst>
              <a:ext uri="{FF2B5EF4-FFF2-40B4-BE49-F238E27FC236}">
                <a16:creationId xmlns:a16="http://schemas.microsoft.com/office/drawing/2014/main" id="{21AC6380-AA83-0818-B51B-0DB22D31F0EC}"/>
              </a:ext>
            </a:extLst>
          </p:cNvPr>
          <p:cNvSpPr txBox="1"/>
          <p:nvPr/>
        </p:nvSpPr>
        <p:spPr>
          <a:xfrm>
            <a:off x="945861" y="-60960"/>
            <a:ext cx="11246139" cy="2800767"/>
          </a:xfrm>
          <a:prstGeom prst="rect">
            <a:avLst/>
          </a:prstGeom>
          <a:noFill/>
        </p:spPr>
        <p:txBody>
          <a:bodyPr wrap="square" rtlCol="0">
            <a:spAutoFit/>
          </a:bodyPr>
          <a:lstStyle/>
          <a:p>
            <a:r>
              <a:rPr lang="es-PE" sz="4800" b="1" dirty="0">
                <a:solidFill>
                  <a:schemeClr val="bg1"/>
                </a:solidFill>
                <a:latin typeface="Aharoni" panose="02010803020104030203" pitchFamily="2" charset="-79"/>
                <a:cs typeface="Aharoni" panose="02010803020104030203" pitchFamily="2" charset="-79"/>
              </a:rPr>
              <a:t> </a:t>
            </a:r>
            <a:r>
              <a:rPr lang="es-MX" sz="4800" b="1" dirty="0">
                <a:solidFill>
                  <a:schemeClr val="bg1"/>
                </a:solidFill>
                <a:latin typeface="Aharoni" panose="02010803020104030203" pitchFamily="2" charset="-79"/>
                <a:cs typeface="Aharoni" panose="02010803020104030203" pitchFamily="2" charset="-79"/>
              </a:rPr>
              <a:t>EVOLUCIÓN DEL CABLEADO ESTRUCTURADO DE CAT5E A CAT8</a:t>
            </a:r>
            <a:endParaRPr lang="es-PE" sz="4800" dirty="0">
              <a:solidFill>
                <a:schemeClr val="bg1"/>
              </a:solidFill>
              <a:latin typeface="Aharoni" panose="02010803020104030203" pitchFamily="2" charset="-79"/>
              <a:cs typeface="Aharoni" panose="02010803020104030203" pitchFamily="2" charset="-79"/>
            </a:endParaRPr>
          </a:p>
          <a:p>
            <a:endParaRPr lang="es-PE" sz="8000" dirty="0">
              <a:solidFill>
                <a:schemeClr val="bg1"/>
              </a:solidFill>
              <a:latin typeface="Aharoni" panose="02010803020104030203" pitchFamily="2" charset="-79"/>
              <a:cs typeface="Aharoni" panose="02010803020104030203" pitchFamily="2" charset="-79"/>
            </a:endParaRPr>
          </a:p>
        </p:txBody>
      </p:sp>
      <p:pic>
        <p:nvPicPr>
          <p:cNvPr id="19" name="Gráfico 18" descr="Nube con relleno sólido">
            <a:extLst>
              <a:ext uri="{FF2B5EF4-FFF2-40B4-BE49-F238E27FC236}">
                <a16:creationId xmlns:a16="http://schemas.microsoft.com/office/drawing/2014/main" id="{79034F2F-9FD4-DE7C-76E4-CDECF4CE7F0E}"/>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183861" y="-242279"/>
            <a:ext cx="914400" cy="914400"/>
          </a:xfrm>
          <a:prstGeom prst="rect">
            <a:avLst/>
          </a:prstGeom>
        </p:spPr>
      </p:pic>
      <p:sp>
        <p:nvSpPr>
          <p:cNvPr id="3" name="CuadroTexto 2">
            <a:extLst>
              <a:ext uri="{FF2B5EF4-FFF2-40B4-BE49-F238E27FC236}">
                <a16:creationId xmlns:a16="http://schemas.microsoft.com/office/drawing/2014/main" id="{834D0EDD-B73C-FC93-14F8-8BA432535FDD}"/>
              </a:ext>
            </a:extLst>
          </p:cNvPr>
          <p:cNvSpPr txBox="1"/>
          <p:nvPr/>
        </p:nvSpPr>
        <p:spPr>
          <a:xfrm>
            <a:off x="365760" y="1556041"/>
            <a:ext cx="7818120" cy="400110"/>
          </a:xfrm>
          <a:prstGeom prst="rect">
            <a:avLst/>
          </a:prstGeom>
          <a:noFill/>
        </p:spPr>
        <p:txBody>
          <a:bodyPr wrap="square" rtlCol="0">
            <a:spAutoFit/>
          </a:bodyPr>
          <a:lstStyle/>
          <a:p>
            <a:r>
              <a:rPr lang="es-MX" sz="2000" dirty="0">
                <a:solidFill>
                  <a:schemeClr val="bg1"/>
                </a:solidFill>
              </a:rPr>
              <a:t>Definición:</a:t>
            </a:r>
            <a:endParaRPr lang="es-PE" sz="2000" dirty="0">
              <a:solidFill>
                <a:schemeClr val="bg1"/>
              </a:solidFill>
            </a:endParaRPr>
          </a:p>
        </p:txBody>
      </p:sp>
      <p:sp>
        <p:nvSpPr>
          <p:cNvPr id="4" name="CuadroTexto 3">
            <a:extLst>
              <a:ext uri="{FF2B5EF4-FFF2-40B4-BE49-F238E27FC236}">
                <a16:creationId xmlns:a16="http://schemas.microsoft.com/office/drawing/2014/main" id="{952B5010-4DC0-3522-A5EF-1EBBAA7511EC}"/>
              </a:ext>
            </a:extLst>
          </p:cNvPr>
          <p:cNvSpPr txBox="1"/>
          <p:nvPr/>
        </p:nvSpPr>
        <p:spPr>
          <a:xfrm>
            <a:off x="183861" y="1971490"/>
            <a:ext cx="5150139" cy="4031873"/>
          </a:xfrm>
          <a:prstGeom prst="rect">
            <a:avLst/>
          </a:prstGeom>
          <a:noFill/>
        </p:spPr>
        <p:txBody>
          <a:bodyPr wrap="square" rtlCol="0">
            <a:spAutoFit/>
          </a:bodyPr>
          <a:lstStyle/>
          <a:p>
            <a:r>
              <a:rPr lang="es-PE" sz="1400" b="1" dirty="0">
                <a:solidFill>
                  <a:schemeClr val="bg1"/>
                </a:solidFill>
                <a:latin typeface="Book Antiqua" panose="02040602050305030304" pitchFamily="18" charset="0"/>
              </a:rPr>
              <a:t>5.- Cable de red Cat8 (Clase I y II):</a:t>
            </a:r>
            <a:endParaRPr lang="es-PE" sz="1400" dirty="0">
              <a:solidFill>
                <a:schemeClr val="bg1"/>
              </a:solidFill>
              <a:latin typeface="Book Antiqua" panose="02040602050305030304" pitchFamily="18" charset="0"/>
            </a:endParaRPr>
          </a:p>
          <a:p>
            <a:r>
              <a:rPr lang="es-PE" sz="1400" dirty="0">
                <a:solidFill>
                  <a:schemeClr val="bg1"/>
                </a:solidFill>
                <a:latin typeface="Book Antiqua" panose="02040602050305030304" pitchFamily="18" charset="0"/>
              </a:rPr>
              <a:t>El cable de red Cat8 se ha consolidado como un tipo de cable de red más novedoso y avanzado, que ofrece numerosas mejoras con respecto a sus predecesores, incluidos Cat6/6A/7/7A. Diseñado para admitir velocidades de transferencia de datos de hasta 40 Gigabits por segundo (Gbps) a distancias de hasta 30 metros, el Cat8 es la opción preferida para aplicaciones de alto rendimiento como centros de datos, salas de servidores y otros entornos de alta densidad. </a:t>
            </a:r>
          </a:p>
          <a:p>
            <a:r>
              <a:rPr lang="es-PE" sz="1400" dirty="0">
                <a:solidFill>
                  <a:schemeClr val="bg1"/>
                </a:solidFill>
                <a:latin typeface="Book Antiqua" panose="02040602050305030304" pitchFamily="18" charset="0"/>
              </a:rPr>
              <a:t>A pesar de sus numerosas ventajas en cuanto al rendimiento de la red, el cable Cat8 también presenta inconvenientes. Su alcance limitado es un obstáculo importante, ya que la transferencia de datos a alta velocidad solo es posible a una distancia máxima de 30 metros. Además, el coste del cable Cat8 es significativamente superior al de cables más antiguos como el Cat6, lo que lo hace menos práctico para aplicaciones de red más pequeñas o menos exigentes.  </a:t>
            </a:r>
          </a:p>
          <a:p>
            <a:endParaRPr lang="es-PE" dirty="0"/>
          </a:p>
        </p:txBody>
      </p:sp>
      <p:cxnSp>
        <p:nvCxnSpPr>
          <p:cNvPr id="13" name="Conector recto de flecha 12">
            <a:extLst>
              <a:ext uri="{FF2B5EF4-FFF2-40B4-BE49-F238E27FC236}">
                <a16:creationId xmlns:a16="http://schemas.microsoft.com/office/drawing/2014/main" id="{4221CA55-2979-2990-19C8-02386F0D10C5}"/>
              </a:ext>
            </a:extLst>
          </p:cNvPr>
          <p:cNvCxnSpPr/>
          <p:nvPr/>
        </p:nvCxnSpPr>
        <p:spPr>
          <a:xfrm>
            <a:off x="5958840" y="3395127"/>
            <a:ext cx="67056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recto de flecha 13">
            <a:extLst>
              <a:ext uri="{FF2B5EF4-FFF2-40B4-BE49-F238E27FC236}">
                <a16:creationId xmlns:a16="http://schemas.microsoft.com/office/drawing/2014/main" id="{441E62A1-842B-7BBE-B6B7-F1865DE1D5AE}"/>
              </a:ext>
            </a:extLst>
          </p:cNvPr>
          <p:cNvCxnSpPr>
            <a:cxnSpLocks/>
          </p:cNvCxnSpPr>
          <p:nvPr/>
        </p:nvCxnSpPr>
        <p:spPr>
          <a:xfrm flipH="1">
            <a:off x="5745480" y="3653969"/>
            <a:ext cx="67056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5" name="Estrella: 4 puntas 24">
            <a:extLst>
              <a:ext uri="{FF2B5EF4-FFF2-40B4-BE49-F238E27FC236}">
                <a16:creationId xmlns:a16="http://schemas.microsoft.com/office/drawing/2014/main" id="{72CDB4C0-20DB-2908-C2FF-EAD5CDF0F2D4}"/>
              </a:ext>
            </a:extLst>
          </p:cNvPr>
          <p:cNvSpPr/>
          <p:nvPr/>
        </p:nvSpPr>
        <p:spPr>
          <a:xfrm>
            <a:off x="11473758" y="5956300"/>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6" name="Estrella: 4 puntas 25">
            <a:extLst>
              <a:ext uri="{FF2B5EF4-FFF2-40B4-BE49-F238E27FC236}">
                <a16:creationId xmlns:a16="http://schemas.microsoft.com/office/drawing/2014/main" id="{2A0BD105-B9B0-329D-9B13-41F8517F087B}"/>
              </a:ext>
            </a:extLst>
          </p:cNvPr>
          <p:cNvSpPr/>
          <p:nvPr/>
        </p:nvSpPr>
        <p:spPr>
          <a:xfrm>
            <a:off x="717261" y="6082247"/>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7" name="Estrella: 4 puntas 26">
            <a:extLst>
              <a:ext uri="{FF2B5EF4-FFF2-40B4-BE49-F238E27FC236}">
                <a16:creationId xmlns:a16="http://schemas.microsoft.com/office/drawing/2014/main" id="{52FBFED3-93C2-F4DE-6B1B-BA753B86AA9F}"/>
              </a:ext>
            </a:extLst>
          </p:cNvPr>
          <p:cNvSpPr/>
          <p:nvPr/>
        </p:nvSpPr>
        <p:spPr>
          <a:xfrm>
            <a:off x="11131839" y="244459"/>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5" name="Imagen 4" descr="Cable De Red Cat8 Conector Rj45 40 Gbps Lan Ethernet 2 Metros UGREEN">
            <a:extLst>
              <a:ext uri="{FF2B5EF4-FFF2-40B4-BE49-F238E27FC236}">
                <a16:creationId xmlns:a16="http://schemas.microsoft.com/office/drawing/2014/main" id="{0099D11D-C179-62E7-1559-D9C0749E28A2}"/>
              </a:ext>
            </a:extLst>
          </p:cNvPr>
          <p:cNvPicPr>
            <a:picLocks noChangeAspect="1"/>
          </p:cNvPicPr>
          <p:nvPr/>
        </p:nvPicPr>
        <p:blipFill>
          <a:blip/>
          <a:stretch>
            <a:fillRect/>
          </a:stretch>
        </p:blipFill>
        <p:spPr>
          <a:xfrm>
            <a:off x="7464079" y="2042160"/>
            <a:ext cx="3627120" cy="3429000"/>
          </a:xfrm>
          <a:prstGeom prst="rect">
            <a:avLst/>
          </a:prstGeom>
        </p:spPr>
      </p:pic>
      <p:sp>
        <p:nvSpPr>
          <p:cNvPr id="8" name="Estrella: 4 puntas 7">
            <a:extLst>
              <a:ext uri="{FF2B5EF4-FFF2-40B4-BE49-F238E27FC236}">
                <a16:creationId xmlns:a16="http://schemas.microsoft.com/office/drawing/2014/main" id="{4C2CA936-4834-F291-7E71-A2AB122D7C30}"/>
              </a:ext>
            </a:extLst>
          </p:cNvPr>
          <p:cNvSpPr/>
          <p:nvPr/>
        </p:nvSpPr>
        <p:spPr>
          <a:xfrm>
            <a:off x="6187440" y="5002737"/>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14547530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B0314-E9E6-25DA-30E5-B677CBCDC765}"/>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8407BFCB-7710-0FDA-D3FC-FCD4ADC683E7}"/>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B572DE78-57C1-842E-BAEA-65A7972ADCF6}"/>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0" y="-6014433"/>
            <a:ext cx="12192000" cy="12872433"/>
          </a:xfrm>
          <a:prstGeom prst="rect">
            <a:avLst/>
          </a:prstGeom>
        </p:spPr>
      </p:pic>
      <p:sp>
        <p:nvSpPr>
          <p:cNvPr id="10" name="CuadroTexto 9">
            <a:extLst>
              <a:ext uri="{FF2B5EF4-FFF2-40B4-BE49-F238E27FC236}">
                <a16:creationId xmlns:a16="http://schemas.microsoft.com/office/drawing/2014/main" id="{F5445FBC-C6D4-30CD-0081-6A1FE4B23AF9}"/>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579EA234-7101-1F53-E5DC-9F357C0E02E0}"/>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6B81A76C-AC52-EA3A-7C20-30520717E86E}"/>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sp>
        <p:nvSpPr>
          <p:cNvPr id="15" name="CuadroTexto 14">
            <a:extLst>
              <a:ext uri="{FF2B5EF4-FFF2-40B4-BE49-F238E27FC236}">
                <a16:creationId xmlns:a16="http://schemas.microsoft.com/office/drawing/2014/main" id="{2EAF82E6-5A89-8B51-B484-0B4B5337FAAD}"/>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sp>
        <p:nvSpPr>
          <p:cNvPr id="17" name="CuadroTexto 16">
            <a:extLst>
              <a:ext uri="{FF2B5EF4-FFF2-40B4-BE49-F238E27FC236}">
                <a16:creationId xmlns:a16="http://schemas.microsoft.com/office/drawing/2014/main" id="{ADF185B0-5D12-9058-950A-F71C509CD341}"/>
              </a:ext>
            </a:extLst>
          </p:cNvPr>
          <p:cNvSpPr txBox="1"/>
          <p:nvPr/>
        </p:nvSpPr>
        <p:spPr>
          <a:xfrm>
            <a:off x="945861" y="-60960"/>
            <a:ext cx="11246139" cy="2554545"/>
          </a:xfrm>
          <a:prstGeom prst="rect">
            <a:avLst/>
          </a:prstGeom>
          <a:noFill/>
        </p:spPr>
        <p:txBody>
          <a:bodyPr wrap="square" rtlCol="0">
            <a:spAutoFit/>
          </a:bodyPr>
          <a:lstStyle/>
          <a:p>
            <a:r>
              <a:rPr lang="es-PE" sz="4000" b="1" dirty="0">
                <a:solidFill>
                  <a:schemeClr val="bg1"/>
                </a:solidFill>
                <a:latin typeface="Aharoni" panose="02010803020104030203" pitchFamily="2" charset="-79"/>
                <a:cs typeface="Aharoni" panose="02010803020104030203" pitchFamily="2" charset="-79"/>
              </a:rPr>
              <a:t> TOPOLOGÍAS MODERNAS: ARQUITECTURA LEAF-SPINE</a:t>
            </a:r>
            <a:endParaRPr lang="es-PE" sz="4000" dirty="0">
              <a:solidFill>
                <a:schemeClr val="bg1"/>
              </a:solidFill>
              <a:latin typeface="Aharoni" panose="02010803020104030203" pitchFamily="2" charset="-79"/>
              <a:cs typeface="Aharoni" panose="02010803020104030203" pitchFamily="2" charset="-79"/>
            </a:endParaRPr>
          </a:p>
          <a:p>
            <a:endParaRPr lang="es-PE" sz="8000" dirty="0">
              <a:solidFill>
                <a:schemeClr val="bg1"/>
              </a:solidFill>
              <a:latin typeface="Aharoni" panose="02010803020104030203" pitchFamily="2" charset="-79"/>
              <a:cs typeface="Aharoni" panose="02010803020104030203" pitchFamily="2" charset="-79"/>
            </a:endParaRPr>
          </a:p>
        </p:txBody>
      </p:sp>
      <p:pic>
        <p:nvPicPr>
          <p:cNvPr id="19" name="Gráfico 18" descr="Nube con relleno sólido">
            <a:extLst>
              <a:ext uri="{FF2B5EF4-FFF2-40B4-BE49-F238E27FC236}">
                <a16:creationId xmlns:a16="http://schemas.microsoft.com/office/drawing/2014/main" id="{2D92D424-504C-3F6B-5C87-F165DA8EFA0E}"/>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183861" y="-242279"/>
            <a:ext cx="914400" cy="914400"/>
          </a:xfrm>
          <a:prstGeom prst="rect">
            <a:avLst/>
          </a:prstGeom>
        </p:spPr>
      </p:pic>
      <p:sp>
        <p:nvSpPr>
          <p:cNvPr id="3" name="CuadroTexto 2">
            <a:extLst>
              <a:ext uri="{FF2B5EF4-FFF2-40B4-BE49-F238E27FC236}">
                <a16:creationId xmlns:a16="http://schemas.microsoft.com/office/drawing/2014/main" id="{6FDD50EE-3AC2-B525-18A0-73D4A0290CEF}"/>
              </a:ext>
            </a:extLst>
          </p:cNvPr>
          <p:cNvSpPr txBox="1"/>
          <p:nvPr/>
        </p:nvSpPr>
        <p:spPr>
          <a:xfrm>
            <a:off x="365760" y="1556041"/>
            <a:ext cx="7818120" cy="400110"/>
          </a:xfrm>
          <a:prstGeom prst="rect">
            <a:avLst/>
          </a:prstGeom>
          <a:noFill/>
        </p:spPr>
        <p:txBody>
          <a:bodyPr wrap="square" rtlCol="0">
            <a:spAutoFit/>
          </a:bodyPr>
          <a:lstStyle/>
          <a:p>
            <a:r>
              <a:rPr lang="es-MX" sz="2000" dirty="0">
                <a:solidFill>
                  <a:schemeClr val="bg1"/>
                </a:solidFill>
                <a:latin typeface="Book Antiqua" panose="02040602050305030304" pitchFamily="18" charset="0"/>
              </a:rPr>
              <a:t>Definición:</a:t>
            </a:r>
            <a:endParaRPr lang="es-PE" sz="2000" dirty="0">
              <a:solidFill>
                <a:schemeClr val="bg1"/>
              </a:solidFill>
              <a:latin typeface="Book Antiqua" panose="02040602050305030304" pitchFamily="18" charset="0"/>
            </a:endParaRPr>
          </a:p>
        </p:txBody>
      </p:sp>
      <p:sp>
        <p:nvSpPr>
          <p:cNvPr id="4" name="CuadroTexto 3">
            <a:extLst>
              <a:ext uri="{FF2B5EF4-FFF2-40B4-BE49-F238E27FC236}">
                <a16:creationId xmlns:a16="http://schemas.microsoft.com/office/drawing/2014/main" id="{9D955F1A-DD79-57B1-E7E1-D1BF2860EB5B}"/>
              </a:ext>
            </a:extLst>
          </p:cNvPr>
          <p:cNvSpPr txBox="1"/>
          <p:nvPr/>
        </p:nvSpPr>
        <p:spPr>
          <a:xfrm>
            <a:off x="170381" y="2264873"/>
            <a:ext cx="5150139" cy="1754326"/>
          </a:xfrm>
          <a:prstGeom prst="rect">
            <a:avLst/>
          </a:prstGeom>
          <a:noFill/>
        </p:spPr>
        <p:txBody>
          <a:bodyPr wrap="square" rtlCol="0">
            <a:spAutoFit/>
          </a:bodyPr>
          <a:lstStyle/>
          <a:p>
            <a:r>
              <a:rPr lang="es-PE" dirty="0">
                <a:solidFill>
                  <a:schemeClr val="bg1"/>
                </a:solidFill>
                <a:latin typeface="Book Antiqua" panose="02040602050305030304" pitchFamily="18" charset="0"/>
              </a:rPr>
              <a:t>Esta topología surge para resolver las limitaciones del modelo tradicional de tres capas (Núcleo, Agregación y Acceso), adaptándose mejor al tráfico actual de los centros de datos modernos.</a:t>
            </a:r>
          </a:p>
          <a:p>
            <a:endParaRPr lang="es-PE" dirty="0"/>
          </a:p>
        </p:txBody>
      </p:sp>
      <p:cxnSp>
        <p:nvCxnSpPr>
          <p:cNvPr id="13" name="Conector recto de flecha 12">
            <a:extLst>
              <a:ext uri="{FF2B5EF4-FFF2-40B4-BE49-F238E27FC236}">
                <a16:creationId xmlns:a16="http://schemas.microsoft.com/office/drawing/2014/main" id="{7A9D629F-E59E-9500-A980-AC5E69C7FC63}"/>
              </a:ext>
            </a:extLst>
          </p:cNvPr>
          <p:cNvCxnSpPr/>
          <p:nvPr/>
        </p:nvCxnSpPr>
        <p:spPr>
          <a:xfrm>
            <a:off x="5844540" y="2633127"/>
            <a:ext cx="67056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recto de flecha 13">
            <a:extLst>
              <a:ext uri="{FF2B5EF4-FFF2-40B4-BE49-F238E27FC236}">
                <a16:creationId xmlns:a16="http://schemas.microsoft.com/office/drawing/2014/main" id="{BCE04412-6F19-65B8-C9D7-EF3389D2FB28}"/>
              </a:ext>
            </a:extLst>
          </p:cNvPr>
          <p:cNvCxnSpPr>
            <a:cxnSpLocks/>
          </p:cNvCxnSpPr>
          <p:nvPr/>
        </p:nvCxnSpPr>
        <p:spPr>
          <a:xfrm flipH="1">
            <a:off x="4032740" y="4293102"/>
            <a:ext cx="67056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5" name="Estrella: 4 puntas 24">
            <a:extLst>
              <a:ext uri="{FF2B5EF4-FFF2-40B4-BE49-F238E27FC236}">
                <a16:creationId xmlns:a16="http://schemas.microsoft.com/office/drawing/2014/main" id="{32CD320D-59DF-5671-6A5C-080D6FD8ACEF}"/>
              </a:ext>
            </a:extLst>
          </p:cNvPr>
          <p:cNvSpPr/>
          <p:nvPr/>
        </p:nvSpPr>
        <p:spPr>
          <a:xfrm>
            <a:off x="11473758" y="5956300"/>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6" name="Estrella: 4 puntas 25">
            <a:extLst>
              <a:ext uri="{FF2B5EF4-FFF2-40B4-BE49-F238E27FC236}">
                <a16:creationId xmlns:a16="http://schemas.microsoft.com/office/drawing/2014/main" id="{BFC65E4A-43FF-577F-CF8E-271D156FF0D1}"/>
              </a:ext>
            </a:extLst>
          </p:cNvPr>
          <p:cNvSpPr/>
          <p:nvPr/>
        </p:nvSpPr>
        <p:spPr>
          <a:xfrm>
            <a:off x="717261" y="6082247"/>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7" name="Estrella: 4 puntas 26">
            <a:extLst>
              <a:ext uri="{FF2B5EF4-FFF2-40B4-BE49-F238E27FC236}">
                <a16:creationId xmlns:a16="http://schemas.microsoft.com/office/drawing/2014/main" id="{08B698B7-A4B5-0802-F6A1-833D62490790}"/>
              </a:ext>
            </a:extLst>
          </p:cNvPr>
          <p:cNvSpPr/>
          <p:nvPr/>
        </p:nvSpPr>
        <p:spPr>
          <a:xfrm>
            <a:off x="11131839" y="244459"/>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 name="Estrella: 4 puntas 7">
            <a:extLst>
              <a:ext uri="{FF2B5EF4-FFF2-40B4-BE49-F238E27FC236}">
                <a16:creationId xmlns:a16="http://schemas.microsoft.com/office/drawing/2014/main" id="{2D1E1438-7389-7668-5A86-370F418F5D74}"/>
              </a:ext>
            </a:extLst>
          </p:cNvPr>
          <p:cNvSpPr/>
          <p:nvPr/>
        </p:nvSpPr>
        <p:spPr>
          <a:xfrm flipH="1">
            <a:off x="3299460" y="4846325"/>
            <a:ext cx="220979" cy="353910"/>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pic>
        <p:nvPicPr>
          <p:cNvPr id="2" name="Imagen 1" descr="Arquitectura Spine &amp; Leaf | Blogs La Salle | Campus Barcelona">
            <a:extLst>
              <a:ext uri="{FF2B5EF4-FFF2-40B4-BE49-F238E27FC236}">
                <a16:creationId xmlns:a16="http://schemas.microsoft.com/office/drawing/2014/main" id="{428AA1A3-4FBE-83D4-631D-9C5A045688DC}"/>
              </a:ext>
            </a:extLst>
          </p:cNvPr>
          <p:cNvPicPr>
            <a:picLocks noChangeAspect="1"/>
          </p:cNvPicPr>
          <p:nvPr/>
        </p:nvPicPr>
        <p:blipFill>
          <a:blip/>
          <a:stretch>
            <a:fillRect/>
          </a:stretch>
        </p:blipFill>
        <p:spPr>
          <a:xfrm>
            <a:off x="6844875" y="901700"/>
            <a:ext cx="4981365" cy="2554546"/>
          </a:xfrm>
          <a:prstGeom prst="rect">
            <a:avLst/>
          </a:prstGeom>
        </p:spPr>
      </p:pic>
      <p:pic>
        <p:nvPicPr>
          <p:cNvPr id="7" name="Imagen 6" descr="Qué es la arquitectura spine-leaf y cómo diseñarla?">
            <a:extLst>
              <a:ext uri="{FF2B5EF4-FFF2-40B4-BE49-F238E27FC236}">
                <a16:creationId xmlns:a16="http://schemas.microsoft.com/office/drawing/2014/main" id="{47355524-7630-753A-86CA-5A63016F54B1}"/>
              </a:ext>
            </a:extLst>
          </p:cNvPr>
          <p:cNvPicPr>
            <a:picLocks noChangeAspect="1"/>
          </p:cNvPicPr>
          <p:nvPr/>
        </p:nvPicPr>
        <p:blipFill>
          <a:blip/>
          <a:stretch>
            <a:fillRect/>
          </a:stretch>
        </p:blipFill>
        <p:spPr>
          <a:xfrm>
            <a:off x="5150138" y="4287771"/>
            <a:ext cx="6096001" cy="2138363"/>
          </a:xfrm>
          <a:prstGeom prst="rect">
            <a:avLst/>
          </a:prstGeom>
        </p:spPr>
      </p:pic>
    </p:spTree>
    <p:extLst>
      <p:ext uri="{BB962C8B-B14F-4D97-AF65-F5344CB8AC3E}">
        <p14:creationId xmlns:p14="http://schemas.microsoft.com/office/powerpoint/2010/main" val="24940665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4C47B-D5C3-D3C1-4390-555C54AA7819}"/>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22019CE0-1D0D-232C-51E9-8A3A875CFE80}"/>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41C6211A-C402-8CD4-DFDC-53F4AD835786}"/>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0" y="-6014433"/>
            <a:ext cx="12192000" cy="12872433"/>
          </a:xfrm>
          <a:prstGeom prst="rect">
            <a:avLst/>
          </a:prstGeom>
        </p:spPr>
      </p:pic>
      <p:sp>
        <p:nvSpPr>
          <p:cNvPr id="10" name="CuadroTexto 9">
            <a:extLst>
              <a:ext uri="{FF2B5EF4-FFF2-40B4-BE49-F238E27FC236}">
                <a16:creationId xmlns:a16="http://schemas.microsoft.com/office/drawing/2014/main" id="{24E53946-3814-4D21-FEE6-DF30E588DF0F}"/>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5E2E19C1-1563-A198-D002-7B3B7197EB3A}"/>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1684EC4B-6A23-E651-4BEC-F75CD57C335A}"/>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sp>
        <p:nvSpPr>
          <p:cNvPr id="15" name="CuadroTexto 14">
            <a:extLst>
              <a:ext uri="{FF2B5EF4-FFF2-40B4-BE49-F238E27FC236}">
                <a16:creationId xmlns:a16="http://schemas.microsoft.com/office/drawing/2014/main" id="{916D0E59-10EC-D6D1-D1F7-A2447EC1BDB4}"/>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sp>
        <p:nvSpPr>
          <p:cNvPr id="17" name="CuadroTexto 16">
            <a:extLst>
              <a:ext uri="{FF2B5EF4-FFF2-40B4-BE49-F238E27FC236}">
                <a16:creationId xmlns:a16="http://schemas.microsoft.com/office/drawing/2014/main" id="{22405E5D-CA4F-255E-975B-05A5A464A207}"/>
              </a:ext>
            </a:extLst>
          </p:cNvPr>
          <p:cNvSpPr txBox="1"/>
          <p:nvPr/>
        </p:nvSpPr>
        <p:spPr>
          <a:xfrm>
            <a:off x="945861" y="-60960"/>
            <a:ext cx="11246139" cy="1015663"/>
          </a:xfrm>
          <a:prstGeom prst="rect">
            <a:avLst/>
          </a:prstGeom>
          <a:noFill/>
        </p:spPr>
        <p:txBody>
          <a:bodyPr wrap="square" rtlCol="0">
            <a:spAutoFit/>
          </a:bodyPr>
          <a:lstStyle/>
          <a:p>
            <a:r>
              <a:rPr lang="es-PE" sz="6000" b="1" dirty="0">
                <a:solidFill>
                  <a:schemeClr val="bg1"/>
                </a:solidFill>
                <a:latin typeface="Aharoni" panose="02010803020104030203" pitchFamily="2" charset="-79"/>
                <a:cs typeface="Aharoni" panose="02010803020104030203" pitchFamily="2" charset="-79"/>
              </a:rPr>
              <a:t> Estructura de dos niveles:</a:t>
            </a:r>
            <a:endParaRPr lang="es-PE" sz="6000" dirty="0">
              <a:solidFill>
                <a:schemeClr val="bg1"/>
              </a:solidFill>
              <a:latin typeface="Aharoni" panose="02010803020104030203" pitchFamily="2" charset="-79"/>
              <a:cs typeface="Aharoni" panose="02010803020104030203" pitchFamily="2" charset="-79"/>
            </a:endParaRPr>
          </a:p>
        </p:txBody>
      </p:sp>
      <p:pic>
        <p:nvPicPr>
          <p:cNvPr id="19" name="Gráfico 18" descr="Nube con relleno sólido">
            <a:extLst>
              <a:ext uri="{FF2B5EF4-FFF2-40B4-BE49-F238E27FC236}">
                <a16:creationId xmlns:a16="http://schemas.microsoft.com/office/drawing/2014/main" id="{A7EFC918-C70F-92EC-BC05-6CB2ED4DC224}"/>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183861" y="-242279"/>
            <a:ext cx="914400" cy="914400"/>
          </a:xfrm>
          <a:prstGeom prst="rect">
            <a:avLst/>
          </a:prstGeom>
        </p:spPr>
      </p:pic>
      <p:sp>
        <p:nvSpPr>
          <p:cNvPr id="3" name="CuadroTexto 2">
            <a:extLst>
              <a:ext uri="{FF2B5EF4-FFF2-40B4-BE49-F238E27FC236}">
                <a16:creationId xmlns:a16="http://schemas.microsoft.com/office/drawing/2014/main" id="{9240E20D-48A6-5CA5-3269-167D0ABBF8FF}"/>
              </a:ext>
            </a:extLst>
          </p:cNvPr>
          <p:cNvSpPr txBox="1"/>
          <p:nvPr/>
        </p:nvSpPr>
        <p:spPr>
          <a:xfrm>
            <a:off x="380018" y="921990"/>
            <a:ext cx="7818120" cy="892552"/>
          </a:xfrm>
          <a:prstGeom prst="rect">
            <a:avLst/>
          </a:prstGeom>
          <a:noFill/>
        </p:spPr>
        <p:txBody>
          <a:bodyPr wrap="square" rtlCol="0">
            <a:spAutoFit/>
          </a:bodyPr>
          <a:lstStyle/>
          <a:p>
            <a:r>
              <a:rPr lang="es-MX" sz="1600" dirty="0">
                <a:solidFill>
                  <a:schemeClr val="bg1"/>
                </a:solidFill>
                <a:latin typeface="Book Antiqua" panose="02040602050305030304" pitchFamily="18" charset="0"/>
              </a:rPr>
              <a:t>- </a:t>
            </a:r>
            <a:r>
              <a:rPr lang="es-PE" sz="1600" b="1" dirty="0">
                <a:solidFill>
                  <a:schemeClr val="bg1"/>
                </a:solidFill>
              </a:rPr>
              <a:t>Estructura de dos niveles:</a:t>
            </a:r>
            <a:r>
              <a:rPr lang="es-PE" sz="1600" dirty="0">
                <a:solidFill>
                  <a:schemeClr val="bg1"/>
                </a:solidFill>
              </a:rPr>
              <a:t> La arquitectura se divide en dos capas principales:</a:t>
            </a:r>
          </a:p>
          <a:p>
            <a:endParaRPr lang="es-PE" sz="2000" dirty="0">
              <a:solidFill>
                <a:schemeClr val="bg1"/>
              </a:solidFill>
              <a:latin typeface="Book Antiqua" panose="02040602050305030304" pitchFamily="18" charset="0"/>
            </a:endParaRPr>
          </a:p>
        </p:txBody>
      </p:sp>
      <p:sp>
        <p:nvSpPr>
          <p:cNvPr id="4" name="CuadroTexto 3">
            <a:extLst>
              <a:ext uri="{FF2B5EF4-FFF2-40B4-BE49-F238E27FC236}">
                <a16:creationId xmlns:a16="http://schemas.microsoft.com/office/drawing/2014/main" id="{049BDFD0-B2BD-7D82-1B91-2DEB8D1EB5FF}"/>
              </a:ext>
            </a:extLst>
          </p:cNvPr>
          <p:cNvSpPr txBox="1"/>
          <p:nvPr/>
        </p:nvSpPr>
        <p:spPr>
          <a:xfrm>
            <a:off x="0" y="1817105"/>
            <a:ext cx="5150139" cy="1200329"/>
          </a:xfrm>
          <a:prstGeom prst="rect">
            <a:avLst/>
          </a:prstGeom>
          <a:noFill/>
        </p:spPr>
        <p:txBody>
          <a:bodyPr wrap="square" rtlCol="0">
            <a:spAutoFit/>
          </a:bodyPr>
          <a:lstStyle/>
          <a:p>
            <a:pPr marL="742950" lvl="1" indent="-285750">
              <a:buFont typeface="Wingdings" panose="05000000000000000000" pitchFamily="2" charset="2"/>
              <a:buChar char="ü"/>
            </a:pPr>
            <a:r>
              <a:rPr lang="es-PE" b="1" dirty="0">
                <a:solidFill>
                  <a:schemeClr val="bg1"/>
                </a:solidFill>
                <a:latin typeface="Book Antiqua" panose="02040602050305030304" pitchFamily="18" charset="0"/>
              </a:rPr>
              <a:t>Switches </a:t>
            </a:r>
            <a:r>
              <a:rPr lang="es-PE" b="1" dirty="0" err="1">
                <a:solidFill>
                  <a:schemeClr val="bg1"/>
                </a:solidFill>
                <a:latin typeface="Book Antiqua" panose="02040602050305030304" pitchFamily="18" charset="0"/>
              </a:rPr>
              <a:t>Spine</a:t>
            </a:r>
            <a:r>
              <a:rPr lang="es-PE" b="1" dirty="0">
                <a:solidFill>
                  <a:schemeClr val="bg1"/>
                </a:solidFill>
                <a:latin typeface="Book Antiqua" panose="02040602050305030304" pitchFamily="18" charset="0"/>
              </a:rPr>
              <a:t> (Espina):</a:t>
            </a:r>
            <a:r>
              <a:rPr lang="es-PE" dirty="0">
                <a:solidFill>
                  <a:schemeClr val="bg1"/>
                </a:solidFill>
                <a:latin typeface="Book Antiqua" panose="02040602050305030304" pitchFamily="18" charset="0"/>
              </a:rPr>
              <a:t> Son el núcleo de la red y se encargan de interconectar todos los switches de la capa inferior.</a:t>
            </a:r>
          </a:p>
          <a:p>
            <a:endParaRPr lang="es-PE" dirty="0"/>
          </a:p>
        </p:txBody>
      </p:sp>
      <p:sp>
        <p:nvSpPr>
          <p:cNvPr id="25" name="Estrella: 4 puntas 24">
            <a:extLst>
              <a:ext uri="{FF2B5EF4-FFF2-40B4-BE49-F238E27FC236}">
                <a16:creationId xmlns:a16="http://schemas.microsoft.com/office/drawing/2014/main" id="{5AAEC615-97E2-A709-9B5E-672B34D645C4}"/>
              </a:ext>
            </a:extLst>
          </p:cNvPr>
          <p:cNvSpPr/>
          <p:nvPr/>
        </p:nvSpPr>
        <p:spPr>
          <a:xfrm>
            <a:off x="11473758" y="5956300"/>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6" name="Estrella: 4 puntas 25">
            <a:extLst>
              <a:ext uri="{FF2B5EF4-FFF2-40B4-BE49-F238E27FC236}">
                <a16:creationId xmlns:a16="http://schemas.microsoft.com/office/drawing/2014/main" id="{9E0BE610-58CB-3539-A049-28D7DBD78925}"/>
              </a:ext>
            </a:extLst>
          </p:cNvPr>
          <p:cNvSpPr/>
          <p:nvPr/>
        </p:nvSpPr>
        <p:spPr>
          <a:xfrm>
            <a:off x="717261" y="6082247"/>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7" name="Estrella: 4 puntas 26">
            <a:extLst>
              <a:ext uri="{FF2B5EF4-FFF2-40B4-BE49-F238E27FC236}">
                <a16:creationId xmlns:a16="http://schemas.microsoft.com/office/drawing/2014/main" id="{5100D725-DAD5-BE03-9E6C-CECECD175F12}"/>
              </a:ext>
            </a:extLst>
          </p:cNvPr>
          <p:cNvSpPr/>
          <p:nvPr/>
        </p:nvSpPr>
        <p:spPr>
          <a:xfrm>
            <a:off x="11131839" y="244459"/>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 name="Estrella: 4 puntas 7">
            <a:extLst>
              <a:ext uri="{FF2B5EF4-FFF2-40B4-BE49-F238E27FC236}">
                <a16:creationId xmlns:a16="http://schemas.microsoft.com/office/drawing/2014/main" id="{AC2660EE-6166-0ABE-580F-81A2E676253B}"/>
              </a:ext>
            </a:extLst>
          </p:cNvPr>
          <p:cNvSpPr/>
          <p:nvPr/>
        </p:nvSpPr>
        <p:spPr>
          <a:xfrm flipH="1">
            <a:off x="5737180" y="3208089"/>
            <a:ext cx="220979" cy="353910"/>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pic>
        <p:nvPicPr>
          <p:cNvPr id="5" name="Imagen 4" descr="Understanding Fully Meshed Leaf-and-Spine Architecture in Data Centers »  SENKO Advanced Components, Inc.">
            <a:extLst>
              <a:ext uri="{FF2B5EF4-FFF2-40B4-BE49-F238E27FC236}">
                <a16:creationId xmlns:a16="http://schemas.microsoft.com/office/drawing/2014/main" id="{7E5281E0-2CE9-0A97-9FEA-BF82859F8E04}"/>
              </a:ext>
            </a:extLst>
          </p:cNvPr>
          <p:cNvPicPr>
            <a:picLocks noChangeAspect="1"/>
          </p:cNvPicPr>
          <p:nvPr/>
        </p:nvPicPr>
        <p:blipFill>
          <a:blip/>
          <a:stretch>
            <a:fillRect/>
          </a:stretch>
        </p:blipFill>
        <p:spPr>
          <a:xfrm>
            <a:off x="641061" y="2859916"/>
            <a:ext cx="4143619" cy="2802255"/>
          </a:xfrm>
          <a:prstGeom prst="rect">
            <a:avLst/>
          </a:prstGeom>
        </p:spPr>
      </p:pic>
      <p:sp>
        <p:nvSpPr>
          <p:cNvPr id="16" name="CuadroTexto 15">
            <a:extLst>
              <a:ext uri="{FF2B5EF4-FFF2-40B4-BE49-F238E27FC236}">
                <a16:creationId xmlns:a16="http://schemas.microsoft.com/office/drawing/2014/main" id="{FD194ABB-2E8A-4366-250B-9F6DC8EE08C4}"/>
              </a:ext>
            </a:extLst>
          </p:cNvPr>
          <p:cNvSpPr txBox="1"/>
          <p:nvPr/>
        </p:nvSpPr>
        <p:spPr>
          <a:xfrm>
            <a:off x="6568930" y="1814542"/>
            <a:ext cx="4791509" cy="1200329"/>
          </a:xfrm>
          <a:prstGeom prst="rect">
            <a:avLst/>
          </a:prstGeom>
          <a:noFill/>
        </p:spPr>
        <p:txBody>
          <a:bodyPr wrap="square" rtlCol="0">
            <a:spAutoFit/>
          </a:bodyPr>
          <a:lstStyle/>
          <a:p>
            <a:pPr marL="285750" indent="-285750">
              <a:buFont typeface="Wingdings" panose="05000000000000000000" pitchFamily="2" charset="2"/>
              <a:buChar char="ü"/>
            </a:pPr>
            <a:r>
              <a:rPr lang="es-PE" b="1" dirty="0">
                <a:solidFill>
                  <a:schemeClr val="bg1"/>
                </a:solidFill>
                <a:latin typeface="Book Antiqua" panose="02040602050305030304" pitchFamily="18" charset="0"/>
              </a:rPr>
              <a:t>Switches </a:t>
            </a:r>
            <a:r>
              <a:rPr lang="es-PE" b="1" dirty="0" err="1">
                <a:solidFill>
                  <a:schemeClr val="bg1"/>
                </a:solidFill>
                <a:latin typeface="Book Antiqua" panose="02040602050305030304" pitchFamily="18" charset="0"/>
              </a:rPr>
              <a:t>Leaf</a:t>
            </a:r>
            <a:r>
              <a:rPr lang="es-PE" b="1" dirty="0">
                <a:solidFill>
                  <a:schemeClr val="bg1"/>
                </a:solidFill>
                <a:latin typeface="Book Antiqua" panose="02040602050305030304" pitchFamily="18" charset="0"/>
              </a:rPr>
              <a:t> (Hoja):</a:t>
            </a:r>
            <a:r>
              <a:rPr lang="es-PE" dirty="0">
                <a:solidFill>
                  <a:schemeClr val="bg1"/>
                </a:solidFill>
                <a:latin typeface="Book Antiqua" panose="02040602050305030304" pitchFamily="18" charset="0"/>
              </a:rPr>
              <a:t> Son los que conectan directamente con los servidores y dispositivos de almacenamiento.</a:t>
            </a:r>
          </a:p>
          <a:p>
            <a:endParaRPr lang="es-PE" dirty="0"/>
          </a:p>
        </p:txBody>
      </p:sp>
      <p:pic>
        <p:nvPicPr>
          <p:cNvPr id="18" name="Imagen 17" descr="What Is Ethernet Leaf Switch">
            <a:extLst>
              <a:ext uri="{FF2B5EF4-FFF2-40B4-BE49-F238E27FC236}">
                <a16:creationId xmlns:a16="http://schemas.microsoft.com/office/drawing/2014/main" id="{924AEA59-239A-4255-02D7-3A3922161816}"/>
              </a:ext>
            </a:extLst>
          </p:cNvPr>
          <p:cNvPicPr>
            <a:picLocks noChangeAspect="1"/>
          </p:cNvPicPr>
          <p:nvPr/>
        </p:nvPicPr>
        <p:blipFill>
          <a:blip/>
          <a:stretch>
            <a:fillRect/>
          </a:stretch>
        </p:blipFill>
        <p:spPr>
          <a:xfrm>
            <a:off x="6940550" y="3289834"/>
            <a:ext cx="4048406" cy="2802256"/>
          </a:xfrm>
          <a:prstGeom prst="rect">
            <a:avLst/>
          </a:prstGeom>
        </p:spPr>
      </p:pic>
      <p:sp>
        <p:nvSpPr>
          <p:cNvPr id="20" name="Estrella: 4 puntas 19">
            <a:extLst>
              <a:ext uri="{FF2B5EF4-FFF2-40B4-BE49-F238E27FC236}">
                <a16:creationId xmlns:a16="http://schemas.microsoft.com/office/drawing/2014/main" id="{F031C116-B8DA-9046-18B3-4BB480F0E37A}"/>
              </a:ext>
            </a:extLst>
          </p:cNvPr>
          <p:cNvSpPr/>
          <p:nvPr/>
        </p:nvSpPr>
        <p:spPr>
          <a:xfrm flipH="1">
            <a:off x="5767071" y="5308261"/>
            <a:ext cx="220979" cy="353910"/>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21" name="Estrella: 4 puntas 20">
            <a:extLst>
              <a:ext uri="{FF2B5EF4-FFF2-40B4-BE49-F238E27FC236}">
                <a16:creationId xmlns:a16="http://schemas.microsoft.com/office/drawing/2014/main" id="{6DCD1894-7EB4-A207-95FF-1A91A2A9C430}"/>
              </a:ext>
            </a:extLst>
          </p:cNvPr>
          <p:cNvSpPr/>
          <p:nvPr/>
        </p:nvSpPr>
        <p:spPr>
          <a:xfrm flipH="1">
            <a:off x="5752125" y="4166283"/>
            <a:ext cx="220979" cy="353910"/>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22" name="Estrella: 4 puntas 21">
            <a:extLst>
              <a:ext uri="{FF2B5EF4-FFF2-40B4-BE49-F238E27FC236}">
                <a16:creationId xmlns:a16="http://schemas.microsoft.com/office/drawing/2014/main" id="{619EB178-D6A6-2304-DCC3-43759D71FA71}"/>
              </a:ext>
            </a:extLst>
          </p:cNvPr>
          <p:cNvSpPr/>
          <p:nvPr/>
        </p:nvSpPr>
        <p:spPr>
          <a:xfrm flipH="1">
            <a:off x="5767071" y="1881591"/>
            <a:ext cx="220979" cy="353910"/>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23" name="Estrella: 4 puntas 22">
            <a:extLst>
              <a:ext uri="{FF2B5EF4-FFF2-40B4-BE49-F238E27FC236}">
                <a16:creationId xmlns:a16="http://schemas.microsoft.com/office/drawing/2014/main" id="{B7BA3BEC-99CE-FD55-B740-F60932932061}"/>
              </a:ext>
            </a:extLst>
          </p:cNvPr>
          <p:cNvSpPr/>
          <p:nvPr/>
        </p:nvSpPr>
        <p:spPr>
          <a:xfrm flipH="1">
            <a:off x="5767071" y="2443582"/>
            <a:ext cx="220979" cy="353910"/>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spTree>
    <p:extLst>
      <p:ext uri="{BB962C8B-B14F-4D97-AF65-F5344CB8AC3E}">
        <p14:creationId xmlns:p14="http://schemas.microsoft.com/office/powerpoint/2010/main" val="29047117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BA220-0839-564E-40CD-E439F71F11B8}"/>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7C5422C2-5259-41E3-C035-82CAC0F35179}"/>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89B20185-DD1F-184B-31F0-C25FCE14CAFE}"/>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0" y="-6014433"/>
            <a:ext cx="12192000" cy="12872433"/>
          </a:xfrm>
          <a:prstGeom prst="rect">
            <a:avLst/>
          </a:prstGeom>
        </p:spPr>
      </p:pic>
      <p:sp>
        <p:nvSpPr>
          <p:cNvPr id="10" name="CuadroTexto 9">
            <a:extLst>
              <a:ext uri="{FF2B5EF4-FFF2-40B4-BE49-F238E27FC236}">
                <a16:creationId xmlns:a16="http://schemas.microsoft.com/office/drawing/2014/main" id="{E414B16A-6AC6-8EC7-E813-E9CF38BE82AA}"/>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A8AAA64F-56C7-8956-7E11-2E2F346B0F40}"/>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E638DE2B-9BF9-D9AE-1619-82BFD5D6A075}"/>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sp>
        <p:nvSpPr>
          <p:cNvPr id="15" name="CuadroTexto 14">
            <a:extLst>
              <a:ext uri="{FF2B5EF4-FFF2-40B4-BE49-F238E27FC236}">
                <a16:creationId xmlns:a16="http://schemas.microsoft.com/office/drawing/2014/main" id="{0B62ED2A-0EDD-13FB-BB45-AD6AB255E354}"/>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sp>
        <p:nvSpPr>
          <p:cNvPr id="17" name="CuadroTexto 16">
            <a:extLst>
              <a:ext uri="{FF2B5EF4-FFF2-40B4-BE49-F238E27FC236}">
                <a16:creationId xmlns:a16="http://schemas.microsoft.com/office/drawing/2014/main" id="{410435E7-BB6D-D4FC-B8C2-FFAAA4799731}"/>
              </a:ext>
            </a:extLst>
          </p:cNvPr>
          <p:cNvSpPr txBox="1"/>
          <p:nvPr/>
        </p:nvSpPr>
        <p:spPr>
          <a:xfrm>
            <a:off x="945861" y="-60960"/>
            <a:ext cx="11246139" cy="1015663"/>
          </a:xfrm>
          <a:prstGeom prst="rect">
            <a:avLst/>
          </a:prstGeom>
          <a:noFill/>
        </p:spPr>
        <p:txBody>
          <a:bodyPr wrap="square" rtlCol="0">
            <a:spAutoFit/>
          </a:bodyPr>
          <a:lstStyle/>
          <a:p>
            <a:r>
              <a:rPr lang="es-PE" sz="6000" b="1" dirty="0">
                <a:solidFill>
                  <a:schemeClr val="bg1"/>
                </a:solidFill>
                <a:latin typeface="Aharoni" panose="02010803020104030203" pitchFamily="2" charset="-79"/>
                <a:cs typeface="Aharoni" panose="02010803020104030203" pitchFamily="2" charset="-79"/>
              </a:rPr>
              <a:t> Estructura de dos niveles:</a:t>
            </a:r>
            <a:endParaRPr lang="es-PE" sz="6000" dirty="0">
              <a:solidFill>
                <a:schemeClr val="bg1"/>
              </a:solidFill>
              <a:latin typeface="Aharoni" panose="02010803020104030203" pitchFamily="2" charset="-79"/>
              <a:cs typeface="Aharoni" panose="02010803020104030203" pitchFamily="2" charset="-79"/>
            </a:endParaRPr>
          </a:p>
        </p:txBody>
      </p:sp>
      <p:pic>
        <p:nvPicPr>
          <p:cNvPr id="19" name="Gráfico 18" descr="Nube con relleno sólido">
            <a:extLst>
              <a:ext uri="{FF2B5EF4-FFF2-40B4-BE49-F238E27FC236}">
                <a16:creationId xmlns:a16="http://schemas.microsoft.com/office/drawing/2014/main" id="{CE03514D-0715-E2D3-0BB4-86017662A76C}"/>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183861" y="-242279"/>
            <a:ext cx="914400" cy="914400"/>
          </a:xfrm>
          <a:prstGeom prst="rect">
            <a:avLst/>
          </a:prstGeom>
        </p:spPr>
      </p:pic>
      <p:sp>
        <p:nvSpPr>
          <p:cNvPr id="4" name="CuadroTexto 3">
            <a:extLst>
              <a:ext uri="{FF2B5EF4-FFF2-40B4-BE49-F238E27FC236}">
                <a16:creationId xmlns:a16="http://schemas.microsoft.com/office/drawing/2014/main" id="{F3C92D1D-340B-8EB4-66ED-1E722592B900}"/>
              </a:ext>
            </a:extLst>
          </p:cNvPr>
          <p:cNvSpPr txBox="1"/>
          <p:nvPr/>
        </p:nvSpPr>
        <p:spPr>
          <a:xfrm>
            <a:off x="0" y="1182796"/>
            <a:ext cx="5150139" cy="1600438"/>
          </a:xfrm>
          <a:prstGeom prst="rect">
            <a:avLst/>
          </a:prstGeom>
          <a:noFill/>
        </p:spPr>
        <p:txBody>
          <a:bodyPr wrap="square" rtlCol="0">
            <a:spAutoFit/>
          </a:bodyPr>
          <a:lstStyle/>
          <a:p>
            <a:pPr marL="285750" lvl="0" indent="-285750">
              <a:buFont typeface="Wingdings" panose="05000000000000000000" pitchFamily="2" charset="2"/>
              <a:buChar char="ü"/>
            </a:pPr>
            <a:r>
              <a:rPr lang="es-PE" sz="1600" b="1" dirty="0">
                <a:solidFill>
                  <a:schemeClr val="bg1"/>
                </a:solidFill>
                <a:latin typeface="Book Antiqua" panose="02040602050305030304" pitchFamily="18" charset="0"/>
              </a:rPr>
              <a:t>Conectividad Total (Full-</a:t>
            </a:r>
            <a:r>
              <a:rPr lang="es-PE" sz="1600" b="1" dirty="0" err="1">
                <a:solidFill>
                  <a:schemeClr val="bg1"/>
                </a:solidFill>
                <a:latin typeface="Book Antiqua" panose="02040602050305030304" pitchFamily="18" charset="0"/>
              </a:rPr>
              <a:t>Mesh</a:t>
            </a:r>
            <a:r>
              <a:rPr lang="es-PE" sz="1600" b="1" dirty="0">
                <a:solidFill>
                  <a:schemeClr val="bg1"/>
                </a:solidFill>
                <a:latin typeface="Book Antiqua" panose="02040602050305030304" pitchFamily="18" charset="0"/>
              </a:rPr>
              <a:t>):</a:t>
            </a:r>
            <a:r>
              <a:rPr lang="es-PE" sz="1600" dirty="0">
                <a:solidFill>
                  <a:schemeClr val="bg1"/>
                </a:solidFill>
                <a:latin typeface="Book Antiqua" panose="02040602050305030304" pitchFamily="18" charset="0"/>
              </a:rPr>
              <a:t> Una regla crítica de esta topología es que cada switch </a:t>
            </a:r>
            <a:r>
              <a:rPr lang="es-PE" sz="1600" i="1" dirty="0" err="1">
                <a:solidFill>
                  <a:schemeClr val="bg1"/>
                </a:solidFill>
                <a:latin typeface="Book Antiqua" panose="02040602050305030304" pitchFamily="18" charset="0"/>
              </a:rPr>
              <a:t>Leaf</a:t>
            </a:r>
            <a:r>
              <a:rPr lang="es-PE" sz="1600" dirty="0">
                <a:solidFill>
                  <a:schemeClr val="bg1"/>
                </a:solidFill>
                <a:latin typeface="Book Antiqua" panose="02040602050305030304" pitchFamily="18" charset="0"/>
              </a:rPr>
              <a:t> debe estar conectado a todos y cada uno de los switches </a:t>
            </a:r>
            <a:r>
              <a:rPr lang="es-PE" sz="1600" i="1" dirty="0" err="1">
                <a:solidFill>
                  <a:schemeClr val="bg1"/>
                </a:solidFill>
                <a:latin typeface="Book Antiqua" panose="02040602050305030304" pitchFamily="18" charset="0"/>
              </a:rPr>
              <a:t>Spine</a:t>
            </a:r>
            <a:r>
              <a:rPr lang="es-PE" sz="1600" dirty="0">
                <a:solidFill>
                  <a:schemeClr val="bg1"/>
                </a:solidFill>
                <a:latin typeface="Book Antiqua" panose="02040602050305030304" pitchFamily="18" charset="0"/>
              </a:rPr>
              <a:t>. Sin embargo, los switches </a:t>
            </a:r>
            <a:r>
              <a:rPr lang="es-PE" sz="1600" i="1" dirty="0" err="1">
                <a:solidFill>
                  <a:schemeClr val="bg1"/>
                </a:solidFill>
                <a:latin typeface="Book Antiqua" panose="02040602050305030304" pitchFamily="18" charset="0"/>
              </a:rPr>
              <a:t>Spine</a:t>
            </a:r>
            <a:r>
              <a:rPr lang="es-PE" sz="1600" dirty="0">
                <a:solidFill>
                  <a:schemeClr val="bg1"/>
                </a:solidFill>
                <a:latin typeface="Book Antiqua" panose="02040602050305030304" pitchFamily="18" charset="0"/>
              </a:rPr>
              <a:t> nunca se conectan entre sí, y lo mismo ocurre con los </a:t>
            </a:r>
            <a:r>
              <a:rPr lang="es-PE" sz="1600" i="1" dirty="0" err="1">
                <a:solidFill>
                  <a:schemeClr val="bg1"/>
                </a:solidFill>
                <a:latin typeface="Book Antiqua" panose="02040602050305030304" pitchFamily="18" charset="0"/>
              </a:rPr>
              <a:t>Leaf</a:t>
            </a:r>
            <a:r>
              <a:rPr lang="es-PE" sz="1600" dirty="0">
                <a:solidFill>
                  <a:schemeClr val="bg1"/>
                </a:solidFill>
                <a:latin typeface="Book Antiqua" panose="02040602050305030304" pitchFamily="18" charset="0"/>
              </a:rPr>
              <a:t>.</a:t>
            </a:r>
          </a:p>
          <a:p>
            <a:endParaRPr lang="es-PE" dirty="0"/>
          </a:p>
        </p:txBody>
      </p:sp>
      <p:sp>
        <p:nvSpPr>
          <p:cNvPr id="25" name="Estrella: 4 puntas 24">
            <a:extLst>
              <a:ext uri="{FF2B5EF4-FFF2-40B4-BE49-F238E27FC236}">
                <a16:creationId xmlns:a16="http://schemas.microsoft.com/office/drawing/2014/main" id="{7403EB37-8C40-62A6-0D8F-DD34F2720726}"/>
              </a:ext>
            </a:extLst>
          </p:cNvPr>
          <p:cNvSpPr/>
          <p:nvPr/>
        </p:nvSpPr>
        <p:spPr>
          <a:xfrm>
            <a:off x="11658600" y="6206074"/>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6" name="Estrella: 4 puntas 25">
            <a:extLst>
              <a:ext uri="{FF2B5EF4-FFF2-40B4-BE49-F238E27FC236}">
                <a16:creationId xmlns:a16="http://schemas.microsoft.com/office/drawing/2014/main" id="{1732D045-D72D-67A8-3060-00906A7ED136}"/>
              </a:ext>
            </a:extLst>
          </p:cNvPr>
          <p:cNvSpPr/>
          <p:nvPr/>
        </p:nvSpPr>
        <p:spPr>
          <a:xfrm>
            <a:off x="717261" y="6082247"/>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7" name="Estrella: 4 puntas 26">
            <a:extLst>
              <a:ext uri="{FF2B5EF4-FFF2-40B4-BE49-F238E27FC236}">
                <a16:creationId xmlns:a16="http://schemas.microsoft.com/office/drawing/2014/main" id="{8B99E457-A215-CE63-6656-3B458F32EFBC}"/>
              </a:ext>
            </a:extLst>
          </p:cNvPr>
          <p:cNvSpPr/>
          <p:nvPr/>
        </p:nvSpPr>
        <p:spPr>
          <a:xfrm>
            <a:off x="11131839" y="244459"/>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 name="Estrella: 4 puntas 7">
            <a:extLst>
              <a:ext uri="{FF2B5EF4-FFF2-40B4-BE49-F238E27FC236}">
                <a16:creationId xmlns:a16="http://schemas.microsoft.com/office/drawing/2014/main" id="{1CE7EDEC-313B-357E-1926-8CC8699EE1A7}"/>
              </a:ext>
            </a:extLst>
          </p:cNvPr>
          <p:cNvSpPr/>
          <p:nvPr/>
        </p:nvSpPr>
        <p:spPr>
          <a:xfrm flipH="1">
            <a:off x="5737180" y="3208089"/>
            <a:ext cx="220979" cy="353910"/>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16" name="CuadroTexto 15">
            <a:extLst>
              <a:ext uri="{FF2B5EF4-FFF2-40B4-BE49-F238E27FC236}">
                <a16:creationId xmlns:a16="http://schemas.microsoft.com/office/drawing/2014/main" id="{62085A97-92D0-96A3-CE02-5D76417BE27F}"/>
              </a:ext>
            </a:extLst>
          </p:cNvPr>
          <p:cNvSpPr txBox="1"/>
          <p:nvPr/>
        </p:nvSpPr>
        <p:spPr>
          <a:xfrm>
            <a:off x="6541870" y="1035172"/>
            <a:ext cx="5345330" cy="2339102"/>
          </a:xfrm>
          <a:prstGeom prst="rect">
            <a:avLst/>
          </a:prstGeom>
          <a:noFill/>
        </p:spPr>
        <p:txBody>
          <a:bodyPr wrap="square" rtlCol="0">
            <a:spAutoFit/>
          </a:bodyPr>
          <a:lstStyle/>
          <a:p>
            <a:pPr marL="285750" lvl="0" indent="-285750">
              <a:buFont typeface="Wingdings" panose="05000000000000000000" pitchFamily="2" charset="2"/>
              <a:buChar char="ü"/>
            </a:pPr>
            <a:r>
              <a:rPr lang="es-PE" sz="1600" b="1" dirty="0">
                <a:solidFill>
                  <a:schemeClr val="bg1"/>
                </a:solidFill>
                <a:latin typeface="Book Antiqua" panose="02040602050305030304" pitchFamily="18" charset="0"/>
              </a:rPr>
              <a:t>Optimización del tráfico Este-Oeste:</a:t>
            </a:r>
            <a:r>
              <a:rPr lang="es-PE" sz="1600" dirty="0">
                <a:solidFill>
                  <a:schemeClr val="bg1"/>
                </a:solidFill>
                <a:latin typeface="Book Antiqua" panose="02040602050305030304" pitchFamily="18" charset="0"/>
              </a:rPr>
              <a:t> A diferencia del modelo antiguo, que estaba diseñado para tráfico que salía a internet (Norte-Sur), el diseño </a:t>
            </a:r>
            <a:r>
              <a:rPr lang="es-PE" sz="1600" dirty="0" err="1">
                <a:solidFill>
                  <a:schemeClr val="bg1"/>
                </a:solidFill>
                <a:latin typeface="Book Antiqua" panose="02040602050305030304" pitchFamily="18" charset="0"/>
              </a:rPr>
              <a:t>Leaf-Spine</a:t>
            </a:r>
            <a:r>
              <a:rPr lang="es-PE" sz="1600" dirty="0">
                <a:solidFill>
                  <a:schemeClr val="bg1"/>
                </a:solidFill>
                <a:latin typeface="Book Antiqua" panose="02040602050305030304" pitchFamily="18" charset="0"/>
              </a:rPr>
              <a:t> está optimizado para la comunicación entre servidores dentro del mismo centro de datos (Este-Oeste). Esto garantiza que cualquier servidor esté siempre a la misma distancia (mismo número de "saltos") de cualquier otro, reduciendo drásticamente la latencia.</a:t>
            </a:r>
          </a:p>
          <a:p>
            <a:endParaRPr lang="es-PE" dirty="0"/>
          </a:p>
        </p:txBody>
      </p:sp>
      <p:sp>
        <p:nvSpPr>
          <p:cNvPr id="20" name="Estrella: 4 puntas 19">
            <a:extLst>
              <a:ext uri="{FF2B5EF4-FFF2-40B4-BE49-F238E27FC236}">
                <a16:creationId xmlns:a16="http://schemas.microsoft.com/office/drawing/2014/main" id="{62035168-CDB8-3752-DBEA-0D93D6B244D8}"/>
              </a:ext>
            </a:extLst>
          </p:cNvPr>
          <p:cNvSpPr/>
          <p:nvPr/>
        </p:nvSpPr>
        <p:spPr>
          <a:xfrm flipH="1">
            <a:off x="5767071" y="5308261"/>
            <a:ext cx="220979" cy="353910"/>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21" name="Estrella: 4 puntas 20">
            <a:extLst>
              <a:ext uri="{FF2B5EF4-FFF2-40B4-BE49-F238E27FC236}">
                <a16:creationId xmlns:a16="http://schemas.microsoft.com/office/drawing/2014/main" id="{690CB61F-2FD6-FF54-D338-5F5B95FF4F11}"/>
              </a:ext>
            </a:extLst>
          </p:cNvPr>
          <p:cNvSpPr/>
          <p:nvPr/>
        </p:nvSpPr>
        <p:spPr>
          <a:xfrm flipH="1">
            <a:off x="5752125" y="4166283"/>
            <a:ext cx="220979" cy="353910"/>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22" name="Estrella: 4 puntas 21">
            <a:extLst>
              <a:ext uri="{FF2B5EF4-FFF2-40B4-BE49-F238E27FC236}">
                <a16:creationId xmlns:a16="http://schemas.microsoft.com/office/drawing/2014/main" id="{80E300DC-364C-645D-7E0E-33C091DC5FCD}"/>
              </a:ext>
            </a:extLst>
          </p:cNvPr>
          <p:cNvSpPr/>
          <p:nvPr/>
        </p:nvSpPr>
        <p:spPr>
          <a:xfrm flipH="1">
            <a:off x="5751739" y="1205077"/>
            <a:ext cx="220979" cy="353910"/>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23" name="Estrella: 4 puntas 22">
            <a:extLst>
              <a:ext uri="{FF2B5EF4-FFF2-40B4-BE49-F238E27FC236}">
                <a16:creationId xmlns:a16="http://schemas.microsoft.com/office/drawing/2014/main" id="{0B70F432-FD66-0296-5115-D185DFD28855}"/>
              </a:ext>
            </a:extLst>
          </p:cNvPr>
          <p:cNvSpPr/>
          <p:nvPr/>
        </p:nvSpPr>
        <p:spPr>
          <a:xfrm flipH="1">
            <a:off x="5796871" y="2121603"/>
            <a:ext cx="220979" cy="353910"/>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pic>
        <p:nvPicPr>
          <p:cNvPr id="2" name="Imagen 1" descr="Qué es una Mesh Network o Red inalámbrica mallada">
            <a:extLst>
              <a:ext uri="{FF2B5EF4-FFF2-40B4-BE49-F238E27FC236}">
                <a16:creationId xmlns:a16="http://schemas.microsoft.com/office/drawing/2014/main" id="{FF9B6DC4-EA96-0E99-4817-361C0D0DF1D1}"/>
              </a:ext>
            </a:extLst>
          </p:cNvPr>
          <p:cNvPicPr>
            <a:picLocks noChangeAspect="1"/>
          </p:cNvPicPr>
          <p:nvPr/>
        </p:nvPicPr>
        <p:blipFill>
          <a:blip/>
          <a:stretch>
            <a:fillRect/>
          </a:stretch>
        </p:blipFill>
        <p:spPr>
          <a:xfrm>
            <a:off x="461619" y="2580322"/>
            <a:ext cx="4102408" cy="3045143"/>
          </a:xfrm>
          <a:prstGeom prst="rect">
            <a:avLst/>
          </a:prstGeom>
        </p:spPr>
      </p:pic>
      <p:pic>
        <p:nvPicPr>
          <p:cNvPr id="7" name="Imagen 6" descr="Qué es el tráfico este-oeste? | phoenixNAP Glosario de TI">
            <a:extLst>
              <a:ext uri="{FF2B5EF4-FFF2-40B4-BE49-F238E27FC236}">
                <a16:creationId xmlns:a16="http://schemas.microsoft.com/office/drawing/2014/main" id="{9532258A-219A-C105-7FA9-E5D182B1B4B0}"/>
              </a:ext>
            </a:extLst>
          </p:cNvPr>
          <p:cNvPicPr>
            <a:picLocks noChangeAspect="1"/>
          </p:cNvPicPr>
          <p:nvPr/>
        </p:nvPicPr>
        <p:blipFill>
          <a:blip/>
          <a:stretch>
            <a:fillRect/>
          </a:stretch>
        </p:blipFill>
        <p:spPr>
          <a:xfrm>
            <a:off x="6663206" y="3286362"/>
            <a:ext cx="5263165" cy="2536465"/>
          </a:xfrm>
          <a:prstGeom prst="rect">
            <a:avLst/>
          </a:prstGeom>
        </p:spPr>
      </p:pic>
    </p:spTree>
    <p:extLst>
      <p:ext uri="{BB962C8B-B14F-4D97-AF65-F5344CB8AC3E}">
        <p14:creationId xmlns:p14="http://schemas.microsoft.com/office/powerpoint/2010/main" val="19844481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2C1F6-98D4-5052-9676-84FA4018279C}"/>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F208F2CA-C037-0BA8-F0AD-DA2CFEB0B277}"/>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CB1D9248-73EF-5D55-C413-A0B62A8FA5BE}"/>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0" y="-6014433"/>
            <a:ext cx="12192000" cy="12872433"/>
          </a:xfrm>
          <a:prstGeom prst="rect">
            <a:avLst/>
          </a:prstGeom>
        </p:spPr>
      </p:pic>
      <p:sp>
        <p:nvSpPr>
          <p:cNvPr id="10" name="CuadroTexto 9">
            <a:extLst>
              <a:ext uri="{FF2B5EF4-FFF2-40B4-BE49-F238E27FC236}">
                <a16:creationId xmlns:a16="http://schemas.microsoft.com/office/drawing/2014/main" id="{34C7A197-4793-94AF-E981-D3266552A74C}"/>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A46D8299-294E-EDE3-C6A3-58BE94BF1DBA}"/>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204D8DFF-4F4A-2A4D-E92F-7E7130C0581B}"/>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sp>
        <p:nvSpPr>
          <p:cNvPr id="15" name="CuadroTexto 14">
            <a:extLst>
              <a:ext uri="{FF2B5EF4-FFF2-40B4-BE49-F238E27FC236}">
                <a16:creationId xmlns:a16="http://schemas.microsoft.com/office/drawing/2014/main" id="{E5D229FB-CA36-747D-477B-C11109326198}"/>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sp>
        <p:nvSpPr>
          <p:cNvPr id="17" name="CuadroTexto 16">
            <a:extLst>
              <a:ext uri="{FF2B5EF4-FFF2-40B4-BE49-F238E27FC236}">
                <a16:creationId xmlns:a16="http://schemas.microsoft.com/office/drawing/2014/main" id="{F9196293-76FB-D9BA-76E8-9B3077BF9FAC}"/>
              </a:ext>
            </a:extLst>
          </p:cNvPr>
          <p:cNvSpPr txBox="1"/>
          <p:nvPr/>
        </p:nvSpPr>
        <p:spPr>
          <a:xfrm>
            <a:off x="945861" y="-60960"/>
            <a:ext cx="11246139" cy="1015663"/>
          </a:xfrm>
          <a:prstGeom prst="rect">
            <a:avLst/>
          </a:prstGeom>
          <a:noFill/>
        </p:spPr>
        <p:txBody>
          <a:bodyPr wrap="square" rtlCol="0">
            <a:spAutoFit/>
          </a:bodyPr>
          <a:lstStyle/>
          <a:p>
            <a:r>
              <a:rPr lang="es-PE" sz="6000" b="1" dirty="0">
                <a:solidFill>
                  <a:schemeClr val="bg1"/>
                </a:solidFill>
                <a:latin typeface="Aharoni" panose="02010803020104030203" pitchFamily="2" charset="-79"/>
                <a:cs typeface="Aharoni" panose="02010803020104030203" pitchFamily="2" charset="-79"/>
              </a:rPr>
              <a:t> Estructura de dos niveles:</a:t>
            </a:r>
            <a:endParaRPr lang="es-PE" sz="6000" dirty="0">
              <a:solidFill>
                <a:schemeClr val="bg1"/>
              </a:solidFill>
              <a:latin typeface="Aharoni" panose="02010803020104030203" pitchFamily="2" charset="-79"/>
              <a:cs typeface="Aharoni" panose="02010803020104030203" pitchFamily="2" charset="-79"/>
            </a:endParaRPr>
          </a:p>
        </p:txBody>
      </p:sp>
      <p:pic>
        <p:nvPicPr>
          <p:cNvPr id="19" name="Gráfico 18" descr="Nube con relleno sólido">
            <a:extLst>
              <a:ext uri="{FF2B5EF4-FFF2-40B4-BE49-F238E27FC236}">
                <a16:creationId xmlns:a16="http://schemas.microsoft.com/office/drawing/2014/main" id="{10DE487F-9B6B-543C-50CD-917733BFA492}"/>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183861" y="-242279"/>
            <a:ext cx="914400" cy="914400"/>
          </a:xfrm>
          <a:prstGeom prst="rect">
            <a:avLst/>
          </a:prstGeom>
        </p:spPr>
      </p:pic>
      <p:sp>
        <p:nvSpPr>
          <p:cNvPr id="4" name="CuadroTexto 3">
            <a:extLst>
              <a:ext uri="{FF2B5EF4-FFF2-40B4-BE49-F238E27FC236}">
                <a16:creationId xmlns:a16="http://schemas.microsoft.com/office/drawing/2014/main" id="{9DD512FA-4291-9758-2EF4-D26751487F32}"/>
              </a:ext>
            </a:extLst>
          </p:cNvPr>
          <p:cNvSpPr txBox="1"/>
          <p:nvPr/>
        </p:nvSpPr>
        <p:spPr>
          <a:xfrm>
            <a:off x="0" y="1182796"/>
            <a:ext cx="10820400" cy="1477328"/>
          </a:xfrm>
          <a:prstGeom prst="rect">
            <a:avLst/>
          </a:prstGeom>
          <a:noFill/>
        </p:spPr>
        <p:txBody>
          <a:bodyPr wrap="square" rtlCol="0">
            <a:spAutoFit/>
          </a:bodyPr>
          <a:lstStyle/>
          <a:p>
            <a:pPr marL="285750" lvl="0" indent="-285750">
              <a:buFont typeface="Wingdings" panose="05000000000000000000" pitchFamily="2" charset="2"/>
              <a:buChar char="ü"/>
            </a:pPr>
            <a:r>
              <a:rPr lang="es-PE" b="1" dirty="0">
                <a:solidFill>
                  <a:schemeClr val="bg1"/>
                </a:solidFill>
                <a:latin typeface="Book Antiqua" panose="02040602050305030304" pitchFamily="18" charset="0"/>
              </a:rPr>
              <a:t>Escalabilidad y Rendimiento:</a:t>
            </a:r>
            <a:r>
              <a:rPr lang="es-PE" dirty="0">
                <a:solidFill>
                  <a:schemeClr val="bg1"/>
                </a:solidFill>
                <a:latin typeface="Book Antiqua" panose="02040602050305030304" pitchFamily="18" charset="0"/>
              </a:rPr>
              <a:t> Si se necesita más ancho de banda, simplemente se añaden más switches </a:t>
            </a:r>
            <a:r>
              <a:rPr lang="es-PE" i="1" dirty="0" err="1">
                <a:solidFill>
                  <a:schemeClr val="bg1"/>
                </a:solidFill>
                <a:latin typeface="Book Antiqua" panose="02040602050305030304" pitchFamily="18" charset="0"/>
              </a:rPr>
              <a:t>Spine</a:t>
            </a:r>
            <a:r>
              <a:rPr lang="es-PE" dirty="0">
                <a:solidFill>
                  <a:schemeClr val="bg1"/>
                </a:solidFill>
                <a:latin typeface="Book Antiqua" panose="02040602050305030304" pitchFamily="18" charset="0"/>
              </a:rPr>
              <a:t>. Si se necesita conectar más servidores, se añaden switches </a:t>
            </a:r>
            <a:r>
              <a:rPr lang="es-PE" i="1" dirty="0" err="1">
                <a:solidFill>
                  <a:schemeClr val="bg1"/>
                </a:solidFill>
                <a:latin typeface="Book Antiqua" panose="02040602050305030304" pitchFamily="18" charset="0"/>
              </a:rPr>
              <a:t>Leaf</a:t>
            </a:r>
            <a:r>
              <a:rPr lang="es-PE" dirty="0">
                <a:solidFill>
                  <a:schemeClr val="bg1"/>
                </a:solidFill>
                <a:latin typeface="Book Antiqua" panose="02040602050305030304" pitchFamily="18" charset="0"/>
              </a:rPr>
              <a:t>. Al utilizar protocolos de enrutamiento avanzados (como ECMP), la red puede usar todos los caminos disponibles al mismo tiempo, evitando cuellos de botella.</a:t>
            </a:r>
          </a:p>
          <a:p>
            <a:endParaRPr lang="es-PE" dirty="0"/>
          </a:p>
        </p:txBody>
      </p:sp>
      <p:sp>
        <p:nvSpPr>
          <p:cNvPr id="25" name="Estrella: 4 puntas 24">
            <a:extLst>
              <a:ext uri="{FF2B5EF4-FFF2-40B4-BE49-F238E27FC236}">
                <a16:creationId xmlns:a16="http://schemas.microsoft.com/office/drawing/2014/main" id="{37EFE8F7-42D4-FC37-5B18-5D8AD6B2A1F9}"/>
              </a:ext>
            </a:extLst>
          </p:cNvPr>
          <p:cNvSpPr/>
          <p:nvPr/>
        </p:nvSpPr>
        <p:spPr>
          <a:xfrm>
            <a:off x="11658600" y="6206074"/>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6" name="Estrella: 4 puntas 25">
            <a:extLst>
              <a:ext uri="{FF2B5EF4-FFF2-40B4-BE49-F238E27FC236}">
                <a16:creationId xmlns:a16="http://schemas.microsoft.com/office/drawing/2014/main" id="{FE845342-084D-54F8-681A-01E748E2F9AE}"/>
              </a:ext>
            </a:extLst>
          </p:cNvPr>
          <p:cNvSpPr/>
          <p:nvPr/>
        </p:nvSpPr>
        <p:spPr>
          <a:xfrm>
            <a:off x="717261" y="6082247"/>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7" name="Estrella: 4 puntas 26">
            <a:extLst>
              <a:ext uri="{FF2B5EF4-FFF2-40B4-BE49-F238E27FC236}">
                <a16:creationId xmlns:a16="http://schemas.microsoft.com/office/drawing/2014/main" id="{744203AA-19B8-5493-1CCB-1149239455FD}"/>
              </a:ext>
            </a:extLst>
          </p:cNvPr>
          <p:cNvSpPr/>
          <p:nvPr/>
        </p:nvSpPr>
        <p:spPr>
          <a:xfrm>
            <a:off x="11131839" y="244459"/>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3" name="Imagen 2" descr="Bases de datos NoSQL | Escalabilidad de Bases de Datos">
            <a:extLst>
              <a:ext uri="{FF2B5EF4-FFF2-40B4-BE49-F238E27FC236}">
                <a16:creationId xmlns:a16="http://schemas.microsoft.com/office/drawing/2014/main" id="{56AC5B85-B3A1-C4B8-A684-85C62348BE53}"/>
              </a:ext>
            </a:extLst>
          </p:cNvPr>
          <p:cNvPicPr>
            <a:picLocks noChangeAspect="1"/>
          </p:cNvPicPr>
          <p:nvPr/>
        </p:nvPicPr>
        <p:blipFill>
          <a:blip/>
          <a:stretch>
            <a:fillRect/>
          </a:stretch>
        </p:blipFill>
        <p:spPr>
          <a:xfrm>
            <a:off x="641061" y="3347501"/>
            <a:ext cx="3494916" cy="2058649"/>
          </a:xfrm>
          <a:prstGeom prst="rect">
            <a:avLst/>
          </a:prstGeom>
        </p:spPr>
      </p:pic>
      <p:pic>
        <p:nvPicPr>
          <p:cNvPr id="5" name="Imagen 4" descr="Cómo elevar la escalabilidad de una empresa?">
            <a:extLst>
              <a:ext uri="{FF2B5EF4-FFF2-40B4-BE49-F238E27FC236}">
                <a16:creationId xmlns:a16="http://schemas.microsoft.com/office/drawing/2014/main" id="{4C3CD34F-7053-DA65-4D03-3C5B29F60683}"/>
              </a:ext>
            </a:extLst>
          </p:cNvPr>
          <p:cNvPicPr>
            <a:picLocks noChangeAspect="1"/>
          </p:cNvPicPr>
          <p:nvPr/>
        </p:nvPicPr>
        <p:blipFill>
          <a:blip/>
          <a:stretch>
            <a:fillRect/>
          </a:stretch>
        </p:blipFill>
        <p:spPr>
          <a:xfrm>
            <a:off x="6568930" y="3150345"/>
            <a:ext cx="5012133" cy="2782448"/>
          </a:xfrm>
          <a:prstGeom prst="rect">
            <a:avLst/>
          </a:prstGeom>
        </p:spPr>
      </p:pic>
      <p:sp>
        <p:nvSpPr>
          <p:cNvPr id="13" name="Flecha: a la derecha 12">
            <a:extLst>
              <a:ext uri="{FF2B5EF4-FFF2-40B4-BE49-F238E27FC236}">
                <a16:creationId xmlns:a16="http://schemas.microsoft.com/office/drawing/2014/main" id="{C8BEB5B7-40D9-5AC9-32D9-0A3489C1D68D}"/>
              </a:ext>
            </a:extLst>
          </p:cNvPr>
          <p:cNvSpPr/>
          <p:nvPr/>
        </p:nvSpPr>
        <p:spPr>
          <a:xfrm>
            <a:off x="4526280" y="3733562"/>
            <a:ext cx="1234440" cy="686038"/>
          </a:xfrm>
          <a:prstGeom prst="rightArrow">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4" name="Flecha: a la derecha 13">
            <a:extLst>
              <a:ext uri="{FF2B5EF4-FFF2-40B4-BE49-F238E27FC236}">
                <a16:creationId xmlns:a16="http://schemas.microsoft.com/office/drawing/2014/main" id="{8F8332A3-81AA-DA34-E1CA-E74BBCE1C5D3}"/>
              </a:ext>
            </a:extLst>
          </p:cNvPr>
          <p:cNvSpPr/>
          <p:nvPr/>
        </p:nvSpPr>
        <p:spPr>
          <a:xfrm rot="10800000">
            <a:off x="4861560" y="4731302"/>
            <a:ext cx="1234440" cy="686038"/>
          </a:xfrm>
          <a:prstGeom prst="rightArrow">
            <a:avLst/>
          </a:prstGeom>
          <a:solidFill>
            <a:schemeClr val="tx2">
              <a:lumMod val="40000"/>
              <a:lumOff val="6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22200282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36358-E317-A316-0DB1-820F5CE90BB8}"/>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DADDFE3A-99D3-1E3B-85E3-6BE145FFD867}"/>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D06F5E50-FF95-CEF4-BD35-4253B7AC91CB}"/>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0" y="-6031945"/>
            <a:ext cx="12192000" cy="12872433"/>
          </a:xfrm>
          <a:prstGeom prst="rect">
            <a:avLst/>
          </a:prstGeom>
        </p:spPr>
      </p:pic>
      <p:sp>
        <p:nvSpPr>
          <p:cNvPr id="10" name="CuadroTexto 9">
            <a:extLst>
              <a:ext uri="{FF2B5EF4-FFF2-40B4-BE49-F238E27FC236}">
                <a16:creationId xmlns:a16="http://schemas.microsoft.com/office/drawing/2014/main" id="{B53EB306-BB2A-D5E1-D6FA-FE69F7512E72}"/>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6F095DA8-EE22-CFD0-81B7-F11B4F8D23D9}"/>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8463FE5F-8864-8265-47F9-645646C8C57F}"/>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sp>
        <p:nvSpPr>
          <p:cNvPr id="15" name="CuadroTexto 14">
            <a:extLst>
              <a:ext uri="{FF2B5EF4-FFF2-40B4-BE49-F238E27FC236}">
                <a16:creationId xmlns:a16="http://schemas.microsoft.com/office/drawing/2014/main" id="{ABEF72A9-3458-8229-1E2B-A574C722202A}"/>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sp>
        <p:nvSpPr>
          <p:cNvPr id="17" name="CuadroTexto 16">
            <a:extLst>
              <a:ext uri="{FF2B5EF4-FFF2-40B4-BE49-F238E27FC236}">
                <a16:creationId xmlns:a16="http://schemas.microsoft.com/office/drawing/2014/main" id="{39B910AE-5EFF-6C24-7352-B0659E83A065}"/>
              </a:ext>
            </a:extLst>
          </p:cNvPr>
          <p:cNvSpPr txBox="1"/>
          <p:nvPr/>
        </p:nvSpPr>
        <p:spPr>
          <a:xfrm>
            <a:off x="1098261" y="-71894"/>
            <a:ext cx="11246139" cy="1077218"/>
          </a:xfrm>
          <a:prstGeom prst="rect">
            <a:avLst/>
          </a:prstGeom>
          <a:noFill/>
        </p:spPr>
        <p:txBody>
          <a:bodyPr wrap="square" rtlCol="0">
            <a:spAutoFit/>
          </a:bodyPr>
          <a:lstStyle/>
          <a:p>
            <a:r>
              <a:rPr lang="es-MX" sz="3200" b="1" dirty="0">
                <a:solidFill>
                  <a:schemeClr val="bg1"/>
                </a:solidFill>
                <a:latin typeface="Aharoni" panose="02010803020104030203" pitchFamily="2" charset="-79"/>
                <a:cs typeface="Aharoni" panose="02010803020104030203" pitchFamily="2" charset="-79"/>
              </a:rPr>
              <a:t>TECNOLOGÍAS DE CONECTIVIDAD POR FIBRA ÓPTICA (GPON, FTTH)</a:t>
            </a:r>
            <a:endParaRPr lang="es-PE" sz="3200" dirty="0">
              <a:solidFill>
                <a:schemeClr val="bg1"/>
              </a:solidFill>
              <a:latin typeface="Aharoni" panose="02010803020104030203" pitchFamily="2" charset="-79"/>
              <a:cs typeface="Aharoni" panose="02010803020104030203" pitchFamily="2" charset="-79"/>
            </a:endParaRPr>
          </a:p>
        </p:txBody>
      </p:sp>
      <p:pic>
        <p:nvPicPr>
          <p:cNvPr id="19" name="Gráfico 18" descr="Nube con relleno sólido">
            <a:extLst>
              <a:ext uri="{FF2B5EF4-FFF2-40B4-BE49-F238E27FC236}">
                <a16:creationId xmlns:a16="http://schemas.microsoft.com/office/drawing/2014/main" id="{D7941ACE-9F38-A17C-7430-D866C6DF2505}"/>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183861" y="-242279"/>
            <a:ext cx="914400" cy="914400"/>
          </a:xfrm>
          <a:prstGeom prst="rect">
            <a:avLst/>
          </a:prstGeom>
        </p:spPr>
      </p:pic>
      <p:sp>
        <p:nvSpPr>
          <p:cNvPr id="25" name="Estrella: 4 puntas 24">
            <a:extLst>
              <a:ext uri="{FF2B5EF4-FFF2-40B4-BE49-F238E27FC236}">
                <a16:creationId xmlns:a16="http://schemas.microsoft.com/office/drawing/2014/main" id="{A1751ECD-3C2F-EB46-647A-E26589FC4A4D}"/>
              </a:ext>
            </a:extLst>
          </p:cNvPr>
          <p:cNvSpPr/>
          <p:nvPr/>
        </p:nvSpPr>
        <p:spPr>
          <a:xfrm>
            <a:off x="11658600" y="6206074"/>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6" name="Estrella: 4 puntas 25">
            <a:extLst>
              <a:ext uri="{FF2B5EF4-FFF2-40B4-BE49-F238E27FC236}">
                <a16:creationId xmlns:a16="http://schemas.microsoft.com/office/drawing/2014/main" id="{D85C89D3-D574-46EF-1C9E-706F7B4AC1B8}"/>
              </a:ext>
            </a:extLst>
          </p:cNvPr>
          <p:cNvSpPr/>
          <p:nvPr/>
        </p:nvSpPr>
        <p:spPr>
          <a:xfrm>
            <a:off x="526761" y="6367006"/>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7" name="Estrella: 4 puntas 26">
            <a:extLst>
              <a:ext uri="{FF2B5EF4-FFF2-40B4-BE49-F238E27FC236}">
                <a16:creationId xmlns:a16="http://schemas.microsoft.com/office/drawing/2014/main" id="{4B649969-CC50-A6AD-E07B-84E68C18F2F9}"/>
              </a:ext>
            </a:extLst>
          </p:cNvPr>
          <p:cNvSpPr/>
          <p:nvPr/>
        </p:nvSpPr>
        <p:spPr>
          <a:xfrm>
            <a:off x="11275638" y="408936"/>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CuadroTexto 1">
            <a:extLst>
              <a:ext uri="{FF2B5EF4-FFF2-40B4-BE49-F238E27FC236}">
                <a16:creationId xmlns:a16="http://schemas.microsoft.com/office/drawing/2014/main" id="{FEC98EC9-A242-0F11-9721-1DA866DF804E}"/>
              </a:ext>
            </a:extLst>
          </p:cNvPr>
          <p:cNvSpPr txBox="1"/>
          <p:nvPr/>
        </p:nvSpPr>
        <p:spPr>
          <a:xfrm>
            <a:off x="389891" y="1233795"/>
            <a:ext cx="4953000" cy="5293757"/>
          </a:xfrm>
          <a:prstGeom prst="rect">
            <a:avLst/>
          </a:prstGeom>
          <a:noFill/>
        </p:spPr>
        <p:txBody>
          <a:bodyPr wrap="square" rtlCol="0">
            <a:spAutoFit/>
          </a:bodyPr>
          <a:lstStyle/>
          <a:p>
            <a:r>
              <a:rPr lang="es-MX" sz="1600" b="1" dirty="0">
                <a:solidFill>
                  <a:schemeClr val="bg1"/>
                </a:solidFill>
                <a:latin typeface="Book Antiqua" panose="02040602050305030304" pitchFamily="18" charset="0"/>
              </a:rPr>
              <a:t>1.- </a:t>
            </a:r>
            <a:r>
              <a:rPr lang="es-PE" sz="1600" b="1" dirty="0">
                <a:solidFill>
                  <a:schemeClr val="bg1"/>
                </a:solidFill>
                <a:latin typeface="Book Antiqua" panose="02040602050305030304" pitchFamily="18" charset="0"/>
              </a:rPr>
              <a:t>¿Qué es GPON y cómo se aplica en FTTH?</a:t>
            </a:r>
            <a:endParaRPr lang="es-PE" sz="1600" dirty="0">
              <a:solidFill>
                <a:schemeClr val="bg1"/>
              </a:solidFill>
              <a:latin typeface="Book Antiqua" panose="02040602050305030304" pitchFamily="18" charset="0"/>
            </a:endParaRPr>
          </a:p>
          <a:p>
            <a:r>
              <a:rPr lang="es-PE" sz="1600" dirty="0">
                <a:solidFill>
                  <a:schemeClr val="bg1"/>
                </a:solidFill>
                <a:latin typeface="Book Antiqua" panose="02040602050305030304" pitchFamily="18" charset="0"/>
              </a:rPr>
              <a:t>Lo primero es entender qué es GPON y cómo se aplica en el contexto de FTTH. GPON (Gigabit </a:t>
            </a:r>
            <a:r>
              <a:rPr lang="es-PE" sz="1600" dirty="0" err="1">
                <a:solidFill>
                  <a:schemeClr val="bg1"/>
                </a:solidFill>
                <a:latin typeface="Book Antiqua" panose="02040602050305030304" pitchFamily="18" charset="0"/>
              </a:rPr>
              <a:t>Passive</a:t>
            </a:r>
            <a:r>
              <a:rPr lang="es-PE" sz="1600" dirty="0">
                <a:solidFill>
                  <a:schemeClr val="bg1"/>
                </a:solidFill>
                <a:latin typeface="Book Antiqua" panose="02040602050305030304" pitchFamily="18" charset="0"/>
              </a:rPr>
              <a:t> </a:t>
            </a:r>
            <a:r>
              <a:rPr lang="es-PE" sz="1600" dirty="0" err="1">
                <a:solidFill>
                  <a:schemeClr val="bg1"/>
                </a:solidFill>
                <a:latin typeface="Book Antiqua" panose="02040602050305030304" pitchFamily="18" charset="0"/>
              </a:rPr>
              <a:t>Optical</a:t>
            </a:r>
            <a:r>
              <a:rPr lang="es-PE" sz="1600" dirty="0">
                <a:solidFill>
                  <a:schemeClr val="bg1"/>
                </a:solidFill>
                <a:latin typeface="Book Antiqua" panose="02040602050305030304" pitchFamily="18" charset="0"/>
              </a:rPr>
              <a:t> Network) es una tecnología de fibra óptica pasiva que permite la transmisión de datos a altas velocidades a través de una red compartida, utilizando un único cable de fibra óptica. Por su parte, FTTH (</a:t>
            </a:r>
            <a:r>
              <a:rPr lang="es-PE" sz="1600" dirty="0" err="1">
                <a:solidFill>
                  <a:schemeClr val="bg1"/>
                </a:solidFill>
                <a:latin typeface="Book Antiqua" panose="02040602050305030304" pitchFamily="18" charset="0"/>
              </a:rPr>
              <a:t>Fiber</a:t>
            </a:r>
            <a:r>
              <a:rPr lang="es-PE" sz="1600" dirty="0">
                <a:solidFill>
                  <a:schemeClr val="bg1"/>
                </a:solidFill>
                <a:latin typeface="Book Antiqua" panose="02040602050305030304" pitchFamily="18" charset="0"/>
              </a:rPr>
              <a:t> </a:t>
            </a:r>
            <a:r>
              <a:rPr lang="es-PE" sz="1600" dirty="0" err="1">
                <a:solidFill>
                  <a:schemeClr val="bg1"/>
                </a:solidFill>
                <a:latin typeface="Book Antiqua" panose="02040602050305030304" pitchFamily="18" charset="0"/>
              </a:rPr>
              <a:t>to</a:t>
            </a:r>
            <a:r>
              <a:rPr lang="es-PE" sz="1600" dirty="0">
                <a:solidFill>
                  <a:schemeClr val="bg1"/>
                </a:solidFill>
                <a:latin typeface="Book Antiqua" panose="02040602050305030304" pitchFamily="18" charset="0"/>
              </a:rPr>
              <a:t> </a:t>
            </a:r>
            <a:r>
              <a:rPr lang="es-PE" sz="1600" dirty="0" err="1">
                <a:solidFill>
                  <a:schemeClr val="bg1"/>
                </a:solidFill>
                <a:latin typeface="Book Antiqua" panose="02040602050305030304" pitchFamily="18" charset="0"/>
              </a:rPr>
              <a:t>the</a:t>
            </a:r>
            <a:r>
              <a:rPr lang="es-PE" sz="1600" dirty="0">
                <a:solidFill>
                  <a:schemeClr val="bg1"/>
                </a:solidFill>
                <a:latin typeface="Book Antiqua" panose="02040602050305030304" pitchFamily="18" charset="0"/>
              </a:rPr>
              <a:t> Home) se refiere a la instalación de fibra óptica directamente en el hogar del usuario final, lo que garantiza una conexión rápida y confiable.</a:t>
            </a:r>
          </a:p>
          <a:p>
            <a:r>
              <a:rPr lang="es-PE" sz="1600" dirty="0">
                <a:solidFill>
                  <a:schemeClr val="bg1"/>
                </a:solidFill>
                <a:latin typeface="Book Antiqua" panose="02040602050305030304" pitchFamily="18" charset="0"/>
              </a:rPr>
              <a:t>La arquitectura de una red de fibra óptica GPON FTTH aprovecha la flexibilidad de GPON para llevar la fibra óptica directamente a la casa del usuario, asegurando un servicio de alta calidad y una gran capacidad de transmisión. Esta combinación de tecnologías permite que los usuarios disfruten de velocidades de conexión mucho mayores que las que ofrecen otras soluciones de red, como las conexiones de cobre.</a:t>
            </a:r>
          </a:p>
          <a:p>
            <a:endParaRPr lang="es-PE" dirty="0"/>
          </a:p>
        </p:txBody>
      </p:sp>
      <p:sp>
        <p:nvSpPr>
          <p:cNvPr id="7" name="CuadroTexto 6">
            <a:extLst>
              <a:ext uri="{FF2B5EF4-FFF2-40B4-BE49-F238E27FC236}">
                <a16:creationId xmlns:a16="http://schemas.microsoft.com/office/drawing/2014/main" id="{A78CCD40-B06D-7708-615B-B0F9A51688FF}"/>
              </a:ext>
            </a:extLst>
          </p:cNvPr>
          <p:cNvSpPr txBox="1"/>
          <p:nvPr/>
        </p:nvSpPr>
        <p:spPr>
          <a:xfrm>
            <a:off x="7000818" y="2348567"/>
            <a:ext cx="4389120" cy="3139321"/>
          </a:xfrm>
          <a:prstGeom prst="rect">
            <a:avLst/>
          </a:prstGeom>
          <a:noFill/>
        </p:spPr>
        <p:txBody>
          <a:bodyPr wrap="square" rtlCol="0">
            <a:spAutoFit/>
          </a:bodyPr>
          <a:lstStyle/>
          <a:p>
            <a:r>
              <a:rPr lang="es-MX" b="1" dirty="0">
                <a:solidFill>
                  <a:schemeClr val="bg1"/>
                </a:solidFill>
                <a:latin typeface="Book Antiqua" panose="02040602050305030304" pitchFamily="18" charset="0"/>
              </a:rPr>
              <a:t>2.- </a:t>
            </a:r>
            <a:r>
              <a:rPr lang="es-PE" b="1" dirty="0">
                <a:solidFill>
                  <a:schemeClr val="bg1"/>
                </a:solidFill>
                <a:latin typeface="Book Antiqua" panose="02040602050305030304" pitchFamily="18" charset="0"/>
              </a:rPr>
              <a:t>Componentes clave de la arquitectura de una red GPON FTTH</a:t>
            </a:r>
            <a:endParaRPr lang="es-PE" dirty="0">
              <a:solidFill>
                <a:schemeClr val="bg1"/>
              </a:solidFill>
              <a:latin typeface="Book Antiqua" panose="02040602050305030304" pitchFamily="18" charset="0"/>
            </a:endParaRPr>
          </a:p>
          <a:p>
            <a:r>
              <a:rPr lang="es-PE" dirty="0">
                <a:solidFill>
                  <a:schemeClr val="bg1"/>
                </a:solidFill>
                <a:latin typeface="Book Antiqua" panose="02040602050305030304" pitchFamily="18" charset="0"/>
              </a:rPr>
              <a:t>La arquitectura de una red de fibra óptica GPON FTTH consta de varios componentes esenciales que trabajan juntos para garantizar una transmisión eficiente y de alta calidad. Estos componentes incluyen el OLT, el ONT, el </a:t>
            </a:r>
            <a:r>
              <a:rPr lang="es-PE" dirty="0" err="1">
                <a:solidFill>
                  <a:schemeClr val="bg1"/>
                </a:solidFill>
                <a:latin typeface="Book Antiqua" panose="02040602050305030304" pitchFamily="18" charset="0"/>
              </a:rPr>
              <a:t>splitter</a:t>
            </a:r>
            <a:r>
              <a:rPr lang="es-PE" dirty="0">
                <a:solidFill>
                  <a:schemeClr val="bg1"/>
                </a:solidFill>
                <a:latin typeface="Book Antiqua" panose="02040602050305030304" pitchFamily="18" charset="0"/>
              </a:rPr>
              <a:t> óptico y la fibra óptica que conecta cada uno de estos elementos.</a:t>
            </a:r>
          </a:p>
          <a:p>
            <a:endParaRPr lang="es-PE" dirty="0"/>
          </a:p>
        </p:txBody>
      </p:sp>
    </p:spTree>
    <p:extLst>
      <p:ext uri="{BB962C8B-B14F-4D97-AF65-F5344CB8AC3E}">
        <p14:creationId xmlns:p14="http://schemas.microsoft.com/office/powerpoint/2010/main" val="4861143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22411-3775-6E50-E124-4464909873B8}"/>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525682E8-4A83-D463-C1A5-D6572AAEEF2E}"/>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BE9E9A43-F700-E765-C6A0-46A5BCF61194}"/>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0" y="-6031945"/>
            <a:ext cx="12192000" cy="12872433"/>
          </a:xfrm>
          <a:prstGeom prst="rect">
            <a:avLst/>
          </a:prstGeom>
        </p:spPr>
      </p:pic>
      <p:sp>
        <p:nvSpPr>
          <p:cNvPr id="10" name="CuadroTexto 9">
            <a:extLst>
              <a:ext uri="{FF2B5EF4-FFF2-40B4-BE49-F238E27FC236}">
                <a16:creationId xmlns:a16="http://schemas.microsoft.com/office/drawing/2014/main" id="{0929845C-A67C-5291-BB14-E5620088DDDF}"/>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DB267572-EFF1-7129-64F3-2D99F29DC5C4}"/>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165C2027-B099-65BF-457F-0C40509354E7}"/>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sp>
        <p:nvSpPr>
          <p:cNvPr id="15" name="CuadroTexto 14">
            <a:extLst>
              <a:ext uri="{FF2B5EF4-FFF2-40B4-BE49-F238E27FC236}">
                <a16:creationId xmlns:a16="http://schemas.microsoft.com/office/drawing/2014/main" id="{E391EFEA-59B6-3F65-E753-11C77299ECFF}"/>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pic>
        <p:nvPicPr>
          <p:cNvPr id="19" name="Gráfico 18" descr="Nube con relleno sólido">
            <a:extLst>
              <a:ext uri="{FF2B5EF4-FFF2-40B4-BE49-F238E27FC236}">
                <a16:creationId xmlns:a16="http://schemas.microsoft.com/office/drawing/2014/main" id="{67439528-C267-FCDC-15F5-1E3D629F6628}"/>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0" y="-126752"/>
            <a:ext cx="914400" cy="914400"/>
          </a:xfrm>
          <a:prstGeom prst="rect">
            <a:avLst/>
          </a:prstGeom>
        </p:spPr>
      </p:pic>
      <p:sp>
        <p:nvSpPr>
          <p:cNvPr id="25" name="Estrella: 4 puntas 24">
            <a:extLst>
              <a:ext uri="{FF2B5EF4-FFF2-40B4-BE49-F238E27FC236}">
                <a16:creationId xmlns:a16="http://schemas.microsoft.com/office/drawing/2014/main" id="{E7C55B34-A116-871B-9A9E-CE604C69483B}"/>
              </a:ext>
            </a:extLst>
          </p:cNvPr>
          <p:cNvSpPr/>
          <p:nvPr/>
        </p:nvSpPr>
        <p:spPr>
          <a:xfrm>
            <a:off x="11658600" y="6206074"/>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6" name="Estrella: 4 puntas 25">
            <a:extLst>
              <a:ext uri="{FF2B5EF4-FFF2-40B4-BE49-F238E27FC236}">
                <a16:creationId xmlns:a16="http://schemas.microsoft.com/office/drawing/2014/main" id="{00BEFA7C-403C-3344-F612-0BBCF6A98212}"/>
              </a:ext>
            </a:extLst>
          </p:cNvPr>
          <p:cNvSpPr/>
          <p:nvPr/>
        </p:nvSpPr>
        <p:spPr>
          <a:xfrm>
            <a:off x="526761" y="6367006"/>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7" name="Estrella: 4 puntas 26">
            <a:extLst>
              <a:ext uri="{FF2B5EF4-FFF2-40B4-BE49-F238E27FC236}">
                <a16:creationId xmlns:a16="http://schemas.microsoft.com/office/drawing/2014/main" id="{0F5921CB-3DBC-5F84-6D4B-F09570151045}"/>
              </a:ext>
            </a:extLst>
          </p:cNvPr>
          <p:cNvSpPr/>
          <p:nvPr/>
        </p:nvSpPr>
        <p:spPr>
          <a:xfrm>
            <a:off x="11275638" y="408936"/>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CuadroTexto 1">
            <a:extLst>
              <a:ext uri="{FF2B5EF4-FFF2-40B4-BE49-F238E27FC236}">
                <a16:creationId xmlns:a16="http://schemas.microsoft.com/office/drawing/2014/main" id="{42D7F037-D4C6-5742-B616-7DF374623C3B}"/>
              </a:ext>
            </a:extLst>
          </p:cNvPr>
          <p:cNvSpPr txBox="1"/>
          <p:nvPr/>
        </p:nvSpPr>
        <p:spPr>
          <a:xfrm>
            <a:off x="389890" y="1233795"/>
            <a:ext cx="6422389" cy="1661993"/>
          </a:xfrm>
          <a:prstGeom prst="rect">
            <a:avLst/>
          </a:prstGeom>
          <a:noFill/>
        </p:spPr>
        <p:txBody>
          <a:bodyPr wrap="square" rtlCol="0">
            <a:spAutoFit/>
          </a:bodyPr>
          <a:lstStyle/>
          <a:p>
            <a:pPr marL="285750" lvl="0" indent="-285750">
              <a:buFont typeface="Courier New" panose="02070309020205020404" pitchFamily="49" charset="0"/>
              <a:buChar char="o"/>
            </a:pPr>
            <a:r>
              <a:rPr lang="es-PE" sz="1400" b="1" dirty="0">
                <a:solidFill>
                  <a:schemeClr val="bg1"/>
                </a:solidFill>
              </a:rPr>
              <a:t>OLT (</a:t>
            </a:r>
            <a:r>
              <a:rPr lang="es-PE" sz="1400" b="1" dirty="0" err="1">
                <a:solidFill>
                  <a:schemeClr val="bg1"/>
                </a:solidFill>
              </a:rPr>
              <a:t>Optical</a:t>
            </a:r>
            <a:r>
              <a:rPr lang="es-PE" sz="1400" b="1" dirty="0">
                <a:solidFill>
                  <a:schemeClr val="bg1"/>
                </a:solidFill>
              </a:rPr>
              <a:t> Line Terminal):</a:t>
            </a:r>
            <a:r>
              <a:rPr lang="es-PE" sz="1400" dirty="0">
                <a:solidFill>
                  <a:schemeClr val="bg1"/>
                </a:solidFill>
              </a:rPr>
              <a:t> El OLT es el centro de la red, ubicado en la central del proveedor de servicios. Este dispositivo es responsable de gestionar y controlar el tráfico de datos que se transmite a través de la fibra óptica. El OLT se conecta a la red troncal de fibra óptica y distribuye las señales a los ONT de los usuarios finales mediante divisores ópticos pasivos, conocidos como </a:t>
            </a:r>
            <a:r>
              <a:rPr lang="es-PE" sz="1400" dirty="0" err="1">
                <a:solidFill>
                  <a:schemeClr val="bg1"/>
                </a:solidFill>
              </a:rPr>
              <a:t>splitters</a:t>
            </a:r>
            <a:r>
              <a:rPr lang="es-PE" sz="1400" dirty="0">
                <a:solidFill>
                  <a:schemeClr val="bg1"/>
                </a:solidFill>
              </a:rPr>
              <a:t> ópticos.</a:t>
            </a:r>
          </a:p>
          <a:p>
            <a:endParaRPr lang="es-PE" dirty="0"/>
          </a:p>
        </p:txBody>
      </p:sp>
      <p:sp>
        <p:nvSpPr>
          <p:cNvPr id="7" name="CuadroTexto 6">
            <a:extLst>
              <a:ext uri="{FF2B5EF4-FFF2-40B4-BE49-F238E27FC236}">
                <a16:creationId xmlns:a16="http://schemas.microsoft.com/office/drawing/2014/main" id="{6122218A-7297-FC36-5A51-527952F613EF}"/>
              </a:ext>
            </a:extLst>
          </p:cNvPr>
          <p:cNvSpPr txBox="1"/>
          <p:nvPr/>
        </p:nvSpPr>
        <p:spPr>
          <a:xfrm>
            <a:off x="457200" y="3821697"/>
            <a:ext cx="6049299" cy="2092881"/>
          </a:xfrm>
          <a:prstGeom prst="rect">
            <a:avLst/>
          </a:prstGeom>
          <a:noFill/>
        </p:spPr>
        <p:txBody>
          <a:bodyPr wrap="square" rtlCol="0">
            <a:spAutoFit/>
          </a:bodyPr>
          <a:lstStyle/>
          <a:p>
            <a:pPr marL="285750" lvl="0" indent="-285750" fontAlgn="base">
              <a:buFont typeface="Courier New" panose="02070309020205020404" pitchFamily="49" charset="0"/>
              <a:buChar char="o"/>
            </a:pPr>
            <a:r>
              <a:rPr lang="es-PE" sz="1400" b="1" dirty="0">
                <a:solidFill>
                  <a:schemeClr val="bg1"/>
                </a:solidFill>
                <a:latin typeface="Book Antiqua" panose="02040602050305030304" pitchFamily="18" charset="0"/>
              </a:rPr>
              <a:t>ONT (</a:t>
            </a:r>
            <a:r>
              <a:rPr lang="es-PE" sz="1400" b="1" dirty="0" err="1">
                <a:solidFill>
                  <a:schemeClr val="bg1"/>
                </a:solidFill>
                <a:latin typeface="Book Antiqua" panose="02040602050305030304" pitchFamily="18" charset="0"/>
              </a:rPr>
              <a:t>Optical</a:t>
            </a:r>
            <a:r>
              <a:rPr lang="es-PE" sz="1400" b="1" dirty="0">
                <a:solidFill>
                  <a:schemeClr val="bg1"/>
                </a:solidFill>
                <a:latin typeface="Book Antiqua" panose="02040602050305030304" pitchFamily="18" charset="0"/>
              </a:rPr>
              <a:t> Network Terminal):</a:t>
            </a:r>
            <a:r>
              <a:rPr lang="es-PE" sz="1400" dirty="0">
                <a:solidFill>
                  <a:schemeClr val="bg1"/>
                </a:solidFill>
                <a:latin typeface="Book Antiqua" panose="02040602050305030304" pitchFamily="18" charset="0"/>
              </a:rPr>
              <a:t> El ONT es el dispositivo instalado en las instalaciones del usuario final, ya sea en una casa, una empresa o una oficina. Este transceptor óptico convierte las señales ópticas de la fibra en señales eléctricas que pueden ser utilizadas por los dispositivos del usuario, como computadoras, televisores y teléfonos. El ONT es esencial para la comunicación entre el usuario y la red, ya que conecta la red de fibra óptica con los equipos electrónicos del hogar o la empresa.</a:t>
            </a:r>
          </a:p>
          <a:p>
            <a:endParaRPr lang="es-PE" dirty="0"/>
          </a:p>
        </p:txBody>
      </p:sp>
      <p:pic>
        <p:nvPicPr>
          <p:cNvPr id="5" name="Imagen 4" descr="Qué es OLT (Optical Line Terminal)? Características y Aplicaciones -  VSOL(ES)">
            <a:extLst>
              <a:ext uri="{FF2B5EF4-FFF2-40B4-BE49-F238E27FC236}">
                <a16:creationId xmlns:a16="http://schemas.microsoft.com/office/drawing/2014/main" id="{129D1DA6-0BBD-6E55-6C20-5394F669850C}"/>
              </a:ext>
            </a:extLst>
          </p:cNvPr>
          <p:cNvPicPr>
            <a:picLocks noChangeAspect="1"/>
          </p:cNvPicPr>
          <p:nvPr/>
        </p:nvPicPr>
        <p:blipFill>
          <a:blip/>
          <a:stretch>
            <a:fillRect/>
          </a:stretch>
        </p:blipFill>
        <p:spPr>
          <a:xfrm>
            <a:off x="8246771" y="901700"/>
            <a:ext cx="3640429" cy="2184257"/>
          </a:xfrm>
          <a:prstGeom prst="rect">
            <a:avLst/>
          </a:prstGeom>
        </p:spPr>
      </p:pic>
      <p:sp>
        <p:nvSpPr>
          <p:cNvPr id="8" name="Flecha: a la izquierda y derecha 7">
            <a:extLst>
              <a:ext uri="{FF2B5EF4-FFF2-40B4-BE49-F238E27FC236}">
                <a16:creationId xmlns:a16="http://schemas.microsoft.com/office/drawing/2014/main" id="{61596A8B-6D09-76DE-BA9A-C975FFDCFF37}"/>
              </a:ext>
            </a:extLst>
          </p:cNvPr>
          <p:cNvSpPr/>
          <p:nvPr/>
        </p:nvSpPr>
        <p:spPr>
          <a:xfrm>
            <a:off x="6971029" y="1729511"/>
            <a:ext cx="1014730" cy="381188"/>
          </a:xfrm>
          <a:prstGeom prst="leftRightArrow">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13" name="Imagen 12" descr="What Is An ONT &amp; How is it Used in Fiber Networks?">
            <a:extLst>
              <a:ext uri="{FF2B5EF4-FFF2-40B4-BE49-F238E27FC236}">
                <a16:creationId xmlns:a16="http://schemas.microsoft.com/office/drawing/2014/main" id="{1DDFCB45-A995-D1A0-0AFC-C7679AA8797A}"/>
              </a:ext>
            </a:extLst>
          </p:cNvPr>
          <p:cNvPicPr>
            <a:picLocks noChangeAspect="1"/>
          </p:cNvPicPr>
          <p:nvPr/>
        </p:nvPicPr>
        <p:blipFill>
          <a:blip/>
          <a:stretch>
            <a:fillRect/>
          </a:stretch>
        </p:blipFill>
        <p:spPr>
          <a:xfrm>
            <a:off x="7976235" y="3489248"/>
            <a:ext cx="3910965" cy="2457710"/>
          </a:xfrm>
          <a:prstGeom prst="rect">
            <a:avLst/>
          </a:prstGeom>
        </p:spPr>
      </p:pic>
      <p:sp>
        <p:nvSpPr>
          <p:cNvPr id="14" name="Flecha: a la izquierda y derecha 13">
            <a:extLst>
              <a:ext uri="{FF2B5EF4-FFF2-40B4-BE49-F238E27FC236}">
                <a16:creationId xmlns:a16="http://schemas.microsoft.com/office/drawing/2014/main" id="{0459622C-0B34-123C-9754-5D8151BD72E2}"/>
              </a:ext>
            </a:extLst>
          </p:cNvPr>
          <p:cNvSpPr/>
          <p:nvPr/>
        </p:nvSpPr>
        <p:spPr>
          <a:xfrm>
            <a:off x="6734002" y="4527509"/>
            <a:ext cx="1014730" cy="381188"/>
          </a:xfrm>
          <a:prstGeom prst="leftRightArrow">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33578778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BED1D-5849-8602-5B45-77DE164B01E2}"/>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529C06C7-77CC-65D2-361D-8B583C904910}"/>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B5F0525B-B612-213B-2F0A-9546014951DD}"/>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0" y="-6031945"/>
            <a:ext cx="12192000" cy="12872433"/>
          </a:xfrm>
          <a:prstGeom prst="rect">
            <a:avLst/>
          </a:prstGeom>
        </p:spPr>
      </p:pic>
      <p:sp>
        <p:nvSpPr>
          <p:cNvPr id="10" name="CuadroTexto 9">
            <a:extLst>
              <a:ext uri="{FF2B5EF4-FFF2-40B4-BE49-F238E27FC236}">
                <a16:creationId xmlns:a16="http://schemas.microsoft.com/office/drawing/2014/main" id="{B094E99F-7889-5187-6395-F0521C6868AD}"/>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84D2533D-9C36-1554-2BDF-DC3E104EF358}"/>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B7120CC7-651A-6C0B-0C06-099A427DFE34}"/>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sp>
        <p:nvSpPr>
          <p:cNvPr id="15" name="CuadroTexto 14">
            <a:extLst>
              <a:ext uri="{FF2B5EF4-FFF2-40B4-BE49-F238E27FC236}">
                <a16:creationId xmlns:a16="http://schemas.microsoft.com/office/drawing/2014/main" id="{C9016C32-8203-0C8E-12C2-E4F7985B30F0}"/>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pic>
        <p:nvPicPr>
          <p:cNvPr id="19" name="Gráfico 18" descr="Nube con relleno sólido">
            <a:extLst>
              <a:ext uri="{FF2B5EF4-FFF2-40B4-BE49-F238E27FC236}">
                <a16:creationId xmlns:a16="http://schemas.microsoft.com/office/drawing/2014/main" id="{EE4B41A7-AF48-AE6F-68EC-E29FBBED1D8B}"/>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0" y="-126752"/>
            <a:ext cx="914400" cy="914400"/>
          </a:xfrm>
          <a:prstGeom prst="rect">
            <a:avLst/>
          </a:prstGeom>
        </p:spPr>
      </p:pic>
      <p:sp>
        <p:nvSpPr>
          <p:cNvPr id="25" name="Estrella: 4 puntas 24">
            <a:extLst>
              <a:ext uri="{FF2B5EF4-FFF2-40B4-BE49-F238E27FC236}">
                <a16:creationId xmlns:a16="http://schemas.microsoft.com/office/drawing/2014/main" id="{76B77962-164F-5E48-DFF8-6BCD316B22B4}"/>
              </a:ext>
            </a:extLst>
          </p:cNvPr>
          <p:cNvSpPr/>
          <p:nvPr/>
        </p:nvSpPr>
        <p:spPr>
          <a:xfrm>
            <a:off x="11658600" y="6206074"/>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6" name="Estrella: 4 puntas 25">
            <a:extLst>
              <a:ext uri="{FF2B5EF4-FFF2-40B4-BE49-F238E27FC236}">
                <a16:creationId xmlns:a16="http://schemas.microsoft.com/office/drawing/2014/main" id="{60DE6D59-38D4-036B-B112-A8620E7CA4F1}"/>
              </a:ext>
            </a:extLst>
          </p:cNvPr>
          <p:cNvSpPr/>
          <p:nvPr/>
        </p:nvSpPr>
        <p:spPr>
          <a:xfrm>
            <a:off x="526761" y="6367006"/>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7" name="Estrella: 4 puntas 26">
            <a:extLst>
              <a:ext uri="{FF2B5EF4-FFF2-40B4-BE49-F238E27FC236}">
                <a16:creationId xmlns:a16="http://schemas.microsoft.com/office/drawing/2014/main" id="{01C8FF0D-214B-DEF4-E968-E6DA4426849C}"/>
              </a:ext>
            </a:extLst>
          </p:cNvPr>
          <p:cNvSpPr/>
          <p:nvPr/>
        </p:nvSpPr>
        <p:spPr>
          <a:xfrm>
            <a:off x="11275638" y="408936"/>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CuadroTexto 1">
            <a:extLst>
              <a:ext uri="{FF2B5EF4-FFF2-40B4-BE49-F238E27FC236}">
                <a16:creationId xmlns:a16="http://schemas.microsoft.com/office/drawing/2014/main" id="{C35EA86E-22D6-CA1C-259E-49AF34635E3F}"/>
              </a:ext>
            </a:extLst>
          </p:cNvPr>
          <p:cNvSpPr txBox="1"/>
          <p:nvPr/>
        </p:nvSpPr>
        <p:spPr>
          <a:xfrm>
            <a:off x="389890" y="1233795"/>
            <a:ext cx="6422389" cy="1815882"/>
          </a:xfrm>
          <a:prstGeom prst="rect">
            <a:avLst/>
          </a:prstGeom>
          <a:noFill/>
        </p:spPr>
        <p:txBody>
          <a:bodyPr wrap="square" rtlCol="0">
            <a:spAutoFit/>
          </a:bodyPr>
          <a:lstStyle/>
          <a:p>
            <a:pPr marL="285750" lvl="0" indent="-285750">
              <a:buFont typeface="Courier New" panose="02070309020205020404" pitchFamily="49" charset="0"/>
              <a:buChar char="o"/>
            </a:pPr>
            <a:r>
              <a:rPr lang="es-PE" sz="1400" b="1" dirty="0" err="1">
                <a:solidFill>
                  <a:schemeClr val="bg1"/>
                </a:solidFill>
              </a:rPr>
              <a:t>Splitter</a:t>
            </a:r>
            <a:r>
              <a:rPr lang="es-PE" sz="1400" b="1" dirty="0">
                <a:solidFill>
                  <a:schemeClr val="bg1"/>
                </a:solidFill>
              </a:rPr>
              <a:t> óptico:</a:t>
            </a:r>
            <a:r>
              <a:rPr lang="es-PE" sz="1400" dirty="0">
                <a:solidFill>
                  <a:schemeClr val="bg1"/>
                </a:solidFill>
              </a:rPr>
              <a:t> El </a:t>
            </a:r>
            <a:r>
              <a:rPr lang="es-PE" sz="1400" dirty="0" err="1">
                <a:solidFill>
                  <a:schemeClr val="bg1"/>
                </a:solidFill>
              </a:rPr>
              <a:t>splitter</a:t>
            </a:r>
            <a:r>
              <a:rPr lang="es-PE" sz="1400" dirty="0">
                <a:solidFill>
                  <a:schemeClr val="bg1"/>
                </a:solidFill>
              </a:rPr>
              <a:t> óptico es un dispositivo pasivo que se utiliza para dividir la señal de fibra óptica proveniente del OLT en múltiples señales que pueden ser enviadas a varios ONT. Este componente permite que una sola fibra óptica se utilice para conectar múltiples usuarios, lo que hace que GPON sea una solución rentable y eficiente. Los </a:t>
            </a:r>
            <a:r>
              <a:rPr lang="es-PE" sz="1400" dirty="0" err="1">
                <a:solidFill>
                  <a:schemeClr val="bg1"/>
                </a:solidFill>
              </a:rPr>
              <a:t>splitters</a:t>
            </a:r>
            <a:r>
              <a:rPr lang="es-PE" sz="1400" dirty="0">
                <a:solidFill>
                  <a:schemeClr val="bg1"/>
                </a:solidFill>
              </a:rPr>
              <a:t> ópticos son fundamentales para la escalabilidad de la red GPON, ya que permiten ampliar la red sin necesidad de agregar más cables de fibra.</a:t>
            </a:r>
          </a:p>
        </p:txBody>
      </p:sp>
      <p:sp>
        <p:nvSpPr>
          <p:cNvPr id="7" name="CuadroTexto 6">
            <a:extLst>
              <a:ext uri="{FF2B5EF4-FFF2-40B4-BE49-F238E27FC236}">
                <a16:creationId xmlns:a16="http://schemas.microsoft.com/office/drawing/2014/main" id="{09467430-D80A-10C5-E4DC-8F6F1A1EBB7F}"/>
              </a:ext>
            </a:extLst>
          </p:cNvPr>
          <p:cNvSpPr txBox="1"/>
          <p:nvPr/>
        </p:nvSpPr>
        <p:spPr>
          <a:xfrm>
            <a:off x="457200" y="3821697"/>
            <a:ext cx="6049299" cy="2092881"/>
          </a:xfrm>
          <a:prstGeom prst="rect">
            <a:avLst/>
          </a:prstGeom>
          <a:noFill/>
        </p:spPr>
        <p:txBody>
          <a:bodyPr wrap="square" rtlCol="0">
            <a:spAutoFit/>
          </a:bodyPr>
          <a:lstStyle/>
          <a:p>
            <a:pPr lvl="0" fontAlgn="base"/>
            <a:r>
              <a:rPr lang="es-PE" sz="1400" b="1" dirty="0">
                <a:solidFill>
                  <a:schemeClr val="bg1"/>
                </a:solidFill>
                <a:latin typeface="Book Antiqua" panose="02040602050305030304" pitchFamily="18" charset="0"/>
              </a:rPr>
              <a:t>Fibra óptica:</a:t>
            </a:r>
            <a:r>
              <a:rPr lang="es-PE" sz="1400" dirty="0">
                <a:solidFill>
                  <a:schemeClr val="bg1"/>
                </a:solidFill>
                <a:latin typeface="Book Antiqua" panose="02040602050305030304" pitchFamily="18" charset="0"/>
              </a:rPr>
              <a:t> La arquitectura de una red de fibra óptica GPON FTTH se basa en la utilización de fibra óptica para transportar señales a través de distancias largas sin perder calidad. Cuando un usuario realiza una solicitud de datos, el ONT envía la solicitud al OLT a través de la fibra óptica. El OLT luego dirige la solicitud a la red troncal de fibra óptica, que la procesa y devuelve los datos solicitados al usuario. Durante este proceso, los </a:t>
            </a:r>
            <a:r>
              <a:rPr lang="es-PE" sz="1400" dirty="0" err="1">
                <a:solidFill>
                  <a:schemeClr val="bg1"/>
                </a:solidFill>
                <a:latin typeface="Book Antiqua" panose="02040602050305030304" pitchFamily="18" charset="0"/>
              </a:rPr>
              <a:t>splitters</a:t>
            </a:r>
            <a:r>
              <a:rPr lang="es-PE" sz="1400" dirty="0">
                <a:solidFill>
                  <a:schemeClr val="bg1"/>
                </a:solidFill>
                <a:latin typeface="Book Antiqua" panose="02040602050305030304" pitchFamily="18" charset="0"/>
              </a:rPr>
              <a:t> ópticos se encargan de dividir la señal para que varios usuarios puedan compartir la misma infraestructura de fibra.</a:t>
            </a:r>
          </a:p>
          <a:p>
            <a:endParaRPr lang="es-PE" dirty="0"/>
          </a:p>
        </p:txBody>
      </p:sp>
      <p:sp>
        <p:nvSpPr>
          <p:cNvPr id="8" name="Flecha: a la izquierda y derecha 7">
            <a:extLst>
              <a:ext uri="{FF2B5EF4-FFF2-40B4-BE49-F238E27FC236}">
                <a16:creationId xmlns:a16="http://schemas.microsoft.com/office/drawing/2014/main" id="{35CC9DBD-8498-F35B-A169-3A936968E5CC}"/>
              </a:ext>
            </a:extLst>
          </p:cNvPr>
          <p:cNvSpPr/>
          <p:nvPr/>
        </p:nvSpPr>
        <p:spPr>
          <a:xfrm>
            <a:off x="6971029" y="1729511"/>
            <a:ext cx="1014730" cy="381188"/>
          </a:xfrm>
          <a:prstGeom prst="leftRightArrow">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4" name="Flecha: a la izquierda y derecha 13">
            <a:extLst>
              <a:ext uri="{FF2B5EF4-FFF2-40B4-BE49-F238E27FC236}">
                <a16:creationId xmlns:a16="http://schemas.microsoft.com/office/drawing/2014/main" id="{458BD3C9-AEA3-BB80-16CE-3582E927C3AF}"/>
              </a:ext>
            </a:extLst>
          </p:cNvPr>
          <p:cNvSpPr/>
          <p:nvPr/>
        </p:nvSpPr>
        <p:spPr>
          <a:xfrm>
            <a:off x="6734002" y="4527509"/>
            <a:ext cx="1014730" cy="381188"/>
          </a:xfrm>
          <a:prstGeom prst="leftRightArrow">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3" name="Imagen 2" descr="Splitter óptico 1×8 PLC-SC/APC – Latic Latinoamérica">
            <a:extLst>
              <a:ext uri="{FF2B5EF4-FFF2-40B4-BE49-F238E27FC236}">
                <a16:creationId xmlns:a16="http://schemas.microsoft.com/office/drawing/2014/main" id="{6C89CA61-9EF8-D95B-834C-DCBD214E9B4A}"/>
              </a:ext>
            </a:extLst>
          </p:cNvPr>
          <p:cNvPicPr>
            <a:picLocks noChangeAspect="1"/>
          </p:cNvPicPr>
          <p:nvPr/>
        </p:nvPicPr>
        <p:blipFill>
          <a:blip/>
          <a:stretch>
            <a:fillRect/>
          </a:stretch>
        </p:blipFill>
        <p:spPr>
          <a:xfrm>
            <a:off x="8874067" y="1066208"/>
            <a:ext cx="2630171" cy="2075963"/>
          </a:xfrm>
          <a:prstGeom prst="rect">
            <a:avLst/>
          </a:prstGeom>
        </p:spPr>
      </p:pic>
      <p:pic>
        <p:nvPicPr>
          <p:cNvPr id="4" name="Imagen 3" descr="▷ Fibra óptica: qué es, para qué se usa y cómo funciona">
            <a:extLst>
              <a:ext uri="{FF2B5EF4-FFF2-40B4-BE49-F238E27FC236}">
                <a16:creationId xmlns:a16="http://schemas.microsoft.com/office/drawing/2014/main" id="{5F4660A8-B4AF-2335-FBC3-ACADDDCE219E}"/>
              </a:ext>
            </a:extLst>
          </p:cNvPr>
          <p:cNvPicPr>
            <a:picLocks noChangeAspect="1"/>
          </p:cNvPicPr>
          <p:nvPr/>
        </p:nvPicPr>
        <p:blipFill>
          <a:blip/>
          <a:stretch>
            <a:fillRect/>
          </a:stretch>
        </p:blipFill>
        <p:spPr>
          <a:xfrm>
            <a:off x="8065710" y="3715830"/>
            <a:ext cx="3556284" cy="2364930"/>
          </a:xfrm>
          <a:prstGeom prst="rect">
            <a:avLst/>
          </a:prstGeom>
        </p:spPr>
      </p:pic>
    </p:spTree>
    <p:extLst>
      <p:ext uri="{BB962C8B-B14F-4D97-AF65-F5344CB8AC3E}">
        <p14:creationId xmlns:p14="http://schemas.microsoft.com/office/powerpoint/2010/main" val="12864232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1E6D4-D95E-DE89-0822-864D5FC1E355}"/>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E32A5870-5AE9-3641-FD3E-DD84251446AC}"/>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227C1B46-3E5D-5FC4-F5A7-E95807B2464D}"/>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0" y="-6031945"/>
            <a:ext cx="12192000" cy="12872433"/>
          </a:xfrm>
          <a:prstGeom prst="rect">
            <a:avLst/>
          </a:prstGeom>
        </p:spPr>
      </p:pic>
      <p:sp>
        <p:nvSpPr>
          <p:cNvPr id="10" name="CuadroTexto 9">
            <a:extLst>
              <a:ext uri="{FF2B5EF4-FFF2-40B4-BE49-F238E27FC236}">
                <a16:creationId xmlns:a16="http://schemas.microsoft.com/office/drawing/2014/main" id="{81EFB58D-E734-0542-2C6A-8564B671226F}"/>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EA6BFA5B-82B3-DF89-F85C-2E1824E6A1B4}"/>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28FC5BC6-481E-4C0E-6F3A-EA6FFBC2C8C9}"/>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sp>
        <p:nvSpPr>
          <p:cNvPr id="15" name="CuadroTexto 14">
            <a:extLst>
              <a:ext uri="{FF2B5EF4-FFF2-40B4-BE49-F238E27FC236}">
                <a16:creationId xmlns:a16="http://schemas.microsoft.com/office/drawing/2014/main" id="{C2E19E2A-F5B9-36C7-9094-DB196A092753}"/>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pic>
        <p:nvPicPr>
          <p:cNvPr id="19" name="Gráfico 18" descr="Nube con relleno sólido">
            <a:extLst>
              <a:ext uri="{FF2B5EF4-FFF2-40B4-BE49-F238E27FC236}">
                <a16:creationId xmlns:a16="http://schemas.microsoft.com/office/drawing/2014/main" id="{B1C90B3F-1BFA-43B1-97B8-1EB30124FAD2}"/>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0" y="-126752"/>
            <a:ext cx="914400" cy="914400"/>
          </a:xfrm>
          <a:prstGeom prst="rect">
            <a:avLst/>
          </a:prstGeom>
        </p:spPr>
      </p:pic>
      <p:sp>
        <p:nvSpPr>
          <p:cNvPr id="25" name="Estrella: 4 puntas 24">
            <a:extLst>
              <a:ext uri="{FF2B5EF4-FFF2-40B4-BE49-F238E27FC236}">
                <a16:creationId xmlns:a16="http://schemas.microsoft.com/office/drawing/2014/main" id="{8D49832D-0C53-F596-7EC7-7D4796748502}"/>
              </a:ext>
            </a:extLst>
          </p:cNvPr>
          <p:cNvSpPr/>
          <p:nvPr/>
        </p:nvSpPr>
        <p:spPr>
          <a:xfrm>
            <a:off x="11658600" y="6206074"/>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6" name="Estrella: 4 puntas 25">
            <a:extLst>
              <a:ext uri="{FF2B5EF4-FFF2-40B4-BE49-F238E27FC236}">
                <a16:creationId xmlns:a16="http://schemas.microsoft.com/office/drawing/2014/main" id="{C7F4D595-8B40-E4F6-2363-BA110BB87892}"/>
              </a:ext>
            </a:extLst>
          </p:cNvPr>
          <p:cNvSpPr/>
          <p:nvPr/>
        </p:nvSpPr>
        <p:spPr>
          <a:xfrm>
            <a:off x="526761" y="6367006"/>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7" name="Estrella: 4 puntas 26">
            <a:extLst>
              <a:ext uri="{FF2B5EF4-FFF2-40B4-BE49-F238E27FC236}">
                <a16:creationId xmlns:a16="http://schemas.microsoft.com/office/drawing/2014/main" id="{68EA0436-ACDC-EF15-DEDE-42379F617D7C}"/>
              </a:ext>
            </a:extLst>
          </p:cNvPr>
          <p:cNvSpPr/>
          <p:nvPr/>
        </p:nvSpPr>
        <p:spPr>
          <a:xfrm>
            <a:off x="11275638" y="408936"/>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CuadroTexto 1">
            <a:extLst>
              <a:ext uri="{FF2B5EF4-FFF2-40B4-BE49-F238E27FC236}">
                <a16:creationId xmlns:a16="http://schemas.microsoft.com/office/drawing/2014/main" id="{0B95FC83-CBD0-F21A-72AF-EF89B250C23B}"/>
              </a:ext>
            </a:extLst>
          </p:cNvPr>
          <p:cNvSpPr txBox="1"/>
          <p:nvPr/>
        </p:nvSpPr>
        <p:spPr>
          <a:xfrm>
            <a:off x="389890" y="1233795"/>
            <a:ext cx="6422389" cy="1077218"/>
          </a:xfrm>
          <a:prstGeom prst="rect">
            <a:avLst/>
          </a:prstGeom>
          <a:noFill/>
        </p:spPr>
        <p:txBody>
          <a:bodyPr wrap="square" rtlCol="0">
            <a:spAutoFit/>
          </a:bodyPr>
          <a:lstStyle/>
          <a:p>
            <a:pPr marL="285750" lvl="0" indent="-285750">
              <a:buFont typeface="Wingdings" panose="05000000000000000000" pitchFamily="2" charset="2"/>
              <a:buChar char="Ø"/>
            </a:pPr>
            <a:r>
              <a:rPr lang="es-PE" sz="1600" b="1" dirty="0">
                <a:solidFill>
                  <a:schemeClr val="bg1"/>
                </a:solidFill>
                <a:latin typeface="Book Antiqua" panose="02040602050305030304" pitchFamily="18" charset="0"/>
              </a:rPr>
              <a:t>Alta velocidad de transmisión</a:t>
            </a:r>
            <a:r>
              <a:rPr lang="es-PE" sz="1600" dirty="0">
                <a:solidFill>
                  <a:schemeClr val="bg1"/>
                </a:solidFill>
                <a:latin typeface="Book Antiqua" panose="02040602050305030304" pitchFamily="18" charset="0"/>
              </a:rPr>
              <a:t>: Las redes GPON permiten velocidades de hasta 10 Gbps, lo que asegura una experiencia de usuario fluida para servicios como </a:t>
            </a:r>
            <a:r>
              <a:rPr lang="es-PE" sz="1600" dirty="0" err="1">
                <a:solidFill>
                  <a:schemeClr val="bg1"/>
                </a:solidFill>
                <a:latin typeface="Book Antiqua" panose="02040602050305030304" pitchFamily="18" charset="0"/>
              </a:rPr>
              <a:t>streaming</a:t>
            </a:r>
            <a:r>
              <a:rPr lang="es-PE" sz="1600" dirty="0">
                <a:solidFill>
                  <a:schemeClr val="bg1"/>
                </a:solidFill>
                <a:latin typeface="Book Antiqua" panose="02040602050305030304" pitchFamily="18" charset="0"/>
              </a:rPr>
              <a:t> de alta definición, videoconferencias y juegos en línea.</a:t>
            </a:r>
          </a:p>
        </p:txBody>
      </p:sp>
      <p:sp>
        <p:nvSpPr>
          <p:cNvPr id="7" name="CuadroTexto 6">
            <a:extLst>
              <a:ext uri="{FF2B5EF4-FFF2-40B4-BE49-F238E27FC236}">
                <a16:creationId xmlns:a16="http://schemas.microsoft.com/office/drawing/2014/main" id="{851E2152-3213-9829-E38B-8C1149B259C6}"/>
              </a:ext>
            </a:extLst>
          </p:cNvPr>
          <p:cNvSpPr txBox="1"/>
          <p:nvPr/>
        </p:nvSpPr>
        <p:spPr>
          <a:xfrm>
            <a:off x="6153150" y="3487341"/>
            <a:ext cx="6096000" cy="1231106"/>
          </a:xfrm>
          <a:prstGeom prst="rect">
            <a:avLst/>
          </a:prstGeom>
          <a:noFill/>
        </p:spPr>
        <p:txBody>
          <a:bodyPr wrap="square" rtlCol="0">
            <a:spAutoFit/>
          </a:bodyPr>
          <a:lstStyle/>
          <a:p>
            <a:pPr marL="285750" lvl="0" indent="-285750">
              <a:buFont typeface="Wingdings" panose="05000000000000000000" pitchFamily="2" charset="2"/>
              <a:buChar char="Ø"/>
            </a:pPr>
            <a:r>
              <a:rPr lang="es-PE" sz="1400" b="1" dirty="0">
                <a:solidFill>
                  <a:schemeClr val="bg1"/>
                </a:solidFill>
              </a:rPr>
              <a:t>Escalabilidad</a:t>
            </a:r>
            <a:r>
              <a:rPr lang="es-PE" sz="1400" dirty="0">
                <a:solidFill>
                  <a:schemeClr val="bg1"/>
                </a:solidFill>
              </a:rPr>
              <a:t>: La infraestructura de GPON es altamente escalable, lo que permite agregar más usuarios a la red sin necesidad de realizar cambios significativos en la infraestructura existente.</a:t>
            </a:r>
          </a:p>
          <a:p>
            <a:endParaRPr lang="es-PE" dirty="0"/>
          </a:p>
        </p:txBody>
      </p:sp>
      <p:sp>
        <p:nvSpPr>
          <p:cNvPr id="8" name="Flecha: a la izquierda y derecha 7">
            <a:extLst>
              <a:ext uri="{FF2B5EF4-FFF2-40B4-BE49-F238E27FC236}">
                <a16:creationId xmlns:a16="http://schemas.microsoft.com/office/drawing/2014/main" id="{DD07804F-486E-BE24-5346-479AADB0A413}"/>
              </a:ext>
            </a:extLst>
          </p:cNvPr>
          <p:cNvSpPr/>
          <p:nvPr/>
        </p:nvSpPr>
        <p:spPr>
          <a:xfrm>
            <a:off x="6885303" y="1660200"/>
            <a:ext cx="633731" cy="312649"/>
          </a:xfrm>
          <a:prstGeom prst="leftRightArrow">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4" name="Flecha: a la izquierda y derecha 13">
            <a:extLst>
              <a:ext uri="{FF2B5EF4-FFF2-40B4-BE49-F238E27FC236}">
                <a16:creationId xmlns:a16="http://schemas.microsoft.com/office/drawing/2014/main" id="{D51A769F-458C-0551-AA32-F0454B002308}"/>
              </a:ext>
            </a:extLst>
          </p:cNvPr>
          <p:cNvSpPr/>
          <p:nvPr/>
        </p:nvSpPr>
        <p:spPr>
          <a:xfrm>
            <a:off x="5081270" y="3644282"/>
            <a:ext cx="1014730" cy="381188"/>
          </a:xfrm>
          <a:prstGeom prst="leftRightArrow">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5" name="CuadroTexto 4">
            <a:extLst>
              <a:ext uri="{FF2B5EF4-FFF2-40B4-BE49-F238E27FC236}">
                <a16:creationId xmlns:a16="http://schemas.microsoft.com/office/drawing/2014/main" id="{8BE92B44-1817-05AB-9B7B-D19A2F5620A6}"/>
              </a:ext>
            </a:extLst>
          </p:cNvPr>
          <p:cNvSpPr txBox="1"/>
          <p:nvPr/>
        </p:nvSpPr>
        <p:spPr>
          <a:xfrm>
            <a:off x="914400" y="-185348"/>
            <a:ext cx="10563746" cy="1600438"/>
          </a:xfrm>
          <a:prstGeom prst="rect">
            <a:avLst/>
          </a:prstGeom>
          <a:noFill/>
        </p:spPr>
        <p:txBody>
          <a:bodyPr wrap="square" rtlCol="0">
            <a:spAutoFit/>
          </a:bodyPr>
          <a:lstStyle/>
          <a:p>
            <a:r>
              <a:rPr lang="es-MX" sz="4000" b="1" dirty="0">
                <a:solidFill>
                  <a:schemeClr val="bg1"/>
                </a:solidFill>
                <a:latin typeface="Aharoni" panose="02010803020104030203" pitchFamily="2" charset="-79"/>
                <a:cs typeface="Aharoni" panose="02010803020104030203" pitchFamily="2" charset="-79"/>
              </a:rPr>
              <a:t>3.- </a:t>
            </a:r>
            <a:r>
              <a:rPr lang="es-PE" sz="4000" b="1" dirty="0">
                <a:solidFill>
                  <a:schemeClr val="bg1"/>
                </a:solidFill>
                <a:latin typeface="Aharoni" panose="02010803020104030203" pitchFamily="2" charset="-79"/>
                <a:cs typeface="Aharoni" panose="02010803020104030203" pitchFamily="2" charset="-79"/>
              </a:rPr>
              <a:t>VENTAJAS DE LA ARQUITECTURA DE UNA RED DE FIBRA ÓPTICA GPON FTTH</a:t>
            </a:r>
            <a:endParaRPr lang="es-PE" sz="4000" dirty="0">
              <a:solidFill>
                <a:schemeClr val="bg1"/>
              </a:solidFill>
              <a:latin typeface="Aharoni" panose="02010803020104030203" pitchFamily="2" charset="-79"/>
              <a:cs typeface="Aharoni" panose="02010803020104030203" pitchFamily="2" charset="-79"/>
            </a:endParaRPr>
          </a:p>
          <a:p>
            <a:endParaRPr lang="es-PE" dirty="0"/>
          </a:p>
        </p:txBody>
      </p:sp>
      <p:pic>
        <p:nvPicPr>
          <p:cNvPr id="13" name="Imagen 12" descr="Redes de alta velocidad: cuáles son y cómo funcionan">
            <a:extLst>
              <a:ext uri="{FF2B5EF4-FFF2-40B4-BE49-F238E27FC236}">
                <a16:creationId xmlns:a16="http://schemas.microsoft.com/office/drawing/2014/main" id="{4570E29A-CF87-1991-F2BF-5705FABC5EF4}"/>
              </a:ext>
            </a:extLst>
          </p:cNvPr>
          <p:cNvPicPr>
            <a:picLocks noChangeAspect="1"/>
          </p:cNvPicPr>
          <p:nvPr/>
        </p:nvPicPr>
        <p:blipFill>
          <a:blip/>
          <a:stretch>
            <a:fillRect/>
          </a:stretch>
        </p:blipFill>
        <p:spPr>
          <a:xfrm>
            <a:off x="8127351" y="1153004"/>
            <a:ext cx="3579395" cy="1988553"/>
          </a:xfrm>
          <a:prstGeom prst="rect">
            <a:avLst/>
          </a:prstGeom>
        </p:spPr>
      </p:pic>
      <p:pic>
        <p:nvPicPr>
          <p:cNvPr id="16" name="Imagen 15" descr="Escalabilidad en un negocio: Guía paso a paso para escalar tu  emprendimiento - Impulsa Popular | Banco Popular Dominicano :Impulsa  Popular | Banco Popular Dominicano">
            <a:extLst>
              <a:ext uri="{FF2B5EF4-FFF2-40B4-BE49-F238E27FC236}">
                <a16:creationId xmlns:a16="http://schemas.microsoft.com/office/drawing/2014/main" id="{7BD5B5DF-F9E0-7A22-079B-30288DA2384B}"/>
              </a:ext>
            </a:extLst>
          </p:cNvPr>
          <p:cNvPicPr>
            <a:picLocks noChangeAspect="1"/>
          </p:cNvPicPr>
          <p:nvPr/>
        </p:nvPicPr>
        <p:blipFill>
          <a:blip/>
          <a:stretch>
            <a:fillRect/>
          </a:stretch>
        </p:blipFill>
        <p:spPr>
          <a:xfrm>
            <a:off x="389890" y="2685551"/>
            <a:ext cx="4577080" cy="1988553"/>
          </a:xfrm>
          <a:prstGeom prst="rect">
            <a:avLst/>
          </a:prstGeom>
        </p:spPr>
      </p:pic>
      <p:sp>
        <p:nvSpPr>
          <p:cNvPr id="17" name="CuadroTexto 16">
            <a:extLst>
              <a:ext uri="{FF2B5EF4-FFF2-40B4-BE49-F238E27FC236}">
                <a16:creationId xmlns:a16="http://schemas.microsoft.com/office/drawing/2014/main" id="{3653A5B8-BDF6-6206-FAAE-25B13B4F85BE}"/>
              </a:ext>
            </a:extLst>
          </p:cNvPr>
          <p:cNvSpPr txBox="1"/>
          <p:nvPr/>
        </p:nvSpPr>
        <p:spPr>
          <a:xfrm>
            <a:off x="389890" y="4953000"/>
            <a:ext cx="4852670" cy="1354217"/>
          </a:xfrm>
          <a:prstGeom prst="rect">
            <a:avLst/>
          </a:prstGeom>
          <a:noFill/>
        </p:spPr>
        <p:txBody>
          <a:bodyPr wrap="square" rtlCol="0">
            <a:spAutoFit/>
          </a:bodyPr>
          <a:lstStyle/>
          <a:p>
            <a:r>
              <a:rPr lang="es-PE" sz="1600" b="1" dirty="0">
                <a:solidFill>
                  <a:schemeClr val="bg1"/>
                </a:solidFill>
                <a:latin typeface="Book Antiqua" panose="02040602050305030304" pitchFamily="18" charset="0"/>
              </a:rPr>
              <a:t>Rentabilidad</a:t>
            </a:r>
            <a:r>
              <a:rPr lang="es-PE" sz="1600" dirty="0">
                <a:solidFill>
                  <a:schemeClr val="bg1"/>
                </a:solidFill>
                <a:latin typeface="Book Antiqua" panose="02040602050305030304" pitchFamily="18" charset="0"/>
              </a:rPr>
              <a:t>: Al utilizar </a:t>
            </a:r>
            <a:r>
              <a:rPr lang="es-PE" sz="1600" dirty="0" err="1">
                <a:solidFill>
                  <a:schemeClr val="bg1"/>
                </a:solidFill>
                <a:latin typeface="Book Antiqua" panose="02040602050305030304" pitchFamily="18" charset="0"/>
              </a:rPr>
              <a:t>splitters</a:t>
            </a:r>
            <a:r>
              <a:rPr lang="es-PE" sz="1600" dirty="0">
                <a:solidFill>
                  <a:schemeClr val="bg1"/>
                </a:solidFill>
                <a:latin typeface="Book Antiqua" panose="02040602050305030304" pitchFamily="18" charset="0"/>
              </a:rPr>
              <a:t> ópticos pasivos, una red GPON puede conectar múltiples usuarios utilizando una sola fibra, lo que reduce los costos operativos y de infraestructura.</a:t>
            </a:r>
          </a:p>
          <a:p>
            <a:endParaRPr lang="es-PE" dirty="0"/>
          </a:p>
        </p:txBody>
      </p:sp>
      <p:sp>
        <p:nvSpPr>
          <p:cNvPr id="18" name="Flecha: a la izquierda y derecha 17">
            <a:extLst>
              <a:ext uri="{FF2B5EF4-FFF2-40B4-BE49-F238E27FC236}">
                <a16:creationId xmlns:a16="http://schemas.microsoft.com/office/drawing/2014/main" id="{77CE2B45-6215-6B57-785D-EA702041F87C}"/>
              </a:ext>
            </a:extLst>
          </p:cNvPr>
          <p:cNvSpPr/>
          <p:nvPr/>
        </p:nvSpPr>
        <p:spPr>
          <a:xfrm>
            <a:off x="5181543" y="5301235"/>
            <a:ext cx="1014730" cy="381188"/>
          </a:xfrm>
          <a:prstGeom prst="leftRightArrow">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pic>
        <p:nvPicPr>
          <p:cNvPr id="20" name="Imagen 19" descr="DISEÑO DE REDES FTTH CON GPON PARA PEQUEÑAS REDES - Transworld">
            <a:extLst>
              <a:ext uri="{FF2B5EF4-FFF2-40B4-BE49-F238E27FC236}">
                <a16:creationId xmlns:a16="http://schemas.microsoft.com/office/drawing/2014/main" id="{ED3E59F6-CAD3-C80F-399C-B0DABA8025DF}"/>
              </a:ext>
            </a:extLst>
          </p:cNvPr>
          <p:cNvPicPr>
            <a:picLocks noChangeAspect="1"/>
          </p:cNvPicPr>
          <p:nvPr/>
        </p:nvPicPr>
        <p:blipFill>
          <a:blip/>
          <a:stretch>
            <a:fillRect/>
          </a:stretch>
        </p:blipFill>
        <p:spPr>
          <a:xfrm>
            <a:off x="6501744" y="4479402"/>
            <a:ext cx="5042556" cy="2117788"/>
          </a:xfrm>
          <a:prstGeom prst="rect">
            <a:avLst/>
          </a:prstGeom>
        </p:spPr>
      </p:pic>
    </p:spTree>
    <p:extLst>
      <p:ext uri="{BB962C8B-B14F-4D97-AF65-F5344CB8AC3E}">
        <p14:creationId xmlns:p14="http://schemas.microsoft.com/office/powerpoint/2010/main" val="28442729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B7C9B-7FC3-D936-62DE-078855143B61}"/>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6EEC5478-4D85-FA19-7005-02A22BC8DC64}"/>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7EC014E0-D0E2-B8B6-DBD6-9E55A598C72D}"/>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0" y="-6014433"/>
            <a:ext cx="12192000" cy="12872433"/>
          </a:xfrm>
          <a:prstGeom prst="rect">
            <a:avLst/>
          </a:prstGeom>
        </p:spPr>
      </p:pic>
      <p:sp>
        <p:nvSpPr>
          <p:cNvPr id="10" name="CuadroTexto 9">
            <a:extLst>
              <a:ext uri="{FF2B5EF4-FFF2-40B4-BE49-F238E27FC236}">
                <a16:creationId xmlns:a16="http://schemas.microsoft.com/office/drawing/2014/main" id="{C6FF5EAB-BEB6-AD7A-F117-28B7927453A2}"/>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2A2AE85F-61E5-A67D-CD51-D6DBBF17BCA1}"/>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CE808A9E-FE18-D911-69D2-7AB2B8608D2E}"/>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sp>
        <p:nvSpPr>
          <p:cNvPr id="15" name="CuadroTexto 14">
            <a:extLst>
              <a:ext uri="{FF2B5EF4-FFF2-40B4-BE49-F238E27FC236}">
                <a16:creationId xmlns:a16="http://schemas.microsoft.com/office/drawing/2014/main" id="{F357AC6B-EEE5-259F-C897-75665D704216}"/>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pic>
        <p:nvPicPr>
          <p:cNvPr id="19" name="Gráfico 18" descr="Nube con relleno sólido">
            <a:extLst>
              <a:ext uri="{FF2B5EF4-FFF2-40B4-BE49-F238E27FC236}">
                <a16:creationId xmlns:a16="http://schemas.microsoft.com/office/drawing/2014/main" id="{CC4141DF-F028-38C6-52DB-34BFDA4B0970}"/>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0" y="-126752"/>
            <a:ext cx="914400" cy="914400"/>
          </a:xfrm>
          <a:prstGeom prst="rect">
            <a:avLst/>
          </a:prstGeom>
        </p:spPr>
      </p:pic>
      <p:sp>
        <p:nvSpPr>
          <p:cNvPr id="25" name="Estrella: 4 puntas 24">
            <a:extLst>
              <a:ext uri="{FF2B5EF4-FFF2-40B4-BE49-F238E27FC236}">
                <a16:creationId xmlns:a16="http://schemas.microsoft.com/office/drawing/2014/main" id="{97204ADA-D095-30ED-00D2-32B9209BAE97}"/>
              </a:ext>
            </a:extLst>
          </p:cNvPr>
          <p:cNvSpPr/>
          <p:nvPr/>
        </p:nvSpPr>
        <p:spPr>
          <a:xfrm>
            <a:off x="11658600" y="6206074"/>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6" name="Estrella: 4 puntas 25">
            <a:extLst>
              <a:ext uri="{FF2B5EF4-FFF2-40B4-BE49-F238E27FC236}">
                <a16:creationId xmlns:a16="http://schemas.microsoft.com/office/drawing/2014/main" id="{D997A159-43AE-1761-92B3-45529BE9FB43}"/>
              </a:ext>
            </a:extLst>
          </p:cNvPr>
          <p:cNvSpPr/>
          <p:nvPr/>
        </p:nvSpPr>
        <p:spPr>
          <a:xfrm>
            <a:off x="526761" y="6367006"/>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7" name="Estrella: 4 puntas 26">
            <a:extLst>
              <a:ext uri="{FF2B5EF4-FFF2-40B4-BE49-F238E27FC236}">
                <a16:creationId xmlns:a16="http://schemas.microsoft.com/office/drawing/2014/main" id="{95837417-95D0-A5D9-4A05-A0DE994E5FD0}"/>
              </a:ext>
            </a:extLst>
          </p:cNvPr>
          <p:cNvSpPr/>
          <p:nvPr/>
        </p:nvSpPr>
        <p:spPr>
          <a:xfrm>
            <a:off x="11275638" y="408936"/>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CuadroTexto 6">
            <a:extLst>
              <a:ext uri="{FF2B5EF4-FFF2-40B4-BE49-F238E27FC236}">
                <a16:creationId xmlns:a16="http://schemas.microsoft.com/office/drawing/2014/main" id="{6F877731-0B02-BD2C-5FB5-F605A1D2F5CD}"/>
              </a:ext>
            </a:extLst>
          </p:cNvPr>
          <p:cNvSpPr txBox="1"/>
          <p:nvPr/>
        </p:nvSpPr>
        <p:spPr>
          <a:xfrm>
            <a:off x="346710" y="2435024"/>
            <a:ext cx="5353050" cy="1754326"/>
          </a:xfrm>
          <a:prstGeom prst="rect">
            <a:avLst/>
          </a:prstGeom>
          <a:noFill/>
        </p:spPr>
        <p:txBody>
          <a:bodyPr wrap="square" rtlCol="0">
            <a:spAutoFit/>
          </a:bodyPr>
          <a:lstStyle/>
          <a:p>
            <a:pPr marL="285750" lvl="0" indent="-285750">
              <a:buFont typeface="Wingdings" panose="05000000000000000000" pitchFamily="2" charset="2"/>
              <a:buChar char="Ø"/>
            </a:pPr>
            <a:r>
              <a:rPr lang="es-PE" b="1" dirty="0">
                <a:solidFill>
                  <a:schemeClr val="bg1"/>
                </a:solidFill>
              </a:rPr>
              <a:t>Fiabilidad</a:t>
            </a:r>
            <a:r>
              <a:rPr lang="es-PE" dirty="0">
                <a:solidFill>
                  <a:schemeClr val="bg1"/>
                </a:solidFill>
              </a:rPr>
              <a:t>: Las redes GPON son conocidas por su fiabilidad, ya que no requieren equipos activos entre el OLT y el ONT, lo que reduce las posibilidades de fallos en la transmisión</a:t>
            </a:r>
          </a:p>
          <a:p>
            <a:endParaRPr lang="es-PE" dirty="0"/>
          </a:p>
        </p:txBody>
      </p:sp>
      <p:sp>
        <p:nvSpPr>
          <p:cNvPr id="5" name="CuadroTexto 4">
            <a:extLst>
              <a:ext uri="{FF2B5EF4-FFF2-40B4-BE49-F238E27FC236}">
                <a16:creationId xmlns:a16="http://schemas.microsoft.com/office/drawing/2014/main" id="{C9FB3DC3-CEF7-B709-F218-1A1D24151641}"/>
              </a:ext>
            </a:extLst>
          </p:cNvPr>
          <p:cNvSpPr txBox="1"/>
          <p:nvPr/>
        </p:nvSpPr>
        <p:spPr>
          <a:xfrm>
            <a:off x="914400" y="-185348"/>
            <a:ext cx="10563746" cy="1600438"/>
          </a:xfrm>
          <a:prstGeom prst="rect">
            <a:avLst/>
          </a:prstGeom>
          <a:noFill/>
        </p:spPr>
        <p:txBody>
          <a:bodyPr wrap="square" rtlCol="0">
            <a:spAutoFit/>
          </a:bodyPr>
          <a:lstStyle/>
          <a:p>
            <a:r>
              <a:rPr lang="es-MX" sz="4000" b="1" dirty="0">
                <a:solidFill>
                  <a:schemeClr val="bg1"/>
                </a:solidFill>
                <a:latin typeface="Aharoni" panose="02010803020104030203" pitchFamily="2" charset="-79"/>
                <a:cs typeface="Aharoni" panose="02010803020104030203" pitchFamily="2" charset="-79"/>
              </a:rPr>
              <a:t>3.- </a:t>
            </a:r>
            <a:r>
              <a:rPr lang="es-PE" sz="4000" b="1" dirty="0">
                <a:solidFill>
                  <a:schemeClr val="bg1"/>
                </a:solidFill>
                <a:latin typeface="Aharoni" panose="02010803020104030203" pitchFamily="2" charset="-79"/>
                <a:cs typeface="Aharoni" panose="02010803020104030203" pitchFamily="2" charset="-79"/>
              </a:rPr>
              <a:t>VENTAJAS DE LA ARQUITECTURA DE UNA RED DE FIBRA ÓPTICA GPON FTTH</a:t>
            </a:r>
            <a:endParaRPr lang="es-PE" sz="4000" dirty="0">
              <a:solidFill>
                <a:schemeClr val="bg1"/>
              </a:solidFill>
              <a:latin typeface="Aharoni" panose="02010803020104030203" pitchFamily="2" charset="-79"/>
              <a:cs typeface="Aharoni" panose="02010803020104030203" pitchFamily="2" charset="-79"/>
            </a:endParaRPr>
          </a:p>
          <a:p>
            <a:endParaRPr lang="es-PE" dirty="0"/>
          </a:p>
        </p:txBody>
      </p:sp>
      <p:pic>
        <p:nvPicPr>
          <p:cNvPr id="3" name="Imagen 2" descr="Instrumentación para FTTH (Fibre To The Home)">
            <a:extLst>
              <a:ext uri="{FF2B5EF4-FFF2-40B4-BE49-F238E27FC236}">
                <a16:creationId xmlns:a16="http://schemas.microsoft.com/office/drawing/2014/main" id="{A3E6B6D9-3ACD-ED28-CE60-63BB3CFD6F26}"/>
              </a:ext>
            </a:extLst>
          </p:cNvPr>
          <p:cNvPicPr>
            <a:picLocks noChangeAspect="1"/>
          </p:cNvPicPr>
          <p:nvPr/>
        </p:nvPicPr>
        <p:blipFill>
          <a:blip/>
          <a:stretch>
            <a:fillRect/>
          </a:stretch>
        </p:blipFill>
        <p:spPr>
          <a:xfrm>
            <a:off x="7120453" y="2323087"/>
            <a:ext cx="4766747" cy="1978200"/>
          </a:xfrm>
          <a:prstGeom prst="rect">
            <a:avLst/>
          </a:prstGeom>
        </p:spPr>
      </p:pic>
      <p:cxnSp>
        <p:nvCxnSpPr>
          <p:cNvPr id="21" name="Conector: curvado 20">
            <a:extLst>
              <a:ext uri="{FF2B5EF4-FFF2-40B4-BE49-F238E27FC236}">
                <a16:creationId xmlns:a16="http://schemas.microsoft.com/office/drawing/2014/main" id="{4EF91D37-C7CD-A75F-E0BD-BDFCF1939496}"/>
              </a:ext>
            </a:extLst>
          </p:cNvPr>
          <p:cNvCxnSpPr>
            <a:stCxn id="7" idx="2"/>
            <a:endCxn id="3" idx="1"/>
          </p:cNvCxnSpPr>
          <p:nvPr/>
        </p:nvCxnSpPr>
        <p:spPr>
          <a:xfrm rot="5400000" flipH="1" flipV="1">
            <a:off x="4633262" y="1702160"/>
            <a:ext cx="877163" cy="4097218"/>
          </a:xfrm>
          <a:prstGeom prst="curvedConnector4">
            <a:avLst>
              <a:gd name="adj1" fmla="val -26061"/>
              <a:gd name="adj2" fmla="val 82663"/>
            </a:avLst>
          </a:prstGeom>
          <a:ln>
            <a:solidFill>
              <a:schemeClr val="bg1">
                <a:lumMod val="95000"/>
              </a:schemeClr>
            </a:solidFill>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9466889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42D17-A744-2A46-3226-D92B4FDE54EA}"/>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17D63902-DB6B-198A-C313-D06E9195C6A1}"/>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722EE265-948F-A419-40CD-184FB184FE87}"/>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0" y="-6014433"/>
            <a:ext cx="12192000" cy="12872433"/>
          </a:xfrm>
          <a:prstGeom prst="rect">
            <a:avLst/>
          </a:prstGeom>
        </p:spPr>
      </p:pic>
      <p:sp>
        <p:nvSpPr>
          <p:cNvPr id="10" name="CuadroTexto 9">
            <a:extLst>
              <a:ext uri="{FF2B5EF4-FFF2-40B4-BE49-F238E27FC236}">
                <a16:creationId xmlns:a16="http://schemas.microsoft.com/office/drawing/2014/main" id="{68341555-05CE-76AC-3362-E0808C7904CF}"/>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468ABB7B-DD19-DAAC-6D5C-CCA802E985EA}"/>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1E55676D-0A6E-CC7D-225D-670427BB854F}"/>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sp>
        <p:nvSpPr>
          <p:cNvPr id="15" name="CuadroTexto 14">
            <a:extLst>
              <a:ext uri="{FF2B5EF4-FFF2-40B4-BE49-F238E27FC236}">
                <a16:creationId xmlns:a16="http://schemas.microsoft.com/office/drawing/2014/main" id="{FE468666-AEAE-CD0D-4853-1BFC5437BE78}"/>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pic>
        <p:nvPicPr>
          <p:cNvPr id="19" name="Gráfico 18" descr="Nube con relleno sólido">
            <a:extLst>
              <a:ext uri="{FF2B5EF4-FFF2-40B4-BE49-F238E27FC236}">
                <a16:creationId xmlns:a16="http://schemas.microsoft.com/office/drawing/2014/main" id="{F32E41A7-7064-1C4C-AA47-2CFAE48D957A}"/>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0" y="-126752"/>
            <a:ext cx="914400" cy="914400"/>
          </a:xfrm>
          <a:prstGeom prst="rect">
            <a:avLst/>
          </a:prstGeom>
        </p:spPr>
      </p:pic>
      <p:sp>
        <p:nvSpPr>
          <p:cNvPr id="25" name="Estrella: 4 puntas 24">
            <a:extLst>
              <a:ext uri="{FF2B5EF4-FFF2-40B4-BE49-F238E27FC236}">
                <a16:creationId xmlns:a16="http://schemas.microsoft.com/office/drawing/2014/main" id="{52AB7D5B-E81D-D60E-16A7-4BAC42B29713}"/>
              </a:ext>
            </a:extLst>
          </p:cNvPr>
          <p:cNvSpPr/>
          <p:nvPr/>
        </p:nvSpPr>
        <p:spPr>
          <a:xfrm>
            <a:off x="11658600" y="6206074"/>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6" name="Estrella: 4 puntas 25">
            <a:extLst>
              <a:ext uri="{FF2B5EF4-FFF2-40B4-BE49-F238E27FC236}">
                <a16:creationId xmlns:a16="http://schemas.microsoft.com/office/drawing/2014/main" id="{B715E6D7-D6FB-A914-7BC8-4065C0388AE1}"/>
              </a:ext>
            </a:extLst>
          </p:cNvPr>
          <p:cNvSpPr/>
          <p:nvPr/>
        </p:nvSpPr>
        <p:spPr>
          <a:xfrm>
            <a:off x="526761" y="6367006"/>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7" name="Estrella: 4 puntas 26">
            <a:extLst>
              <a:ext uri="{FF2B5EF4-FFF2-40B4-BE49-F238E27FC236}">
                <a16:creationId xmlns:a16="http://schemas.microsoft.com/office/drawing/2014/main" id="{E9302625-4648-A9DA-BAB3-BCB5C971429B}"/>
              </a:ext>
            </a:extLst>
          </p:cNvPr>
          <p:cNvSpPr/>
          <p:nvPr/>
        </p:nvSpPr>
        <p:spPr>
          <a:xfrm>
            <a:off x="11275638" y="408936"/>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CuadroTexto 6">
            <a:extLst>
              <a:ext uri="{FF2B5EF4-FFF2-40B4-BE49-F238E27FC236}">
                <a16:creationId xmlns:a16="http://schemas.microsoft.com/office/drawing/2014/main" id="{74161821-11E4-EDD9-8669-B6EF09824E15}"/>
              </a:ext>
            </a:extLst>
          </p:cNvPr>
          <p:cNvSpPr txBox="1"/>
          <p:nvPr/>
        </p:nvSpPr>
        <p:spPr>
          <a:xfrm>
            <a:off x="304800" y="1611850"/>
            <a:ext cx="5353050" cy="3416320"/>
          </a:xfrm>
          <a:prstGeom prst="rect">
            <a:avLst/>
          </a:prstGeom>
          <a:noFill/>
        </p:spPr>
        <p:txBody>
          <a:bodyPr wrap="square" rtlCol="0">
            <a:spAutoFit/>
          </a:bodyPr>
          <a:lstStyle/>
          <a:p>
            <a:r>
              <a:rPr lang="es-PE" b="1" dirty="0">
                <a:solidFill>
                  <a:schemeClr val="bg1"/>
                </a:solidFill>
              </a:rPr>
              <a:t>¿Qué es un Firewall de Próxima Generación (NGFW)?</a:t>
            </a:r>
            <a:endParaRPr lang="es-PE" dirty="0">
              <a:solidFill>
                <a:schemeClr val="bg1"/>
              </a:solidFill>
            </a:endParaRPr>
          </a:p>
          <a:p>
            <a:r>
              <a:rPr lang="es-PE" dirty="0">
                <a:solidFill>
                  <a:schemeClr val="bg1"/>
                </a:solidFill>
              </a:rPr>
              <a:t>De acuerdo con la investigación, el NGFW es una evolución del firewall tradicional que no solo filtra tráfico por puertos o protocolos, sino que tiene la capacidad de realizar una </a:t>
            </a:r>
            <a:r>
              <a:rPr lang="es-PE" b="1" dirty="0">
                <a:solidFill>
                  <a:schemeClr val="bg1"/>
                </a:solidFill>
              </a:rPr>
              <a:t>inspección profunda de paquetes (DPI)</a:t>
            </a:r>
            <a:r>
              <a:rPr lang="es-PE" dirty="0">
                <a:solidFill>
                  <a:schemeClr val="bg1"/>
                </a:solidFill>
              </a:rPr>
              <a:t>. Esto significa que puede identificar qué aplicación específica está generando el tráfico y detectar amenazas ocultas que los firewalls antiguos no verían.</a:t>
            </a:r>
          </a:p>
          <a:p>
            <a:endParaRPr lang="es-PE" dirty="0"/>
          </a:p>
        </p:txBody>
      </p:sp>
      <p:sp>
        <p:nvSpPr>
          <p:cNvPr id="5" name="CuadroTexto 4">
            <a:extLst>
              <a:ext uri="{FF2B5EF4-FFF2-40B4-BE49-F238E27FC236}">
                <a16:creationId xmlns:a16="http://schemas.microsoft.com/office/drawing/2014/main" id="{BC4B1EB6-23F4-6465-7A6B-8D454792EB16}"/>
              </a:ext>
            </a:extLst>
          </p:cNvPr>
          <p:cNvSpPr txBox="1"/>
          <p:nvPr/>
        </p:nvSpPr>
        <p:spPr>
          <a:xfrm>
            <a:off x="914400" y="-185348"/>
            <a:ext cx="10972800" cy="707886"/>
          </a:xfrm>
          <a:prstGeom prst="rect">
            <a:avLst/>
          </a:prstGeom>
          <a:noFill/>
        </p:spPr>
        <p:txBody>
          <a:bodyPr wrap="square" rtlCol="0">
            <a:spAutoFit/>
          </a:bodyPr>
          <a:lstStyle/>
          <a:p>
            <a:r>
              <a:rPr lang="es-MX" sz="4000" dirty="0">
                <a:solidFill>
                  <a:schemeClr val="bg1"/>
                </a:solidFill>
                <a:latin typeface="Book Antiqua" panose="02040602050305030304" pitchFamily="18" charset="0"/>
              </a:rPr>
              <a:t>FIREWALL DE LA PROXIMA GENERACION:</a:t>
            </a:r>
            <a:endParaRPr lang="es-PE" sz="4000" dirty="0">
              <a:solidFill>
                <a:schemeClr val="bg1"/>
              </a:solidFill>
              <a:latin typeface="Book Antiqua" panose="02040602050305030304" pitchFamily="18" charset="0"/>
            </a:endParaRPr>
          </a:p>
        </p:txBody>
      </p:sp>
      <p:pic>
        <p:nvPicPr>
          <p:cNvPr id="24" name="Imagen 23" descr="Qué es un Firewall de nueva generación (NGFW) y para qué sirve?">
            <a:extLst>
              <a:ext uri="{FF2B5EF4-FFF2-40B4-BE49-F238E27FC236}">
                <a16:creationId xmlns:a16="http://schemas.microsoft.com/office/drawing/2014/main" id="{76C9BDFC-B27D-BFE4-0A63-6FFC5F07D6E8}"/>
              </a:ext>
            </a:extLst>
          </p:cNvPr>
          <p:cNvPicPr>
            <a:picLocks noChangeAspect="1"/>
          </p:cNvPicPr>
          <p:nvPr/>
        </p:nvPicPr>
        <p:blipFill>
          <a:blip/>
          <a:stretch>
            <a:fillRect/>
          </a:stretch>
        </p:blipFill>
        <p:spPr>
          <a:xfrm>
            <a:off x="5829300" y="1071475"/>
            <a:ext cx="5943600" cy="4943475"/>
          </a:xfrm>
          <a:prstGeom prst="rect">
            <a:avLst/>
          </a:prstGeom>
        </p:spPr>
      </p:pic>
    </p:spTree>
    <p:extLst>
      <p:ext uri="{BB962C8B-B14F-4D97-AF65-F5344CB8AC3E}">
        <p14:creationId xmlns:p14="http://schemas.microsoft.com/office/powerpoint/2010/main" val="27716976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96DD5-5266-8E1C-A59E-0D5F73A8856E}"/>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235F7011-CDAD-60D3-F3EE-930C1A861D4E}"/>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F2B30EC5-9367-87C1-7FAD-71C5871A8DAE}"/>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0" y="-6014433"/>
            <a:ext cx="12192000" cy="12872433"/>
          </a:xfrm>
          <a:prstGeom prst="rect">
            <a:avLst/>
          </a:prstGeom>
        </p:spPr>
      </p:pic>
      <p:sp>
        <p:nvSpPr>
          <p:cNvPr id="10" name="CuadroTexto 9">
            <a:extLst>
              <a:ext uri="{FF2B5EF4-FFF2-40B4-BE49-F238E27FC236}">
                <a16:creationId xmlns:a16="http://schemas.microsoft.com/office/drawing/2014/main" id="{4934688C-DB4C-CB49-B888-C2918C5F2E3D}"/>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AE8C485C-965D-D182-DE6B-0AD9520457BA}"/>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D616E736-81B7-E5BF-C796-A6E74D38263B}"/>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sp>
        <p:nvSpPr>
          <p:cNvPr id="15" name="CuadroTexto 14">
            <a:extLst>
              <a:ext uri="{FF2B5EF4-FFF2-40B4-BE49-F238E27FC236}">
                <a16:creationId xmlns:a16="http://schemas.microsoft.com/office/drawing/2014/main" id="{06937AC2-2B30-C75C-BEF9-1898E3685342}"/>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pic>
        <p:nvPicPr>
          <p:cNvPr id="19" name="Gráfico 18" descr="Nube con relleno sólido">
            <a:extLst>
              <a:ext uri="{FF2B5EF4-FFF2-40B4-BE49-F238E27FC236}">
                <a16:creationId xmlns:a16="http://schemas.microsoft.com/office/drawing/2014/main" id="{808E6182-5CB7-96B9-C334-EE0413F8C02F}"/>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0" y="-126752"/>
            <a:ext cx="914400" cy="914400"/>
          </a:xfrm>
          <a:prstGeom prst="rect">
            <a:avLst/>
          </a:prstGeom>
        </p:spPr>
      </p:pic>
      <p:sp>
        <p:nvSpPr>
          <p:cNvPr id="25" name="Estrella: 4 puntas 24">
            <a:extLst>
              <a:ext uri="{FF2B5EF4-FFF2-40B4-BE49-F238E27FC236}">
                <a16:creationId xmlns:a16="http://schemas.microsoft.com/office/drawing/2014/main" id="{1781F891-E1B9-7513-B1AA-6550DBCB0590}"/>
              </a:ext>
            </a:extLst>
          </p:cNvPr>
          <p:cNvSpPr/>
          <p:nvPr/>
        </p:nvSpPr>
        <p:spPr>
          <a:xfrm>
            <a:off x="11658600" y="6206074"/>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6" name="Estrella: 4 puntas 25">
            <a:extLst>
              <a:ext uri="{FF2B5EF4-FFF2-40B4-BE49-F238E27FC236}">
                <a16:creationId xmlns:a16="http://schemas.microsoft.com/office/drawing/2014/main" id="{4DB0FCC1-FE68-DA19-B351-1F71D8237E90}"/>
              </a:ext>
            </a:extLst>
          </p:cNvPr>
          <p:cNvSpPr/>
          <p:nvPr/>
        </p:nvSpPr>
        <p:spPr>
          <a:xfrm>
            <a:off x="526761" y="6367006"/>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7" name="Estrella: 4 puntas 26">
            <a:extLst>
              <a:ext uri="{FF2B5EF4-FFF2-40B4-BE49-F238E27FC236}">
                <a16:creationId xmlns:a16="http://schemas.microsoft.com/office/drawing/2014/main" id="{116D3AB2-FFD0-E049-C85F-3ADDE48128B9}"/>
              </a:ext>
            </a:extLst>
          </p:cNvPr>
          <p:cNvSpPr/>
          <p:nvPr/>
        </p:nvSpPr>
        <p:spPr>
          <a:xfrm>
            <a:off x="11275638" y="408936"/>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CuadroTexto 6">
            <a:extLst>
              <a:ext uri="{FF2B5EF4-FFF2-40B4-BE49-F238E27FC236}">
                <a16:creationId xmlns:a16="http://schemas.microsoft.com/office/drawing/2014/main" id="{92693771-DB6D-5BBF-0A22-DDC02F74CAFA}"/>
              </a:ext>
            </a:extLst>
          </p:cNvPr>
          <p:cNvSpPr txBox="1"/>
          <p:nvPr/>
        </p:nvSpPr>
        <p:spPr>
          <a:xfrm>
            <a:off x="220980" y="571093"/>
            <a:ext cx="11750040" cy="923330"/>
          </a:xfrm>
          <a:prstGeom prst="rect">
            <a:avLst/>
          </a:prstGeom>
          <a:noFill/>
        </p:spPr>
        <p:txBody>
          <a:bodyPr wrap="square" rtlCol="0">
            <a:spAutoFit/>
          </a:bodyPr>
          <a:lstStyle/>
          <a:p>
            <a:r>
              <a:rPr lang="es-PE" dirty="0">
                <a:solidFill>
                  <a:schemeClr val="bg1"/>
                </a:solidFill>
              </a:rPr>
              <a:t>- En el estudio realizado en el Hospital Ambato, se comparó el NGFW contra otras tecnologías (como servidores estándar y UTM), destacando los siguientes puntos:</a:t>
            </a:r>
          </a:p>
          <a:p>
            <a:endParaRPr lang="es-PE" dirty="0"/>
          </a:p>
        </p:txBody>
      </p:sp>
      <p:sp>
        <p:nvSpPr>
          <p:cNvPr id="5" name="CuadroTexto 4">
            <a:extLst>
              <a:ext uri="{FF2B5EF4-FFF2-40B4-BE49-F238E27FC236}">
                <a16:creationId xmlns:a16="http://schemas.microsoft.com/office/drawing/2014/main" id="{7686FE11-7221-6ACF-1795-110108F2FB4D}"/>
              </a:ext>
            </a:extLst>
          </p:cNvPr>
          <p:cNvSpPr txBox="1"/>
          <p:nvPr/>
        </p:nvSpPr>
        <p:spPr>
          <a:xfrm>
            <a:off x="914400" y="-185348"/>
            <a:ext cx="10563746" cy="923330"/>
          </a:xfrm>
          <a:prstGeom prst="rect">
            <a:avLst/>
          </a:prstGeom>
          <a:noFill/>
        </p:spPr>
        <p:txBody>
          <a:bodyPr wrap="square" rtlCol="0">
            <a:spAutoFit/>
          </a:bodyPr>
          <a:lstStyle/>
          <a:p>
            <a:r>
              <a:rPr lang="es-PE" sz="3600" b="1" dirty="0">
                <a:solidFill>
                  <a:schemeClr val="bg1"/>
                </a:solidFill>
                <a:latin typeface="Aharoni" panose="02010803020104030203" pitchFamily="2" charset="-79"/>
                <a:cs typeface="Aharoni" panose="02010803020104030203" pitchFamily="2" charset="-79"/>
              </a:rPr>
              <a:t>Características y Resultados de la Evaluación</a:t>
            </a:r>
            <a:endParaRPr lang="es-PE" sz="3600" dirty="0">
              <a:solidFill>
                <a:schemeClr val="bg1"/>
              </a:solidFill>
              <a:latin typeface="Aharoni" panose="02010803020104030203" pitchFamily="2" charset="-79"/>
              <a:cs typeface="Aharoni" panose="02010803020104030203" pitchFamily="2" charset="-79"/>
            </a:endParaRPr>
          </a:p>
          <a:p>
            <a:endParaRPr lang="es-PE" dirty="0"/>
          </a:p>
        </p:txBody>
      </p:sp>
      <p:sp>
        <p:nvSpPr>
          <p:cNvPr id="4" name="CuadroTexto 3">
            <a:extLst>
              <a:ext uri="{FF2B5EF4-FFF2-40B4-BE49-F238E27FC236}">
                <a16:creationId xmlns:a16="http://schemas.microsoft.com/office/drawing/2014/main" id="{D349E7DA-CFE0-EA75-259B-06BC8A7E4845}"/>
              </a:ext>
            </a:extLst>
          </p:cNvPr>
          <p:cNvSpPr txBox="1"/>
          <p:nvPr/>
        </p:nvSpPr>
        <p:spPr>
          <a:xfrm>
            <a:off x="220980" y="1563419"/>
            <a:ext cx="4625340" cy="1661993"/>
          </a:xfrm>
          <a:prstGeom prst="rect">
            <a:avLst/>
          </a:prstGeom>
          <a:noFill/>
        </p:spPr>
        <p:txBody>
          <a:bodyPr wrap="square" rtlCol="0">
            <a:spAutoFit/>
          </a:bodyPr>
          <a:lstStyle/>
          <a:p>
            <a:pPr marL="285750" indent="-285750">
              <a:buFont typeface="Wingdings" panose="05000000000000000000" pitchFamily="2" charset="2"/>
              <a:buChar char="v"/>
            </a:pPr>
            <a:r>
              <a:rPr lang="es-PE" sz="1400" b="1" dirty="0">
                <a:solidFill>
                  <a:schemeClr val="bg1"/>
                </a:solidFill>
                <a:latin typeface="Book Antiqua" panose="02040602050305030304" pitchFamily="18" charset="0"/>
              </a:rPr>
              <a:t>Identificación de Aplicaciones:</a:t>
            </a:r>
            <a:r>
              <a:rPr lang="es-PE" sz="1400" dirty="0">
                <a:solidFill>
                  <a:schemeClr val="bg1"/>
                </a:solidFill>
                <a:latin typeface="Book Antiqua" panose="02040602050305030304" pitchFamily="18" charset="0"/>
              </a:rPr>
              <a:t> A diferencia de los modelos básicos, el NGFW permite crear reglas basadas en aplicaciones reales (como redes sociales, </a:t>
            </a:r>
            <a:r>
              <a:rPr lang="es-PE" sz="1400" dirty="0" err="1">
                <a:solidFill>
                  <a:schemeClr val="bg1"/>
                </a:solidFill>
                <a:latin typeface="Book Antiqua" panose="02040602050305030304" pitchFamily="18" charset="0"/>
              </a:rPr>
              <a:t>streaming</a:t>
            </a:r>
            <a:r>
              <a:rPr lang="es-PE" sz="1400" dirty="0">
                <a:solidFill>
                  <a:schemeClr val="bg1"/>
                </a:solidFill>
                <a:latin typeface="Book Antiqua" panose="02040602050305030304" pitchFamily="18" charset="0"/>
              </a:rPr>
              <a:t> o software de oficina), permitiendo un control mucho más granular sobre lo que ocurre en la red.</a:t>
            </a:r>
          </a:p>
          <a:p>
            <a:endParaRPr lang="es-PE" dirty="0"/>
          </a:p>
        </p:txBody>
      </p:sp>
      <p:sp>
        <p:nvSpPr>
          <p:cNvPr id="8" name="CuadroTexto 7">
            <a:extLst>
              <a:ext uri="{FF2B5EF4-FFF2-40B4-BE49-F238E27FC236}">
                <a16:creationId xmlns:a16="http://schemas.microsoft.com/office/drawing/2014/main" id="{5C624E8B-1543-20C4-DC54-9A696B7093AA}"/>
              </a:ext>
            </a:extLst>
          </p:cNvPr>
          <p:cNvSpPr txBox="1"/>
          <p:nvPr/>
        </p:nvSpPr>
        <p:spPr>
          <a:xfrm>
            <a:off x="220980" y="3886200"/>
            <a:ext cx="4122420" cy="2092881"/>
          </a:xfrm>
          <a:prstGeom prst="rect">
            <a:avLst/>
          </a:prstGeom>
          <a:noFill/>
        </p:spPr>
        <p:txBody>
          <a:bodyPr wrap="square" rtlCol="0">
            <a:spAutoFit/>
          </a:bodyPr>
          <a:lstStyle/>
          <a:p>
            <a:pPr marL="285750" indent="-285750">
              <a:buFont typeface="Wingdings" panose="05000000000000000000" pitchFamily="2" charset="2"/>
              <a:buChar char="v"/>
            </a:pPr>
            <a:r>
              <a:rPr lang="es-PE" sz="1400" b="1" dirty="0">
                <a:solidFill>
                  <a:schemeClr val="bg1"/>
                </a:solidFill>
                <a:latin typeface="Book Antiqua" panose="02040602050305030304" pitchFamily="18" charset="0"/>
              </a:rPr>
              <a:t>Rendimiento y Productividad:</a:t>
            </a:r>
            <a:r>
              <a:rPr lang="es-PE" sz="1400" dirty="0">
                <a:solidFill>
                  <a:schemeClr val="bg1"/>
                </a:solidFill>
                <a:latin typeface="Book Antiqua" panose="02040602050305030304" pitchFamily="18" charset="0"/>
              </a:rPr>
              <a:t> La tesis demuestra que el uso de un NGFW eleva la productividad de la red drásticamente. En las pruebas estadísticas, el NGFW alcanzó un </a:t>
            </a:r>
            <a:r>
              <a:rPr lang="es-PE" sz="1400" b="1" dirty="0">
                <a:solidFill>
                  <a:schemeClr val="bg1"/>
                </a:solidFill>
                <a:latin typeface="Book Antiqua" panose="02040602050305030304" pitchFamily="18" charset="0"/>
              </a:rPr>
              <a:t>77% de eficiencia</a:t>
            </a:r>
            <a:r>
              <a:rPr lang="es-PE" sz="1400" dirty="0">
                <a:solidFill>
                  <a:schemeClr val="bg1"/>
                </a:solidFill>
                <a:latin typeface="Book Antiqua" panose="02040602050305030304" pitchFamily="18" charset="0"/>
              </a:rPr>
              <a:t>, superando al modelo UTM (65%) y dejando muy atrás a los servidores de red convencionales (0% en esa métrica específica).</a:t>
            </a:r>
          </a:p>
          <a:p>
            <a:endParaRPr lang="es-PE" dirty="0"/>
          </a:p>
        </p:txBody>
      </p:sp>
      <p:sp>
        <p:nvSpPr>
          <p:cNvPr id="13" name="CuadroTexto 12">
            <a:extLst>
              <a:ext uri="{FF2B5EF4-FFF2-40B4-BE49-F238E27FC236}">
                <a16:creationId xmlns:a16="http://schemas.microsoft.com/office/drawing/2014/main" id="{529E0639-9556-0764-23A0-2CDB2ED292F5}"/>
              </a:ext>
            </a:extLst>
          </p:cNvPr>
          <p:cNvSpPr txBox="1"/>
          <p:nvPr/>
        </p:nvSpPr>
        <p:spPr>
          <a:xfrm>
            <a:off x="6195060" y="1530548"/>
            <a:ext cx="5585460" cy="1661993"/>
          </a:xfrm>
          <a:prstGeom prst="rect">
            <a:avLst/>
          </a:prstGeom>
          <a:noFill/>
        </p:spPr>
        <p:txBody>
          <a:bodyPr wrap="square" rtlCol="0">
            <a:spAutoFit/>
          </a:bodyPr>
          <a:lstStyle/>
          <a:p>
            <a:pPr marL="285750" indent="-285750">
              <a:buFont typeface="Wingdings" panose="05000000000000000000" pitchFamily="2" charset="2"/>
              <a:buChar char="v"/>
            </a:pPr>
            <a:r>
              <a:rPr lang="es-PE" sz="1400" b="1" dirty="0">
                <a:solidFill>
                  <a:schemeClr val="bg1"/>
                </a:solidFill>
                <a:latin typeface="Book Antiqua" panose="02040602050305030304" pitchFamily="18" charset="0"/>
              </a:rPr>
              <a:t>Tiempo de Respuesta y Disponibilidad:</a:t>
            </a:r>
            <a:r>
              <a:rPr lang="es-PE" sz="1400" dirty="0">
                <a:solidFill>
                  <a:schemeClr val="bg1"/>
                </a:solidFill>
                <a:latin typeface="Book Antiqua" panose="02040602050305030304" pitchFamily="18" charset="0"/>
              </a:rPr>
              <a:t> Uno de los hallazgos más importantes es que el NGFW optimiza el tiempo de respuesta en un </a:t>
            </a:r>
            <a:r>
              <a:rPr lang="es-PE" sz="1400" b="1" dirty="0">
                <a:solidFill>
                  <a:schemeClr val="bg1"/>
                </a:solidFill>
                <a:latin typeface="Book Antiqua" panose="02040602050305030304" pitchFamily="18" charset="0"/>
              </a:rPr>
              <a:t>90%</a:t>
            </a:r>
            <a:r>
              <a:rPr lang="es-PE" sz="1400" dirty="0">
                <a:solidFill>
                  <a:schemeClr val="bg1"/>
                </a:solidFill>
                <a:latin typeface="Book Antiqua" panose="02040602050305030304" pitchFamily="18" charset="0"/>
              </a:rPr>
              <a:t>. Además, garantiza una alta disponibilidad de los servicios críticos, algo vital en entornos donde la caída de la red puede afectar la atención de emergencias o consultas médicas.</a:t>
            </a:r>
          </a:p>
          <a:p>
            <a:endParaRPr lang="es-PE" dirty="0"/>
          </a:p>
        </p:txBody>
      </p:sp>
      <p:sp>
        <p:nvSpPr>
          <p:cNvPr id="14" name="CuadroTexto 13">
            <a:extLst>
              <a:ext uri="{FF2B5EF4-FFF2-40B4-BE49-F238E27FC236}">
                <a16:creationId xmlns:a16="http://schemas.microsoft.com/office/drawing/2014/main" id="{CAB32AE9-CF00-40D8-9835-9EBEF708A929}"/>
              </a:ext>
            </a:extLst>
          </p:cNvPr>
          <p:cNvSpPr txBox="1"/>
          <p:nvPr/>
        </p:nvSpPr>
        <p:spPr>
          <a:xfrm>
            <a:off x="6446520" y="3225412"/>
            <a:ext cx="5524500" cy="1231106"/>
          </a:xfrm>
          <a:prstGeom prst="rect">
            <a:avLst/>
          </a:prstGeom>
          <a:noFill/>
        </p:spPr>
        <p:txBody>
          <a:bodyPr wrap="square" rtlCol="0">
            <a:spAutoFit/>
          </a:bodyPr>
          <a:lstStyle/>
          <a:p>
            <a:pPr marL="285750" indent="-285750">
              <a:buFont typeface="Wingdings" panose="05000000000000000000" pitchFamily="2" charset="2"/>
              <a:buChar char="v"/>
            </a:pPr>
            <a:r>
              <a:rPr lang="es-PE" sz="1400" b="1" dirty="0">
                <a:solidFill>
                  <a:schemeClr val="bg1"/>
                </a:solidFill>
                <a:latin typeface="Book Antiqua" panose="02040602050305030304" pitchFamily="18" charset="0"/>
              </a:rPr>
              <a:t>Precisión en la Detección:</a:t>
            </a:r>
            <a:r>
              <a:rPr lang="es-PE" sz="1400" dirty="0">
                <a:solidFill>
                  <a:schemeClr val="bg1"/>
                </a:solidFill>
                <a:latin typeface="Book Antiqua" panose="02040602050305030304" pitchFamily="18" charset="0"/>
              </a:rPr>
              <a:t> El documento califica la exactitud del NGFW como "muy buena", ya que integra sistemas de prevención de intrusiones (IPS) que bloquean ataques antes de que lleguen a los servidores internos.</a:t>
            </a:r>
          </a:p>
          <a:p>
            <a:endParaRPr lang="es-PE" dirty="0"/>
          </a:p>
        </p:txBody>
      </p:sp>
      <p:sp>
        <p:nvSpPr>
          <p:cNvPr id="16" name="CuadroTexto 15">
            <a:extLst>
              <a:ext uri="{FF2B5EF4-FFF2-40B4-BE49-F238E27FC236}">
                <a16:creationId xmlns:a16="http://schemas.microsoft.com/office/drawing/2014/main" id="{405BA50A-367B-D33D-A719-D26DA57E091A}"/>
              </a:ext>
            </a:extLst>
          </p:cNvPr>
          <p:cNvSpPr txBox="1"/>
          <p:nvPr/>
        </p:nvSpPr>
        <p:spPr>
          <a:xfrm>
            <a:off x="6094038" y="4659150"/>
            <a:ext cx="5181600" cy="1877437"/>
          </a:xfrm>
          <a:prstGeom prst="rect">
            <a:avLst/>
          </a:prstGeom>
          <a:noFill/>
        </p:spPr>
        <p:txBody>
          <a:bodyPr wrap="square" rtlCol="0">
            <a:spAutoFit/>
          </a:bodyPr>
          <a:lstStyle/>
          <a:p>
            <a:pPr marL="285750" indent="-285750">
              <a:buFont typeface="Wingdings" panose="05000000000000000000" pitchFamily="2" charset="2"/>
              <a:buChar char="ü"/>
            </a:pPr>
            <a:r>
              <a:rPr lang="es-PE" sz="1400" b="1" dirty="0">
                <a:solidFill>
                  <a:schemeClr val="bg1"/>
                </a:solidFill>
                <a:latin typeface="Book Antiqua" panose="02040602050305030304" pitchFamily="18" charset="0"/>
              </a:rPr>
              <a:t>Conclusión del Estudio</a:t>
            </a:r>
            <a:endParaRPr lang="es-PE" sz="1400" dirty="0">
              <a:solidFill>
                <a:schemeClr val="bg1"/>
              </a:solidFill>
              <a:latin typeface="Book Antiqua" panose="02040602050305030304" pitchFamily="18" charset="0"/>
            </a:endParaRPr>
          </a:p>
          <a:p>
            <a:r>
              <a:rPr lang="es-PE" sz="1400" dirty="0">
                <a:solidFill>
                  <a:schemeClr val="bg1"/>
                </a:solidFill>
                <a:latin typeface="Book Antiqua" panose="02040602050305030304" pitchFamily="18" charset="0"/>
              </a:rPr>
              <a:t>La investigación concluye que el </a:t>
            </a:r>
            <a:r>
              <a:rPr lang="es-PE" sz="1400" b="1" dirty="0">
                <a:solidFill>
                  <a:schemeClr val="bg1"/>
                </a:solidFill>
                <a:latin typeface="Book Antiqua" panose="02040602050305030304" pitchFamily="18" charset="0"/>
              </a:rPr>
              <a:t>Next </a:t>
            </a:r>
            <a:r>
              <a:rPr lang="es-PE" sz="1400" b="1" dirty="0" err="1">
                <a:solidFill>
                  <a:schemeClr val="bg1"/>
                </a:solidFill>
                <a:latin typeface="Book Antiqua" panose="02040602050305030304" pitchFamily="18" charset="0"/>
              </a:rPr>
              <a:t>Generation</a:t>
            </a:r>
            <a:r>
              <a:rPr lang="es-PE" sz="1400" b="1" dirty="0">
                <a:solidFill>
                  <a:schemeClr val="bg1"/>
                </a:solidFill>
                <a:latin typeface="Book Antiqua" panose="02040602050305030304" pitchFamily="18" charset="0"/>
              </a:rPr>
              <a:t> Firewall ofrece mejores prestaciones</a:t>
            </a:r>
            <a:r>
              <a:rPr lang="es-PE" sz="1400" dirty="0">
                <a:solidFill>
                  <a:schemeClr val="bg1"/>
                </a:solidFill>
                <a:latin typeface="Book Antiqua" panose="02040602050305030304" pitchFamily="18" charset="0"/>
              </a:rPr>
              <a:t> globales en comparación con las tecnologías tradicionales y los UTM. Por esta razón, el autor establece una guía de implementación recomendando el NGFW para escenarios de alta demanda donde la seguridad y el rendimiento no pueden verse comprometidos.</a:t>
            </a:r>
          </a:p>
          <a:p>
            <a:endParaRPr lang="es-PE" dirty="0"/>
          </a:p>
        </p:txBody>
      </p:sp>
      <p:sp>
        <p:nvSpPr>
          <p:cNvPr id="17" name="Estrella: 4 puntas 16">
            <a:extLst>
              <a:ext uri="{FF2B5EF4-FFF2-40B4-BE49-F238E27FC236}">
                <a16:creationId xmlns:a16="http://schemas.microsoft.com/office/drawing/2014/main" id="{B579DDF7-9109-5F49-68C4-F183E59826AE}"/>
              </a:ext>
            </a:extLst>
          </p:cNvPr>
          <p:cNvSpPr/>
          <p:nvPr/>
        </p:nvSpPr>
        <p:spPr>
          <a:xfrm>
            <a:off x="4959639" y="4613430"/>
            <a:ext cx="518160" cy="369332"/>
          </a:xfrm>
          <a:prstGeom prst="star4">
            <a:avLst>
              <a:gd name="adj" fmla="val 8253"/>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20" name="Gráfico 19" descr="Internet con relleno sólido">
            <a:extLst>
              <a:ext uri="{FF2B5EF4-FFF2-40B4-BE49-F238E27FC236}">
                <a16:creationId xmlns:a16="http://schemas.microsoft.com/office/drawing/2014/main" id="{E57B83D6-498C-D8DE-B898-32EDDB107AFD}"/>
              </a:ext>
            </a:extLst>
          </p:cNvPr>
          <p:cNvPicPr>
            <a:picLocks noChangeAspect="1"/>
          </p:cNvPicPr>
          <p:nvPr/>
        </p:nvPicPr>
        <p:blipFill>
          <a:blip r:embed="rId5">
            <a:extLst>
              <a:ext uri="{96DAC541-7B7A-43D3-8B79-37D633B846F1}">
                <asvg:svgBlip xmlns:asvg="http://schemas.microsoft.com/office/drawing/2016/SVG/main"/>
              </a:ext>
            </a:extLst>
          </a:blip>
          <a:stretch>
            <a:fillRect/>
          </a:stretch>
        </p:blipFill>
        <p:spPr>
          <a:xfrm>
            <a:off x="4937760" y="2819162"/>
            <a:ext cx="914400" cy="914400"/>
          </a:xfrm>
          <a:prstGeom prst="rect">
            <a:avLst/>
          </a:prstGeom>
        </p:spPr>
      </p:pic>
      <p:sp>
        <p:nvSpPr>
          <p:cNvPr id="22" name="Estrella: 4 puntas 21">
            <a:extLst>
              <a:ext uri="{FF2B5EF4-FFF2-40B4-BE49-F238E27FC236}">
                <a16:creationId xmlns:a16="http://schemas.microsoft.com/office/drawing/2014/main" id="{94DFEE46-2090-8F2D-46A9-B3909A700EDE}"/>
              </a:ext>
            </a:extLst>
          </p:cNvPr>
          <p:cNvSpPr/>
          <p:nvPr/>
        </p:nvSpPr>
        <p:spPr>
          <a:xfrm>
            <a:off x="5501640" y="1903780"/>
            <a:ext cx="518160" cy="369332"/>
          </a:xfrm>
          <a:prstGeom prst="star4">
            <a:avLst>
              <a:gd name="adj" fmla="val 8253"/>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948387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3CCC0-CD09-227B-B4AF-58B9D7D5A13E}"/>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7F3E2AE2-685A-8EBF-C153-0B61D525B84B}"/>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4BA9941E-4331-A654-34EB-AFF71CE13103}"/>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1962" y="-6014433"/>
            <a:ext cx="12192000" cy="12872433"/>
          </a:xfrm>
          <a:prstGeom prst="rect">
            <a:avLst/>
          </a:prstGeom>
        </p:spPr>
      </p:pic>
      <p:sp>
        <p:nvSpPr>
          <p:cNvPr id="10" name="CuadroTexto 9">
            <a:extLst>
              <a:ext uri="{FF2B5EF4-FFF2-40B4-BE49-F238E27FC236}">
                <a16:creationId xmlns:a16="http://schemas.microsoft.com/office/drawing/2014/main" id="{E622E103-5E68-6AD2-5792-FA5FCEE809AD}"/>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B28FE63D-D7D8-6CAD-42DD-BD9AF9E821B6}"/>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65FA8CB7-CE12-0B72-1662-0F0CC2604291}"/>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sp>
        <p:nvSpPr>
          <p:cNvPr id="15" name="CuadroTexto 14">
            <a:extLst>
              <a:ext uri="{FF2B5EF4-FFF2-40B4-BE49-F238E27FC236}">
                <a16:creationId xmlns:a16="http://schemas.microsoft.com/office/drawing/2014/main" id="{1A9B77FA-AF38-9300-A8D2-3F24787B6029}"/>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pic>
        <p:nvPicPr>
          <p:cNvPr id="19" name="Gráfico 18" descr="Nube con relleno sólido">
            <a:extLst>
              <a:ext uri="{FF2B5EF4-FFF2-40B4-BE49-F238E27FC236}">
                <a16:creationId xmlns:a16="http://schemas.microsoft.com/office/drawing/2014/main" id="{8CE033AA-55B1-5D59-1D90-89E7E0E34C95}"/>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0" y="-126752"/>
            <a:ext cx="914400" cy="914400"/>
          </a:xfrm>
          <a:prstGeom prst="rect">
            <a:avLst/>
          </a:prstGeom>
        </p:spPr>
      </p:pic>
      <p:sp>
        <p:nvSpPr>
          <p:cNvPr id="25" name="Estrella: 4 puntas 24">
            <a:extLst>
              <a:ext uri="{FF2B5EF4-FFF2-40B4-BE49-F238E27FC236}">
                <a16:creationId xmlns:a16="http://schemas.microsoft.com/office/drawing/2014/main" id="{4908F9A8-4F54-3A49-4542-E31AD6C7D51B}"/>
              </a:ext>
            </a:extLst>
          </p:cNvPr>
          <p:cNvSpPr/>
          <p:nvPr/>
        </p:nvSpPr>
        <p:spPr>
          <a:xfrm>
            <a:off x="11658600" y="6206074"/>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6" name="Estrella: 4 puntas 25">
            <a:extLst>
              <a:ext uri="{FF2B5EF4-FFF2-40B4-BE49-F238E27FC236}">
                <a16:creationId xmlns:a16="http://schemas.microsoft.com/office/drawing/2014/main" id="{AE800DDD-4664-D46F-5A7B-B675A495F171}"/>
              </a:ext>
            </a:extLst>
          </p:cNvPr>
          <p:cNvSpPr/>
          <p:nvPr/>
        </p:nvSpPr>
        <p:spPr>
          <a:xfrm>
            <a:off x="526761" y="6367006"/>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7" name="Estrella: 4 puntas 26">
            <a:extLst>
              <a:ext uri="{FF2B5EF4-FFF2-40B4-BE49-F238E27FC236}">
                <a16:creationId xmlns:a16="http://schemas.microsoft.com/office/drawing/2014/main" id="{1018E318-9D64-9173-2A01-254896BDEE06}"/>
              </a:ext>
            </a:extLst>
          </p:cNvPr>
          <p:cNvSpPr/>
          <p:nvPr/>
        </p:nvSpPr>
        <p:spPr>
          <a:xfrm>
            <a:off x="11275638" y="408936"/>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CuadroTexto 6">
            <a:extLst>
              <a:ext uri="{FF2B5EF4-FFF2-40B4-BE49-F238E27FC236}">
                <a16:creationId xmlns:a16="http://schemas.microsoft.com/office/drawing/2014/main" id="{4999C4A8-ED1C-2788-BBDA-282B4D3C50EB}"/>
              </a:ext>
            </a:extLst>
          </p:cNvPr>
          <p:cNvSpPr txBox="1"/>
          <p:nvPr/>
        </p:nvSpPr>
        <p:spPr>
          <a:xfrm>
            <a:off x="220980" y="571093"/>
            <a:ext cx="11750040" cy="1384995"/>
          </a:xfrm>
          <a:prstGeom prst="rect">
            <a:avLst/>
          </a:prstGeom>
          <a:noFill/>
        </p:spPr>
        <p:txBody>
          <a:bodyPr wrap="square" rtlCol="0">
            <a:spAutoFit/>
          </a:bodyPr>
          <a:lstStyle/>
          <a:p>
            <a:r>
              <a:rPr lang="es-PE" sz="1600" dirty="0">
                <a:solidFill>
                  <a:schemeClr val="bg1"/>
                </a:solidFill>
                <a:latin typeface="Book Antiqua" panose="02040602050305030304" pitchFamily="18" charset="0"/>
              </a:rPr>
              <a:t>- </a:t>
            </a:r>
            <a:r>
              <a:rPr lang="es-PE" sz="1600" b="1" dirty="0">
                <a:solidFill>
                  <a:schemeClr val="bg1"/>
                </a:solidFill>
              </a:rPr>
              <a:t>El Concepto: Lo</a:t>
            </a:r>
            <a:r>
              <a:rPr lang="es-PE" sz="1600" dirty="0">
                <a:solidFill>
                  <a:schemeClr val="bg1"/>
                </a:solidFill>
                <a:latin typeface="Book Antiqua" panose="02040602050305030304" pitchFamily="18" charset="0"/>
              </a:rPr>
              <a:t> que he podido extraer de la investigación es que el modelo tradicional de "castillo y foso" (donde se confía en todo lo que está dentro de la red corporativa) ha quedado obsoleto. Zero Trust propone que la ubicación de la red no sea una variable para determinar la confianza.</a:t>
            </a:r>
          </a:p>
          <a:p>
            <a:r>
              <a:rPr lang="es-PE" sz="1600" dirty="0">
                <a:solidFill>
                  <a:schemeClr val="bg1"/>
                </a:solidFill>
                <a:latin typeface="Book Antiqua" panose="02040602050305030304" pitchFamily="18" charset="0"/>
              </a:rPr>
              <a:t>En mi análisis, los puntos más detallados de esta arquitectura son:</a:t>
            </a:r>
          </a:p>
          <a:p>
            <a:endParaRPr lang="es-PE" dirty="0"/>
          </a:p>
        </p:txBody>
      </p:sp>
      <p:sp>
        <p:nvSpPr>
          <p:cNvPr id="5" name="CuadroTexto 4">
            <a:extLst>
              <a:ext uri="{FF2B5EF4-FFF2-40B4-BE49-F238E27FC236}">
                <a16:creationId xmlns:a16="http://schemas.microsoft.com/office/drawing/2014/main" id="{CB56449F-7291-61DF-41B3-A26F4AD5DF4A}"/>
              </a:ext>
            </a:extLst>
          </p:cNvPr>
          <p:cNvSpPr txBox="1"/>
          <p:nvPr/>
        </p:nvSpPr>
        <p:spPr>
          <a:xfrm>
            <a:off x="914400" y="-185348"/>
            <a:ext cx="11277600" cy="707886"/>
          </a:xfrm>
          <a:prstGeom prst="rect">
            <a:avLst/>
          </a:prstGeom>
          <a:noFill/>
        </p:spPr>
        <p:txBody>
          <a:bodyPr wrap="square" rtlCol="0">
            <a:spAutoFit/>
          </a:bodyPr>
          <a:lstStyle/>
          <a:p>
            <a:r>
              <a:rPr lang="es-PE" sz="4000" b="1" dirty="0">
                <a:solidFill>
                  <a:schemeClr val="bg1"/>
                </a:solidFill>
                <a:latin typeface="Aharoni" panose="02010803020104030203" pitchFamily="2" charset="-79"/>
                <a:cs typeface="Aharoni" panose="02010803020104030203" pitchFamily="2" charset="-79"/>
              </a:rPr>
              <a:t>LA SEGURIDAD PERIMETRAL A LA IDENTIDAD</a:t>
            </a:r>
            <a:endParaRPr lang="es-PE" sz="4000" dirty="0">
              <a:solidFill>
                <a:schemeClr val="bg1"/>
              </a:solidFill>
              <a:latin typeface="Aharoni" panose="02010803020104030203" pitchFamily="2" charset="-79"/>
              <a:cs typeface="Aharoni" panose="02010803020104030203" pitchFamily="2" charset="-79"/>
            </a:endParaRPr>
          </a:p>
        </p:txBody>
      </p:sp>
      <p:sp>
        <p:nvSpPr>
          <p:cNvPr id="4" name="CuadroTexto 3">
            <a:extLst>
              <a:ext uri="{FF2B5EF4-FFF2-40B4-BE49-F238E27FC236}">
                <a16:creationId xmlns:a16="http://schemas.microsoft.com/office/drawing/2014/main" id="{ACEB2412-55D7-A87C-0C75-3B987C836C39}"/>
              </a:ext>
            </a:extLst>
          </p:cNvPr>
          <p:cNvSpPr txBox="1"/>
          <p:nvPr/>
        </p:nvSpPr>
        <p:spPr>
          <a:xfrm>
            <a:off x="156210" y="1913552"/>
            <a:ext cx="4625340" cy="1877437"/>
          </a:xfrm>
          <a:prstGeom prst="rect">
            <a:avLst/>
          </a:prstGeom>
          <a:noFill/>
        </p:spPr>
        <p:txBody>
          <a:bodyPr wrap="square" rtlCol="0">
            <a:spAutoFit/>
          </a:bodyPr>
          <a:lstStyle/>
          <a:p>
            <a:pPr marL="285750" lvl="0" indent="-285750">
              <a:buFont typeface="Wingdings" panose="05000000000000000000" pitchFamily="2" charset="2"/>
              <a:buChar char="Ø"/>
            </a:pPr>
            <a:r>
              <a:rPr lang="es-PE" sz="1400" b="1" dirty="0">
                <a:solidFill>
                  <a:schemeClr val="bg1"/>
                </a:solidFill>
                <a:latin typeface="Book Antiqua" panose="02040602050305030304" pitchFamily="18" charset="0"/>
              </a:rPr>
              <a:t>Verificación Dinámica y Continua:</a:t>
            </a:r>
            <a:r>
              <a:rPr lang="es-PE" sz="1400" dirty="0">
                <a:solidFill>
                  <a:schemeClr val="bg1"/>
                </a:solidFill>
                <a:latin typeface="Book Antiqua" panose="02040602050305030304" pitchFamily="18" charset="0"/>
              </a:rPr>
              <a:t> No basta con autenticarse una vez al inicio de la jornada. El sistema evalúa constantemente el comportamiento del usuario y del dispositivo. Si se detecta un cambio de ubicación repentino o un intento de acceso a datos inusual, el modelo solicita una nueva verificación o bloquea el acceso.</a:t>
            </a:r>
          </a:p>
          <a:p>
            <a:endParaRPr lang="es-PE" dirty="0"/>
          </a:p>
        </p:txBody>
      </p:sp>
      <p:sp>
        <p:nvSpPr>
          <p:cNvPr id="8" name="CuadroTexto 7">
            <a:extLst>
              <a:ext uri="{FF2B5EF4-FFF2-40B4-BE49-F238E27FC236}">
                <a16:creationId xmlns:a16="http://schemas.microsoft.com/office/drawing/2014/main" id="{304FBA2B-1D88-5A7D-3187-575361C60748}"/>
              </a:ext>
            </a:extLst>
          </p:cNvPr>
          <p:cNvSpPr txBox="1"/>
          <p:nvPr/>
        </p:nvSpPr>
        <p:spPr>
          <a:xfrm>
            <a:off x="220980" y="3886200"/>
            <a:ext cx="4122420" cy="1815882"/>
          </a:xfrm>
          <a:prstGeom prst="rect">
            <a:avLst/>
          </a:prstGeom>
          <a:noFill/>
        </p:spPr>
        <p:txBody>
          <a:bodyPr wrap="square" rtlCol="0">
            <a:spAutoFit/>
          </a:bodyPr>
          <a:lstStyle/>
          <a:p>
            <a:pPr marL="285750" indent="-285750">
              <a:buFont typeface="Wingdings" panose="05000000000000000000" pitchFamily="2" charset="2"/>
              <a:buChar char="v"/>
            </a:pPr>
            <a:r>
              <a:rPr lang="es-PE" sz="1400" b="1" dirty="0" err="1">
                <a:solidFill>
                  <a:schemeClr val="bg1"/>
                </a:solidFill>
                <a:latin typeface="Book Antiqua" panose="02040602050305030304" pitchFamily="18" charset="0"/>
              </a:rPr>
              <a:t>Micro-segmentación</a:t>
            </a:r>
            <a:r>
              <a:rPr lang="es-PE" sz="1400" b="1" dirty="0">
                <a:solidFill>
                  <a:schemeClr val="bg1"/>
                </a:solidFill>
                <a:latin typeface="Book Antiqua" panose="02040602050305030304" pitchFamily="18" charset="0"/>
              </a:rPr>
              <a:t> de la Red:</a:t>
            </a:r>
            <a:r>
              <a:rPr lang="es-PE" sz="1400" dirty="0">
                <a:solidFill>
                  <a:schemeClr val="bg1"/>
                </a:solidFill>
                <a:latin typeface="Book Antiqua" panose="02040602050305030304" pitchFamily="18" charset="0"/>
              </a:rPr>
              <a:t> Esta es quizás la parte más técnica y vital. En lugar de tener una red plana donde todos los servidores se ven entre sí, se crean perímetros granulares. Esto significa que, si un atacante compromete una computadora, no podrá saltar a la base de datos o al servidor de finanzas, porque cada segmento requiere su propia autorización.</a:t>
            </a:r>
          </a:p>
        </p:txBody>
      </p:sp>
      <p:sp>
        <p:nvSpPr>
          <p:cNvPr id="17" name="Estrella: 4 puntas 16">
            <a:extLst>
              <a:ext uri="{FF2B5EF4-FFF2-40B4-BE49-F238E27FC236}">
                <a16:creationId xmlns:a16="http://schemas.microsoft.com/office/drawing/2014/main" id="{7F557FD1-BB77-52CA-8411-A3A96ECC8D1E}"/>
              </a:ext>
            </a:extLst>
          </p:cNvPr>
          <p:cNvSpPr/>
          <p:nvPr/>
        </p:nvSpPr>
        <p:spPr>
          <a:xfrm>
            <a:off x="4835696" y="3769290"/>
            <a:ext cx="518160" cy="369332"/>
          </a:xfrm>
          <a:prstGeom prst="star4">
            <a:avLst>
              <a:gd name="adj" fmla="val 8253"/>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20" name="Gráfico 19" descr="Internet con relleno sólido">
            <a:extLst>
              <a:ext uri="{FF2B5EF4-FFF2-40B4-BE49-F238E27FC236}">
                <a16:creationId xmlns:a16="http://schemas.microsoft.com/office/drawing/2014/main" id="{63CAF038-0ED1-B0D9-D831-802347543EFA}"/>
              </a:ext>
            </a:extLst>
          </p:cNvPr>
          <p:cNvPicPr>
            <a:picLocks noChangeAspect="1"/>
          </p:cNvPicPr>
          <p:nvPr/>
        </p:nvPicPr>
        <p:blipFill>
          <a:blip r:embed="rId5">
            <a:extLst>
              <a:ext uri="{96DAC541-7B7A-43D3-8B79-37D633B846F1}">
                <asvg:svgBlip xmlns:asvg="http://schemas.microsoft.com/office/drawing/2016/SVG/main"/>
              </a:ext>
            </a:extLst>
          </a:blip>
          <a:stretch>
            <a:fillRect/>
          </a:stretch>
        </p:blipFill>
        <p:spPr>
          <a:xfrm>
            <a:off x="4937760" y="2819162"/>
            <a:ext cx="914400" cy="914400"/>
          </a:xfrm>
          <a:prstGeom prst="rect">
            <a:avLst/>
          </a:prstGeom>
        </p:spPr>
      </p:pic>
      <p:sp>
        <p:nvSpPr>
          <p:cNvPr id="22" name="Estrella: 4 puntas 21">
            <a:extLst>
              <a:ext uri="{FF2B5EF4-FFF2-40B4-BE49-F238E27FC236}">
                <a16:creationId xmlns:a16="http://schemas.microsoft.com/office/drawing/2014/main" id="{E381E71D-D146-5642-D1A3-F2C33C584234}"/>
              </a:ext>
            </a:extLst>
          </p:cNvPr>
          <p:cNvSpPr/>
          <p:nvPr/>
        </p:nvSpPr>
        <p:spPr>
          <a:xfrm>
            <a:off x="5436870" y="1728886"/>
            <a:ext cx="518160" cy="369332"/>
          </a:xfrm>
          <a:prstGeom prst="star4">
            <a:avLst>
              <a:gd name="adj" fmla="val 8253"/>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2" name="Imagen 1" descr="IP dinámica o estática: Diferencia, pros y contras, cuándo usarlas">
            <a:extLst>
              <a:ext uri="{FF2B5EF4-FFF2-40B4-BE49-F238E27FC236}">
                <a16:creationId xmlns:a16="http://schemas.microsoft.com/office/drawing/2014/main" id="{3048C461-17AA-F799-3582-8E602AB1D26B}"/>
              </a:ext>
            </a:extLst>
          </p:cNvPr>
          <p:cNvPicPr>
            <a:picLocks noChangeAspect="1"/>
          </p:cNvPicPr>
          <p:nvPr/>
        </p:nvPicPr>
        <p:blipFill>
          <a:blip/>
          <a:stretch>
            <a:fillRect/>
          </a:stretch>
        </p:blipFill>
        <p:spPr>
          <a:xfrm>
            <a:off x="7356305" y="1304396"/>
            <a:ext cx="3877650" cy="2798498"/>
          </a:xfrm>
          <a:prstGeom prst="rect">
            <a:avLst/>
          </a:prstGeom>
        </p:spPr>
      </p:pic>
      <p:sp>
        <p:nvSpPr>
          <p:cNvPr id="3" name="Flecha: a la izquierda y derecha 2">
            <a:extLst>
              <a:ext uri="{FF2B5EF4-FFF2-40B4-BE49-F238E27FC236}">
                <a16:creationId xmlns:a16="http://schemas.microsoft.com/office/drawing/2014/main" id="{283DD852-9D77-17E9-7CBB-279FB3752157}"/>
              </a:ext>
            </a:extLst>
          </p:cNvPr>
          <p:cNvSpPr/>
          <p:nvPr/>
        </p:nvSpPr>
        <p:spPr>
          <a:xfrm>
            <a:off x="5138883" y="2234830"/>
            <a:ext cx="1146812" cy="369332"/>
          </a:xfrm>
          <a:prstGeom prst="leftRightArrow">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18" name="Imagen 17" descr="Qué es la microsegmentación? - Palo Alto Networks">
            <a:extLst>
              <a:ext uri="{FF2B5EF4-FFF2-40B4-BE49-F238E27FC236}">
                <a16:creationId xmlns:a16="http://schemas.microsoft.com/office/drawing/2014/main" id="{9C2B4D0F-A102-7B9C-1DA6-2E88AD0CCB5E}"/>
              </a:ext>
            </a:extLst>
          </p:cNvPr>
          <p:cNvPicPr>
            <a:picLocks noChangeAspect="1"/>
          </p:cNvPicPr>
          <p:nvPr/>
        </p:nvPicPr>
        <p:blipFill>
          <a:blip/>
          <a:stretch>
            <a:fillRect/>
          </a:stretch>
        </p:blipFill>
        <p:spPr>
          <a:xfrm>
            <a:off x="5852160" y="4276766"/>
            <a:ext cx="3870155" cy="2176962"/>
          </a:xfrm>
          <a:prstGeom prst="rect">
            <a:avLst/>
          </a:prstGeom>
        </p:spPr>
      </p:pic>
      <p:sp>
        <p:nvSpPr>
          <p:cNvPr id="21" name="Flecha: a la izquierda y derecha 20">
            <a:extLst>
              <a:ext uri="{FF2B5EF4-FFF2-40B4-BE49-F238E27FC236}">
                <a16:creationId xmlns:a16="http://schemas.microsoft.com/office/drawing/2014/main" id="{FF6B9569-089E-62E7-3510-17F89C372F5C}"/>
              </a:ext>
            </a:extLst>
          </p:cNvPr>
          <p:cNvSpPr/>
          <p:nvPr/>
        </p:nvSpPr>
        <p:spPr>
          <a:xfrm>
            <a:off x="4430449" y="4906503"/>
            <a:ext cx="1146812" cy="369332"/>
          </a:xfrm>
          <a:prstGeom prst="leftRightArrow">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21895510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B0F86-D22A-A026-0A32-3E55494AD45C}"/>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28AFC15C-E085-76C1-D609-1A67DF474AC0}"/>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CE3CDA1C-F2D7-AB9C-4EB9-5DB71D13354D}"/>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1962" y="-6014433"/>
            <a:ext cx="12192000" cy="12872433"/>
          </a:xfrm>
          <a:prstGeom prst="rect">
            <a:avLst/>
          </a:prstGeom>
        </p:spPr>
      </p:pic>
      <p:sp>
        <p:nvSpPr>
          <p:cNvPr id="10" name="CuadroTexto 9">
            <a:extLst>
              <a:ext uri="{FF2B5EF4-FFF2-40B4-BE49-F238E27FC236}">
                <a16:creationId xmlns:a16="http://schemas.microsoft.com/office/drawing/2014/main" id="{C82DA425-53BA-0FA8-0516-1EAA99C93F24}"/>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D669B44F-ECB1-AFEA-86E9-E4B4E8AB91A2}"/>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42049BBC-A225-868B-900F-BD34E41C6568}"/>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sp>
        <p:nvSpPr>
          <p:cNvPr id="15" name="CuadroTexto 14">
            <a:extLst>
              <a:ext uri="{FF2B5EF4-FFF2-40B4-BE49-F238E27FC236}">
                <a16:creationId xmlns:a16="http://schemas.microsoft.com/office/drawing/2014/main" id="{E9C5B9E9-3F21-C1C9-D066-D044EC9B4C02}"/>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pic>
        <p:nvPicPr>
          <p:cNvPr id="19" name="Gráfico 18" descr="Nube con relleno sólido">
            <a:extLst>
              <a:ext uri="{FF2B5EF4-FFF2-40B4-BE49-F238E27FC236}">
                <a16:creationId xmlns:a16="http://schemas.microsoft.com/office/drawing/2014/main" id="{1F1FBE21-D314-A05A-4910-35D75CCB3CF4}"/>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0" y="-126752"/>
            <a:ext cx="914400" cy="914400"/>
          </a:xfrm>
          <a:prstGeom prst="rect">
            <a:avLst/>
          </a:prstGeom>
        </p:spPr>
      </p:pic>
      <p:sp>
        <p:nvSpPr>
          <p:cNvPr id="25" name="Estrella: 4 puntas 24">
            <a:extLst>
              <a:ext uri="{FF2B5EF4-FFF2-40B4-BE49-F238E27FC236}">
                <a16:creationId xmlns:a16="http://schemas.microsoft.com/office/drawing/2014/main" id="{98838246-0153-175D-779E-4DADEE8D8C35}"/>
              </a:ext>
            </a:extLst>
          </p:cNvPr>
          <p:cNvSpPr/>
          <p:nvPr/>
        </p:nvSpPr>
        <p:spPr>
          <a:xfrm>
            <a:off x="11658600" y="6206074"/>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6" name="Estrella: 4 puntas 25">
            <a:extLst>
              <a:ext uri="{FF2B5EF4-FFF2-40B4-BE49-F238E27FC236}">
                <a16:creationId xmlns:a16="http://schemas.microsoft.com/office/drawing/2014/main" id="{EC9E9442-62A6-930F-0921-CFE289D47876}"/>
              </a:ext>
            </a:extLst>
          </p:cNvPr>
          <p:cNvSpPr/>
          <p:nvPr/>
        </p:nvSpPr>
        <p:spPr>
          <a:xfrm>
            <a:off x="526761" y="6367006"/>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7" name="Estrella: 4 puntas 26">
            <a:extLst>
              <a:ext uri="{FF2B5EF4-FFF2-40B4-BE49-F238E27FC236}">
                <a16:creationId xmlns:a16="http://schemas.microsoft.com/office/drawing/2014/main" id="{5C8DBCF7-A10D-3736-DF5C-89C02D1E7B6C}"/>
              </a:ext>
            </a:extLst>
          </p:cNvPr>
          <p:cNvSpPr/>
          <p:nvPr/>
        </p:nvSpPr>
        <p:spPr>
          <a:xfrm>
            <a:off x="11275638" y="408936"/>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 name="CuadroTexto 4">
            <a:extLst>
              <a:ext uri="{FF2B5EF4-FFF2-40B4-BE49-F238E27FC236}">
                <a16:creationId xmlns:a16="http://schemas.microsoft.com/office/drawing/2014/main" id="{B0BFA8C6-D113-EA17-5972-174D2E2A524D}"/>
              </a:ext>
            </a:extLst>
          </p:cNvPr>
          <p:cNvSpPr txBox="1"/>
          <p:nvPr/>
        </p:nvSpPr>
        <p:spPr>
          <a:xfrm>
            <a:off x="929640" y="-34564"/>
            <a:ext cx="11277600" cy="707886"/>
          </a:xfrm>
          <a:prstGeom prst="rect">
            <a:avLst/>
          </a:prstGeom>
          <a:noFill/>
        </p:spPr>
        <p:txBody>
          <a:bodyPr wrap="square" rtlCol="0">
            <a:spAutoFit/>
          </a:bodyPr>
          <a:lstStyle/>
          <a:p>
            <a:r>
              <a:rPr lang="es-PE" sz="4000" b="1" dirty="0">
                <a:solidFill>
                  <a:schemeClr val="bg1"/>
                </a:solidFill>
                <a:latin typeface="Aharoni" panose="02010803020104030203" pitchFamily="2" charset="-79"/>
                <a:cs typeface="Aharoni" panose="02010803020104030203" pitchFamily="2" charset="-79"/>
              </a:rPr>
              <a:t>LA SEGURIDAD PERIMETRAL A LA IDENTIDAD</a:t>
            </a:r>
            <a:endParaRPr lang="es-PE" sz="4000" dirty="0">
              <a:solidFill>
                <a:schemeClr val="bg1"/>
              </a:solidFill>
              <a:latin typeface="Aharoni" panose="02010803020104030203" pitchFamily="2" charset="-79"/>
              <a:cs typeface="Aharoni" panose="02010803020104030203" pitchFamily="2" charset="-79"/>
            </a:endParaRPr>
          </a:p>
        </p:txBody>
      </p:sp>
      <p:sp>
        <p:nvSpPr>
          <p:cNvPr id="4" name="CuadroTexto 3">
            <a:extLst>
              <a:ext uri="{FF2B5EF4-FFF2-40B4-BE49-F238E27FC236}">
                <a16:creationId xmlns:a16="http://schemas.microsoft.com/office/drawing/2014/main" id="{DD39CA63-E13F-94AA-2AE0-246D8FDA1828}"/>
              </a:ext>
            </a:extLst>
          </p:cNvPr>
          <p:cNvSpPr txBox="1"/>
          <p:nvPr/>
        </p:nvSpPr>
        <p:spPr>
          <a:xfrm>
            <a:off x="156210" y="1913552"/>
            <a:ext cx="4625340" cy="1661993"/>
          </a:xfrm>
          <a:prstGeom prst="rect">
            <a:avLst/>
          </a:prstGeom>
          <a:noFill/>
        </p:spPr>
        <p:txBody>
          <a:bodyPr wrap="square" rtlCol="0">
            <a:spAutoFit/>
          </a:bodyPr>
          <a:lstStyle/>
          <a:p>
            <a:pPr marL="285750" lvl="0" indent="-285750">
              <a:buFont typeface="Wingdings" panose="05000000000000000000" pitchFamily="2" charset="2"/>
              <a:buChar char="Ø"/>
            </a:pPr>
            <a:r>
              <a:rPr lang="es-PE" sz="1400" b="1" dirty="0">
                <a:solidFill>
                  <a:schemeClr val="bg1"/>
                </a:solidFill>
                <a:latin typeface="Book Antiqua" panose="02040602050305030304" pitchFamily="18" charset="0"/>
              </a:rPr>
              <a:t>Gestión de Dispositivos (</a:t>
            </a:r>
            <a:r>
              <a:rPr lang="es-PE" sz="1400" b="1" dirty="0" err="1">
                <a:solidFill>
                  <a:schemeClr val="bg1"/>
                </a:solidFill>
                <a:latin typeface="Book Antiqua" panose="02040602050305030304" pitchFamily="18" charset="0"/>
              </a:rPr>
              <a:t>Device</a:t>
            </a:r>
            <a:r>
              <a:rPr lang="es-PE" sz="1400" b="1" dirty="0">
                <a:solidFill>
                  <a:schemeClr val="bg1"/>
                </a:solidFill>
                <a:latin typeface="Book Antiqua" panose="02040602050305030304" pitchFamily="18" charset="0"/>
              </a:rPr>
              <a:t> </a:t>
            </a:r>
            <a:r>
              <a:rPr lang="es-PE" sz="1400" b="1" dirty="0" err="1">
                <a:solidFill>
                  <a:schemeClr val="bg1"/>
                </a:solidFill>
                <a:latin typeface="Book Antiqua" panose="02040602050305030304" pitchFamily="18" charset="0"/>
              </a:rPr>
              <a:t>Hygiene</a:t>
            </a:r>
            <a:r>
              <a:rPr lang="es-PE" sz="1400" b="1" dirty="0">
                <a:solidFill>
                  <a:schemeClr val="bg1"/>
                </a:solidFill>
                <a:latin typeface="Book Antiqua" panose="02040602050305030304" pitchFamily="18" charset="0"/>
              </a:rPr>
              <a:t>):</a:t>
            </a:r>
            <a:r>
              <a:rPr lang="es-PE" sz="1400" dirty="0">
                <a:solidFill>
                  <a:schemeClr val="bg1"/>
                </a:solidFill>
                <a:latin typeface="Book Antiqua" panose="02040602050305030304" pitchFamily="18" charset="0"/>
              </a:rPr>
              <a:t> El modelo no solo verifica quién eres, sino desde qué equipo te conectas. Si el dispositivo no tiene el antivirus actualizado o el sistema operativo al día, Zero Trust le deniega el acceso, incluso si el usuario es el gerente de la empresa.</a:t>
            </a:r>
          </a:p>
          <a:p>
            <a:endParaRPr lang="es-PE" dirty="0"/>
          </a:p>
        </p:txBody>
      </p:sp>
      <p:sp>
        <p:nvSpPr>
          <p:cNvPr id="8" name="CuadroTexto 7">
            <a:extLst>
              <a:ext uri="{FF2B5EF4-FFF2-40B4-BE49-F238E27FC236}">
                <a16:creationId xmlns:a16="http://schemas.microsoft.com/office/drawing/2014/main" id="{317DA7C2-384C-0138-68EB-589F3387F71D}"/>
              </a:ext>
            </a:extLst>
          </p:cNvPr>
          <p:cNvSpPr txBox="1"/>
          <p:nvPr/>
        </p:nvSpPr>
        <p:spPr>
          <a:xfrm>
            <a:off x="220980" y="3886200"/>
            <a:ext cx="4122420" cy="1600438"/>
          </a:xfrm>
          <a:prstGeom prst="rect">
            <a:avLst/>
          </a:prstGeom>
          <a:noFill/>
        </p:spPr>
        <p:txBody>
          <a:bodyPr wrap="square" rtlCol="0">
            <a:spAutoFit/>
          </a:bodyPr>
          <a:lstStyle/>
          <a:p>
            <a:pPr lvl="0"/>
            <a:r>
              <a:rPr lang="es-PE" sz="1400" b="1" dirty="0">
                <a:solidFill>
                  <a:schemeClr val="bg1"/>
                </a:solidFill>
                <a:latin typeface="Book Antiqua" panose="02040602050305030304" pitchFamily="18" charset="0"/>
              </a:rPr>
              <a:t>Visibilidad y Registro Total:</a:t>
            </a:r>
            <a:r>
              <a:rPr lang="es-PE" sz="1400" dirty="0">
                <a:solidFill>
                  <a:schemeClr val="bg1"/>
                </a:solidFill>
                <a:latin typeface="Book Antiqua" panose="02040602050305030304" pitchFamily="18" charset="0"/>
              </a:rPr>
              <a:t> El documento enfatiza que para que esto funcione, se debe capturar y analizar todo el tráfico. Esto permite crear una línea base de lo que es "normal" y detectar ataques internos o exfiltración de datos que antes pasaban desapercibidos bajo la confianza del perímetro.</a:t>
            </a:r>
          </a:p>
        </p:txBody>
      </p:sp>
      <p:sp>
        <p:nvSpPr>
          <p:cNvPr id="17" name="Estrella: 4 puntas 16">
            <a:extLst>
              <a:ext uri="{FF2B5EF4-FFF2-40B4-BE49-F238E27FC236}">
                <a16:creationId xmlns:a16="http://schemas.microsoft.com/office/drawing/2014/main" id="{B616A849-0130-D9C8-48F0-E4DF38329753}"/>
              </a:ext>
            </a:extLst>
          </p:cNvPr>
          <p:cNvSpPr/>
          <p:nvPr/>
        </p:nvSpPr>
        <p:spPr>
          <a:xfrm>
            <a:off x="4835696" y="3769290"/>
            <a:ext cx="518160" cy="369332"/>
          </a:xfrm>
          <a:prstGeom prst="star4">
            <a:avLst>
              <a:gd name="adj" fmla="val 8253"/>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20" name="Gráfico 19" descr="Internet con relleno sólido">
            <a:extLst>
              <a:ext uri="{FF2B5EF4-FFF2-40B4-BE49-F238E27FC236}">
                <a16:creationId xmlns:a16="http://schemas.microsoft.com/office/drawing/2014/main" id="{D239AEA9-2F0D-0A75-CBA8-7F8D3B14253E}"/>
              </a:ext>
            </a:extLst>
          </p:cNvPr>
          <p:cNvPicPr>
            <a:picLocks noChangeAspect="1"/>
          </p:cNvPicPr>
          <p:nvPr/>
        </p:nvPicPr>
        <p:blipFill>
          <a:blip r:embed="rId5">
            <a:extLst>
              <a:ext uri="{96DAC541-7B7A-43D3-8B79-37D633B846F1}">
                <asvg:svgBlip xmlns:asvg="http://schemas.microsoft.com/office/drawing/2016/SVG/main"/>
              </a:ext>
            </a:extLst>
          </a:blip>
          <a:stretch>
            <a:fillRect/>
          </a:stretch>
        </p:blipFill>
        <p:spPr>
          <a:xfrm>
            <a:off x="4937760" y="2819162"/>
            <a:ext cx="914400" cy="914400"/>
          </a:xfrm>
          <a:prstGeom prst="rect">
            <a:avLst/>
          </a:prstGeom>
        </p:spPr>
      </p:pic>
      <p:sp>
        <p:nvSpPr>
          <p:cNvPr id="22" name="Estrella: 4 puntas 21">
            <a:extLst>
              <a:ext uri="{FF2B5EF4-FFF2-40B4-BE49-F238E27FC236}">
                <a16:creationId xmlns:a16="http://schemas.microsoft.com/office/drawing/2014/main" id="{803D904B-21CD-55E6-B270-B2D2242A55CC}"/>
              </a:ext>
            </a:extLst>
          </p:cNvPr>
          <p:cNvSpPr/>
          <p:nvPr/>
        </p:nvSpPr>
        <p:spPr>
          <a:xfrm>
            <a:off x="5436870" y="1728886"/>
            <a:ext cx="518160" cy="369332"/>
          </a:xfrm>
          <a:prstGeom prst="star4">
            <a:avLst>
              <a:gd name="adj" fmla="val 8253"/>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 name="Flecha: a la izquierda y derecha 2">
            <a:extLst>
              <a:ext uri="{FF2B5EF4-FFF2-40B4-BE49-F238E27FC236}">
                <a16:creationId xmlns:a16="http://schemas.microsoft.com/office/drawing/2014/main" id="{D7CAE6A9-A80A-D04A-FC3C-694E52D0656E}"/>
              </a:ext>
            </a:extLst>
          </p:cNvPr>
          <p:cNvSpPr/>
          <p:nvPr/>
        </p:nvSpPr>
        <p:spPr>
          <a:xfrm>
            <a:off x="5138883" y="2234830"/>
            <a:ext cx="1146812" cy="369332"/>
          </a:xfrm>
          <a:prstGeom prst="leftRightArrow">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1" name="Flecha: a la izquierda y derecha 20">
            <a:extLst>
              <a:ext uri="{FF2B5EF4-FFF2-40B4-BE49-F238E27FC236}">
                <a16:creationId xmlns:a16="http://schemas.microsoft.com/office/drawing/2014/main" id="{E7AF9EF3-DA3B-B589-4E9B-F70F6AA20DF3}"/>
              </a:ext>
            </a:extLst>
          </p:cNvPr>
          <p:cNvSpPr/>
          <p:nvPr/>
        </p:nvSpPr>
        <p:spPr>
          <a:xfrm>
            <a:off x="4430449" y="4906503"/>
            <a:ext cx="1146812" cy="369332"/>
          </a:xfrm>
          <a:prstGeom prst="leftRightArrow">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13" name="Imagen 12" descr="Higiene en la oficina. Cómo limpiar los dispositivos en 2020 - ViewSonic  Library">
            <a:extLst>
              <a:ext uri="{FF2B5EF4-FFF2-40B4-BE49-F238E27FC236}">
                <a16:creationId xmlns:a16="http://schemas.microsoft.com/office/drawing/2014/main" id="{11ABD41F-7962-FAC3-F4E0-BBE50C4886E5}"/>
              </a:ext>
            </a:extLst>
          </p:cNvPr>
          <p:cNvPicPr>
            <a:picLocks noChangeAspect="1"/>
          </p:cNvPicPr>
          <p:nvPr/>
        </p:nvPicPr>
        <p:blipFill>
          <a:blip/>
          <a:stretch>
            <a:fillRect/>
          </a:stretch>
        </p:blipFill>
        <p:spPr>
          <a:xfrm>
            <a:off x="7116623" y="1505437"/>
            <a:ext cx="3501388" cy="2015136"/>
          </a:xfrm>
          <a:prstGeom prst="rect">
            <a:avLst/>
          </a:prstGeom>
        </p:spPr>
      </p:pic>
      <p:pic>
        <p:nvPicPr>
          <p:cNvPr id="14" name="Imagen 13" descr="Cómo hacer crecer un perfil de redes sociales para aumentar tu visibilidad  y proyección">
            <a:extLst>
              <a:ext uri="{FF2B5EF4-FFF2-40B4-BE49-F238E27FC236}">
                <a16:creationId xmlns:a16="http://schemas.microsoft.com/office/drawing/2014/main" id="{9CBE4DF2-BF8C-9FD8-755E-90AA561484FB}"/>
              </a:ext>
            </a:extLst>
          </p:cNvPr>
          <p:cNvPicPr>
            <a:picLocks noChangeAspect="1"/>
          </p:cNvPicPr>
          <p:nvPr/>
        </p:nvPicPr>
        <p:blipFill>
          <a:blip/>
          <a:stretch>
            <a:fillRect/>
          </a:stretch>
        </p:blipFill>
        <p:spPr>
          <a:xfrm>
            <a:off x="6614741" y="4102894"/>
            <a:ext cx="3928828" cy="2083356"/>
          </a:xfrm>
          <a:prstGeom prst="rect">
            <a:avLst/>
          </a:prstGeom>
        </p:spPr>
      </p:pic>
    </p:spTree>
    <p:extLst>
      <p:ext uri="{BB962C8B-B14F-4D97-AF65-F5344CB8AC3E}">
        <p14:creationId xmlns:p14="http://schemas.microsoft.com/office/powerpoint/2010/main" val="4042679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F2583-D0C3-3073-32B0-130ACBB2BA8E}"/>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93648172-466F-D2E4-BB4D-FAD5D8EC5FF4}"/>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94CC7A57-A136-A91D-AAFF-F79069F26236}"/>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1962" y="-6014433"/>
            <a:ext cx="12192000" cy="12872433"/>
          </a:xfrm>
          <a:prstGeom prst="rect">
            <a:avLst/>
          </a:prstGeom>
        </p:spPr>
      </p:pic>
      <p:sp>
        <p:nvSpPr>
          <p:cNvPr id="10" name="CuadroTexto 9">
            <a:extLst>
              <a:ext uri="{FF2B5EF4-FFF2-40B4-BE49-F238E27FC236}">
                <a16:creationId xmlns:a16="http://schemas.microsoft.com/office/drawing/2014/main" id="{28E050BC-5718-82D5-FE90-DCDFAE048773}"/>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DF392908-2AEC-0A8A-25BE-5F870AC7A00A}"/>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CD6F4EF5-56C4-63D5-E088-6196A45D1B8D}"/>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sp>
        <p:nvSpPr>
          <p:cNvPr id="15" name="CuadroTexto 14">
            <a:extLst>
              <a:ext uri="{FF2B5EF4-FFF2-40B4-BE49-F238E27FC236}">
                <a16:creationId xmlns:a16="http://schemas.microsoft.com/office/drawing/2014/main" id="{2E60FF03-8653-D3D0-94D3-9F5242675F7B}"/>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pic>
        <p:nvPicPr>
          <p:cNvPr id="19" name="Gráfico 18" descr="Nube con relleno sólido">
            <a:extLst>
              <a:ext uri="{FF2B5EF4-FFF2-40B4-BE49-F238E27FC236}">
                <a16:creationId xmlns:a16="http://schemas.microsoft.com/office/drawing/2014/main" id="{16E80617-3A32-41AA-C0C9-379FD307BAEC}"/>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0" y="-126752"/>
            <a:ext cx="914400" cy="914400"/>
          </a:xfrm>
          <a:prstGeom prst="rect">
            <a:avLst/>
          </a:prstGeom>
        </p:spPr>
      </p:pic>
      <p:sp>
        <p:nvSpPr>
          <p:cNvPr id="25" name="Estrella: 4 puntas 24">
            <a:extLst>
              <a:ext uri="{FF2B5EF4-FFF2-40B4-BE49-F238E27FC236}">
                <a16:creationId xmlns:a16="http://schemas.microsoft.com/office/drawing/2014/main" id="{5FADF5F8-B031-1BF9-A67C-EAB7E2A56A04}"/>
              </a:ext>
            </a:extLst>
          </p:cNvPr>
          <p:cNvSpPr/>
          <p:nvPr/>
        </p:nvSpPr>
        <p:spPr>
          <a:xfrm>
            <a:off x="11658600" y="6206074"/>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6" name="Estrella: 4 puntas 25">
            <a:extLst>
              <a:ext uri="{FF2B5EF4-FFF2-40B4-BE49-F238E27FC236}">
                <a16:creationId xmlns:a16="http://schemas.microsoft.com/office/drawing/2014/main" id="{897740A2-5116-398F-4F35-4473D995B448}"/>
              </a:ext>
            </a:extLst>
          </p:cNvPr>
          <p:cNvSpPr/>
          <p:nvPr/>
        </p:nvSpPr>
        <p:spPr>
          <a:xfrm>
            <a:off x="526761" y="6367006"/>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7" name="Estrella: 4 puntas 26">
            <a:extLst>
              <a:ext uri="{FF2B5EF4-FFF2-40B4-BE49-F238E27FC236}">
                <a16:creationId xmlns:a16="http://schemas.microsoft.com/office/drawing/2014/main" id="{A91CDADC-4613-5F0B-4BAD-E91FC54B23E1}"/>
              </a:ext>
            </a:extLst>
          </p:cNvPr>
          <p:cNvSpPr/>
          <p:nvPr/>
        </p:nvSpPr>
        <p:spPr>
          <a:xfrm>
            <a:off x="11275638" y="408936"/>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CuadroTexto 6">
            <a:extLst>
              <a:ext uri="{FF2B5EF4-FFF2-40B4-BE49-F238E27FC236}">
                <a16:creationId xmlns:a16="http://schemas.microsoft.com/office/drawing/2014/main" id="{238D0DF8-908B-FA92-EC0D-31EBD83912CD}"/>
              </a:ext>
            </a:extLst>
          </p:cNvPr>
          <p:cNvSpPr txBox="1"/>
          <p:nvPr/>
        </p:nvSpPr>
        <p:spPr>
          <a:xfrm>
            <a:off x="277088" y="735340"/>
            <a:ext cx="11750040" cy="646331"/>
          </a:xfrm>
          <a:prstGeom prst="rect">
            <a:avLst/>
          </a:prstGeom>
          <a:noFill/>
        </p:spPr>
        <p:txBody>
          <a:bodyPr wrap="square" rtlCol="0">
            <a:spAutoFit/>
          </a:bodyPr>
          <a:lstStyle/>
          <a:p>
            <a:r>
              <a:rPr lang="es-PE" dirty="0">
                <a:solidFill>
                  <a:schemeClr val="bg1"/>
                </a:solidFill>
              </a:rPr>
              <a:t>Al aplicar estos puntos, se logran beneficios directos en la infraestructura:</a:t>
            </a:r>
          </a:p>
          <a:p>
            <a:endParaRPr lang="es-PE" dirty="0"/>
          </a:p>
        </p:txBody>
      </p:sp>
      <p:sp>
        <p:nvSpPr>
          <p:cNvPr id="5" name="CuadroTexto 4">
            <a:extLst>
              <a:ext uri="{FF2B5EF4-FFF2-40B4-BE49-F238E27FC236}">
                <a16:creationId xmlns:a16="http://schemas.microsoft.com/office/drawing/2014/main" id="{02412699-17EC-8A64-0B96-A94933C558A8}"/>
              </a:ext>
            </a:extLst>
          </p:cNvPr>
          <p:cNvSpPr txBox="1"/>
          <p:nvPr/>
        </p:nvSpPr>
        <p:spPr>
          <a:xfrm>
            <a:off x="914400" y="-124215"/>
            <a:ext cx="11277600" cy="830997"/>
          </a:xfrm>
          <a:prstGeom prst="rect">
            <a:avLst/>
          </a:prstGeom>
          <a:noFill/>
        </p:spPr>
        <p:txBody>
          <a:bodyPr wrap="square" rtlCol="0">
            <a:spAutoFit/>
          </a:bodyPr>
          <a:lstStyle/>
          <a:p>
            <a:r>
              <a:rPr lang="es-PE" sz="4800" b="1" dirty="0">
                <a:solidFill>
                  <a:schemeClr val="bg1"/>
                </a:solidFill>
                <a:latin typeface="Aharoni" panose="02010803020104030203" pitchFamily="2" charset="-79"/>
                <a:cs typeface="Aharoni" panose="02010803020104030203" pitchFamily="2" charset="-79"/>
              </a:rPr>
              <a:t>VENTAJAS DE SU IMPLEMENTACIÓN</a:t>
            </a:r>
            <a:endParaRPr lang="es-PE" sz="4800" dirty="0">
              <a:solidFill>
                <a:schemeClr val="bg1"/>
              </a:solidFill>
              <a:latin typeface="Aharoni" panose="02010803020104030203" pitchFamily="2" charset="-79"/>
              <a:cs typeface="Aharoni" panose="02010803020104030203" pitchFamily="2" charset="-79"/>
            </a:endParaRPr>
          </a:p>
        </p:txBody>
      </p:sp>
      <p:sp>
        <p:nvSpPr>
          <p:cNvPr id="4" name="CuadroTexto 3">
            <a:extLst>
              <a:ext uri="{FF2B5EF4-FFF2-40B4-BE49-F238E27FC236}">
                <a16:creationId xmlns:a16="http://schemas.microsoft.com/office/drawing/2014/main" id="{4FD0C974-FA49-3701-2D62-9BFEF1454694}"/>
              </a:ext>
            </a:extLst>
          </p:cNvPr>
          <p:cNvSpPr txBox="1"/>
          <p:nvPr/>
        </p:nvSpPr>
        <p:spPr>
          <a:xfrm>
            <a:off x="210356" y="1931355"/>
            <a:ext cx="4625340" cy="1200329"/>
          </a:xfrm>
          <a:prstGeom prst="rect">
            <a:avLst/>
          </a:prstGeom>
          <a:noFill/>
        </p:spPr>
        <p:txBody>
          <a:bodyPr wrap="square" rtlCol="0">
            <a:spAutoFit/>
          </a:bodyPr>
          <a:lstStyle/>
          <a:p>
            <a:pPr lvl="0"/>
            <a:r>
              <a:rPr lang="es-PE" b="1" dirty="0">
                <a:solidFill>
                  <a:schemeClr val="bg1"/>
                </a:solidFill>
                <a:latin typeface="Book Antiqua" panose="02040602050305030304" pitchFamily="18" charset="0"/>
              </a:rPr>
              <a:t>1. Reducción de la superficie de ataque:</a:t>
            </a:r>
            <a:r>
              <a:rPr lang="es-PE" dirty="0">
                <a:solidFill>
                  <a:schemeClr val="bg1"/>
                </a:solidFill>
                <a:latin typeface="Book Antiqua" panose="02040602050305030304" pitchFamily="18" charset="0"/>
              </a:rPr>
              <a:t> Al ocultar los recursos de la red pública y exigir verificación previa.</a:t>
            </a:r>
          </a:p>
          <a:p>
            <a:endParaRPr lang="es-PE" dirty="0"/>
          </a:p>
        </p:txBody>
      </p:sp>
      <p:sp>
        <p:nvSpPr>
          <p:cNvPr id="8" name="CuadroTexto 7">
            <a:extLst>
              <a:ext uri="{FF2B5EF4-FFF2-40B4-BE49-F238E27FC236}">
                <a16:creationId xmlns:a16="http://schemas.microsoft.com/office/drawing/2014/main" id="{9E96B15A-E8FF-7573-567E-6F7BC541416B}"/>
              </a:ext>
            </a:extLst>
          </p:cNvPr>
          <p:cNvSpPr txBox="1"/>
          <p:nvPr/>
        </p:nvSpPr>
        <p:spPr>
          <a:xfrm>
            <a:off x="7714208" y="1772691"/>
            <a:ext cx="4122420" cy="1200329"/>
          </a:xfrm>
          <a:prstGeom prst="rect">
            <a:avLst/>
          </a:prstGeom>
          <a:noFill/>
        </p:spPr>
        <p:txBody>
          <a:bodyPr wrap="square" rtlCol="0">
            <a:spAutoFit/>
          </a:bodyPr>
          <a:lstStyle/>
          <a:p>
            <a:pPr lvl="0"/>
            <a:r>
              <a:rPr lang="es-PE" b="1" dirty="0">
                <a:solidFill>
                  <a:schemeClr val="bg1"/>
                </a:solidFill>
                <a:latin typeface="Book Antiqua" panose="02040602050305030304" pitchFamily="18" charset="0"/>
              </a:rPr>
              <a:t>2. Protección contra amenazas internas:</a:t>
            </a:r>
            <a:r>
              <a:rPr lang="es-PE" dirty="0">
                <a:solidFill>
                  <a:schemeClr val="bg1"/>
                </a:solidFill>
                <a:latin typeface="Book Antiqua" panose="02040602050305030304" pitchFamily="18" charset="0"/>
              </a:rPr>
              <a:t> Mitiga el riesgo de empleados descontentos o credenciales robadas.</a:t>
            </a:r>
          </a:p>
        </p:txBody>
      </p:sp>
      <p:sp>
        <p:nvSpPr>
          <p:cNvPr id="17" name="Estrella: 4 puntas 16">
            <a:extLst>
              <a:ext uri="{FF2B5EF4-FFF2-40B4-BE49-F238E27FC236}">
                <a16:creationId xmlns:a16="http://schemas.microsoft.com/office/drawing/2014/main" id="{F8DE5679-0B14-F6B3-421F-F2E853F3D4F7}"/>
              </a:ext>
            </a:extLst>
          </p:cNvPr>
          <p:cNvSpPr/>
          <p:nvPr/>
        </p:nvSpPr>
        <p:spPr>
          <a:xfrm>
            <a:off x="4835696" y="3769290"/>
            <a:ext cx="518160" cy="369332"/>
          </a:xfrm>
          <a:prstGeom prst="star4">
            <a:avLst>
              <a:gd name="adj" fmla="val 8253"/>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20" name="Gráfico 19" descr="Internet con relleno sólido">
            <a:extLst>
              <a:ext uri="{FF2B5EF4-FFF2-40B4-BE49-F238E27FC236}">
                <a16:creationId xmlns:a16="http://schemas.microsoft.com/office/drawing/2014/main" id="{1D86B4E6-3F3B-DD95-0CCE-4F143C755505}"/>
              </a:ext>
            </a:extLst>
          </p:cNvPr>
          <p:cNvPicPr>
            <a:picLocks noChangeAspect="1"/>
          </p:cNvPicPr>
          <p:nvPr/>
        </p:nvPicPr>
        <p:blipFill>
          <a:blip r:embed="rId5">
            <a:extLst>
              <a:ext uri="{96DAC541-7B7A-43D3-8B79-37D633B846F1}">
                <asvg:svgBlip xmlns:asvg="http://schemas.microsoft.com/office/drawing/2016/SVG/main"/>
              </a:ext>
            </a:extLst>
          </a:blip>
          <a:stretch>
            <a:fillRect/>
          </a:stretch>
        </p:blipFill>
        <p:spPr>
          <a:xfrm>
            <a:off x="4937760" y="2819162"/>
            <a:ext cx="914400" cy="914400"/>
          </a:xfrm>
          <a:prstGeom prst="rect">
            <a:avLst/>
          </a:prstGeom>
        </p:spPr>
      </p:pic>
      <p:sp>
        <p:nvSpPr>
          <p:cNvPr id="22" name="Estrella: 4 puntas 21">
            <a:extLst>
              <a:ext uri="{FF2B5EF4-FFF2-40B4-BE49-F238E27FC236}">
                <a16:creationId xmlns:a16="http://schemas.microsoft.com/office/drawing/2014/main" id="{675FAA12-BB1B-82BE-BC69-B080BAB51C30}"/>
              </a:ext>
            </a:extLst>
          </p:cNvPr>
          <p:cNvSpPr/>
          <p:nvPr/>
        </p:nvSpPr>
        <p:spPr>
          <a:xfrm>
            <a:off x="5436870" y="1728886"/>
            <a:ext cx="518160" cy="369332"/>
          </a:xfrm>
          <a:prstGeom prst="star4">
            <a:avLst>
              <a:gd name="adj" fmla="val 8253"/>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CuadroTexto 1">
            <a:extLst>
              <a:ext uri="{FF2B5EF4-FFF2-40B4-BE49-F238E27FC236}">
                <a16:creationId xmlns:a16="http://schemas.microsoft.com/office/drawing/2014/main" id="{B9C03802-096B-1E87-8476-497B91126E58}"/>
              </a:ext>
            </a:extLst>
          </p:cNvPr>
          <p:cNvSpPr txBox="1"/>
          <p:nvPr/>
        </p:nvSpPr>
        <p:spPr>
          <a:xfrm>
            <a:off x="3584168" y="4477494"/>
            <a:ext cx="4053840" cy="1354217"/>
          </a:xfrm>
          <a:prstGeom prst="rect">
            <a:avLst/>
          </a:prstGeom>
          <a:noFill/>
        </p:spPr>
        <p:txBody>
          <a:bodyPr wrap="square" rtlCol="0">
            <a:spAutoFit/>
          </a:bodyPr>
          <a:lstStyle/>
          <a:p>
            <a:r>
              <a:rPr lang="es-PE" sz="1600" b="1" dirty="0">
                <a:solidFill>
                  <a:schemeClr val="bg1"/>
                </a:solidFill>
                <a:latin typeface="Book Antiqua" panose="02040602050305030304" pitchFamily="18" charset="0"/>
              </a:rPr>
              <a:t>3. Facilita el teletrabajo seguro:</a:t>
            </a:r>
            <a:r>
              <a:rPr lang="es-PE" sz="1600" dirty="0">
                <a:solidFill>
                  <a:schemeClr val="bg1"/>
                </a:solidFill>
                <a:latin typeface="Book Antiqua" panose="02040602050305030304" pitchFamily="18" charset="0"/>
              </a:rPr>
              <a:t> Permite que las personas accedan desde cualquier lugar sin necesidad de una VPN tradicional que suele dar acceso excesivo.</a:t>
            </a:r>
          </a:p>
          <a:p>
            <a:endParaRPr lang="es-PE" dirty="0"/>
          </a:p>
        </p:txBody>
      </p:sp>
    </p:spTree>
    <p:extLst>
      <p:ext uri="{BB962C8B-B14F-4D97-AF65-F5344CB8AC3E}">
        <p14:creationId xmlns:p14="http://schemas.microsoft.com/office/powerpoint/2010/main" val="41359729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BCFF1-8FB8-5C11-7894-FE3A72F4DCFC}"/>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7C254420-6557-A96C-89C5-9DDA242A8963}"/>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636C452C-0497-A7E7-2DB5-3AE8F802D4E1}"/>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1962" y="-6014433"/>
            <a:ext cx="12192000" cy="12872433"/>
          </a:xfrm>
          <a:prstGeom prst="rect">
            <a:avLst/>
          </a:prstGeom>
        </p:spPr>
      </p:pic>
      <p:sp>
        <p:nvSpPr>
          <p:cNvPr id="10" name="CuadroTexto 9">
            <a:extLst>
              <a:ext uri="{FF2B5EF4-FFF2-40B4-BE49-F238E27FC236}">
                <a16:creationId xmlns:a16="http://schemas.microsoft.com/office/drawing/2014/main" id="{42D297DE-6324-B2E5-B621-9EF5654081BB}"/>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BD760318-DA77-94A4-F7EE-EA7D6A1458D4}"/>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542519CF-4595-125B-532B-C146189AC039}"/>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sp>
        <p:nvSpPr>
          <p:cNvPr id="15" name="CuadroTexto 14">
            <a:extLst>
              <a:ext uri="{FF2B5EF4-FFF2-40B4-BE49-F238E27FC236}">
                <a16:creationId xmlns:a16="http://schemas.microsoft.com/office/drawing/2014/main" id="{BAB5DAD0-461A-2FA9-1B17-26E032FBC6D9}"/>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pic>
        <p:nvPicPr>
          <p:cNvPr id="19" name="Gráfico 18" descr="Nube con relleno sólido">
            <a:extLst>
              <a:ext uri="{FF2B5EF4-FFF2-40B4-BE49-F238E27FC236}">
                <a16:creationId xmlns:a16="http://schemas.microsoft.com/office/drawing/2014/main" id="{65F49DFC-1D9F-1C32-CBF4-353E87C8B10B}"/>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0" y="-126752"/>
            <a:ext cx="914400" cy="914400"/>
          </a:xfrm>
          <a:prstGeom prst="rect">
            <a:avLst/>
          </a:prstGeom>
        </p:spPr>
      </p:pic>
      <p:sp>
        <p:nvSpPr>
          <p:cNvPr id="25" name="Estrella: 4 puntas 24">
            <a:extLst>
              <a:ext uri="{FF2B5EF4-FFF2-40B4-BE49-F238E27FC236}">
                <a16:creationId xmlns:a16="http://schemas.microsoft.com/office/drawing/2014/main" id="{7E8CF4C7-B4C9-79F3-74F0-021F8AFF3B81}"/>
              </a:ext>
            </a:extLst>
          </p:cNvPr>
          <p:cNvSpPr/>
          <p:nvPr/>
        </p:nvSpPr>
        <p:spPr>
          <a:xfrm>
            <a:off x="11658600" y="6206074"/>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6" name="Estrella: 4 puntas 25">
            <a:extLst>
              <a:ext uri="{FF2B5EF4-FFF2-40B4-BE49-F238E27FC236}">
                <a16:creationId xmlns:a16="http://schemas.microsoft.com/office/drawing/2014/main" id="{38A1B677-A02C-C9E1-A378-8FD7DF9F712B}"/>
              </a:ext>
            </a:extLst>
          </p:cNvPr>
          <p:cNvSpPr/>
          <p:nvPr/>
        </p:nvSpPr>
        <p:spPr>
          <a:xfrm>
            <a:off x="526761" y="6367006"/>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7" name="Estrella: 4 puntas 26">
            <a:extLst>
              <a:ext uri="{FF2B5EF4-FFF2-40B4-BE49-F238E27FC236}">
                <a16:creationId xmlns:a16="http://schemas.microsoft.com/office/drawing/2014/main" id="{17B2B345-DED8-CD03-CC6B-CEC076EC3B72}"/>
              </a:ext>
            </a:extLst>
          </p:cNvPr>
          <p:cNvSpPr/>
          <p:nvPr/>
        </p:nvSpPr>
        <p:spPr>
          <a:xfrm>
            <a:off x="11275638" y="408936"/>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CuadroTexto 6">
            <a:extLst>
              <a:ext uri="{FF2B5EF4-FFF2-40B4-BE49-F238E27FC236}">
                <a16:creationId xmlns:a16="http://schemas.microsoft.com/office/drawing/2014/main" id="{66315D09-4226-AE2F-CBBC-953208806084}"/>
              </a:ext>
            </a:extLst>
          </p:cNvPr>
          <p:cNvSpPr txBox="1"/>
          <p:nvPr/>
        </p:nvSpPr>
        <p:spPr>
          <a:xfrm>
            <a:off x="226752" y="735240"/>
            <a:ext cx="5096799" cy="1477328"/>
          </a:xfrm>
          <a:prstGeom prst="rect">
            <a:avLst/>
          </a:prstGeom>
          <a:noFill/>
        </p:spPr>
        <p:txBody>
          <a:bodyPr wrap="square" rtlCol="0">
            <a:spAutoFit/>
          </a:bodyPr>
          <a:lstStyle/>
          <a:p>
            <a:r>
              <a:rPr lang="es-MX" b="1" dirty="0">
                <a:solidFill>
                  <a:schemeClr val="bg1"/>
                </a:solidFill>
                <a:latin typeface="Book Antiqua" panose="02040602050305030304" pitchFamily="18" charset="0"/>
              </a:rPr>
              <a:t>1.- ¿Qué es CPN?</a:t>
            </a:r>
            <a:endParaRPr lang="es-PE" dirty="0">
              <a:solidFill>
                <a:schemeClr val="bg1"/>
              </a:solidFill>
              <a:latin typeface="Book Antiqua" panose="02040602050305030304" pitchFamily="18" charset="0"/>
            </a:endParaRPr>
          </a:p>
          <a:p>
            <a:r>
              <a:rPr lang="es-PE" dirty="0">
                <a:solidFill>
                  <a:schemeClr val="bg1"/>
                </a:solidFill>
                <a:latin typeface="Book Antiqua" panose="02040602050305030304" pitchFamily="18" charset="0"/>
              </a:rPr>
              <a:t>Marca el límite entre la infraestructura del proveedor de servicios (ISP) y la red privada de una organización o vivienda.</a:t>
            </a:r>
          </a:p>
          <a:p>
            <a:endParaRPr lang="es-PE" dirty="0"/>
          </a:p>
        </p:txBody>
      </p:sp>
      <p:sp>
        <p:nvSpPr>
          <p:cNvPr id="5" name="CuadroTexto 4">
            <a:extLst>
              <a:ext uri="{FF2B5EF4-FFF2-40B4-BE49-F238E27FC236}">
                <a16:creationId xmlns:a16="http://schemas.microsoft.com/office/drawing/2014/main" id="{EA7E8E4C-6251-A2B6-91C5-91BBDF65DCC8}"/>
              </a:ext>
            </a:extLst>
          </p:cNvPr>
          <p:cNvSpPr txBox="1"/>
          <p:nvPr/>
        </p:nvSpPr>
        <p:spPr>
          <a:xfrm>
            <a:off x="911457" y="-126752"/>
            <a:ext cx="11277600" cy="646331"/>
          </a:xfrm>
          <a:prstGeom prst="rect">
            <a:avLst/>
          </a:prstGeom>
          <a:noFill/>
        </p:spPr>
        <p:txBody>
          <a:bodyPr wrap="square" rtlCol="0">
            <a:spAutoFit/>
          </a:bodyPr>
          <a:lstStyle/>
          <a:p>
            <a:r>
              <a:rPr lang="es-MX" sz="3600" dirty="0">
                <a:solidFill>
                  <a:schemeClr val="bg1"/>
                </a:solidFill>
                <a:latin typeface="Aharoni" panose="02010803020104030203" pitchFamily="2" charset="-79"/>
                <a:cs typeface="Aharoni" panose="02010803020104030203" pitchFamily="2" charset="-79"/>
              </a:rPr>
              <a:t>CPN: TIPOS, USOS Y COMPARACIONES (SSL/IPSEC</a:t>
            </a:r>
            <a:r>
              <a:rPr lang="es-MX" dirty="0"/>
              <a:t>)</a:t>
            </a:r>
            <a:endParaRPr lang="es-PE" dirty="0"/>
          </a:p>
        </p:txBody>
      </p:sp>
      <p:sp>
        <p:nvSpPr>
          <p:cNvPr id="4" name="CuadroTexto 3">
            <a:extLst>
              <a:ext uri="{FF2B5EF4-FFF2-40B4-BE49-F238E27FC236}">
                <a16:creationId xmlns:a16="http://schemas.microsoft.com/office/drawing/2014/main" id="{D8DDA2B1-BFDE-A992-BD5E-689870DFF2A7}"/>
              </a:ext>
            </a:extLst>
          </p:cNvPr>
          <p:cNvSpPr txBox="1"/>
          <p:nvPr/>
        </p:nvSpPr>
        <p:spPr>
          <a:xfrm>
            <a:off x="210469" y="2098218"/>
            <a:ext cx="4625340" cy="4555093"/>
          </a:xfrm>
          <a:prstGeom prst="rect">
            <a:avLst/>
          </a:prstGeom>
          <a:noFill/>
        </p:spPr>
        <p:txBody>
          <a:bodyPr wrap="square" rtlCol="0">
            <a:spAutoFit/>
          </a:bodyPr>
          <a:lstStyle/>
          <a:p>
            <a:r>
              <a:rPr lang="es-PE" sz="1600" b="1" dirty="0">
                <a:solidFill>
                  <a:schemeClr val="bg1"/>
                </a:solidFill>
                <a:latin typeface="Book Antiqua" panose="02040602050305030304" pitchFamily="18" charset="0"/>
              </a:rPr>
              <a:t>2.- Tipos de Equipos CPN:</a:t>
            </a:r>
            <a:endParaRPr lang="es-PE" sz="1600" dirty="0">
              <a:solidFill>
                <a:schemeClr val="bg1"/>
              </a:solidFill>
              <a:latin typeface="Book Antiqua" panose="02040602050305030304" pitchFamily="18" charset="0"/>
            </a:endParaRPr>
          </a:p>
          <a:p>
            <a:r>
              <a:rPr lang="es-PE" sz="1600" dirty="0">
                <a:solidFill>
                  <a:schemeClr val="bg1"/>
                </a:solidFill>
                <a:latin typeface="Book Antiqua" panose="02040602050305030304" pitchFamily="18" charset="0"/>
              </a:rPr>
              <a:t>Los equipos se clasifican según la función que cumplen dentro de la cadena de conectividad:</a:t>
            </a:r>
          </a:p>
          <a:p>
            <a:pPr lvl="0"/>
            <a:r>
              <a:rPr lang="es-PE" sz="1600" b="1" dirty="0">
                <a:solidFill>
                  <a:schemeClr val="bg1"/>
                </a:solidFill>
                <a:latin typeface="Book Antiqua" panose="02040602050305030304" pitchFamily="18" charset="0"/>
              </a:rPr>
              <a:t>Puertas de Enlace (</a:t>
            </a:r>
            <a:r>
              <a:rPr lang="es-PE" sz="1600" b="1" dirty="0" err="1">
                <a:solidFill>
                  <a:schemeClr val="bg1"/>
                </a:solidFill>
                <a:latin typeface="Book Antiqua" panose="02040602050305030304" pitchFamily="18" charset="0"/>
              </a:rPr>
              <a:t>Gateways</a:t>
            </a:r>
            <a:r>
              <a:rPr lang="es-PE" sz="1600" b="1" dirty="0">
                <a:solidFill>
                  <a:schemeClr val="bg1"/>
                </a:solidFill>
                <a:latin typeface="Book Antiqua" panose="02040602050305030304" pitchFamily="18" charset="0"/>
              </a:rPr>
              <a:t>): </a:t>
            </a:r>
            <a:r>
              <a:rPr lang="es-PE" sz="1600" dirty="0">
                <a:solidFill>
                  <a:schemeClr val="bg1"/>
                </a:solidFill>
                <a:latin typeface="Book Antiqua" panose="02040602050305030304" pitchFamily="18" charset="0"/>
              </a:rPr>
              <a:t>Dispositivos "todo en uno" que combinan módem, </a:t>
            </a:r>
            <a:r>
              <a:rPr lang="es-PE" sz="1600" dirty="0" err="1">
                <a:solidFill>
                  <a:schemeClr val="bg1"/>
                </a:solidFill>
                <a:latin typeface="Book Antiqua" panose="02040602050305030304" pitchFamily="18" charset="0"/>
              </a:rPr>
              <a:t>router</a:t>
            </a:r>
            <a:r>
              <a:rPr lang="es-PE" sz="1600" dirty="0">
                <a:solidFill>
                  <a:schemeClr val="bg1"/>
                </a:solidFill>
                <a:latin typeface="Book Antiqua" panose="02040602050305030304" pitchFamily="18" charset="0"/>
              </a:rPr>
              <a:t> y punto de acceso inalámbrico. Son los más comunes en hogares.</a:t>
            </a:r>
          </a:p>
          <a:p>
            <a:pPr lvl="0"/>
            <a:r>
              <a:rPr lang="es-PE" sz="1600" b="1" dirty="0">
                <a:solidFill>
                  <a:schemeClr val="bg1"/>
                </a:solidFill>
                <a:latin typeface="Book Antiqua" panose="02040602050305030304" pitchFamily="18" charset="0"/>
              </a:rPr>
              <a:t>Equipos de Terminación de Red (NTE): </a:t>
            </a:r>
            <a:r>
              <a:rPr lang="es-PE" sz="1600" dirty="0">
                <a:solidFill>
                  <a:schemeClr val="bg1"/>
                </a:solidFill>
                <a:latin typeface="Book Antiqua" panose="02040602050305030304" pitchFamily="18" charset="0"/>
              </a:rPr>
              <a:t>Como las </a:t>
            </a:r>
            <a:r>
              <a:rPr lang="es-PE" sz="1600" dirty="0" err="1">
                <a:solidFill>
                  <a:schemeClr val="bg1"/>
                </a:solidFill>
                <a:latin typeface="Book Antiqua" panose="02040602050305030304" pitchFamily="18" charset="0"/>
              </a:rPr>
              <a:t>ONTs</a:t>
            </a:r>
            <a:r>
              <a:rPr lang="es-PE" sz="1600" dirty="0">
                <a:solidFill>
                  <a:schemeClr val="bg1"/>
                </a:solidFill>
                <a:latin typeface="Book Antiqua" panose="02040602050305030304" pitchFamily="18" charset="0"/>
              </a:rPr>
              <a:t> (</a:t>
            </a:r>
            <a:r>
              <a:rPr lang="es-PE" sz="1600" dirty="0" err="1">
                <a:solidFill>
                  <a:schemeClr val="bg1"/>
                </a:solidFill>
                <a:latin typeface="Book Antiqua" panose="02040602050305030304" pitchFamily="18" charset="0"/>
              </a:rPr>
              <a:t>Optical</a:t>
            </a:r>
            <a:r>
              <a:rPr lang="es-PE" sz="1600" dirty="0">
                <a:solidFill>
                  <a:schemeClr val="bg1"/>
                </a:solidFill>
                <a:latin typeface="Book Antiqua" panose="02040602050305030304" pitchFamily="18" charset="0"/>
              </a:rPr>
              <a:t> Network Terminal) en conexiones de fibra óptica, que convierten la señal de luz en datos digitales.</a:t>
            </a:r>
          </a:p>
          <a:p>
            <a:pPr lvl="0"/>
            <a:r>
              <a:rPr lang="es-PE" sz="1600" b="1" dirty="0">
                <a:solidFill>
                  <a:schemeClr val="bg1"/>
                </a:solidFill>
                <a:latin typeface="Book Antiqua" panose="02040602050305030304" pitchFamily="18" charset="0"/>
              </a:rPr>
              <a:t>Terminales de Voz: </a:t>
            </a:r>
            <a:r>
              <a:rPr lang="es-PE" sz="1600" dirty="0">
                <a:solidFill>
                  <a:schemeClr val="bg1"/>
                </a:solidFill>
                <a:latin typeface="Book Antiqua" panose="02040602050305030304" pitchFamily="18" charset="0"/>
              </a:rPr>
              <a:t>Teléfonos IP o adaptadores ATA que permiten realizar llamadas sobre la red de datos.</a:t>
            </a:r>
          </a:p>
          <a:p>
            <a:pPr lvl="0"/>
            <a:r>
              <a:rPr lang="es-PE" sz="1600" b="1" dirty="0">
                <a:solidFill>
                  <a:schemeClr val="bg1"/>
                </a:solidFill>
                <a:latin typeface="Book Antiqua" panose="02040602050305030304" pitchFamily="18" charset="0"/>
              </a:rPr>
              <a:t>Equipos de Conmutación y Seguridad: </a:t>
            </a:r>
            <a:r>
              <a:rPr lang="es-PE" sz="1600" dirty="0">
                <a:solidFill>
                  <a:schemeClr val="bg1"/>
                </a:solidFill>
                <a:latin typeface="Book Antiqua" panose="02040602050305030304" pitchFamily="18" charset="0"/>
              </a:rPr>
              <a:t>Switches administrables y Firewalls físicos que protegen y distribuyen el tráfico en redes corporativas.</a:t>
            </a:r>
          </a:p>
          <a:p>
            <a:endParaRPr lang="es-PE" dirty="0"/>
          </a:p>
        </p:txBody>
      </p:sp>
      <p:sp>
        <p:nvSpPr>
          <p:cNvPr id="8" name="CuadroTexto 7">
            <a:extLst>
              <a:ext uri="{FF2B5EF4-FFF2-40B4-BE49-F238E27FC236}">
                <a16:creationId xmlns:a16="http://schemas.microsoft.com/office/drawing/2014/main" id="{4A109609-0936-9928-BEBC-1BC93B791B93}"/>
              </a:ext>
            </a:extLst>
          </p:cNvPr>
          <p:cNvSpPr txBox="1"/>
          <p:nvPr/>
        </p:nvSpPr>
        <p:spPr>
          <a:xfrm>
            <a:off x="6122731" y="806459"/>
            <a:ext cx="5915888" cy="3293209"/>
          </a:xfrm>
          <a:prstGeom prst="rect">
            <a:avLst/>
          </a:prstGeom>
          <a:noFill/>
        </p:spPr>
        <p:txBody>
          <a:bodyPr wrap="square" rtlCol="0">
            <a:spAutoFit/>
          </a:bodyPr>
          <a:lstStyle/>
          <a:p>
            <a:r>
              <a:rPr lang="es-PE" sz="1600" b="1" dirty="0">
                <a:solidFill>
                  <a:schemeClr val="bg1"/>
                </a:solidFill>
                <a:latin typeface="Book Antiqua" panose="02040602050305030304" pitchFamily="18" charset="0"/>
              </a:rPr>
              <a:t>3.- Usos Principales:</a:t>
            </a:r>
            <a:endParaRPr lang="es-PE" sz="1600" dirty="0">
              <a:solidFill>
                <a:schemeClr val="bg1"/>
              </a:solidFill>
              <a:latin typeface="Book Antiqua" panose="02040602050305030304" pitchFamily="18" charset="0"/>
            </a:endParaRPr>
          </a:p>
          <a:p>
            <a:r>
              <a:rPr lang="es-PE" sz="1600" dirty="0">
                <a:solidFill>
                  <a:schemeClr val="bg1"/>
                </a:solidFill>
                <a:latin typeface="Book Antiqua" panose="02040602050305030304" pitchFamily="18" charset="0"/>
              </a:rPr>
              <a:t>El CPN no solo sirve para "conectar cables"; tiene funciones operativas críticas:</a:t>
            </a:r>
          </a:p>
          <a:p>
            <a:pPr lvl="0"/>
            <a:r>
              <a:rPr lang="es-PE" sz="1600" b="1" dirty="0">
                <a:solidFill>
                  <a:schemeClr val="bg1"/>
                </a:solidFill>
                <a:latin typeface="Book Antiqua" panose="02040602050305030304" pitchFamily="18" charset="0"/>
              </a:rPr>
              <a:t>Demarcación de Red: </a:t>
            </a:r>
            <a:r>
              <a:rPr lang="es-PE" sz="1600" dirty="0">
                <a:solidFill>
                  <a:schemeClr val="bg1"/>
                </a:solidFill>
                <a:latin typeface="Book Antiqua" panose="02040602050305030304" pitchFamily="18" charset="0"/>
              </a:rPr>
              <a:t>Define el punto físico donde termina la responsabilidad del ISP. Si el problema es antes del CPN, es culpa del proveedor; si es después, es del usuario.</a:t>
            </a:r>
          </a:p>
          <a:p>
            <a:pPr lvl="0"/>
            <a:r>
              <a:rPr lang="es-PE" sz="1600" b="1" dirty="0">
                <a:solidFill>
                  <a:schemeClr val="bg1"/>
                </a:solidFill>
                <a:latin typeface="Book Antiqua" panose="02040602050305030304" pitchFamily="18" charset="0"/>
              </a:rPr>
              <a:t>Traducción de Protocolos: </a:t>
            </a:r>
            <a:r>
              <a:rPr lang="es-PE" sz="1600" dirty="0">
                <a:solidFill>
                  <a:schemeClr val="bg1"/>
                </a:solidFill>
                <a:latin typeface="Book Antiqua" panose="02040602050305030304" pitchFamily="18" charset="0"/>
              </a:rPr>
              <a:t>Convierte señales externas (DSL, Cable, Fibra) a estándares internos como Ethernet o </a:t>
            </a:r>
            <a:r>
              <a:rPr lang="es-PE" sz="1600" dirty="0" err="1">
                <a:solidFill>
                  <a:schemeClr val="bg1"/>
                </a:solidFill>
                <a:latin typeface="Book Antiqua" panose="02040602050305030304" pitchFamily="18" charset="0"/>
              </a:rPr>
              <a:t>Wi</a:t>
            </a:r>
            <a:r>
              <a:rPr lang="es-PE" sz="1600" dirty="0">
                <a:solidFill>
                  <a:schemeClr val="bg1"/>
                </a:solidFill>
                <a:latin typeface="Book Antiqua" panose="02040602050305030304" pitchFamily="18" charset="0"/>
              </a:rPr>
              <a:t>-Fi.</a:t>
            </a:r>
          </a:p>
          <a:p>
            <a:pPr lvl="0"/>
            <a:r>
              <a:rPr lang="es-PE" sz="1600" b="1" dirty="0">
                <a:solidFill>
                  <a:schemeClr val="bg1"/>
                </a:solidFill>
                <a:latin typeface="Book Antiqua" panose="02040602050305030304" pitchFamily="18" charset="0"/>
              </a:rPr>
              <a:t>Gestión de Servicios: </a:t>
            </a:r>
            <a:r>
              <a:rPr lang="es-PE" sz="1600" dirty="0">
                <a:solidFill>
                  <a:schemeClr val="bg1"/>
                </a:solidFill>
                <a:latin typeface="Book Antiqua" panose="02040602050305030304" pitchFamily="18" charset="0"/>
              </a:rPr>
              <a:t>Permite al proveedor activar o desactivar servicios (como subir el ancho de banda) de forma remota.</a:t>
            </a:r>
          </a:p>
          <a:p>
            <a:pPr lvl="0"/>
            <a:r>
              <a:rPr lang="es-PE" sz="1600" b="1" dirty="0">
                <a:solidFill>
                  <a:schemeClr val="bg1"/>
                </a:solidFill>
                <a:latin typeface="Book Antiqua" panose="02040602050305030304" pitchFamily="18" charset="0"/>
              </a:rPr>
              <a:t>Seguridad Perimetral: </a:t>
            </a:r>
            <a:r>
              <a:rPr lang="es-PE" sz="1600" dirty="0">
                <a:solidFill>
                  <a:schemeClr val="bg1"/>
                </a:solidFill>
                <a:latin typeface="Book Antiqua" panose="02040602050305030304" pitchFamily="18" charset="0"/>
              </a:rPr>
              <a:t>Actúa como la primera línea de defensa mediante el uso de NAT (Network </a:t>
            </a:r>
            <a:r>
              <a:rPr lang="es-PE" sz="1600" dirty="0" err="1">
                <a:solidFill>
                  <a:schemeClr val="bg1"/>
                </a:solidFill>
                <a:latin typeface="Book Antiqua" panose="02040602050305030304" pitchFamily="18" charset="0"/>
              </a:rPr>
              <a:t>Address</a:t>
            </a:r>
            <a:r>
              <a:rPr lang="es-PE" sz="1600" dirty="0">
                <a:solidFill>
                  <a:schemeClr val="bg1"/>
                </a:solidFill>
                <a:latin typeface="Book Antiqua" panose="02040602050305030304" pitchFamily="18" charset="0"/>
              </a:rPr>
              <a:t> </a:t>
            </a:r>
            <a:r>
              <a:rPr lang="es-PE" sz="1600" dirty="0" err="1">
                <a:solidFill>
                  <a:schemeClr val="bg1"/>
                </a:solidFill>
                <a:latin typeface="Book Antiqua" panose="02040602050305030304" pitchFamily="18" charset="0"/>
              </a:rPr>
              <a:t>Translation</a:t>
            </a:r>
            <a:r>
              <a:rPr lang="es-PE" sz="1600" dirty="0">
                <a:solidFill>
                  <a:schemeClr val="bg1"/>
                </a:solidFill>
                <a:latin typeface="Book Antiqua" panose="02040602050305030304" pitchFamily="18" charset="0"/>
              </a:rPr>
              <a:t>) y filtrado de paquetes.</a:t>
            </a:r>
          </a:p>
        </p:txBody>
      </p:sp>
      <p:sp>
        <p:nvSpPr>
          <p:cNvPr id="17" name="Estrella: 4 puntas 16">
            <a:extLst>
              <a:ext uri="{FF2B5EF4-FFF2-40B4-BE49-F238E27FC236}">
                <a16:creationId xmlns:a16="http://schemas.microsoft.com/office/drawing/2014/main" id="{5E8142DE-512C-EA3A-3E26-91F5864DA613}"/>
              </a:ext>
            </a:extLst>
          </p:cNvPr>
          <p:cNvSpPr/>
          <p:nvPr/>
        </p:nvSpPr>
        <p:spPr>
          <a:xfrm>
            <a:off x="4835696" y="3769290"/>
            <a:ext cx="518160" cy="369332"/>
          </a:xfrm>
          <a:prstGeom prst="star4">
            <a:avLst>
              <a:gd name="adj" fmla="val 8253"/>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20" name="Gráfico 19" descr="Internet con relleno sólido">
            <a:extLst>
              <a:ext uri="{FF2B5EF4-FFF2-40B4-BE49-F238E27FC236}">
                <a16:creationId xmlns:a16="http://schemas.microsoft.com/office/drawing/2014/main" id="{469521E1-89CB-19CE-482F-384DE5E6CA9E}"/>
              </a:ext>
            </a:extLst>
          </p:cNvPr>
          <p:cNvPicPr>
            <a:picLocks noChangeAspect="1"/>
          </p:cNvPicPr>
          <p:nvPr/>
        </p:nvPicPr>
        <p:blipFill>
          <a:blip r:embed="rId5">
            <a:extLst>
              <a:ext uri="{96DAC541-7B7A-43D3-8B79-37D633B846F1}">
                <asvg:svgBlip xmlns:asvg="http://schemas.microsoft.com/office/drawing/2016/SVG/main"/>
              </a:ext>
            </a:extLst>
          </a:blip>
          <a:stretch>
            <a:fillRect/>
          </a:stretch>
        </p:blipFill>
        <p:spPr>
          <a:xfrm>
            <a:off x="4937760" y="2819162"/>
            <a:ext cx="914400" cy="914400"/>
          </a:xfrm>
          <a:prstGeom prst="rect">
            <a:avLst/>
          </a:prstGeom>
        </p:spPr>
      </p:pic>
      <p:sp>
        <p:nvSpPr>
          <p:cNvPr id="22" name="Estrella: 4 puntas 21">
            <a:extLst>
              <a:ext uri="{FF2B5EF4-FFF2-40B4-BE49-F238E27FC236}">
                <a16:creationId xmlns:a16="http://schemas.microsoft.com/office/drawing/2014/main" id="{00E1F3A1-185E-F5F0-3B71-10F454EF5973}"/>
              </a:ext>
            </a:extLst>
          </p:cNvPr>
          <p:cNvSpPr/>
          <p:nvPr/>
        </p:nvSpPr>
        <p:spPr>
          <a:xfrm>
            <a:off x="5436870" y="1728886"/>
            <a:ext cx="518160" cy="369332"/>
          </a:xfrm>
          <a:prstGeom prst="star4">
            <a:avLst>
              <a:gd name="adj" fmla="val 8253"/>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CuadroTexto 1">
            <a:extLst>
              <a:ext uri="{FF2B5EF4-FFF2-40B4-BE49-F238E27FC236}">
                <a16:creationId xmlns:a16="http://schemas.microsoft.com/office/drawing/2014/main" id="{80BF1D41-054B-67CB-B520-7B9B58B55354}"/>
              </a:ext>
            </a:extLst>
          </p:cNvPr>
          <p:cNvSpPr txBox="1"/>
          <p:nvPr/>
        </p:nvSpPr>
        <p:spPr>
          <a:xfrm>
            <a:off x="5955030" y="4192916"/>
            <a:ext cx="5915887" cy="2831544"/>
          </a:xfrm>
          <a:prstGeom prst="rect">
            <a:avLst/>
          </a:prstGeom>
          <a:noFill/>
        </p:spPr>
        <p:txBody>
          <a:bodyPr wrap="square" rtlCol="0">
            <a:spAutoFit/>
          </a:bodyPr>
          <a:lstStyle/>
          <a:p>
            <a:r>
              <a:rPr lang="es-PE" sz="1600" b="1" dirty="0">
                <a:solidFill>
                  <a:schemeClr val="bg1"/>
                </a:solidFill>
                <a:latin typeface="Book Antiqua" panose="02040602050305030304" pitchFamily="18" charset="0"/>
              </a:rPr>
              <a:t>4.- ¿Qué es IPsec?:</a:t>
            </a:r>
            <a:endParaRPr lang="es-PE" sz="1600" dirty="0">
              <a:solidFill>
                <a:schemeClr val="bg1"/>
              </a:solidFill>
              <a:latin typeface="Book Antiqua" panose="02040602050305030304" pitchFamily="18" charset="0"/>
            </a:endParaRPr>
          </a:p>
          <a:p>
            <a:r>
              <a:rPr lang="es-PE" sz="1600" dirty="0">
                <a:solidFill>
                  <a:schemeClr val="bg1"/>
                </a:solidFill>
                <a:latin typeface="Book Antiqua" panose="02040602050305030304" pitchFamily="18" charset="0"/>
                <a:hlinkClick r:id="rId2">
                  <a:extLst>
                    <a:ext uri="{A12FA001-AC4F-418D-AE19-62706E023703}">
                      <ahyp:hlinkClr xmlns:ahyp="http://schemas.microsoft.com/office/drawing/2018/hyperlinkcolor" val="tx"/>
                    </a:ext>
                  </a:extLst>
                </a:hlinkClick>
              </a:rPr>
              <a:t>IPsec</a:t>
            </a:r>
            <a:r>
              <a:rPr lang="es-PE" sz="1600" dirty="0">
                <a:solidFill>
                  <a:schemeClr val="bg1"/>
                </a:solidFill>
                <a:latin typeface="Book Antiqua" panose="02040602050305030304" pitchFamily="18" charset="0"/>
              </a:rPr>
              <a:t> ayuda a mantener la seguridad de los datos privados cuando se transmiten por una red pública. Más concretamente, IPsec es un grupo de protocolos que se utilizan conjuntamente para establecer conexiones seguras entre dispositivos en la capa 3 del </a:t>
            </a:r>
            <a:r>
              <a:rPr lang="es-PE" sz="1600" dirty="0">
                <a:solidFill>
                  <a:schemeClr val="bg1"/>
                </a:solidFill>
                <a:latin typeface="Book Antiqua" panose="02040602050305030304" pitchFamily="18" charset="0"/>
                <a:hlinkClick r:id="rId3">
                  <a:extLst>
                    <a:ext uri="{A12FA001-AC4F-418D-AE19-62706E023703}">
                      <ahyp:hlinkClr xmlns:ahyp="http://schemas.microsoft.com/office/drawing/2018/hyperlinkcolor" val="tx"/>
                    </a:ext>
                  </a:extLst>
                </a:hlinkClick>
              </a:rPr>
              <a:t>modelo OSI</a:t>
            </a:r>
            <a:r>
              <a:rPr lang="es-PE" sz="1600" dirty="0">
                <a:solidFill>
                  <a:schemeClr val="bg1"/>
                </a:solidFill>
                <a:latin typeface="Book Antiqua" panose="02040602050305030304" pitchFamily="18" charset="0"/>
              </a:rPr>
              <a:t> (la </a:t>
            </a:r>
            <a:r>
              <a:rPr lang="es-PE" sz="1600" dirty="0">
                <a:solidFill>
                  <a:schemeClr val="bg1"/>
                </a:solidFill>
                <a:latin typeface="Book Antiqua" panose="02040602050305030304" pitchFamily="18" charset="0"/>
                <a:hlinkClick r:id="rId4">
                  <a:extLst>
                    <a:ext uri="{A12FA001-AC4F-418D-AE19-62706E023703}">
                      <ahyp:hlinkClr xmlns:ahyp="http://schemas.microsoft.com/office/drawing/2018/hyperlinkcolor" val="tx"/>
                    </a:ext>
                  </a:extLst>
                </a:hlinkClick>
              </a:rPr>
              <a:t>capa de red</a:t>
            </a:r>
            <a:r>
              <a:rPr lang="es-PE" sz="1600" dirty="0">
                <a:solidFill>
                  <a:schemeClr val="bg1"/>
                </a:solidFill>
                <a:latin typeface="Book Antiqua" panose="02040602050305030304" pitchFamily="18" charset="0"/>
              </a:rPr>
              <a:t>). IPsec consigue lo consigue al codificar todos los mensajes para que solo las partes autorizadas puedan entenderlos, un proceso que se conoce como </a:t>
            </a:r>
            <a:r>
              <a:rPr lang="es-PE" sz="1600" dirty="0">
                <a:solidFill>
                  <a:schemeClr val="bg1"/>
                </a:solidFill>
                <a:latin typeface="Book Antiqua" panose="02040602050305030304" pitchFamily="18" charset="0"/>
                <a:hlinkClick r:id="rId5">
                  <a:extLst>
                    <a:ext uri="{A12FA001-AC4F-418D-AE19-62706E023703}">
                      <ahyp:hlinkClr xmlns:ahyp="http://schemas.microsoft.com/office/drawing/2018/hyperlinkcolor" val="tx"/>
                    </a:ext>
                  </a:extLst>
                </a:hlinkClick>
              </a:rPr>
              <a:t>encriptación</a:t>
            </a:r>
            <a:r>
              <a:rPr lang="es-PE" sz="1600" dirty="0">
                <a:solidFill>
                  <a:schemeClr val="bg1"/>
                </a:solidFill>
                <a:latin typeface="Book Antiqua" panose="02040602050305030304" pitchFamily="18" charset="0"/>
              </a:rPr>
              <a:t>. IPsec se suele utilizar para establecer </a:t>
            </a:r>
            <a:r>
              <a:rPr lang="es-PE" sz="1600" dirty="0">
                <a:solidFill>
                  <a:schemeClr val="bg1"/>
                </a:solidFill>
                <a:latin typeface="Book Antiqua" panose="02040602050305030304" pitchFamily="18" charset="0"/>
                <a:hlinkClick r:id="rId6">
                  <a:extLst>
                    <a:ext uri="{A12FA001-AC4F-418D-AE19-62706E023703}">
                      <ahyp:hlinkClr xmlns:ahyp="http://schemas.microsoft.com/office/drawing/2018/hyperlinkcolor" val="tx"/>
                    </a:ext>
                  </a:extLst>
                </a:hlinkClick>
              </a:rPr>
              <a:t>redes privadas virtuales (VPN)</a:t>
            </a:r>
            <a:r>
              <a:rPr lang="es-PE" sz="1600" dirty="0">
                <a:solidFill>
                  <a:schemeClr val="bg1"/>
                </a:solidFill>
                <a:latin typeface="Book Antiqua" panose="02040602050305030304" pitchFamily="18" charset="0"/>
              </a:rPr>
              <a:t>.</a:t>
            </a:r>
          </a:p>
          <a:p>
            <a:endParaRPr lang="es-PE" dirty="0"/>
          </a:p>
        </p:txBody>
      </p:sp>
    </p:spTree>
    <p:extLst>
      <p:ext uri="{BB962C8B-B14F-4D97-AF65-F5344CB8AC3E}">
        <p14:creationId xmlns:p14="http://schemas.microsoft.com/office/powerpoint/2010/main" val="31184813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A686E-B61F-6AA7-70D7-AAECBA510AA0}"/>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B68E1C18-206B-086D-5FE1-C1D462A68A58}"/>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C6810ED4-6BAA-357A-9956-8DF288ED35F0}"/>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15297" y="-6031945"/>
            <a:ext cx="12192000" cy="12872433"/>
          </a:xfrm>
          <a:prstGeom prst="rect">
            <a:avLst/>
          </a:prstGeom>
        </p:spPr>
      </p:pic>
      <p:sp>
        <p:nvSpPr>
          <p:cNvPr id="10" name="CuadroTexto 9">
            <a:extLst>
              <a:ext uri="{FF2B5EF4-FFF2-40B4-BE49-F238E27FC236}">
                <a16:creationId xmlns:a16="http://schemas.microsoft.com/office/drawing/2014/main" id="{14CFD430-B46C-AAD8-0F31-561AD24FF5A9}"/>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BA468734-DAEE-9DDB-7271-D19C36C37DDB}"/>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17345C99-E2B2-E3AF-32DE-7DA82F89C87A}"/>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sp>
        <p:nvSpPr>
          <p:cNvPr id="15" name="CuadroTexto 14">
            <a:extLst>
              <a:ext uri="{FF2B5EF4-FFF2-40B4-BE49-F238E27FC236}">
                <a16:creationId xmlns:a16="http://schemas.microsoft.com/office/drawing/2014/main" id="{FA844A95-0423-D9B7-8A92-FC430FF322E7}"/>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pic>
        <p:nvPicPr>
          <p:cNvPr id="19" name="Gráfico 18" descr="Nube con relleno sólido">
            <a:extLst>
              <a:ext uri="{FF2B5EF4-FFF2-40B4-BE49-F238E27FC236}">
                <a16:creationId xmlns:a16="http://schemas.microsoft.com/office/drawing/2014/main" id="{B4A1523C-809A-F7D5-35FB-36E08F02EC7C}"/>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0" y="-126752"/>
            <a:ext cx="914400" cy="914400"/>
          </a:xfrm>
          <a:prstGeom prst="rect">
            <a:avLst/>
          </a:prstGeom>
        </p:spPr>
      </p:pic>
      <p:sp>
        <p:nvSpPr>
          <p:cNvPr id="25" name="Estrella: 4 puntas 24">
            <a:extLst>
              <a:ext uri="{FF2B5EF4-FFF2-40B4-BE49-F238E27FC236}">
                <a16:creationId xmlns:a16="http://schemas.microsoft.com/office/drawing/2014/main" id="{414CCF9E-5FFB-D666-D0F6-1ACEBF57F8F7}"/>
              </a:ext>
            </a:extLst>
          </p:cNvPr>
          <p:cNvSpPr/>
          <p:nvPr/>
        </p:nvSpPr>
        <p:spPr>
          <a:xfrm>
            <a:off x="11658600" y="6206074"/>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6" name="Estrella: 4 puntas 25">
            <a:extLst>
              <a:ext uri="{FF2B5EF4-FFF2-40B4-BE49-F238E27FC236}">
                <a16:creationId xmlns:a16="http://schemas.microsoft.com/office/drawing/2014/main" id="{9854E95A-E89E-5A6B-54EB-F02F99AFDFC8}"/>
              </a:ext>
            </a:extLst>
          </p:cNvPr>
          <p:cNvSpPr/>
          <p:nvPr/>
        </p:nvSpPr>
        <p:spPr>
          <a:xfrm>
            <a:off x="526761" y="6367006"/>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7" name="Estrella: 4 puntas 26">
            <a:extLst>
              <a:ext uri="{FF2B5EF4-FFF2-40B4-BE49-F238E27FC236}">
                <a16:creationId xmlns:a16="http://schemas.microsoft.com/office/drawing/2014/main" id="{1CB55B88-78D3-E2F5-157D-BD749E823C63}"/>
              </a:ext>
            </a:extLst>
          </p:cNvPr>
          <p:cNvSpPr/>
          <p:nvPr/>
        </p:nvSpPr>
        <p:spPr>
          <a:xfrm>
            <a:off x="11275638" y="408936"/>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CuadroTexto 6">
            <a:extLst>
              <a:ext uri="{FF2B5EF4-FFF2-40B4-BE49-F238E27FC236}">
                <a16:creationId xmlns:a16="http://schemas.microsoft.com/office/drawing/2014/main" id="{05D30531-5EDE-BCE0-13C9-A361B1A6147F}"/>
              </a:ext>
            </a:extLst>
          </p:cNvPr>
          <p:cNvSpPr txBox="1"/>
          <p:nvPr/>
        </p:nvSpPr>
        <p:spPr>
          <a:xfrm>
            <a:off x="226752" y="735240"/>
            <a:ext cx="5096799" cy="3323987"/>
          </a:xfrm>
          <a:prstGeom prst="rect">
            <a:avLst/>
          </a:prstGeom>
          <a:noFill/>
        </p:spPr>
        <p:txBody>
          <a:bodyPr wrap="square" rtlCol="0">
            <a:spAutoFit/>
          </a:bodyPr>
          <a:lstStyle/>
          <a:p>
            <a:r>
              <a:rPr lang="es-PE" sz="1600" b="1" dirty="0">
                <a:solidFill>
                  <a:schemeClr val="bg1"/>
                </a:solidFill>
                <a:latin typeface="Book Antiqua" panose="02040602050305030304" pitchFamily="18" charset="0"/>
              </a:rPr>
              <a:t>5.- ¿Qué es SSL/TLS?</a:t>
            </a:r>
            <a:endParaRPr lang="es-PE" sz="1600" dirty="0">
              <a:solidFill>
                <a:schemeClr val="bg1"/>
              </a:solidFill>
              <a:latin typeface="Book Antiqua" panose="02040602050305030304" pitchFamily="18" charset="0"/>
            </a:endParaRPr>
          </a:p>
          <a:p>
            <a:r>
              <a:rPr lang="es-PE" sz="1600" dirty="0" err="1">
                <a:solidFill>
                  <a:srgbClr val="2DA0F1"/>
                </a:solidFill>
                <a:latin typeface="Book Antiqua" panose="02040602050305030304" pitchFamily="18" charset="0"/>
                <a:hlinkClick r:id="rId2">
                  <a:extLst>
                    <a:ext uri="{A12FA001-AC4F-418D-AE19-62706E023703}">
                      <ahyp:hlinkClr xmlns:ahyp="http://schemas.microsoft.com/office/drawing/2018/hyperlinkcolor" val="tx"/>
                    </a:ext>
                  </a:extLst>
                </a:hlinkClick>
              </a:rPr>
              <a:t>Secure</a:t>
            </a:r>
            <a:r>
              <a:rPr lang="es-PE" sz="1600" dirty="0">
                <a:solidFill>
                  <a:srgbClr val="2DA0F1"/>
                </a:solidFill>
                <a:latin typeface="Book Antiqua" panose="02040602050305030304" pitchFamily="18" charset="0"/>
                <a:hlinkClick r:id="rId2">
                  <a:extLst>
                    <a:ext uri="{A12FA001-AC4F-418D-AE19-62706E023703}">
                      <ahyp:hlinkClr xmlns:ahyp="http://schemas.microsoft.com/office/drawing/2018/hyperlinkcolor" val="tx"/>
                    </a:ext>
                  </a:extLst>
                </a:hlinkClick>
              </a:rPr>
              <a:t> Sockets </a:t>
            </a:r>
            <a:r>
              <a:rPr lang="es-PE" sz="1600" dirty="0" err="1">
                <a:solidFill>
                  <a:srgbClr val="2DA0F1"/>
                </a:solidFill>
                <a:latin typeface="Book Antiqua" panose="02040602050305030304" pitchFamily="18" charset="0"/>
                <a:hlinkClick r:id="rId2">
                  <a:extLst>
                    <a:ext uri="{A12FA001-AC4F-418D-AE19-62706E023703}">
                      <ahyp:hlinkClr xmlns:ahyp="http://schemas.microsoft.com/office/drawing/2018/hyperlinkcolor" val="tx"/>
                    </a:ext>
                  </a:extLst>
                </a:hlinkClick>
              </a:rPr>
              <a:t>Layer</a:t>
            </a:r>
            <a:r>
              <a:rPr lang="es-PE" sz="1600" dirty="0">
                <a:solidFill>
                  <a:schemeClr val="bg1"/>
                </a:solidFill>
                <a:latin typeface="Book Antiqua" panose="02040602050305030304" pitchFamily="18" charset="0"/>
                <a:hlinkClick r:id="rId2">
                  <a:extLst>
                    <a:ext uri="{A12FA001-AC4F-418D-AE19-62706E023703}">
                      <ahyp:hlinkClr xmlns:ahyp="http://schemas.microsoft.com/office/drawing/2018/hyperlinkcolor" val="tx"/>
                    </a:ext>
                  </a:extLst>
                </a:hlinkClick>
              </a:rPr>
              <a:t> (SSL)</a:t>
            </a:r>
            <a:r>
              <a:rPr lang="es-PE" sz="1600" dirty="0">
                <a:solidFill>
                  <a:schemeClr val="bg1"/>
                </a:solidFill>
                <a:latin typeface="Book Antiqua" panose="02040602050305030304" pitchFamily="18" charset="0"/>
              </a:rPr>
              <a:t> es un protocolo para encriptar el tráfico </a:t>
            </a:r>
            <a:r>
              <a:rPr lang="es-PE" sz="1600" dirty="0">
                <a:solidFill>
                  <a:schemeClr val="bg1"/>
                </a:solidFill>
                <a:latin typeface="Book Antiqua" panose="02040602050305030304" pitchFamily="18" charset="0"/>
                <a:hlinkClick r:id="rId3">
                  <a:extLst>
                    <a:ext uri="{A12FA001-AC4F-418D-AE19-62706E023703}">
                      <ahyp:hlinkClr xmlns:ahyp="http://schemas.microsoft.com/office/drawing/2018/hyperlinkcolor" val="tx"/>
                    </a:ext>
                  </a:extLst>
                </a:hlinkClick>
              </a:rPr>
              <a:t>HTTP</a:t>
            </a:r>
            <a:r>
              <a:rPr lang="es-PE" sz="1600" dirty="0">
                <a:solidFill>
                  <a:schemeClr val="bg1"/>
                </a:solidFill>
                <a:latin typeface="Book Antiqua" panose="02040602050305030304" pitchFamily="18" charset="0"/>
              </a:rPr>
              <a:t>, como las conexiones entre los dispositivos de los usuarios y </a:t>
            </a:r>
            <a:r>
              <a:rPr lang="es-PE" sz="1600" dirty="0">
                <a:solidFill>
                  <a:schemeClr val="bg1"/>
                </a:solidFill>
                <a:latin typeface="Book Antiqua" panose="02040602050305030304" pitchFamily="18" charset="0"/>
                <a:hlinkClick r:id="rId4">
                  <a:extLst>
                    <a:ext uri="{A12FA001-AC4F-418D-AE19-62706E023703}">
                      <ahyp:hlinkClr xmlns:ahyp="http://schemas.microsoft.com/office/drawing/2018/hyperlinkcolor" val="tx"/>
                    </a:ext>
                  </a:extLst>
                </a:hlinkClick>
              </a:rPr>
              <a:t>los servidores web</a:t>
            </a:r>
            <a:r>
              <a:rPr lang="es-PE" sz="1600" dirty="0">
                <a:solidFill>
                  <a:schemeClr val="bg1"/>
                </a:solidFill>
                <a:latin typeface="Book Antiqua" panose="02040602050305030304" pitchFamily="18" charset="0"/>
              </a:rPr>
              <a:t>. Los sitios web que utilizan la encriptación SSL tienen https:// en sus URL en lugar de http://. SSL fue sustituido hace varios años por </a:t>
            </a:r>
            <a:r>
              <a:rPr lang="es-PE" sz="1600" dirty="0" err="1">
                <a:solidFill>
                  <a:srgbClr val="2DA0F1"/>
                </a:solidFill>
                <a:latin typeface="Book Antiqua" panose="02040602050305030304" pitchFamily="18" charset="0"/>
                <a:hlinkClick r:id="rId5">
                  <a:extLst>
                    <a:ext uri="{A12FA001-AC4F-418D-AE19-62706E023703}">
                      <ahyp:hlinkClr xmlns:ahyp="http://schemas.microsoft.com/office/drawing/2018/hyperlinkcolor" val="tx"/>
                    </a:ext>
                  </a:extLst>
                </a:hlinkClick>
              </a:rPr>
              <a:t>Transport</a:t>
            </a:r>
            <a:r>
              <a:rPr lang="es-PE" sz="1600" dirty="0">
                <a:solidFill>
                  <a:srgbClr val="2DA0F1"/>
                </a:solidFill>
                <a:latin typeface="Book Antiqua" panose="02040602050305030304" pitchFamily="18" charset="0"/>
                <a:hlinkClick r:id="rId5">
                  <a:extLst>
                    <a:ext uri="{A12FA001-AC4F-418D-AE19-62706E023703}">
                      <ahyp:hlinkClr xmlns:ahyp="http://schemas.microsoft.com/office/drawing/2018/hyperlinkcolor" val="tx"/>
                    </a:ext>
                  </a:extLst>
                </a:hlinkClick>
              </a:rPr>
              <a:t> </a:t>
            </a:r>
            <a:r>
              <a:rPr lang="es-PE" sz="1600" dirty="0" err="1">
                <a:solidFill>
                  <a:srgbClr val="2DA0F1"/>
                </a:solidFill>
                <a:latin typeface="Book Antiqua" panose="02040602050305030304" pitchFamily="18" charset="0"/>
                <a:hlinkClick r:id="rId5">
                  <a:extLst>
                    <a:ext uri="{A12FA001-AC4F-418D-AE19-62706E023703}">
                      <ahyp:hlinkClr xmlns:ahyp="http://schemas.microsoft.com/office/drawing/2018/hyperlinkcolor" val="tx"/>
                    </a:ext>
                  </a:extLst>
                </a:hlinkClick>
              </a:rPr>
              <a:t>Layer</a:t>
            </a:r>
            <a:r>
              <a:rPr lang="es-PE" sz="1600" dirty="0">
                <a:solidFill>
                  <a:schemeClr val="bg1"/>
                </a:solidFill>
                <a:latin typeface="Book Antiqua" panose="02040602050305030304" pitchFamily="18" charset="0"/>
                <a:hlinkClick r:id="rId5">
                  <a:extLst>
                    <a:ext uri="{A12FA001-AC4F-418D-AE19-62706E023703}">
                      <ahyp:hlinkClr xmlns:ahyp="http://schemas.microsoft.com/office/drawing/2018/hyperlinkcolor" val="tx"/>
                    </a:ext>
                  </a:extLst>
                </a:hlinkClick>
              </a:rPr>
              <a:t> Security</a:t>
            </a:r>
            <a:r>
              <a:rPr lang="es-PE" sz="1600" dirty="0">
                <a:solidFill>
                  <a:schemeClr val="bg1"/>
                </a:solidFill>
                <a:latin typeface="Book Antiqua" panose="02040602050305030304" pitchFamily="18" charset="0"/>
              </a:rPr>
              <a:t> (TLS), pero el término "SSL" se sigue utilizando para referirse al protocolo.</a:t>
            </a:r>
          </a:p>
          <a:p>
            <a:r>
              <a:rPr lang="es-PE" sz="1600" dirty="0">
                <a:solidFill>
                  <a:schemeClr val="bg1"/>
                </a:solidFill>
                <a:latin typeface="Book Antiqua" panose="02040602050305030304" pitchFamily="18" charset="0"/>
              </a:rPr>
              <a:t>Además de encriptar las comunicaciones cliente-servidor en la navegación web, SSL también puede utilizarse en las VPN.</a:t>
            </a:r>
          </a:p>
          <a:p>
            <a:endParaRPr lang="es-PE" dirty="0"/>
          </a:p>
        </p:txBody>
      </p:sp>
      <p:sp>
        <p:nvSpPr>
          <p:cNvPr id="5" name="CuadroTexto 4">
            <a:extLst>
              <a:ext uri="{FF2B5EF4-FFF2-40B4-BE49-F238E27FC236}">
                <a16:creationId xmlns:a16="http://schemas.microsoft.com/office/drawing/2014/main" id="{B2F8A4C1-5F9F-BB0D-56D2-AE0346B5DE4A}"/>
              </a:ext>
            </a:extLst>
          </p:cNvPr>
          <p:cNvSpPr txBox="1"/>
          <p:nvPr/>
        </p:nvSpPr>
        <p:spPr>
          <a:xfrm>
            <a:off x="899103" y="-1818"/>
            <a:ext cx="11277600" cy="646331"/>
          </a:xfrm>
          <a:prstGeom prst="rect">
            <a:avLst/>
          </a:prstGeom>
          <a:noFill/>
        </p:spPr>
        <p:txBody>
          <a:bodyPr wrap="square" rtlCol="0">
            <a:spAutoFit/>
          </a:bodyPr>
          <a:lstStyle/>
          <a:p>
            <a:r>
              <a:rPr lang="es-MX" sz="3600" dirty="0">
                <a:solidFill>
                  <a:schemeClr val="bg1"/>
                </a:solidFill>
                <a:latin typeface="Aharoni" panose="02010803020104030203" pitchFamily="2" charset="-79"/>
                <a:cs typeface="Aharoni" panose="02010803020104030203" pitchFamily="2" charset="-79"/>
              </a:rPr>
              <a:t>CPN: TIPOS, USOS Y COMPARACIONES (SSL/IPSEC</a:t>
            </a:r>
            <a:r>
              <a:rPr lang="es-MX" dirty="0"/>
              <a:t>)</a:t>
            </a:r>
            <a:endParaRPr lang="es-PE" dirty="0"/>
          </a:p>
        </p:txBody>
      </p:sp>
      <p:sp>
        <p:nvSpPr>
          <p:cNvPr id="8" name="CuadroTexto 7">
            <a:extLst>
              <a:ext uri="{FF2B5EF4-FFF2-40B4-BE49-F238E27FC236}">
                <a16:creationId xmlns:a16="http://schemas.microsoft.com/office/drawing/2014/main" id="{E9B87CF0-C271-43B0-867B-4F1E316F869C}"/>
              </a:ext>
            </a:extLst>
          </p:cNvPr>
          <p:cNvSpPr txBox="1"/>
          <p:nvPr/>
        </p:nvSpPr>
        <p:spPr>
          <a:xfrm>
            <a:off x="5775904" y="702039"/>
            <a:ext cx="6400799" cy="5262979"/>
          </a:xfrm>
          <a:prstGeom prst="rect">
            <a:avLst/>
          </a:prstGeom>
          <a:noFill/>
        </p:spPr>
        <p:txBody>
          <a:bodyPr wrap="square" rtlCol="0">
            <a:spAutoFit/>
          </a:bodyPr>
          <a:lstStyle/>
          <a:p>
            <a:r>
              <a:rPr lang="es-PE" sz="1400" b="1" dirty="0">
                <a:solidFill>
                  <a:schemeClr val="bg1"/>
                </a:solidFill>
                <a:latin typeface="Book Antiqua" panose="02040602050305030304" pitchFamily="18" charset="0"/>
              </a:rPr>
              <a:t>6.- VPN IPsec vs. VPN SSL: ¿En qué se diferencian?</a:t>
            </a:r>
            <a:endParaRPr lang="es-PE" sz="1400" dirty="0">
              <a:solidFill>
                <a:schemeClr val="bg1"/>
              </a:solidFill>
              <a:latin typeface="Book Antiqua" panose="02040602050305030304" pitchFamily="18" charset="0"/>
            </a:endParaRPr>
          </a:p>
          <a:p>
            <a:r>
              <a:rPr lang="es-PE" sz="1400" b="1" dirty="0">
                <a:solidFill>
                  <a:schemeClr val="bg1"/>
                </a:solidFill>
                <a:latin typeface="Book Antiqua" panose="02040602050305030304" pitchFamily="18" charset="0"/>
              </a:rPr>
              <a:t>- Capa del Modelo OSI</a:t>
            </a:r>
            <a:endParaRPr lang="es-PE" sz="1400" dirty="0">
              <a:solidFill>
                <a:schemeClr val="bg1"/>
              </a:solidFill>
              <a:latin typeface="Book Antiqua" panose="02040602050305030304" pitchFamily="18" charset="0"/>
            </a:endParaRPr>
          </a:p>
          <a:p>
            <a:pPr lvl="0"/>
            <a:r>
              <a:rPr lang="es-PE" sz="1400" b="1" dirty="0">
                <a:solidFill>
                  <a:schemeClr val="bg1"/>
                </a:solidFill>
                <a:latin typeface="Book Antiqua" panose="02040602050305030304" pitchFamily="18" charset="0"/>
              </a:rPr>
              <a:t>IPsec (Capa de Red - Capa 3): </a:t>
            </a:r>
            <a:r>
              <a:rPr lang="es-PE" sz="1400" dirty="0">
                <a:solidFill>
                  <a:schemeClr val="bg1"/>
                </a:solidFill>
                <a:latin typeface="Book Antiqua" panose="02040602050305030304" pitchFamily="18" charset="0"/>
              </a:rPr>
              <a:t>Se ejecuta directamente sobre el protocolo IP. Encripta todo el tráfico que viaja entre dos puntos, sin importar la aplicación.</a:t>
            </a:r>
          </a:p>
          <a:p>
            <a:pPr lvl="0"/>
            <a:r>
              <a:rPr lang="es-PE" sz="1400" b="1" dirty="0">
                <a:solidFill>
                  <a:schemeClr val="bg1"/>
                </a:solidFill>
                <a:latin typeface="Book Antiqua" panose="02040602050305030304" pitchFamily="18" charset="0"/>
              </a:rPr>
              <a:t>SSL/TLS (Capa de Aplicación - Capa 7): </a:t>
            </a:r>
            <a:r>
              <a:rPr lang="es-PE" sz="1400" dirty="0">
                <a:solidFill>
                  <a:schemeClr val="bg1"/>
                </a:solidFill>
                <a:latin typeface="Book Antiqua" panose="02040602050305030304" pitchFamily="18" charset="0"/>
              </a:rPr>
              <a:t>Encripta el tráfico de aplicaciones específicas (principalmente HTTP/Navegadores). No protege la actividad fuera del navegador a menos que se configure de forma especial.</a:t>
            </a:r>
          </a:p>
          <a:p>
            <a:r>
              <a:rPr lang="es-PE" sz="1400" b="1" dirty="0">
                <a:solidFill>
                  <a:schemeClr val="bg1"/>
                </a:solidFill>
                <a:latin typeface="Book Antiqua" panose="02040602050305030304" pitchFamily="18" charset="0"/>
              </a:rPr>
              <a:t>- Implementación y Uso</a:t>
            </a:r>
            <a:endParaRPr lang="es-PE" sz="1400" dirty="0">
              <a:solidFill>
                <a:schemeClr val="bg1"/>
              </a:solidFill>
              <a:latin typeface="Book Antiqua" panose="02040602050305030304" pitchFamily="18" charset="0"/>
            </a:endParaRPr>
          </a:p>
          <a:p>
            <a:pPr lvl="0"/>
            <a:r>
              <a:rPr lang="es-PE" sz="1400" b="1" dirty="0">
                <a:solidFill>
                  <a:schemeClr val="bg1"/>
                </a:solidFill>
                <a:latin typeface="Book Antiqua" panose="02040602050305030304" pitchFamily="18" charset="0"/>
              </a:rPr>
              <a:t>IPsec: </a:t>
            </a:r>
            <a:r>
              <a:rPr lang="es-PE" sz="1400" dirty="0">
                <a:solidFill>
                  <a:schemeClr val="bg1"/>
                </a:solidFill>
                <a:latin typeface="Book Antiqua" panose="02040602050305030304" pitchFamily="18" charset="0"/>
              </a:rPr>
              <a:t>Requiere instalar un software cliente en cada dispositivo. Es más complejo de gestionar, pero ideal para conectar oficinas completas (Site-</a:t>
            </a:r>
            <a:r>
              <a:rPr lang="es-PE" sz="1400" dirty="0" err="1">
                <a:solidFill>
                  <a:schemeClr val="bg1"/>
                </a:solidFill>
                <a:latin typeface="Book Antiqua" panose="02040602050305030304" pitchFamily="18" charset="0"/>
              </a:rPr>
              <a:t>to</a:t>
            </a:r>
            <a:r>
              <a:rPr lang="es-PE" sz="1400" dirty="0">
                <a:solidFill>
                  <a:schemeClr val="bg1"/>
                </a:solidFill>
                <a:latin typeface="Book Antiqua" panose="02040602050305030304" pitchFamily="18" charset="0"/>
              </a:rPr>
              <a:t>-Site).</a:t>
            </a:r>
          </a:p>
          <a:p>
            <a:pPr lvl="0"/>
            <a:r>
              <a:rPr lang="es-PE" sz="1400" b="1" dirty="0">
                <a:solidFill>
                  <a:schemeClr val="bg1"/>
                </a:solidFill>
                <a:latin typeface="Book Antiqua" panose="02040602050305030304" pitchFamily="18" charset="0"/>
              </a:rPr>
              <a:t>SSL</a:t>
            </a:r>
            <a:r>
              <a:rPr lang="es-PE" sz="1400" dirty="0">
                <a:solidFill>
                  <a:schemeClr val="bg1"/>
                </a:solidFill>
                <a:latin typeface="Book Antiqua" panose="02040602050305030304" pitchFamily="18" charset="0"/>
              </a:rPr>
              <a:t>: No requiere software adicional porque los navegadores ya lo integran. Es más accesible para usuarios remotos y requiere menos soporte de TI.</a:t>
            </a:r>
          </a:p>
          <a:p>
            <a:r>
              <a:rPr lang="es-PE" sz="1400" b="1" dirty="0">
                <a:solidFill>
                  <a:schemeClr val="bg1"/>
                </a:solidFill>
                <a:latin typeface="Book Antiqua" panose="02040602050305030304" pitchFamily="18" charset="0"/>
              </a:rPr>
              <a:t>- Control de Acceso</a:t>
            </a:r>
            <a:endParaRPr lang="es-PE" sz="1400" dirty="0">
              <a:solidFill>
                <a:schemeClr val="bg1"/>
              </a:solidFill>
              <a:latin typeface="Book Antiqua" panose="02040602050305030304" pitchFamily="18" charset="0"/>
            </a:endParaRPr>
          </a:p>
          <a:p>
            <a:pPr lvl="0"/>
            <a:r>
              <a:rPr lang="es-PE" sz="1400" b="1" dirty="0">
                <a:solidFill>
                  <a:schemeClr val="bg1"/>
                </a:solidFill>
                <a:latin typeface="Book Antiqua" panose="02040602050305030304" pitchFamily="18" charset="0"/>
              </a:rPr>
              <a:t>IPsec: </a:t>
            </a:r>
            <a:r>
              <a:rPr lang="es-PE" sz="1400" dirty="0">
                <a:solidFill>
                  <a:schemeClr val="bg1"/>
                </a:solidFill>
                <a:latin typeface="Book Antiqua" panose="02040602050305030304" pitchFamily="18" charset="0"/>
              </a:rPr>
              <a:t>El usuario suele tener acceso a toda la red una vez conectado. Para restringir accesos, se deben crear múltiples </a:t>
            </a:r>
            <a:r>
              <a:rPr lang="es-PE" sz="1400" dirty="0" err="1">
                <a:solidFill>
                  <a:schemeClr val="bg1"/>
                </a:solidFill>
                <a:latin typeface="Book Antiqua" panose="02040602050305030304" pitchFamily="18" charset="0"/>
              </a:rPr>
              <a:t>VPNs</a:t>
            </a:r>
            <a:r>
              <a:rPr lang="es-PE" sz="1400" dirty="0">
                <a:solidFill>
                  <a:schemeClr val="bg1"/>
                </a:solidFill>
                <a:latin typeface="Book Antiqua" panose="02040602050305030304" pitchFamily="18" charset="0"/>
              </a:rPr>
              <a:t>, lo cual es laborioso.</a:t>
            </a:r>
          </a:p>
          <a:p>
            <a:pPr lvl="0"/>
            <a:r>
              <a:rPr lang="es-PE" sz="1400" b="1" dirty="0">
                <a:solidFill>
                  <a:schemeClr val="bg1"/>
                </a:solidFill>
                <a:latin typeface="Book Antiqua" panose="02040602050305030304" pitchFamily="18" charset="0"/>
              </a:rPr>
              <a:t>SSL: </a:t>
            </a:r>
            <a:r>
              <a:rPr lang="es-PE" sz="1400" dirty="0">
                <a:solidFill>
                  <a:schemeClr val="bg1"/>
                </a:solidFill>
                <a:latin typeface="Book Antiqua" panose="02040602050305030304" pitchFamily="18" charset="0"/>
              </a:rPr>
              <a:t>Permite un control granular. Se puede dar acceso a una aplicación específica (ej. solo al correo o solo al CRM) sin exponer el resto de la red interna.</a:t>
            </a:r>
          </a:p>
          <a:p>
            <a:r>
              <a:rPr lang="es-PE" sz="1400" b="1" dirty="0">
                <a:solidFill>
                  <a:schemeClr val="bg1"/>
                </a:solidFill>
                <a:latin typeface="Book Antiqua" panose="02040602050305030304" pitchFamily="18" charset="0"/>
              </a:rPr>
              <a:t>- Entorno Ideal</a:t>
            </a:r>
            <a:endParaRPr lang="es-PE" sz="1400" dirty="0">
              <a:solidFill>
                <a:schemeClr val="bg1"/>
              </a:solidFill>
              <a:latin typeface="Book Antiqua" panose="02040602050305030304" pitchFamily="18" charset="0"/>
            </a:endParaRPr>
          </a:p>
          <a:p>
            <a:pPr lvl="0"/>
            <a:r>
              <a:rPr lang="es-PE" sz="1400" b="1" dirty="0">
                <a:solidFill>
                  <a:schemeClr val="bg1"/>
                </a:solidFill>
                <a:latin typeface="Book Antiqua" panose="02040602050305030304" pitchFamily="18" charset="0"/>
              </a:rPr>
              <a:t>IPsec: </a:t>
            </a:r>
            <a:r>
              <a:rPr lang="es-PE" sz="1400" dirty="0">
                <a:solidFill>
                  <a:schemeClr val="bg1"/>
                </a:solidFill>
                <a:latin typeface="Book Antiqua" panose="02040602050305030304" pitchFamily="18" charset="0"/>
              </a:rPr>
              <a:t>Mejor para aplicaciones locales (</a:t>
            </a:r>
            <a:r>
              <a:rPr lang="es-PE" sz="1400" dirty="0" err="1">
                <a:solidFill>
                  <a:schemeClr val="bg1"/>
                </a:solidFill>
                <a:latin typeface="Book Antiqua" panose="02040602050305030304" pitchFamily="18" charset="0"/>
              </a:rPr>
              <a:t>on</a:t>
            </a:r>
            <a:r>
              <a:rPr lang="es-PE" sz="1400" dirty="0">
                <a:solidFill>
                  <a:schemeClr val="bg1"/>
                </a:solidFill>
                <a:latin typeface="Book Antiqua" panose="02040602050305030304" pitchFamily="18" charset="0"/>
              </a:rPr>
              <a:t>-premise) y conexiones permanentes entre infraestructuras físicas.</a:t>
            </a:r>
          </a:p>
          <a:p>
            <a:pPr lvl="0"/>
            <a:r>
              <a:rPr lang="es-PE" sz="1400" b="1" dirty="0">
                <a:solidFill>
                  <a:schemeClr val="bg1"/>
                </a:solidFill>
                <a:latin typeface="Book Antiqua" panose="02040602050305030304" pitchFamily="18" charset="0"/>
              </a:rPr>
              <a:t>SSL</a:t>
            </a:r>
            <a:r>
              <a:rPr lang="es-PE" sz="1400" dirty="0">
                <a:solidFill>
                  <a:schemeClr val="bg1"/>
                </a:solidFill>
                <a:latin typeface="Book Antiqua" panose="02040602050305030304" pitchFamily="18" charset="0"/>
              </a:rPr>
              <a:t>: Ideal para aplicaciones en la nube (SaaS) y trabajadores remotos que solo necesitan herramientas específicas a través de la web.</a:t>
            </a:r>
          </a:p>
        </p:txBody>
      </p:sp>
      <p:sp>
        <p:nvSpPr>
          <p:cNvPr id="17" name="Estrella: 4 puntas 16">
            <a:extLst>
              <a:ext uri="{FF2B5EF4-FFF2-40B4-BE49-F238E27FC236}">
                <a16:creationId xmlns:a16="http://schemas.microsoft.com/office/drawing/2014/main" id="{8FFC8325-6B3B-103C-467C-E48EB9A8949C}"/>
              </a:ext>
            </a:extLst>
          </p:cNvPr>
          <p:cNvSpPr/>
          <p:nvPr/>
        </p:nvSpPr>
        <p:spPr>
          <a:xfrm>
            <a:off x="4935857" y="5997674"/>
            <a:ext cx="518160" cy="369332"/>
          </a:xfrm>
          <a:prstGeom prst="star4">
            <a:avLst>
              <a:gd name="adj" fmla="val 12379"/>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20" name="Gráfico 19" descr="Internet con relleno sólido">
            <a:extLst>
              <a:ext uri="{FF2B5EF4-FFF2-40B4-BE49-F238E27FC236}">
                <a16:creationId xmlns:a16="http://schemas.microsoft.com/office/drawing/2014/main" id="{783B9EAC-4BB4-9A14-1EE1-7AA0CE2FEC94}"/>
              </a:ext>
            </a:extLst>
          </p:cNvPr>
          <p:cNvPicPr>
            <a:picLocks noChangeAspect="1"/>
          </p:cNvPicPr>
          <p:nvPr/>
        </p:nvPicPr>
        <p:blipFill>
          <a:blip r:embed="rId9">
            <a:extLst>
              <a:ext uri="{96DAC541-7B7A-43D3-8B79-37D633B846F1}">
                <asvg:svgBlip xmlns:asvg="http://schemas.microsoft.com/office/drawing/2016/SVG/main"/>
              </a:ext>
            </a:extLst>
          </a:blip>
          <a:stretch>
            <a:fillRect/>
          </a:stretch>
        </p:blipFill>
        <p:spPr>
          <a:xfrm>
            <a:off x="4866351" y="3310288"/>
            <a:ext cx="914400" cy="914400"/>
          </a:xfrm>
          <a:prstGeom prst="rect">
            <a:avLst/>
          </a:prstGeom>
        </p:spPr>
      </p:pic>
      <p:sp>
        <p:nvSpPr>
          <p:cNvPr id="22" name="Estrella: 4 puntas 21">
            <a:extLst>
              <a:ext uri="{FF2B5EF4-FFF2-40B4-BE49-F238E27FC236}">
                <a16:creationId xmlns:a16="http://schemas.microsoft.com/office/drawing/2014/main" id="{915151AA-E8D5-1C90-4827-8151E3D41B44}"/>
              </a:ext>
            </a:extLst>
          </p:cNvPr>
          <p:cNvSpPr/>
          <p:nvPr/>
        </p:nvSpPr>
        <p:spPr>
          <a:xfrm>
            <a:off x="5065452" y="736239"/>
            <a:ext cx="518160" cy="369332"/>
          </a:xfrm>
          <a:prstGeom prst="star4">
            <a:avLst>
              <a:gd name="adj" fmla="val 8253"/>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3" name="Imagen 2" descr="SSL/TLS simplified. SSL stands for Secure Sockets Layer. It… | by  Jayampathi Adhikari | Medium">
            <a:extLst>
              <a:ext uri="{FF2B5EF4-FFF2-40B4-BE49-F238E27FC236}">
                <a16:creationId xmlns:a16="http://schemas.microsoft.com/office/drawing/2014/main" id="{3263D825-5B1D-BB50-68A4-1C48AE262242}"/>
              </a:ext>
            </a:extLst>
          </p:cNvPr>
          <p:cNvPicPr>
            <a:picLocks noChangeAspect="1"/>
          </p:cNvPicPr>
          <p:nvPr/>
        </p:nvPicPr>
        <p:blipFill>
          <a:blip/>
          <a:stretch>
            <a:fillRect/>
          </a:stretch>
        </p:blipFill>
        <p:spPr>
          <a:xfrm>
            <a:off x="770658" y="3869652"/>
            <a:ext cx="3576851" cy="2667000"/>
          </a:xfrm>
          <a:prstGeom prst="rect">
            <a:avLst/>
          </a:prstGeom>
        </p:spPr>
      </p:pic>
    </p:spTree>
    <p:extLst>
      <p:ext uri="{BB962C8B-B14F-4D97-AF65-F5344CB8AC3E}">
        <p14:creationId xmlns:p14="http://schemas.microsoft.com/office/powerpoint/2010/main" val="42597796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D5E49-C73F-D116-F40D-1D582804EFA5}"/>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4141C798-0853-20A9-EEC7-26E5E71453A4}"/>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E022864E-DF96-E1F4-3448-6B570FF2EA9F}"/>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15297" y="-6031945"/>
            <a:ext cx="12192000" cy="12872433"/>
          </a:xfrm>
          <a:prstGeom prst="rect">
            <a:avLst/>
          </a:prstGeom>
        </p:spPr>
      </p:pic>
      <p:sp>
        <p:nvSpPr>
          <p:cNvPr id="10" name="CuadroTexto 9">
            <a:extLst>
              <a:ext uri="{FF2B5EF4-FFF2-40B4-BE49-F238E27FC236}">
                <a16:creationId xmlns:a16="http://schemas.microsoft.com/office/drawing/2014/main" id="{C6ED0539-503B-9E6A-D14F-C9273C1B351B}"/>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E07FE72E-9616-9BB4-FA19-BE2E3B3C6628}"/>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764A9DB8-D28F-C769-FDEE-FFF30FF651F2}"/>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sp>
        <p:nvSpPr>
          <p:cNvPr id="15" name="CuadroTexto 14">
            <a:extLst>
              <a:ext uri="{FF2B5EF4-FFF2-40B4-BE49-F238E27FC236}">
                <a16:creationId xmlns:a16="http://schemas.microsoft.com/office/drawing/2014/main" id="{0D9823B1-9691-51F0-A727-6FB0ED6E27C8}"/>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pic>
        <p:nvPicPr>
          <p:cNvPr id="19" name="Gráfico 18" descr="Nube con relleno sólido">
            <a:extLst>
              <a:ext uri="{FF2B5EF4-FFF2-40B4-BE49-F238E27FC236}">
                <a16:creationId xmlns:a16="http://schemas.microsoft.com/office/drawing/2014/main" id="{05DE8408-7D1C-505A-F231-98CC25E1A82F}"/>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0" y="-126752"/>
            <a:ext cx="914400" cy="914400"/>
          </a:xfrm>
          <a:prstGeom prst="rect">
            <a:avLst/>
          </a:prstGeom>
        </p:spPr>
      </p:pic>
      <p:sp>
        <p:nvSpPr>
          <p:cNvPr id="25" name="Estrella: 4 puntas 24">
            <a:extLst>
              <a:ext uri="{FF2B5EF4-FFF2-40B4-BE49-F238E27FC236}">
                <a16:creationId xmlns:a16="http://schemas.microsoft.com/office/drawing/2014/main" id="{DBE5217D-98EF-631E-7F14-CF11BE572328}"/>
              </a:ext>
            </a:extLst>
          </p:cNvPr>
          <p:cNvSpPr/>
          <p:nvPr/>
        </p:nvSpPr>
        <p:spPr>
          <a:xfrm>
            <a:off x="11658600" y="6206074"/>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6" name="Estrella: 4 puntas 25">
            <a:extLst>
              <a:ext uri="{FF2B5EF4-FFF2-40B4-BE49-F238E27FC236}">
                <a16:creationId xmlns:a16="http://schemas.microsoft.com/office/drawing/2014/main" id="{CEAA4CD5-087C-FD20-A432-8C1A74E43455}"/>
              </a:ext>
            </a:extLst>
          </p:cNvPr>
          <p:cNvSpPr/>
          <p:nvPr/>
        </p:nvSpPr>
        <p:spPr>
          <a:xfrm>
            <a:off x="526761" y="6367006"/>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7" name="Estrella: 4 puntas 26">
            <a:extLst>
              <a:ext uri="{FF2B5EF4-FFF2-40B4-BE49-F238E27FC236}">
                <a16:creationId xmlns:a16="http://schemas.microsoft.com/office/drawing/2014/main" id="{13DF39AB-6045-7BA0-D31A-B62F69C52C96}"/>
              </a:ext>
            </a:extLst>
          </p:cNvPr>
          <p:cNvSpPr/>
          <p:nvPr/>
        </p:nvSpPr>
        <p:spPr>
          <a:xfrm>
            <a:off x="11275638" y="408936"/>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CuadroTexto 6">
            <a:extLst>
              <a:ext uri="{FF2B5EF4-FFF2-40B4-BE49-F238E27FC236}">
                <a16:creationId xmlns:a16="http://schemas.microsoft.com/office/drawing/2014/main" id="{606DB134-7048-DBEA-B9BA-41040E9923B3}"/>
              </a:ext>
            </a:extLst>
          </p:cNvPr>
          <p:cNvSpPr txBox="1"/>
          <p:nvPr/>
        </p:nvSpPr>
        <p:spPr>
          <a:xfrm>
            <a:off x="304800" y="986119"/>
            <a:ext cx="11701811" cy="800219"/>
          </a:xfrm>
          <a:prstGeom prst="rect">
            <a:avLst/>
          </a:prstGeom>
          <a:noFill/>
        </p:spPr>
        <p:txBody>
          <a:bodyPr wrap="square" rtlCol="0">
            <a:spAutoFit/>
          </a:bodyPr>
          <a:lstStyle/>
          <a:p>
            <a:r>
              <a:rPr lang="es-PE" sz="1400" dirty="0">
                <a:solidFill>
                  <a:schemeClr val="bg1"/>
                </a:solidFill>
                <a:latin typeface="Book Antiqua" panose="02040602050305030304" pitchFamily="18" charset="0"/>
              </a:rPr>
              <a:t>La criptografía es el pilar que garantiza que la información viaje de forma segura por internet. Hoy en día, la mayoría de nuestras interacciones web dependen de dos conceptos fundamentales que trabajan juntos para proteger nuestros datos.</a:t>
            </a:r>
          </a:p>
          <a:p>
            <a:endParaRPr lang="es-PE" dirty="0"/>
          </a:p>
        </p:txBody>
      </p:sp>
      <p:sp>
        <p:nvSpPr>
          <p:cNvPr id="5" name="CuadroTexto 4">
            <a:extLst>
              <a:ext uri="{FF2B5EF4-FFF2-40B4-BE49-F238E27FC236}">
                <a16:creationId xmlns:a16="http://schemas.microsoft.com/office/drawing/2014/main" id="{A03D264D-7F1D-AF62-2C19-55A35BCCEBD4}"/>
              </a:ext>
            </a:extLst>
          </p:cNvPr>
          <p:cNvSpPr txBox="1"/>
          <p:nvPr/>
        </p:nvSpPr>
        <p:spPr>
          <a:xfrm>
            <a:off x="867382" y="-262451"/>
            <a:ext cx="11308194" cy="1754326"/>
          </a:xfrm>
          <a:prstGeom prst="rect">
            <a:avLst/>
          </a:prstGeom>
          <a:noFill/>
        </p:spPr>
        <p:txBody>
          <a:bodyPr wrap="square" rtlCol="0">
            <a:spAutoFit/>
          </a:bodyPr>
          <a:lstStyle/>
          <a:p>
            <a:r>
              <a:rPr lang="es-PE" sz="3600" b="1" dirty="0">
                <a:solidFill>
                  <a:schemeClr val="bg1"/>
                </a:solidFill>
                <a:latin typeface="Aharoni" panose="02010803020104030203" pitchFamily="2" charset="-79"/>
                <a:cs typeface="Aharoni" panose="02010803020104030203" pitchFamily="2" charset="-79"/>
              </a:rPr>
              <a:t>CRIPTOGRAFÍA Y CIFRADO EN REDES MODERNAS (TLS/HTTPS)</a:t>
            </a:r>
            <a:endParaRPr lang="es-PE" sz="3600" dirty="0">
              <a:solidFill>
                <a:schemeClr val="bg1"/>
              </a:solidFill>
              <a:latin typeface="Aharoni" panose="02010803020104030203" pitchFamily="2" charset="-79"/>
              <a:cs typeface="Aharoni" panose="02010803020104030203" pitchFamily="2" charset="-79"/>
            </a:endParaRPr>
          </a:p>
          <a:p>
            <a:endParaRPr lang="es-PE" sz="3600" dirty="0">
              <a:solidFill>
                <a:schemeClr val="bg1"/>
              </a:solidFill>
              <a:latin typeface="Aharoni" panose="02010803020104030203" pitchFamily="2" charset="-79"/>
              <a:cs typeface="Aharoni" panose="02010803020104030203" pitchFamily="2" charset="-79"/>
            </a:endParaRPr>
          </a:p>
        </p:txBody>
      </p:sp>
      <p:sp>
        <p:nvSpPr>
          <p:cNvPr id="17" name="Estrella: 4 puntas 16">
            <a:extLst>
              <a:ext uri="{FF2B5EF4-FFF2-40B4-BE49-F238E27FC236}">
                <a16:creationId xmlns:a16="http://schemas.microsoft.com/office/drawing/2014/main" id="{496FAA7E-7B32-1E54-0403-3C27304591D7}"/>
              </a:ext>
            </a:extLst>
          </p:cNvPr>
          <p:cNvSpPr/>
          <p:nvPr/>
        </p:nvSpPr>
        <p:spPr>
          <a:xfrm>
            <a:off x="6089304" y="6031548"/>
            <a:ext cx="518160" cy="369332"/>
          </a:xfrm>
          <a:prstGeom prst="star4">
            <a:avLst>
              <a:gd name="adj" fmla="val 12380"/>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20" name="Gráfico 19" descr="Internet con relleno sólido">
            <a:extLst>
              <a:ext uri="{FF2B5EF4-FFF2-40B4-BE49-F238E27FC236}">
                <a16:creationId xmlns:a16="http://schemas.microsoft.com/office/drawing/2014/main" id="{7219697B-A9E5-F3A3-8001-E8E75FC830B0}"/>
              </a:ext>
            </a:extLst>
          </p:cNvPr>
          <p:cNvPicPr>
            <a:picLocks noChangeAspect="1"/>
          </p:cNvPicPr>
          <p:nvPr/>
        </p:nvPicPr>
        <p:blipFill>
          <a:blip r:embed="rId5">
            <a:extLst>
              <a:ext uri="{96DAC541-7B7A-43D3-8B79-37D633B846F1}">
                <asvg:svgBlip xmlns:asvg="http://schemas.microsoft.com/office/drawing/2016/SVG/main"/>
              </a:ext>
            </a:extLst>
          </a:blip>
          <a:stretch>
            <a:fillRect/>
          </a:stretch>
        </p:blipFill>
        <p:spPr>
          <a:xfrm>
            <a:off x="5891184" y="3280204"/>
            <a:ext cx="914400" cy="914400"/>
          </a:xfrm>
          <a:prstGeom prst="rect">
            <a:avLst/>
          </a:prstGeom>
        </p:spPr>
      </p:pic>
      <p:sp>
        <p:nvSpPr>
          <p:cNvPr id="22" name="Estrella: 4 puntas 21">
            <a:extLst>
              <a:ext uri="{FF2B5EF4-FFF2-40B4-BE49-F238E27FC236}">
                <a16:creationId xmlns:a16="http://schemas.microsoft.com/office/drawing/2014/main" id="{DF9368A8-2374-AC1F-AD66-832EA31A8725}"/>
              </a:ext>
            </a:extLst>
          </p:cNvPr>
          <p:cNvSpPr/>
          <p:nvPr/>
        </p:nvSpPr>
        <p:spPr>
          <a:xfrm>
            <a:off x="5065452" y="736239"/>
            <a:ext cx="518160" cy="369332"/>
          </a:xfrm>
          <a:prstGeom prst="star4">
            <a:avLst>
              <a:gd name="adj" fmla="val 8253"/>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CuadroTexto 1">
            <a:extLst>
              <a:ext uri="{FF2B5EF4-FFF2-40B4-BE49-F238E27FC236}">
                <a16:creationId xmlns:a16="http://schemas.microsoft.com/office/drawing/2014/main" id="{392FF955-C972-B862-AEC2-E8579A2C6BD2}"/>
              </a:ext>
            </a:extLst>
          </p:cNvPr>
          <p:cNvSpPr txBox="1"/>
          <p:nvPr/>
        </p:nvSpPr>
        <p:spPr>
          <a:xfrm>
            <a:off x="304800" y="1935480"/>
            <a:ext cx="5532120" cy="4678204"/>
          </a:xfrm>
          <a:prstGeom prst="rect">
            <a:avLst/>
          </a:prstGeom>
          <a:noFill/>
        </p:spPr>
        <p:txBody>
          <a:bodyPr wrap="square" rtlCol="0">
            <a:spAutoFit/>
          </a:bodyPr>
          <a:lstStyle/>
          <a:p>
            <a:pPr marL="285750" lvl="0" indent="-285750">
              <a:buFont typeface="Wingdings" panose="05000000000000000000" pitchFamily="2" charset="2"/>
              <a:buChar char="ü"/>
            </a:pPr>
            <a:r>
              <a:rPr lang="es-PE" sz="1400" b="1" dirty="0">
                <a:solidFill>
                  <a:schemeClr val="bg1"/>
                </a:solidFill>
                <a:latin typeface="Book Antiqua" panose="02040602050305030304" pitchFamily="18" charset="0"/>
              </a:rPr>
              <a:t>Cifrado Simétrico y Asimétrico:</a:t>
            </a:r>
            <a:r>
              <a:rPr lang="es-PE" sz="1400" dirty="0">
                <a:solidFill>
                  <a:schemeClr val="bg1"/>
                </a:solidFill>
                <a:latin typeface="Book Antiqua" panose="02040602050305030304" pitchFamily="18" charset="0"/>
              </a:rPr>
              <a:t> * El </a:t>
            </a:r>
            <a:r>
              <a:rPr lang="es-PE" sz="1400" b="1" dirty="0">
                <a:solidFill>
                  <a:schemeClr val="bg1"/>
                </a:solidFill>
                <a:latin typeface="Book Antiqua" panose="02040602050305030304" pitchFamily="18" charset="0"/>
              </a:rPr>
              <a:t>asimétrico</a:t>
            </a:r>
            <a:r>
              <a:rPr lang="es-PE" sz="1400" dirty="0">
                <a:solidFill>
                  <a:schemeClr val="bg1"/>
                </a:solidFill>
                <a:latin typeface="Book Antiqua" panose="02040602050305030304" pitchFamily="18" charset="0"/>
              </a:rPr>
              <a:t> (usando una clave pública y una privada) se usa al inicio para que el cliente y el servidor se reconozcan y "se pongan de acuerdo" de forma segura.</a:t>
            </a:r>
          </a:p>
          <a:p>
            <a:pPr lvl="1"/>
            <a:r>
              <a:rPr lang="es-PE" sz="1400" dirty="0">
                <a:solidFill>
                  <a:schemeClr val="bg1"/>
                </a:solidFill>
                <a:latin typeface="Book Antiqua" panose="02040602050305030304" pitchFamily="18" charset="0"/>
              </a:rPr>
              <a:t>El </a:t>
            </a:r>
            <a:r>
              <a:rPr lang="es-PE" sz="1400" b="1" dirty="0">
                <a:solidFill>
                  <a:schemeClr val="bg1"/>
                </a:solidFill>
                <a:latin typeface="Book Antiqua" panose="02040602050305030304" pitchFamily="18" charset="0"/>
              </a:rPr>
              <a:t>simétrico</a:t>
            </a:r>
            <a:r>
              <a:rPr lang="es-PE" sz="1400" dirty="0">
                <a:solidFill>
                  <a:schemeClr val="bg1"/>
                </a:solidFill>
                <a:latin typeface="Book Antiqua" panose="02040602050305030304" pitchFamily="18" charset="0"/>
              </a:rPr>
              <a:t> se usa una vez establecida la conexión para cifrar los datos reales, ya que es mucho más rápido y eficiente para grandes volúmenes de información.</a:t>
            </a:r>
          </a:p>
          <a:p>
            <a:pPr marL="285750" lvl="0" indent="-285750">
              <a:buFont typeface="Wingdings" panose="05000000000000000000" pitchFamily="2" charset="2"/>
              <a:buChar char="ü"/>
            </a:pPr>
            <a:r>
              <a:rPr lang="es-PE" sz="1400" b="1" dirty="0">
                <a:solidFill>
                  <a:schemeClr val="bg1"/>
                </a:solidFill>
                <a:latin typeface="Book Antiqua" panose="02040602050305030304" pitchFamily="18" charset="0"/>
              </a:rPr>
              <a:t>¿Qué es TLS (</a:t>
            </a:r>
            <a:r>
              <a:rPr lang="es-PE" sz="1400" b="1" dirty="0" err="1">
                <a:solidFill>
                  <a:schemeClr val="bg1"/>
                </a:solidFill>
                <a:latin typeface="Book Antiqua" panose="02040602050305030304" pitchFamily="18" charset="0"/>
              </a:rPr>
              <a:t>Transport</a:t>
            </a:r>
            <a:r>
              <a:rPr lang="es-PE" sz="1400" b="1" dirty="0">
                <a:solidFill>
                  <a:schemeClr val="bg1"/>
                </a:solidFill>
                <a:latin typeface="Book Antiqua" panose="02040602050305030304" pitchFamily="18" charset="0"/>
              </a:rPr>
              <a:t> </a:t>
            </a:r>
            <a:r>
              <a:rPr lang="es-PE" sz="1400" b="1" dirty="0" err="1">
                <a:solidFill>
                  <a:schemeClr val="bg1"/>
                </a:solidFill>
                <a:latin typeface="Book Antiqua" panose="02040602050305030304" pitchFamily="18" charset="0"/>
              </a:rPr>
              <a:t>Layer</a:t>
            </a:r>
            <a:r>
              <a:rPr lang="es-PE" sz="1400" b="1" dirty="0">
                <a:solidFill>
                  <a:schemeClr val="bg1"/>
                </a:solidFill>
                <a:latin typeface="Book Antiqua" panose="02040602050305030304" pitchFamily="18" charset="0"/>
              </a:rPr>
              <a:t> Security)?</a:t>
            </a:r>
            <a:r>
              <a:rPr lang="es-PE" sz="1400" dirty="0">
                <a:solidFill>
                  <a:schemeClr val="bg1"/>
                </a:solidFill>
                <a:latin typeface="Book Antiqua" panose="02040602050305030304" pitchFamily="18" charset="0"/>
              </a:rPr>
              <a:t> Es el protocolo sucesor de SSL. Su función es establecer un canal seguro entre dos computadoras. Cuando navegas, el TLS garantiza tres cosas:</a:t>
            </a:r>
          </a:p>
          <a:p>
            <a:pPr lvl="1"/>
            <a:r>
              <a:rPr lang="es-PE" sz="1400" b="1" dirty="0">
                <a:solidFill>
                  <a:schemeClr val="bg1"/>
                </a:solidFill>
                <a:latin typeface="Book Antiqua" panose="02040602050305030304" pitchFamily="18" charset="0"/>
              </a:rPr>
              <a:t>Cifrado:</a:t>
            </a:r>
            <a:r>
              <a:rPr lang="es-PE" sz="1400" dirty="0">
                <a:solidFill>
                  <a:schemeClr val="bg1"/>
                </a:solidFill>
                <a:latin typeface="Book Antiqua" panose="02040602050305030304" pitchFamily="18" charset="0"/>
              </a:rPr>
              <a:t> Nadie puede leer lo que envías.</a:t>
            </a:r>
          </a:p>
          <a:p>
            <a:pPr lvl="1"/>
            <a:r>
              <a:rPr lang="es-PE" sz="1400" b="1" dirty="0">
                <a:solidFill>
                  <a:schemeClr val="bg1"/>
                </a:solidFill>
                <a:latin typeface="Book Antiqua" panose="02040602050305030304" pitchFamily="18" charset="0"/>
              </a:rPr>
              <a:t>Autenticación:</a:t>
            </a:r>
            <a:r>
              <a:rPr lang="es-PE" sz="1400" dirty="0">
                <a:solidFill>
                  <a:schemeClr val="bg1"/>
                </a:solidFill>
                <a:latin typeface="Book Antiqua" panose="02040602050305030304" pitchFamily="18" charset="0"/>
              </a:rPr>
              <a:t> Estás hablando con quien crees que estás hablando (el servidor es real).</a:t>
            </a:r>
          </a:p>
          <a:p>
            <a:pPr lvl="1"/>
            <a:r>
              <a:rPr lang="es-PE" sz="1400" b="1" dirty="0">
                <a:solidFill>
                  <a:schemeClr val="bg1"/>
                </a:solidFill>
                <a:latin typeface="Book Antiqua" panose="02040602050305030304" pitchFamily="18" charset="0"/>
              </a:rPr>
              <a:t>Integridad:</a:t>
            </a:r>
            <a:r>
              <a:rPr lang="es-PE" sz="1400" dirty="0">
                <a:solidFill>
                  <a:schemeClr val="bg1"/>
                </a:solidFill>
                <a:latin typeface="Book Antiqua" panose="02040602050305030304" pitchFamily="18" charset="0"/>
              </a:rPr>
              <a:t> Los datos no han sido modificados en el camino.</a:t>
            </a:r>
          </a:p>
          <a:p>
            <a:pPr marL="285750" lvl="0" indent="-285750">
              <a:buFont typeface="Wingdings" panose="05000000000000000000" pitchFamily="2" charset="2"/>
              <a:buChar char="ü"/>
            </a:pPr>
            <a:r>
              <a:rPr lang="es-PE" sz="1400" b="1" dirty="0">
                <a:solidFill>
                  <a:schemeClr val="bg1"/>
                </a:solidFill>
                <a:latin typeface="Book Antiqua" panose="02040602050305030304" pitchFamily="18" charset="0"/>
              </a:rPr>
              <a:t>HTTPS (</a:t>
            </a:r>
            <a:r>
              <a:rPr lang="es-PE" sz="1400" b="1" dirty="0" err="1">
                <a:solidFill>
                  <a:schemeClr val="bg1"/>
                </a:solidFill>
                <a:latin typeface="Book Antiqua" panose="02040602050305030304" pitchFamily="18" charset="0"/>
              </a:rPr>
              <a:t>HyperText</a:t>
            </a:r>
            <a:r>
              <a:rPr lang="es-PE" sz="1400" b="1" dirty="0">
                <a:solidFill>
                  <a:schemeClr val="bg1"/>
                </a:solidFill>
                <a:latin typeface="Book Antiqua" panose="02040602050305030304" pitchFamily="18" charset="0"/>
              </a:rPr>
              <a:t> Transfer </a:t>
            </a:r>
            <a:r>
              <a:rPr lang="es-PE" sz="1400" b="1" dirty="0" err="1">
                <a:solidFill>
                  <a:schemeClr val="bg1"/>
                </a:solidFill>
                <a:latin typeface="Book Antiqua" panose="02040602050305030304" pitchFamily="18" charset="0"/>
              </a:rPr>
              <a:t>Protocol</a:t>
            </a:r>
            <a:r>
              <a:rPr lang="es-PE" sz="1400" b="1" dirty="0">
                <a:solidFill>
                  <a:schemeClr val="bg1"/>
                </a:solidFill>
                <a:latin typeface="Book Antiqua" panose="02040602050305030304" pitchFamily="18" charset="0"/>
              </a:rPr>
              <a:t> </a:t>
            </a:r>
            <a:r>
              <a:rPr lang="es-PE" sz="1400" b="1" dirty="0" err="1">
                <a:solidFill>
                  <a:schemeClr val="bg1"/>
                </a:solidFill>
                <a:latin typeface="Book Antiqua" panose="02040602050305030304" pitchFamily="18" charset="0"/>
              </a:rPr>
              <a:t>Secure</a:t>
            </a:r>
            <a:r>
              <a:rPr lang="es-PE" sz="1400" b="1" dirty="0">
                <a:solidFill>
                  <a:schemeClr val="bg1"/>
                </a:solidFill>
                <a:latin typeface="Book Antiqua" panose="02040602050305030304" pitchFamily="18" charset="0"/>
              </a:rPr>
              <a:t>):</a:t>
            </a:r>
            <a:r>
              <a:rPr lang="es-PE" sz="1400" dirty="0">
                <a:solidFill>
                  <a:schemeClr val="bg1"/>
                </a:solidFill>
                <a:latin typeface="Book Antiqua" panose="02040602050305030304" pitchFamily="18" charset="0"/>
              </a:rPr>
              <a:t> Es simplemente el protocolo HTTP de toda la vida, pero que corre "encima" de una conexión cifrada por TLS. Es lo que activa el famoso candado en la barra del navegador. Sin HTTPS, cualquier dato que escribas en una web (contraseñas, tarjetas) podría ser capturado por alguien que esté escuchando en la misma red.</a:t>
            </a:r>
          </a:p>
          <a:p>
            <a:endParaRPr lang="es-PE" dirty="0"/>
          </a:p>
        </p:txBody>
      </p:sp>
      <p:sp>
        <p:nvSpPr>
          <p:cNvPr id="4" name="CuadroTexto 3">
            <a:extLst>
              <a:ext uri="{FF2B5EF4-FFF2-40B4-BE49-F238E27FC236}">
                <a16:creationId xmlns:a16="http://schemas.microsoft.com/office/drawing/2014/main" id="{C9E877A2-765A-3743-BE6B-EBB914AEDDC0}"/>
              </a:ext>
            </a:extLst>
          </p:cNvPr>
          <p:cNvSpPr txBox="1"/>
          <p:nvPr/>
        </p:nvSpPr>
        <p:spPr>
          <a:xfrm>
            <a:off x="6805584" y="1935480"/>
            <a:ext cx="4733605" cy="3970318"/>
          </a:xfrm>
          <a:prstGeom prst="rect">
            <a:avLst/>
          </a:prstGeom>
          <a:noFill/>
        </p:spPr>
        <p:txBody>
          <a:bodyPr wrap="square" rtlCol="0">
            <a:spAutoFit/>
          </a:bodyPr>
          <a:lstStyle/>
          <a:p>
            <a:pPr marL="285750" indent="-285750">
              <a:buFont typeface="Wingdings" panose="05000000000000000000" pitchFamily="2" charset="2"/>
              <a:buChar char="ü"/>
            </a:pPr>
            <a:r>
              <a:rPr lang="es-PE" b="1" dirty="0">
                <a:solidFill>
                  <a:schemeClr val="bg1"/>
                </a:solidFill>
                <a:latin typeface="Book Antiqua" panose="02040602050305030304" pitchFamily="18" charset="0"/>
              </a:rPr>
              <a:t>Diferencias con la Arquitectura Cliente/Servidor</a:t>
            </a:r>
            <a:endParaRPr lang="es-PE" dirty="0">
              <a:solidFill>
                <a:schemeClr val="bg1"/>
              </a:solidFill>
              <a:latin typeface="Book Antiqua" panose="02040602050305030304" pitchFamily="18" charset="0"/>
            </a:endParaRPr>
          </a:p>
          <a:p>
            <a:r>
              <a:rPr lang="es-PE" dirty="0">
                <a:solidFill>
                  <a:schemeClr val="bg1"/>
                </a:solidFill>
                <a:latin typeface="Book Antiqua" panose="02040602050305030304" pitchFamily="18" charset="0"/>
              </a:rPr>
              <a:t>En una arquitectura </a:t>
            </a:r>
            <a:r>
              <a:rPr lang="es-PE" b="1" dirty="0">
                <a:solidFill>
                  <a:schemeClr val="bg1"/>
                </a:solidFill>
                <a:latin typeface="Book Antiqua" panose="02040602050305030304" pitchFamily="18" charset="0"/>
              </a:rPr>
              <a:t>Cliente/Servidor</a:t>
            </a:r>
            <a:r>
              <a:rPr lang="es-PE" dirty="0">
                <a:solidFill>
                  <a:schemeClr val="bg1"/>
                </a:solidFill>
                <a:latin typeface="Book Antiqua" panose="02040602050305030304" pitchFamily="18" charset="0"/>
              </a:rPr>
              <a:t> tradicional, el cifrado suele estar centralizado en el servidor (él gestiona el certificado). En la </a:t>
            </a:r>
            <a:r>
              <a:rPr lang="es-PE" b="1" dirty="0">
                <a:solidFill>
                  <a:schemeClr val="bg1"/>
                </a:solidFill>
                <a:latin typeface="Book Antiqua" panose="02040602050305030304" pitchFamily="18" charset="0"/>
              </a:rPr>
              <a:t>Computación Distribuida</a:t>
            </a:r>
            <a:r>
              <a:rPr lang="es-PE" dirty="0">
                <a:solidFill>
                  <a:schemeClr val="bg1"/>
                </a:solidFill>
                <a:latin typeface="Book Antiqua" panose="02040602050305030304" pitchFamily="18" charset="0"/>
              </a:rPr>
              <a:t>, el cifrado es más complejo porque cada nodo debe ser capaz de autenticarse y cifrar comunicaciones con múltiples puntos a la vez, lo que requiere una gestión de claves mucho más robusta para mantener la integridad de todo el sistema.</a:t>
            </a:r>
          </a:p>
          <a:p>
            <a:endParaRPr lang="es-PE" dirty="0"/>
          </a:p>
        </p:txBody>
      </p:sp>
    </p:spTree>
    <p:extLst>
      <p:ext uri="{BB962C8B-B14F-4D97-AF65-F5344CB8AC3E}">
        <p14:creationId xmlns:p14="http://schemas.microsoft.com/office/powerpoint/2010/main" val="34135086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A4988-9EC4-F3B1-9AF2-3B6B8C32CE3A}"/>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1A09ED5C-A390-CF91-9A21-0DDA6227A7C1}"/>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DD34F218-D6B8-7469-F150-B33E7751C8FB}"/>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15297" y="-6031945"/>
            <a:ext cx="12192000" cy="12872433"/>
          </a:xfrm>
          <a:prstGeom prst="rect">
            <a:avLst/>
          </a:prstGeom>
        </p:spPr>
      </p:pic>
      <p:sp>
        <p:nvSpPr>
          <p:cNvPr id="10" name="CuadroTexto 9">
            <a:extLst>
              <a:ext uri="{FF2B5EF4-FFF2-40B4-BE49-F238E27FC236}">
                <a16:creationId xmlns:a16="http://schemas.microsoft.com/office/drawing/2014/main" id="{CF115B18-B53B-17B0-46E9-AD41377285F1}"/>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E9633999-B224-3034-ABCB-5856CE83462A}"/>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74C4F403-334A-86A2-8729-1944E030A053}"/>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sp>
        <p:nvSpPr>
          <p:cNvPr id="15" name="CuadroTexto 14">
            <a:extLst>
              <a:ext uri="{FF2B5EF4-FFF2-40B4-BE49-F238E27FC236}">
                <a16:creationId xmlns:a16="http://schemas.microsoft.com/office/drawing/2014/main" id="{CB24D819-48A1-2CDC-9F84-124D863FA2A0}"/>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pic>
        <p:nvPicPr>
          <p:cNvPr id="19" name="Gráfico 18" descr="Nube con relleno sólido">
            <a:extLst>
              <a:ext uri="{FF2B5EF4-FFF2-40B4-BE49-F238E27FC236}">
                <a16:creationId xmlns:a16="http://schemas.microsoft.com/office/drawing/2014/main" id="{F64C55FA-3F7E-3737-568A-1A5B3FFF97A5}"/>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0" y="-126752"/>
            <a:ext cx="914400" cy="914400"/>
          </a:xfrm>
          <a:prstGeom prst="rect">
            <a:avLst/>
          </a:prstGeom>
        </p:spPr>
      </p:pic>
      <p:sp>
        <p:nvSpPr>
          <p:cNvPr id="25" name="Estrella: 4 puntas 24">
            <a:extLst>
              <a:ext uri="{FF2B5EF4-FFF2-40B4-BE49-F238E27FC236}">
                <a16:creationId xmlns:a16="http://schemas.microsoft.com/office/drawing/2014/main" id="{9ACB188A-ABE9-865B-1D72-46962F60B36D}"/>
              </a:ext>
            </a:extLst>
          </p:cNvPr>
          <p:cNvSpPr/>
          <p:nvPr/>
        </p:nvSpPr>
        <p:spPr>
          <a:xfrm>
            <a:off x="11658600" y="6206074"/>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6" name="Estrella: 4 puntas 25">
            <a:extLst>
              <a:ext uri="{FF2B5EF4-FFF2-40B4-BE49-F238E27FC236}">
                <a16:creationId xmlns:a16="http://schemas.microsoft.com/office/drawing/2014/main" id="{5B768296-15C8-AFFE-088B-9C423472DC1E}"/>
              </a:ext>
            </a:extLst>
          </p:cNvPr>
          <p:cNvSpPr/>
          <p:nvPr/>
        </p:nvSpPr>
        <p:spPr>
          <a:xfrm>
            <a:off x="526761" y="6367006"/>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7" name="Estrella: 4 puntas 26">
            <a:extLst>
              <a:ext uri="{FF2B5EF4-FFF2-40B4-BE49-F238E27FC236}">
                <a16:creationId xmlns:a16="http://schemas.microsoft.com/office/drawing/2014/main" id="{E24E92D3-9FAF-8DD7-7F6E-D7E875138D8D}"/>
              </a:ext>
            </a:extLst>
          </p:cNvPr>
          <p:cNvSpPr/>
          <p:nvPr/>
        </p:nvSpPr>
        <p:spPr>
          <a:xfrm>
            <a:off x="11275638" y="408936"/>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CuadroTexto 6">
            <a:extLst>
              <a:ext uri="{FF2B5EF4-FFF2-40B4-BE49-F238E27FC236}">
                <a16:creationId xmlns:a16="http://schemas.microsoft.com/office/drawing/2014/main" id="{42D1C518-E8CE-B8A5-08F7-7472F2094A6A}"/>
              </a:ext>
            </a:extLst>
          </p:cNvPr>
          <p:cNvSpPr txBox="1"/>
          <p:nvPr/>
        </p:nvSpPr>
        <p:spPr>
          <a:xfrm>
            <a:off x="304800" y="986119"/>
            <a:ext cx="11701811" cy="523220"/>
          </a:xfrm>
          <a:prstGeom prst="rect">
            <a:avLst/>
          </a:prstGeom>
          <a:noFill/>
        </p:spPr>
        <p:txBody>
          <a:bodyPr wrap="square" rtlCol="0">
            <a:spAutoFit/>
          </a:bodyPr>
          <a:lstStyle/>
          <a:p>
            <a:r>
              <a:rPr lang="es-MX" sz="1400" b="1" dirty="0">
                <a:solidFill>
                  <a:schemeClr val="bg1"/>
                </a:solidFill>
                <a:latin typeface="Book Antiqua" panose="02040602050305030304" pitchFamily="18" charset="0"/>
              </a:rPr>
              <a:t>1.- ¿Qué son?:</a:t>
            </a:r>
            <a:endParaRPr lang="es-PE" sz="1400" dirty="0">
              <a:solidFill>
                <a:schemeClr val="bg1"/>
              </a:solidFill>
              <a:latin typeface="Book Antiqua" panose="02040602050305030304" pitchFamily="18" charset="0"/>
            </a:endParaRPr>
          </a:p>
          <a:p>
            <a:r>
              <a:rPr lang="es-PE" sz="1400" dirty="0">
                <a:solidFill>
                  <a:schemeClr val="bg1"/>
                </a:solidFill>
                <a:latin typeface="Book Antiqua" panose="02040602050305030304" pitchFamily="18" charset="0"/>
              </a:rPr>
              <a:t>Aunque las dos herramientas se usan para monitorizar y detectar intrusiones en los equipos o en la red de la empresa son diferentes entre sí.</a:t>
            </a:r>
          </a:p>
        </p:txBody>
      </p:sp>
      <p:sp>
        <p:nvSpPr>
          <p:cNvPr id="5" name="CuadroTexto 4">
            <a:extLst>
              <a:ext uri="{FF2B5EF4-FFF2-40B4-BE49-F238E27FC236}">
                <a16:creationId xmlns:a16="http://schemas.microsoft.com/office/drawing/2014/main" id="{C1109D4B-DCEC-C91D-02E7-76F93995553E}"/>
              </a:ext>
            </a:extLst>
          </p:cNvPr>
          <p:cNvSpPr txBox="1"/>
          <p:nvPr/>
        </p:nvSpPr>
        <p:spPr>
          <a:xfrm>
            <a:off x="883806" y="157876"/>
            <a:ext cx="11308194" cy="1077218"/>
          </a:xfrm>
          <a:prstGeom prst="rect">
            <a:avLst/>
          </a:prstGeom>
          <a:noFill/>
        </p:spPr>
        <p:txBody>
          <a:bodyPr wrap="square" rtlCol="0">
            <a:spAutoFit/>
          </a:bodyPr>
          <a:lstStyle/>
          <a:p>
            <a:r>
              <a:rPr lang="es-MX" sz="2800" b="1" dirty="0">
                <a:solidFill>
                  <a:schemeClr val="bg1"/>
                </a:solidFill>
                <a:latin typeface="Aharoni" panose="02010803020104030203" pitchFamily="2" charset="-79"/>
                <a:cs typeface="Aharoni" panose="02010803020104030203" pitchFamily="2" charset="-79"/>
              </a:rPr>
              <a:t>SISTEMAS IDS/IPS (DETECCIÓN Y PREVENCIÓN DE INTRUSOS)</a:t>
            </a:r>
            <a:endParaRPr lang="es-PE" sz="2800" dirty="0">
              <a:solidFill>
                <a:schemeClr val="bg1"/>
              </a:solidFill>
              <a:latin typeface="Aharoni" panose="02010803020104030203" pitchFamily="2" charset="-79"/>
              <a:cs typeface="Aharoni" panose="02010803020104030203" pitchFamily="2" charset="-79"/>
            </a:endParaRPr>
          </a:p>
          <a:p>
            <a:endParaRPr lang="es-PE" sz="3600" dirty="0">
              <a:solidFill>
                <a:schemeClr val="bg1"/>
              </a:solidFill>
              <a:latin typeface="Aharoni" panose="02010803020104030203" pitchFamily="2" charset="-79"/>
              <a:cs typeface="Aharoni" panose="02010803020104030203" pitchFamily="2" charset="-79"/>
            </a:endParaRPr>
          </a:p>
        </p:txBody>
      </p:sp>
      <p:sp>
        <p:nvSpPr>
          <p:cNvPr id="17" name="Estrella: 4 puntas 16">
            <a:extLst>
              <a:ext uri="{FF2B5EF4-FFF2-40B4-BE49-F238E27FC236}">
                <a16:creationId xmlns:a16="http://schemas.microsoft.com/office/drawing/2014/main" id="{B8B27091-D198-AC24-34E7-C889BC3AC030}"/>
              </a:ext>
            </a:extLst>
          </p:cNvPr>
          <p:cNvSpPr/>
          <p:nvPr/>
        </p:nvSpPr>
        <p:spPr>
          <a:xfrm>
            <a:off x="6089304" y="6031548"/>
            <a:ext cx="518160" cy="369332"/>
          </a:xfrm>
          <a:prstGeom prst="star4">
            <a:avLst>
              <a:gd name="adj" fmla="val 12380"/>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20" name="Gráfico 19" descr="Internet con relleno sólido">
            <a:extLst>
              <a:ext uri="{FF2B5EF4-FFF2-40B4-BE49-F238E27FC236}">
                <a16:creationId xmlns:a16="http://schemas.microsoft.com/office/drawing/2014/main" id="{2B6299D0-5D94-C790-8930-4615313AF585}"/>
              </a:ext>
            </a:extLst>
          </p:cNvPr>
          <p:cNvPicPr>
            <a:picLocks noChangeAspect="1"/>
          </p:cNvPicPr>
          <p:nvPr/>
        </p:nvPicPr>
        <p:blipFill>
          <a:blip r:embed="rId5">
            <a:extLst>
              <a:ext uri="{96DAC541-7B7A-43D3-8B79-37D633B846F1}">
                <asvg:svgBlip xmlns:asvg="http://schemas.microsoft.com/office/drawing/2016/SVG/main"/>
              </a:ext>
            </a:extLst>
          </a:blip>
          <a:stretch>
            <a:fillRect/>
          </a:stretch>
        </p:blipFill>
        <p:spPr>
          <a:xfrm>
            <a:off x="5891184" y="3280204"/>
            <a:ext cx="914400" cy="914400"/>
          </a:xfrm>
          <a:prstGeom prst="rect">
            <a:avLst/>
          </a:prstGeom>
        </p:spPr>
      </p:pic>
      <p:sp>
        <p:nvSpPr>
          <p:cNvPr id="22" name="Estrella: 4 puntas 21">
            <a:extLst>
              <a:ext uri="{FF2B5EF4-FFF2-40B4-BE49-F238E27FC236}">
                <a16:creationId xmlns:a16="http://schemas.microsoft.com/office/drawing/2014/main" id="{3E5FF824-2D56-C5E8-90DE-AB74B820B0FC}"/>
              </a:ext>
            </a:extLst>
          </p:cNvPr>
          <p:cNvSpPr/>
          <p:nvPr/>
        </p:nvSpPr>
        <p:spPr>
          <a:xfrm>
            <a:off x="5065452" y="736239"/>
            <a:ext cx="518160" cy="369332"/>
          </a:xfrm>
          <a:prstGeom prst="star4">
            <a:avLst>
              <a:gd name="adj" fmla="val 8253"/>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CuadroTexto 1">
            <a:extLst>
              <a:ext uri="{FF2B5EF4-FFF2-40B4-BE49-F238E27FC236}">
                <a16:creationId xmlns:a16="http://schemas.microsoft.com/office/drawing/2014/main" id="{579978E4-7FE9-7B6D-9576-8CC847D0C3AE}"/>
              </a:ext>
            </a:extLst>
          </p:cNvPr>
          <p:cNvSpPr txBox="1"/>
          <p:nvPr/>
        </p:nvSpPr>
        <p:spPr>
          <a:xfrm>
            <a:off x="304800" y="1759992"/>
            <a:ext cx="5532120" cy="2739211"/>
          </a:xfrm>
          <a:prstGeom prst="rect">
            <a:avLst/>
          </a:prstGeom>
          <a:noFill/>
        </p:spPr>
        <p:txBody>
          <a:bodyPr wrap="square" rtlCol="0">
            <a:spAutoFit/>
          </a:bodyPr>
          <a:lstStyle/>
          <a:p>
            <a:r>
              <a:rPr lang="es-MX" sz="1400" b="1" dirty="0">
                <a:solidFill>
                  <a:schemeClr val="bg1"/>
                </a:solidFill>
                <a:latin typeface="Book Antiqua" panose="02040602050305030304" pitchFamily="18" charset="0"/>
              </a:rPr>
              <a:t>2.- ¿Qué es IDS?:</a:t>
            </a:r>
            <a:endParaRPr lang="es-PE" sz="1400" dirty="0">
              <a:solidFill>
                <a:schemeClr val="bg1"/>
              </a:solidFill>
              <a:latin typeface="Book Antiqua" panose="02040602050305030304" pitchFamily="18" charset="0"/>
            </a:endParaRPr>
          </a:p>
          <a:p>
            <a:r>
              <a:rPr lang="es-PE" sz="1400" dirty="0">
                <a:solidFill>
                  <a:srgbClr val="2DA0F1"/>
                </a:solidFill>
                <a:latin typeface="Book Antiqua" panose="02040602050305030304" pitchFamily="18" charset="0"/>
                <a:hlinkClick r:id="rId2" tooltip="Glosario de términos de ciberseguridad: una guía de aproximación para el empresario [PDF - 2660 KB]">
                  <a:extLst>
                    <a:ext uri="{A12FA001-AC4F-418D-AE19-62706E023703}">
                      <ahyp:hlinkClr xmlns:ahyp="http://schemas.microsoft.com/office/drawing/2018/hyperlinkcolor" val="tx"/>
                    </a:ext>
                  </a:extLst>
                </a:hlinkClick>
              </a:rPr>
              <a:t>IDS (</a:t>
            </a:r>
            <a:r>
              <a:rPr lang="es-PE" sz="1400" dirty="0" err="1">
                <a:solidFill>
                  <a:srgbClr val="2DA0F1"/>
                </a:solidFill>
                <a:latin typeface="Book Antiqua" panose="02040602050305030304" pitchFamily="18" charset="0"/>
                <a:hlinkClick r:id="rId2" tooltip="Glosario de términos de ciberseguridad: una guía de aproximación para el empresario [PDF - 2660 KB]">
                  <a:extLst>
                    <a:ext uri="{A12FA001-AC4F-418D-AE19-62706E023703}">
                      <ahyp:hlinkClr xmlns:ahyp="http://schemas.microsoft.com/office/drawing/2018/hyperlinkcolor" val="tx"/>
                    </a:ext>
                  </a:extLst>
                </a:hlinkClick>
              </a:rPr>
              <a:t>Intrusion</a:t>
            </a:r>
            <a:r>
              <a:rPr lang="es-PE" sz="1400" dirty="0">
                <a:solidFill>
                  <a:srgbClr val="2DA0F1"/>
                </a:solidFill>
                <a:latin typeface="Book Antiqua" panose="02040602050305030304" pitchFamily="18" charset="0"/>
                <a:hlinkClick r:id="rId2" tooltip="Glosario de términos de ciberseguridad: una guía de aproximación para el empresario [PDF - 2660 KB]">
                  <a:extLst>
                    <a:ext uri="{A12FA001-AC4F-418D-AE19-62706E023703}">
                      <ahyp:hlinkClr xmlns:ahyp="http://schemas.microsoft.com/office/drawing/2018/hyperlinkcolor" val="tx"/>
                    </a:ext>
                  </a:extLst>
                </a:hlinkClick>
              </a:rPr>
              <a:t> </a:t>
            </a:r>
            <a:r>
              <a:rPr lang="es-PE" sz="1400" dirty="0" err="1">
                <a:solidFill>
                  <a:srgbClr val="2DA0F1"/>
                </a:solidFill>
                <a:latin typeface="Book Antiqua" panose="02040602050305030304" pitchFamily="18" charset="0"/>
                <a:hlinkClick r:id="rId2" tooltip="Glosario de términos de ciberseguridad: una guía de aproximación para el empresario [PDF - 2660 KB]">
                  <a:extLst>
                    <a:ext uri="{A12FA001-AC4F-418D-AE19-62706E023703}">
                      <ahyp:hlinkClr xmlns:ahyp="http://schemas.microsoft.com/office/drawing/2018/hyperlinkcolor" val="tx"/>
                    </a:ext>
                  </a:extLst>
                </a:hlinkClick>
              </a:rPr>
              <a:t>Detection</a:t>
            </a:r>
            <a:r>
              <a:rPr lang="es-PE" sz="1400" dirty="0">
                <a:solidFill>
                  <a:srgbClr val="2DA0F1"/>
                </a:solidFill>
                <a:latin typeface="Book Antiqua" panose="02040602050305030304" pitchFamily="18" charset="0"/>
                <a:hlinkClick r:id="rId2" tooltip="Glosario de términos de ciberseguridad: una guía de aproximación para el empresario [PDF - 2660 KB]">
                  <a:extLst>
                    <a:ext uri="{A12FA001-AC4F-418D-AE19-62706E023703}">
                      <ahyp:hlinkClr xmlns:ahyp="http://schemas.microsoft.com/office/drawing/2018/hyperlinkcolor" val="tx"/>
                    </a:ext>
                  </a:extLst>
                </a:hlinkClick>
              </a:rPr>
              <a:t> </a:t>
            </a:r>
            <a:r>
              <a:rPr lang="es-PE" sz="1400" dirty="0" err="1">
                <a:solidFill>
                  <a:srgbClr val="2DA0F1"/>
                </a:solidFill>
                <a:latin typeface="Book Antiqua" panose="02040602050305030304" pitchFamily="18" charset="0"/>
                <a:hlinkClick r:id="rId2" tooltip="Glosario de términos de ciberseguridad: una guía de aproximación para el empresario [PDF - 2660 KB]">
                  <a:extLst>
                    <a:ext uri="{A12FA001-AC4F-418D-AE19-62706E023703}">
                      <ahyp:hlinkClr xmlns:ahyp="http://schemas.microsoft.com/office/drawing/2018/hyperlinkcolor" val="tx"/>
                    </a:ext>
                  </a:extLst>
                </a:hlinkClick>
              </a:rPr>
              <a:t>System</a:t>
            </a:r>
            <a:r>
              <a:rPr lang="es-PE" sz="1400" dirty="0">
                <a:solidFill>
                  <a:schemeClr val="bg1"/>
                </a:solidFill>
                <a:latin typeface="Book Antiqua" panose="02040602050305030304" pitchFamily="18" charset="0"/>
                <a:hlinkClick r:id="rId2" tooltip="Glosario de términos de ciberseguridad: una guía de aproximación para el empresario [PDF - 2660 KB]">
                  <a:extLst>
                    <a:ext uri="{A12FA001-AC4F-418D-AE19-62706E023703}">
                      <ahyp:hlinkClr xmlns:ahyp="http://schemas.microsoft.com/office/drawing/2018/hyperlinkcolor" val="tx"/>
                    </a:ext>
                  </a:extLst>
                </a:hlinkClick>
              </a:rPr>
              <a:t>)</a:t>
            </a:r>
            <a:r>
              <a:rPr lang="es-PE" sz="1400" dirty="0">
                <a:solidFill>
                  <a:schemeClr val="bg1"/>
                </a:solidFill>
                <a:latin typeface="Book Antiqua" panose="02040602050305030304" pitchFamily="18" charset="0"/>
              </a:rPr>
              <a:t> o sistema de detección de intrusiones: es una aplicación usada para detectar accesos no autorizados a un ordenador o a una red, es decir, son sistemas que monitorizan el tráfico entrante y lo cotejan con una base de datos actualizada de firmas de ataque conocidas. Ante cualquier actividad sospechosa, emiten una alerta a los administradores del sistema quienes han de tomar las medidas oportunas. Estos sistemas sólo detectan los accesos sospechosos emitiendo alertas anticipatorias de posibles intrusiones, pero no tratan de mitigar la intrusión. Su actuación es reactiva.</a:t>
            </a:r>
          </a:p>
          <a:p>
            <a:endParaRPr lang="es-PE" dirty="0"/>
          </a:p>
        </p:txBody>
      </p:sp>
      <p:sp>
        <p:nvSpPr>
          <p:cNvPr id="4" name="CuadroTexto 3">
            <a:extLst>
              <a:ext uri="{FF2B5EF4-FFF2-40B4-BE49-F238E27FC236}">
                <a16:creationId xmlns:a16="http://schemas.microsoft.com/office/drawing/2014/main" id="{5E6742BB-67C9-555B-CF42-264AF95B1B68}"/>
              </a:ext>
            </a:extLst>
          </p:cNvPr>
          <p:cNvSpPr txBox="1"/>
          <p:nvPr/>
        </p:nvSpPr>
        <p:spPr>
          <a:xfrm>
            <a:off x="6805584" y="1802876"/>
            <a:ext cx="5325513" cy="2954655"/>
          </a:xfrm>
          <a:prstGeom prst="rect">
            <a:avLst/>
          </a:prstGeom>
          <a:noFill/>
        </p:spPr>
        <p:txBody>
          <a:bodyPr wrap="square" rtlCol="0">
            <a:spAutoFit/>
          </a:bodyPr>
          <a:lstStyle/>
          <a:p>
            <a:r>
              <a:rPr lang="es-MX" sz="1400" b="1" dirty="0">
                <a:solidFill>
                  <a:schemeClr val="bg1"/>
                </a:solidFill>
                <a:latin typeface="Book Antiqua" panose="02040602050305030304" pitchFamily="18" charset="0"/>
              </a:rPr>
              <a:t>3.- ¿Qué es IPS?:</a:t>
            </a:r>
            <a:endParaRPr lang="es-PE" sz="1400" dirty="0">
              <a:solidFill>
                <a:schemeClr val="bg1"/>
              </a:solidFill>
              <a:latin typeface="Book Antiqua" panose="02040602050305030304" pitchFamily="18" charset="0"/>
            </a:endParaRPr>
          </a:p>
          <a:p>
            <a:r>
              <a:rPr lang="es-PE" sz="1400" dirty="0">
                <a:solidFill>
                  <a:srgbClr val="2DA0F1"/>
                </a:solidFill>
                <a:latin typeface="Book Antiqua" panose="02040602050305030304" pitchFamily="18" charset="0"/>
                <a:hlinkClick r:id="rId2" tooltip="Glosario de términos de ciberseguridad: una guía de aproximación para el empresario [PDF - 2660 KB]">
                  <a:extLst>
                    <a:ext uri="{A12FA001-AC4F-418D-AE19-62706E023703}">
                      <ahyp:hlinkClr xmlns:ahyp="http://schemas.microsoft.com/office/drawing/2018/hyperlinkcolor" val="tx"/>
                    </a:ext>
                  </a:extLst>
                </a:hlinkClick>
              </a:rPr>
              <a:t>IPS (</a:t>
            </a:r>
            <a:r>
              <a:rPr lang="es-PE" sz="1400" dirty="0" err="1">
                <a:solidFill>
                  <a:srgbClr val="2DA0F1"/>
                </a:solidFill>
                <a:latin typeface="Book Antiqua" panose="02040602050305030304" pitchFamily="18" charset="0"/>
                <a:hlinkClick r:id="rId2" tooltip="Glosario de términos de ciberseguridad: una guía de aproximación para el empresario [PDF - 2660 KB]">
                  <a:extLst>
                    <a:ext uri="{A12FA001-AC4F-418D-AE19-62706E023703}">
                      <ahyp:hlinkClr xmlns:ahyp="http://schemas.microsoft.com/office/drawing/2018/hyperlinkcolor" val="tx"/>
                    </a:ext>
                  </a:extLst>
                </a:hlinkClick>
              </a:rPr>
              <a:t>Intrusion</a:t>
            </a:r>
            <a:r>
              <a:rPr lang="es-PE" sz="1400" dirty="0">
                <a:solidFill>
                  <a:srgbClr val="2DA0F1"/>
                </a:solidFill>
                <a:latin typeface="Book Antiqua" panose="02040602050305030304" pitchFamily="18" charset="0"/>
                <a:hlinkClick r:id="rId2" tooltip="Glosario de términos de ciberseguridad: una guía de aproximación para el empresario [PDF - 2660 KB]">
                  <a:extLst>
                    <a:ext uri="{A12FA001-AC4F-418D-AE19-62706E023703}">
                      <ahyp:hlinkClr xmlns:ahyp="http://schemas.microsoft.com/office/drawing/2018/hyperlinkcolor" val="tx"/>
                    </a:ext>
                  </a:extLst>
                </a:hlinkClick>
              </a:rPr>
              <a:t> </a:t>
            </a:r>
            <a:r>
              <a:rPr lang="es-PE" sz="1400" dirty="0" err="1">
                <a:solidFill>
                  <a:srgbClr val="2DA0F1"/>
                </a:solidFill>
                <a:latin typeface="Book Antiqua" panose="02040602050305030304" pitchFamily="18" charset="0"/>
                <a:hlinkClick r:id="rId2" tooltip="Glosario de términos de ciberseguridad: una guía de aproximación para el empresario [PDF - 2660 KB]">
                  <a:extLst>
                    <a:ext uri="{A12FA001-AC4F-418D-AE19-62706E023703}">
                      <ahyp:hlinkClr xmlns:ahyp="http://schemas.microsoft.com/office/drawing/2018/hyperlinkcolor" val="tx"/>
                    </a:ext>
                  </a:extLst>
                </a:hlinkClick>
              </a:rPr>
              <a:t>Prevention</a:t>
            </a:r>
            <a:r>
              <a:rPr lang="es-PE" sz="1400" dirty="0">
                <a:solidFill>
                  <a:srgbClr val="2DA0F1"/>
                </a:solidFill>
                <a:latin typeface="Book Antiqua" panose="02040602050305030304" pitchFamily="18" charset="0"/>
                <a:hlinkClick r:id="rId2" tooltip="Glosario de términos de ciberseguridad: una guía de aproximación para el empresario [PDF - 2660 KB]">
                  <a:extLst>
                    <a:ext uri="{A12FA001-AC4F-418D-AE19-62706E023703}">
                      <ahyp:hlinkClr xmlns:ahyp="http://schemas.microsoft.com/office/drawing/2018/hyperlinkcolor" val="tx"/>
                    </a:ext>
                  </a:extLst>
                </a:hlinkClick>
              </a:rPr>
              <a:t> </a:t>
            </a:r>
            <a:r>
              <a:rPr lang="es-PE" sz="1400" dirty="0" err="1">
                <a:solidFill>
                  <a:srgbClr val="2DA0F1"/>
                </a:solidFill>
                <a:latin typeface="Book Antiqua" panose="02040602050305030304" pitchFamily="18" charset="0"/>
                <a:hlinkClick r:id="rId2" tooltip="Glosario de términos de ciberseguridad: una guía de aproximación para el empresario [PDF - 2660 KB]">
                  <a:extLst>
                    <a:ext uri="{A12FA001-AC4F-418D-AE19-62706E023703}">
                      <ahyp:hlinkClr xmlns:ahyp="http://schemas.microsoft.com/office/drawing/2018/hyperlinkcolor" val="tx"/>
                    </a:ext>
                  </a:extLst>
                </a:hlinkClick>
              </a:rPr>
              <a:t>System</a:t>
            </a:r>
            <a:r>
              <a:rPr lang="es-PE" sz="1400" dirty="0">
                <a:solidFill>
                  <a:schemeClr val="bg1"/>
                </a:solidFill>
                <a:latin typeface="Book Antiqua" panose="02040602050305030304" pitchFamily="18" charset="0"/>
                <a:hlinkClick r:id="rId2" tooltip="Glosario de términos de ciberseguridad: una guía de aproximación para el empresario [PDF - 2660 KB]">
                  <a:extLst>
                    <a:ext uri="{A12FA001-AC4F-418D-AE19-62706E023703}">
                      <ahyp:hlinkClr xmlns:ahyp="http://schemas.microsoft.com/office/drawing/2018/hyperlinkcolor" val="tx"/>
                    </a:ext>
                  </a:extLst>
                </a:hlinkClick>
              </a:rPr>
              <a:t>)</a:t>
            </a:r>
            <a:r>
              <a:rPr lang="es-PE" sz="1400" dirty="0">
                <a:solidFill>
                  <a:schemeClr val="bg1"/>
                </a:solidFill>
                <a:latin typeface="Book Antiqua" panose="02040602050305030304" pitchFamily="18" charset="0"/>
              </a:rPr>
              <a:t> o sistema de prevención de intrusiones: es un software que se utiliza para proteger a los sistemas de ataques e intrusiones. Su actuación es preventiva. Estos sistemas llevan a cabo un análisis en tiempo real de las conexiones y los protocolos para determinar si se está produciendo o se va a producir un incidente, identificando ataques según patrones, anomalías o comportamientos sospechosos y permitiendo el control de acceso a la red, implementando políticas que se basan en el contenido del tráfico monitorizado, es decir, el IPS además de lanzar alarmas, puede descartar paquetes y desconectar conexiones.</a:t>
            </a:r>
          </a:p>
          <a:p>
            <a:endParaRPr lang="es-PE" dirty="0"/>
          </a:p>
        </p:txBody>
      </p:sp>
      <p:pic>
        <p:nvPicPr>
          <p:cNvPr id="3" name="Imagen 2" descr="¿Qué son las pantallas IPS?">
            <a:extLst>
              <a:ext uri="{FF2B5EF4-FFF2-40B4-BE49-F238E27FC236}">
                <a16:creationId xmlns:a16="http://schemas.microsoft.com/office/drawing/2014/main" id="{D8F87427-671E-E8E0-9C02-707083776255}"/>
              </a:ext>
            </a:extLst>
          </p:cNvPr>
          <p:cNvPicPr>
            <a:picLocks noChangeAspect="1"/>
          </p:cNvPicPr>
          <p:nvPr/>
        </p:nvPicPr>
        <p:blipFill>
          <a:blip/>
          <a:stretch>
            <a:fillRect/>
          </a:stretch>
        </p:blipFill>
        <p:spPr>
          <a:xfrm>
            <a:off x="7564745" y="4602683"/>
            <a:ext cx="3136574" cy="1764323"/>
          </a:xfrm>
          <a:prstGeom prst="rect">
            <a:avLst/>
          </a:prstGeom>
        </p:spPr>
      </p:pic>
      <p:pic>
        <p:nvPicPr>
          <p:cNvPr id="8" name="Imagen 7" descr="Qué son y para qué sirven los SIEM, IDS e IPS? | Empresas | INCIBE">
            <a:extLst>
              <a:ext uri="{FF2B5EF4-FFF2-40B4-BE49-F238E27FC236}">
                <a16:creationId xmlns:a16="http://schemas.microsoft.com/office/drawing/2014/main" id="{F0B00DD1-AFB0-B34C-E750-AE82CC45FFCC}"/>
              </a:ext>
            </a:extLst>
          </p:cNvPr>
          <p:cNvPicPr>
            <a:picLocks noChangeAspect="1"/>
          </p:cNvPicPr>
          <p:nvPr/>
        </p:nvPicPr>
        <p:blipFill>
          <a:blip/>
          <a:stretch>
            <a:fillRect/>
          </a:stretch>
        </p:blipFill>
        <p:spPr>
          <a:xfrm>
            <a:off x="1441570" y="4331562"/>
            <a:ext cx="2122166" cy="2122166"/>
          </a:xfrm>
          <a:prstGeom prst="rect">
            <a:avLst/>
          </a:prstGeom>
        </p:spPr>
      </p:pic>
    </p:spTree>
    <p:extLst>
      <p:ext uri="{BB962C8B-B14F-4D97-AF65-F5344CB8AC3E}">
        <p14:creationId xmlns:p14="http://schemas.microsoft.com/office/powerpoint/2010/main" val="7951119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5BDAA-B83E-F95C-16F0-55FFC683E49E}"/>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4D966C4A-FA1E-191F-5089-9B62E648CEFA}"/>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ED5F7D94-5C2D-F262-B09E-FE68707A4531}"/>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15297" y="-6031945"/>
            <a:ext cx="12192000" cy="12872433"/>
          </a:xfrm>
          <a:prstGeom prst="rect">
            <a:avLst/>
          </a:prstGeom>
        </p:spPr>
      </p:pic>
      <p:sp>
        <p:nvSpPr>
          <p:cNvPr id="10" name="CuadroTexto 9">
            <a:extLst>
              <a:ext uri="{FF2B5EF4-FFF2-40B4-BE49-F238E27FC236}">
                <a16:creationId xmlns:a16="http://schemas.microsoft.com/office/drawing/2014/main" id="{85E1801F-F445-5DB7-1D89-115BDF55E6BB}"/>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BFAE43EE-6D20-E655-272E-98E4973C9A47}"/>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4F88B70B-EC5F-EA08-AA89-1666A2306FA3}"/>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sp>
        <p:nvSpPr>
          <p:cNvPr id="15" name="CuadroTexto 14">
            <a:extLst>
              <a:ext uri="{FF2B5EF4-FFF2-40B4-BE49-F238E27FC236}">
                <a16:creationId xmlns:a16="http://schemas.microsoft.com/office/drawing/2014/main" id="{EFB7D2EA-6C6E-6FBC-CBCA-252C379138CA}"/>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pic>
        <p:nvPicPr>
          <p:cNvPr id="19" name="Gráfico 18" descr="Nube con relleno sólido">
            <a:extLst>
              <a:ext uri="{FF2B5EF4-FFF2-40B4-BE49-F238E27FC236}">
                <a16:creationId xmlns:a16="http://schemas.microsoft.com/office/drawing/2014/main" id="{18D757E1-EA6A-BA32-F61D-D0A40C0A82B4}"/>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0" y="-126752"/>
            <a:ext cx="914400" cy="914400"/>
          </a:xfrm>
          <a:prstGeom prst="rect">
            <a:avLst/>
          </a:prstGeom>
        </p:spPr>
      </p:pic>
      <p:sp>
        <p:nvSpPr>
          <p:cNvPr id="25" name="Estrella: 4 puntas 24">
            <a:extLst>
              <a:ext uri="{FF2B5EF4-FFF2-40B4-BE49-F238E27FC236}">
                <a16:creationId xmlns:a16="http://schemas.microsoft.com/office/drawing/2014/main" id="{89C95492-51D8-DA8D-1DBB-C64E96F790A3}"/>
              </a:ext>
            </a:extLst>
          </p:cNvPr>
          <p:cNvSpPr/>
          <p:nvPr/>
        </p:nvSpPr>
        <p:spPr>
          <a:xfrm>
            <a:off x="11658600" y="6206074"/>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6" name="Estrella: 4 puntas 25">
            <a:extLst>
              <a:ext uri="{FF2B5EF4-FFF2-40B4-BE49-F238E27FC236}">
                <a16:creationId xmlns:a16="http://schemas.microsoft.com/office/drawing/2014/main" id="{EA404495-6695-7C4A-A049-F4666D0B1592}"/>
              </a:ext>
            </a:extLst>
          </p:cNvPr>
          <p:cNvSpPr/>
          <p:nvPr/>
        </p:nvSpPr>
        <p:spPr>
          <a:xfrm>
            <a:off x="526761" y="6367006"/>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7" name="Estrella: 4 puntas 26">
            <a:extLst>
              <a:ext uri="{FF2B5EF4-FFF2-40B4-BE49-F238E27FC236}">
                <a16:creationId xmlns:a16="http://schemas.microsoft.com/office/drawing/2014/main" id="{9799285F-6308-3573-4A65-B6D9766D4DAB}"/>
              </a:ext>
            </a:extLst>
          </p:cNvPr>
          <p:cNvSpPr/>
          <p:nvPr/>
        </p:nvSpPr>
        <p:spPr>
          <a:xfrm>
            <a:off x="11275638" y="408936"/>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 name="CuadroTexto 4">
            <a:extLst>
              <a:ext uri="{FF2B5EF4-FFF2-40B4-BE49-F238E27FC236}">
                <a16:creationId xmlns:a16="http://schemas.microsoft.com/office/drawing/2014/main" id="{197C808A-FC3B-F82D-A7AB-FAA8B5C7298E}"/>
              </a:ext>
            </a:extLst>
          </p:cNvPr>
          <p:cNvSpPr txBox="1"/>
          <p:nvPr/>
        </p:nvSpPr>
        <p:spPr>
          <a:xfrm>
            <a:off x="883806" y="157876"/>
            <a:ext cx="11308194" cy="1138773"/>
          </a:xfrm>
          <a:prstGeom prst="rect">
            <a:avLst/>
          </a:prstGeom>
          <a:noFill/>
        </p:spPr>
        <p:txBody>
          <a:bodyPr wrap="square" rtlCol="0">
            <a:spAutoFit/>
          </a:bodyPr>
          <a:lstStyle/>
          <a:p>
            <a:r>
              <a:rPr lang="es-PE" sz="3200" b="1" dirty="0">
                <a:solidFill>
                  <a:schemeClr val="bg1"/>
                </a:solidFill>
                <a:latin typeface="Aharoni" panose="02010803020104030203" pitchFamily="2" charset="-79"/>
                <a:cs typeface="Aharoni" panose="02010803020104030203" pitchFamily="2" charset="-79"/>
              </a:rPr>
              <a:t>4.-VENTAJAS Y DESVENTAJAS DE CADA HERRAMIENTA:</a:t>
            </a:r>
            <a:endParaRPr lang="es-PE" sz="3200" dirty="0">
              <a:solidFill>
                <a:schemeClr val="bg1"/>
              </a:solidFill>
              <a:latin typeface="Aharoni" panose="02010803020104030203" pitchFamily="2" charset="-79"/>
              <a:cs typeface="Aharoni" panose="02010803020104030203" pitchFamily="2" charset="-79"/>
            </a:endParaRPr>
          </a:p>
          <a:p>
            <a:endParaRPr lang="es-PE" sz="3600" dirty="0">
              <a:solidFill>
                <a:schemeClr val="bg1"/>
              </a:solidFill>
              <a:latin typeface="Aharoni" panose="02010803020104030203" pitchFamily="2" charset="-79"/>
              <a:cs typeface="Aharoni" panose="02010803020104030203" pitchFamily="2" charset="-79"/>
            </a:endParaRPr>
          </a:p>
        </p:txBody>
      </p:sp>
      <p:sp>
        <p:nvSpPr>
          <p:cNvPr id="17" name="Estrella: 4 puntas 16">
            <a:extLst>
              <a:ext uri="{FF2B5EF4-FFF2-40B4-BE49-F238E27FC236}">
                <a16:creationId xmlns:a16="http://schemas.microsoft.com/office/drawing/2014/main" id="{3A3CC575-540D-B90F-E562-5BF374A5EBA7}"/>
              </a:ext>
            </a:extLst>
          </p:cNvPr>
          <p:cNvSpPr/>
          <p:nvPr/>
        </p:nvSpPr>
        <p:spPr>
          <a:xfrm>
            <a:off x="5324532" y="5937095"/>
            <a:ext cx="518160" cy="369332"/>
          </a:xfrm>
          <a:prstGeom prst="star4">
            <a:avLst>
              <a:gd name="adj" fmla="val 12380"/>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20" name="Gráfico 19" descr="Internet con relleno sólido">
            <a:extLst>
              <a:ext uri="{FF2B5EF4-FFF2-40B4-BE49-F238E27FC236}">
                <a16:creationId xmlns:a16="http://schemas.microsoft.com/office/drawing/2014/main" id="{17ADEBA3-A350-F096-3D33-0B1C8C223EB6}"/>
              </a:ext>
            </a:extLst>
          </p:cNvPr>
          <p:cNvPicPr>
            <a:picLocks noChangeAspect="1"/>
          </p:cNvPicPr>
          <p:nvPr/>
        </p:nvPicPr>
        <p:blipFill>
          <a:blip r:embed="rId5">
            <a:extLst>
              <a:ext uri="{96DAC541-7B7A-43D3-8B79-37D633B846F1}">
                <asvg:svgBlip xmlns:asvg="http://schemas.microsoft.com/office/drawing/2016/SVG/main"/>
              </a:ext>
            </a:extLst>
          </a:blip>
          <a:stretch>
            <a:fillRect/>
          </a:stretch>
        </p:blipFill>
        <p:spPr>
          <a:xfrm>
            <a:off x="5065452" y="2952513"/>
            <a:ext cx="914400" cy="914400"/>
          </a:xfrm>
          <a:prstGeom prst="rect">
            <a:avLst/>
          </a:prstGeom>
        </p:spPr>
      </p:pic>
      <p:sp>
        <p:nvSpPr>
          <p:cNvPr id="22" name="Estrella: 4 puntas 21">
            <a:extLst>
              <a:ext uri="{FF2B5EF4-FFF2-40B4-BE49-F238E27FC236}">
                <a16:creationId xmlns:a16="http://schemas.microsoft.com/office/drawing/2014/main" id="{A4654E05-43C2-DDEF-FFCB-DF84FE3D2299}"/>
              </a:ext>
            </a:extLst>
          </p:cNvPr>
          <p:cNvSpPr/>
          <p:nvPr/>
        </p:nvSpPr>
        <p:spPr>
          <a:xfrm>
            <a:off x="5065452" y="736239"/>
            <a:ext cx="518160" cy="369332"/>
          </a:xfrm>
          <a:prstGeom prst="star4">
            <a:avLst>
              <a:gd name="adj" fmla="val 8253"/>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CuadroTexto 1">
            <a:extLst>
              <a:ext uri="{FF2B5EF4-FFF2-40B4-BE49-F238E27FC236}">
                <a16:creationId xmlns:a16="http://schemas.microsoft.com/office/drawing/2014/main" id="{873E5E1C-6C77-BD97-F2CB-BDC7B92C5324}"/>
              </a:ext>
            </a:extLst>
          </p:cNvPr>
          <p:cNvSpPr txBox="1"/>
          <p:nvPr/>
        </p:nvSpPr>
        <p:spPr>
          <a:xfrm>
            <a:off x="187181" y="901700"/>
            <a:ext cx="5532120" cy="2523768"/>
          </a:xfrm>
          <a:prstGeom prst="rect">
            <a:avLst/>
          </a:prstGeom>
          <a:noFill/>
        </p:spPr>
        <p:txBody>
          <a:bodyPr wrap="square" rtlCol="0">
            <a:spAutoFit/>
          </a:bodyPr>
          <a:lstStyle/>
          <a:p>
            <a:pPr marL="285750" indent="-285750">
              <a:buFont typeface="Wingdings" panose="05000000000000000000" pitchFamily="2" charset="2"/>
              <a:buChar char="ü"/>
            </a:pPr>
            <a:r>
              <a:rPr lang="es-MX" sz="1400" b="1" dirty="0">
                <a:solidFill>
                  <a:schemeClr val="bg1"/>
                </a:solidFill>
                <a:latin typeface="Book Antiqua" panose="02040602050305030304" pitchFamily="18" charset="0"/>
              </a:rPr>
              <a:t>IDS:</a:t>
            </a:r>
            <a:r>
              <a:rPr lang="es-MX" sz="1400" dirty="0">
                <a:solidFill>
                  <a:schemeClr val="bg1"/>
                </a:solidFill>
                <a:latin typeface="Book Antiqua" panose="02040602050305030304" pitchFamily="18" charset="0"/>
              </a:rPr>
              <a:t> </a:t>
            </a:r>
            <a:r>
              <a:rPr lang="es-PE" sz="1400" dirty="0">
                <a:solidFill>
                  <a:schemeClr val="bg1"/>
                </a:solidFill>
                <a:latin typeface="Book Antiqua" panose="02040602050305030304" pitchFamily="18" charset="0"/>
              </a:rPr>
              <a:t>La principal ventaja de un sistema IDS es que permite ver lo que está sucediendo en la red en tiempo real en base a la información recopilada, reconocer modificaciones en los documentos y automatizar los patrones de búsqueda en los paquetes de datos enviados a través de la red. Su principal desventaja es qué estas herramientas, sobre todo en el caso de las de tipo pasivo, no es están diseñadas para prevenir o detener los ataques que detecten, además son vulnerables a los </a:t>
            </a:r>
            <a:r>
              <a:rPr lang="es-PE" sz="1400" dirty="0">
                <a:solidFill>
                  <a:srgbClr val="2DA0F1"/>
                </a:solidFill>
                <a:latin typeface="Book Antiqua" panose="02040602050305030304" pitchFamily="18" charset="0"/>
                <a:hlinkClick r:id="rId2" tooltip="Glosario de términos de ciberseguridad: una guía de aproximación para el empresario [PDF - 2660 KB]">
                  <a:extLst>
                    <a:ext uri="{A12FA001-AC4F-418D-AE19-62706E023703}">
                      <ahyp:hlinkClr xmlns:ahyp="http://schemas.microsoft.com/office/drawing/2018/hyperlinkcolor" val="tx"/>
                    </a:ext>
                  </a:extLst>
                </a:hlinkClick>
              </a:rPr>
              <a:t>ataques </a:t>
            </a:r>
            <a:r>
              <a:rPr lang="es-PE" sz="1400" dirty="0" err="1">
                <a:solidFill>
                  <a:schemeClr val="bg1"/>
                </a:solidFill>
                <a:latin typeface="Book Antiqua" panose="02040602050305030304" pitchFamily="18" charset="0"/>
                <a:hlinkClick r:id="rId2" tooltip="Glosario de términos de ciberseguridad: una guía de aproximación para el empresario [PDF - 2660 KB]">
                  <a:extLst>
                    <a:ext uri="{A12FA001-AC4F-418D-AE19-62706E023703}">
                      <ahyp:hlinkClr xmlns:ahyp="http://schemas.microsoft.com/office/drawing/2018/hyperlinkcolor" val="tx"/>
                    </a:ext>
                  </a:extLst>
                </a:hlinkClick>
              </a:rPr>
              <a:t>DDoS</a:t>
            </a:r>
            <a:r>
              <a:rPr lang="es-PE" sz="1400" dirty="0">
                <a:solidFill>
                  <a:schemeClr val="bg1"/>
                </a:solidFill>
                <a:latin typeface="Book Antiqua" panose="02040602050305030304" pitchFamily="18" charset="0"/>
              </a:rPr>
              <a:t> que pueden provocar la inoperatividad de la herramienta.</a:t>
            </a:r>
          </a:p>
          <a:p>
            <a:endParaRPr lang="es-PE" dirty="0"/>
          </a:p>
        </p:txBody>
      </p:sp>
      <p:sp>
        <p:nvSpPr>
          <p:cNvPr id="4" name="CuadroTexto 3">
            <a:extLst>
              <a:ext uri="{FF2B5EF4-FFF2-40B4-BE49-F238E27FC236}">
                <a16:creationId xmlns:a16="http://schemas.microsoft.com/office/drawing/2014/main" id="{12CEE380-5A82-DC3D-D78B-75C1F725AED1}"/>
              </a:ext>
            </a:extLst>
          </p:cNvPr>
          <p:cNvSpPr txBox="1"/>
          <p:nvPr/>
        </p:nvSpPr>
        <p:spPr>
          <a:xfrm>
            <a:off x="6161205" y="852954"/>
            <a:ext cx="5878396" cy="3385542"/>
          </a:xfrm>
          <a:prstGeom prst="rect">
            <a:avLst/>
          </a:prstGeom>
          <a:noFill/>
        </p:spPr>
        <p:txBody>
          <a:bodyPr wrap="square" rtlCol="0">
            <a:spAutoFit/>
          </a:bodyPr>
          <a:lstStyle/>
          <a:p>
            <a:pPr marL="285750" indent="-285750">
              <a:buFont typeface="Wingdings" panose="05000000000000000000" pitchFamily="2" charset="2"/>
              <a:buChar char="ü"/>
            </a:pPr>
            <a:r>
              <a:rPr lang="es-PE" sz="1400" b="1" dirty="0">
                <a:solidFill>
                  <a:schemeClr val="bg1"/>
                </a:solidFill>
                <a:latin typeface="Book Antiqua" panose="02040602050305030304" pitchFamily="18" charset="0"/>
              </a:rPr>
              <a:t>IPS:</a:t>
            </a:r>
            <a:r>
              <a:rPr lang="es-PE" sz="1400" dirty="0">
                <a:solidFill>
                  <a:schemeClr val="bg1"/>
                </a:solidFill>
                <a:latin typeface="Book Antiqua" panose="02040602050305030304" pitchFamily="18" charset="0"/>
              </a:rPr>
              <a:t> </a:t>
            </a:r>
          </a:p>
          <a:p>
            <a:r>
              <a:rPr lang="es-PE" sz="1400" dirty="0">
                <a:solidFill>
                  <a:schemeClr val="bg1"/>
                </a:solidFill>
                <a:latin typeface="Book Antiqua" panose="02040602050305030304" pitchFamily="18" charset="0"/>
              </a:rPr>
              <a:t>Las ventajas son:</a:t>
            </a:r>
          </a:p>
          <a:p>
            <a:pPr lvl="0"/>
            <a:r>
              <a:rPr lang="es-PE" sz="1400" dirty="0">
                <a:solidFill>
                  <a:schemeClr val="bg1"/>
                </a:solidFill>
                <a:latin typeface="Book Antiqua" panose="02040602050305030304" pitchFamily="18" charset="0"/>
              </a:rPr>
              <a:t>escalabilidad al gestionar multitud de dispositivos conectados a la misma red;</a:t>
            </a:r>
          </a:p>
          <a:p>
            <a:pPr lvl="0"/>
            <a:r>
              <a:rPr lang="es-PE" sz="1400" dirty="0">
                <a:solidFill>
                  <a:schemeClr val="bg1"/>
                </a:solidFill>
                <a:latin typeface="Book Antiqua" panose="02040602050305030304" pitchFamily="18" charset="0"/>
              </a:rPr>
              <a:t>protección preventiva al comprobarse de forma automatizada comportamientos anómalos mediante el uso de reglas prefijadas;</a:t>
            </a:r>
          </a:p>
          <a:p>
            <a:pPr lvl="0"/>
            <a:r>
              <a:rPr lang="es-PE" sz="1400" dirty="0">
                <a:solidFill>
                  <a:schemeClr val="bg1"/>
                </a:solidFill>
                <a:latin typeface="Book Antiqua" panose="02040602050305030304" pitchFamily="18" charset="0"/>
              </a:rPr>
              <a:t>fácil instalación, configuración y administración al estar disponibles multitud de configuraciones predefinidas y centralizar en un punto su gestión, aunque puede ser contraproducente para su escalabilidad;/</a:t>
            </a:r>
          </a:p>
          <a:p>
            <a:pPr lvl="0"/>
            <a:r>
              <a:rPr lang="es-PE" sz="1400" dirty="0">
                <a:solidFill>
                  <a:schemeClr val="bg1"/>
                </a:solidFill>
                <a:latin typeface="Book Antiqua" panose="02040602050305030304" pitchFamily="18" charset="0"/>
              </a:rPr>
              <a:t>defensa frente a múltiples </a:t>
            </a:r>
            <a:r>
              <a:rPr lang="es-PE" sz="1400" dirty="0">
                <a:solidFill>
                  <a:schemeClr val="bg1"/>
                </a:solidFill>
                <a:latin typeface="Book Antiqua" panose="02040602050305030304" pitchFamily="18" charset="0"/>
                <a:hlinkClick r:id="rId3" tooltip="Incidentes de seguridad, conoce a tus enemigos | Blog Protege tu empresa - INCIBE">
                  <a:extLst>
                    <a:ext uri="{A12FA001-AC4F-418D-AE19-62706E023703}">
                      <ahyp:hlinkClr xmlns:ahyp="http://schemas.microsoft.com/office/drawing/2018/hyperlinkcolor" val="tx"/>
                    </a:ext>
                  </a:extLst>
                </a:hlinkClick>
              </a:rPr>
              <a:t>ataques</a:t>
            </a:r>
            <a:r>
              <a:rPr lang="es-PE" sz="1400" dirty="0">
                <a:solidFill>
                  <a:schemeClr val="bg1"/>
                </a:solidFill>
                <a:latin typeface="Book Antiqua" panose="02040602050305030304" pitchFamily="18" charset="0"/>
              </a:rPr>
              <a:t>, como intrusiones, ataques de fuerza bruta, infecciones por malware o modificaciones del sistema de archivos, entre otros;</a:t>
            </a:r>
          </a:p>
          <a:p>
            <a:pPr lvl="0"/>
            <a:r>
              <a:rPr lang="es-PE" sz="1400" dirty="0">
                <a:solidFill>
                  <a:schemeClr val="bg1"/>
                </a:solidFill>
                <a:latin typeface="Book Antiqua" panose="02040602050305030304" pitchFamily="18" charset="0"/>
              </a:rPr>
              <a:t>aumento de la eficiencia y la seguridad de la prevención de intrusiones o ataques a la red.</a:t>
            </a:r>
          </a:p>
          <a:p>
            <a:endParaRPr lang="es-PE" dirty="0"/>
          </a:p>
        </p:txBody>
      </p:sp>
      <p:sp>
        <p:nvSpPr>
          <p:cNvPr id="13" name="CuadroTexto 12">
            <a:extLst>
              <a:ext uri="{FF2B5EF4-FFF2-40B4-BE49-F238E27FC236}">
                <a16:creationId xmlns:a16="http://schemas.microsoft.com/office/drawing/2014/main" id="{A9A77DB4-A8B2-6325-7D37-A2241EA3765F}"/>
              </a:ext>
            </a:extLst>
          </p:cNvPr>
          <p:cNvSpPr txBox="1"/>
          <p:nvPr/>
        </p:nvSpPr>
        <p:spPr>
          <a:xfrm>
            <a:off x="457200" y="3733562"/>
            <a:ext cx="4495800" cy="1877437"/>
          </a:xfrm>
          <a:prstGeom prst="rect">
            <a:avLst/>
          </a:prstGeom>
          <a:noFill/>
        </p:spPr>
        <p:txBody>
          <a:bodyPr wrap="square" rtlCol="0">
            <a:spAutoFit/>
          </a:bodyPr>
          <a:lstStyle/>
          <a:p>
            <a:pPr marL="285750" indent="-285750">
              <a:buFont typeface="Wingdings" panose="05000000000000000000" pitchFamily="2" charset="2"/>
              <a:buChar char="ü"/>
            </a:pPr>
            <a:r>
              <a:rPr lang="es-PE" sz="1400" dirty="0">
                <a:solidFill>
                  <a:schemeClr val="bg1"/>
                </a:solidFill>
                <a:latin typeface="Book Antiqua" panose="02040602050305030304" pitchFamily="18" charset="0"/>
              </a:rPr>
              <a:t>Entre sus desventajas, destacan los efectos adversos que pueden producirse en el caso de que se detecte un falso positivo, si por ejemplo se ejecuta una política de aislamiento de las máquinas de la red o en el caso de que se reciban ataques de tipo </a:t>
            </a:r>
            <a:r>
              <a:rPr lang="es-PE" sz="1400" dirty="0" err="1">
                <a:solidFill>
                  <a:srgbClr val="2DA0F1"/>
                </a:solidFill>
                <a:latin typeface="Book Antiqua" panose="02040602050305030304" pitchFamily="18" charset="0"/>
                <a:hlinkClick r:id="rId2" tooltip="Glosario de términos de ciberseguridad: una guía de aproximación para el empresario [PDF - 2660 KB]">
                  <a:extLst>
                    <a:ext uri="{A12FA001-AC4F-418D-AE19-62706E023703}">
                      <ahyp:hlinkClr xmlns:ahyp="http://schemas.microsoft.com/office/drawing/2018/hyperlinkcolor" val="tx"/>
                    </a:ext>
                  </a:extLst>
                </a:hlinkClick>
              </a:rPr>
              <a:t>DDoS</a:t>
            </a:r>
            <a:r>
              <a:rPr lang="es-PE" sz="1400" dirty="0">
                <a:solidFill>
                  <a:schemeClr val="bg1"/>
                </a:solidFill>
                <a:latin typeface="Book Antiqua" panose="02040602050305030304" pitchFamily="18" charset="0"/>
                <a:hlinkClick r:id="rId2" tooltip="Glosario de términos de ciberseguridad: una guía de aproximación para el empresario [PDF - 2660 KB]">
                  <a:extLst>
                    <a:ext uri="{A12FA001-AC4F-418D-AE19-62706E023703}">
                      <ahyp:hlinkClr xmlns:ahyp="http://schemas.microsoft.com/office/drawing/2018/hyperlinkcolor" val="tx"/>
                    </a:ext>
                  </a:extLst>
                </a:hlinkClick>
              </a:rPr>
              <a:t> o DoS</a:t>
            </a:r>
            <a:r>
              <a:rPr lang="es-PE" sz="1400" dirty="0">
                <a:solidFill>
                  <a:schemeClr val="bg1"/>
                </a:solidFill>
                <a:latin typeface="Book Antiqua" panose="02040602050305030304" pitchFamily="18" charset="0"/>
              </a:rPr>
              <a:t> que pueden provocar su inutilización.</a:t>
            </a:r>
          </a:p>
          <a:p>
            <a:endParaRPr lang="es-PE" dirty="0"/>
          </a:p>
        </p:txBody>
      </p:sp>
      <p:sp>
        <p:nvSpPr>
          <p:cNvPr id="14" name="CuadroTexto 13">
            <a:extLst>
              <a:ext uri="{FF2B5EF4-FFF2-40B4-BE49-F238E27FC236}">
                <a16:creationId xmlns:a16="http://schemas.microsoft.com/office/drawing/2014/main" id="{12A81A5E-92B5-04A9-F3C5-D5BAC84EB8E7}"/>
              </a:ext>
            </a:extLst>
          </p:cNvPr>
          <p:cNvSpPr txBox="1"/>
          <p:nvPr/>
        </p:nvSpPr>
        <p:spPr>
          <a:xfrm>
            <a:off x="6378864" y="4118134"/>
            <a:ext cx="5486400" cy="2523768"/>
          </a:xfrm>
          <a:prstGeom prst="rect">
            <a:avLst/>
          </a:prstGeom>
          <a:noFill/>
        </p:spPr>
        <p:txBody>
          <a:bodyPr wrap="square" rtlCol="0">
            <a:spAutoFit/>
          </a:bodyPr>
          <a:lstStyle/>
          <a:p>
            <a:pPr marL="285750" indent="-285750">
              <a:buFont typeface="Wingdings" panose="05000000000000000000" pitchFamily="2" charset="2"/>
              <a:buChar char="ü"/>
            </a:pPr>
            <a:r>
              <a:rPr lang="es-PE" sz="1400" b="1" dirty="0">
                <a:solidFill>
                  <a:schemeClr val="bg1"/>
                </a:solidFill>
                <a:latin typeface="Book Antiqua" panose="02040602050305030304" pitchFamily="18" charset="0"/>
              </a:rPr>
              <a:t>5.- ¿Por qué es aconsejable contar con alguna de estas herramientas?</a:t>
            </a:r>
            <a:endParaRPr lang="es-PE" sz="1400" dirty="0">
              <a:solidFill>
                <a:schemeClr val="bg1"/>
              </a:solidFill>
              <a:latin typeface="Book Antiqua" panose="02040602050305030304" pitchFamily="18" charset="0"/>
            </a:endParaRPr>
          </a:p>
          <a:p>
            <a:r>
              <a:rPr lang="es-PE" sz="1400" dirty="0">
                <a:solidFill>
                  <a:schemeClr val="bg1"/>
                </a:solidFill>
                <a:latin typeface="Book Antiqua" panose="02040602050305030304" pitchFamily="18" charset="0"/>
              </a:rPr>
              <a:t>Estas herramientas permiten a las empresas enfrentarse, ya sea de forma pasiva (automatizada) o activa a las amenazas que puedan afectar al buen funcionamiento de los sistemas, como pueden ser redes de comunicaciones, </a:t>
            </a:r>
            <a:r>
              <a:rPr lang="es-PE" sz="1400" dirty="0">
                <a:solidFill>
                  <a:srgbClr val="2DA0F1"/>
                </a:solidFill>
                <a:latin typeface="Book Antiqua" panose="02040602050305030304" pitchFamily="18" charset="0"/>
                <a:hlinkClick r:id="rId4" tooltip="Seguridad en la instalación y uso de dispositivos IoT: una guía de aproximación para el empresario | Blog Protege tu empresa - INCIBE">
                  <a:extLst>
                    <a:ext uri="{A12FA001-AC4F-418D-AE19-62706E023703}">
                      <ahyp:hlinkClr xmlns:ahyp="http://schemas.microsoft.com/office/drawing/2018/hyperlinkcolor" val="tx"/>
                    </a:ext>
                  </a:extLst>
                </a:hlinkClick>
              </a:rPr>
              <a:t>dispositivos o sensores </a:t>
            </a:r>
            <a:r>
              <a:rPr lang="es-PE" sz="1400" dirty="0" err="1">
                <a:solidFill>
                  <a:schemeClr val="bg1"/>
                </a:solidFill>
                <a:latin typeface="Book Antiqua" panose="02040602050305030304" pitchFamily="18" charset="0"/>
                <a:hlinkClick r:id="rId4" tooltip="Seguridad en la instalación y uso de dispositivos IoT: una guía de aproximación para el empresario | Blog Protege tu empresa - INCIBE">
                  <a:extLst>
                    <a:ext uri="{A12FA001-AC4F-418D-AE19-62706E023703}">
                      <ahyp:hlinkClr xmlns:ahyp="http://schemas.microsoft.com/office/drawing/2018/hyperlinkcolor" val="tx"/>
                    </a:ext>
                  </a:extLst>
                </a:hlinkClick>
              </a:rPr>
              <a:t>IoT</a:t>
            </a:r>
            <a:r>
              <a:rPr lang="es-PE" sz="1400" dirty="0">
                <a:solidFill>
                  <a:schemeClr val="bg1"/>
                </a:solidFill>
                <a:latin typeface="Book Antiqua" panose="02040602050305030304" pitchFamily="18" charset="0"/>
              </a:rPr>
              <a:t>, ya que en menor o mayor medida ayudan a detectar y neutralizar las intrusiones, amenazas o comportamientos sospechosos que ponen en riesgo la ciberseguridad de la empresa. Dicho de otra manera, son un paso natural en la evolución de la ciberseguridad.</a:t>
            </a:r>
          </a:p>
          <a:p>
            <a:endParaRPr lang="es-PE" dirty="0"/>
          </a:p>
        </p:txBody>
      </p:sp>
    </p:spTree>
    <p:extLst>
      <p:ext uri="{BB962C8B-B14F-4D97-AF65-F5344CB8AC3E}">
        <p14:creationId xmlns:p14="http://schemas.microsoft.com/office/powerpoint/2010/main" val="23231385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2A423-5D24-74C1-4245-D95F51330311}"/>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1AE67886-1AF0-2137-10BB-EF1B24785900}"/>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F8C4DA66-509E-B652-62FB-060EE6060175}"/>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15297" y="-6031945"/>
            <a:ext cx="12192000" cy="12872433"/>
          </a:xfrm>
          <a:prstGeom prst="rect">
            <a:avLst/>
          </a:prstGeom>
        </p:spPr>
      </p:pic>
      <p:sp>
        <p:nvSpPr>
          <p:cNvPr id="10" name="CuadroTexto 9">
            <a:extLst>
              <a:ext uri="{FF2B5EF4-FFF2-40B4-BE49-F238E27FC236}">
                <a16:creationId xmlns:a16="http://schemas.microsoft.com/office/drawing/2014/main" id="{2462EB3F-3548-5FE1-9E97-FF2E58021ED3}"/>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66389F57-D46D-1256-BE3F-0BB3416D5E94}"/>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5B57BACA-5DC9-0925-1FAC-5253C1023568}"/>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sp>
        <p:nvSpPr>
          <p:cNvPr id="15" name="CuadroTexto 14">
            <a:extLst>
              <a:ext uri="{FF2B5EF4-FFF2-40B4-BE49-F238E27FC236}">
                <a16:creationId xmlns:a16="http://schemas.microsoft.com/office/drawing/2014/main" id="{148144AD-2E59-041E-6D2E-63ADF902DF64}"/>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pic>
        <p:nvPicPr>
          <p:cNvPr id="19" name="Gráfico 18" descr="Nube con relleno sólido">
            <a:extLst>
              <a:ext uri="{FF2B5EF4-FFF2-40B4-BE49-F238E27FC236}">
                <a16:creationId xmlns:a16="http://schemas.microsoft.com/office/drawing/2014/main" id="{5540A256-AFAC-845A-B161-A6A2A93E51C0}"/>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0" y="-126752"/>
            <a:ext cx="914400" cy="914400"/>
          </a:xfrm>
          <a:prstGeom prst="rect">
            <a:avLst/>
          </a:prstGeom>
        </p:spPr>
      </p:pic>
      <p:sp>
        <p:nvSpPr>
          <p:cNvPr id="25" name="Estrella: 4 puntas 24">
            <a:extLst>
              <a:ext uri="{FF2B5EF4-FFF2-40B4-BE49-F238E27FC236}">
                <a16:creationId xmlns:a16="http://schemas.microsoft.com/office/drawing/2014/main" id="{80F280E2-AFCF-2A81-0FF5-C108B1127245}"/>
              </a:ext>
            </a:extLst>
          </p:cNvPr>
          <p:cNvSpPr/>
          <p:nvPr/>
        </p:nvSpPr>
        <p:spPr>
          <a:xfrm>
            <a:off x="11658600" y="6206074"/>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6" name="Estrella: 4 puntas 25">
            <a:extLst>
              <a:ext uri="{FF2B5EF4-FFF2-40B4-BE49-F238E27FC236}">
                <a16:creationId xmlns:a16="http://schemas.microsoft.com/office/drawing/2014/main" id="{FF952286-42A1-2A16-641B-85E8C6C315AF}"/>
              </a:ext>
            </a:extLst>
          </p:cNvPr>
          <p:cNvSpPr/>
          <p:nvPr/>
        </p:nvSpPr>
        <p:spPr>
          <a:xfrm>
            <a:off x="526761" y="6367006"/>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7" name="Estrella: 4 puntas 26">
            <a:extLst>
              <a:ext uri="{FF2B5EF4-FFF2-40B4-BE49-F238E27FC236}">
                <a16:creationId xmlns:a16="http://schemas.microsoft.com/office/drawing/2014/main" id="{E45E453C-0530-8DE8-1C34-62B84FD8E88B}"/>
              </a:ext>
            </a:extLst>
          </p:cNvPr>
          <p:cNvSpPr/>
          <p:nvPr/>
        </p:nvSpPr>
        <p:spPr>
          <a:xfrm>
            <a:off x="11275638" y="408936"/>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 name="CuadroTexto 4">
            <a:extLst>
              <a:ext uri="{FF2B5EF4-FFF2-40B4-BE49-F238E27FC236}">
                <a16:creationId xmlns:a16="http://schemas.microsoft.com/office/drawing/2014/main" id="{C40E469B-8D62-062E-1E97-44AEE37E3277}"/>
              </a:ext>
            </a:extLst>
          </p:cNvPr>
          <p:cNvSpPr txBox="1"/>
          <p:nvPr/>
        </p:nvSpPr>
        <p:spPr>
          <a:xfrm>
            <a:off x="1993900" y="80306"/>
            <a:ext cx="11308194" cy="1477328"/>
          </a:xfrm>
          <a:prstGeom prst="rect">
            <a:avLst/>
          </a:prstGeom>
          <a:noFill/>
        </p:spPr>
        <p:txBody>
          <a:bodyPr wrap="square" rtlCol="0">
            <a:spAutoFit/>
          </a:bodyPr>
          <a:lstStyle/>
          <a:p>
            <a:r>
              <a:rPr lang="es-PE" sz="5400" b="1" dirty="0">
                <a:solidFill>
                  <a:schemeClr val="bg1"/>
                </a:solidFill>
                <a:latin typeface="Aharoni" panose="02010803020104030203" pitchFamily="2" charset="-79"/>
                <a:cs typeface="Aharoni" panose="02010803020104030203" pitchFamily="2" charset="-79"/>
              </a:rPr>
              <a:t>ATAQUES DE REDES</a:t>
            </a:r>
            <a:endParaRPr lang="es-PE" sz="5400" dirty="0">
              <a:solidFill>
                <a:schemeClr val="bg1"/>
              </a:solidFill>
              <a:latin typeface="Aharoni" panose="02010803020104030203" pitchFamily="2" charset="-79"/>
              <a:cs typeface="Aharoni" panose="02010803020104030203" pitchFamily="2" charset="-79"/>
            </a:endParaRPr>
          </a:p>
          <a:p>
            <a:endParaRPr lang="es-PE" sz="3600" dirty="0">
              <a:solidFill>
                <a:schemeClr val="bg1"/>
              </a:solidFill>
              <a:latin typeface="Aharoni" panose="02010803020104030203" pitchFamily="2" charset="-79"/>
              <a:cs typeface="Aharoni" panose="02010803020104030203" pitchFamily="2" charset="-79"/>
            </a:endParaRPr>
          </a:p>
        </p:txBody>
      </p:sp>
      <p:sp>
        <p:nvSpPr>
          <p:cNvPr id="17" name="Estrella: 4 puntas 16">
            <a:extLst>
              <a:ext uri="{FF2B5EF4-FFF2-40B4-BE49-F238E27FC236}">
                <a16:creationId xmlns:a16="http://schemas.microsoft.com/office/drawing/2014/main" id="{BEF61597-6E51-6948-7349-3F5AEC1BB591}"/>
              </a:ext>
            </a:extLst>
          </p:cNvPr>
          <p:cNvSpPr/>
          <p:nvPr/>
        </p:nvSpPr>
        <p:spPr>
          <a:xfrm>
            <a:off x="5324532" y="5937095"/>
            <a:ext cx="518160" cy="369332"/>
          </a:xfrm>
          <a:prstGeom prst="star4">
            <a:avLst>
              <a:gd name="adj" fmla="val 12380"/>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20" name="Gráfico 19" descr="Internet con relleno sólido">
            <a:extLst>
              <a:ext uri="{FF2B5EF4-FFF2-40B4-BE49-F238E27FC236}">
                <a16:creationId xmlns:a16="http://schemas.microsoft.com/office/drawing/2014/main" id="{6D5713C2-B17B-B9A8-4C0B-BADF951711C3}"/>
              </a:ext>
            </a:extLst>
          </p:cNvPr>
          <p:cNvPicPr>
            <a:picLocks noChangeAspect="1"/>
          </p:cNvPicPr>
          <p:nvPr/>
        </p:nvPicPr>
        <p:blipFill>
          <a:blip r:embed="rId5">
            <a:extLst>
              <a:ext uri="{96DAC541-7B7A-43D3-8B79-37D633B846F1}">
                <asvg:svgBlip xmlns:asvg="http://schemas.microsoft.com/office/drawing/2016/SVG/main"/>
              </a:ext>
            </a:extLst>
          </a:blip>
          <a:stretch>
            <a:fillRect/>
          </a:stretch>
        </p:blipFill>
        <p:spPr>
          <a:xfrm>
            <a:off x="5065452" y="2952513"/>
            <a:ext cx="914400" cy="914400"/>
          </a:xfrm>
          <a:prstGeom prst="rect">
            <a:avLst/>
          </a:prstGeom>
        </p:spPr>
      </p:pic>
      <p:sp>
        <p:nvSpPr>
          <p:cNvPr id="22" name="Estrella: 4 puntas 21">
            <a:extLst>
              <a:ext uri="{FF2B5EF4-FFF2-40B4-BE49-F238E27FC236}">
                <a16:creationId xmlns:a16="http://schemas.microsoft.com/office/drawing/2014/main" id="{D9303D75-8735-7459-D5C2-F5E64D00901A}"/>
              </a:ext>
            </a:extLst>
          </p:cNvPr>
          <p:cNvSpPr/>
          <p:nvPr/>
        </p:nvSpPr>
        <p:spPr>
          <a:xfrm>
            <a:off x="5065452" y="736239"/>
            <a:ext cx="518160" cy="369332"/>
          </a:xfrm>
          <a:prstGeom prst="star4">
            <a:avLst>
              <a:gd name="adj" fmla="val 8253"/>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CuadroTexto 1">
            <a:extLst>
              <a:ext uri="{FF2B5EF4-FFF2-40B4-BE49-F238E27FC236}">
                <a16:creationId xmlns:a16="http://schemas.microsoft.com/office/drawing/2014/main" id="{D32A465D-EF26-0A2F-A98D-DDA61909DC61}"/>
              </a:ext>
            </a:extLst>
          </p:cNvPr>
          <p:cNvSpPr txBox="1"/>
          <p:nvPr/>
        </p:nvSpPr>
        <p:spPr>
          <a:xfrm>
            <a:off x="0" y="1051757"/>
            <a:ext cx="5532120" cy="1231106"/>
          </a:xfrm>
          <a:prstGeom prst="rect">
            <a:avLst/>
          </a:prstGeom>
          <a:noFill/>
        </p:spPr>
        <p:txBody>
          <a:bodyPr wrap="square" rtlCol="0">
            <a:spAutoFit/>
          </a:bodyPr>
          <a:lstStyle/>
          <a:p>
            <a:r>
              <a:rPr lang="es-PE" sz="1400" b="1" dirty="0">
                <a:solidFill>
                  <a:schemeClr val="bg1"/>
                </a:solidFill>
              </a:rPr>
              <a:t>1. Ataques </a:t>
            </a:r>
            <a:r>
              <a:rPr lang="es-PE" sz="1400" b="1" dirty="0" err="1">
                <a:solidFill>
                  <a:schemeClr val="bg1"/>
                </a:solidFill>
              </a:rPr>
              <a:t>DDoS</a:t>
            </a:r>
            <a:r>
              <a:rPr lang="es-PE" sz="1400" b="1" dirty="0">
                <a:solidFill>
                  <a:schemeClr val="bg1"/>
                </a:solidFill>
              </a:rPr>
              <a:t> (Denegación de Servicio Distribuida)</a:t>
            </a:r>
            <a:endParaRPr lang="es-PE" sz="1400" dirty="0">
              <a:solidFill>
                <a:schemeClr val="bg1"/>
              </a:solidFill>
            </a:endParaRPr>
          </a:p>
          <a:p>
            <a:r>
              <a:rPr lang="es-PE" sz="1400" dirty="0">
                <a:solidFill>
                  <a:schemeClr val="bg1"/>
                </a:solidFill>
              </a:rPr>
              <a:t>Según </a:t>
            </a:r>
            <a:r>
              <a:rPr lang="es-PE" sz="1400" b="1" dirty="0">
                <a:solidFill>
                  <a:schemeClr val="bg1"/>
                </a:solidFill>
              </a:rPr>
              <a:t>IBM</a:t>
            </a:r>
            <a:r>
              <a:rPr lang="es-PE" sz="1400" dirty="0">
                <a:solidFill>
                  <a:schemeClr val="bg1"/>
                </a:solidFill>
              </a:rPr>
              <a:t>, este ataque busca agotar los recursos de un sistema (ancho de banda, CPU o memoria) para que los usuarios legítimos no puedan acceder a él.</a:t>
            </a:r>
          </a:p>
          <a:p>
            <a:endParaRPr lang="es-PE" dirty="0"/>
          </a:p>
        </p:txBody>
      </p:sp>
      <p:sp>
        <p:nvSpPr>
          <p:cNvPr id="4" name="CuadroTexto 3">
            <a:extLst>
              <a:ext uri="{FF2B5EF4-FFF2-40B4-BE49-F238E27FC236}">
                <a16:creationId xmlns:a16="http://schemas.microsoft.com/office/drawing/2014/main" id="{C3A9E964-AAEF-468E-1BE4-43A3906CB1E5}"/>
              </a:ext>
            </a:extLst>
          </p:cNvPr>
          <p:cNvSpPr txBox="1"/>
          <p:nvPr/>
        </p:nvSpPr>
        <p:spPr>
          <a:xfrm>
            <a:off x="6024101" y="1443557"/>
            <a:ext cx="5878396" cy="4678204"/>
          </a:xfrm>
          <a:prstGeom prst="rect">
            <a:avLst/>
          </a:prstGeom>
          <a:noFill/>
        </p:spPr>
        <p:txBody>
          <a:bodyPr wrap="square" rtlCol="0">
            <a:spAutoFit/>
          </a:bodyPr>
          <a:lstStyle/>
          <a:p>
            <a:r>
              <a:rPr lang="es-PE" sz="1400" b="1" dirty="0">
                <a:solidFill>
                  <a:schemeClr val="bg1"/>
                </a:solidFill>
                <a:latin typeface="Book Antiqua" panose="02040602050305030304" pitchFamily="18" charset="0"/>
              </a:rPr>
              <a:t>2. Ataque MITM (Man-in-</a:t>
            </a:r>
            <a:r>
              <a:rPr lang="es-PE" sz="1400" b="1" dirty="0" err="1">
                <a:solidFill>
                  <a:schemeClr val="bg1"/>
                </a:solidFill>
                <a:latin typeface="Book Antiqua" panose="02040602050305030304" pitchFamily="18" charset="0"/>
              </a:rPr>
              <a:t>the</a:t>
            </a:r>
            <a:r>
              <a:rPr lang="es-PE" sz="1400" b="1" dirty="0">
                <a:solidFill>
                  <a:schemeClr val="bg1"/>
                </a:solidFill>
                <a:latin typeface="Book Antiqua" panose="02040602050305030304" pitchFamily="18" charset="0"/>
              </a:rPr>
              <a:t>-</a:t>
            </a:r>
            <a:r>
              <a:rPr lang="es-PE" sz="1400" b="1" dirty="0" err="1">
                <a:solidFill>
                  <a:schemeClr val="bg1"/>
                </a:solidFill>
                <a:latin typeface="Book Antiqua" panose="02040602050305030304" pitchFamily="18" charset="0"/>
              </a:rPr>
              <a:t>Middle</a:t>
            </a:r>
            <a:r>
              <a:rPr lang="es-PE" sz="1400" b="1" dirty="0">
                <a:solidFill>
                  <a:schemeClr val="bg1"/>
                </a:solidFill>
                <a:latin typeface="Book Antiqua" panose="02040602050305030304" pitchFamily="18" charset="0"/>
              </a:rPr>
              <a:t>)</a:t>
            </a:r>
            <a:endParaRPr lang="es-PE" sz="1400" dirty="0">
              <a:solidFill>
                <a:schemeClr val="bg1"/>
              </a:solidFill>
              <a:latin typeface="Book Antiqua" panose="02040602050305030304" pitchFamily="18" charset="0"/>
            </a:endParaRPr>
          </a:p>
          <a:p>
            <a:r>
              <a:rPr lang="es-PE" sz="1400" dirty="0">
                <a:solidFill>
                  <a:schemeClr val="bg1"/>
                </a:solidFill>
                <a:latin typeface="Book Antiqua" panose="02040602050305030304" pitchFamily="18" charset="0"/>
              </a:rPr>
              <a:t>Basado en la tesis de la </a:t>
            </a:r>
            <a:r>
              <a:rPr lang="es-PE" sz="1400" b="1" dirty="0">
                <a:solidFill>
                  <a:schemeClr val="bg1"/>
                </a:solidFill>
                <a:latin typeface="Book Antiqua" panose="02040602050305030304" pitchFamily="18" charset="0"/>
              </a:rPr>
              <a:t>UPM (Raúl Pastor Iglesias)</a:t>
            </a:r>
            <a:r>
              <a:rPr lang="es-PE" sz="1400" dirty="0">
                <a:solidFill>
                  <a:schemeClr val="bg1"/>
                </a:solidFill>
                <a:latin typeface="Book Antiqua" panose="02040602050305030304" pitchFamily="18" charset="0"/>
              </a:rPr>
              <a:t>, este ataque consiste en que un tercero se intercepta de forma secreta en la comunicación entre dos partes que creen estar hablando directamente entre sí.</a:t>
            </a:r>
          </a:p>
          <a:p>
            <a:pPr lvl="0"/>
            <a:r>
              <a:rPr lang="es-PE" sz="1400" b="1" dirty="0">
                <a:solidFill>
                  <a:schemeClr val="bg1"/>
                </a:solidFill>
                <a:latin typeface="Book Antiqua" panose="02040602050305030304" pitchFamily="18" charset="0"/>
              </a:rPr>
              <a:t>Funcionamiento Técnico:</a:t>
            </a:r>
            <a:r>
              <a:rPr lang="es-PE" sz="1400" dirty="0">
                <a:solidFill>
                  <a:schemeClr val="bg1"/>
                </a:solidFill>
                <a:latin typeface="Book Antiqua" panose="02040602050305030304" pitchFamily="18" charset="0"/>
              </a:rPr>
              <a:t> El atacante "se pone en medio" para escuchar o incluso alterar los datos.</a:t>
            </a:r>
          </a:p>
          <a:p>
            <a:pPr lvl="0"/>
            <a:r>
              <a:rPr lang="es-PE" sz="1400" b="1" dirty="0">
                <a:solidFill>
                  <a:schemeClr val="bg1"/>
                </a:solidFill>
                <a:latin typeface="Book Antiqua" panose="02040602050305030304" pitchFamily="18" charset="0"/>
              </a:rPr>
              <a:t>Técnicas Comunes:</a:t>
            </a:r>
            <a:endParaRPr lang="es-PE" sz="1400" dirty="0">
              <a:solidFill>
                <a:schemeClr val="bg1"/>
              </a:solidFill>
              <a:latin typeface="Book Antiqua" panose="02040602050305030304" pitchFamily="18" charset="0"/>
            </a:endParaRPr>
          </a:p>
          <a:p>
            <a:pPr lvl="1"/>
            <a:r>
              <a:rPr lang="es-PE" sz="1400" b="1" dirty="0">
                <a:solidFill>
                  <a:schemeClr val="bg1"/>
                </a:solidFill>
                <a:latin typeface="Book Antiqua" panose="02040602050305030304" pitchFamily="18" charset="0"/>
              </a:rPr>
              <a:t>Envenenamiento de ARP (ARP </a:t>
            </a:r>
            <a:r>
              <a:rPr lang="es-PE" sz="1400" b="1" dirty="0" err="1">
                <a:solidFill>
                  <a:schemeClr val="bg1"/>
                </a:solidFill>
                <a:latin typeface="Book Antiqua" panose="02040602050305030304" pitchFamily="18" charset="0"/>
              </a:rPr>
              <a:t>Spoofing</a:t>
            </a:r>
            <a:r>
              <a:rPr lang="es-PE" sz="1400" b="1" dirty="0">
                <a:solidFill>
                  <a:schemeClr val="bg1"/>
                </a:solidFill>
                <a:latin typeface="Book Antiqua" panose="02040602050305030304" pitchFamily="18" charset="0"/>
              </a:rPr>
              <a:t>):</a:t>
            </a:r>
            <a:r>
              <a:rPr lang="es-PE" sz="1400" dirty="0">
                <a:solidFill>
                  <a:schemeClr val="bg1"/>
                </a:solidFill>
                <a:latin typeface="Book Antiqua" panose="02040602050305030304" pitchFamily="18" charset="0"/>
              </a:rPr>
              <a:t> El atacante engaña a los dispositivos de una red local vinculando su propia dirección MAC con la dirección IP del </a:t>
            </a:r>
            <a:r>
              <a:rPr lang="es-PE" sz="1400" dirty="0" err="1">
                <a:solidFill>
                  <a:schemeClr val="bg1"/>
                </a:solidFill>
                <a:latin typeface="Book Antiqua" panose="02040602050305030304" pitchFamily="18" charset="0"/>
              </a:rPr>
              <a:t>router</a:t>
            </a:r>
            <a:r>
              <a:rPr lang="es-PE" sz="1400" dirty="0">
                <a:solidFill>
                  <a:schemeClr val="bg1"/>
                </a:solidFill>
                <a:latin typeface="Book Antiqua" panose="02040602050305030304" pitchFamily="18" charset="0"/>
              </a:rPr>
              <a:t> legítimo.</a:t>
            </a:r>
          </a:p>
          <a:p>
            <a:pPr lvl="1"/>
            <a:r>
              <a:rPr lang="es-PE" sz="1400" b="1" dirty="0">
                <a:solidFill>
                  <a:schemeClr val="bg1"/>
                </a:solidFill>
                <a:latin typeface="Book Antiqua" panose="02040602050305030304" pitchFamily="18" charset="0"/>
              </a:rPr>
              <a:t>Secuestro de Sesión:</a:t>
            </a:r>
            <a:r>
              <a:rPr lang="es-PE" sz="1400" dirty="0">
                <a:solidFill>
                  <a:schemeClr val="bg1"/>
                </a:solidFill>
                <a:latin typeface="Book Antiqua" panose="02040602050305030304" pitchFamily="18" charset="0"/>
              </a:rPr>
              <a:t> Una vez que el usuario se ha autenticado, el atacante roba la "cookie de sesión" para tomar el control de la cuenta sin necesidad de contraseña.</a:t>
            </a:r>
          </a:p>
          <a:p>
            <a:pPr lvl="1"/>
            <a:r>
              <a:rPr lang="es-PE" sz="1400" b="1" dirty="0">
                <a:solidFill>
                  <a:schemeClr val="bg1"/>
                </a:solidFill>
                <a:latin typeface="Book Antiqua" panose="02040602050305030304" pitchFamily="18" charset="0"/>
              </a:rPr>
              <a:t>SSL </a:t>
            </a:r>
            <a:r>
              <a:rPr lang="es-PE" sz="1400" b="1" dirty="0" err="1">
                <a:solidFill>
                  <a:schemeClr val="bg1"/>
                </a:solidFill>
                <a:latin typeface="Book Antiqua" panose="02040602050305030304" pitchFamily="18" charset="0"/>
              </a:rPr>
              <a:t>Stripping</a:t>
            </a:r>
            <a:r>
              <a:rPr lang="es-PE" sz="1400" b="1" dirty="0">
                <a:solidFill>
                  <a:schemeClr val="bg1"/>
                </a:solidFill>
                <a:latin typeface="Book Antiqua" panose="02040602050305030304" pitchFamily="18" charset="0"/>
              </a:rPr>
              <a:t>:</a:t>
            </a:r>
            <a:r>
              <a:rPr lang="es-PE" sz="1400" dirty="0">
                <a:solidFill>
                  <a:schemeClr val="bg1"/>
                </a:solidFill>
                <a:latin typeface="Book Antiqua" panose="02040602050305030304" pitchFamily="18" charset="0"/>
              </a:rPr>
              <a:t> El atacante obliga al navegador a usar una conexión HTTP no cifrada en lugar de HTTPS, permitiendo leer los datos en texto plano.</a:t>
            </a:r>
          </a:p>
          <a:p>
            <a:pPr lvl="0"/>
            <a:r>
              <a:rPr lang="es-PE" sz="1400" b="1" dirty="0">
                <a:solidFill>
                  <a:schemeClr val="bg1"/>
                </a:solidFill>
                <a:latin typeface="Book Antiqua" panose="02040602050305030304" pitchFamily="18" charset="0"/>
              </a:rPr>
              <a:t>Protección:</a:t>
            </a:r>
            <a:r>
              <a:rPr lang="es-PE" sz="1400" dirty="0">
                <a:solidFill>
                  <a:schemeClr val="bg1"/>
                </a:solidFill>
                <a:latin typeface="Book Antiqua" panose="02040602050305030304" pitchFamily="18" charset="0"/>
              </a:rPr>
              <a:t> El uso estricto de </a:t>
            </a:r>
            <a:r>
              <a:rPr lang="es-PE" sz="1400" b="1" dirty="0">
                <a:solidFill>
                  <a:schemeClr val="bg1"/>
                </a:solidFill>
                <a:latin typeface="Book Antiqua" panose="02040602050305030304" pitchFamily="18" charset="0"/>
              </a:rPr>
              <a:t>TLS/HTTPS</a:t>
            </a:r>
            <a:r>
              <a:rPr lang="es-PE" sz="1400" dirty="0">
                <a:solidFill>
                  <a:schemeClr val="bg1"/>
                </a:solidFill>
                <a:latin typeface="Book Antiqua" panose="02040602050305030304" pitchFamily="18" charset="0"/>
              </a:rPr>
              <a:t> y la implementación de protocolos como HSTS (que obliga al navegador a usar siempre conexiones seguras).</a:t>
            </a:r>
          </a:p>
          <a:p>
            <a:pPr lvl="1"/>
            <a:endParaRPr lang="es-PE" sz="1400" dirty="0">
              <a:solidFill>
                <a:schemeClr val="bg1"/>
              </a:solidFill>
              <a:latin typeface="Book Antiqua" panose="02040602050305030304" pitchFamily="18" charset="0"/>
            </a:endParaRPr>
          </a:p>
          <a:p>
            <a:endParaRPr lang="es-PE" dirty="0"/>
          </a:p>
        </p:txBody>
      </p:sp>
      <p:sp>
        <p:nvSpPr>
          <p:cNvPr id="13" name="CuadroTexto 12">
            <a:extLst>
              <a:ext uri="{FF2B5EF4-FFF2-40B4-BE49-F238E27FC236}">
                <a16:creationId xmlns:a16="http://schemas.microsoft.com/office/drawing/2014/main" id="{D57B80AE-B464-1E4D-DBAC-C5FE8C6E01E5}"/>
              </a:ext>
            </a:extLst>
          </p:cNvPr>
          <p:cNvSpPr txBox="1"/>
          <p:nvPr/>
        </p:nvSpPr>
        <p:spPr>
          <a:xfrm>
            <a:off x="152399" y="2240459"/>
            <a:ext cx="4495800" cy="4678204"/>
          </a:xfrm>
          <a:prstGeom prst="rect">
            <a:avLst/>
          </a:prstGeom>
          <a:noFill/>
        </p:spPr>
        <p:txBody>
          <a:bodyPr wrap="square" rtlCol="0">
            <a:spAutoFit/>
          </a:bodyPr>
          <a:lstStyle/>
          <a:p>
            <a:pPr marL="285750" lvl="0" indent="-285750">
              <a:buFont typeface="Wingdings" panose="05000000000000000000" pitchFamily="2" charset="2"/>
              <a:buChar char="Ø"/>
            </a:pPr>
            <a:r>
              <a:rPr lang="es-PE" sz="1400" b="1" dirty="0">
                <a:solidFill>
                  <a:schemeClr val="bg1"/>
                </a:solidFill>
                <a:latin typeface="Book Antiqua" panose="02040602050305030304" pitchFamily="18" charset="0"/>
              </a:rPr>
              <a:t>Funcionamiento Técnico:</a:t>
            </a:r>
            <a:r>
              <a:rPr lang="es-PE" sz="1400" dirty="0">
                <a:solidFill>
                  <a:schemeClr val="bg1"/>
                </a:solidFill>
                <a:latin typeface="Book Antiqua" panose="02040602050305030304" pitchFamily="18" charset="0"/>
              </a:rPr>
              <a:t> El atacante utiliza una red de dispositivos infectados (</a:t>
            </a:r>
            <a:r>
              <a:rPr lang="es-PE" sz="1400" dirty="0" err="1">
                <a:solidFill>
                  <a:schemeClr val="bg1"/>
                </a:solidFill>
                <a:latin typeface="Book Antiqua" panose="02040602050305030304" pitchFamily="18" charset="0"/>
              </a:rPr>
              <a:t>botnet</a:t>
            </a:r>
            <a:r>
              <a:rPr lang="es-PE" sz="1400" dirty="0">
                <a:solidFill>
                  <a:schemeClr val="bg1"/>
                </a:solidFill>
                <a:latin typeface="Book Antiqua" panose="02040602050305030304" pitchFamily="18" charset="0"/>
              </a:rPr>
              <a:t>) para enviar un flujo masivo de tráfico hacia un solo objetivo.</a:t>
            </a:r>
          </a:p>
          <a:p>
            <a:pPr marL="742950" lvl="1" indent="-285750">
              <a:buFont typeface="Wingdings" panose="05000000000000000000" pitchFamily="2" charset="2"/>
              <a:buChar char="Ø"/>
            </a:pPr>
            <a:r>
              <a:rPr lang="es-PE" sz="1400" b="1" dirty="0">
                <a:solidFill>
                  <a:schemeClr val="bg1"/>
                </a:solidFill>
                <a:latin typeface="Book Antiqua" panose="02040602050305030304" pitchFamily="18" charset="0"/>
              </a:rPr>
              <a:t>Tipos de Ataques:</a:t>
            </a:r>
            <a:endParaRPr lang="es-PE" sz="1400" dirty="0">
              <a:solidFill>
                <a:schemeClr val="bg1"/>
              </a:solidFill>
              <a:latin typeface="Book Antiqua" panose="02040602050305030304" pitchFamily="18" charset="0"/>
            </a:endParaRPr>
          </a:p>
          <a:p>
            <a:pPr marL="742950" lvl="1" indent="-285750">
              <a:buFont typeface="Courier New" panose="02070309020205020404" pitchFamily="49" charset="0"/>
              <a:buChar char="o"/>
            </a:pPr>
            <a:r>
              <a:rPr lang="es-PE" sz="1400" b="1" dirty="0">
                <a:solidFill>
                  <a:schemeClr val="bg1"/>
                </a:solidFill>
                <a:latin typeface="Book Antiqua" panose="02040602050305030304" pitchFamily="18" charset="0"/>
              </a:rPr>
              <a:t>Volumétricos:</a:t>
            </a:r>
            <a:r>
              <a:rPr lang="es-PE" sz="1400" dirty="0">
                <a:solidFill>
                  <a:schemeClr val="bg1"/>
                </a:solidFill>
                <a:latin typeface="Book Antiqua" panose="02040602050305030304" pitchFamily="18" charset="0"/>
              </a:rPr>
              <a:t> Inundan la red con tráfico masivo (como inundaciones UDP o ICMP) para saturar el ancho de banda.</a:t>
            </a:r>
          </a:p>
          <a:p>
            <a:pPr marL="742950" lvl="1" indent="-285750">
              <a:buFont typeface="Courier New" panose="02070309020205020404" pitchFamily="49" charset="0"/>
              <a:buChar char="o"/>
            </a:pPr>
            <a:r>
              <a:rPr lang="es-PE" sz="1400" b="1" dirty="0">
                <a:solidFill>
                  <a:schemeClr val="bg1"/>
                </a:solidFill>
                <a:latin typeface="Book Antiqua" panose="02040602050305030304" pitchFamily="18" charset="0"/>
              </a:rPr>
              <a:t>De Protocolo:</a:t>
            </a:r>
            <a:r>
              <a:rPr lang="es-PE" sz="1400" dirty="0">
                <a:solidFill>
                  <a:schemeClr val="bg1"/>
                </a:solidFill>
                <a:latin typeface="Book Antiqua" panose="02040602050305030304" pitchFamily="18" charset="0"/>
              </a:rPr>
              <a:t> Se dirigen a los recursos de los equipos de red (como firewalls o balanceadores). Un ejemplo es el </a:t>
            </a:r>
            <a:r>
              <a:rPr lang="es-PE" sz="1400" i="1" dirty="0">
                <a:solidFill>
                  <a:schemeClr val="bg1"/>
                </a:solidFill>
                <a:latin typeface="Book Antiqua" panose="02040602050305030304" pitchFamily="18" charset="0"/>
              </a:rPr>
              <a:t>SYN </a:t>
            </a:r>
            <a:r>
              <a:rPr lang="es-PE" sz="1400" i="1" dirty="0" err="1">
                <a:solidFill>
                  <a:schemeClr val="bg1"/>
                </a:solidFill>
                <a:latin typeface="Book Antiqua" panose="02040602050305030304" pitchFamily="18" charset="0"/>
              </a:rPr>
              <a:t>Flood</a:t>
            </a:r>
            <a:r>
              <a:rPr lang="es-PE" sz="1400" dirty="0">
                <a:solidFill>
                  <a:schemeClr val="bg1"/>
                </a:solidFill>
                <a:latin typeface="Book Antiqua" panose="02040602050305030304" pitchFamily="18" charset="0"/>
              </a:rPr>
              <a:t>, que abusa del saludo de tres vías de TCP.</a:t>
            </a:r>
          </a:p>
          <a:p>
            <a:pPr marL="742950" lvl="1" indent="-285750">
              <a:buFont typeface="Courier New" panose="02070309020205020404" pitchFamily="49" charset="0"/>
              <a:buChar char="o"/>
            </a:pPr>
            <a:r>
              <a:rPr lang="es-PE" sz="1400" b="1" dirty="0">
                <a:solidFill>
                  <a:schemeClr val="bg1"/>
                </a:solidFill>
                <a:latin typeface="Book Antiqua" panose="02040602050305030304" pitchFamily="18" charset="0"/>
              </a:rPr>
              <a:t>De Capa de Aplicación (Capa 7):</a:t>
            </a:r>
            <a:r>
              <a:rPr lang="es-PE" sz="1400" dirty="0">
                <a:solidFill>
                  <a:schemeClr val="bg1"/>
                </a:solidFill>
                <a:latin typeface="Book Antiqua" panose="02040602050305030304" pitchFamily="18" charset="0"/>
              </a:rPr>
              <a:t> Son más sofisticados; imitan el comportamiento humano para saturar funciones específicas, como una inundación de peticiones HTTP GET o POST.</a:t>
            </a:r>
          </a:p>
          <a:p>
            <a:pPr marL="285750" lvl="0" indent="-285750">
              <a:buFont typeface="Courier New" panose="02070309020205020404" pitchFamily="49" charset="0"/>
              <a:buChar char="o"/>
            </a:pPr>
            <a:r>
              <a:rPr lang="es-PE" sz="1400" b="1" dirty="0">
                <a:solidFill>
                  <a:schemeClr val="bg1"/>
                </a:solidFill>
                <a:latin typeface="Book Antiqua" panose="02040602050305030304" pitchFamily="18" charset="0"/>
              </a:rPr>
              <a:t>Mitigación:</a:t>
            </a:r>
            <a:r>
              <a:rPr lang="es-PE" sz="1400" dirty="0">
                <a:solidFill>
                  <a:schemeClr val="bg1"/>
                </a:solidFill>
                <a:latin typeface="Book Antiqua" panose="02040602050305030304" pitchFamily="18" charset="0"/>
              </a:rPr>
              <a:t> IBM recomienda el uso de </a:t>
            </a:r>
            <a:r>
              <a:rPr lang="es-PE" sz="1400" b="1" dirty="0" err="1">
                <a:solidFill>
                  <a:schemeClr val="bg1"/>
                </a:solidFill>
                <a:latin typeface="Book Antiqua" panose="02040602050305030304" pitchFamily="18" charset="0"/>
              </a:rPr>
              <a:t>CDNs</a:t>
            </a:r>
            <a:r>
              <a:rPr lang="es-PE" sz="1400" dirty="0">
                <a:solidFill>
                  <a:schemeClr val="bg1"/>
                </a:solidFill>
                <a:latin typeface="Book Antiqua" panose="02040602050305030304" pitchFamily="18" charset="0"/>
              </a:rPr>
              <a:t>, </a:t>
            </a:r>
            <a:r>
              <a:rPr lang="es-PE" sz="1400" b="1" dirty="0" err="1">
                <a:solidFill>
                  <a:schemeClr val="bg1"/>
                </a:solidFill>
                <a:latin typeface="Book Antiqua" panose="02040602050305030304" pitchFamily="18" charset="0"/>
              </a:rPr>
              <a:t>WAFs</a:t>
            </a:r>
            <a:r>
              <a:rPr lang="es-PE" sz="1400" dirty="0">
                <a:solidFill>
                  <a:schemeClr val="bg1"/>
                </a:solidFill>
                <a:latin typeface="Book Antiqua" panose="02040602050305030304" pitchFamily="18" charset="0"/>
              </a:rPr>
              <a:t> (Firewalls de Aplicación Web) y técnicas de </a:t>
            </a:r>
            <a:r>
              <a:rPr lang="es-PE" sz="1400" b="1" dirty="0">
                <a:solidFill>
                  <a:schemeClr val="bg1"/>
                </a:solidFill>
                <a:latin typeface="Book Antiqua" panose="02040602050305030304" pitchFamily="18" charset="0"/>
              </a:rPr>
              <a:t>limpieza de tráfico</a:t>
            </a:r>
            <a:r>
              <a:rPr lang="es-PE" sz="1400" dirty="0">
                <a:solidFill>
                  <a:schemeClr val="bg1"/>
                </a:solidFill>
                <a:latin typeface="Book Antiqua" panose="02040602050305030304" pitchFamily="18" charset="0"/>
              </a:rPr>
              <a:t> (</a:t>
            </a:r>
            <a:r>
              <a:rPr lang="es-PE" sz="1400" dirty="0" err="1">
                <a:solidFill>
                  <a:schemeClr val="bg1"/>
                </a:solidFill>
                <a:latin typeface="Book Antiqua" panose="02040602050305030304" pitchFamily="18" charset="0"/>
              </a:rPr>
              <a:t>scrubbing</a:t>
            </a:r>
            <a:r>
              <a:rPr lang="es-PE" sz="1400" dirty="0">
                <a:solidFill>
                  <a:schemeClr val="bg1"/>
                </a:solidFill>
                <a:latin typeface="Book Antiqua" panose="02040602050305030304" pitchFamily="18" charset="0"/>
              </a:rPr>
              <a:t>) para separar el tráfico malicioso del legítimo.</a:t>
            </a:r>
          </a:p>
          <a:p>
            <a:endParaRPr lang="es-PE" dirty="0"/>
          </a:p>
        </p:txBody>
      </p:sp>
      <p:sp>
        <p:nvSpPr>
          <p:cNvPr id="14" name="CuadroTexto 13">
            <a:extLst>
              <a:ext uri="{FF2B5EF4-FFF2-40B4-BE49-F238E27FC236}">
                <a16:creationId xmlns:a16="http://schemas.microsoft.com/office/drawing/2014/main" id="{4A6F8E29-57ED-48F4-5A84-816051236B2F}"/>
              </a:ext>
            </a:extLst>
          </p:cNvPr>
          <p:cNvSpPr txBox="1"/>
          <p:nvPr/>
        </p:nvSpPr>
        <p:spPr>
          <a:xfrm>
            <a:off x="12344399" y="2841010"/>
            <a:ext cx="5486400" cy="2523768"/>
          </a:xfrm>
          <a:prstGeom prst="rect">
            <a:avLst/>
          </a:prstGeom>
          <a:noFill/>
        </p:spPr>
        <p:txBody>
          <a:bodyPr wrap="square" rtlCol="0">
            <a:spAutoFit/>
          </a:bodyPr>
          <a:lstStyle/>
          <a:p>
            <a:pPr marL="285750" indent="-285750">
              <a:buFont typeface="Wingdings" panose="05000000000000000000" pitchFamily="2" charset="2"/>
              <a:buChar char="ü"/>
            </a:pPr>
            <a:r>
              <a:rPr lang="es-PE" sz="1400" b="1" dirty="0">
                <a:solidFill>
                  <a:schemeClr val="bg1"/>
                </a:solidFill>
                <a:latin typeface="Book Antiqua" panose="02040602050305030304" pitchFamily="18" charset="0"/>
              </a:rPr>
              <a:t>5.- ¿Por qué es aconsejable contar con alguna de estas herramientas?</a:t>
            </a:r>
            <a:endParaRPr lang="es-PE" sz="1400" dirty="0">
              <a:solidFill>
                <a:schemeClr val="bg1"/>
              </a:solidFill>
              <a:latin typeface="Book Antiqua" panose="02040602050305030304" pitchFamily="18" charset="0"/>
            </a:endParaRPr>
          </a:p>
          <a:p>
            <a:r>
              <a:rPr lang="es-PE" sz="1400" dirty="0">
                <a:solidFill>
                  <a:schemeClr val="bg1"/>
                </a:solidFill>
                <a:latin typeface="Book Antiqua" panose="02040602050305030304" pitchFamily="18" charset="0"/>
              </a:rPr>
              <a:t>Estas herramientas permiten a las empresas enfrentarse, ya sea de forma pasiva (automatizada) o activa a las amenazas que puedan afectar al buen funcionamiento de los sistemas, como pueden ser redes de comunicaciones, </a:t>
            </a:r>
            <a:r>
              <a:rPr lang="es-PE" sz="1400" dirty="0">
                <a:solidFill>
                  <a:srgbClr val="2DA0F1"/>
                </a:solidFill>
                <a:latin typeface="Book Antiqua" panose="02040602050305030304" pitchFamily="18" charset="0"/>
                <a:hlinkClick r:id="rId2" tooltip="Seguridad en la instalación y uso de dispositivos IoT: una guía de aproximación para el empresario | Blog Protege tu empresa - INCIBE">
                  <a:extLst>
                    <a:ext uri="{A12FA001-AC4F-418D-AE19-62706E023703}">
                      <ahyp:hlinkClr xmlns:ahyp="http://schemas.microsoft.com/office/drawing/2018/hyperlinkcolor" val="tx"/>
                    </a:ext>
                  </a:extLst>
                </a:hlinkClick>
              </a:rPr>
              <a:t>dispositivos o sensores </a:t>
            </a:r>
            <a:r>
              <a:rPr lang="es-PE" sz="1400" dirty="0" err="1">
                <a:solidFill>
                  <a:schemeClr val="bg1"/>
                </a:solidFill>
                <a:latin typeface="Book Antiqua" panose="02040602050305030304" pitchFamily="18" charset="0"/>
                <a:hlinkClick r:id="rId2" tooltip="Seguridad en la instalación y uso de dispositivos IoT: una guía de aproximación para el empresario | Blog Protege tu empresa - INCIBE">
                  <a:extLst>
                    <a:ext uri="{A12FA001-AC4F-418D-AE19-62706E023703}">
                      <ahyp:hlinkClr xmlns:ahyp="http://schemas.microsoft.com/office/drawing/2018/hyperlinkcolor" val="tx"/>
                    </a:ext>
                  </a:extLst>
                </a:hlinkClick>
              </a:rPr>
              <a:t>IoT</a:t>
            </a:r>
            <a:r>
              <a:rPr lang="es-PE" sz="1400" dirty="0">
                <a:solidFill>
                  <a:schemeClr val="bg1"/>
                </a:solidFill>
                <a:latin typeface="Book Antiqua" panose="02040602050305030304" pitchFamily="18" charset="0"/>
              </a:rPr>
              <a:t>, ya que en menor o mayor medida ayudan a detectar y neutralizar las intrusiones, amenazas o comportamientos sospechosos que ponen en riesgo la ciberseguridad de la empresa. Dicho de otra manera, son un paso natural en la evolución de la ciberseguridad.</a:t>
            </a:r>
          </a:p>
          <a:p>
            <a:endParaRPr lang="es-PE" dirty="0"/>
          </a:p>
        </p:txBody>
      </p:sp>
    </p:spTree>
    <p:extLst>
      <p:ext uri="{BB962C8B-B14F-4D97-AF65-F5344CB8AC3E}">
        <p14:creationId xmlns:p14="http://schemas.microsoft.com/office/powerpoint/2010/main" val="37742131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66965-F70E-04FB-5037-3ADF7E5484A3}"/>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3CBEC5CF-546B-484E-08D9-D4F4682E0A50}"/>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D94F543F-A76B-E721-714C-5BB22AA2015F}"/>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15297" y="-6031945"/>
            <a:ext cx="12192000" cy="12872433"/>
          </a:xfrm>
          <a:prstGeom prst="rect">
            <a:avLst/>
          </a:prstGeom>
        </p:spPr>
      </p:pic>
      <p:sp>
        <p:nvSpPr>
          <p:cNvPr id="10" name="CuadroTexto 9">
            <a:extLst>
              <a:ext uri="{FF2B5EF4-FFF2-40B4-BE49-F238E27FC236}">
                <a16:creationId xmlns:a16="http://schemas.microsoft.com/office/drawing/2014/main" id="{0341E32D-F921-A9E6-8FB7-7F4955AEEF4A}"/>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9CC52F9F-3DC7-7A60-AFE7-05215E7A17BC}"/>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A507BD03-17FE-D1BE-F2E9-AF5DA2B08118}"/>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sp>
        <p:nvSpPr>
          <p:cNvPr id="15" name="CuadroTexto 14">
            <a:extLst>
              <a:ext uri="{FF2B5EF4-FFF2-40B4-BE49-F238E27FC236}">
                <a16:creationId xmlns:a16="http://schemas.microsoft.com/office/drawing/2014/main" id="{54D750BC-B4D8-B4E1-F96F-913A0D9232D8}"/>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pic>
        <p:nvPicPr>
          <p:cNvPr id="19" name="Gráfico 18" descr="Nube con relleno sólido">
            <a:extLst>
              <a:ext uri="{FF2B5EF4-FFF2-40B4-BE49-F238E27FC236}">
                <a16:creationId xmlns:a16="http://schemas.microsoft.com/office/drawing/2014/main" id="{64201387-5ED3-B15F-3243-2C1729733E47}"/>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0" y="-126752"/>
            <a:ext cx="914400" cy="914400"/>
          </a:xfrm>
          <a:prstGeom prst="rect">
            <a:avLst/>
          </a:prstGeom>
        </p:spPr>
      </p:pic>
      <p:sp>
        <p:nvSpPr>
          <p:cNvPr id="25" name="Estrella: 4 puntas 24">
            <a:extLst>
              <a:ext uri="{FF2B5EF4-FFF2-40B4-BE49-F238E27FC236}">
                <a16:creationId xmlns:a16="http://schemas.microsoft.com/office/drawing/2014/main" id="{15C3FF53-EF9D-67C5-E5F4-8229FE44D61A}"/>
              </a:ext>
            </a:extLst>
          </p:cNvPr>
          <p:cNvSpPr/>
          <p:nvPr/>
        </p:nvSpPr>
        <p:spPr>
          <a:xfrm>
            <a:off x="11658600" y="6206074"/>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6" name="Estrella: 4 puntas 25">
            <a:extLst>
              <a:ext uri="{FF2B5EF4-FFF2-40B4-BE49-F238E27FC236}">
                <a16:creationId xmlns:a16="http://schemas.microsoft.com/office/drawing/2014/main" id="{5E65656F-A7F6-DFFC-182B-4707D88C438B}"/>
              </a:ext>
            </a:extLst>
          </p:cNvPr>
          <p:cNvSpPr/>
          <p:nvPr/>
        </p:nvSpPr>
        <p:spPr>
          <a:xfrm>
            <a:off x="526761" y="6367006"/>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7" name="Estrella: 4 puntas 26">
            <a:extLst>
              <a:ext uri="{FF2B5EF4-FFF2-40B4-BE49-F238E27FC236}">
                <a16:creationId xmlns:a16="http://schemas.microsoft.com/office/drawing/2014/main" id="{4AB7CE2F-7F1C-F19C-13AF-B25E19061F4A}"/>
              </a:ext>
            </a:extLst>
          </p:cNvPr>
          <p:cNvSpPr/>
          <p:nvPr/>
        </p:nvSpPr>
        <p:spPr>
          <a:xfrm>
            <a:off x="11275638" y="408936"/>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 name="CuadroTexto 4">
            <a:extLst>
              <a:ext uri="{FF2B5EF4-FFF2-40B4-BE49-F238E27FC236}">
                <a16:creationId xmlns:a16="http://schemas.microsoft.com/office/drawing/2014/main" id="{8AB3113D-5F80-FF6C-DEBA-9BFF554BFE34}"/>
              </a:ext>
            </a:extLst>
          </p:cNvPr>
          <p:cNvSpPr txBox="1"/>
          <p:nvPr/>
        </p:nvSpPr>
        <p:spPr>
          <a:xfrm>
            <a:off x="1993900" y="80306"/>
            <a:ext cx="11308194" cy="1477328"/>
          </a:xfrm>
          <a:prstGeom prst="rect">
            <a:avLst/>
          </a:prstGeom>
          <a:noFill/>
        </p:spPr>
        <p:txBody>
          <a:bodyPr wrap="square" rtlCol="0">
            <a:spAutoFit/>
          </a:bodyPr>
          <a:lstStyle/>
          <a:p>
            <a:r>
              <a:rPr lang="es-PE" sz="5400" b="1" dirty="0">
                <a:solidFill>
                  <a:schemeClr val="bg1"/>
                </a:solidFill>
                <a:latin typeface="Aharoni" panose="02010803020104030203" pitchFamily="2" charset="-79"/>
                <a:cs typeface="Aharoni" panose="02010803020104030203" pitchFamily="2" charset="-79"/>
              </a:rPr>
              <a:t>ATAQUES DE REDES</a:t>
            </a:r>
            <a:endParaRPr lang="es-PE" sz="5400" dirty="0">
              <a:solidFill>
                <a:schemeClr val="bg1"/>
              </a:solidFill>
              <a:latin typeface="Aharoni" panose="02010803020104030203" pitchFamily="2" charset="-79"/>
              <a:cs typeface="Aharoni" panose="02010803020104030203" pitchFamily="2" charset="-79"/>
            </a:endParaRPr>
          </a:p>
          <a:p>
            <a:endParaRPr lang="es-PE" sz="3600" dirty="0">
              <a:solidFill>
                <a:schemeClr val="bg1"/>
              </a:solidFill>
              <a:latin typeface="Aharoni" panose="02010803020104030203" pitchFamily="2" charset="-79"/>
              <a:cs typeface="Aharoni" panose="02010803020104030203" pitchFamily="2" charset="-79"/>
            </a:endParaRPr>
          </a:p>
        </p:txBody>
      </p:sp>
      <p:sp>
        <p:nvSpPr>
          <p:cNvPr id="17" name="Estrella: 4 puntas 16">
            <a:extLst>
              <a:ext uri="{FF2B5EF4-FFF2-40B4-BE49-F238E27FC236}">
                <a16:creationId xmlns:a16="http://schemas.microsoft.com/office/drawing/2014/main" id="{F172423D-D04C-A27E-2827-26C0ED9A7605}"/>
              </a:ext>
            </a:extLst>
          </p:cNvPr>
          <p:cNvSpPr/>
          <p:nvPr/>
        </p:nvSpPr>
        <p:spPr>
          <a:xfrm>
            <a:off x="5577839" y="6121501"/>
            <a:ext cx="518160" cy="369332"/>
          </a:xfrm>
          <a:prstGeom prst="star4">
            <a:avLst>
              <a:gd name="adj" fmla="val 12380"/>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20" name="Gráfico 19" descr="Internet con relleno sólido">
            <a:extLst>
              <a:ext uri="{FF2B5EF4-FFF2-40B4-BE49-F238E27FC236}">
                <a16:creationId xmlns:a16="http://schemas.microsoft.com/office/drawing/2014/main" id="{C487E15D-1276-F07D-3E92-E4B956CA9656}"/>
              </a:ext>
            </a:extLst>
          </p:cNvPr>
          <p:cNvPicPr>
            <a:picLocks noChangeAspect="1"/>
          </p:cNvPicPr>
          <p:nvPr/>
        </p:nvPicPr>
        <p:blipFill>
          <a:blip r:embed="rId5">
            <a:extLst>
              <a:ext uri="{96DAC541-7B7A-43D3-8B79-37D633B846F1}">
                <asvg:svgBlip xmlns:asvg="http://schemas.microsoft.com/office/drawing/2016/SVG/main"/>
              </a:ext>
            </a:extLst>
          </a:blip>
          <a:stretch>
            <a:fillRect/>
          </a:stretch>
        </p:blipFill>
        <p:spPr>
          <a:xfrm>
            <a:off x="7476342" y="4673958"/>
            <a:ext cx="1675305" cy="1538267"/>
          </a:xfrm>
          <a:prstGeom prst="rect">
            <a:avLst/>
          </a:prstGeom>
        </p:spPr>
      </p:pic>
      <p:sp>
        <p:nvSpPr>
          <p:cNvPr id="22" name="Estrella: 4 puntas 21">
            <a:extLst>
              <a:ext uri="{FF2B5EF4-FFF2-40B4-BE49-F238E27FC236}">
                <a16:creationId xmlns:a16="http://schemas.microsoft.com/office/drawing/2014/main" id="{ADCBDD8E-1464-E6E4-DC56-A9FF13D9E409}"/>
              </a:ext>
            </a:extLst>
          </p:cNvPr>
          <p:cNvSpPr/>
          <p:nvPr/>
        </p:nvSpPr>
        <p:spPr>
          <a:xfrm>
            <a:off x="5065452" y="736239"/>
            <a:ext cx="518160" cy="369332"/>
          </a:xfrm>
          <a:prstGeom prst="star4">
            <a:avLst>
              <a:gd name="adj" fmla="val 8253"/>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CuadroTexto 1">
            <a:extLst>
              <a:ext uri="{FF2B5EF4-FFF2-40B4-BE49-F238E27FC236}">
                <a16:creationId xmlns:a16="http://schemas.microsoft.com/office/drawing/2014/main" id="{E792DDCA-3E33-A495-88C7-58DB6964A59D}"/>
              </a:ext>
            </a:extLst>
          </p:cNvPr>
          <p:cNvSpPr txBox="1"/>
          <p:nvPr/>
        </p:nvSpPr>
        <p:spPr>
          <a:xfrm>
            <a:off x="162531" y="880170"/>
            <a:ext cx="11866937" cy="3570208"/>
          </a:xfrm>
          <a:prstGeom prst="rect">
            <a:avLst/>
          </a:prstGeom>
          <a:noFill/>
        </p:spPr>
        <p:txBody>
          <a:bodyPr wrap="square" rtlCol="0">
            <a:spAutoFit/>
          </a:bodyPr>
          <a:lstStyle/>
          <a:p>
            <a:r>
              <a:rPr lang="es-PE" sz="1600" b="1" dirty="0">
                <a:solidFill>
                  <a:schemeClr val="bg1"/>
                </a:solidFill>
                <a:latin typeface="Book Antiqua" panose="02040602050305030304" pitchFamily="18" charset="0"/>
              </a:rPr>
              <a:t>3. Phishing Técnico (Ingeniería Social)</a:t>
            </a:r>
            <a:endParaRPr lang="es-PE" sz="1600" dirty="0">
              <a:solidFill>
                <a:schemeClr val="bg1"/>
              </a:solidFill>
              <a:latin typeface="Book Antiqua" panose="02040602050305030304" pitchFamily="18" charset="0"/>
            </a:endParaRPr>
          </a:p>
          <a:p>
            <a:r>
              <a:rPr lang="es-PE" sz="1600" dirty="0">
                <a:solidFill>
                  <a:schemeClr val="bg1"/>
                </a:solidFill>
                <a:latin typeface="Book Antiqua" panose="02040602050305030304" pitchFamily="18" charset="0"/>
              </a:rPr>
              <a:t>De acuerdo con </a:t>
            </a:r>
            <a:r>
              <a:rPr lang="es-PE" sz="1600" b="1" dirty="0" err="1">
                <a:solidFill>
                  <a:schemeClr val="bg1"/>
                </a:solidFill>
                <a:latin typeface="Book Antiqua" panose="02040602050305030304" pitchFamily="18" charset="0"/>
              </a:rPr>
              <a:t>Eye</a:t>
            </a:r>
            <a:r>
              <a:rPr lang="es-PE" sz="1600" b="1" dirty="0">
                <a:solidFill>
                  <a:schemeClr val="bg1"/>
                </a:solidFill>
                <a:latin typeface="Book Antiqua" panose="02040602050305030304" pitchFamily="18" charset="0"/>
              </a:rPr>
              <a:t> Security</a:t>
            </a:r>
            <a:r>
              <a:rPr lang="es-PE" sz="1600" dirty="0">
                <a:solidFill>
                  <a:schemeClr val="bg1"/>
                </a:solidFill>
                <a:latin typeface="Book Antiqua" panose="02040602050305030304" pitchFamily="18" charset="0"/>
              </a:rPr>
              <a:t> y el contexto de </a:t>
            </a:r>
            <a:r>
              <a:rPr lang="es-PE" sz="1600" b="1" dirty="0">
                <a:solidFill>
                  <a:schemeClr val="bg1"/>
                </a:solidFill>
                <a:latin typeface="Book Antiqua" panose="02040602050305030304" pitchFamily="18" charset="0"/>
              </a:rPr>
              <a:t>IBM</a:t>
            </a:r>
            <a:r>
              <a:rPr lang="es-PE" sz="1600" dirty="0">
                <a:solidFill>
                  <a:schemeClr val="bg1"/>
                </a:solidFill>
                <a:latin typeface="Book Antiqua" panose="02040602050305030304" pitchFamily="18" charset="0"/>
              </a:rPr>
              <a:t>, el phishing ha evolucionado de simples correos falsos a técnicas altamente técnicas y dirigidas.</a:t>
            </a:r>
          </a:p>
          <a:p>
            <a:pPr lvl="0"/>
            <a:r>
              <a:rPr lang="es-PE" sz="1600" b="1" dirty="0">
                <a:solidFill>
                  <a:schemeClr val="bg1"/>
                </a:solidFill>
                <a:latin typeface="Book Antiqua" panose="02040602050305030304" pitchFamily="18" charset="0"/>
              </a:rPr>
              <a:t>Definición Técnica:</a:t>
            </a:r>
            <a:r>
              <a:rPr lang="es-PE" sz="1600" dirty="0">
                <a:solidFill>
                  <a:schemeClr val="bg1"/>
                </a:solidFill>
                <a:latin typeface="Book Antiqua" panose="02040602050305030304" pitchFamily="18" charset="0"/>
              </a:rPr>
              <a:t> Es una forma de ingeniería social que utiliza canales digitales para engañar a los usuarios y que estos revelen credenciales o instalen malware.</a:t>
            </a:r>
          </a:p>
          <a:p>
            <a:pPr lvl="0"/>
            <a:r>
              <a:rPr lang="es-PE" sz="1600" b="1" dirty="0">
                <a:solidFill>
                  <a:schemeClr val="bg1"/>
                </a:solidFill>
                <a:latin typeface="Book Antiqua" panose="02040602050305030304" pitchFamily="18" charset="0"/>
              </a:rPr>
              <a:t>Variantes Técnicas:</a:t>
            </a:r>
            <a:endParaRPr lang="es-PE" sz="1600" dirty="0">
              <a:solidFill>
                <a:schemeClr val="bg1"/>
              </a:solidFill>
              <a:latin typeface="Book Antiqua" panose="02040602050305030304" pitchFamily="18" charset="0"/>
            </a:endParaRPr>
          </a:p>
          <a:p>
            <a:pPr lvl="1"/>
            <a:r>
              <a:rPr lang="es-PE" sz="1600" b="1" dirty="0" err="1">
                <a:solidFill>
                  <a:schemeClr val="bg1"/>
                </a:solidFill>
                <a:latin typeface="Book Antiqua" panose="02040602050305030304" pitchFamily="18" charset="0"/>
              </a:rPr>
              <a:t>Spear</a:t>
            </a:r>
            <a:r>
              <a:rPr lang="es-PE" sz="1600" b="1" dirty="0">
                <a:solidFill>
                  <a:schemeClr val="bg1"/>
                </a:solidFill>
                <a:latin typeface="Book Antiqua" panose="02040602050305030304" pitchFamily="18" charset="0"/>
              </a:rPr>
              <a:t> Phishing:</a:t>
            </a:r>
            <a:r>
              <a:rPr lang="es-PE" sz="1600" dirty="0">
                <a:solidFill>
                  <a:schemeClr val="bg1"/>
                </a:solidFill>
                <a:latin typeface="Book Antiqua" panose="02040602050305030304" pitchFamily="18" charset="0"/>
              </a:rPr>
              <a:t> Ataque dirigido a una persona específica de una organización, utilizando datos reales obtenidos previamente para generar confianza.</a:t>
            </a:r>
          </a:p>
          <a:p>
            <a:pPr lvl="1"/>
            <a:r>
              <a:rPr lang="es-PE" sz="1600" b="1" dirty="0">
                <a:solidFill>
                  <a:schemeClr val="bg1"/>
                </a:solidFill>
                <a:latin typeface="Book Antiqua" panose="02040602050305030304" pitchFamily="18" charset="0"/>
              </a:rPr>
              <a:t>Phishing de Aplicación (</a:t>
            </a:r>
            <a:r>
              <a:rPr lang="es-PE" sz="1600" b="1" dirty="0" err="1">
                <a:solidFill>
                  <a:schemeClr val="bg1"/>
                </a:solidFill>
                <a:latin typeface="Book Antiqua" panose="02040602050305030304" pitchFamily="18" charset="0"/>
              </a:rPr>
              <a:t>Oauth</a:t>
            </a:r>
            <a:r>
              <a:rPr lang="es-PE" sz="1600" b="1" dirty="0">
                <a:solidFill>
                  <a:schemeClr val="bg1"/>
                </a:solidFill>
                <a:latin typeface="Book Antiqua" panose="02040602050305030304" pitchFamily="18" charset="0"/>
              </a:rPr>
              <a:t> Phishing):</a:t>
            </a:r>
            <a:r>
              <a:rPr lang="es-PE" sz="1600" dirty="0">
                <a:solidFill>
                  <a:schemeClr val="bg1"/>
                </a:solidFill>
                <a:latin typeface="Book Antiqua" panose="02040602050305030304" pitchFamily="18" charset="0"/>
              </a:rPr>
              <a:t> En lugar de pedir una contraseña, el atacante convence al usuario de dar permisos a una aplicación maliciosa mediante un mensaje de "Aceptar permisos", obteniendo acceso total a su correo o archivos sin robar la clave.</a:t>
            </a:r>
          </a:p>
          <a:p>
            <a:pPr lvl="1"/>
            <a:r>
              <a:rPr lang="es-PE" sz="1600" b="1" dirty="0" err="1">
                <a:solidFill>
                  <a:schemeClr val="bg1"/>
                </a:solidFill>
                <a:latin typeface="Book Antiqua" panose="02040602050305030304" pitchFamily="18" charset="0"/>
              </a:rPr>
              <a:t>Pharming</a:t>
            </a:r>
            <a:r>
              <a:rPr lang="es-PE" sz="1600" b="1" dirty="0">
                <a:solidFill>
                  <a:schemeClr val="bg1"/>
                </a:solidFill>
                <a:latin typeface="Book Antiqua" panose="02040602050305030304" pitchFamily="18" charset="0"/>
              </a:rPr>
              <a:t>:</a:t>
            </a:r>
            <a:r>
              <a:rPr lang="es-PE" sz="1600" dirty="0">
                <a:solidFill>
                  <a:schemeClr val="bg1"/>
                </a:solidFill>
                <a:latin typeface="Book Antiqua" panose="02040602050305030304" pitchFamily="18" charset="0"/>
              </a:rPr>
              <a:t> Es una técnica más avanzada donde se altera el archivo </a:t>
            </a:r>
            <a:r>
              <a:rPr lang="es-PE" sz="1600" i="1" dirty="0">
                <a:solidFill>
                  <a:schemeClr val="bg1"/>
                </a:solidFill>
                <a:latin typeface="Book Antiqua" panose="02040602050305030304" pitchFamily="18" charset="0"/>
              </a:rPr>
              <a:t>hosts</a:t>
            </a:r>
            <a:r>
              <a:rPr lang="es-PE" sz="1600" dirty="0">
                <a:solidFill>
                  <a:schemeClr val="bg1"/>
                </a:solidFill>
                <a:latin typeface="Book Antiqua" panose="02040602050305030304" pitchFamily="18" charset="0"/>
              </a:rPr>
              <a:t> de una computadora o se envenena el sistema </a:t>
            </a:r>
            <a:r>
              <a:rPr lang="es-PE" sz="1600" b="1" dirty="0">
                <a:solidFill>
                  <a:schemeClr val="bg1"/>
                </a:solidFill>
                <a:latin typeface="Book Antiqua" panose="02040602050305030304" pitchFamily="18" charset="0"/>
              </a:rPr>
              <a:t>DNS</a:t>
            </a:r>
            <a:r>
              <a:rPr lang="es-PE" sz="1600" dirty="0">
                <a:solidFill>
                  <a:schemeClr val="bg1"/>
                </a:solidFill>
                <a:latin typeface="Book Antiqua" panose="02040602050305030304" pitchFamily="18" charset="0"/>
              </a:rPr>
              <a:t>, haciendo que el usuario entre a una web falsa incluso si escribe la dirección correctamente en el navegador.</a:t>
            </a:r>
          </a:p>
          <a:p>
            <a:endParaRPr lang="es-PE" dirty="0"/>
          </a:p>
        </p:txBody>
      </p:sp>
      <p:sp>
        <p:nvSpPr>
          <p:cNvPr id="14" name="CuadroTexto 13">
            <a:extLst>
              <a:ext uri="{FF2B5EF4-FFF2-40B4-BE49-F238E27FC236}">
                <a16:creationId xmlns:a16="http://schemas.microsoft.com/office/drawing/2014/main" id="{17262FC5-E2BB-D502-7576-4765C24CCD74}"/>
              </a:ext>
            </a:extLst>
          </p:cNvPr>
          <p:cNvSpPr txBox="1"/>
          <p:nvPr/>
        </p:nvSpPr>
        <p:spPr>
          <a:xfrm>
            <a:off x="12344399" y="2841010"/>
            <a:ext cx="5486400" cy="2523768"/>
          </a:xfrm>
          <a:prstGeom prst="rect">
            <a:avLst/>
          </a:prstGeom>
          <a:noFill/>
        </p:spPr>
        <p:txBody>
          <a:bodyPr wrap="square" rtlCol="0">
            <a:spAutoFit/>
          </a:bodyPr>
          <a:lstStyle/>
          <a:p>
            <a:pPr marL="285750" indent="-285750">
              <a:buFont typeface="Wingdings" panose="05000000000000000000" pitchFamily="2" charset="2"/>
              <a:buChar char="ü"/>
            </a:pPr>
            <a:r>
              <a:rPr lang="es-PE" sz="1400" b="1" dirty="0">
                <a:solidFill>
                  <a:schemeClr val="bg1"/>
                </a:solidFill>
                <a:latin typeface="Book Antiqua" panose="02040602050305030304" pitchFamily="18" charset="0"/>
              </a:rPr>
              <a:t>5.- ¿Por qué es aconsejable contar con alguna de estas herramientas?</a:t>
            </a:r>
            <a:endParaRPr lang="es-PE" sz="1400" dirty="0">
              <a:solidFill>
                <a:schemeClr val="bg1"/>
              </a:solidFill>
              <a:latin typeface="Book Antiqua" panose="02040602050305030304" pitchFamily="18" charset="0"/>
            </a:endParaRPr>
          </a:p>
          <a:p>
            <a:r>
              <a:rPr lang="es-PE" sz="1400" dirty="0">
                <a:solidFill>
                  <a:schemeClr val="bg1"/>
                </a:solidFill>
                <a:latin typeface="Book Antiqua" panose="02040602050305030304" pitchFamily="18" charset="0"/>
              </a:rPr>
              <a:t>Estas herramientas permiten a las empresas enfrentarse, ya sea de forma pasiva (automatizada) o activa a las amenazas que puedan afectar al buen funcionamiento de los sistemas, como pueden ser redes de comunicaciones, </a:t>
            </a:r>
            <a:r>
              <a:rPr lang="es-PE" sz="1400" dirty="0">
                <a:solidFill>
                  <a:srgbClr val="2DA0F1"/>
                </a:solidFill>
                <a:latin typeface="Book Antiqua" panose="02040602050305030304" pitchFamily="18" charset="0"/>
                <a:hlinkClick r:id="rId2" tooltip="Seguridad en la instalación y uso de dispositivos IoT: una guía de aproximación para el empresario | Blog Protege tu empresa - INCIBE">
                  <a:extLst>
                    <a:ext uri="{A12FA001-AC4F-418D-AE19-62706E023703}">
                      <ahyp:hlinkClr xmlns:ahyp="http://schemas.microsoft.com/office/drawing/2018/hyperlinkcolor" val="tx"/>
                    </a:ext>
                  </a:extLst>
                </a:hlinkClick>
              </a:rPr>
              <a:t>dispositivos o sensores </a:t>
            </a:r>
            <a:r>
              <a:rPr lang="es-PE" sz="1400" dirty="0" err="1">
                <a:solidFill>
                  <a:schemeClr val="bg1"/>
                </a:solidFill>
                <a:latin typeface="Book Antiqua" panose="02040602050305030304" pitchFamily="18" charset="0"/>
                <a:hlinkClick r:id="rId2" tooltip="Seguridad en la instalación y uso de dispositivos IoT: una guía de aproximación para el empresario | Blog Protege tu empresa - INCIBE">
                  <a:extLst>
                    <a:ext uri="{A12FA001-AC4F-418D-AE19-62706E023703}">
                      <ahyp:hlinkClr xmlns:ahyp="http://schemas.microsoft.com/office/drawing/2018/hyperlinkcolor" val="tx"/>
                    </a:ext>
                  </a:extLst>
                </a:hlinkClick>
              </a:rPr>
              <a:t>IoT</a:t>
            </a:r>
            <a:r>
              <a:rPr lang="es-PE" sz="1400" dirty="0">
                <a:solidFill>
                  <a:schemeClr val="bg1"/>
                </a:solidFill>
                <a:latin typeface="Book Antiqua" panose="02040602050305030304" pitchFamily="18" charset="0"/>
              </a:rPr>
              <a:t>, ya que en menor o mayor medida ayudan a detectar y neutralizar las intrusiones, amenazas o comportamientos sospechosos que ponen en riesgo la ciberseguridad de la empresa. Dicho de otra manera, son un paso natural en la evolución de la ciberseguridad.</a:t>
            </a:r>
          </a:p>
          <a:p>
            <a:endParaRPr lang="es-PE" dirty="0"/>
          </a:p>
        </p:txBody>
      </p:sp>
      <p:pic>
        <p:nvPicPr>
          <p:cNvPr id="3" name="Imagen 2" descr="Evite ser víctima de ataques de Ingeniería social | Universidad Nacional de  Loja">
            <a:extLst>
              <a:ext uri="{FF2B5EF4-FFF2-40B4-BE49-F238E27FC236}">
                <a16:creationId xmlns:a16="http://schemas.microsoft.com/office/drawing/2014/main" id="{F9E0CCFF-FF76-F604-B2C0-AE96D943E470}"/>
              </a:ext>
            </a:extLst>
          </p:cNvPr>
          <p:cNvPicPr>
            <a:picLocks noChangeAspect="1"/>
          </p:cNvPicPr>
          <p:nvPr/>
        </p:nvPicPr>
        <p:blipFill>
          <a:blip/>
          <a:stretch>
            <a:fillRect/>
          </a:stretch>
        </p:blipFill>
        <p:spPr>
          <a:xfrm>
            <a:off x="2071294" y="4139671"/>
            <a:ext cx="3384239" cy="2474989"/>
          </a:xfrm>
          <a:prstGeom prst="rect">
            <a:avLst/>
          </a:prstGeom>
        </p:spPr>
      </p:pic>
    </p:spTree>
    <p:extLst>
      <p:ext uri="{BB962C8B-B14F-4D97-AF65-F5344CB8AC3E}">
        <p14:creationId xmlns:p14="http://schemas.microsoft.com/office/powerpoint/2010/main" val="4803618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1DF7C-F322-5082-1EDA-BCBC1D301C1B}"/>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AB078182-486F-2FA2-F70F-FA57B2008FA5}"/>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9BCB0D67-C097-4927-3648-F3ED39AD6047}"/>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15297" y="-6031945"/>
            <a:ext cx="12192000" cy="12872433"/>
          </a:xfrm>
          <a:prstGeom prst="rect">
            <a:avLst/>
          </a:prstGeom>
        </p:spPr>
      </p:pic>
      <p:sp>
        <p:nvSpPr>
          <p:cNvPr id="10" name="CuadroTexto 9">
            <a:extLst>
              <a:ext uri="{FF2B5EF4-FFF2-40B4-BE49-F238E27FC236}">
                <a16:creationId xmlns:a16="http://schemas.microsoft.com/office/drawing/2014/main" id="{CDB6E304-4133-5726-A8C0-584A091E6ED9}"/>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5C5A1274-F3E3-8B72-1CA8-987816A100F2}"/>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279FA1C7-77EB-A94D-C87D-D85D57CF8A9F}"/>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sp>
        <p:nvSpPr>
          <p:cNvPr id="15" name="CuadroTexto 14">
            <a:extLst>
              <a:ext uri="{FF2B5EF4-FFF2-40B4-BE49-F238E27FC236}">
                <a16:creationId xmlns:a16="http://schemas.microsoft.com/office/drawing/2014/main" id="{C2F91AD4-C8BD-550E-C49A-821C7F991A6C}"/>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pic>
        <p:nvPicPr>
          <p:cNvPr id="19" name="Gráfico 18" descr="Nube con relleno sólido">
            <a:extLst>
              <a:ext uri="{FF2B5EF4-FFF2-40B4-BE49-F238E27FC236}">
                <a16:creationId xmlns:a16="http://schemas.microsoft.com/office/drawing/2014/main" id="{07498CF0-D1C5-2FE5-3DC3-12EEAA30D5E9}"/>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0" y="-126752"/>
            <a:ext cx="914400" cy="914400"/>
          </a:xfrm>
          <a:prstGeom prst="rect">
            <a:avLst/>
          </a:prstGeom>
        </p:spPr>
      </p:pic>
      <p:sp>
        <p:nvSpPr>
          <p:cNvPr id="25" name="Estrella: 4 puntas 24">
            <a:extLst>
              <a:ext uri="{FF2B5EF4-FFF2-40B4-BE49-F238E27FC236}">
                <a16:creationId xmlns:a16="http://schemas.microsoft.com/office/drawing/2014/main" id="{5A2535E5-BC23-9E98-77A8-EA8CC2A54C3C}"/>
              </a:ext>
            </a:extLst>
          </p:cNvPr>
          <p:cNvSpPr/>
          <p:nvPr/>
        </p:nvSpPr>
        <p:spPr>
          <a:xfrm>
            <a:off x="11658600" y="6206074"/>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6" name="Estrella: 4 puntas 25">
            <a:extLst>
              <a:ext uri="{FF2B5EF4-FFF2-40B4-BE49-F238E27FC236}">
                <a16:creationId xmlns:a16="http://schemas.microsoft.com/office/drawing/2014/main" id="{355A32BF-DC5F-82AD-4471-0F9BB1B99943}"/>
              </a:ext>
            </a:extLst>
          </p:cNvPr>
          <p:cNvSpPr/>
          <p:nvPr/>
        </p:nvSpPr>
        <p:spPr>
          <a:xfrm>
            <a:off x="526761" y="6367006"/>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7" name="Estrella: 4 puntas 26">
            <a:extLst>
              <a:ext uri="{FF2B5EF4-FFF2-40B4-BE49-F238E27FC236}">
                <a16:creationId xmlns:a16="http://schemas.microsoft.com/office/drawing/2014/main" id="{1545B8A3-0011-6999-B663-9A4DB9EC9AE1}"/>
              </a:ext>
            </a:extLst>
          </p:cNvPr>
          <p:cNvSpPr/>
          <p:nvPr/>
        </p:nvSpPr>
        <p:spPr>
          <a:xfrm>
            <a:off x="11275638" y="408936"/>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 name="CuadroTexto 4">
            <a:extLst>
              <a:ext uri="{FF2B5EF4-FFF2-40B4-BE49-F238E27FC236}">
                <a16:creationId xmlns:a16="http://schemas.microsoft.com/office/drawing/2014/main" id="{21B1F8B0-EA11-55AD-C212-0AEDE004D857}"/>
              </a:ext>
            </a:extLst>
          </p:cNvPr>
          <p:cNvSpPr txBox="1"/>
          <p:nvPr/>
        </p:nvSpPr>
        <p:spPr>
          <a:xfrm>
            <a:off x="914400" y="80306"/>
            <a:ext cx="12387694" cy="1754326"/>
          </a:xfrm>
          <a:prstGeom prst="rect">
            <a:avLst/>
          </a:prstGeom>
          <a:noFill/>
        </p:spPr>
        <p:txBody>
          <a:bodyPr wrap="square" rtlCol="0">
            <a:spAutoFit/>
          </a:bodyPr>
          <a:lstStyle/>
          <a:p>
            <a:r>
              <a:rPr lang="es-MX" sz="3600" dirty="0">
                <a:solidFill>
                  <a:schemeClr val="bg1"/>
                </a:solidFill>
                <a:latin typeface="Aharoni" panose="02010803020104030203" pitchFamily="2" charset="-79"/>
                <a:cs typeface="Aharoni" panose="02010803020104030203" pitchFamily="2" charset="-79"/>
              </a:rPr>
              <a:t>POLÍTICAS DE SEGURIDAD BYOD EN INSTITUCIONES EDUCATIVAS</a:t>
            </a:r>
            <a:endParaRPr lang="es-PE" sz="3600" dirty="0">
              <a:solidFill>
                <a:schemeClr val="bg1"/>
              </a:solidFill>
              <a:latin typeface="Aharoni" panose="02010803020104030203" pitchFamily="2" charset="-79"/>
              <a:cs typeface="Aharoni" panose="02010803020104030203" pitchFamily="2" charset="-79"/>
            </a:endParaRPr>
          </a:p>
          <a:p>
            <a:endParaRPr lang="es-PE" sz="3600" dirty="0">
              <a:solidFill>
                <a:schemeClr val="bg1"/>
              </a:solidFill>
              <a:latin typeface="Aharoni" panose="02010803020104030203" pitchFamily="2" charset="-79"/>
              <a:cs typeface="Aharoni" panose="02010803020104030203" pitchFamily="2" charset="-79"/>
            </a:endParaRPr>
          </a:p>
        </p:txBody>
      </p:sp>
      <p:sp>
        <p:nvSpPr>
          <p:cNvPr id="17" name="Estrella: 4 puntas 16">
            <a:extLst>
              <a:ext uri="{FF2B5EF4-FFF2-40B4-BE49-F238E27FC236}">
                <a16:creationId xmlns:a16="http://schemas.microsoft.com/office/drawing/2014/main" id="{0C1D0391-DF85-6A41-E96F-8366243888B0}"/>
              </a:ext>
            </a:extLst>
          </p:cNvPr>
          <p:cNvSpPr/>
          <p:nvPr/>
        </p:nvSpPr>
        <p:spPr>
          <a:xfrm>
            <a:off x="5577839" y="6121501"/>
            <a:ext cx="518160" cy="369332"/>
          </a:xfrm>
          <a:prstGeom prst="star4">
            <a:avLst>
              <a:gd name="adj" fmla="val 12380"/>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20" name="Gráfico 19" descr="Internet con relleno sólido">
            <a:extLst>
              <a:ext uri="{FF2B5EF4-FFF2-40B4-BE49-F238E27FC236}">
                <a16:creationId xmlns:a16="http://schemas.microsoft.com/office/drawing/2014/main" id="{FFB93981-3DE7-7A8B-3CD4-7A035F67694A}"/>
              </a:ext>
            </a:extLst>
          </p:cNvPr>
          <p:cNvPicPr>
            <a:picLocks noChangeAspect="1"/>
          </p:cNvPicPr>
          <p:nvPr/>
        </p:nvPicPr>
        <p:blipFill>
          <a:blip r:embed="rId5">
            <a:extLst>
              <a:ext uri="{96DAC541-7B7A-43D3-8B79-37D633B846F1}">
                <asvg:svgBlip xmlns:asvg="http://schemas.microsoft.com/office/drawing/2016/SVG/main"/>
              </a:ext>
            </a:extLst>
          </a:blip>
          <a:stretch>
            <a:fillRect/>
          </a:stretch>
        </p:blipFill>
        <p:spPr>
          <a:xfrm>
            <a:off x="7476342" y="4673958"/>
            <a:ext cx="1675305" cy="1538267"/>
          </a:xfrm>
          <a:prstGeom prst="rect">
            <a:avLst/>
          </a:prstGeom>
        </p:spPr>
      </p:pic>
      <p:sp>
        <p:nvSpPr>
          <p:cNvPr id="22" name="Estrella: 4 puntas 21">
            <a:extLst>
              <a:ext uri="{FF2B5EF4-FFF2-40B4-BE49-F238E27FC236}">
                <a16:creationId xmlns:a16="http://schemas.microsoft.com/office/drawing/2014/main" id="{B62CF7F0-871F-2A76-FE98-6BA83D831161}"/>
              </a:ext>
            </a:extLst>
          </p:cNvPr>
          <p:cNvSpPr/>
          <p:nvPr/>
        </p:nvSpPr>
        <p:spPr>
          <a:xfrm>
            <a:off x="5065452" y="736239"/>
            <a:ext cx="518160" cy="369332"/>
          </a:xfrm>
          <a:prstGeom prst="star4">
            <a:avLst>
              <a:gd name="adj" fmla="val 8253"/>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CuadroTexto 1">
            <a:extLst>
              <a:ext uri="{FF2B5EF4-FFF2-40B4-BE49-F238E27FC236}">
                <a16:creationId xmlns:a16="http://schemas.microsoft.com/office/drawing/2014/main" id="{6FF1F38C-B6AF-8085-0696-75E48AB46967}"/>
              </a:ext>
            </a:extLst>
          </p:cNvPr>
          <p:cNvSpPr txBox="1"/>
          <p:nvPr/>
        </p:nvSpPr>
        <p:spPr>
          <a:xfrm>
            <a:off x="162531" y="1248435"/>
            <a:ext cx="5125750" cy="3816429"/>
          </a:xfrm>
          <a:prstGeom prst="rect">
            <a:avLst/>
          </a:prstGeom>
          <a:noFill/>
        </p:spPr>
        <p:txBody>
          <a:bodyPr wrap="square" rtlCol="0">
            <a:spAutoFit/>
          </a:bodyPr>
          <a:lstStyle/>
          <a:p>
            <a:r>
              <a:rPr lang="es-MX" sz="1400" b="1" dirty="0">
                <a:solidFill>
                  <a:schemeClr val="bg1"/>
                </a:solidFill>
                <a:latin typeface="Book Antiqua" panose="02040602050305030304" pitchFamily="18" charset="0"/>
              </a:rPr>
              <a:t>1.- ¿BYOD (</a:t>
            </a:r>
            <a:r>
              <a:rPr lang="es-PE" sz="1400" b="1" dirty="0">
                <a:solidFill>
                  <a:schemeClr val="bg1"/>
                </a:solidFill>
                <a:latin typeface="Book Antiqua" panose="02040602050305030304" pitchFamily="18" charset="0"/>
              </a:rPr>
              <a:t>Trae tu propio dispositivo en las escuelas</a:t>
            </a:r>
            <a:r>
              <a:rPr lang="es-MX" sz="1400" b="1" dirty="0">
                <a:solidFill>
                  <a:schemeClr val="bg1"/>
                </a:solidFill>
                <a:latin typeface="Book Antiqua" panose="02040602050305030304" pitchFamily="18" charset="0"/>
              </a:rPr>
              <a:t>) ?:</a:t>
            </a:r>
            <a:endParaRPr lang="es-PE" sz="1400" dirty="0">
              <a:solidFill>
                <a:schemeClr val="bg1"/>
              </a:solidFill>
              <a:latin typeface="Book Antiqua" panose="02040602050305030304" pitchFamily="18" charset="0"/>
            </a:endParaRPr>
          </a:p>
          <a:p>
            <a:r>
              <a:rPr lang="es-PE" sz="1400" dirty="0">
                <a:solidFill>
                  <a:schemeClr val="bg1"/>
                </a:solidFill>
                <a:latin typeface="Book Antiqua" panose="02040602050305030304" pitchFamily="18" charset="0"/>
              </a:rPr>
              <a:t>BYOD, siglas de </a:t>
            </a:r>
            <a:r>
              <a:rPr lang="es-PE" sz="1400" dirty="0" err="1">
                <a:solidFill>
                  <a:schemeClr val="bg1"/>
                </a:solidFill>
                <a:latin typeface="Book Antiqua" panose="02040602050305030304" pitchFamily="18" charset="0"/>
              </a:rPr>
              <a:t>Bring</a:t>
            </a:r>
            <a:r>
              <a:rPr lang="es-PE" sz="1400" dirty="0">
                <a:solidFill>
                  <a:schemeClr val="bg1"/>
                </a:solidFill>
                <a:latin typeface="Book Antiqua" panose="02040602050305030304" pitchFamily="18" charset="0"/>
              </a:rPr>
              <a:t> </a:t>
            </a:r>
            <a:r>
              <a:rPr lang="es-PE" sz="1400" dirty="0" err="1">
                <a:solidFill>
                  <a:schemeClr val="bg1"/>
                </a:solidFill>
                <a:latin typeface="Book Antiqua" panose="02040602050305030304" pitchFamily="18" charset="0"/>
              </a:rPr>
              <a:t>Your</a:t>
            </a:r>
            <a:r>
              <a:rPr lang="es-PE" sz="1400" dirty="0">
                <a:solidFill>
                  <a:schemeClr val="bg1"/>
                </a:solidFill>
                <a:latin typeface="Book Antiqua" panose="02040602050305030304" pitchFamily="18" charset="0"/>
              </a:rPr>
              <a:t> </a:t>
            </a:r>
            <a:r>
              <a:rPr lang="es-PE" sz="1400" dirty="0" err="1">
                <a:solidFill>
                  <a:schemeClr val="bg1"/>
                </a:solidFill>
                <a:latin typeface="Book Antiqua" panose="02040602050305030304" pitchFamily="18" charset="0"/>
              </a:rPr>
              <a:t>Own</a:t>
            </a:r>
            <a:r>
              <a:rPr lang="es-PE" sz="1400" dirty="0">
                <a:solidFill>
                  <a:schemeClr val="bg1"/>
                </a:solidFill>
                <a:latin typeface="Book Antiqua" panose="02040602050305030304" pitchFamily="18" charset="0"/>
              </a:rPr>
              <a:t> </a:t>
            </a:r>
            <a:r>
              <a:rPr lang="es-PE" sz="1400" dirty="0" err="1">
                <a:solidFill>
                  <a:schemeClr val="bg1"/>
                </a:solidFill>
                <a:latin typeface="Book Antiqua" panose="02040602050305030304" pitchFamily="18" charset="0"/>
              </a:rPr>
              <a:t>Device</a:t>
            </a:r>
            <a:r>
              <a:rPr lang="es-PE" sz="1400" dirty="0">
                <a:solidFill>
                  <a:schemeClr val="bg1"/>
                </a:solidFill>
                <a:latin typeface="Book Antiqua" panose="02040602050305030304" pitchFamily="18" charset="0"/>
              </a:rPr>
              <a:t> (Trae tu propio dispositivo), es un acrónimo que ha cobrado gran relevancia en las políticas educativas y laborales.</a:t>
            </a:r>
          </a:p>
          <a:p>
            <a:r>
              <a:rPr lang="es-PE" sz="1400" dirty="0">
                <a:solidFill>
                  <a:schemeClr val="bg1"/>
                </a:solidFill>
                <a:latin typeface="Book Antiqua" panose="02040602050305030304" pitchFamily="18" charset="0"/>
              </a:rPr>
              <a:t>Se refiere a las políticas que permiten a las personas llevar sus propios dispositivos, como teléfonos inteligentes, computadoras portátiles o tabletas, a la escuela o al trabajo y llevárselos a casa.</a:t>
            </a:r>
          </a:p>
          <a:p>
            <a:r>
              <a:rPr lang="es-PE" sz="1400" dirty="0">
                <a:solidFill>
                  <a:schemeClr val="bg1"/>
                </a:solidFill>
                <a:latin typeface="Book Antiqua" panose="02040602050305030304" pitchFamily="18" charset="0"/>
              </a:rPr>
              <a:t>La cultura de "trae tu propio dispositivo" no es del todo nueva y es una tendencia en auge. Muchos sectores productivos de EE. UU., especialmente tras la pandemia, han adoptado esta práctica durante años, ya que reduce los costes operativos (a costa de una ciberseguridad limitada). Esta tendencia se acentuó en 2020, cuando muchos empleadores trasladaron a sus empleados al teletrabajo. Y como los empleados ya contaban con un ordenador en casa, todos salieron ganando.</a:t>
            </a:r>
          </a:p>
          <a:p>
            <a:endParaRPr lang="es-PE" dirty="0"/>
          </a:p>
        </p:txBody>
      </p:sp>
      <p:sp>
        <p:nvSpPr>
          <p:cNvPr id="14" name="CuadroTexto 13">
            <a:extLst>
              <a:ext uri="{FF2B5EF4-FFF2-40B4-BE49-F238E27FC236}">
                <a16:creationId xmlns:a16="http://schemas.microsoft.com/office/drawing/2014/main" id="{1EA51534-D365-9A1C-EBED-F307BD223720}"/>
              </a:ext>
            </a:extLst>
          </p:cNvPr>
          <p:cNvSpPr txBox="1"/>
          <p:nvPr/>
        </p:nvSpPr>
        <p:spPr>
          <a:xfrm>
            <a:off x="12344399" y="2841010"/>
            <a:ext cx="5486400" cy="2523768"/>
          </a:xfrm>
          <a:prstGeom prst="rect">
            <a:avLst/>
          </a:prstGeom>
          <a:noFill/>
        </p:spPr>
        <p:txBody>
          <a:bodyPr wrap="square" rtlCol="0">
            <a:spAutoFit/>
          </a:bodyPr>
          <a:lstStyle/>
          <a:p>
            <a:pPr marL="285750" indent="-285750">
              <a:buFont typeface="Wingdings" panose="05000000000000000000" pitchFamily="2" charset="2"/>
              <a:buChar char="ü"/>
            </a:pPr>
            <a:r>
              <a:rPr lang="es-PE" sz="1400" b="1" dirty="0">
                <a:solidFill>
                  <a:schemeClr val="bg1"/>
                </a:solidFill>
                <a:latin typeface="Book Antiqua" panose="02040602050305030304" pitchFamily="18" charset="0"/>
              </a:rPr>
              <a:t>5.- ¿Por qué es aconsejable contar con alguna de estas herramientas?</a:t>
            </a:r>
            <a:endParaRPr lang="es-PE" sz="1400" dirty="0">
              <a:solidFill>
                <a:schemeClr val="bg1"/>
              </a:solidFill>
              <a:latin typeface="Book Antiqua" panose="02040602050305030304" pitchFamily="18" charset="0"/>
            </a:endParaRPr>
          </a:p>
          <a:p>
            <a:r>
              <a:rPr lang="es-PE" sz="1400" dirty="0">
                <a:solidFill>
                  <a:schemeClr val="bg1"/>
                </a:solidFill>
                <a:latin typeface="Book Antiqua" panose="02040602050305030304" pitchFamily="18" charset="0"/>
              </a:rPr>
              <a:t>Estas herramientas permiten a las empresas enfrentarse, ya sea de forma pasiva (automatizada) o activa a las amenazas que puedan afectar al buen funcionamiento de los sistemas, como pueden ser redes de comunicaciones, </a:t>
            </a:r>
            <a:r>
              <a:rPr lang="es-PE" sz="1400" dirty="0">
                <a:solidFill>
                  <a:srgbClr val="2DA0F1"/>
                </a:solidFill>
                <a:latin typeface="Book Antiqua" panose="02040602050305030304" pitchFamily="18" charset="0"/>
                <a:hlinkClick r:id="rId2" tooltip="Seguridad en la instalación y uso de dispositivos IoT: una guía de aproximación para el empresario | Blog Protege tu empresa - INCIBE">
                  <a:extLst>
                    <a:ext uri="{A12FA001-AC4F-418D-AE19-62706E023703}">
                      <ahyp:hlinkClr xmlns:ahyp="http://schemas.microsoft.com/office/drawing/2018/hyperlinkcolor" val="tx"/>
                    </a:ext>
                  </a:extLst>
                </a:hlinkClick>
              </a:rPr>
              <a:t>dispositivos o sensores </a:t>
            </a:r>
            <a:r>
              <a:rPr lang="es-PE" sz="1400" dirty="0" err="1">
                <a:solidFill>
                  <a:schemeClr val="bg1"/>
                </a:solidFill>
                <a:latin typeface="Book Antiqua" panose="02040602050305030304" pitchFamily="18" charset="0"/>
                <a:hlinkClick r:id="rId2" tooltip="Seguridad en la instalación y uso de dispositivos IoT: una guía de aproximación para el empresario | Blog Protege tu empresa - INCIBE">
                  <a:extLst>
                    <a:ext uri="{A12FA001-AC4F-418D-AE19-62706E023703}">
                      <ahyp:hlinkClr xmlns:ahyp="http://schemas.microsoft.com/office/drawing/2018/hyperlinkcolor" val="tx"/>
                    </a:ext>
                  </a:extLst>
                </a:hlinkClick>
              </a:rPr>
              <a:t>IoT</a:t>
            </a:r>
            <a:r>
              <a:rPr lang="es-PE" sz="1400" dirty="0">
                <a:solidFill>
                  <a:schemeClr val="bg1"/>
                </a:solidFill>
                <a:latin typeface="Book Antiqua" panose="02040602050305030304" pitchFamily="18" charset="0"/>
              </a:rPr>
              <a:t>, ya que en menor o mayor medida ayudan a detectar y neutralizar las intrusiones, amenazas o comportamientos sospechosos que ponen en riesgo la ciberseguridad de la empresa. Dicho de otra manera, son un paso natural en la evolución de la ciberseguridad.</a:t>
            </a:r>
          </a:p>
          <a:p>
            <a:endParaRPr lang="es-PE" dirty="0"/>
          </a:p>
        </p:txBody>
      </p:sp>
      <p:sp>
        <p:nvSpPr>
          <p:cNvPr id="4" name="CuadroTexto 3">
            <a:extLst>
              <a:ext uri="{FF2B5EF4-FFF2-40B4-BE49-F238E27FC236}">
                <a16:creationId xmlns:a16="http://schemas.microsoft.com/office/drawing/2014/main" id="{66CC803C-C714-5324-DD21-F5FCF17BF687}"/>
              </a:ext>
            </a:extLst>
          </p:cNvPr>
          <p:cNvSpPr txBox="1"/>
          <p:nvPr/>
        </p:nvSpPr>
        <p:spPr>
          <a:xfrm>
            <a:off x="6581283" y="1362714"/>
            <a:ext cx="4587240" cy="3170099"/>
          </a:xfrm>
          <a:prstGeom prst="rect">
            <a:avLst/>
          </a:prstGeom>
          <a:noFill/>
        </p:spPr>
        <p:txBody>
          <a:bodyPr wrap="square" rtlCol="0">
            <a:spAutoFit/>
          </a:bodyPr>
          <a:lstStyle/>
          <a:p>
            <a:r>
              <a:rPr lang="es-PE" sz="1400" b="1" dirty="0">
                <a:solidFill>
                  <a:schemeClr val="bg1"/>
                </a:solidFill>
                <a:latin typeface="Book Antiqua" panose="02040602050305030304" pitchFamily="18" charset="0"/>
              </a:rPr>
              <a:t>2.- ¿Por qué es importante el BYOD en las escuelas?</a:t>
            </a:r>
            <a:endParaRPr lang="es-PE" sz="1400" dirty="0">
              <a:solidFill>
                <a:schemeClr val="bg1"/>
              </a:solidFill>
              <a:latin typeface="Book Antiqua" panose="02040602050305030304" pitchFamily="18" charset="0"/>
            </a:endParaRPr>
          </a:p>
          <a:p>
            <a:r>
              <a:rPr lang="es-PE" sz="1400" dirty="0">
                <a:solidFill>
                  <a:schemeClr val="bg1"/>
                </a:solidFill>
                <a:latin typeface="Book Antiqua" panose="02040602050305030304" pitchFamily="18" charset="0"/>
              </a:rPr>
              <a:t>La importancia radica en que la gran mayoría de los estudiantes ya poseen la tecnología en casa (el 85% tiene acceso a computadoras e internet). Al permitir el uso de estos dispositivos, las escuelas pueden:</a:t>
            </a:r>
          </a:p>
          <a:p>
            <a:pPr lvl="0"/>
            <a:r>
              <a:rPr lang="es-PE" sz="1400" dirty="0">
                <a:solidFill>
                  <a:schemeClr val="bg1"/>
                </a:solidFill>
                <a:latin typeface="Book Antiqua" panose="02040602050305030304" pitchFamily="18" charset="0"/>
              </a:rPr>
              <a:t>Asegurar la continuidad del aprendizaje: Permite el uso de aplicaciones web y plataformas educativas incluso cuando la escuela no tiene presupuesto para comprar equipos para todos.</a:t>
            </a:r>
          </a:p>
          <a:p>
            <a:pPr lvl="0"/>
            <a:r>
              <a:rPr lang="es-PE" sz="1400" dirty="0">
                <a:solidFill>
                  <a:schemeClr val="bg1"/>
                </a:solidFill>
                <a:latin typeface="Book Antiqua" panose="02040602050305030304" pitchFamily="18" charset="0"/>
              </a:rPr>
              <a:t>Fomentar el aprendizaje digital: Los dispositivos personales se convierten en plataformas instantáneas para que los profesores impartan conocimientos de forma interactiva y divertida.</a:t>
            </a:r>
          </a:p>
          <a:p>
            <a:endParaRPr lang="es-PE" dirty="0"/>
          </a:p>
        </p:txBody>
      </p:sp>
      <p:cxnSp>
        <p:nvCxnSpPr>
          <p:cNvPr id="8" name="Conector recto 7">
            <a:extLst>
              <a:ext uri="{FF2B5EF4-FFF2-40B4-BE49-F238E27FC236}">
                <a16:creationId xmlns:a16="http://schemas.microsoft.com/office/drawing/2014/main" id="{84E53340-4F1B-2104-E767-84D8E386166D}"/>
              </a:ext>
            </a:extLst>
          </p:cNvPr>
          <p:cNvCxnSpPr/>
          <p:nvPr/>
        </p:nvCxnSpPr>
        <p:spPr>
          <a:xfrm>
            <a:off x="5836919" y="1105571"/>
            <a:ext cx="0" cy="4502749"/>
          </a:xfrm>
          <a:prstGeom prst="line">
            <a:avLst/>
          </a:prstGeom>
          <a:ln>
            <a:solidFill>
              <a:schemeClr val="bg1">
                <a:lumMod val="95000"/>
              </a:schemeClr>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5862661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60DC5-A9C9-3167-F753-4AF087FEBECC}"/>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26AF9F55-E531-C3AA-7E8F-FB5A1F539FBA}"/>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07BDFA65-353C-FACE-1F70-7737BD4C7932}"/>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15297" y="-6031945"/>
            <a:ext cx="12192000" cy="12872433"/>
          </a:xfrm>
          <a:prstGeom prst="rect">
            <a:avLst/>
          </a:prstGeom>
        </p:spPr>
      </p:pic>
      <p:sp>
        <p:nvSpPr>
          <p:cNvPr id="10" name="CuadroTexto 9">
            <a:extLst>
              <a:ext uri="{FF2B5EF4-FFF2-40B4-BE49-F238E27FC236}">
                <a16:creationId xmlns:a16="http://schemas.microsoft.com/office/drawing/2014/main" id="{F8DFE568-C40E-E4D3-4E17-04A4C5D6EF76}"/>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FC58DCE1-9F89-7B57-DD0F-99040A2CE959}"/>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0A30F0B2-3C63-5F32-D26C-C63C1B1968F2}"/>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sp>
        <p:nvSpPr>
          <p:cNvPr id="15" name="CuadroTexto 14">
            <a:extLst>
              <a:ext uri="{FF2B5EF4-FFF2-40B4-BE49-F238E27FC236}">
                <a16:creationId xmlns:a16="http://schemas.microsoft.com/office/drawing/2014/main" id="{9EE7CEE0-8894-D6CC-D28D-6BE3AF31402A}"/>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pic>
        <p:nvPicPr>
          <p:cNvPr id="19" name="Gráfico 18" descr="Nube con relleno sólido">
            <a:extLst>
              <a:ext uri="{FF2B5EF4-FFF2-40B4-BE49-F238E27FC236}">
                <a16:creationId xmlns:a16="http://schemas.microsoft.com/office/drawing/2014/main" id="{CA6CC475-EDC7-7BC4-CEA8-31B285E99662}"/>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0" y="-126752"/>
            <a:ext cx="914400" cy="914400"/>
          </a:xfrm>
          <a:prstGeom prst="rect">
            <a:avLst/>
          </a:prstGeom>
        </p:spPr>
      </p:pic>
      <p:sp>
        <p:nvSpPr>
          <p:cNvPr id="25" name="Estrella: 4 puntas 24">
            <a:extLst>
              <a:ext uri="{FF2B5EF4-FFF2-40B4-BE49-F238E27FC236}">
                <a16:creationId xmlns:a16="http://schemas.microsoft.com/office/drawing/2014/main" id="{52604E4B-DAFE-2AC6-D14C-5EEF71A27764}"/>
              </a:ext>
            </a:extLst>
          </p:cNvPr>
          <p:cNvSpPr/>
          <p:nvPr/>
        </p:nvSpPr>
        <p:spPr>
          <a:xfrm>
            <a:off x="11658600" y="6206074"/>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6" name="Estrella: 4 puntas 25">
            <a:extLst>
              <a:ext uri="{FF2B5EF4-FFF2-40B4-BE49-F238E27FC236}">
                <a16:creationId xmlns:a16="http://schemas.microsoft.com/office/drawing/2014/main" id="{6508B55C-8592-86A7-950B-6A83F9574D68}"/>
              </a:ext>
            </a:extLst>
          </p:cNvPr>
          <p:cNvSpPr/>
          <p:nvPr/>
        </p:nvSpPr>
        <p:spPr>
          <a:xfrm>
            <a:off x="526761" y="6367006"/>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7" name="Estrella: 4 puntas 26">
            <a:extLst>
              <a:ext uri="{FF2B5EF4-FFF2-40B4-BE49-F238E27FC236}">
                <a16:creationId xmlns:a16="http://schemas.microsoft.com/office/drawing/2014/main" id="{FAA74332-A8DF-9F62-9324-5A676899B5B2}"/>
              </a:ext>
            </a:extLst>
          </p:cNvPr>
          <p:cNvSpPr/>
          <p:nvPr/>
        </p:nvSpPr>
        <p:spPr>
          <a:xfrm>
            <a:off x="11275638" y="408936"/>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 name="CuadroTexto 4">
            <a:extLst>
              <a:ext uri="{FF2B5EF4-FFF2-40B4-BE49-F238E27FC236}">
                <a16:creationId xmlns:a16="http://schemas.microsoft.com/office/drawing/2014/main" id="{41B60985-CD15-E94B-6ADE-209A4AA1EABF}"/>
              </a:ext>
            </a:extLst>
          </p:cNvPr>
          <p:cNvSpPr txBox="1"/>
          <p:nvPr/>
        </p:nvSpPr>
        <p:spPr>
          <a:xfrm>
            <a:off x="914400" y="80306"/>
            <a:ext cx="12387694" cy="1569660"/>
          </a:xfrm>
          <a:prstGeom prst="rect">
            <a:avLst/>
          </a:prstGeom>
          <a:noFill/>
        </p:spPr>
        <p:txBody>
          <a:bodyPr wrap="square" rtlCol="0">
            <a:spAutoFit/>
          </a:bodyPr>
          <a:lstStyle/>
          <a:p>
            <a:r>
              <a:rPr lang="es-PE" sz="6000" b="1" dirty="0">
                <a:solidFill>
                  <a:schemeClr val="bg1"/>
                </a:solidFill>
                <a:latin typeface="Aharoni" panose="02010803020104030203" pitchFamily="2" charset="-79"/>
                <a:cs typeface="Aharoni" panose="02010803020104030203" pitchFamily="2" charset="-79"/>
              </a:rPr>
              <a:t>3.- Ventajas y Desventajas</a:t>
            </a:r>
            <a:endParaRPr lang="es-PE" sz="6000" dirty="0">
              <a:solidFill>
                <a:schemeClr val="bg1"/>
              </a:solidFill>
              <a:latin typeface="Aharoni" panose="02010803020104030203" pitchFamily="2" charset="-79"/>
              <a:cs typeface="Aharoni" panose="02010803020104030203" pitchFamily="2" charset="-79"/>
            </a:endParaRPr>
          </a:p>
          <a:p>
            <a:endParaRPr lang="es-PE" sz="3600" dirty="0">
              <a:solidFill>
                <a:schemeClr val="bg1"/>
              </a:solidFill>
              <a:latin typeface="Aharoni" panose="02010803020104030203" pitchFamily="2" charset="-79"/>
              <a:cs typeface="Aharoni" panose="02010803020104030203" pitchFamily="2" charset="-79"/>
            </a:endParaRPr>
          </a:p>
        </p:txBody>
      </p:sp>
      <p:pic>
        <p:nvPicPr>
          <p:cNvPr id="20" name="Gráfico 19" descr="Internet con relleno sólido">
            <a:extLst>
              <a:ext uri="{FF2B5EF4-FFF2-40B4-BE49-F238E27FC236}">
                <a16:creationId xmlns:a16="http://schemas.microsoft.com/office/drawing/2014/main" id="{57D6C682-5C77-B090-A6AE-3C5CC4565FEF}"/>
              </a:ext>
            </a:extLst>
          </p:cNvPr>
          <p:cNvPicPr>
            <a:picLocks noChangeAspect="1"/>
          </p:cNvPicPr>
          <p:nvPr/>
        </p:nvPicPr>
        <p:blipFill>
          <a:blip r:embed="rId5">
            <a:extLst>
              <a:ext uri="{96DAC541-7B7A-43D3-8B79-37D633B846F1}">
                <asvg:svgBlip xmlns:asvg="http://schemas.microsoft.com/office/drawing/2016/SVG/main"/>
              </a:ext>
            </a:extLst>
          </a:blip>
          <a:stretch>
            <a:fillRect/>
          </a:stretch>
        </p:blipFill>
        <p:spPr>
          <a:xfrm>
            <a:off x="7487044" y="4762111"/>
            <a:ext cx="2192895" cy="1772638"/>
          </a:xfrm>
          <a:prstGeom prst="rect">
            <a:avLst/>
          </a:prstGeom>
        </p:spPr>
      </p:pic>
      <p:sp>
        <p:nvSpPr>
          <p:cNvPr id="22" name="Estrella: 4 puntas 21">
            <a:extLst>
              <a:ext uri="{FF2B5EF4-FFF2-40B4-BE49-F238E27FC236}">
                <a16:creationId xmlns:a16="http://schemas.microsoft.com/office/drawing/2014/main" id="{7EF6C28F-0599-50BA-16C0-6E1322A076F7}"/>
              </a:ext>
            </a:extLst>
          </p:cNvPr>
          <p:cNvSpPr/>
          <p:nvPr/>
        </p:nvSpPr>
        <p:spPr>
          <a:xfrm>
            <a:off x="5065452" y="736239"/>
            <a:ext cx="518160" cy="369332"/>
          </a:xfrm>
          <a:prstGeom prst="star4">
            <a:avLst>
              <a:gd name="adj" fmla="val 8253"/>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CuadroTexto 1">
            <a:extLst>
              <a:ext uri="{FF2B5EF4-FFF2-40B4-BE49-F238E27FC236}">
                <a16:creationId xmlns:a16="http://schemas.microsoft.com/office/drawing/2014/main" id="{67375FC6-1F8A-D2B5-1E86-C6974785A266}"/>
              </a:ext>
            </a:extLst>
          </p:cNvPr>
          <p:cNvSpPr txBox="1"/>
          <p:nvPr/>
        </p:nvSpPr>
        <p:spPr>
          <a:xfrm>
            <a:off x="162531" y="1248435"/>
            <a:ext cx="5125750" cy="2954655"/>
          </a:xfrm>
          <a:prstGeom prst="rect">
            <a:avLst/>
          </a:prstGeom>
          <a:noFill/>
        </p:spPr>
        <p:txBody>
          <a:bodyPr wrap="square" rtlCol="0">
            <a:spAutoFit/>
          </a:bodyPr>
          <a:lstStyle/>
          <a:p>
            <a:r>
              <a:rPr lang="es-PE" sz="1400" b="1" dirty="0">
                <a:solidFill>
                  <a:schemeClr val="bg1"/>
                </a:solidFill>
                <a:latin typeface="Book Antiqua" panose="02040602050305030304" pitchFamily="18" charset="0"/>
              </a:rPr>
              <a:t>Ventajas (Los beneficios)</a:t>
            </a:r>
            <a:endParaRPr lang="es-PE" sz="1400" dirty="0">
              <a:solidFill>
                <a:schemeClr val="bg1"/>
              </a:solidFill>
              <a:latin typeface="Book Antiqua" panose="02040602050305030304" pitchFamily="18" charset="0"/>
            </a:endParaRPr>
          </a:p>
          <a:p>
            <a:pPr lvl="0"/>
            <a:r>
              <a:rPr lang="es-PE" sz="1400" dirty="0">
                <a:solidFill>
                  <a:schemeClr val="bg1"/>
                </a:solidFill>
                <a:latin typeface="Book Antiqua" panose="02040602050305030304" pitchFamily="18" charset="0"/>
              </a:rPr>
              <a:t>Cobertura digital completa: Permite que más alumnos estén equipados simultáneamente sin depender de los laboratorios de computación fijos.</a:t>
            </a:r>
          </a:p>
          <a:p>
            <a:pPr lvl="0"/>
            <a:r>
              <a:rPr lang="es-PE" sz="1400" dirty="0">
                <a:solidFill>
                  <a:schemeClr val="bg1"/>
                </a:solidFill>
                <a:latin typeface="Book Antiqua" panose="02040602050305030304" pitchFamily="18" charset="0"/>
              </a:rPr>
              <a:t>Ahorro de costos y tiempo: La institución evita la gran inversión inicial de compra, investigación de presupuestos y mantenimiento de flotas de portátiles.</a:t>
            </a:r>
          </a:p>
          <a:p>
            <a:pPr lvl="0"/>
            <a:r>
              <a:rPr lang="es-PE" sz="1400" dirty="0">
                <a:solidFill>
                  <a:schemeClr val="bg1"/>
                </a:solidFill>
                <a:latin typeface="Book Antiqua" panose="02040602050305030304" pitchFamily="18" charset="0"/>
              </a:rPr>
              <a:t>Familiaridad tecnológica: Los estudiantes ya saben usar sus propios equipos, lo que elimina la necesidad de capacitación técnica y acelera el inicio de las actividades académicas.</a:t>
            </a:r>
          </a:p>
          <a:p>
            <a:pPr lvl="0"/>
            <a:r>
              <a:rPr lang="es-PE" sz="1400" dirty="0">
                <a:solidFill>
                  <a:schemeClr val="bg1"/>
                </a:solidFill>
                <a:latin typeface="Book Antiqua" panose="02040602050305030304" pitchFamily="18" charset="0"/>
              </a:rPr>
              <a:t>Implementación rápida: Un programa BYOD puede lanzarse en cuestión de días si la infraestructura básica existe.</a:t>
            </a:r>
          </a:p>
          <a:p>
            <a:endParaRPr lang="es-PE" dirty="0"/>
          </a:p>
        </p:txBody>
      </p:sp>
      <p:sp>
        <p:nvSpPr>
          <p:cNvPr id="14" name="CuadroTexto 13">
            <a:extLst>
              <a:ext uri="{FF2B5EF4-FFF2-40B4-BE49-F238E27FC236}">
                <a16:creationId xmlns:a16="http://schemas.microsoft.com/office/drawing/2014/main" id="{47C534F9-9915-5D9F-C34C-2AAC857D1479}"/>
              </a:ext>
            </a:extLst>
          </p:cNvPr>
          <p:cNvSpPr txBox="1"/>
          <p:nvPr/>
        </p:nvSpPr>
        <p:spPr>
          <a:xfrm>
            <a:off x="12344399" y="2841010"/>
            <a:ext cx="5486400" cy="2523768"/>
          </a:xfrm>
          <a:prstGeom prst="rect">
            <a:avLst/>
          </a:prstGeom>
          <a:noFill/>
        </p:spPr>
        <p:txBody>
          <a:bodyPr wrap="square" rtlCol="0">
            <a:spAutoFit/>
          </a:bodyPr>
          <a:lstStyle/>
          <a:p>
            <a:pPr marL="285750" indent="-285750">
              <a:buFont typeface="Wingdings" panose="05000000000000000000" pitchFamily="2" charset="2"/>
              <a:buChar char="ü"/>
            </a:pPr>
            <a:r>
              <a:rPr lang="es-PE" sz="1400" b="1" dirty="0">
                <a:solidFill>
                  <a:schemeClr val="bg1"/>
                </a:solidFill>
                <a:latin typeface="Book Antiqua" panose="02040602050305030304" pitchFamily="18" charset="0"/>
              </a:rPr>
              <a:t>5.- ¿Por qué es aconsejable contar con alguna de estas herramientas?</a:t>
            </a:r>
            <a:endParaRPr lang="es-PE" sz="1400" dirty="0">
              <a:solidFill>
                <a:schemeClr val="bg1"/>
              </a:solidFill>
              <a:latin typeface="Book Antiqua" panose="02040602050305030304" pitchFamily="18" charset="0"/>
            </a:endParaRPr>
          </a:p>
          <a:p>
            <a:r>
              <a:rPr lang="es-PE" sz="1400" dirty="0">
                <a:solidFill>
                  <a:schemeClr val="bg1"/>
                </a:solidFill>
                <a:latin typeface="Book Antiqua" panose="02040602050305030304" pitchFamily="18" charset="0"/>
              </a:rPr>
              <a:t>Estas herramientas permiten a las empresas enfrentarse, ya sea de forma pasiva (automatizada) o activa a las amenazas que puedan afectar al buen funcionamiento de los sistemas, como pueden ser redes de comunicaciones, </a:t>
            </a:r>
            <a:r>
              <a:rPr lang="es-PE" sz="1400" dirty="0">
                <a:solidFill>
                  <a:srgbClr val="2DA0F1"/>
                </a:solidFill>
                <a:latin typeface="Book Antiqua" panose="02040602050305030304" pitchFamily="18" charset="0"/>
                <a:hlinkClick r:id="rId2" tooltip="Seguridad en la instalación y uso de dispositivos IoT: una guía de aproximación para el empresario | Blog Protege tu empresa - INCIBE">
                  <a:extLst>
                    <a:ext uri="{A12FA001-AC4F-418D-AE19-62706E023703}">
                      <ahyp:hlinkClr xmlns:ahyp="http://schemas.microsoft.com/office/drawing/2018/hyperlinkcolor" val="tx"/>
                    </a:ext>
                  </a:extLst>
                </a:hlinkClick>
              </a:rPr>
              <a:t>dispositivos o sensores </a:t>
            </a:r>
            <a:r>
              <a:rPr lang="es-PE" sz="1400" dirty="0" err="1">
                <a:solidFill>
                  <a:schemeClr val="bg1"/>
                </a:solidFill>
                <a:latin typeface="Book Antiqua" panose="02040602050305030304" pitchFamily="18" charset="0"/>
                <a:hlinkClick r:id="rId2" tooltip="Seguridad en la instalación y uso de dispositivos IoT: una guía de aproximación para el empresario | Blog Protege tu empresa - INCIBE">
                  <a:extLst>
                    <a:ext uri="{A12FA001-AC4F-418D-AE19-62706E023703}">
                      <ahyp:hlinkClr xmlns:ahyp="http://schemas.microsoft.com/office/drawing/2018/hyperlinkcolor" val="tx"/>
                    </a:ext>
                  </a:extLst>
                </a:hlinkClick>
              </a:rPr>
              <a:t>IoT</a:t>
            </a:r>
            <a:r>
              <a:rPr lang="es-PE" sz="1400" dirty="0">
                <a:solidFill>
                  <a:schemeClr val="bg1"/>
                </a:solidFill>
                <a:latin typeface="Book Antiqua" panose="02040602050305030304" pitchFamily="18" charset="0"/>
              </a:rPr>
              <a:t>, ya que en menor o mayor medida ayudan a detectar y neutralizar las intrusiones, amenazas o comportamientos sospechosos que ponen en riesgo la ciberseguridad de la empresa. Dicho de otra manera, son un paso natural en la evolución de la ciberseguridad.</a:t>
            </a:r>
          </a:p>
          <a:p>
            <a:endParaRPr lang="es-PE" dirty="0"/>
          </a:p>
        </p:txBody>
      </p:sp>
      <p:sp>
        <p:nvSpPr>
          <p:cNvPr id="4" name="CuadroTexto 3">
            <a:extLst>
              <a:ext uri="{FF2B5EF4-FFF2-40B4-BE49-F238E27FC236}">
                <a16:creationId xmlns:a16="http://schemas.microsoft.com/office/drawing/2014/main" id="{F98E9915-71FD-99B6-F4E2-76D5065D651D}"/>
              </a:ext>
            </a:extLst>
          </p:cNvPr>
          <p:cNvSpPr txBox="1"/>
          <p:nvPr/>
        </p:nvSpPr>
        <p:spPr>
          <a:xfrm>
            <a:off x="6581283" y="1362714"/>
            <a:ext cx="4587240" cy="3231654"/>
          </a:xfrm>
          <a:prstGeom prst="rect">
            <a:avLst/>
          </a:prstGeom>
          <a:noFill/>
        </p:spPr>
        <p:txBody>
          <a:bodyPr wrap="square" rtlCol="0">
            <a:spAutoFit/>
          </a:bodyPr>
          <a:lstStyle/>
          <a:p>
            <a:r>
              <a:rPr lang="es-PE" sz="1400" b="1" dirty="0">
                <a:solidFill>
                  <a:schemeClr val="bg1"/>
                </a:solidFill>
                <a:latin typeface="Book Antiqua" panose="02040602050305030304" pitchFamily="18" charset="0"/>
              </a:rPr>
              <a:t>Desventajas (Los desafíos)</a:t>
            </a:r>
            <a:endParaRPr lang="es-PE" sz="1400" dirty="0">
              <a:solidFill>
                <a:schemeClr val="bg1"/>
              </a:solidFill>
              <a:latin typeface="Book Antiqua" panose="02040602050305030304" pitchFamily="18" charset="0"/>
            </a:endParaRPr>
          </a:p>
          <a:p>
            <a:pPr lvl="0"/>
            <a:r>
              <a:rPr lang="es-PE" sz="1400" dirty="0">
                <a:solidFill>
                  <a:schemeClr val="bg1"/>
                </a:solidFill>
                <a:latin typeface="Book Antiqua" panose="02040602050305030304" pitchFamily="18" charset="0"/>
              </a:rPr>
              <a:t>Costos de infraestructura de red: La red de la escuela debe actualizarse (switches, puntos de acceso) para soportar el tráfico masivo de múltiples dispositivos.</a:t>
            </a:r>
          </a:p>
          <a:p>
            <a:pPr lvl="0"/>
            <a:r>
              <a:rPr lang="es-PE" sz="1400" dirty="0">
                <a:solidFill>
                  <a:schemeClr val="bg1"/>
                </a:solidFill>
                <a:latin typeface="Book Antiqua" panose="02040602050305030304" pitchFamily="18" charset="0"/>
              </a:rPr>
              <a:t>Riesgos de seguridad: La diversidad de sistemas operativos y dispositivos aumenta la vulnerabilidad ante filtraciones de datos o ciberataques.</a:t>
            </a:r>
          </a:p>
          <a:p>
            <a:pPr lvl="0"/>
            <a:r>
              <a:rPr lang="es-PE" sz="1400" dirty="0">
                <a:solidFill>
                  <a:schemeClr val="bg1"/>
                </a:solidFill>
                <a:latin typeface="Book Antiqua" panose="02040602050305030304" pitchFamily="18" charset="0"/>
              </a:rPr>
              <a:t>Dificultad en el soporte técnico: Los equipos de TI deben lidiar con una variedad enorme de marcas, configuraciones y fallos de software.</a:t>
            </a:r>
          </a:p>
          <a:p>
            <a:pPr lvl="0"/>
            <a:r>
              <a:rPr lang="es-PE" sz="1400" dirty="0">
                <a:solidFill>
                  <a:schemeClr val="bg1"/>
                </a:solidFill>
                <a:latin typeface="Book Antiqua" panose="02040602050305030304" pitchFamily="18" charset="0"/>
              </a:rPr>
              <a:t>Brecha de equidad: No todos los estudiantes tienen dispositivos de la misma calidad, lo que requiere programas de préstamo para evitar la exclusión</a:t>
            </a:r>
            <a:r>
              <a:rPr lang="es-PE" dirty="0"/>
              <a:t>.</a:t>
            </a:r>
          </a:p>
          <a:p>
            <a:endParaRPr lang="es-PE" dirty="0"/>
          </a:p>
        </p:txBody>
      </p:sp>
      <p:cxnSp>
        <p:nvCxnSpPr>
          <p:cNvPr id="8" name="Conector recto 7">
            <a:extLst>
              <a:ext uri="{FF2B5EF4-FFF2-40B4-BE49-F238E27FC236}">
                <a16:creationId xmlns:a16="http://schemas.microsoft.com/office/drawing/2014/main" id="{2E074227-E72E-A88A-6150-FCAA9B8FBAE4}"/>
              </a:ext>
            </a:extLst>
          </p:cNvPr>
          <p:cNvCxnSpPr/>
          <p:nvPr/>
        </p:nvCxnSpPr>
        <p:spPr>
          <a:xfrm>
            <a:off x="5836919" y="1105571"/>
            <a:ext cx="0" cy="4502749"/>
          </a:xfrm>
          <a:prstGeom prst="line">
            <a:avLst/>
          </a:prstGeom>
          <a:ln>
            <a:solidFill>
              <a:schemeClr val="bg1">
                <a:lumMod val="95000"/>
              </a:schemeClr>
            </a:solidFill>
          </a:ln>
        </p:spPr>
        <p:style>
          <a:lnRef idx="3">
            <a:schemeClr val="dk1"/>
          </a:lnRef>
          <a:fillRef idx="0">
            <a:schemeClr val="dk1"/>
          </a:fillRef>
          <a:effectRef idx="2">
            <a:schemeClr val="dk1"/>
          </a:effectRef>
          <a:fontRef idx="minor">
            <a:schemeClr val="tx1"/>
          </a:fontRef>
        </p:style>
      </p:cxnSp>
      <p:pic>
        <p:nvPicPr>
          <p:cNvPr id="3" name="Imagen 2" descr="TemáTICas: BYOD y sus IMPLICACIONES CLAVE en tu empresa">
            <a:extLst>
              <a:ext uri="{FF2B5EF4-FFF2-40B4-BE49-F238E27FC236}">
                <a16:creationId xmlns:a16="http://schemas.microsoft.com/office/drawing/2014/main" id="{5E611C23-4974-77FD-620D-BC08EE8D3805}"/>
              </a:ext>
            </a:extLst>
          </p:cNvPr>
          <p:cNvPicPr>
            <a:picLocks noChangeAspect="1"/>
          </p:cNvPicPr>
          <p:nvPr/>
        </p:nvPicPr>
        <p:blipFill>
          <a:blip/>
          <a:stretch>
            <a:fillRect/>
          </a:stretch>
        </p:blipFill>
        <p:spPr>
          <a:xfrm>
            <a:off x="1062086" y="4076302"/>
            <a:ext cx="4363298" cy="2492704"/>
          </a:xfrm>
          <a:prstGeom prst="rect">
            <a:avLst/>
          </a:prstGeom>
        </p:spPr>
      </p:pic>
    </p:spTree>
    <p:extLst>
      <p:ext uri="{BB962C8B-B14F-4D97-AF65-F5344CB8AC3E}">
        <p14:creationId xmlns:p14="http://schemas.microsoft.com/office/powerpoint/2010/main" val="17700051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3CF33-5856-453C-8DA4-D9979D1B9E37}"/>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62BEAAD9-5BF2-E9F8-D71F-D2D666F4FD73}"/>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63280BCD-1C9C-AF70-7AD1-779FF2210A47}"/>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15297" y="-6031945"/>
            <a:ext cx="12192000" cy="12872433"/>
          </a:xfrm>
          <a:prstGeom prst="rect">
            <a:avLst/>
          </a:prstGeom>
        </p:spPr>
      </p:pic>
      <p:sp>
        <p:nvSpPr>
          <p:cNvPr id="10" name="CuadroTexto 9">
            <a:extLst>
              <a:ext uri="{FF2B5EF4-FFF2-40B4-BE49-F238E27FC236}">
                <a16:creationId xmlns:a16="http://schemas.microsoft.com/office/drawing/2014/main" id="{663C86E2-A59B-6A56-654A-C4E5E5D10EC1}"/>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15A0641D-B063-6106-71A4-794EC20F26AB}"/>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A336262B-3AE0-F590-99A7-8DC61369026C}"/>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sp>
        <p:nvSpPr>
          <p:cNvPr id="15" name="CuadroTexto 14">
            <a:extLst>
              <a:ext uri="{FF2B5EF4-FFF2-40B4-BE49-F238E27FC236}">
                <a16:creationId xmlns:a16="http://schemas.microsoft.com/office/drawing/2014/main" id="{A26FE721-6F0C-66B0-B5C2-B174F1B67762}"/>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pic>
        <p:nvPicPr>
          <p:cNvPr id="19" name="Gráfico 18" descr="Nube con relleno sólido">
            <a:extLst>
              <a:ext uri="{FF2B5EF4-FFF2-40B4-BE49-F238E27FC236}">
                <a16:creationId xmlns:a16="http://schemas.microsoft.com/office/drawing/2014/main" id="{B28A54BB-F616-0DA9-C112-4E18ACD2D5BB}"/>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0" y="-126752"/>
            <a:ext cx="914400" cy="914400"/>
          </a:xfrm>
          <a:prstGeom prst="rect">
            <a:avLst/>
          </a:prstGeom>
        </p:spPr>
      </p:pic>
      <p:sp>
        <p:nvSpPr>
          <p:cNvPr id="25" name="Estrella: 4 puntas 24">
            <a:extLst>
              <a:ext uri="{FF2B5EF4-FFF2-40B4-BE49-F238E27FC236}">
                <a16:creationId xmlns:a16="http://schemas.microsoft.com/office/drawing/2014/main" id="{E9516152-6450-C5F3-94F4-A159F5B92960}"/>
              </a:ext>
            </a:extLst>
          </p:cNvPr>
          <p:cNvSpPr/>
          <p:nvPr/>
        </p:nvSpPr>
        <p:spPr>
          <a:xfrm>
            <a:off x="11658600" y="6206074"/>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6" name="Estrella: 4 puntas 25">
            <a:extLst>
              <a:ext uri="{FF2B5EF4-FFF2-40B4-BE49-F238E27FC236}">
                <a16:creationId xmlns:a16="http://schemas.microsoft.com/office/drawing/2014/main" id="{E79896A7-21DC-1102-D6EF-F3C319331D35}"/>
              </a:ext>
            </a:extLst>
          </p:cNvPr>
          <p:cNvSpPr/>
          <p:nvPr/>
        </p:nvSpPr>
        <p:spPr>
          <a:xfrm>
            <a:off x="526761" y="6367006"/>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7" name="Estrella: 4 puntas 26">
            <a:extLst>
              <a:ext uri="{FF2B5EF4-FFF2-40B4-BE49-F238E27FC236}">
                <a16:creationId xmlns:a16="http://schemas.microsoft.com/office/drawing/2014/main" id="{45E515B7-E7DC-8C68-54BD-731DC0D8C3C7}"/>
              </a:ext>
            </a:extLst>
          </p:cNvPr>
          <p:cNvSpPr/>
          <p:nvPr/>
        </p:nvSpPr>
        <p:spPr>
          <a:xfrm>
            <a:off x="11275638" y="408936"/>
            <a:ext cx="228600" cy="247654"/>
          </a:xfrm>
          <a:prstGeom prst="star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 name="CuadroTexto 4">
            <a:extLst>
              <a:ext uri="{FF2B5EF4-FFF2-40B4-BE49-F238E27FC236}">
                <a16:creationId xmlns:a16="http://schemas.microsoft.com/office/drawing/2014/main" id="{51E0CCA0-01C3-6C3F-DFB8-188F9F3F86B9}"/>
              </a:ext>
            </a:extLst>
          </p:cNvPr>
          <p:cNvSpPr txBox="1"/>
          <p:nvPr/>
        </p:nvSpPr>
        <p:spPr>
          <a:xfrm>
            <a:off x="914400" y="80306"/>
            <a:ext cx="12387694" cy="1384995"/>
          </a:xfrm>
          <a:prstGeom prst="rect">
            <a:avLst/>
          </a:prstGeom>
          <a:noFill/>
        </p:spPr>
        <p:txBody>
          <a:bodyPr wrap="square" rtlCol="0">
            <a:spAutoFit/>
          </a:bodyPr>
          <a:lstStyle/>
          <a:p>
            <a:r>
              <a:rPr lang="es-PE" sz="4800" b="1" dirty="0">
                <a:solidFill>
                  <a:schemeClr val="bg1"/>
                </a:solidFill>
                <a:latin typeface="Aharoni" panose="02010803020104030203" pitchFamily="2" charset="-79"/>
                <a:cs typeface="Aharoni" panose="02010803020104030203" pitchFamily="2" charset="-79"/>
              </a:rPr>
              <a:t>4.-CLAVES PARA QUE FUNCIONE</a:t>
            </a:r>
            <a:endParaRPr lang="es-PE" sz="4800" dirty="0">
              <a:solidFill>
                <a:schemeClr val="bg1"/>
              </a:solidFill>
              <a:latin typeface="Aharoni" panose="02010803020104030203" pitchFamily="2" charset="-79"/>
              <a:cs typeface="Aharoni" panose="02010803020104030203" pitchFamily="2" charset="-79"/>
            </a:endParaRPr>
          </a:p>
          <a:p>
            <a:endParaRPr lang="es-PE" sz="3600" dirty="0">
              <a:solidFill>
                <a:schemeClr val="bg1"/>
              </a:solidFill>
              <a:latin typeface="Aharoni" panose="02010803020104030203" pitchFamily="2" charset="-79"/>
              <a:cs typeface="Aharoni" panose="02010803020104030203" pitchFamily="2" charset="-79"/>
            </a:endParaRPr>
          </a:p>
        </p:txBody>
      </p:sp>
      <p:pic>
        <p:nvPicPr>
          <p:cNvPr id="20" name="Gráfico 19" descr="Internet con relleno sólido">
            <a:extLst>
              <a:ext uri="{FF2B5EF4-FFF2-40B4-BE49-F238E27FC236}">
                <a16:creationId xmlns:a16="http://schemas.microsoft.com/office/drawing/2014/main" id="{00276849-807A-25FA-831F-DA0001EB3E0C}"/>
              </a:ext>
            </a:extLst>
          </p:cNvPr>
          <p:cNvPicPr>
            <a:picLocks noChangeAspect="1"/>
          </p:cNvPicPr>
          <p:nvPr/>
        </p:nvPicPr>
        <p:blipFill>
          <a:blip r:embed="rId5">
            <a:extLst>
              <a:ext uri="{96DAC541-7B7A-43D3-8B79-37D633B846F1}">
                <asvg:svgBlip xmlns:asvg="http://schemas.microsoft.com/office/drawing/2016/SVG/main"/>
              </a:ext>
            </a:extLst>
          </a:blip>
          <a:stretch>
            <a:fillRect/>
          </a:stretch>
        </p:blipFill>
        <p:spPr>
          <a:xfrm>
            <a:off x="10613783" y="504712"/>
            <a:ext cx="1359504" cy="1098962"/>
          </a:xfrm>
          <a:prstGeom prst="rect">
            <a:avLst/>
          </a:prstGeom>
        </p:spPr>
      </p:pic>
      <p:sp>
        <p:nvSpPr>
          <p:cNvPr id="22" name="Estrella: 4 puntas 21">
            <a:extLst>
              <a:ext uri="{FF2B5EF4-FFF2-40B4-BE49-F238E27FC236}">
                <a16:creationId xmlns:a16="http://schemas.microsoft.com/office/drawing/2014/main" id="{ABDDFA05-5546-F8DE-86CC-D76534E71E7F}"/>
              </a:ext>
            </a:extLst>
          </p:cNvPr>
          <p:cNvSpPr/>
          <p:nvPr/>
        </p:nvSpPr>
        <p:spPr>
          <a:xfrm>
            <a:off x="5065452" y="736239"/>
            <a:ext cx="518160" cy="369332"/>
          </a:xfrm>
          <a:prstGeom prst="star4">
            <a:avLst>
              <a:gd name="adj" fmla="val 8253"/>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CuadroTexto 1">
            <a:extLst>
              <a:ext uri="{FF2B5EF4-FFF2-40B4-BE49-F238E27FC236}">
                <a16:creationId xmlns:a16="http://schemas.microsoft.com/office/drawing/2014/main" id="{EDD1FA58-3A4B-C64A-1713-5568937F1382}"/>
              </a:ext>
            </a:extLst>
          </p:cNvPr>
          <p:cNvSpPr txBox="1"/>
          <p:nvPr/>
        </p:nvSpPr>
        <p:spPr>
          <a:xfrm>
            <a:off x="162530" y="1248435"/>
            <a:ext cx="10734069" cy="2031325"/>
          </a:xfrm>
          <a:prstGeom prst="rect">
            <a:avLst/>
          </a:prstGeom>
          <a:noFill/>
        </p:spPr>
        <p:txBody>
          <a:bodyPr wrap="square" rtlCol="0">
            <a:spAutoFit/>
          </a:bodyPr>
          <a:lstStyle/>
          <a:p>
            <a:r>
              <a:rPr lang="es-PE" dirty="0">
                <a:solidFill>
                  <a:schemeClr val="bg1"/>
                </a:solidFill>
                <a:latin typeface="Book Antiqua" panose="02040602050305030304" pitchFamily="18" charset="0"/>
              </a:rPr>
              <a:t>Para mitigar los riesgos, el texto sugiere:</a:t>
            </a:r>
          </a:p>
          <a:p>
            <a:pPr marL="742950" lvl="1" indent="-285750">
              <a:buFont typeface="Wingdings" panose="05000000000000000000" pitchFamily="2" charset="2"/>
              <a:buChar char="q"/>
            </a:pPr>
            <a:r>
              <a:rPr lang="es-PE" dirty="0">
                <a:solidFill>
                  <a:schemeClr val="bg1"/>
                </a:solidFill>
                <a:latin typeface="Book Antiqua" panose="02040602050305030304" pitchFamily="18" charset="0"/>
              </a:rPr>
              <a:t>Gestión de riesgos: Controlar el acceso al contenido y definir qué dispositivos son permitidos.</a:t>
            </a:r>
          </a:p>
          <a:p>
            <a:pPr lvl="1"/>
            <a:r>
              <a:rPr lang="es-PE" dirty="0">
                <a:solidFill>
                  <a:schemeClr val="bg1"/>
                </a:solidFill>
                <a:latin typeface="Book Antiqua" panose="02040602050305030304" pitchFamily="18" charset="0"/>
              </a:rPr>
              <a:t>Ciudadanía digital: Enseñar a los alumnos ética y responsabilidad en línea.</a:t>
            </a:r>
          </a:p>
          <a:p>
            <a:pPr lvl="1"/>
            <a:r>
              <a:rPr lang="es-PE" dirty="0">
                <a:solidFill>
                  <a:schemeClr val="bg1"/>
                </a:solidFill>
                <a:latin typeface="Book Antiqua" panose="02040602050305030304" pitchFamily="18" charset="0"/>
              </a:rPr>
              <a:t>Equidad: Implementar programas de préstamo de portátiles para quienes no tienen uno propio.</a:t>
            </a:r>
          </a:p>
          <a:p>
            <a:pPr lvl="1"/>
            <a:r>
              <a:rPr lang="es-PE" dirty="0">
                <a:solidFill>
                  <a:schemeClr val="bg1"/>
                </a:solidFill>
                <a:latin typeface="Book Antiqua" panose="02040602050305030304" pitchFamily="18" charset="0"/>
              </a:rPr>
              <a:t>Monitoreo: Utilizar herramientas (como </a:t>
            </a:r>
            <a:r>
              <a:rPr lang="es-PE" dirty="0" err="1">
                <a:solidFill>
                  <a:schemeClr val="bg1"/>
                </a:solidFill>
                <a:latin typeface="Book Antiqua" panose="02040602050305030304" pitchFamily="18" charset="0"/>
              </a:rPr>
              <a:t>Prey</a:t>
            </a:r>
            <a:r>
              <a:rPr lang="es-PE" dirty="0">
                <a:solidFill>
                  <a:schemeClr val="bg1"/>
                </a:solidFill>
                <a:latin typeface="Book Antiqua" panose="02040602050305030304" pitchFamily="18" charset="0"/>
              </a:rPr>
              <a:t>) para el rastreo GPS, bloqueo remoto y cumplimiento de leyes de </a:t>
            </a:r>
            <a:r>
              <a:rPr lang="es-PE" dirty="0">
                <a:solidFill>
                  <a:schemeClr val="bg1"/>
                </a:solidFill>
              </a:rPr>
              <a:t>privacidad como FERPA.</a:t>
            </a:r>
          </a:p>
          <a:p>
            <a:endParaRPr lang="es-PE" dirty="0"/>
          </a:p>
        </p:txBody>
      </p:sp>
      <p:sp>
        <p:nvSpPr>
          <p:cNvPr id="14" name="CuadroTexto 13">
            <a:extLst>
              <a:ext uri="{FF2B5EF4-FFF2-40B4-BE49-F238E27FC236}">
                <a16:creationId xmlns:a16="http://schemas.microsoft.com/office/drawing/2014/main" id="{19CAFCD0-7298-017C-7E64-A78BDEF9141C}"/>
              </a:ext>
            </a:extLst>
          </p:cNvPr>
          <p:cNvSpPr txBox="1"/>
          <p:nvPr/>
        </p:nvSpPr>
        <p:spPr>
          <a:xfrm>
            <a:off x="12344399" y="2841010"/>
            <a:ext cx="5486400" cy="2523768"/>
          </a:xfrm>
          <a:prstGeom prst="rect">
            <a:avLst/>
          </a:prstGeom>
          <a:noFill/>
        </p:spPr>
        <p:txBody>
          <a:bodyPr wrap="square" rtlCol="0">
            <a:spAutoFit/>
          </a:bodyPr>
          <a:lstStyle/>
          <a:p>
            <a:pPr marL="285750" indent="-285750">
              <a:buFont typeface="Wingdings" panose="05000000000000000000" pitchFamily="2" charset="2"/>
              <a:buChar char="ü"/>
            </a:pPr>
            <a:r>
              <a:rPr lang="es-PE" sz="1400" b="1" dirty="0">
                <a:solidFill>
                  <a:schemeClr val="bg1"/>
                </a:solidFill>
                <a:latin typeface="Book Antiqua" panose="02040602050305030304" pitchFamily="18" charset="0"/>
              </a:rPr>
              <a:t>5.- ¿Por qué es aconsejable contar con alguna de estas herramientas?</a:t>
            </a:r>
            <a:endParaRPr lang="es-PE" sz="1400" dirty="0">
              <a:solidFill>
                <a:schemeClr val="bg1"/>
              </a:solidFill>
              <a:latin typeface="Book Antiqua" panose="02040602050305030304" pitchFamily="18" charset="0"/>
            </a:endParaRPr>
          </a:p>
          <a:p>
            <a:r>
              <a:rPr lang="es-PE" sz="1400" dirty="0">
                <a:solidFill>
                  <a:schemeClr val="bg1"/>
                </a:solidFill>
                <a:latin typeface="Book Antiqua" panose="02040602050305030304" pitchFamily="18" charset="0"/>
              </a:rPr>
              <a:t>Estas herramientas permiten a las empresas enfrentarse, ya sea de forma pasiva (automatizada) o activa a las amenazas que puedan afectar al buen funcionamiento de los sistemas, como pueden ser redes de comunicaciones, </a:t>
            </a:r>
            <a:r>
              <a:rPr lang="es-PE" sz="1400" dirty="0">
                <a:solidFill>
                  <a:srgbClr val="2DA0F1"/>
                </a:solidFill>
                <a:latin typeface="Book Antiqua" panose="02040602050305030304" pitchFamily="18" charset="0"/>
                <a:hlinkClick r:id="rId2" tooltip="Seguridad en la instalación y uso de dispositivos IoT: una guía de aproximación para el empresario | Blog Protege tu empresa - INCIBE">
                  <a:extLst>
                    <a:ext uri="{A12FA001-AC4F-418D-AE19-62706E023703}">
                      <ahyp:hlinkClr xmlns:ahyp="http://schemas.microsoft.com/office/drawing/2018/hyperlinkcolor" val="tx"/>
                    </a:ext>
                  </a:extLst>
                </a:hlinkClick>
              </a:rPr>
              <a:t>dispositivos o sensores </a:t>
            </a:r>
            <a:r>
              <a:rPr lang="es-PE" sz="1400" dirty="0" err="1">
                <a:solidFill>
                  <a:schemeClr val="bg1"/>
                </a:solidFill>
                <a:latin typeface="Book Antiqua" panose="02040602050305030304" pitchFamily="18" charset="0"/>
                <a:hlinkClick r:id="rId2" tooltip="Seguridad en la instalación y uso de dispositivos IoT: una guía de aproximación para el empresario | Blog Protege tu empresa - INCIBE">
                  <a:extLst>
                    <a:ext uri="{A12FA001-AC4F-418D-AE19-62706E023703}">
                      <ahyp:hlinkClr xmlns:ahyp="http://schemas.microsoft.com/office/drawing/2018/hyperlinkcolor" val="tx"/>
                    </a:ext>
                  </a:extLst>
                </a:hlinkClick>
              </a:rPr>
              <a:t>IoT</a:t>
            </a:r>
            <a:r>
              <a:rPr lang="es-PE" sz="1400" dirty="0">
                <a:solidFill>
                  <a:schemeClr val="bg1"/>
                </a:solidFill>
                <a:latin typeface="Book Antiqua" panose="02040602050305030304" pitchFamily="18" charset="0"/>
              </a:rPr>
              <a:t>, ya que en menor o mayor medida ayudan a detectar y neutralizar las intrusiones, amenazas o comportamientos sospechosos que ponen en riesgo la ciberseguridad de la empresa. Dicho de otra manera, son un paso natural en la evolución de la ciberseguridad.</a:t>
            </a:r>
          </a:p>
          <a:p>
            <a:endParaRPr lang="es-PE" dirty="0"/>
          </a:p>
        </p:txBody>
      </p:sp>
      <p:pic>
        <p:nvPicPr>
          <p:cNvPr id="7" name="Imagen 6" descr="WiFi para estudiantes: Lo que las universidades deben hacer bien |  Technical Guides | Purple">
            <a:extLst>
              <a:ext uri="{FF2B5EF4-FFF2-40B4-BE49-F238E27FC236}">
                <a16:creationId xmlns:a16="http://schemas.microsoft.com/office/drawing/2014/main" id="{328BFC93-2365-48C6-01B8-91EB55ACED3D}"/>
              </a:ext>
            </a:extLst>
          </p:cNvPr>
          <p:cNvPicPr>
            <a:picLocks noChangeAspect="1"/>
          </p:cNvPicPr>
          <p:nvPr/>
        </p:nvPicPr>
        <p:blipFill>
          <a:blip/>
          <a:stretch>
            <a:fillRect/>
          </a:stretch>
        </p:blipFill>
        <p:spPr>
          <a:xfrm>
            <a:off x="2802646" y="3176236"/>
            <a:ext cx="6112754" cy="3438424"/>
          </a:xfrm>
          <a:prstGeom prst="rect">
            <a:avLst/>
          </a:prstGeom>
        </p:spPr>
      </p:pic>
    </p:spTree>
    <p:extLst>
      <p:ext uri="{BB962C8B-B14F-4D97-AF65-F5344CB8AC3E}">
        <p14:creationId xmlns:p14="http://schemas.microsoft.com/office/powerpoint/2010/main" val="4985352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CA6B5-0DCD-06F8-DA89-228DD6E30ED1}"/>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A43E2041-EB67-AD01-8D12-9B84D1370688}"/>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DC2CF3B0-E658-5801-46B5-3D1812F0EF7B}"/>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53697" y="-10749781"/>
            <a:ext cx="12192000" cy="17779232"/>
          </a:xfrm>
          <a:prstGeom prst="rect">
            <a:avLst/>
          </a:prstGeom>
        </p:spPr>
      </p:pic>
      <p:sp>
        <p:nvSpPr>
          <p:cNvPr id="10" name="CuadroTexto 9">
            <a:extLst>
              <a:ext uri="{FF2B5EF4-FFF2-40B4-BE49-F238E27FC236}">
                <a16:creationId xmlns:a16="http://schemas.microsoft.com/office/drawing/2014/main" id="{B661B42F-76E9-5E58-F154-ABA437050755}"/>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4EBD4947-2CE7-4C00-4C53-90BCFAA27182}"/>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107477E3-F644-F98E-87CB-05D023652029}"/>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pic>
        <p:nvPicPr>
          <p:cNvPr id="14" name="Gráfico 13" descr="Red social con relleno sólido">
            <a:extLst>
              <a:ext uri="{FF2B5EF4-FFF2-40B4-BE49-F238E27FC236}">
                <a16:creationId xmlns:a16="http://schemas.microsoft.com/office/drawing/2014/main" id="{654443B2-FD7A-1B1D-728F-765FF2668C6B}"/>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10596145" y="438889"/>
            <a:ext cx="784503" cy="784503"/>
          </a:xfrm>
          <a:prstGeom prst="rect">
            <a:avLst/>
          </a:prstGeom>
        </p:spPr>
      </p:pic>
      <p:sp>
        <p:nvSpPr>
          <p:cNvPr id="15" name="CuadroTexto 14">
            <a:extLst>
              <a:ext uri="{FF2B5EF4-FFF2-40B4-BE49-F238E27FC236}">
                <a16:creationId xmlns:a16="http://schemas.microsoft.com/office/drawing/2014/main" id="{4494208E-7213-E523-BDA3-98F63A53B404}"/>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sp>
        <p:nvSpPr>
          <p:cNvPr id="3" name="CuadroTexto 2">
            <a:extLst>
              <a:ext uri="{FF2B5EF4-FFF2-40B4-BE49-F238E27FC236}">
                <a16:creationId xmlns:a16="http://schemas.microsoft.com/office/drawing/2014/main" id="{25838B2F-FC0B-5A5B-A86F-1459FD972314}"/>
              </a:ext>
            </a:extLst>
          </p:cNvPr>
          <p:cNvSpPr txBox="1"/>
          <p:nvPr/>
        </p:nvSpPr>
        <p:spPr>
          <a:xfrm>
            <a:off x="266699" y="1240572"/>
            <a:ext cx="5029201" cy="854080"/>
          </a:xfrm>
          <a:prstGeom prst="rect">
            <a:avLst/>
          </a:prstGeom>
          <a:noFill/>
        </p:spPr>
        <p:txBody>
          <a:bodyPr wrap="square" rtlCol="0">
            <a:spAutoFit/>
          </a:bodyPr>
          <a:lstStyle/>
          <a:p>
            <a:r>
              <a:rPr lang="es-PE" sz="1050" b="1" dirty="0">
                <a:solidFill>
                  <a:schemeClr val="bg1"/>
                </a:solidFill>
              </a:rPr>
              <a:t>BIBLIOGRAFÍA DEL SDN:</a:t>
            </a:r>
            <a:endParaRPr lang="es-PE" sz="1050" dirty="0">
              <a:solidFill>
                <a:schemeClr val="bg1"/>
              </a:solidFill>
            </a:endParaRPr>
          </a:p>
          <a:p>
            <a:r>
              <a:rPr lang="es-PE" sz="1050" dirty="0">
                <a:solidFill>
                  <a:schemeClr val="bg1"/>
                </a:solidFill>
              </a:rPr>
              <a:t>- </a:t>
            </a:r>
            <a:r>
              <a:rPr lang="es-PE" sz="1050" u="sng" dirty="0">
                <a:solidFill>
                  <a:schemeClr val="bg1"/>
                </a:solidFill>
                <a:hlinkClick r:id="rId2">
                  <a:extLst>
                    <a:ext uri="{A12FA001-AC4F-418D-AE19-62706E023703}">
                      <ahyp:hlinkClr xmlns:ahyp="http://schemas.microsoft.com/office/drawing/2018/hyperlinkcolor" val="tx"/>
                    </a:ext>
                  </a:extLst>
                </a:hlinkClick>
              </a:rPr>
              <a:t>https://www.ibm.com/mx-es/think/topics/sdn</a:t>
            </a:r>
            <a:endParaRPr lang="es-PE" sz="1050" dirty="0">
              <a:solidFill>
                <a:schemeClr val="bg1"/>
              </a:solidFill>
            </a:endParaRPr>
          </a:p>
          <a:p>
            <a:r>
              <a:rPr lang="es-PE" sz="1050" dirty="0">
                <a:solidFill>
                  <a:schemeClr val="bg1"/>
                </a:solidFill>
              </a:rPr>
              <a:t>- </a:t>
            </a:r>
            <a:r>
              <a:rPr lang="es-PE" sz="1050" u="sng" dirty="0">
                <a:solidFill>
                  <a:schemeClr val="bg1"/>
                </a:solidFill>
                <a:hlinkClick r:id="rId3">
                  <a:extLst>
                    <a:ext uri="{A12FA001-AC4F-418D-AE19-62706E023703}">
                      <ahyp:hlinkClr xmlns:ahyp="http://schemas.microsoft.com/office/drawing/2018/hyperlinkcolor" val="tx"/>
                    </a:ext>
                  </a:extLst>
                </a:hlinkClick>
              </a:rPr>
              <a:t>https://www.nutanix.com/es/info/software-defined-networking</a:t>
            </a:r>
            <a:endParaRPr lang="es-PE" sz="1050" dirty="0">
              <a:solidFill>
                <a:schemeClr val="bg1"/>
              </a:solidFill>
            </a:endParaRPr>
          </a:p>
          <a:p>
            <a:endParaRPr lang="es-PE" dirty="0"/>
          </a:p>
        </p:txBody>
      </p:sp>
      <p:sp>
        <p:nvSpPr>
          <p:cNvPr id="17" name="CuadroTexto 16">
            <a:extLst>
              <a:ext uri="{FF2B5EF4-FFF2-40B4-BE49-F238E27FC236}">
                <a16:creationId xmlns:a16="http://schemas.microsoft.com/office/drawing/2014/main" id="{91549EFD-6461-F98B-CD04-8A31A4921DC9}"/>
              </a:ext>
            </a:extLst>
          </p:cNvPr>
          <p:cNvSpPr txBox="1"/>
          <p:nvPr/>
        </p:nvSpPr>
        <p:spPr>
          <a:xfrm>
            <a:off x="1905000" y="62756"/>
            <a:ext cx="10515600" cy="707886"/>
          </a:xfrm>
          <a:prstGeom prst="rect">
            <a:avLst/>
          </a:prstGeom>
          <a:noFill/>
        </p:spPr>
        <p:txBody>
          <a:bodyPr wrap="square" rtlCol="0">
            <a:spAutoFit/>
          </a:bodyPr>
          <a:lstStyle/>
          <a:p>
            <a:r>
              <a:rPr lang="es-MX" sz="4000" dirty="0">
                <a:solidFill>
                  <a:schemeClr val="bg1"/>
                </a:solidFill>
                <a:latin typeface="Aharoni" panose="02010803020104030203" pitchFamily="2" charset="-79"/>
                <a:cs typeface="Aharoni" panose="02010803020104030203" pitchFamily="2" charset="-79"/>
              </a:rPr>
              <a:t>BIBLIOGRAFIAS::::</a:t>
            </a:r>
            <a:endParaRPr lang="es-PE" sz="4000" dirty="0">
              <a:solidFill>
                <a:schemeClr val="bg1"/>
              </a:solidFill>
              <a:latin typeface="Aharoni" panose="02010803020104030203" pitchFamily="2" charset="-79"/>
              <a:cs typeface="Aharoni" panose="02010803020104030203" pitchFamily="2" charset="-79"/>
            </a:endParaRPr>
          </a:p>
        </p:txBody>
      </p:sp>
      <p:pic>
        <p:nvPicPr>
          <p:cNvPr id="18" name="Gráfico 17" descr="Red social con relleno sólido">
            <a:extLst>
              <a:ext uri="{FF2B5EF4-FFF2-40B4-BE49-F238E27FC236}">
                <a16:creationId xmlns:a16="http://schemas.microsoft.com/office/drawing/2014/main" id="{E1C19A20-2C22-E367-91DF-10086ED071D1}"/>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53697" y="193953"/>
            <a:ext cx="784503" cy="784503"/>
          </a:xfrm>
          <a:prstGeom prst="rect">
            <a:avLst/>
          </a:prstGeom>
        </p:spPr>
      </p:pic>
      <p:pic>
        <p:nvPicPr>
          <p:cNvPr id="20" name="Gráfico 19" descr="Presentación con gráfico de barras con relleno sólido">
            <a:extLst>
              <a:ext uri="{FF2B5EF4-FFF2-40B4-BE49-F238E27FC236}">
                <a16:creationId xmlns:a16="http://schemas.microsoft.com/office/drawing/2014/main" id="{E3A74F82-23A6-A092-1F68-C8102912D438}"/>
              </a:ext>
            </a:extLst>
          </p:cNvPr>
          <p:cNvPicPr>
            <a:picLocks noChangeAspect="1"/>
          </p:cNvPicPr>
          <p:nvPr/>
        </p:nvPicPr>
        <p:blipFill>
          <a:blip r:embed="rId7">
            <a:extLst>
              <a:ext uri="{96DAC541-7B7A-43D3-8B79-37D633B846F1}">
                <asvg:svgBlip xmlns:asvg="http://schemas.microsoft.com/office/drawing/2016/SVG/main"/>
              </a:ext>
            </a:extLst>
          </a:blip>
          <a:stretch>
            <a:fillRect/>
          </a:stretch>
        </p:blipFill>
        <p:spPr>
          <a:xfrm>
            <a:off x="11223903" y="6115051"/>
            <a:ext cx="914400" cy="914400"/>
          </a:xfrm>
          <a:prstGeom prst="rect">
            <a:avLst/>
          </a:prstGeom>
        </p:spPr>
      </p:pic>
      <p:sp>
        <p:nvSpPr>
          <p:cNvPr id="8" name="CuadroTexto 7">
            <a:extLst>
              <a:ext uri="{FF2B5EF4-FFF2-40B4-BE49-F238E27FC236}">
                <a16:creationId xmlns:a16="http://schemas.microsoft.com/office/drawing/2014/main" id="{9C64A01D-2EBA-9199-3C7C-D1AB46632A94}"/>
              </a:ext>
            </a:extLst>
          </p:cNvPr>
          <p:cNvSpPr txBox="1"/>
          <p:nvPr/>
        </p:nvSpPr>
        <p:spPr>
          <a:xfrm>
            <a:off x="350697" y="2025655"/>
            <a:ext cx="5029201" cy="1338828"/>
          </a:xfrm>
          <a:prstGeom prst="rect">
            <a:avLst/>
          </a:prstGeom>
          <a:noFill/>
        </p:spPr>
        <p:txBody>
          <a:bodyPr wrap="square" rtlCol="0">
            <a:spAutoFit/>
          </a:bodyPr>
          <a:lstStyle/>
          <a:p>
            <a:r>
              <a:rPr lang="es-PE" sz="1050" b="1" dirty="0">
                <a:solidFill>
                  <a:schemeClr val="bg1"/>
                </a:solidFill>
              </a:rPr>
              <a:t>Referencia bibliográfica estilo APA para este artículo:</a:t>
            </a:r>
          </a:p>
          <a:p>
            <a:r>
              <a:rPr lang="es-PE" sz="1050" b="1" dirty="0">
                <a:solidFill>
                  <a:schemeClr val="bg1"/>
                </a:solidFill>
              </a:rPr>
              <a:t>De redes 5g: </a:t>
            </a:r>
          </a:p>
          <a:p>
            <a:endParaRPr lang="es-PE" sz="1050" dirty="0">
              <a:solidFill>
                <a:schemeClr val="bg1"/>
              </a:solidFill>
            </a:endParaRPr>
          </a:p>
          <a:p>
            <a:r>
              <a:rPr lang="es-PE" sz="1050" i="1" dirty="0">
                <a:solidFill>
                  <a:schemeClr val="bg1"/>
                </a:solidFill>
              </a:rPr>
              <a:t>A DoS </a:t>
            </a:r>
            <a:r>
              <a:rPr lang="es-PE" sz="1050" i="1" dirty="0" err="1">
                <a:solidFill>
                  <a:schemeClr val="bg1"/>
                </a:solidFill>
              </a:rPr>
              <a:t>Attack</a:t>
            </a:r>
            <a:r>
              <a:rPr lang="es-PE" sz="1050" i="1" dirty="0">
                <a:solidFill>
                  <a:schemeClr val="bg1"/>
                </a:solidFill>
              </a:rPr>
              <a:t> </a:t>
            </a:r>
            <a:r>
              <a:rPr lang="es-PE" sz="1050" i="1" dirty="0" err="1">
                <a:solidFill>
                  <a:schemeClr val="bg1"/>
                </a:solidFill>
              </a:rPr>
              <a:t>Against</a:t>
            </a:r>
            <a:r>
              <a:rPr lang="es-PE" sz="1050" i="1" dirty="0">
                <a:solidFill>
                  <a:schemeClr val="bg1"/>
                </a:solidFill>
              </a:rPr>
              <a:t> 5G-Based </a:t>
            </a:r>
            <a:r>
              <a:rPr lang="es-PE" sz="1050" i="1" dirty="0" err="1">
                <a:solidFill>
                  <a:schemeClr val="bg1"/>
                </a:solidFill>
              </a:rPr>
              <a:t>IIoT</a:t>
            </a:r>
            <a:r>
              <a:rPr lang="es-PE" sz="1050" i="1" dirty="0">
                <a:solidFill>
                  <a:schemeClr val="bg1"/>
                </a:solidFill>
              </a:rPr>
              <a:t> Networks </a:t>
            </a:r>
            <a:r>
              <a:rPr lang="es-PE" sz="1050" i="1" dirty="0" err="1">
                <a:solidFill>
                  <a:schemeClr val="bg1"/>
                </a:solidFill>
              </a:rPr>
              <a:t>Utilizing</a:t>
            </a:r>
            <a:r>
              <a:rPr lang="es-PE" sz="1050" i="1" dirty="0">
                <a:solidFill>
                  <a:schemeClr val="bg1"/>
                </a:solidFill>
              </a:rPr>
              <a:t> Standard Network </a:t>
            </a:r>
            <a:r>
              <a:rPr lang="es-PE" sz="1050" i="1" dirty="0" err="1">
                <a:solidFill>
                  <a:schemeClr val="bg1"/>
                </a:solidFill>
              </a:rPr>
              <a:t>Slicing</a:t>
            </a:r>
            <a:r>
              <a:rPr lang="es-PE" sz="1050" i="1" dirty="0">
                <a:solidFill>
                  <a:schemeClr val="bg1"/>
                </a:solidFill>
              </a:rPr>
              <a:t> </a:t>
            </a:r>
            <a:r>
              <a:rPr lang="es-PE" sz="1050" i="1" dirty="0" err="1">
                <a:solidFill>
                  <a:schemeClr val="bg1"/>
                </a:solidFill>
              </a:rPr>
              <a:t>Mechanisms</a:t>
            </a:r>
            <a:r>
              <a:rPr lang="es-PE" sz="1050" i="1" dirty="0">
                <a:solidFill>
                  <a:schemeClr val="bg1"/>
                </a:solidFill>
              </a:rPr>
              <a:t>.</a:t>
            </a:r>
            <a:r>
              <a:rPr lang="es-PE" sz="1050" dirty="0">
                <a:solidFill>
                  <a:schemeClr val="bg1"/>
                </a:solidFill>
              </a:rPr>
              <a:t> (2024). IEEE </a:t>
            </a:r>
            <a:r>
              <a:rPr lang="es-PE" sz="1050" dirty="0" err="1">
                <a:solidFill>
                  <a:schemeClr val="bg1"/>
                </a:solidFill>
              </a:rPr>
              <a:t>Xplore</a:t>
            </a:r>
            <a:r>
              <a:rPr lang="es-PE" sz="1050" dirty="0">
                <a:solidFill>
                  <a:schemeClr val="bg1"/>
                </a:solidFill>
              </a:rPr>
              <a:t>. </a:t>
            </a:r>
            <a:r>
              <a:rPr lang="es-PE" sz="1050" u="sng" dirty="0">
                <a:solidFill>
                  <a:schemeClr val="bg1"/>
                </a:solidFill>
                <a:hlinkClick r:id="rId4">
                  <a:extLst>
                    <a:ext uri="{A12FA001-AC4F-418D-AE19-62706E023703}">
                      <ahyp:hlinkClr xmlns:ahyp="http://schemas.microsoft.com/office/drawing/2018/hyperlinkcolor" val="tx"/>
                    </a:ext>
                  </a:extLst>
                </a:hlinkClick>
              </a:rPr>
              <a:t>https://ieeexplore.ieee.org/document/11289536</a:t>
            </a:r>
            <a:endParaRPr lang="es-PE" sz="1050" dirty="0">
              <a:solidFill>
                <a:schemeClr val="bg1"/>
              </a:solidFill>
            </a:endParaRPr>
          </a:p>
          <a:p>
            <a:endParaRPr lang="es-PE" dirty="0"/>
          </a:p>
        </p:txBody>
      </p:sp>
      <p:cxnSp>
        <p:nvCxnSpPr>
          <p:cNvPr id="19" name="Conector recto 18">
            <a:extLst>
              <a:ext uri="{FF2B5EF4-FFF2-40B4-BE49-F238E27FC236}">
                <a16:creationId xmlns:a16="http://schemas.microsoft.com/office/drawing/2014/main" id="{A95C65EE-31F8-E72C-CA9F-87B0505392FA}"/>
              </a:ext>
            </a:extLst>
          </p:cNvPr>
          <p:cNvCxnSpPr/>
          <p:nvPr/>
        </p:nvCxnSpPr>
        <p:spPr>
          <a:xfrm>
            <a:off x="5288279" y="1223392"/>
            <a:ext cx="0" cy="4968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CuadroTexto 20">
            <a:extLst>
              <a:ext uri="{FF2B5EF4-FFF2-40B4-BE49-F238E27FC236}">
                <a16:creationId xmlns:a16="http://schemas.microsoft.com/office/drawing/2014/main" id="{20F4DF51-EC4D-351A-2FB5-FB06A73234B9}"/>
              </a:ext>
            </a:extLst>
          </p:cNvPr>
          <p:cNvSpPr txBox="1"/>
          <p:nvPr/>
        </p:nvSpPr>
        <p:spPr>
          <a:xfrm>
            <a:off x="350697" y="3180901"/>
            <a:ext cx="4781551" cy="1985159"/>
          </a:xfrm>
          <a:prstGeom prst="rect">
            <a:avLst/>
          </a:prstGeom>
          <a:noFill/>
        </p:spPr>
        <p:txBody>
          <a:bodyPr wrap="square" rtlCol="0">
            <a:spAutoFit/>
          </a:bodyPr>
          <a:lstStyle/>
          <a:p>
            <a:pPr lvl="0"/>
            <a:r>
              <a:rPr lang="es-PE" sz="1050" dirty="0" err="1">
                <a:solidFill>
                  <a:schemeClr val="bg1"/>
                </a:solidFill>
              </a:rPr>
              <a:t>Bibliografia</a:t>
            </a:r>
            <a:r>
              <a:rPr lang="es-PE" sz="1050" dirty="0">
                <a:solidFill>
                  <a:schemeClr val="bg1"/>
                </a:solidFill>
              </a:rPr>
              <a:t> de </a:t>
            </a:r>
            <a:r>
              <a:rPr lang="es-PE" sz="1050" dirty="0" err="1">
                <a:solidFill>
                  <a:schemeClr val="bg1"/>
                </a:solidFill>
              </a:rPr>
              <a:t>clienteServidor</a:t>
            </a:r>
            <a:r>
              <a:rPr lang="es-PE" sz="1050" dirty="0">
                <a:solidFill>
                  <a:schemeClr val="bg1"/>
                </a:solidFill>
              </a:rPr>
              <a:t> vs computadora distribuida:</a:t>
            </a:r>
          </a:p>
          <a:p>
            <a:pPr lvl="0"/>
            <a:endParaRPr lang="es-PE" sz="1050" dirty="0">
              <a:solidFill>
                <a:schemeClr val="bg1"/>
              </a:solidFill>
            </a:endParaRPr>
          </a:p>
          <a:p>
            <a:pPr lvl="0"/>
            <a:r>
              <a:rPr lang="es-PE" sz="1050" dirty="0">
                <a:solidFill>
                  <a:schemeClr val="bg1"/>
                </a:solidFill>
              </a:rPr>
              <a:t>Díaz, F. (2006). </a:t>
            </a:r>
            <a:r>
              <a:rPr lang="es-PE" sz="1050" i="1" dirty="0">
                <a:solidFill>
                  <a:schemeClr val="bg1"/>
                </a:solidFill>
              </a:rPr>
              <a:t>Introducción a los Sistemas Distribuidos</a:t>
            </a:r>
            <a:r>
              <a:rPr lang="es-PE" sz="1050" dirty="0">
                <a:solidFill>
                  <a:schemeClr val="bg1"/>
                </a:solidFill>
              </a:rPr>
              <a:t>. Universidad de Valladolid (</a:t>
            </a:r>
            <a:r>
              <a:rPr lang="es-PE" sz="1050" dirty="0" err="1">
                <a:solidFill>
                  <a:schemeClr val="bg1"/>
                </a:solidFill>
              </a:rPr>
              <a:t>UVa</a:t>
            </a:r>
            <a:r>
              <a:rPr lang="es-PE" sz="1050" dirty="0">
                <a:solidFill>
                  <a:schemeClr val="bg1"/>
                </a:solidFill>
              </a:rPr>
              <a:t>). Recuperado de: </a:t>
            </a:r>
            <a:r>
              <a:rPr lang="es-PE" sz="1050" u="sng" dirty="0">
                <a:solidFill>
                  <a:schemeClr val="bg1"/>
                </a:solidFill>
                <a:hlinkClick r:id="rId5">
                  <a:extLst>
                    <a:ext uri="{A12FA001-AC4F-418D-AE19-62706E023703}">
                      <ahyp:hlinkClr xmlns:ahyp="http://schemas.microsoft.com/office/drawing/2018/hyperlinkcolor" val="tx"/>
                    </a:ext>
                  </a:extLst>
                </a:hlinkClick>
              </a:rPr>
              <a:t>https://www.infor.uva.es/~fdiaz/sd/2005_06/doc/SD_TE01_20060227.pdf</a:t>
            </a:r>
            <a:endParaRPr lang="es-PE" sz="1050" dirty="0">
              <a:solidFill>
                <a:schemeClr val="bg1"/>
              </a:solidFill>
            </a:endParaRPr>
          </a:p>
          <a:p>
            <a:pPr lvl="0"/>
            <a:r>
              <a:rPr lang="es-PE" sz="1050" dirty="0">
                <a:solidFill>
                  <a:schemeClr val="bg1"/>
                </a:solidFill>
              </a:rPr>
              <a:t>Tanenbaum, A. S., &amp; Van </a:t>
            </a:r>
            <a:r>
              <a:rPr lang="es-PE" sz="1050" dirty="0" err="1">
                <a:solidFill>
                  <a:schemeClr val="bg1"/>
                </a:solidFill>
              </a:rPr>
              <a:t>Steen</a:t>
            </a:r>
            <a:r>
              <a:rPr lang="es-PE" sz="1050" dirty="0">
                <a:solidFill>
                  <a:schemeClr val="bg1"/>
                </a:solidFill>
              </a:rPr>
              <a:t>, M. (2008). </a:t>
            </a:r>
            <a:r>
              <a:rPr lang="es-PE" sz="1050" i="1" dirty="0">
                <a:solidFill>
                  <a:schemeClr val="bg1"/>
                </a:solidFill>
              </a:rPr>
              <a:t>Sistemas distribuidos: principios y paradigmas</a:t>
            </a:r>
            <a:r>
              <a:rPr lang="es-PE" sz="1050" dirty="0">
                <a:solidFill>
                  <a:schemeClr val="bg1"/>
                </a:solidFill>
              </a:rPr>
              <a:t>. México: Pearson Educación.</a:t>
            </a:r>
          </a:p>
          <a:p>
            <a:pPr lvl="0"/>
            <a:r>
              <a:rPr lang="es-PE" sz="1050" dirty="0" err="1">
                <a:solidFill>
                  <a:schemeClr val="bg1"/>
                </a:solidFill>
              </a:rPr>
              <a:t>Coulouris</a:t>
            </a:r>
            <a:r>
              <a:rPr lang="es-PE" sz="1050" dirty="0">
                <a:solidFill>
                  <a:schemeClr val="bg1"/>
                </a:solidFill>
              </a:rPr>
              <a:t>, G., </a:t>
            </a:r>
            <a:r>
              <a:rPr lang="es-PE" sz="1050" dirty="0" err="1">
                <a:solidFill>
                  <a:schemeClr val="bg1"/>
                </a:solidFill>
              </a:rPr>
              <a:t>Dollimore</a:t>
            </a:r>
            <a:r>
              <a:rPr lang="es-PE" sz="1050" dirty="0">
                <a:solidFill>
                  <a:schemeClr val="bg1"/>
                </a:solidFill>
              </a:rPr>
              <a:t>, J., &amp; </a:t>
            </a:r>
            <a:r>
              <a:rPr lang="es-PE" sz="1050" dirty="0" err="1">
                <a:solidFill>
                  <a:schemeClr val="bg1"/>
                </a:solidFill>
              </a:rPr>
              <a:t>Kindberg</a:t>
            </a:r>
            <a:r>
              <a:rPr lang="es-PE" sz="1050" dirty="0">
                <a:solidFill>
                  <a:schemeClr val="bg1"/>
                </a:solidFill>
              </a:rPr>
              <a:t>, T. (2011). </a:t>
            </a:r>
            <a:r>
              <a:rPr lang="es-PE" sz="1050" i="1" dirty="0">
                <a:solidFill>
                  <a:schemeClr val="bg1"/>
                </a:solidFill>
              </a:rPr>
              <a:t>Sistemas distribuidos: conceptos y diseño</a:t>
            </a:r>
            <a:r>
              <a:rPr lang="es-PE" sz="1050" dirty="0">
                <a:solidFill>
                  <a:schemeClr val="bg1"/>
                </a:solidFill>
              </a:rPr>
              <a:t> (5ta ed.). Madrid: Addison-Wesley.</a:t>
            </a:r>
          </a:p>
          <a:p>
            <a:endParaRPr lang="es-PE" dirty="0"/>
          </a:p>
        </p:txBody>
      </p:sp>
      <p:sp>
        <p:nvSpPr>
          <p:cNvPr id="22" name="CuadroTexto 21">
            <a:extLst>
              <a:ext uri="{FF2B5EF4-FFF2-40B4-BE49-F238E27FC236}">
                <a16:creationId xmlns:a16="http://schemas.microsoft.com/office/drawing/2014/main" id="{4E172CDC-4142-AC06-ACAF-8E3881A6E75D}"/>
              </a:ext>
            </a:extLst>
          </p:cNvPr>
          <p:cNvSpPr txBox="1"/>
          <p:nvPr/>
        </p:nvSpPr>
        <p:spPr>
          <a:xfrm>
            <a:off x="350697" y="5166060"/>
            <a:ext cx="4945202" cy="854080"/>
          </a:xfrm>
          <a:prstGeom prst="rect">
            <a:avLst/>
          </a:prstGeom>
          <a:noFill/>
        </p:spPr>
        <p:txBody>
          <a:bodyPr wrap="square" rtlCol="0">
            <a:spAutoFit/>
          </a:bodyPr>
          <a:lstStyle/>
          <a:p>
            <a:r>
              <a:rPr lang="es-PE" sz="1050" b="1" dirty="0">
                <a:solidFill>
                  <a:schemeClr val="bg1"/>
                </a:solidFill>
              </a:rPr>
              <a:t>Bibliografía de </a:t>
            </a:r>
            <a:r>
              <a:rPr lang="es-MX" sz="1050" b="1" dirty="0">
                <a:solidFill>
                  <a:schemeClr val="bg1"/>
                </a:solidFill>
              </a:rPr>
              <a:t>Virtualización de Redes</a:t>
            </a:r>
            <a:endParaRPr lang="es-PE" sz="1050" dirty="0">
              <a:solidFill>
                <a:schemeClr val="bg1"/>
              </a:solidFill>
            </a:endParaRPr>
          </a:p>
          <a:p>
            <a:r>
              <a:rPr lang="es-PE" sz="1050" b="1" dirty="0">
                <a:solidFill>
                  <a:schemeClr val="bg1"/>
                </a:solidFill>
              </a:rPr>
              <a:t>:</a:t>
            </a:r>
            <a:endParaRPr lang="es-PE" sz="1050" dirty="0">
              <a:solidFill>
                <a:schemeClr val="bg1"/>
              </a:solidFill>
            </a:endParaRPr>
          </a:p>
          <a:p>
            <a:r>
              <a:rPr lang="es-PE" sz="1050" dirty="0">
                <a:solidFill>
                  <a:schemeClr val="bg1"/>
                </a:solidFill>
              </a:rPr>
              <a:t>https://www.ibm.com/es-es/think/topics/network-functions-virtualization</a:t>
            </a:r>
          </a:p>
          <a:p>
            <a:endParaRPr lang="es-PE" dirty="0"/>
          </a:p>
        </p:txBody>
      </p:sp>
      <p:sp>
        <p:nvSpPr>
          <p:cNvPr id="23" name="CuadroTexto 22">
            <a:extLst>
              <a:ext uri="{FF2B5EF4-FFF2-40B4-BE49-F238E27FC236}">
                <a16:creationId xmlns:a16="http://schemas.microsoft.com/office/drawing/2014/main" id="{3121D7AB-AD20-D592-C59E-81D7A4714DC9}"/>
              </a:ext>
            </a:extLst>
          </p:cNvPr>
          <p:cNvSpPr txBox="1"/>
          <p:nvPr/>
        </p:nvSpPr>
        <p:spPr>
          <a:xfrm>
            <a:off x="5288279" y="1206074"/>
            <a:ext cx="6294121" cy="854080"/>
          </a:xfrm>
          <a:prstGeom prst="rect">
            <a:avLst/>
          </a:prstGeom>
          <a:noFill/>
        </p:spPr>
        <p:txBody>
          <a:bodyPr wrap="square" rtlCol="0">
            <a:spAutoFit/>
          </a:bodyPr>
          <a:lstStyle/>
          <a:p>
            <a:r>
              <a:rPr lang="es-MX" sz="1050" b="1" dirty="0">
                <a:solidFill>
                  <a:schemeClr val="bg1"/>
                </a:solidFill>
                <a:latin typeface="Book Antiqua" panose="02040602050305030304" pitchFamily="18" charset="0"/>
              </a:rPr>
              <a:t>Bibliografía de </a:t>
            </a:r>
            <a:r>
              <a:rPr lang="es-MX" sz="1050" b="1" dirty="0">
                <a:solidFill>
                  <a:schemeClr val="bg1"/>
                </a:solidFill>
              </a:rPr>
              <a:t>Evolución del Cableado Estructurado de Cat5e a Cat8</a:t>
            </a:r>
            <a:endParaRPr lang="es-PE" sz="1050" dirty="0">
              <a:solidFill>
                <a:schemeClr val="bg1"/>
              </a:solidFill>
            </a:endParaRPr>
          </a:p>
          <a:p>
            <a:r>
              <a:rPr lang="es-MX" sz="1050" b="1" dirty="0">
                <a:solidFill>
                  <a:schemeClr val="bg1"/>
                </a:solidFill>
                <a:latin typeface="Book Antiqua" panose="02040602050305030304" pitchFamily="18" charset="0"/>
              </a:rPr>
              <a:t>:</a:t>
            </a:r>
            <a:endParaRPr lang="es-PE" sz="1050" dirty="0">
              <a:solidFill>
                <a:schemeClr val="bg1"/>
              </a:solidFill>
              <a:latin typeface="Book Antiqua" panose="02040602050305030304" pitchFamily="18" charset="0"/>
            </a:endParaRPr>
          </a:p>
          <a:p>
            <a:r>
              <a:rPr lang="es-MX" sz="1050" u="sng" dirty="0">
                <a:solidFill>
                  <a:schemeClr val="bg1"/>
                </a:solidFill>
                <a:latin typeface="Book Antiqua" panose="02040602050305030304" pitchFamily="18" charset="0"/>
                <a:hlinkClick r:id="rId6">
                  <a:extLst>
                    <a:ext uri="{A12FA001-AC4F-418D-AE19-62706E023703}">
                      <ahyp:hlinkClr xmlns:ahyp="http://schemas.microsoft.com/office/drawing/2018/hyperlinkcolor" val="tx"/>
                    </a:ext>
                  </a:extLst>
                </a:hlinkClick>
              </a:rPr>
              <a:t>https://www.kordz.com/articles/category-cables-from-cat5e-to-cat8/</a:t>
            </a:r>
            <a:endParaRPr lang="es-PE" sz="1050" dirty="0">
              <a:solidFill>
                <a:schemeClr val="bg1"/>
              </a:solidFill>
              <a:latin typeface="Book Antiqua" panose="02040602050305030304" pitchFamily="18" charset="0"/>
            </a:endParaRPr>
          </a:p>
          <a:p>
            <a:endParaRPr lang="es-PE" dirty="0"/>
          </a:p>
        </p:txBody>
      </p:sp>
      <p:sp>
        <p:nvSpPr>
          <p:cNvPr id="24" name="CuadroTexto 23">
            <a:extLst>
              <a:ext uri="{FF2B5EF4-FFF2-40B4-BE49-F238E27FC236}">
                <a16:creationId xmlns:a16="http://schemas.microsoft.com/office/drawing/2014/main" id="{DD056268-3E90-7151-A6F0-405EC1E42F26}"/>
              </a:ext>
            </a:extLst>
          </p:cNvPr>
          <p:cNvSpPr txBox="1"/>
          <p:nvPr/>
        </p:nvSpPr>
        <p:spPr>
          <a:xfrm>
            <a:off x="5337987" y="1746311"/>
            <a:ext cx="6587313" cy="1500411"/>
          </a:xfrm>
          <a:prstGeom prst="rect">
            <a:avLst/>
          </a:prstGeom>
          <a:noFill/>
        </p:spPr>
        <p:txBody>
          <a:bodyPr wrap="square" rtlCol="0">
            <a:spAutoFit/>
          </a:bodyPr>
          <a:lstStyle/>
          <a:p>
            <a:r>
              <a:rPr lang="es-PE" sz="1050" b="1" dirty="0">
                <a:solidFill>
                  <a:schemeClr val="bg1"/>
                </a:solidFill>
                <a:latin typeface="Book Antiqua" panose="02040602050305030304" pitchFamily="18" charset="0"/>
              </a:rPr>
              <a:t>Bibliografía de topologías modernas :</a:t>
            </a:r>
            <a:endParaRPr lang="es-PE" sz="1050" dirty="0">
              <a:solidFill>
                <a:schemeClr val="bg1"/>
              </a:solidFill>
              <a:latin typeface="Book Antiqua" panose="02040602050305030304" pitchFamily="18" charset="0"/>
            </a:endParaRPr>
          </a:p>
          <a:p>
            <a:pPr lvl="0"/>
            <a:r>
              <a:rPr lang="es-PE" sz="1050" dirty="0">
                <a:solidFill>
                  <a:schemeClr val="bg1"/>
                </a:solidFill>
                <a:latin typeface="Book Antiqua" panose="02040602050305030304" pitchFamily="18" charset="0"/>
              </a:rPr>
              <a:t>Padrón, J. D. (2024). </a:t>
            </a:r>
            <a:r>
              <a:rPr lang="es-PE" sz="1050" i="1" dirty="0">
                <a:solidFill>
                  <a:schemeClr val="bg1"/>
                </a:solidFill>
                <a:latin typeface="Book Antiqua" panose="02040602050305030304" pitchFamily="18" charset="0"/>
              </a:rPr>
              <a:t>Control de centros de datos </a:t>
            </a:r>
            <a:r>
              <a:rPr lang="es-PE" sz="1050" i="1" dirty="0" err="1">
                <a:solidFill>
                  <a:schemeClr val="bg1"/>
                </a:solidFill>
                <a:latin typeface="Book Antiqua" panose="02040602050305030304" pitchFamily="18" charset="0"/>
              </a:rPr>
              <a:t>multitenant</a:t>
            </a:r>
            <a:r>
              <a:rPr lang="es-PE" sz="1050" i="1" dirty="0">
                <a:solidFill>
                  <a:schemeClr val="bg1"/>
                </a:solidFill>
                <a:latin typeface="Book Antiqua" panose="02040602050305030304" pitchFamily="18" charset="0"/>
              </a:rPr>
              <a:t> mediante SDN</a:t>
            </a:r>
            <a:r>
              <a:rPr lang="es-PE" sz="1050" dirty="0">
                <a:solidFill>
                  <a:schemeClr val="bg1"/>
                </a:solidFill>
                <a:latin typeface="Book Antiqua" panose="02040602050305030304" pitchFamily="18" charset="0"/>
              </a:rPr>
              <a:t>. Universidad de La Laguna (ULL). Recuperado de: </a:t>
            </a:r>
            <a:r>
              <a:rPr lang="es-PE" sz="1050" u="sng" dirty="0">
                <a:solidFill>
                  <a:schemeClr val="bg1"/>
                </a:solidFill>
                <a:latin typeface="Book Antiqua" panose="02040602050305030304" pitchFamily="18" charset="0"/>
                <a:hlinkClick r:id="rId7">
                  <a:extLst>
                    <a:ext uri="{A12FA001-AC4F-418D-AE19-62706E023703}">
                      <ahyp:hlinkClr xmlns:ahyp="http://schemas.microsoft.com/office/drawing/2018/hyperlinkcolor" val="tx"/>
                    </a:ext>
                  </a:extLst>
                </a:hlinkClick>
              </a:rPr>
              <a:t>https://riull.ull.es/xmlui/bitstream/handle/915/42537/Control%20de%20centros%20de%20datos%20multitenant%20mediante%20SDN.pdf</a:t>
            </a:r>
            <a:endParaRPr lang="es-PE" sz="1050" dirty="0">
              <a:solidFill>
                <a:schemeClr val="bg1"/>
              </a:solidFill>
              <a:latin typeface="Book Antiqua" panose="02040602050305030304" pitchFamily="18" charset="0"/>
            </a:endParaRPr>
          </a:p>
          <a:p>
            <a:pPr lvl="0"/>
            <a:r>
              <a:rPr lang="es-PE" sz="1050" dirty="0">
                <a:solidFill>
                  <a:schemeClr val="bg1"/>
                </a:solidFill>
                <a:latin typeface="Book Antiqua" panose="02040602050305030304" pitchFamily="18" charset="0"/>
              </a:rPr>
              <a:t>Al-Fares, M., </a:t>
            </a:r>
            <a:r>
              <a:rPr lang="es-PE" sz="1050" dirty="0" err="1">
                <a:solidFill>
                  <a:schemeClr val="bg1"/>
                </a:solidFill>
                <a:latin typeface="Book Antiqua" panose="02040602050305030304" pitchFamily="18" charset="0"/>
              </a:rPr>
              <a:t>Loukissas</a:t>
            </a:r>
            <a:r>
              <a:rPr lang="es-PE" sz="1050" dirty="0">
                <a:solidFill>
                  <a:schemeClr val="bg1"/>
                </a:solidFill>
                <a:latin typeface="Book Antiqua" panose="02040602050305030304" pitchFamily="18" charset="0"/>
              </a:rPr>
              <a:t>, A., &amp; </a:t>
            </a:r>
            <a:r>
              <a:rPr lang="es-PE" sz="1050" dirty="0" err="1">
                <a:solidFill>
                  <a:schemeClr val="bg1"/>
                </a:solidFill>
                <a:latin typeface="Book Antiqua" panose="02040602050305030304" pitchFamily="18" charset="0"/>
              </a:rPr>
              <a:t>Vahdat</a:t>
            </a:r>
            <a:r>
              <a:rPr lang="es-PE" sz="1050" dirty="0">
                <a:solidFill>
                  <a:schemeClr val="bg1"/>
                </a:solidFill>
                <a:latin typeface="Book Antiqua" panose="02040602050305030304" pitchFamily="18" charset="0"/>
              </a:rPr>
              <a:t>, A. (2008). </a:t>
            </a:r>
            <a:r>
              <a:rPr lang="es-PE" sz="1050" i="1" dirty="0">
                <a:solidFill>
                  <a:schemeClr val="bg1"/>
                </a:solidFill>
                <a:latin typeface="Book Antiqua" panose="02040602050305030304" pitchFamily="18" charset="0"/>
              </a:rPr>
              <a:t>A </a:t>
            </a:r>
            <a:r>
              <a:rPr lang="es-PE" sz="1050" i="1" dirty="0" err="1">
                <a:solidFill>
                  <a:schemeClr val="bg1"/>
                </a:solidFill>
                <a:latin typeface="Book Antiqua" panose="02040602050305030304" pitchFamily="18" charset="0"/>
              </a:rPr>
              <a:t>scalable</a:t>
            </a:r>
            <a:r>
              <a:rPr lang="es-PE" sz="1050" i="1" dirty="0">
                <a:solidFill>
                  <a:schemeClr val="bg1"/>
                </a:solidFill>
                <a:latin typeface="Book Antiqua" panose="02040602050305030304" pitchFamily="18" charset="0"/>
              </a:rPr>
              <a:t>, </a:t>
            </a:r>
            <a:r>
              <a:rPr lang="es-PE" sz="1050" i="1" dirty="0" err="1">
                <a:solidFill>
                  <a:schemeClr val="bg1"/>
                </a:solidFill>
                <a:latin typeface="Book Antiqua" panose="02040602050305030304" pitchFamily="18" charset="0"/>
              </a:rPr>
              <a:t>commodity</a:t>
            </a:r>
            <a:r>
              <a:rPr lang="es-PE" sz="1050" i="1" dirty="0">
                <a:solidFill>
                  <a:schemeClr val="bg1"/>
                </a:solidFill>
                <a:latin typeface="Book Antiqua" panose="02040602050305030304" pitchFamily="18" charset="0"/>
              </a:rPr>
              <a:t> data center </a:t>
            </a:r>
            <a:r>
              <a:rPr lang="es-PE" sz="1050" i="1" dirty="0" err="1">
                <a:solidFill>
                  <a:schemeClr val="bg1"/>
                </a:solidFill>
                <a:latin typeface="Book Antiqua" panose="02040602050305030304" pitchFamily="18" charset="0"/>
              </a:rPr>
              <a:t>network</a:t>
            </a:r>
            <a:r>
              <a:rPr lang="es-PE" sz="1050" i="1" dirty="0">
                <a:solidFill>
                  <a:schemeClr val="bg1"/>
                </a:solidFill>
                <a:latin typeface="Book Antiqua" panose="02040602050305030304" pitchFamily="18" charset="0"/>
              </a:rPr>
              <a:t> </a:t>
            </a:r>
            <a:r>
              <a:rPr lang="es-PE" sz="1050" i="1" dirty="0" err="1">
                <a:solidFill>
                  <a:schemeClr val="bg1"/>
                </a:solidFill>
                <a:latin typeface="Book Antiqua" panose="02040602050305030304" pitchFamily="18" charset="0"/>
              </a:rPr>
              <a:t>architecture</a:t>
            </a:r>
            <a:r>
              <a:rPr lang="es-PE" sz="1050" dirty="0">
                <a:solidFill>
                  <a:schemeClr val="bg1"/>
                </a:solidFill>
                <a:latin typeface="Book Antiqua" panose="02040602050305030304" pitchFamily="18" charset="0"/>
              </a:rPr>
              <a:t>. ACM SIGCOMM </a:t>
            </a:r>
            <a:r>
              <a:rPr lang="es-PE" sz="1050" dirty="0" err="1">
                <a:solidFill>
                  <a:schemeClr val="bg1"/>
                </a:solidFill>
                <a:latin typeface="Book Antiqua" panose="02040602050305030304" pitchFamily="18" charset="0"/>
              </a:rPr>
              <a:t>Computer</a:t>
            </a:r>
            <a:r>
              <a:rPr lang="es-PE" sz="1050" dirty="0">
                <a:solidFill>
                  <a:schemeClr val="bg1"/>
                </a:solidFill>
                <a:latin typeface="Book Antiqua" panose="02040602050305030304" pitchFamily="18" charset="0"/>
              </a:rPr>
              <a:t> </a:t>
            </a:r>
            <a:r>
              <a:rPr lang="es-PE" sz="1050" dirty="0" err="1">
                <a:solidFill>
                  <a:schemeClr val="bg1"/>
                </a:solidFill>
                <a:latin typeface="Book Antiqua" panose="02040602050305030304" pitchFamily="18" charset="0"/>
              </a:rPr>
              <a:t>Communication</a:t>
            </a:r>
            <a:r>
              <a:rPr lang="es-PE" sz="1050" dirty="0">
                <a:solidFill>
                  <a:schemeClr val="bg1"/>
                </a:solidFill>
                <a:latin typeface="Book Antiqua" panose="02040602050305030304" pitchFamily="18" charset="0"/>
              </a:rPr>
              <a:t> </a:t>
            </a:r>
            <a:r>
              <a:rPr lang="es-PE" sz="1050" dirty="0" err="1">
                <a:solidFill>
                  <a:schemeClr val="bg1"/>
                </a:solidFill>
                <a:latin typeface="Book Antiqua" panose="02040602050305030304" pitchFamily="18" charset="0"/>
              </a:rPr>
              <a:t>Review</a:t>
            </a:r>
            <a:r>
              <a:rPr lang="es-PE" sz="1050" dirty="0">
                <a:solidFill>
                  <a:schemeClr val="bg1"/>
                </a:solidFill>
                <a:latin typeface="Book Antiqua" panose="02040602050305030304" pitchFamily="18" charset="0"/>
              </a:rPr>
              <a:t>.</a:t>
            </a:r>
          </a:p>
          <a:p>
            <a:endParaRPr lang="es-PE" dirty="0"/>
          </a:p>
        </p:txBody>
      </p:sp>
      <p:sp>
        <p:nvSpPr>
          <p:cNvPr id="25" name="CuadroTexto 24">
            <a:extLst>
              <a:ext uri="{FF2B5EF4-FFF2-40B4-BE49-F238E27FC236}">
                <a16:creationId xmlns:a16="http://schemas.microsoft.com/office/drawing/2014/main" id="{474A206B-BE21-3797-D925-4A859C29CCA1}"/>
              </a:ext>
            </a:extLst>
          </p:cNvPr>
          <p:cNvSpPr txBox="1"/>
          <p:nvPr/>
        </p:nvSpPr>
        <p:spPr>
          <a:xfrm>
            <a:off x="5379898" y="2989913"/>
            <a:ext cx="6507302" cy="1015663"/>
          </a:xfrm>
          <a:prstGeom prst="rect">
            <a:avLst/>
          </a:prstGeom>
          <a:noFill/>
        </p:spPr>
        <p:txBody>
          <a:bodyPr wrap="square" rtlCol="0">
            <a:spAutoFit/>
          </a:bodyPr>
          <a:lstStyle/>
          <a:p>
            <a:r>
              <a:rPr lang="es-PE" sz="1050" b="1" dirty="0" err="1">
                <a:solidFill>
                  <a:schemeClr val="bg1"/>
                </a:solidFill>
                <a:latin typeface="Book Antiqua" panose="02040602050305030304" pitchFamily="18" charset="0"/>
              </a:rPr>
              <a:t>Bibliografia</a:t>
            </a:r>
            <a:r>
              <a:rPr lang="es-PE" sz="1050" b="1" dirty="0">
                <a:solidFill>
                  <a:schemeClr val="bg1"/>
                </a:solidFill>
                <a:latin typeface="Book Antiqua" panose="02040602050305030304" pitchFamily="18" charset="0"/>
              </a:rPr>
              <a:t> de </a:t>
            </a:r>
            <a:r>
              <a:rPr lang="es-MX" sz="1050" b="1" dirty="0">
                <a:solidFill>
                  <a:schemeClr val="bg1"/>
                </a:solidFill>
              </a:rPr>
              <a:t>Tecnologías de Conectividad por Fibra Óptica (GPON, FTTH)</a:t>
            </a:r>
            <a:endParaRPr lang="es-PE" sz="1050" dirty="0">
              <a:solidFill>
                <a:schemeClr val="bg1"/>
              </a:solidFill>
            </a:endParaRPr>
          </a:p>
          <a:p>
            <a:r>
              <a:rPr lang="es-PE" sz="1050" dirty="0">
                <a:solidFill>
                  <a:schemeClr val="bg1"/>
                </a:solidFill>
                <a:latin typeface="Book Antiqua" panose="02040602050305030304" pitchFamily="18" charset="0"/>
              </a:rPr>
              <a:t>:</a:t>
            </a:r>
          </a:p>
          <a:p>
            <a:r>
              <a:rPr lang="es-MX" sz="1050" u="sng" dirty="0">
                <a:solidFill>
                  <a:schemeClr val="bg1"/>
                </a:solidFill>
                <a:latin typeface="Book Antiqua" panose="02040602050305030304" pitchFamily="18" charset="0"/>
                <a:hlinkClick r:id="rId8">
                  <a:extLst>
                    <a:ext uri="{A12FA001-AC4F-418D-AE19-62706E023703}">
                      <ahyp:hlinkClr xmlns:ahyp="http://schemas.microsoft.com/office/drawing/2018/hyperlinkcolor" val="tx"/>
                    </a:ext>
                  </a:extLst>
                </a:hlinkClick>
              </a:rPr>
              <a:t>https://www.skylaneoptics.com/es/noticias/arquitectura-de-una-red-de-fibra-optica-gpon-ftth-estructura-y-funcionamiento/</a:t>
            </a:r>
            <a:endParaRPr lang="es-PE" sz="1050" dirty="0">
              <a:solidFill>
                <a:schemeClr val="bg1"/>
              </a:solidFill>
              <a:latin typeface="Book Antiqua" panose="02040602050305030304" pitchFamily="18" charset="0"/>
            </a:endParaRPr>
          </a:p>
          <a:p>
            <a:endParaRPr lang="es-PE" dirty="0"/>
          </a:p>
        </p:txBody>
      </p:sp>
      <p:sp>
        <p:nvSpPr>
          <p:cNvPr id="26" name="CuadroTexto 25">
            <a:extLst>
              <a:ext uri="{FF2B5EF4-FFF2-40B4-BE49-F238E27FC236}">
                <a16:creationId xmlns:a16="http://schemas.microsoft.com/office/drawing/2014/main" id="{564ADDD8-45F7-BBB1-17BE-564B640F995A}"/>
              </a:ext>
            </a:extLst>
          </p:cNvPr>
          <p:cNvSpPr txBox="1"/>
          <p:nvPr/>
        </p:nvSpPr>
        <p:spPr>
          <a:xfrm>
            <a:off x="5349239" y="3733562"/>
            <a:ext cx="6629577" cy="1661993"/>
          </a:xfrm>
          <a:prstGeom prst="rect">
            <a:avLst/>
          </a:prstGeom>
          <a:noFill/>
        </p:spPr>
        <p:txBody>
          <a:bodyPr wrap="square" rtlCol="0">
            <a:spAutoFit/>
          </a:bodyPr>
          <a:lstStyle/>
          <a:p>
            <a:r>
              <a:rPr lang="es-PE" sz="1050" b="1" dirty="0">
                <a:solidFill>
                  <a:schemeClr val="bg1"/>
                </a:solidFill>
              </a:rPr>
              <a:t>Bibliografía de firewall de próxima </a:t>
            </a:r>
            <a:r>
              <a:rPr lang="es-PE" sz="1050" b="1" dirty="0" err="1">
                <a:solidFill>
                  <a:schemeClr val="bg1"/>
                </a:solidFill>
              </a:rPr>
              <a:t>generacion</a:t>
            </a:r>
            <a:endParaRPr lang="es-PE" sz="1050" dirty="0">
              <a:solidFill>
                <a:schemeClr val="bg1"/>
              </a:solidFill>
            </a:endParaRPr>
          </a:p>
          <a:p>
            <a:pPr lvl="0"/>
            <a:r>
              <a:rPr lang="es-PE" sz="1050" dirty="0">
                <a:solidFill>
                  <a:schemeClr val="bg1"/>
                </a:solidFill>
              </a:rPr>
              <a:t>Silva Lascano, D. O. (2020). </a:t>
            </a:r>
            <a:r>
              <a:rPr lang="es-PE" sz="1050" i="1" dirty="0">
                <a:solidFill>
                  <a:schemeClr val="bg1"/>
                </a:solidFill>
              </a:rPr>
              <a:t>Evaluación de Tecnologías UTM (</a:t>
            </a:r>
            <a:r>
              <a:rPr lang="es-PE" sz="1050" i="1" dirty="0" err="1">
                <a:solidFill>
                  <a:schemeClr val="bg1"/>
                </a:solidFill>
              </a:rPr>
              <a:t>Unified</a:t>
            </a:r>
            <a:r>
              <a:rPr lang="es-PE" sz="1050" i="1" dirty="0">
                <a:solidFill>
                  <a:schemeClr val="bg1"/>
                </a:solidFill>
              </a:rPr>
              <a:t> </a:t>
            </a:r>
            <a:r>
              <a:rPr lang="es-PE" sz="1050" i="1" dirty="0" err="1">
                <a:solidFill>
                  <a:schemeClr val="bg1"/>
                </a:solidFill>
              </a:rPr>
              <a:t>Threatment</a:t>
            </a:r>
            <a:r>
              <a:rPr lang="es-PE" sz="1050" i="1" dirty="0">
                <a:solidFill>
                  <a:schemeClr val="bg1"/>
                </a:solidFill>
              </a:rPr>
              <a:t> Management) y NGFW (Next </a:t>
            </a:r>
            <a:r>
              <a:rPr lang="es-PE" sz="1050" i="1" dirty="0" err="1">
                <a:solidFill>
                  <a:schemeClr val="bg1"/>
                </a:solidFill>
              </a:rPr>
              <a:t>Generation</a:t>
            </a:r>
            <a:r>
              <a:rPr lang="es-PE" sz="1050" i="1" dirty="0">
                <a:solidFill>
                  <a:schemeClr val="bg1"/>
                </a:solidFill>
              </a:rPr>
              <a:t> Firewall) para detección de vulnerabilidades en la red</a:t>
            </a:r>
            <a:r>
              <a:rPr lang="es-PE" sz="1050" dirty="0">
                <a:solidFill>
                  <a:schemeClr val="bg1"/>
                </a:solidFill>
              </a:rPr>
              <a:t>. Riobamba: Escuela Superior Politécnica de Chimborazo. Recuperado de: </a:t>
            </a:r>
            <a:r>
              <a:rPr lang="es-PE" sz="1050" u="sng" dirty="0">
                <a:solidFill>
                  <a:schemeClr val="bg1"/>
                </a:solidFill>
                <a:hlinkClick r:id="rId9">
                  <a:extLst>
                    <a:ext uri="{A12FA001-AC4F-418D-AE19-62706E023703}">
                      <ahyp:hlinkClr xmlns:ahyp="http://schemas.microsoft.com/office/drawing/2018/hyperlinkcolor" val="tx"/>
                    </a:ext>
                  </a:extLst>
                </a:hlinkClick>
              </a:rPr>
              <a:t>https://dspace.espoch.edu.ec/handle/123456789/14080</a:t>
            </a:r>
            <a:endParaRPr lang="es-PE" sz="1050" dirty="0">
              <a:solidFill>
                <a:schemeClr val="bg1"/>
              </a:solidFill>
            </a:endParaRPr>
          </a:p>
          <a:p>
            <a:pPr lvl="0"/>
            <a:r>
              <a:rPr lang="es-PE" sz="1050" dirty="0" err="1">
                <a:solidFill>
                  <a:schemeClr val="bg1"/>
                </a:solidFill>
              </a:rPr>
              <a:t>Zissis</a:t>
            </a:r>
            <a:r>
              <a:rPr lang="es-PE" sz="1050" dirty="0">
                <a:solidFill>
                  <a:schemeClr val="bg1"/>
                </a:solidFill>
              </a:rPr>
              <a:t>, D., &amp; </a:t>
            </a:r>
            <a:r>
              <a:rPr lang="es-PE" sz="1050" dirty="0" err="1">
                <a:solidFill>
                  <a:schemeClr val="bg1"/>
                </a:solidFill>
              </a:rPr>
              <a:t>Lekkas</a:t>
            </a:r>
            <a:r>
              <a:rPr lang="es-PE" sz="1050" dirty="0">
                <a:solidFill>
                  <a:schemeClr val="bg1"/>
                </a:solidFill>
              </a:rPr>
              <a:t>, D. (2012). </a:t>
            </a:r>
            <a:r>
              <a:rPr lang="es-PE" sz="1050" i="1" dirty="0" err="1">
                <a:solidFill>
                  <a:schemeClr val="bg1"/>
                </a:solidFill>
              </a:rPr>
              <a:t>Addressing</a:t>
            </a:r>
            <a:r>
              <a:rPr lang="es-PE" sz="1050" i="1" dirty="0">
                <a:solidFill>
                  <a:schemeClr val="bg1"/>
                </a:solidFill>
              </a:rPr>
              <a:t> </a:t>
            </a:r>
            <a:r>
              <a:rPr lang="es-PE" sz="1050" i="1" dirty="0" err="1">
                <a:solidFill>
                  <a:schemeClr val="bg1"/>
                </a:solidFill>
              </a:rPr>
              <a:t>cloud</a:t>
            </a:r>
            <a:r>
              <a:rPr lang="es-PE" sz="1050" i="1" dirty="0">
                <a:solidFill>
                  <a:schemeClr val="bg1"/>
                </a:solidFill>
              </a:rPr>
              <a:t> </a:t>
            </a:r>
            <a:r>
              <a:rPr lang="es-PE" sz="1050" i="1" dirty="0" err="1">
                <a:solidFill>
                  <a:schemeClr val="bg1"/>
                </a:solidFill>
              </a:rPr>
              <a:t>computing</a:t>
            </a:r>
            <a:r>
              <a:rPr lang="es-PE" sz="1050" i="1" dirty="0">
                <a:solidFill>
                  <a:schemeClr val="bg1"/>
                </a:solidFill>
              </a:rPr>
              <a:t> </a:t>
            </a:r>
            <a:r>
              <a:rPr lang="es-PE" sz="1050" i="1" dirty="0" err="1">
                <a:solidFill>
                  <a:schemeClr val="bg1"/>
                </a:solidFill>
              </a:rPr>
              <a:t>security</a:t>
            </a:r>
            <a:r>
              <a:rPr lang="es-PE" sz="1050" i="1" dirty="0">
                <a:solidFill>
                  <a:schemeClr val="bg1"/>
                </a:solidFill>
              </a:rPr>
              <a:t> </a:t>
            </a:r>
            <a:r>
              <a:rPr lang="es-PE" sz="1050" i="1" dirty="0" err="1">
                <a:solidFill>
                  <a:schemeClr val="bg1"/>
                </a:solidFill>
              </a:rPr>
              <a:t>issues</a:t>
            </a:r>
            <a:r>
              <a:rPr lang="es-PE" sz="1050" dirty="0">
                <a:solidFill>
                  <a:schemeClr val="bg1"/>
                </a:solidFill>
              </a:rPr>
              <a:t>. Future </a:t>
            </a:r>
            <a:r>
              <a:rPr lang="es-PE" sz="1050" dirty="0" err="1">
                <a:solidFill>
                  <a:schemeClr val="bg1"/>
                </a:solidFill>
              </a:rPr>
              <a:t>Generation</a:t>
            </a:r>
            <a:r>
              <a:rPr lang="es-PE" sz="1050" dirty="0">
                <a:solidFill>
                  <a:schemeClr val="bg1"/>
                </a:solidFill>
              </a:rPr>
              <a:t> </a:t>
            </a:r>
            <a:r>
              <a:rPr lang="es-PE" sz="1050" dirty="0" err="1">
                <a:solidFill>
                  <a:schemeClr val="bg1"/>
                </a:solidFill>
              </a:rPr>
              <a:t>Computer</a:t>
            </a:r>
            <a:r>
              <a:rPr lang="es-PE" sz="1050" dirty="0">
                <a:solidFill>
                  <a:schemeClr val="bg1"/>
                </a:solidFill>
              </a:rPr>
              <a:t> </a:t>
            </a:r>
            <a:r>
              <a:rPr lang="es-PE" sz="1050" dirty="0" err="1">
                <a:solidFill>
                  <a:schemeClr val="bg1"/>
                </a:solidFill>
              </a:rPr>
              <a:t>Systems</a:t>
            </a:r>
            <a:r>
              <a:rPr lang="es-PE" sz="1050" dirty="0">
                <a:solidFill>
                  <a:schemeClr val="bg1"/>
                </a:solidFill>
              </a:rPr>
              <a:t>.</a:t>
            </a:r>
          </a:p>
          <a:p>
            <a:pPr lvl="0"/>
            <a:r>
              <a:rPr lang="es-PE" sz="1050" dirty="0" err="1">
                <a:solidFill>
                  <a:schemeClr val="bg1"/>
                </a:solidFill>
              </a:rPr>
              <a:t>Stallings</a:t>
            </a:r>
            <a:r>
              <a:rPr lang="es-PE" sz="1050" dirty="0">
                <a:solidFill>
                  <a:schemeClr val="bg1"/>
                </a:solidFill>
              </a:rPr>
              <a:t>, W. (2014). </a:t>
            </a:r>
            <a:r>
              <a:rPr lang="es-PE" sz="1050" i="1" dirty="0">
                <a:solidFill>
                  <a:schemeClr val="bg1"/>
                </a:solidFill>
              </a:rPr>
              <a:t>Network Security Essentials: Applications and </a:t>
            </a:r>
            <a:r>
              <a:rPr lang="es-PE" sz="1050" i="1" dirty="0" err="1">
                <a:solidFill>
                  <a:schemeClr val="bg1"/>
                </a:solidFill>
              </a:rPr>
              <a:t>Standards</a:t>
            </a:r>
            <a:r>
              <a:rPr lang="es-PE" sz="1050" dirty="0">
                <a:solidFill>
                  <a:schemeClr val="bg1"/>
                </a:solidFill>
              </a:rPr>
              <a:t>. Pearson.</a:t>
            </a:r>
          </a:p>
          <a:p>
            <a:endParaRPr lang="es-PE" dirty="0"/>
          </a:p>
        </p:txBody>
      </p:sp>
      <p:sp>
        <p:nvSpPr>
          <p:cNvPr id="27" name="CuadroTexto 26">
            <a:extLst>
              <a:ext uri="{FF2B5EF4-FFF2-40B4-BE49-F238E27FC236}">
                <a16:creationId xmlns:a16="http://schemas.microsoft.com/office/drawing/2014/main" id="{5DD1FE02-69C9-0086-248B-3D72ED9D7475}"/>
              </a:ext>
            </a:extLst>
          </p:cNvPr>
          <p:cNvSpPr txBox="1"/>
          <p:nvPr/>
        </p:nvSpPr>
        <p:spPr>
          <a:xfrm>
            <a:off x="5349418" y="5256716"/>
            <a:ext cx="5844005" cy="1500411"/>
          </a:xfrm>
          <a:prstGeom prst="rect">
            <a:avLst/>
          </a:prstGeom>
          <a:noFill/>
        </p:spPr>
        <p:txBody>
          <a:bodyPr wrap="square" rtlCol="0">
            <a:spAutoFit/>
          </a:bodyPr>
          <a:lstStyle/>
          <a:p>
            <a:r>
              <a:rPr lang="es-PE" sz="1050" b="1" dirty="0">
                <a:solidFill>
                  <a:schemeClr val="bg1"/>
                </a:solidFill>
                <a:latin typeface="Book Antiqua" panose="02040602050305030304" pitchFamily="18" charset="0"/>
              </a:rPr>
              <a:t>Bibliografía de seguridad perimetral a la identidad:</a:t>
            </a:r>
            <a:endParaRPr lang="es-PE" sz="1050" dirty="0">
              <a:solidFill>
                <a:schemeClr val="bg1"/>
              </a:solidFill>
              <a:latin typeface="Book Antiqua" panose="02040602050305030304" pitchFamily="18" charset="0"/>
            </a:endParaRPr>
          </a:p>
          <a:p>
            <a:pPr lvl="0"/>
            <a:r>
              <a:rPr lang="es-PE" sz="1050" dirty="0">
                <a:solidFill>
                  <a:schemeClr val="bg1"/>
                </a:solidFill>
                <a:latin typeface="Book Antiqua" panose="02040602050305030304" pitchFamily="18" charset="0"/>
              </a:rPr>
              <a:t>Gaitán, J. L. (2022). </a:t>
            </a:r>
            <a:r>
              <a:rPr lang="es-PE" sz="1050" i="1" dirty="0">
                <a:solidFill>
                  <a:schemeClr val="bg1"/>
                </a:solidFill>
                <a:latin typeface="Book Antiqua" panose="02040602050305030304" pitchFamily="18" charset="0"/>
              </a:rPr>
              <a:t>Diseño de un modelo de seguridad basado en el concepto de Zero Trust para la infraestructura de red de una organización</a:t>
            </a:r>
            <a:r>
              <a:rPr lang="es-PE" sz="1050" dirty="0">
                <a:solidFill>
                  <a:schemeClr val="bg1"/>
                </a:solidFill>
                <a:latin typeface="Book Antiqua" panose="02040602050305030304" pitchFamily="18" charset="0"/>
              </a:rPr>
              <a:t>. Universidad Nacional Abierta y a Distancia (UNAD). Recuperado de: </a:t>
            </a:r>
            <a:r>
              <a:rPr lang="es-PE" sz="1050" u="sng" dirty="0">
                <a:solidFill>
                  <a:schemeClr val="bg1"/>
                </a:solidFill>
                <a:latin typeface="Book Antiqua" panose="02040602050305030304" pitchFamily="18" charset="0"/>
                <a:hlinkClick r:id="rId10">
                  <a:extLst>
                    <a:ext uri="{A12FA001-AC4F-418D-AE19-62706E023703}">
                      <ahyp:hlinkClr xmlns:ahyp="http://schemas.microsoft.com/office/drawing/2018/hyperlinkcolor" val="tx"/>
                    </a:ext>
                  </a:extLst>
                </a:hlinkClick>
              </a:rPr>
              <a:t>https://repository.unad.edu.co/handle/10596/48929</a:t>
            </a:r>
            <a:endParaRPr lang="es-PE" sz="1050" dirty="0">
              <a:solidFill>
                <a:schemeClr val="bg1"/>
              </a:solidFill>
              <a:latin typeface="Book Antiqua" panose="02040602050305030304" pitchFamily="18" charset="0"/>
            </a:endParaRPr>
          </a:p>
          <a:p>
            <a:pPr lvl="0"/>
            <a:r>
              <a:rPr lang="es-PE" sz="1050" dirty="0">
                <a:solidFill>
                  <a:schemeClr val="bg1"/>
                </a:solidFill>
                <a:latin typeface="Book Antiqua" panose="02040602050305030304" pitchFamily="18" charset="0"/>
              </a:rPr>
              <a:t>NIST. (2020). </a:t>
            </a:r>
            <a:r>
              <a:rPr lang="es-PE" sz="1050" i="1" dirty="0">
                <a:solidFill>
                  <a:schemeClr val="bg1"/>
                </a:solidFill>
                <a:latin typeface="Book Antiqua" panose="02040602050305030304" pitchFamily="18" charset="0"/>
              </a:rPr>
              <a:t>Zero Trust </a:t>
            </a:r>
            <a:r>
              <a:rPr lang="es-PE" sz="1050" i="1" dirty="0" err="1">
                <a:solidFill>
                  <a:schemeClr val="bg1"/>
                </a:solidFill>
                <a:latin typeface="Book Antiqua" panose="02040602050305030304" pitchFamily="18" charset="0"/>
              </a:rPr>
              <a:t>Architecture</a:t>
            </a:r>
            <a:r>
              <a:rPr lang="es-PE" sz="1050" i="1" dirty="0">
                <a:solidFill>
                  <a:schemeClr val="bg1"/>
                </a:solidFill>
                <a:latin typeface="Book Antiqua" panose="02040602050305030304" pitchFamily="18" charset="0"/>
              </a:rPr>
              <a:t> (</a:t>
            </a:r>
            <a:r>
              <a:rPr lang="es-PE" sz="1050" i="1" dirty="0" err="1">
                <a:solidFill>
                  <a:schemeClr val="bg1"/>
                </a:solidFill>
                <a:latin typeface="Book Antiqua" panose="02040602050305030304" pitchFamily="18" charset="0"/>
              </a:rPr>
              <a:t>Special</a:t>
            </a:r>
            <a:r>
              <a:rPr lang="es-PE" sz="1050" i="1" dirty="0">
                <a:solidFill>
                  <a:schemeClr val="bg1"/>
                </a:solidFill>
                <a:latin typeface="Book Antiqua" panose="02040602050305030304" pitchFamily="18" charset="0"/>
              </a:rPr>
              <a:t> </a:t>
            </a:r>
            <a:r>
              <a:rPr lang="es-PE" sz="1050" i="1" dirty="0" err="1">
                <a:solidFill>
                  <a:schemeClr val="bg1"/>
                </a:solidFill>
                <a:latin typeface="Book Antiqua" panose="02040602050305030304" pitchFamily="18" charset="0"/>
              </a:rPr>
              <a:t>Publication</a:t>
            </a:r>
            <a:r>
              <a:rPr lang="es-PE" sz="1050" i="1" dirty="0">
                <a:solidFill>
                  <a:schemeClr val="bg1"/>
                </a:solidFill>
                <a:latin typeface="Book Antiqua" panose="02040602050305030304" pitchFamily="18" charset="0"/>
              </a:rPr>
              <a:t> 800-207)</a:t>
            </a:r>
            <a:r>
              <a:rPr lang="es-PE" sz="1050" dirty="0">
                <a:solidFill>
                  <a:schemeClr val="bg1"/>
                </a:solidFill>
                <a:latin typeface="Book Antiqua" panose="02040602050305030304" pitchFamily="18" charset="0"/>
              </a:rPr>
              <a:t>. </a:t>
            </a:r>
            <a:r>
              <a:rPr lang="es-PE" sz="1050" dirty="0" err="1">
                <a:solidFill>
                  <a:schemeClr val="bg1"/>
                </a:solidFill>
                <a:latin typeface="Book Antiqua" panose="02040602050305030304" pitchFamily="18" charset="0"/>
              </a:rPr>
              <a:t>National</a:t>
            </a:r>
            <a:r>
              <a:rPr lang="es-PE" sz="1050" dirty="0">
                <a:solidFill>
                  <a:schemeClr val="bg1"/>
                </a:solidFill>
                <a:latin typeface="Book Antiqua" panose="02040602050305030304" pitchFamily="18" charset="0"/>
              </a:rPr>
              <a:t> </a:t>
            </a:r>
            <a:r>
              <a:rPr lang="es-PE" sz="1050" dirty="0" err="1">
                <a:solidFill>
                  <a:schemeClr val="bg1"/>
                </a:solidFill>
                <a:latin typeface="Book Antiqua" panose="02040602050305030304" pitchFamily="18" charset="0"/>
              </a:rPr>
              <a:t>Institute</a:t>
            </a:r>
            <a:r>
              <a:rPr lang="es-PE" sz="1050" dirty="0">
                <a:solidFill>
                  <a:schemeClr val="bg1"/>
                </a:solidFill>
                <a:latin typeface="Book Antiqua" panose="02040602050305030304" pitchFamily="18" charset="0"/>
              </a:rPr>
              <a:t> </a:t>
            </a:r>
            <a:r>
              <a:rPr lang="es-PE" sz="1050" dirty="0" err="1">
                <a:solidFill>
                  <a:schemeClr val="bg1"/>
                </a:solidFill>
                <a:latin typeface="Book Antiqua" panose="02040602050305030304" pitchFamily="18" charset="0"/>
              </a:rPr>
              <a:t>of</a:t>
            </a:r>
            <a:r>
              <a:rPr lang="es-PE" sz="1050" dirty="0">
                <a:solidFill>
                  <a:schemeClr val="bg1"/>
                </a:solidFill>
                <a:latin typeface="Book Antiqua" panose="02040602050305030304" pitchFamily="18" charset="0"/>
              </a:rPr>
              <a:t> </a:t>
            </a:r>
            <a:r>
              <a:rPr lang="es-PE" sz="1050" dirty="0" err="1">
                <a:solidFill>
                  <a:schemeClr val="bg1"/>
                </a:solidFill>
                <a:latin typeface="Book Antiqua" panose="02040602050305030304" pitchFamily="18" charset="0"/>
              </a:rPr>
              <a:t>Standards</a:t>
            </a:r>
            <a:r>
              <a:rPr lang="es-PE" sz="1050" dirty="0">
                <a:solidFill>
                  <a:schemeClr val="bg1"/>
                </a:solidFill>
                <a:latin typeface="Book Antiqua" panose="02040602050305030304" pitchFamily="18" charset="0"/>
              </a:rPr>
              <a:t> and </a:t>
            </a:r>
            <a:r>
              <a:rPr lang="es-PE" sz="1050" dirty="0" err="1">
                <a:solidFill>
                  <a:schemeClr val="bg1"/>
                </a:solidFill>
                <a:latin typeface="Book Antiqua" panose="02040602050305030304" pitchFamily="18" charset="0"/>
              </a:rPr>
              <a:t>Technology</a:t>
            </a:r>
            <a:r>
              <a:rPr lang="es-PE" sz="1050" dirty="0">
                <a:solidFill>
                  <a:schemeClr val="bg1"/>
                </a:solidFill>
                <a:latin typeface="Book Antiqua" panose="02040602050305030304" pitchFamily="18" charset="0"/>
              </a:rPr>
              <a:t>.</a:t>
            </a:r>
          </a:p>
          <a:p>
            <a:pPr lvl="0"/>
            <a:r>
              <a:rPr lang="es-PE" sz="1050" dirty="0">
                <a:solidFill>
                  <a:schemeClr val="bg1"/>
                </a:solidFill>
                <a:latin typeface="Book Antiqua" panose="02040602050305030304" pitchFamily="18" charset="0"/>
              </a:rPr>
              <a:t>Rose, S., </a:t>
            </a:r>
            <a:r>
              <a:rPr lang="es-PE" sz="1050" dirty="0" err="1">
                <a:solidFill>
                  <a:schemeClr val="bg1"/>
                </a:solidFill>
                <a:latin typeface="Book Antiqua" panose="02040602050305030304" pitchFamily="18" charset="0"/>
              </a:rPr>
              <a:t>Borchert</a:t>
            </a:r>
            <a:r>
              <a:rPr lang="es-PE" sz="1050" dirty="0">
                <a:solidFill>
                  <a:schemeClr val="bg1"/>
                </a:solidFill>
                <a:latin typeface="Book Antiqua" panose="02040602050305030304" pitchFamily="18" charset="0"/>
              </a:rPr>
              <a:t>, O., Mitchell, S., &amp; </a:t>
            </a:r>
            <a:r>
              <a:rPr lang="es-PE" sz="1050" dirty="0" err="1">
                <a:solidFill>
                  <a:schemeClr val="bg1"/>
                </a:solidFill>
                <a:latin typeface="Book Antiqua" panose="02040602050305030304" pitchFamily="18" charset="0"/>
              </a:rPr>
              <a:t>Connelly</a:t>
            </a:r>
            <a:r>
              <a:rPr lang="es-PE" sz="1050" dirty="0">
                <a:solidFill>
                  <a:schemeClr val="bg1"/>
                </a:solidFill>
                <a:latin typeface="Book Antiqua" panose="02040602050305030304" pitchFamily="18" charset="0"/>
              </a:rPr>
              <a:t>, S. (2020). </a:t>
            </a:r>
            <a:r>
              <a:rPr lang="es-PE" sz="1050" i="1" dirty="0">
                <a:solidFill>
                  <a:schemeClr val="bg1"/>
                </a:solidFill>
                <a:latin typeface="Book Antiqua" panose="02040602050305030304" pitchFamily="18" charset="0"/>
              </a:rPr>
              <a:t>Zero Trust </a:t>
            </a:r>
            <a:r>
              <a:rPr lang="es-PE" sz="1050" i="1" dirty="0" err="1">
                <a:solidFill>
                  <a:schemeClr val="bg1"/>
                </a:solidFill>
                <a:latin typeface="Book Antiqua" panose="02040602050305030304" pitchFamily="18" charset="0"/>
              </a:rPr>
              <a:t>Architecture</a:t>
            </a:r>
            <a:r>
              <a:rPr lang="es-PE" sz="1050" dirty="0">
                <a:solidFill>
                  <a:schemeClr val="bg1"/>
                </a:solidFill>
                <a:latin typeface="Book Antiqua" panose="02040602050305030304" pitchFamily="18" charset="0"/>
              </a:rPr>
              <a:t>. NIST.</a:t>
            </a:r>
          </a:p>
          <a:p>
            <a:endParaRPr lang="es-PE" dirty="0"/>
          </a:p>
        </p:txBody>
      </p:sp>
    </p:spTree>
    <p:extLst>
      <p:ext uri="{BB962C8B-B14F-4D97-AF65-F5344CB8AC3E}">
        <p14:creationId xmlns:p14="http://schemas.microsoft.com/office/powerpoint/2010/main" val="22387759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E9D1E-B7F1-EA92-2A63-CBF1E2321E80}"/>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6272BA2E-0650-436F-E46A-B564F091B3FB}"/>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66B1F3C5-AE31-8F71-CC23-839F070B76BA}"/>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0" y="-10749781"/>
            <a:ext cx="12192000" cy="17779232"/>
          </a:xfrm>
          <a:prstGeom prst="rect">
            <a:avLst/>
          </a:prstGeom>
        </p:spPr>
      </p:pic>
      <p:sp>
        <p:nvSpPr>
          <p:cNvPr id="10" name="CuadroTexto 9">
            <a:extLst>
              <a:ext uri="{FF2B5EF4-FFF2-40B4-BE49-F238E27FC236}">
                <a16:creationId xmlns:a16="http://schemas.microsoft.com/office/drawing/2014/main" id="{76008A5A-8DA7-DF89-C3D5-3BCA814EA983}"/>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69884894-C956-3CAC-80DE-AE5EE42EE442}"/>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49718EAF-B7A4-8FE5-B2D1-149D2863F205}"/>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pic>
        <p:nvPicPr>
          <p:cNvPr id="14" name="Gráfico 13" descr="Red social con relleno sólido">
            <a:extLst>
              <a:ext uri="{FF2B5EF4-FFF2-40B4-BE49-F238E27FC236}">
                <a16:creationId xmlns:a16="http://schemas.microsoft.com/office/drawing/2014/main" id="{9771D48B-EDF0-A870-4295-2BE946037B76}"/>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10596145" y="438889"/>
            <a:ext cx="784503" cy="784503"/>
          </a:xfrm>
          <a:prstGeom prst="rect">
            <a:avLst/>
          </a:prstGeom>
        </p:spPr>
      </p:pic>
      <p:sp>
        <p:nvSpPr>
          <p:cNvPr id="15" name="CuadroTexto 14">
            <a:extLst>
              <a:ext uri="{FF2B5EF4-FFF2-40B4-BE49-F238E27FC236}">
                <a16:creationId xmlns:a16="http://schemas.microsoft.com/office/drawing/2014/main" id="{A6FA95A7-DA21-03D2-B035-A49E6FA49942}"/>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sp>
        <p:nvSpPr>
          <p:cNvPr id="3" name="CuadroTexto 2">
            <a:extLst>
              <a:ext uri="{FF2B5EF4-FFF2-40B4-BE49-F238E27FC236}">
                <a16:creationId xmlns:a16="http://schemas.microsoft.com/office/drawing/2014/main" id="{07845D80-9B6D-4C46-871C-C29CFE40DA92}"/>
              </a:ext>
            </a:extLst>
          </p:cNvPr>
          <p:cNvSpPr txBox="1"/>
          <p:nvPr/>
        </p:nvSpPr>
        <p:spPr>
          <a:xfrm>
            <a:off x="53697" y="978456"/>
            <a:ext cx="5029201" cy="692497"/>
          </a:xfrm>
          <a:prstGeom prst="rect">
            <a:avLst/>
          </a:prstGeom>
          <a:noFill/>
        </p:spPr>
        <p:txBody>
          <a:bodyPr wrap="square" rtlCol="0">
            <a:spAutoFit/>
          </a:bodyPr>
          <a:lstStyle/>
          <a:p>
            <a:r>
              <a:rPr lang="es-PE" sz="1050" b="1" dirty="0">
                <a:solidFill>
                  <a:schemeClr val="bg1"/>
                </a:solidFill>
                <a:latin typeface="Book Antiqua" panose="02040602050305030304" pitchFamily="18" charset="0"/>
              </a:rPr>
              <a:t> Bibliografía: de CPN</a:t>
            </a:r>
            <a:endParaRPr lang="es-PE" sz="1050" dirty="0">
              <a:solidFill>
                <a:schemeClr val="bg1"/>
              </a:solidFill>
              <a:latin typeface="Book Antiqua" panose="02040602050305030304" pitchFamily="18" charset="0"/>
            </a:endParaRPr>
          </a:p>
          <a:p>
            <a:r>
              <a:rPr lang="es-PE" sz="1050" b="1" u="sng" dirty="0">
                <a:solidFill>
                  <a:schemeClr val="bg1"/>
                </a:solidFill>
                <a:latin typeface="Book Antiqua" panose="02040602050305030304" pitchFamily="18" charset="0"/>
                <a:hlinkClick r:id="rId2">
                  <a:extLst>
                    <a:ext uri="{A12FA001-AC4F-418D-AE19-62706E023703}">
                      <ahyp:hlinkClr xmlns:ahyp="http://schemas.microsoft.com/office/drawing/2018/hyperlinkcolor" val="tx"/>
                    </a:ext>
                  </a:extLst>
                </a:hlinkClick>
              </a:rPr>
              <a:t>https://www.cloudflare.com/es-es/learning/network-layer/ipsec-vs-ssl-vpn/</a:t>
            </a:r>
            <a:endParaRPr lang="es-PE" sz="1050" dirty="0">
              <a:solidFill>
                <a:schemeClr val="bg1"/>
              </a:solidFill>
              <a:latin typeface="Book Antiqua" panose="02040602050305030304" pitchFamily="18" charset="0"/>
            </a:endParaRPr>
          </a:p>
          <a:p>
            <a:endParaRPr lang="es-PE" dirty="0"/>
          </a:p>
        </p:txBody>
      </p:sp>
      <p:sp>
        <p:nvSpPr>
          <p:cNvPr id="17" name="CuadroTexto 16">
            <a:extLst>
              <a:ext uri="{FF2B5EF4-FFF2-40B4-BE49-F238E27FC236}">
                <a16:creationId xmlns:a16="http://schemas.microsoft.com/office/drawing/2014/main" id="{DC498299-8517-2312-D50E-1E04C97C5633}"/>
              </a:ext>
            </a:extLst>
          </p:cNvPr>
          <p:cNvSpPr txBox="1"/>
          <p:nvPr/>
        </p:nvSpPr>
        <p:spPr>
          <a:xfrm>
            <a:off x="1905000" y="62756"/>
            <a:ext cx="10515600" cy="707886"/>
          </a:xfrm>
          <a:prstGeom prst="rect">
            <a:avLst/>
          </a:prstGeom>
          <a:noFill/>
        </p:spPr>
        <p:txBody>
          <a:bodyPr wrap="square" rtlCol="0">
            <a:spAutoFit/>
          </a:bodyPr>
          <a:lstStyle/>
          <a:p>
            <a:r>
              <a:rPr lang="es-MX" sz="4000" dirty="0">
                <a:solidFill>
                  <a:schemeClr val="bg1"/>
                </a:solidFill>
                <a:latin typeface="Aharoni" panose="02010803020104030203" pitchFamily="2" charset="-79"/>
                <a:cs typeface="Aharoni" panose="02010803020104030203" pitchFamily="2" charset="-79"/>
              </a:rPr>
              <a:t>BIBLIOGRAFIAS::::</a:t>
            </a:r>
            <a:endParaRPr lang="es-PE" sz="4000" dirty="0">
              <a:solidFill>
                <a:schemeClr val="bg1"/>
              </a:solidFill>
              <a:latin typeface="Aharoni" panose="02010803020104030203" pitchFamily="2" charset="-79"/>
              <a:cs typeface="Aharoni" panose="02010803020104030203" pitchFamily="2" charset="-79"/>
            </a:endParaRPr>
          </a:p>
        </p:txBody>
      </p:sp>
      <p:pic>
        <p:nvPicPr>
          <p:cNvPr id="18" name="Gráfico 17" descr="Red social con relleno sólido">
            <a:extLst>
              <a:ext uri="{FF2B5EF4-FFF2-40B4-BE49-F238E27FC236}">
                <a16:creationId xmlns:a16="http://schemas.microsoft.com/office/drawing/2014/main" id="{B7AF4A4C-D06B-95D6-3080-83FFE64498CE}"/>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53697" y="193953"/>
            <a:ext cx="784503" cy="784503"/>
          </a:xfrm>
          <a:prstGeom prst="rect">
            <a:avLst/>
          </a:prstGeom>
        </p:spPr>
      </p:pic>
      <p:pic>
        <p:nvPicPr>
          <p:cNvPr id="20" name="Gráfico 19" descr="Presentación con gráfico de barras con relleno sólido">
            <a:extLst>
              <a:ext uri="{FF2B5EF4-FFF2-40B4-BE49-F238E27FC236}">
                <a16:creationId xmlns:a16="http://schemas.microsoft.com/office/drawing/2014/main" id="{79358044-EF75-48CD-209F-A494101600E3}"/>
              </a:ext>
            </a:extLst>
          </p:cNvPr>
          <p:cNvPicPr>
            <a:picLocks noChangeAspect="1"/>
          </p:cNvPicPr>
          <p:nvPr/>
        </p:nvPicPr>
        <p:blipFill>
          <a:blip r:embed="rId6">
            <a:extLst>
              <a:ext uri="{96DAC541-7B7A-43D3-8B79-37D633B846F1}">
                <asvg:svgBlip xmlns:asvg="http://schemas.microsoft.com/office/drawing/2016/SVG/main"/>
              </a:ext>
            </a:extLst>
          </a:blip>
          <a:stretch>
            <a:fillRect/>
          </a:stretch>
        </p:blipFill>
        <p:spPr>
          <a:xfrm>
            <a:off x="11223903" y="6115051"/>
            <a:ext cx="914400" cy="914400"/>
          </a:xfrm>
          <a:prstGeom prst="rect">
            <a:avLst/>
          </a:prstGeom>
        </p:spPr>
      </p:pic>
      <p:cxnSp>
        <p:nvCxnSpPr>
          <p:cNvPr id="19" name="Conector recto 18">
            <a:extLst>
              <a:ext uri="{FF2B5EF4-FFF2-40B4-BE49-F238E27FC236}">
                <a16:creationId xmlns:a16="http://schemas.microsoft.com/office/drawing/2014/main" id="{36FC262C-F65B-A61A-D945-078537044080}"/>
              </a:ext>
            </a:extLst>
          </p:cNvPr>
          <p:cNvCxnSpPr/>
          <p:nvPr/>
        </p:nvCxnSpPr>
        <p:spPr>
          <a:xfrm>
            <a:off x="5288279" y="1223392"/>
            <a:ext cx="0" cy="4968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CuadroTexto 1">
            <a:extLst>
              <a:ext uri="{FF2B5EF4-FFF2-40B4-BE49-F238E27FC236}">
                <a16:creationId xmlns:a16="http://schemas.microsoft.com/office/drawing/2014/main" id="{9D5838AE-14CD-991E-2B82-33CB5C855F05}"/>
              </a:ext>
            </a:extLst>
          </p:cNvPr>
          <p:cNvSpPr txBox="1"/>
          <p:nvPr/>
        </p:nvSpPr>
        <p:spPr>
          <a:xfrm>
            <a:off x="53696" y="1798320"/>
            <a:ext cx="5234575" cy="1985159"/>
          </a:xfrm>
          <a:prstGeom prst="rect">
            <a:avLst/>
          </a:prstGeom>
          <a:noFill/>
        </p:spPr>
        <p:txBody>
          <a:bodyPr wrap="square" rtlCol="0">
            <a:spAutoFit/>
          </a:bodyPr>
          <a:lstStyle/>
          <a:p>
            <a:r>
              <a:rPr lang="es-PE" sz="1050" b="1" dirty="0">
                <a:solidFill>
                  <a:schemeClr val="bg1"/>
                </a:solidFill>
                <a:latin typeface="Book Antiqua" panose="02040602050305030304" pitchFamily="18" charset="0"/>
              </a:rPr>
              <a:t>Bibliografía Académica Criptografía y Cifrado en Redes Modernas (TLS/HTTPS)</a:t>
            </a:r>
            <a:endParaRPr lang="es-PE" sz="1050" dirty="0">
              <a:solidFill>
                <a:schemeClr val="bg1"/>
              </a:solidFill>
              <a:latin typeface="Book Antiqua" panose="02040602050305030304" pitchFamily="18" charset="0"/>
            </a:endParaRPr>
          </a:p>
          <a:p>
            <a:endParaRPr lang="es-PE" sz="1050" dirty="0">
              <a:solidFill>
                <a:schemeClr val="bg1"/>
              </a:solidFill>
              <a:latin typeface="Book Antiqua" panose="02040602050305030304" pitchFamily="18" charset="0"/>
            </a:endParaRPr>
          </a:p>
          <a:p>
            <a:pPr lvl="0"/>
            <a:r>
              <a:rPr lang="es-PE" sz="1050" b="1" dirty="0" err="1">
                <a:solidFill>
                  <a:schemeClr val="bg1"/>
                </a:solidFill>
                <a:latin typeface="Book Antiqua" panose="02040602050305030304" pitchFamily="18" charset="0"/>
              </a:rPr>
              <a:t>Rescorla</a:t>
            </a:r>
            <a:r>
              <a:rPr lang="es-PE" sz="1050" b="1" dirty="0">
                <a:solidFill>
                  <a:schemeClr val="bg1"/>
                </a:solidFill>
                <a:latin typeface="Book Antiqua" panose="02040602050305030304" pitchFamily="18" charset="0"/>
              </a:rPr>
              <a:t>, E. (2018).</a:t>
            </a:r>
            <a:r>
              <a:rPr lang="es-PE" sz="1050" dirty="0">
                <a:solidFill>
                  <a:schemeClr val="bg1"/>
                </a:solidFill>
                <a:latin typeface="Book Antiqua" panose="02040602050305030304" pitchFamily="18" charset="0"/>
              </a:rPr>
              <a:t> </a:t>
            </a:r>
            <a:r>
              <a:rPr lang="es-PE" sz="1050" i="1" dirty="0" err="1">
                <a:solidFill>
                  <a:schemeClr val="bg1"/>
                </a:solidFill>
                <a:latin typeface="Book Antiqua" panose="02040602050305030304" pitchFamily="18" charset="0"/>
              </a:rPr>
              <a:t>The</a:t>
            </a:r>
            <a:r>
              <a:rPr lang="es-PE" sz="1050" i="1" dirty="0">
                <a:solidFill>
                  <a:schemeClr val="bg1"/>
                </a:solidFill>
                <a:latin typeface="Book Antiqua" panose="02040602050305030304" pitchFamily="18" charset="0"/>
              </a:rPr>
              <a:t> </a:t>
            </a:r>
            <a:r>
              <a:rPr lang="es-PE" sz="1050" i="1" dirty="0" err="1">
                <a:solidFill>
                  <a:schemeClr val="bg1"/>
                </a:solidFill>
                <a:latin typeface="Book Antiqua" panose="02040602050305030304" pitchFamily="18" charset="0"/>
              </a:rPr>
              <a:t>Transport</a:t>
            </a:r>
            <a:r>
              <a:rPr lang="es-PE" sz="1050" i="1" dirty="0">
                <a:solidFill>
                  <a:schemeClr val="bg1"/>
                </a:solidFill>
                <a:latin typeface="Book Antiqua" panose="02040602050305030304" pitchFamily="18" charset="0"/>
              </a:rPr>
              <a:t> </a:t>
            </a:r>
            <a:r>
              <a:rPr lang="es-PE" sz="1050" i="1" dirty="0" err="1">
                <a:solidFill>
                  <a:schemeClr val="bg1"/>
                </a:solidFill>
                <a:latin typeface="Book Antiqua" panose="02040602050305030304" pitchFamily="18" charset="0"/>
              </a:rPr>
              <a:t>Layer</a:t>
            </a:r>
            <a:r>
              <a:rPr lang="es-PE" sz="1050" i="1" dirty="0">
                <a:solidFill>
                  <a:schemeClr val="bg1"/>
                </a:solidFill>
                <a:latin typeface="Book Antiqua" panose="02040602050305030304" pitchFamily="18" charset="0"/>
              </a:rPr>
              <a:t> Security (TLS) </a:t>
            </a:r>
            <a:r>
              <a:rPr lang="es-PE" sz="1050" i="1" dirty="0" err="1">
                <a:solidFill>
                  <a:schemeClr val="bg1"/>
                </a:solidFill>
                <a:latin typeface="Book Antiqua" panose="02040602050305030304" pitchFamily="18" charset="0"/>
              </a:rPr>
              <a:t>Protocol</a:t>
            </a:r>
            <a:r>
              <a:rPr lang="es-PE" sz="1050" i="1" dirty="0">
                <a:solidFill>
                  <a:schemeClr val="bg1"/>
                </a:solidFill>
                <a:latin typeface="Book Antiqua" panose="02040602050305030304" pitchFamily="18" charset="0"/>
              </a:rPr>
              <a:t> </a:t>
            </a:r>
            <a:r>
              <a:rPr lang="es-PE" sz="1050" i="1" dirty="0" err="1">
                <a:solidFill>
                  <a:schemeClr val="bg1"/>
                </a:solidFill>
                <a:latin typeface="Book Antiqua" panose="02040602050305030304" pitchFamily="18" charset="0"/>
              </a:rPr>
              <a:t>Version</a:t>
            </a:r>
            <a:r>
              <a:rPr lang="es-PE" sz="1050" i="1" dirty="0">
                <a:solidFill>
                  <a:schemeClr val="bg1"/>
                </a:solidFill>
                <a:latin typeface="Book Antiqua" panose="02040602050305030304" pitchFamily="18" charset="0"/>
              </a:rPr>
              <a:t> 1.3</a:t>
            </a:r>
            <a:r>
              <a:rPr lang="es-PE" sz="1050" dirty="0">
                <a:solidFill>
                  <a:schemeClr val="bg1"/>
                </a:solidFill>
                <a:latin typeface="Book Antiqua" panose="02040602050305030304" pitchFamily="18" charset="0"/>
              </a:rPr>
              <a:t>. RFC 8446. (Este es el estándar técnico oficial de cómo funciona el cifrado moderno).</a:t>
            </a:r>
          </a:p>
          <a:p>
            <a:pPr lvl="0"/>
            <a:r>
              <a:rPr lang="es-PE" sz="1050" b="1" dirty="0" err="1">
                <a:solidFill>
                  <a:schemeClr val="bg1"/>
                </a:solidFill>
                <a:latin typeface="Book Antiqua" panose="02040602050305030304" pitchFamily="18" charset="0"/>
              </a:rPr>
              <a:t>Stallings</a:t>
            </a:r>
            <a:r>
              <a:rPr lang="es-PE" sz="1050" b="1" dirty="0">
                <a:solidFill>
                  <a:schemeClr val="bg1"/>
                </a:solidFill>
                <a:latin typeface="Book Antiqua" panose="02040602050305030304" pitchFamily="18" charset="0"/>
              </a:rPr>
              <a:t>, W. (2017).</a:t>
            </a:r>
            <a:r>
              <a:rPr lang="es-PE" sz="1050" dirty="0">
                <a:solidFill>
                  <a:schemeClr val="bg1"/>
                </a:solidFill>
                <a:latin typeface="Book Antiqua" panose="02040602050305030304" pitchFamily="18" charset="0"/>
              </a:rPr>
              <a:t> </a:t>
            </a:r>
            <a:r>
              <a:rPr lang="es-PE" sz="1050" i="1" dirty="0" err="1">
                <a:solidFill>
                  <a:schemeClr val="bg1"/>
                </a:solidFill>
                <a:latin typeface="Book Antiqua" panose="02040602050305030304" pitchFamily="18" charset="0"/>
              </a:rPr>
              <a:t>Cryptography</a:t>
            </a:r>
            <a:r>
              <a:rPr lang="es-PE" sz="1050" i="1" dirty="0">
                <a:solidFill>
                  <a:schemeClr val="bg1"/>
                </a:solidFill>
                <a:latin typeface="Book Antiqua" panose="02040602050305030304" pitchFamily="18" charset="0"/>
              </a:rPr>
              <a:t> and Network Security: </a:t>
            </a:r>
            <a:r>
              <a:rPr lang="es-PE" sz="1050" i="1" dirty="0" err="1">
                <a:solidFill>
                  <a:schemeClr val="bg1"/>
                </a:solidFill>
                <a:latin typeface="Book Antiqua" panose="02040602050305030304" pitchFamily="18" charset="0"/>
              </a:rPr>
              <a:t>Principles</a:t>
            </a:r>
            <a:r>
              <a:rPr lang="es-PE" sz="1050" i="1" dirty="0">
                <a:solidFill>
                  <a:schemeClr val="bg1"/>
                </a:solidFill>
                <a:latin typeface="Book Antiqua" panose="02040602050305030304" pitchFamily="18" charset="0"/>
              </a:rPr>
              <a:t> and </a:t>
            </a:r>
            <a:r>
              <a:rPr lang="es-PE" sz="1050" i="1" dirty="0" err="1">
                <a:solidFill>
                  <a:schemeClr val="bg1"/>
                </a:solidFill>
                <a:latin typeface="Book Antiqua" panose="02040602050305030304" pitchFamily="18" charset="0"/>
              </a:rPr>
              <a:t>Practice</a:t>
            </a:r>
            <a:r>
              <a:rPr lang="es-PE" sz="1050" dirty="0">
                <a:solidFill>
                  <a:schemeClr val="bg1"/>
                </a:solidFill>
                <a:latin typeface="Book Antiqua" panose="02040602050305030304" pitchFamily="18" charset="0"/>
              </a:rPr>
              <a:t>. Pearson. (El libro de referencia para entender los algoritmos de cifrado).</a:t>
            </a:r>
          </a:p>
          <a:p>
            <a:pPr lvl="0"/>
            <a:r>
              <a:rPr lang="es-PE" sz="1050" b="1" dirty="0">
                <a:solidFill>
                  <a:schemeClr val="bg1"/>
                </a:solidFill>
                <a:latin typeface="Book Antiqua" panose="02040602050305030304" pitchFamily="18" charset="0"/>
              </a:rPr>
              <a:t>Gaitán, J. L. (2022).</a:t>
            </a:r>
            <a:r>
              <a:rPr lang="es-PE" sz="1050" dirty="0">
                <a:solidFill>
                  <a:schemeClr val="bg1"/>
                </a:solidFill>
                <a:latin typeface="Book Antiqua" panose="02040602050305030304" pitchFamily="18" charset="0"/>
              </a:rPr>
              <a:t> </a:t>
            </a:r>
            <a:r>
              <a:rPr lang="es-PE" sz="1050" i="1" dirty="0">
                <a:solidFill>
                  <a:schemeClr val="bg1"/>
                </a:solidFill>
                <a:latin typeface="Book Antiqua" panose="02040602050305030304" pitchFamily="18" charset="0"/>
              </a:rPr>
              <a:t>Diseño de un modelo de seguridad basado en el concepto de Zero Trust para la infraestructura de red de una organización</a:t>
            </a:r>
            <a:r>
              <a:rPr lang="es-PE" sz="1050" dirty="0">
                <a:solidFill>
                  <a:schemeClr val="bg1"/>
                </a:solidFill>
                <a:latin typeface="Book Antiqua" panose="02040602050305030304" pitchFamily="18" charset="0"/>
              </a:rPr>
              <a:t>. UNAD. (Documento que mencionamos antes y que explica cómo el cifrado es base para el modelo de "Cero Confianza").</a:t>
            </a:r>
          </a:p>
          <a:p>
            <a:endParaRPr lang="es-PE" dirty="0"/>
          </a:p>
        </p:txBody>
      </p:sp>
      <p:sp>
        <p:nvSpPr>
          <p:cNvPr id="4" name="CuadroTexto 3">
            <a:extLst>
              <a:ext uri="{FF2B5EF4-FFF2-40B4-BE49-F238E27FC236}">
                <a16:creationId xmlns:a16="http://schemas.microsoft.com/office/drawing/2014/main" id="{9082E8BC-D64B-AF1E-934C-36F1881E064B}"/>
              </a:ext>
            </a:extLst>
          </p:cNvPr>
          <p:cNvSpPr txBox="1"/>
          <p:nvPr/>
        </p:nvSpPr>
        <p:spPr>
          <a:xfrm>
            <a:off x="53696" y="3504327"/>
            <a:ext cx="4868823" cy="854080"/>
          </a:xfrm>
          <a:prstGeom prst="rect">
            <a:avLst/>
          </a:prstGeom>
          <a:noFill/>
        </p:spPr>
        <p:txBody>
          <a:bodyPr wrap="square" rtlCol="0">
            <a:spAutoFit/>
          </a:bodyPr>
          <a:lstStyle/>
          <a:p>
            <a:r>
              <a:rPr lang="es-PE" sz="1050" b="1" dirty="0">
                <a:solidFill>
                  <a:schemeClr val="bg1"/>
                </a:solidFill>
                <a:latin typeface="Book Antiqua" panose="02040602050305030304" pitchFamily="18" charset="0"/>
              </a:rPr>
              <a:t>-</a:t>
            </a:r>
            <a:r>
              <a:rPr lang="es-PE" sz="1050" b="1" dirty="0" err="1">
                <a:solidFill>
                  <a:schemeClr val="bg1"/>
                </a:solidFill>
                <a:latin typeface="Book Antiqua" panose="02040602050305030304" pitchFamily="18" charset="0"/>
              </a:rPr>
              <a:t>Bibliografia</a:t>
            </a:r>
            <a:r>
              <a:rPr lang="es-PE" sz="1050" b="1" dirty="0">
                <a:solidFill>
                  <a:schemeClr val="bg1"/>
                </a:solidFill>
                <a:latin typeface="Book Antiqua" panose="02040602050305030304" pitchFamily="18" charset="0"/>
              </a:rPr>
              <a:t> de </a:t>
            </a:r>
            <a:r>
              <a:rPr lang="es-MX" sz="1050" b="1" dirty="0">
                <a:solidFill>
                  <a:schemeClr val="bg1"/>
                </a:solidFill>
                <a:latin typeface="Book Antiqua" panose="02040602050305030304" pitchFamily="18" charset="0"/>
              </a:rPr>
              <a:t>Sistemas IDS/IPS (Detección y Prevención de Intrusos)</a:t>
            </a:r>
            <a:endParaRPr lang="es-PE" sz="1050" dirty="0">
              <a:solidFill>
                <a:schemeClr val="bg1"/>
              </a:solidFill>
              <a:latin typeface="Book Antiqua" panose="02040602050305030304" pitchFamily="18" charset="0"/>
            </a:endParaRPr>
          </a:p>
          <a:p>
            <a:r>
              <a:rPr lang="es-PE" sz="1050" b="1" dirty="0">
                <a:solidFill>
                  <a:schemeClr val="bg1"/>
                </a:solidFill>
                <a:latin typeface="Book Antiqua" panose="02040602050305030304" pitchFamily="18" charset="0"/>
              </a:rPr>
              <a:t>:</a:t>
            </a:r>
            <a:endParaRPr lang="es-PE" sz="1050" dirty="0">
              <a:solidFill>
                <a:schemeClr val="bg1"/>
              </a:solidFill>
              <a:latin typeface="Book Antiqua" panose="02040602050305030304" pitchFamily="18" charset="0"/>
            </a:endParaRPr>
          </a:p>
          <a:p>
            <a:r>
              <a:rPr lang="es-PE" sz="1050" u="sng" dirty="0">
                <a:solidFill>
                  <a:schemeClr val="bg1"/>
                </a:solidFill>
                <a:latin typeface="Book Antiqua" panose="02040602050305030304" pitchFamily="18" charset="0"/>
                <a:hlinkClick r:id="rId3">
                  <a:extLst>
                    <a:ext uri="{A12FA001-AC4F-418D-AE19-62706E023703}">
                      <ahyp:hlinkClr xmlns:ahyp="http://schemas.microsoft.com/office/drawing/2018/hyperlinkcolor" val="tx"/>
                    </a:ext>
                  </a:extLst>
                </a:hlinkClick>
              </a:rPr>
              <a:t>https://www.incibe.es/empresas/blog/son-y-sirven-los-siem-ids-e-ips</a:t>
            </a:r>
            <a:endParaRPr lang="es-PE" sz="1050" dirty="0">
              <a:solidFill>
                <a:schemeClr val="bg1"/>
              </a:solidFill>
              <a:latin typeface="Book Antiqua" panose="02040602050305030304" pitchFamily="18" charset="0"/>
            </a:endParaRPr>
          </a:p>
          <a:p>
            <a:endParaRPr lang="es-PE" dirty="0"/>
          </a:p>
        </p:txBody>
      </p:sp>
      <p:sp>
        <p:nvSpPr>
          <p:cNvPr id="5" name="CuadroTexto 4">
            <a:extLst>
              <a:ext uri="{FF2B5EF4-FFF2-40B4-BE49-F238E27FC236}">
                <a16:creationId xmlns:a16="http://schemas.microsoft.com/office/drawing/2014/main" id="{FC8A4851-EAEA-9142-17E1-59FF4283FFB1}"/>
              </a:ext>
            </a:extLst>
          </p:cNvPr>
          <p:cNvSpPr txBox="1"/>
          <p:nvPr/>
        </p:nvSpPr>
        <p:spPr>
          <a:xfrm>
            <a:off x="53696" y="4358407"/>
            <a:ext cx="4457344" cy="1985159"/>
          </a:xfrm>
          <a:prstGeom prst="rect">
            <a:avLst/>
          </a:prstGeom>
          <a:noFill/>
        </p:spPr>
        <p:txBody>
          <a:bodyPr wrap="square" rtlCol="0">
            <a:spAutoFit/>
          </a:bodyPr>
          <a:lstStyle/>
          <a:p>
            <a:r>
              <a:rPr lang="es-PE" sz="1050" b="1" dirty="0">
                <a:solidFill>
                  <a:schemeClr val="bg1"/>
                </a:solidFill>
                <a:latin typeface="Book Antiqua" panose="02040602050305030304" pitchFamily="18" charset="0"/>
              </a:rPr>
              <a:t>Bibliografía Consultada DE ATAQUES DE REDES </a:t>
            </a:r>
            <a:endParaRPr lang="es-PE" sz="1050" dirty="0">
              <a:solidFill>
                <a:schemeClr val="bg1"/>
              </a:solidFill>
              <a:latin typeface="Book Antiqua" panose="02040602050305030304" pitchFamily="18" charset="0"/>
            </a:endParaRPr>
          </a:p>
          <a:p>
            <a:pPr lvl="0"/>
            <a:r>
              <a:rPr lang="es-PE" sz="1050" b="1" dirty="0">
                <a:solidFill>
                  <a:schemeClr val="bg1"/>
                </a:solidFill>
                <a:latin typeface="Book Antiqua" panose="02040602050305030304" pitchFamily="18" charset="0"/>
              </a:rPr>
              <a:t>IBM.</a:t>
            </a:r>
            <a:r>
              <a:rPr lang="es-PE" sz="1050" dirty="0">
                <a:solidFill>
                  <a:schemeClr val="bg1"/>
                </a:solidFill>
                <a:latin typeface="Book Antiqua" panose="02040602050305030304" pitchFamily="18" charset="0"/>
              </a:rPr>
              <a:t> (2024). </a:t>
            </a:r>
            <a:r>
              <a:rPr lang="es-PE" sz="1050" i="1" dirty="0">
                <a:solidFill>
                  <a:schemeClr val="bg1"/>
                </a:solidFill>
                <a:latin typeface="Book Antiqua" panose="02040602050305030304" pitchFamily="18" charset="0"/>
              </a:rPr>
              <a:t>¿Qué es un ataque de denegación de servicio distribuido (</a:t>
            </a:r>
            <a:r>
              <a:rPr lang="es-PE" sz="1050" i="1" dirty="0" err="1">
                <a:solidFill>
                  <a:schemeClr val="bg1"/>
                </a:solidFill>
                <a:latin typeface="Book Antiqua" panose="02040602050305030304" pitchFamily="18" charset="0"/>
              </a:rPr>
              <a:t>DDoS</a:t>
            </a:r>
            <a:r>
              <a:rPr lang="es-PE" sz="1050" i="1" dirty="0">
                <a:solidFill>
                  <a:schemeClr val="bg1"/>
                </a:solidFill>
                <a:latin typeface="Book Antiqua" panose="02040602050305030304" pitchFamily="18" charset="0"/>
              </a:rPr>
              <a:t>)?</a:t>
            </a:r>
            <a:r>
              <a:rPr lang="es-PE" sz="1050" dirty="0">
                <a:solidFill>
                  <a:schemeClr val="bg1"/>
                </a:solidFill>
                <a:latin typeface="Book Antiqua" panose="02040602050305030304" pitchFamily="18" charset="0"/>
              </a:rPr>
              <a:t>. Recuperado de: </a:t>
            </a:r>
            <a:r>
              <a:rPr lang="es-PE" sz="1050" u="sng" dirty="0">
                <a:solidFill>
                  <a:schemeClr val="bg1"/>
                </a:solidFill>
                <a:latin typeface="Book Antiqua" panose="02040602050305030304" pitchFamily="18" charset="0"/>
                <a:hlinkClick r:id="rId4">
                  <a:extLst>
                    <a:ext uri="{A12FA001-AC4F-418D-AE19-62706E023703}">
                      <ahyp:hlinkClr xmlns:ahyp="http://schemas.microsoft.com/office/drawing/2018/hyperlinkcolor" val="tx"/>
                    </a:ext>
                  </a:extLst>
                </a:hlinkClick>
              </a:rPr>
              <a:t>https://www.ibm.com/es-es/think/topics/ddos</a:t>
            </a:r>
            <a:endParaRPr lang="es-PE" sz="1050" dirty="0">
              <a:solidFill>
                <a:schemeClr val="bg1"/>
              </a:solidFill>
              <a:latin typeface="Book Antiqua" panose="02040602050305030304" pitchFamily="18" charset="0"/>
            </a:endParaRPr>
          </a:p>
          <a:p>
            <a:pPr lvl="0"/>
            <a:r>
              <a:rPr lang="es-PE" sz="1050" b="1" dirty="0">
                <a:solidFill>
                  <a:schemeClr val="bg1"/>
                </a:solidFill>
                <a:latin typeface="Book Antiqua" panose="02040602050305030304" pitchFamily="18" charset="0"/>
              </a:rPr>
              <a:t>Pastor Iglesias, R.</a:t>
            </a:r>
            <a:r>
              <a:rPr lang="es-PE" sz="1050" dirty="0">
                <a:solidFill>
                  <a:schemeClr val="bg1"/>
                </a:solidFill>
                <a:latin typeface="Book Antiqua" panose="02040602050305030304" pitchFamily="18" charset="0"/>
              </a:rPr>
              <a:t> (2022). </a:t>
            </a:r>
            <a:r>
              <a:rPr lang="es-PE" sz="1050" i="1" dirty="0">
                <a:solidFill>
                  <a:schemeClr val="bg1"/>
                </a:solidFill>
                <a:latin typeface="Book Antiqua" panose="02040602050305030304" pitchFamily="18" charset="0"/>
              </a:rPr>
              <a:t>TFG: Análisis y detección de ataques en redes de comunicaciones</a:t>
            </a:r>
            <a:r>
              <a:rPr lang="es-PE" sz="1050" dirty="0">
                <a:solidFill>
                  <a:schemeClr val="bg1"/>
                </a:solidFill>
                <a:latin typeface="Book Antiqua" panose="02040602050305030304" pitchFamily="18" charset="0"/>
              </a:rPr>
              <a:t>. Universidad Politécnica de Madrid (UPM). Recuperado de: </a:t>
            </a:r>
            <a:r>
              <a:rPr lang="es-PE" sz="1050" u="sng" dirty="0">
                <a:solidFill>
                  <a:schemeClr val="bg1"/>
                </a:solidFill>
                <a:latin typeface="Book Antiqua" panose="02040602050305030304" pitchFamily="18" charset="0"/>
                <a:hlinkClick r:id="rId5">
                  <a:extLst>
                    <a:ext uri="{A12FA001-AC4F-418D-AE19-62706E023703}">
                      <ahyp:hlinkClr xmlns:ahyp="http://schemas.microsoft.com/office/drawing/2018/hyperlinkcolor" val="tx"/>
                    </a:ext>
                  </a:extLst>
                </a:hlinkClick>
              </a:rPr>
              <a:t>https://oa.upm.es/71578/</a:t>
            </a:r>
            <a:endParaRPr lang="es-PE" sz="1050" dirty="0">
              <a:solidFill>
                <a:schemeClr val="bg1"/>
              </a:solidFill>
              <a:latin typeface="Book Antiqua" panose="02040602050305030304" pitchFamily="18" charset="0"/>
            </a:endParaRPr>
          </a:p>
          <a:p>
            <a:pPr lvl="0"/>
            <a:r>
              <a:rPr lang="es-PE" sz="1050" b="1" dirty="0" err="1">
                <a:solidFill>
                  <a:schemeClr val="bg1"/>
                </a:solidFill>
                <a:latin typeface="Book Antiqua" panose="02040602050305030304" pitchFamily="18" charset="0"/>
              </a:rPr>
              <a:t>Eye</a:t>
            </a:r>
            <a:r>
              <a:rPr lang="es-PE" sz="1050" b="1" dirty="0">
                <a:solidFill>
                  <a:schemeClr val="bg1"/>
                </a:solidFill>
                <a:latin typeface="Book Antiqua" panose="02040602050305030304" pitchFamily="18" charset="0"/>
              </a:rPr>
              <a:t> Security.</a:t>
            </a:r>
            <a:r>
              <a:rPr lang="es-PE" sz="1050" dirty="0">
                <a:solidFill>
                  <a:schemeClr val="bg1"/>
                </a:solidFill>
                <a:latin typeface="Book Antiqua" panose="02040602050305030304" pitchFamily="18" charset="0"/>
              </a:rPr>
              <a:t> (2024). </a:t>
            </a:r>
            <a:r>
              <a:rPr lang="es-PE" sz="1050" i="1" dirty="0" err="1">
                <a:solidFill>
                  <a:schemeClr val="bg1"/>
                </a:solidFill>
                <a:latin typeface="Book Antiqua" panose="02040602050305030304" pitchFamily="18" charset="0"/>
              </a:rPr>
              <a:t>What</a:t>
            </a:r>
            <a:r>
              <a:rPr lang="es-PE" sz="1050" i="1" dirty="0">
                <a:solidFill>
                  <a:schemeClr val="bg1"/>
                </a:solidFill>
                <a:latin typeface="Book Antiqua" panose="02040602050305030304" pitchFamily="18" charset="0"/>
              </a:rPr>
              <a:t> </a:t>
            </a:r>
            <a:r>
              <a:rPr lang="es-PE" sz="1050" i="1" dirty="0" err="1">
                <a:solidFill>
                  <a:schemeClr val="bg1"/>
                </a:solidFill>
                <a:latin typeface="Book Antiqua" panose="02040602050305030304" pitchFamily="18" charset="0"/>
              </a:rPr>
              <a:t>is</a:t>
            </a:r>
            <a:r>
              <a:rPr lang="es-PE" sz="1050" i="1" dirty="0">
                <a:solidFill>
                  <a:schemeClr val="bg1"/>
                </a:solidFill>
                <a:latin typeface="Book Antiqua" panose="02040602050305030304" pitchFamily="18" charset="0"/>
              </a:rPr>
              <a:t> Phishing as a </a:t>
            </a:r>
            <a:r>
              <a:rPr lang="es-PE" sz="1050" i="1" dirty="0" err="1">
                <a:solidFill>
                  <a:schemeClr val="bg1"/>
                </a:solidFill>
                <a:latin typeface="Book Antiqua" panose="02040602050305030304" pitchFamily="18" charset="0"/>
              </a:rPr>
              <a:t>form</a:t>
            </a:r>
            <a:r>
              <a:rPr lang="es-PE" sz="1050" i="1" dirty="0">
                <a:solidFill>
                  <a:schemeClr val="bg1"/>
                </a:solidFill>
                <a:latin typeface="Book Antiqua" panose="02040602050305030304" pitchFamily="18" charset="0"/>
              </a:rPr>
              <a:t> </a:t>
            </a:r>
            <a:r>
              <a:rPr lang="es-PE" sz="1050" i="1" dirty="0" err="1">
                <a:solidFill>
                  <a:schemeClr val="bg1"/>
                </a:solidFill>
                <a:latin typeface="Book Antiqua" panose="02040602050305030304" pitchFamily="18" charset="0"/>
              </a:rPr>
              <a:t>of</a:t>
            </a:r>
            <a:r>
              <a:rPr lang="es-PE" sz="1050" i="1" dirty="0">
                <a:solidFill>
                  <a:schemeClr val="bg1"/>
                </a:solidFill>
                <a:latin typeface="Book Antiqua" panose="02040602050305030304" pitchFamily="18" charset="0"/>
              </a:rPr>
              <a:t> Social </a:t>
            </a:r>
            <a:r>
              <a:rPr lang="es-PE" sz="1050" i="1" dirty="0" err="1">
                <a:solidFill>
                  <a:schemeClr val="bg1"/>
                </a:solidFill>
                <a:latin typeface="Book Antiqua" panose="02040602050305030304" pitchFamily="18" charset="0"/>
              </a:rPr>
              <a:t>Engineering</a:t>
            </a:r>
            <a:r>
              <a:rPr lang="es-PE" sz="1050" i="1" dirty="0">
                <a:solidFill>
                  <a:schemeClr val="bg1"/>
                </a:solidFill>
                <a:latin typeface="Book Antiqua" panose="02040602050305030304" pitchFamily="18" charset="0"/>
              </a:rPr>
              <a:t>?</a:t>
            </a:r>
            <a:r>
              <a:rPr lang="es-PE" sz="1050" dirty="0">
                <a:solidFill>
                  <a:schemeClr val="bg1"/>
                </a:solidFill>
                <a:latin typeface="Book Antiqua" panose="02040602050305030304" pitchFamily="18" charset="0"/>
              </a:rPr>
              <a:t>. </a:t>
            </a:r>
            <a:r>
              <a:rPr lang="es-PE" sz="1050" dirty="0" err="1">
                <a:solidFill>
                  <a:schemeClr val="bg1"/>
                </a:solidFill>
                <a:latin typeface="Book Antiqua" panose="02040602050305030304" pitchFamily="18" charset="0"/>
              </a:rPr>
              <a:t>Learning</a:t>
            </a:r>
            <a:r>
              <a:rPr lang="es-PE" sz="1050" dirty="0">
                <a:solidFill>
                  <a:schemeClr val="bg1"/>
                </a:solidFill>
                <a:latin typeface="Book Antiqua" panose="02040602050305030304" pitchFamily="18" charset="0"/>
              </a:rPr>
              <a:t> Hub. Recuperado de: </a:t>
            </a:r>
            <a:r>
              <a:rPr lang="es-PE" sz="1050" u="sng" dirty="0">
                <a:solidFill>
                  <a:schemeClr val="bg1"/>
                </a:solidFill>
                <a:latin typeface="Book Antiqua" panose="02040602050305030304" pitchFamily="18" charset="0"/>
                <a:hlinkClick r:id="rId6">
                  <a:extLst>
                    <a:ext uri="{A12FA001-AC4F-418D-AE19-62706E023703}">
                      <ahyp:hlinkClr xmlns:ahyp="http://schemas.microsoft.com/office/drawing/2018/hyperlinkcolor" val="tx"/>
                    </a:ext>
                  </a:extLst>
                </a:hlinkClick>
              </a:rPr>
              <a:t>https://www.eye-security.com/cybersecurity-learning-hub/</a:t>
            </a:r>
            <a:endParaRPr lang="es-PE" sz="1050" dirty="0">
              <a:solidFill>
                <a:schemeClr val="bg1"/>
              </a:solidFill>
              <a:latin typeface="Book Antiqua" panose="02040602050305030304" pitchFamily="18" charset="0"/>
            </a:endParaRPr>
          </a:p>
          <a:p>
            <a:endParaRPr lang="es-PE" dirty="0"/>
          </a:p>
        </p:txBody>
      </p:sp>
      <p:sp>
        <p:nvSpPr>
          <p:cNvPr id="7" name="CuadroTexto 6">
            <a:extLst>
              <a:ext uri="{FF2B5EF4-FFF2-40B4-BE49-F238E27FC236}">
                <a16:creationId xmlns:a16="http://schemas.microsoft.com/office/drawing/2014/main" id="{C2D496A0-6D23-C2DA-2BDB-93C30EBBFCA4}"/>
              </a:ext>
            </a:extLst>
          </p:cNvPr>
          <p:cNvSpPr txBox="1"/>
          <p:nvPr/>
        </p:nvSpPr>
        <p:spPr>
          <a:xfrm>
            <a:off x="5654039" y="1223392"/>
            <a:ext cx="5307855" cy="854080"/>
          </a:xfrm>
          <a:prstGeom prst="rect">
            <a:avLst/>
          </a:prstGeom>
          <a:noFill/>
        </p:spPr>
        <p:txBody>
          <a:bodyPr wrap="square" rtlCol="0">
            <a:spAutoFit/>
          </a:bodyPr>
          <a:lstStyle/>
          <a:p>
            <a:r>
              <a:rPr lang="es-PE" sz="1050" b="1" dirty="0">
                <a:solidFill>
                  <a:schemeClr val="bg1"/>
                </a:solidFill>
                <a:latin typeface="Book Antiqua" panose="02040602050305030304" pitchFamily="18" charset="0"/>
              </a:rPr>
              <a:t>Bibliografía: </a:t>
            </a:r>
            <a:r>
              <a:rPr lang="es-MX" sz="1050" dirty="0">
                <a:solidFill>
                  <a:schemeClr val="bg1"/>
                </a:solidFill>
              </a:rPr>
              <a:t>Políticas de Seguridad BYOD en instituciones Educativas</a:t>
            </a:r>
            <a:endParaRPr lang="es-PE" sz="1050" dirty="0">
              <a:solidFill>
                <a:schemeClr val="bg1"/>
              </a:solidFill>
            </a:endParaRPr>
          </a:p>
          <a:p>
            <a:endParaRPr lang="es-PE" sz="1050" dirty="0">
              <a:solidFill>
                <a:schemeClr val="bg1"/>
              </a:solidFill>
              <a:latin typeface="Book Antiqua" panose="02040602050305030304" pitchFamily="18" charset="0"/>
            </a:endParaRPr>
          </a:p>
          <a:p>
            <a:r>
              <a:rPr lang="es-PE" sz="1050" b="1" u="sng" dirty="0">
                <a:solidFill>
                  <a:schemeClr val="bg1"/>
                </a:solidFill>
                <a:latin typeface="Book Antiqua" panose="02040602050305030304" pitchFamily="18" charset="0"/>
                <a:hlinkClick r:id="rId7">
                  <a:extLst>
                    <a:ext uri="{A12FA001-AC4F-418D-AE19-62706E023703}">
                      <ahyp:hlinkClr xmlns:ahyp="http://schemas.microsoft.com/office/drawing/2018/hyperlinkcolor" val="tx"/>
                    </a:ext>
                  </a:extLst>
                </a:hlinkClick>
              </a:rPr>
              <a:t>https://preyproject.com/blog/device-security-in-schools-byod-for-lovers-and-haters</a:t>
            </a:r>
            <a:endParaRPr lang="es-PE" sz="1050" dirty="0">
              <a:solidFill>
                <a:schemeClr val="bg1"/>
              </a:solidFill>
              <a:latin typeface="Book Antiqua" panose="02040602050305030304" pitchFamily="18" charset="0"/>
            </a:endParaRPr>
          </a:p>
          <a:p>
            <a:endParaRPr lang="es-PE" dirty="0"/>
          </a:p>
        </p:txBody>
      </p:sp>
    </p:spTree>
    <p:extLst>
      <p:ext uri="{BB962C8B-B14F-4D97-AF65-F5344CB8AC3E}">
        <p14:creationId xmlns:p14="http://schemas.microsoft.com/office/powerpoint/2010/main" val="30318027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D00C1-318D-4616-66A5-E8E82E7020AE}"/>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50D1FA71-B747-75AE-1523-C742FC88A15F}"/>
              </a:ext>
            </a:extLst>
          </p:cNvPr>
          <p:cNvSpPr txBox="1"/>
          <p:nvPr/>
        </p:nvSpPr>
        <p:spPr bwMode="white">
          <a:xfrm>
            <a:off x="1993900" y="901700"/>
            <a:ext cx="9893300" cy="1323439"/>
          </a:xfrm>
          <a:prstGeom prst="rect">
            <a:avLst/>
          </a:prstGeom>
          <a:noFill/>
        </p:spPr>
        <p:txBody>
          <a:bodyPr wrap="square" rtlCol="0">
            <a:spAutoFit/>
          </a:bodyPr>
          <a:lstStyle/>
          <a:p>
            <a:r>
              <a:rPr lang="es-MX" sz="8000" b="1" dirty="0">
                <a:solidFill>
                  <a:schemeClr val="bg1"/>
                </a:solidFill>
              </a:rPr>
              <a:t>PRESENTACION:</a:t>
            </a:r>
            <a:endParaRPr lang="es-PE" sz="8000" b="1" dirty="0">
              <a:solidFill>
                <a:schemeClr val="bg1"/>
              </a:solidFill>
            </a:endParaRPr>
          </a:p>
        </p:txBody>
      </p:sp>
      <p:pic>
        <p:nvPicPr>
          <p:cNvPr id="9" name="Imagen 8" descr="Una montaña con nieve&#10;&#10;El contenido generado por IA puede ser incorrecto.">
            <a:extLst>
              <a:ext uri="{FF2B5EF4-FFF2-40B4-BE49-F238E27FC236}">
                <a16:creationId xmlns:a16="http://schemas.microsoft.com/office/drawing/2014/main" id="{6D8CB090-ACF3-4754-A655-019879D29D97}"/>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0" y="-10749781"/>
            <a:ext cx="12192000" cy="17779232"/>
          </a:xfrm>
          <a:prstGeom prst="rect">
            <a:avLst/>
          </a:prstGeom>
        </p:spPr>
      </p:pic>
      <p:sp>
        <p:nvSpPr>
          <p:cNvPr id="10" name="CuadroTexto 9">
            <a:extLst>
              <a:ext uri="{FF2B5EF4-FFF2-40B4-BE49-F238E27FC236}">
                <a16:creationId xmlns:a16="http://schemas.microsoft.com/office/drawing/2014/main" id="{010340A9-76C5-FEC5-994A-DD0F05294ADE}"/>
              </a:ext>
            </a:extLst>
          </p:cNvPr>
          <p:cNvSpPr txBox="1"/>
          <p:nvPr/>
        </p:nvSpPr>
        <p:spPr>
          <a:xfrm>
            <a:off x="13098780" y="-3227070"/>
            <a:ext cx="8016240" cy="1323439"/>
          </a:xfrm>
          <a:prstGeom prst="rect">
            <a:avLst/>
          </a:prstGeom>
          <a:noFill/>
        </p:spPr>
        <p:txBody>
          <a:bodyPr wrap="square" rtlCol="0">
            <a:spAutoFit/>
          </a:bodyPr>
          <a:lstStyle/>
          <a:p>
            <a:r>
              <a:rPr lang="es-MX" sz="8000" dirty="0">
                <a:solidFill>
                  <a:schemeClr val="bg1"/>
                </a:solidFill>
                <a:latin typeface="Aharoni" panose="02010803020104030203" pitchFamily="2" charset="-79"/>
                <a:cs typeface="Aharoni" panose="02010803020104030203" pitchFamily="2" charset="-79"/>
              </a:rPr>
              <a:t>PRESENTACION</a:t>
            </a:r>
            <a:endParaRPr lang="es-PE" sz="8000" dirty="0">
              <a:solidFill>
                <a:schemeClr val="bg1"/>
              </a:solidFill>
              <a:latin typeface="Aharoni" panose="02010803020104030203" pitchFamily="2" charset="-79"/>
              <a:cs typeface="Aharoni" panose="02010803020104030203" pitchFamily="2" charset="-79"/>
            </a:endParaRPr>
          </a:p>
        </p:txBody>
      </p:sp>
      <p:sp>
        <p:nvSpPr>
          <p:cNvPr id="11" name="CuadroTexto 10">
            <a:extLst>
              <a:ext uri="{FF2B5EF4-FFF2-40B4-BE49-F238E27FC236}">
                <a16:creationId xmlns:a16="http://schemas.microsoft.com/office/drawing/2014/main" id="{79808D68-F573-040B-1DE2-E5D3A4E411C4}"/>
              </a:ext>
            </a:extLst>
          </p:cNvPr>
          <p:cNvSpPr txBox="1"/>
          <p:nvPr/>
        </p:nvSpPr>
        <p:spPr>
          <a:xfrm>
            <a:off x="-5577840" y="-4253716"/>
            <a:ext cx="5349240" cy="3046988"/>
          </a:xfrm>
          <a:prstGeom prst="rect">
            <a:avLst/>
          </a:prstGeom>
          <a:noFill/>
        </p:spPr>
        <p:txBody>
          <a:bodyPr wrap="square" rtlCol="0">
            <a:spAutoFit/>
          </a:bodyPr>
          <a:lstStyle/>
          <a:p>
            <a:r>
              <a:rPr lang="es-MX" sz="2800" dirty="0">
                <a:solidFill>
                  <a:schemeClr val="bg1"/>
                </a:solidFill>
              </a:rPr>
              <a:t>Integrantes:</a:t>
            </a:r>
          </a:p>
          <a:p>
            <a:pPr marL="1143000" indent="-1143000">
              <a:buFontTx/>
              <a:buChar char="-"/>
            </a:pPr>
            <a:r>
              <a:rPr lang="es-MX" sz="2800" dirty="0">
                <a:solidFill>
                  <a:schemeClr val="bg1"/>
                </a:solidFill>
              </a:rPr>
              <a:t>Brayan</a:t>
            </a:r>
          </a:p>
          <a:p>
            <a:pPr marL="1143000" indent="-1143000">
              <a:buFontTx/>
              <a:buChar char="-"/>
            </a:pPr>
            <a:r>
              <a:rPr lang="es-MX" sz="2800" dirty="0" err="1">
                <a:solidFill>
                  <a:schemeClr val="bg1"/>
                </a:solidFill>
              </a:rPr>
              <a:t>Moises</a:t>
            </a:r>
            <a:endParaRPr lang="es-MX" sz="2800" dirty="0">
              <a:solidFill>
                <a:schemeClr val="bg1"/>
              </a:solidFill>
            </a:endParaRPr>
          </a:p>
          <a:p>
            <a:pPr marL="1143000" indent="-1143000">
              <a:buFontTx/>
              <a:buChar char="-"/>
            </a:pPr>
            <a:r>
              <a:rPr lang="es-MX" sz="2800" dirty="0" err="1">
                <a:solidFill>
                  <a:schemeClr val="bg1"/>
                </a:solidFill>
              </a:rPr>
              <a:t>Beckam</a:t>
            </a:r>
            <a:endParaRPr lang="es-MX" sz="2800" dirty="0">
              <a:solidFill>
                <a:schemeClr val="bg1"/>
              </a:solidFill>
            </a:endParaRPr>
          </a:p>
          <a:p>
            <a:endParaRPr lang="es-PE" sz="8000" dirty="0">
              <a:solidFill>
                <a:schemeClr val="bg1"/>
              </a:solidFill>
            </a:endParaRPr>
          </a:p>
        </p:txBody>
      </p:sp>
      <p:sp>
        <p:nvSpPr>
          <p:cNvPr id="12" name="CuadroTexto 11">
            <a:extLst>
              <a:ext uri="{FF2B5EF4-FFF2-40B4-BE49-F238E27FC236}">
                <a16:creationId xmlns:a16="http://schemas.microsoft.com/office/drawing/2014/main" id="{502FFEE6-D95D-5569-1408-279775B2C834}"/>
              </a:ext>
            </a:extLst>
          </p:cNvPr>
          <p:cNvSpPr txBox="1"/>
          <p:nvPr/>
        </p:nvSpPr>
        <p:spPr>
          <a:xfrm>
            <a:off x="14538960" y="-1606501"/>
            <a:ext cx="8016240" cy="1323439"/>
          </a:xfrm>
          <a:prstGeom prst="rect">
            <a:avLst/>
          </a:prstGeom>
          <a:noFill/>
        </p:spPr>
        <p:txBody>
          <a:bodyPr wrap="square" rtlCol="0">
            <a:spAutoFit/>
          </a:bodyPr>
          <a:lstStyle/>
          <a:p>
            <a:r>
              <a:rPr lang="es-MX" sz="8000" dirty="0">
                <a:solidFill>
                  <a:schemeClr val="bg1"/>
                </a:solidFill>
                <a:latin typeface="Aharoni" panose="020F0502020204030204" pitchFamily="2" charset="-79"/>
                <a:cs typeface="Aharoni" panose="020F0502020204030204" pitchFamily="2" charset="-79"/>
              </a:rPr>
              <a:t>DE MI TEMA:</a:t>
            </a:r>
            <a:endParaRPr lang="es-PE" sz="8000" dirty="0">
              <a:solidFill>
                <a:schemeClr val="bg1"/>
              </a:solidFill>
              <a:latin typeface="Aharoni" panose="020F0502020204030204" pitchFamily="2" charset="-79"/>
              <a:cs typeface="Aharoni" panose="020F0502020204030204" pitchFamily="2" charset="-79"/>
            </a:endParaRPr>
          </a:p>
        </p:txBody>
      </p:sp>
      <p:pic>
        <p:nvPicPr>
          <p:cNvPr id="14" name="Gráfico 13" descr="Red social con relleno sólido">
            <a:extLst>
              <a:ext uri="{FF2B5EF4-FFF2-40B4-BE49-F238E27FC236}">
                <a16:creationId xmlns:a16="http://schemas.microsoft.com/office/drawing/2014/main" id="{5B153953-5C6A-1A6F-B9AC-3D295FB0BFAB}"/>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10596145" y="438889"/>
            <a:ext cx="784503" cy="784503"/>
          </a:xfrm>
          <a:prstGeom prst="rect">
            <a:avLst/>
          </a:prstGeom>
        </p:spPr>
      </p:pic>
      <p:sp>
        <p:nvSpPr>
          <p:cNvPr id="15" name="CuadroTexto 14">
            <a:extLst>
              <a:ext uri="{FF2B5EF4-FFF2-40B4-BE49-F238E27FC236}">
                <a16:creationId xmlns:a16="http://schemas.microsoft.com/office/drawing/2014/main" id="{F151BFA7-45D8-5CF9-9822-92AD78C48F66}"/>
              </a:ext>
            </a:extLst>
          </p:cNvPr>
          <p:cNvSpPr txBox="1"/>
          <p:nvPr/>
        </p:nvSpPr>
        <p:spPr>
          <a:xfrm>
            <a:off x="19501485" y="3733562"/>
            <a:ext cx="1436370" cy="369332"/>
          </a:xfrm>
          <a:prstGeom prst="rect">
            <a:avLst/>
          </a:prstGeom>
          <a:noFill/>
        </p:spPr>
        <p:txBody>
          <a:bodyPr wrap="square" rtlCol="0">
            <a:spAutoFit/>
          </a:bodyPr>
          <a:lstStyle/>
          <a:p>
            <a:r>
              <a:rPr lang="es-MX" dirty="0">
                <a:solidFill>
                  <a:schemeClr val="bg1"/>
                </a:solidFill>
              </a:rPr>
              <a:t>redes</a:t>
            </a:r>
            <a:endParaRPr lang="es-PE" dirty="0">
              <a:solidFill>
                <a:schemeClr val="bg1"/>
              </a:solidFill>
            </a:endParaRPr>
          </a:p>
        </p:txBody>
      </p:sp>
      <p:sp>
        <p:nvSpPr>
          <p:cNvPr id="17" name="CuadroTexto 16">
            <a:extLst>
              <a:ext uri="{FF2B5EF4-FFF2-40B4-BE49-F238E27FC236}">
                <a16:creationId xmlns:a16="http://schemas.microsoft.com/office/drawing/2014/main" id="{A286EBD2-8B30-CE6A-99E9-9F085135E97E}"/>
              </a:ext>
            </a:extLst>
          </p:cNvPr>
          <p:cNvSpPr txBox="1"/>
          <p:nvPr/>
        </p:nvSpPr>
        <p:spPr>
          <a:xfrm>
            <a:off x="1905000" y="62756"/>
            <a:ext cx="10515600" cy="707886"/>
          </a:xfrm>
          <a:prstGeom prst="rect">
            <a:avLst/>
          </a:prstGeom>
          <a:noFill/>
        </p:spPr>
        <p:txBody>
          <a:bodyPr wrap="square" rtlCol="0">
            <a:spAutoFit/>
          </a:bodyPr>
          <a:lstStyle/>
          <a:p>
            <a:r>
              <a:rPr lang="es-MX" sz="4000" dirty="0">
                <a:solidFill>
                  <a:schemeClr val="bg1"/>
                </a:solidFill>
                <a:latin typeface="Aharoni" panose="02010803020104030203" pitchFamily="2" charset="-79"/>
                <a:cs typeface="Aharoni" panose="02010803020104030203" pitchFamily="2" charset="-79"/>
              </a:rPr>
              <a:t>:::::CONCLUSIONES::::</a:t>
            </a:r>
            <a:endParaRPr lang="es-PE" sz="4000" dirty="0">
              <a:solidFill>
                <a:schemeClr val="bg1"/>
              </a:solidFill>
              <a:latin typeface="Aharoni" panose="02010803020104030203" pitchFamily="2" charset="-79"/>
              <a:cs typeface="Aharoni" panose="02010803020104030203" pitchFamily="2" charset="-79"/>
            </a:endParaRPr>
          </a:p>
        </p:txBody>
      </p:sp>
      <p:pic>
        <p:nvPicPr>
          <p:cNvPr id="18" name="Gráfico 17" descr="Red social con relleno sólido">
            <a:extLst>
              <a:ext uri="{FF2B5EF4-FFF2-40B4-BE49-F238E27FC236}">
                <a16:creationId xmlns:a16="http://schemas.microsoft.com/office/drawing/2014/main" id="{B3984079-610A-4916-EEDB-585C2767A5F6}"/>
              </a:ext>
            </a:extLst>
          </p:cNvPr>
          <p:cNvPicPr>
            <a:picLocks noChangeAspect="1"/>
          </p:cNvPicPr>
          <p:nvPr/>
        </p:nvPicPr>
        <p:blipFill>
          <a:blip r:embed="rId3">
            <a:extLst>
              <a:ext uri="{96DAC541-7B7A-43D3-8B79-37D633B846F1}">
                <asvg:svgBlip xmlns:asvg="http://schemas.microsoft.com/office/drawing/2016/SVG/main"/>
              </a:ext>
            </a:extLst>
          </a:blip>
          <a:stretch>
            <a:fillRect/>
          </a:stretch>
        </p:blipFill>
        <p:spPr>
          <a:xfrm>
            <a:off x="53697" y="193953"/>
            <a:ext cx="784503" cy="784503"/>
          </a:xfrm>
          <a:prstGeom prst="rect">
            <a:avLst/>
          </a:prstGeom>
        </p:spPr>
      </p:pic>
      <p:pic>
        <p:nvPicPr>
          <p:cNvPr id="20" name="Gráfico 19" descr="Presentación con gráfico de barras con relleno sólido">
            <a:extLst>
              <a:ext uri="{FF2B5EF4-FFF2-40B4-BE49-F238E27FC236}">
                <a16:creationId xmlns:a16="http://schemas.microsoft.com/office/drawing/2014/main" id="{74D1B044-5B5C-AE43-3BEB-B29F989D6C98}"/>
              </a:ext>
            </a:extLst>
          </p:cNvPr>
          <p:cNvPicPr>
            <a:picLocks noChangeAspect="1"/>
          </p:cNvPicPr>
          <p:nvPr/>
        </p:nvPicPr>
        <p:blipFill>
          <a:blip r:embed="rId6">
            <a:extLst>
              <a:ext uri="{96DAC541-7B7A-43D3-8B79-37D633B846F1}">
                <asvg:svgBlip xmlns:asvg="http://schemas.microsoft.com/office/drawing/2016/SVG/main"/>
              </a:ext>
            </a:extLst>
          </a:blip>
          <a:stretch>
            <a:fillRect/>
          </a:stretch>
        </p:blipFill>
        <p:spPr>
          <a:xfrm>
            <a:off x="11223903" y="6115051"/>
            <a:ext cx="914400" cy="914400"/>
          </a:xfrm>
          <a:prstGeom prst="rect">
            <a:avLst/>
          </a:prstGeom>
        </p:spPr>
      </p:pic>
      <p:cxnSp>
        <p:nvCxnSpPr>
          <p:cNvPr id="19" name="Conector recto 18">
            <a:extLst>
              <a:ext uri="{FF2B5EF4-FFF2-40B4-BE49-F238E27FC236}">
                <a16:creationId xmlns:a16="http://schemas.microsoft.com/office/drawing/2014/main" id="{F261E270-3B66-7D57-F8F7-878B7684621B}"/>
              </a:ext>
            </a:extLst>
          </p:cNvPr>
          <p:cNvCxnSpPr/>
          <p:nvPr/>
        </p:nvCxnSpPr>
        <p:spPr>
          <a:xfrm>
            <a:off x="5288279" y="1223392"/>
            <a:ext cx="0" cy="4968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 name="CuadroTexto 7">
            <a:extLst>
              <a:ext uri="{FF2B5EF4-FFF2-40B4-BE49-F238E27FC236}">
                <a16:creationId xmlns:a16="http://schemas.microsoft.com/office/drawing/2014/main" id="{1EB98A76-1452-30D0-F28C-03E951317E15}"/>
              </a:ext>
            </a:extLst>
          </p:cNvPr>
          <p:cNvSpPr txBox="1"/>
          <p:nvPr/>
        </p:nvSpPr>
        <p:spPr>
          <a:xfrm>
            <a:off x="445948" y="1855807"/>
            <a:ext cx="3483428" cy="2308324"/>
          </a:xfrm>
          <a:prstGeom prst="rect">
            <a:avLst/>
          </a:prstGeom>
          <a:noFill/>
        </p:spPr>
        <p:txBody>
          <a:bodyPr wrap="square" rtlCol="0">
            <a:spAutoFit/>
          </a:bodyPr>
          <a:lstStyle/>
          <a:p>
            <a:r>
              <a:rPr lang="es-MX" dirty="0">
                <a:solidFill>
                  <a:schemeClr val="bg1"/>
                </a:solidFill>
                <a:latin typeface="Book Antiqua" panose="02040602050305030304" pitchFamily="18" charset="0"/>
              </a:rPr>
              <a:t>BRAYAN:</a:t>
            </a:r>
          </a:p>
          <a:p>
            <a:r>
              <a:rPr lang="es-MX" dirty="0">
                <a:solidFill>
                  <a:schemeClr val="bg1"/>
                </a:solidFill>
                <a:latin typeface="Book Antiqua" panose="02040602050305030304" pitchFamily="18" charset="0"/>
              </a:rPr>
              <a:t>Mi reflexión es que aprendimos mucho de la comunicación de las redes es muy interesante para que podamos obtener internet, y la programación que está debe tener y parámetros de seguridad de esta</a:t>
            </a:r>
            <a:endParaRPr lang="es-PE" dirty="0">
              <a:solidFill>
                <a:schemeClr val="bg1"/>
              </a:solidFill>
              <a:latin typeface="Book Antiqua" panose="02040602050305030304" pitchFamily="18" charset="0"/>
            </a:endParaRPr>
          </a:p>
        </p:txBody>
      </p:sp>
      <p:sp>
        <p:nvSpPr>
          <p:cNvPr id="13" name="CuadroTexto 12">
            <a:extLst>
              <a:ext uri="{FF2B5EF4-FFF2-40B4-BE49-F238E27FC236}">
                <a16:creationId xmlns:a16="http://schemas.microsoft.com/office/drawing/2014/main" id="{A47EE273-F922-577F-F1E2-FAD407254974}"/>
              </a:ext>
            </a:extLst>
          </p:cNvPr>
          <p:cNvSpPr txBox="1"/>
          <p:nvPr/>
        </p:nvSpPr>
        <p:spPr>
          <a:xfrm>
            <a:off x="5782490" y="1358537"/>
            <a:ext cx="5730239" cy="3139321"/>
          </a:xfrm>
          <a:prstGeom prst="rect">
            <a:avLst/>
          </a:prstGeom>
          <a:noFill/>
        </p:spPr>
        <p:txBody>
          <a:bodyPr wrap="square" rtlCol="0">
            <a:spAutoFit/>
          </a:bodyPr>
          <a:lstStyle/>
          <a:p>
            <a:r>
              <a:rPr lang="es-MX" dirty="0">
                <a:solidFill>
                  <a:schemeClr val="bg1"/>
                </a:solidFill>
                <a:latin typeface="Book Antiqua" panose="02040602050305030304" pitchFamily="18" charset="0"/>
              </a:rPr>
              <a:t>BECKAM:</a:t>
            </a:r>
          </a:p>
          <a:p>
            <a:r>
              <a:rPr lang="es-MX" dirty="0">
                <a:solidFill>
                  <a:schemeClr val="bg1"/>
                </a:solidFill>
                <a:latin typeface="Book Antiqua" panose="02040602050305030304" pitchFamily="18" charset="0"/>
              </a:rPr>
              <a:t>Esta investigación grupal sobre Infraestructura y Tecnologías de Red muestra que las redes modernas han cambiado mucho, tanto en la forma en que están construidas como en la manera en que protegen la información. Esta investigación grupal sobre Infraestructura y Tecnologías de Red muestra que las redes modernas han cambiado mucho, tanto en la forma en que están construidas como en la manera en que protegen la información.</a:t>
            </a:r>
          </a:p>
          <a:p>
            <a:endParaRPr lang="es-PE" dirty="0">
              <a:solidFill>
                <a:schemeClr val="bg1"/>
              </a:solidFill>
            </a:endParaRPr>
          </a:p>
        </p:txBody>
      </p:sp>
    </p:spTree>
    <p:extLst>
      <p:ext uri="{BB962C8B-B14F-4D97-AF65-F5344CB8AC3E}">
        <p14:creationId xmlns:p14="http://schemas.microsoft.com/office/powerpoint/2010/main" val="3251164243"/>
      </p:ext>
    </p:extLst>
  </p:cSld>
  <p:clrMapOvr>
    <a:masterClrMapping/>
  </p:clrMapOvr>
</p:sld>
</file>

<file path=ppt/theme/theme1.xml><?xml version="1.0" encoding="utf-8"?>
<a:theme xmlns:a="http://schemas.openxmlformats.org/drawingml/2006/main" name="Espiral">
  <a:themeElements>
    <a:clrScheme name="Espiral">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Espiral">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Espiral">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Wisp</Template>
  <TotalTime>222</TotalTime>
  <Words>10250</Words>
  <Application>Microsoft Office PowerPoint</Application>
  <PresentationFormat>Panorámica</PresentationFormat>
  <Paragraphs>781</Paragraphs>
  <Slides>49</Slides>
  <Notes>0</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49</vt:i4>
      </vt:variant>
    </vt:vector>
  </HeadingPairs>
  <TitlesOfParts>
    <vt:vector size="59" baseType="lpstr">
      <vt:lpstr>Aharoni</vt:lpstr>
      <vt:lpstr>Aptos</vt:lpstr>
      <vt:lpstr>Arial</vt:lpstr>
      <vt:lpstr>Book Antiqua</vt:lpstr>
      <vt:lpstr>Century Gothic</vt:lpstr>
      <vt:lpstr>Courier New</vt:lpstr>
      <vt:lpstr>Symbol</vt:lpstr>
      <vt:lpstr>Wingdings</vt:lpstr>
      <vt:lpstr>Wingdings 3</vt:lpstr>
      <vt:lpstr>Espiral</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SUAREZ RUBINA, BECKAM SMITH</dc:creator>
  <cp:lastModifiedBy>SUAREZ RUBINA, BECKAM SMITH</cp:lastModifiedBy>
  <cp:revision>2</cp:revision>
  <dcterms:created xsi:type="dcterms:W3CDTF">2026-05-12T03:51:33Z</dcterms:created>
  <dcterms:modified xsi:type="dcterms:W3CDTF">2026-05-12T17:54:32Z</dcterms:modified>
</cp:coreProperties>
</file>