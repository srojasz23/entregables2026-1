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8A366E1C-D81F-4A5B-8822-F67934EA5A24}" type="datetimeFigureOut">
              <a:rPr lang="es-PE" smtClean="0"/>
              <a:t>14/05/2026</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C3AC2287-9844-4733-BB52-587844F1569B}" type="slidenum">
              <a:rPr lang="es-PE" smtClean="0"/>
              <a:t>‹Nº›</a:t>
            </a:fld>
            <a:endParaRPr lang="es-PE"/>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48445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A366E1C-D81F-4A5B-8822-F67934EA5A24}" type="datetimeFigureOut">
              <a:rPr lang="es-PE" smtClean="0"/>
              <a:t>14/05/2026</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C3AC2287-9844-4733-BB52-587844F1569B}" type="slidenum">
              <a:rPr lang="es-PE" smtClean="0"/>
              <a:t>‹Nº›</a:t>
            </a:fld>
            <a:endParaRPr lang="es-PE"/>
          </a:p>
        </p:txBody>
      </p:sp>
    </p:spTree>
    <p:extLst>
      <p:ext uri="{BB962C8B-B14F-4D97-AF65-F5344CB8AC3E}">
        <p14:creationId xmlns:p14="http://schemas.microsoft.com/office/powerpoint/2010/main" val="42761196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A366E1C-D81F-4A5B-8822-F67934EA5A24}" type="datetimeFigureOut">
              <a:rPr lang="es-PE" smtClean="0"/>
              <a:t>14/05/2026</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C3AC2287-9844-4733-BB52-587844F1569B}" type="slidenum">
              <a:rPr lang="es-PE" smtClean="0"/>
              <a:t>‹Nº›</a:t>
            </a:fld>
            <a:endParaRPr lang="es-PE"/>
          </a:p>
        </p:txBody>
      </p:sp>
    </p:spTree>
    <p:extLst>
      <p:ext uri="{BB962C8B-B14F-4D97-AF65-F5344CB8AC3E}">
        <p14:creationId xmlns:p14="http://schemas.microsoft.com/office/powerpoint/2010/main" val="3587792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8A366E1C-D81F-4A5B-8822-F67934EA5A24}" type="datetimeFigureOut">
              <a:rPr lang="es-PE" smtClean="0"/>
              <a:t>14/05/2026</a:t>
            </a:fld>
            <a:endParaRPr lang="es-PE"/>
          </a:p>
        </p:txBody>
      </p:sp>
      <p:sp>
        <p:nvSpPr>
          <p:cNvPr id="6" name="Footer Placeholder 5"/>
          <p:cNvSpPr>
            <a:spLocks noGrp="1"/>
          </p:cNvSpPr>
          <p:nvPr>
            <p:ph type="ftr" sz="quarter" idx="11"/>
          </p:nvPr>
        </p:nvSpPr>
        <p:spPr/>
        <p:txBody>
          <a:bodyPr/>
          <a:lstStyle/>
          <a:p>
            <a:endParaRPr lang="es-PE"/>
          </a:p>
        </p:txBody>
      </p:sp>
      <p:sp>
        <p:nvSpPr>
          <p:cNvPr id="7" name="Slide Number Placeholder 6"/>
          <p:cNvSpPr>
            <a:spLocks noGrp="1"/>
          </p:cNvSpPr>
          <p:nvPr>
            <p:ph type="sldNum" sz="quarter" idx="12"/>
          </p:nvPr>
        </p:nvSpPr>
        <p:spPr/>
        <p:txBody>
          <a:bodyPr/>
          <a:lstStyle/>
          <a:p>
            <a:fld id="{C3AC2287-9844-4733-BB52-587844F1569B}" type="slidenum">
              <a:rPr lang="es-PE" smtClean="0"/>
              <a:t>‹Nº›</a:t>
            </a:fld>
            <a:endParaRPr lang="es-PE"/>
          </a:p>
        </p:txBody>
      </p:sp>
    </p:spTree>
    <p:extLst>
      <p:ext uri="{BB962C8B-B14F-4D97-AF65-F5344CB8AC3E}">
        <p14:creationId xmlns:p14="http://schemas.microsoft.com/office/powerpoint/2010/main" val="2663134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8A366E1C-D81F-4A5B-8822-F67934EA5A24}" type="datetimeFigureOut">
              <a:rPr lang="es-PE" smtClean="0"/>
              <a:t>14/05/2026</a:t>
            </a:fld>
            <a:endParaRPr lang="es-PE"/>
          </a:p>
        </p:txBody>
      </p:sp>
      <p:sp>
        <p:nvSpPr>
          <p:cNvPr id="8" name="Footer Placeholder 7"/>
          <p:cNvSpPr>
            <a:spLocks noGrp="1"/>
          </p:cNvSpPr>
          <p:nvPr>
            <p:ph type="ftr" sz="quarter" idx="11"/>
          </p:nvPr>
        </p:nvSpPr>
        <p:spPr/>
        <p:txBody>
          <a:bodyPr/>
          <a:lstStyle/>
          <a:p>
            <a:endParaRPr lang="es-PE"/>
          </a:p>
        </p:txBody>
      </p:sp>
      <p:sp>
        <p:nvSpPr>
          <p:cNvPr id="9" name="Slide Number Placeholder 8"/>
          <p:cNvSpPr>
            <a:spLocks noGrp="1"/>
          </p:cNvSpPr>
          <p:nvPr>
            <p:ph type="sldNum" sz="quarter" idx="12"/>
          </p:nvPr>
        </p:nvSpPr>
        <p:spPr/>
        <p:txBody>
          <a:bodyPr/>
          <a:lstStyle/>
          <a:p>
            <a:fld id="{C3AC2287-9844-4733-BB52-587844F1569B}" type="slidenum">
              <a:rPr lang="es-PE" smtClean="0"/>
              <a:t>‹Nº›</a:t>
            </a:fld>
            <a:endParaRPr lang="es-PE"/>
          </a:p>
        </p:txBody>
      </p:sp>
    </p:spTree>
    <p:extLst>
      <p:ext uri="{BB962C8B-B14F-4D97-AF65-F5344CB8AC3E}">
        <p14:creationId xmlns:p14="http://schemas.microsoft.com/office/powerpoint/2010/main" val="411521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8A366E1C-D81F-4A5B-8822-F67934EA5A24}" type="datetimeFigureOut">
              <a:rPr lang="es-PE" smtClean="0"/>
              <a:t>14/05/2026</a:t>
            </a:fld>
            <a:endParaRPr lang="es-PE"/>
          </a:p>
        </p:txBody>
      </p:sp>
      <p:sp>
        <p:nvSpPr>
          <p:cNvPr id="4" name="Footer Placeholder 3"/>
          <p:cNvSpPr>
            <a:spLocks noGrp="1"/>
          </p:cNvSpPr>
          <p:nvPr>
            <p:ph type="ftr" sz="quarter" idx="11"/>
          </p:nvPr>
        </p:nvSpPr>
        <p:spPr/>
        <p:txBody>
          <a:bodyPr/>
          <a:lstStyle/>
          <a:p>
            <a:endParaRPr lang="es-PE"/>
          </a:p>
        </p:txBody>
      </p:sp>
      <p:sp>
        <p:nvSpPr>
          <p:cNvPr id="5" name="Slide Number Placeholder 4"/>
          <p:cNvSpPr>
            <a:spLocks noGrp="1"/>
          </p:cNvSpPr>
          <p:nvPr>
            <p:ph type="sldNum" sz="quarter" idx="12"/>
          </p:nvPr>
        </p:nvSpPr>
        <p:spPr/>
        <p:txBody>
          <a:bodyPr/>
          <a:lstStyle/>
          <a:p>
            <a:fld id="{C3AC2287-9844-4733-BB52-587844F1569B}" type="slidenum">
              <a:rPr lang="es-PE" smtClean="0"/>
              <a:t>‹Nº›</a:t>
            </a:fld>
            <a:endParaRPr lang="es-PE"/>
          </a:p>
        </p:txBody>
      </p:sp>
    </p:spTree>
    <p:extLst>
      <p:ext uri="{BB962C8B-B14F-4D97-AF65-F5344CB8AC3E}">
        <p14:creationId xmlns:p14="http://schemas.microsoft.com/office/powerpoint/2010/main" val="36543380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366E1C-D81F-4A5B-8822-F67934EA5A24}" type="datetimeFigureOut">
              <a:rPr lang="es-PE" smtClean="0"/>
              <a:t>14/05/2026</a:t>
            </a:fld>
            <a:endParaRPr lang="es-PE"/>
          </a:p>
        </p:txBody>
      </p:sp>
      <p:sp>
        <p:nvSpPr>
          <p:cNvPr id="3" name="Footer Placeholder 2"/>
          <p:cNvSpPr>
            <a:spLocks noGrp="1"/>
          </p:cNvSpPr>
          <p:nvPr>
            <p:ph type="ftr" sz="quarter" idx="11"/>
          </p:nvPr>
        </p:nvSpPr>
        <p:spPr/>
        <p:txBody>
          <a:bodyPr/>
          <a:lstStyle/>
          <a:p>
            <a:endParaRPr lang="es-PE"/>
          </a:p>
        </p:txBody>
      </p:sp>
      <p:sp>
        <p:nvSpPr>
          <p:cNvPr id="4" name="Slide Number Placeholder 3"/>
          <p:cNvSpPr>
            <a:spLocks noGrp="1"/>
          </p:cNvSpPr>
          <p:nvPr>
            <p:ph type="sldNum" sz="quarter" idx="12"/>
          </p:nvPr>
        </p:nvSpPr>
        <p:spPr/>
        <p:txBody>
          <a:bodyPr/>
          <a:lstStyle/>
          <a:p>
            <a:fld id="{C3AC2287-9844-4733-BB52-587844F1569B}" type="slidenum">
              <a:rPr lang="es-PE" smtClean="0"/>
              <a:t>‹Nº›</a:t>
            </a:fld>
            <a:endParaRPr lang="es-PE"/>
          </a:p>
        </p:txBody>
      </p:sp>
    </p:spTree>
    <p:extLst>
      <p:ext uri="{BB962C8B-B14F-4D97-AF65-F5344CB8AC3E}">
        <p14:creationId xmlns:p14="http://schemas.microsoft.com/office/powerpoint/2010/main" val="2015843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A366E1C-D81F-4A5B-8822-F67934EA5A24}" type="datetimeFigureOut">
              <a:rPr lang="es-PE" smtClean="0"/>
              <a:t>14/05/2026</a:t>
            </a:fld>
            <a:endParaRPr lang="es-PE"/>
          </a:p>
        </p:txBody>
      </p:sp>
      <p:sp>
        <p:nvSpPr>
          <p:cNvPr id="6" name="Footer Placeholder 5"/>
          <p:cNvSpPr>
            <a:spLocks noGrp="1"/>
          </p:cNvSpPr>
          <p:nvPr>
            <p:ph type="ftr" sz="quarter" idx="11"/>
          </p:nvPr>
        </p:nvSpPr>
        <p:spPr/>
        <p:txBody>
          <a:bodyPr/>
          <a:lstStyle/>
          <a:p>
            <a:endParaRPr lang="es-PE"/>
          </a:p>
        </p:txBody>
      </p:sp>
      <p:sp>
        <p:nvSpPr>
          <p:cNvPr id="7" name="Slide Number Placeholder 6"/>
          <p:cNvSpPr>
            <a:spLocks noGrp="1"/>
          </p:cNvSpPr>
          <p:nvPr>
            <p:ph type="sldNum" sz="quarter" idx="12"/>
          </p:nvPr>
        </p:nvSpPr>
        <p:spPr/>
        <p:txBody>
          <a:bodyPr/>
          <a:lstStyle/>
          <a:p>
            <a:fld id="{C3AC2287-9844-4733-BB52-587844F1569B}" type="slidenum">
              <a:rPr lang="es-PE" smtClean="0"/>
              <a:t>‹Nº›</a:t>
            </a:fld>
            <a:endParaRPr lang="es-PE"/>
          </a:p>
        </p:txBody>
      </p:sp>
    </p:spTree>
    <p:extLst>
      <p:ext uri="{BB962C8B-B14F-4D97-AF65-F5344CB8AC3E}">
        <p14:creationId xmlns:p14="http://schemas.microsoft.com/office/powerpoint/2010/main" val="27220585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s-ES"/>
              <a:t>Haga clic para modificar el estilo de título del patrón</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A366E1C-D81F-4A5B-8822-F67934EA5A24}" type="datetimeFigureOut">
              <a:rPr lang="es-PE" smtClean="0"/>
              <a:t>14/05/2026</a:t>
            </a:fld>
            <a:endParaRPr lang="es-PE"/>
          </a:p>
        </p:txBody>
      </p:sp>
      <p:sp>
        <p:nvSpPr>
          <p:cNvPr id="6" name="Footer Placeholder 5"/>
          <p:cNvSpPr>
            <a:spLocks noGrp="1"/>
          </p:cNvSpPr>
          <p:nvPr>
            <p:ph type="ftr" sz="quarter" idx="11"/>
          </p:nvPr>
        </p:nvSpPr>
        <p:spPr/>
        <p:txBody>
          <a:bodyPr/>
          <a:lstStyle/>
          <a:p>
            <a:endParaRPr lang="es-PE"/>
          </a:p>
        </p:txBody>
      </p:sp>
      <p:sp>
        <p:nvSpPr>
          <p:cNvPr id="7" name="Slide Number Placeholder 6"/>
          <p:cNvSpPr>
            <a:spLocks noGrp="1"/>
          </p:cNvSpPr>
          <p:nvPr>
            <p:ph type="sldNum" sz="quarter" idx="12"/>
          </p:nvPr>
        </p:nvSpPr>
        <p:spPr/>
        <p:txBody>
          <a:bodyPr/>
          <a:lstStyle/>
          <a:p>
            <a:fld id="{C3AC2287-9844-4733-BB52-587844F1569B}" type="slidenum">
              <a:rPr lang="es-PE" smtClean="0"/>
              <a:t>‹Nº›</a:t>
            </a:fld>
            <a:endParaRPr lang="es-PE"/>
          </a:p>
        </p:txBody>
      </p:sp>
    </p:spTree>
    <p:extLst>
      <p:ext uri="{BB962C8B-B14F-4D97-AF65-F5344CB8AC3E}">
        <p14:creationId xmlns:p14="http://schemas.microsoft.com/office/powerpoint/2010/main" val="4433605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8A366E1C-D81F-4A5B-8822-F67934EA5A24}" type="datetimeFigureOut">
              <a:rPr lang="es-PE" smtClean="0"/>
              <a:t>14/05/2026</a:t>
            </a:fld>
            <a:endParaRPr lang="es-PE"/>
          </a:p>
        </p:txBody>
      </p:sp>
      <p:sp>
        <p:nvSpPr>
          <p:cNvPr id="4" name="Footer Placeholder 3"/>
          <p:cNvSpPr>
            <a:spLocks noGrp="1"/>
          </p:cNvSpPr>
          <p:nvPr>
            <p:ph type="ftr" sz="quarter" idx="11"/>
          </p:nvPr>
        </p:nvSpPr>
        <p:spPr/>
        <p:txBody>
          <a:bodyPr/>
          <a:lstStyle/>
          <a:p>
            <a:endParaRPr lang="es-PE"/>
          </a:p>
        </p:txBody>
      </p:sp>
      <p:sp>
        <p:nvSpPr>
          <p:cNvPr id="5" name="Slide Number Placeholder 4"/>
          <p:cNvSpPr>
            <a:spLocks noGrp="1"/>
          </p:cNvSpPr>
          <p:nvPr>
            <p:ph type="sldNum" sz="quarter" idx="12"/>
          </p:nvPr>
        </p:nvSpPr>
        <p:spPr/>
        <p:txBody>
          <a:bodyPr/>
          <a:lstStyle/>
          <a:p>
            <a:fld id="{C3AC2287-9844-4733-BB52-587844F1569B}" type="slidenum">
              <a:rPr lang="es-PE" smtClean="0"/>
              <a:t>‹Nº›</a:t>
            </a:fld>
            <a:endParaRPr lang="es-PE"/>
          </a:p>
        </p:txBody>
      </p:sp>
    </p:spTree>
    <p:extLst>
      <p:ext uri="{BB962C8B-B14F-4D97-AF65-F5344CB8AC3E}">
        <p14:creationId xmlns:p14="http://schemas.microsoft.com/office/powerpoint/2010/main" val="25379829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A366E1C-D81F-4A5B-8822-F67934EA5A24}" type="datetimeFigureOut">
              <a:rPr lang="es-PE" smtClean="0"/>
              <a:t>14/05/2026</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C3AC2287-9844-4733-BB52-587844F1569B}" type="slidenum">
              <a:rPr lang="es-PE" smtClean="0"/>
              <a:t>‹Nº›</a:t>
            </a:fld>
            <a:endParaRPr lang="es-PE"/>
          </a:p>
        </p:txBody>
      </p:sp>
    </p:spTree>
    <p:extLst>
      <p:ext uri="{BB962C8B-B14F-4D97-AF65-F5344CB8AC3E}">
        <p14:creationId xmlns:p14="http://schemas.microsoft.com/office/powerpoint/2010/main" val="2723637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A366E1C-D81F-4A5B-8822-F67934EA5A24}" type="datetimeFigureOut">
              <a:rPr lang="es-PE" smtClean="0"/>
              <a:t>14/05/2026</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C3AC2287-9844-4733-BB52-587844F1569B}" type="slidenum">
              <a:rPr lang="es-PE" smtClean="0"/>
              <a:t>‹Nº›</a:t>
            </a:fld>
            <a:endParaRPr lang="es-PE"/>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8208606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A366E1C-D81F-4A5B-8822-F67934EA5A24}" type="datetimeFigureOut">
              <a:rPr lang="es-PE" smtClean="0"/>
              <a:t>14/05/2026</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C3AC2287-9844-4733-BB52-587844F1569B}" type="slidenum">
              <a:rPr lang="es-PE" smtClean="0"/>
              <a:t>‹Nº›</a:t>
            </a:fld>
            <a:endParaRPr lang="es-PE"/>
          </a:p>
        </p:txBody>
      </p:sp>
    </p:spTree>
    <p:extLst>
      <p:ext uri="{BB962C8B-B14F-4D97-AF65-F5344CB8AC3E}">
        <p14:creationId xmlns:p14="http://schemas.microsoft.com/office/powerpoint/2010/main" val="21804391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s-ES"/>
              <a:t>Haga clic para modificar los estilos de texto del patrón</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A366E1C-D81F-4A5B-8822-F67934EA5A24}" type="datetimeFigureOut">
              <a:rPr lang="es-PE" smtClean="0"/>
              <a:t>14/05/2026</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C3AC2287-9844-4733-BB52-587844F1569B}" type="slidenum">
              <a:rPr lang="es-PE" smtClean="0"/>
              <a:t>‹Nº›</a:t>
            </a:fld>
            <a:endParaRPr lang="es-PE"/>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5548370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s-ES"/>
              <a:t>Haga clic para modificar el estilo de título del patrón</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s-ES"/>
              <a:t>Haga clic para modificar los estilos de texto del patrón</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A366E1C-D81F-4A5B-8822-F67934EA5A24}" type="datetimeFigureOut">
              <a:rPr lang="es-PE" smtClean="0"/>
              <a:t>14/05/2026</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C3AC2287-9844-4733-BB52-587844F1569B}" type="slidenum">
              <a:rPr lang="es-PE" smtClean="0"/>
              <a:t>‹Nº›</a:t>
            </a:fld>
            <a:endParaRPr lang="es-PE"/>
          </a:p>
        </p:txBody>
      </p:sp>
    </p:spTree>
    <p:extLst>
      <p:ext uri="{BB962C8B-B14F-4D97-AF65-F5344CB8AC3E}">
        <p14:creationId xmlns:p14="http://schemas.microsoft.com/office/powerpoint/2010/main" val="32266106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A366E1C-D81F-4A5B-8822-F67934EA5A24}" type="datetimeFigureOut">
              <a:rPr lang="es-PE" smtClean="0"/>
              <a:t>14/05/2026</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C3AC2287-9844-4733-BB52-587844F1569B}" type="slidenum">
              <a:rPr lang="es-PE" smtClean="0"/>
              <a:t>‹Nº›</a:t>
            </a:fld>
            <a:endParaRPr lang="es-PE"/>
          </a:p>
        </p:txBody>
      </p:sp>
    </p:spTree>
    <p:extLst>
      <p:ext uri="{BB962C8B-B14F-4D97-AF65-F5344CB8AC3E}">
        <p14:creationId xmlns:p14="http://schemas.microsoft.com/office/powerpoint/2010/main" val="32459073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A366E1C-D81F-4A5B-8822-F67934EA5A24}" type="datetimeFigureOut">
              <a:rPr lang="es-PE" smtClean="0"/>
              <a:t>14/05/2026</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C3AC2287-9844-4733-BB52-587844F1569B}" type="slidenum">
              <a:rPr lang="es-PE" smtClean="0"/>
              <a:t>‹Nº›</a:t>
            </a:fld>
            <a:endParaRPr lang="es-PE"/>
          </a:p>
        </p:txBody>
      </p:sp>
    </p:spTree>
    <p:extLst>
      <p:ext uri="{BB962C8B-B14F-4D97-AF65-F5344CB8AC3E}">
        <p14:creationId xmlns:p14="http://schemas.microsoft.com/office/powerpoint/2010/main" val="31099718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8A366E1C-D81F-4A5B-8822-F67934EA5A24}" type="datetimeFigureOut">
              <a:rPr lang="es-PE" smtClean="0"/>
              <a:t>14/05/2026</a:t>
            </a:fld>
            <a:endParaRPr lang="es-PE"/>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s-PE"/>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C3AC2287-9844-4733-BB52-587844F1569B}" type="slidenum">
              <a:rPr lang="es-PE" smtClean="0"/>
              <a:t>‹Nº›</a:t>
            </a:fld>
            <a:endParaRPr lang="es-PE"/>
          </a:p>
        </p:txBody>
      </p:sp>
    </p:spTree>
    <p:extLst>
      <p:ext uri="{BB962C8B-B14F-4D97-AF65-F5344CB8AC3E}">
        <p14:creationId xmlns:p14="http://schemas.microsoft.com/office/powerpoint/2010/main" val="3753378485"/>
      </p:ext>
    </p:extLst>
  </p:cSld>
  <p:clrMap bg1="dk1" tx1="lt1" bg2="dk2" tx2="lt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 id="2147483711"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6.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9.jp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11.jp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10.jpg"/><Relationship Id="rId5" Type="http://schemas.openxmlformats.org/officeDocument/2006/relationships/image" Target="../media/image7.sv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7.sv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8" Type="http://schemas.openxmlformats.org/officeDocument/2006/relationships/hyperlink" Target="https://www.cloudflare.com/learning/network-layer/what-is-the-network-layer/" TargetMode="External"/><Relationship Id="rId3" Type="http://schemas.openxmlformats.org/officeDocument/2006/relationships/image" Target="../media/image4.svg"/><Relationship Id="rId7" Type="http://schemas.openxmlformats.org/officeDocument/2006/relationships/hyperlink" Target="https://www.cloudflare.com/learning/ddos/glossary/open-systems-interconnection-model-osi/" TargetMode="External"/><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hyperlink" Target="https://www.cloudflare.com/learning/network-layer/what-is-ipsec/" TargetMode="External"/><Relationship Id="rId5" Type="http://schemas.openxmlformats.org/officeDocument/2006/relationships/image" Target="../media/image7.svg"/><Relationship Id="rId10" Type="http://schemas.openxmlformats.org/officeDocument/2006/relationships/hyperlink" Target="https://www.cloudflare.com/learning/access-management/what-is-a-vpn/" TargetMode="External"/><Relationship Id="rId4" Type="http://schemas.openxmlformats.org/officeDocument/2006/relationships/image" Target="../media/image5.png"/><Relationship Id="rId9" Type="http://schemas.openxmlformats.org/officeDocument/2006/relationships/hyperlink" Target="https://www.cloudflare.com/learning/ssl/what-is-encryption/" TargetMode="External"/></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s://www.cloudflare.com/learning/ddos/glossary/hypertext-transfer-protocol-http/" TargetMode="External"/><Relationship Id="rId7" Type="http://schemas.openxmlformats.org/officeDocument/2006/relationships/image" Target="../media/image4.svg"/><Relationship Id="rId2" Type="http://schemas.openxmlformats.org/officeDocument/2006/relationships/hyperlink" Target="https://www.cloudflare.com/learning/ssl/what-is-ssl/" TargetMode="Externa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https://www.cloudflare.com/learning/ssl/transport-layer-security-tls/" TargetMode="External"/><Relationship Id="rId10" Type="http://schemas.openxmlformats.org/officeDocument/2006/relationships/image" Target="../media/image12.jpeg"/><Relationship Id="rId4" Type="http://schemas.openxmlformats.org/officeDocument/2006/relationships/hyperlink" Target="https://www.cloudflare.com/learning/cdn/glossary/origin-server/" TargetMode="External"/><Relationship Id="rId9" Type="http://schemas.openxmlformats.org/officeDocument/2006/relationships/image" Target="../media/image7.svg"/></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7.sv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8" Type="http://schemas.openxmlformats.org/officeDocument/2006/relationships/image" Target="../media/image14.jpg"/><Relationship Id="rId3" Type="http://schemas.openxmlformats.org/officeDocument/2006/relationships/image" Target="../media/image4.svg"/><Relationship Id="rId7"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hyperlink" Target="https://www.incibe.es/sites/default/files/contenidos/guias/doc/guia_glosario_ciberseguridad_metad.pdf" TargetMode="External"/><Relationship Id="rId5" Type="http://schemas.openxmlformats.org/officeDocument/2006/relationships/image" Target="../media/image7.sv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8" Type="http://schemas.openxmlformats.org/officeDocument/2006/relationships/hyperlink" Target="https://www.incibe.es/empresas/blog/necesitas-mas-informacion-utiliza-tu-registro-log" TargetMode="External"/><Relationship Id="rId3" Type="http://schemas.openxmlformats.org/officeDocument/2006/relationships/image" Target="../media/image3.png"/><Relationship Id="rId7" Type="http://schemas.openxmlformats.org/officeDocument/2006/relationships/hyperlink" Target="https://www.incibe.es/empresas/blog/seguridad-instalacion-y-uso-dispositivos-iot-guia-aproximacion-el-empresario" TargetMode="External"/><Relationship Id="rId2" Type="http://schemas.openxmlformats.org/officeDocument/2006/relationships/hyperlink" Target="https://www.incibe.es/sites/default/files/contenidos/guias/doc/guia_glosario_ciberseguridad_2021.pdf" TargetMode="External"/><Relationship Id="rId1" Type="http://schemas.openxmlformats.org/officeDocument/2006/relationships/slideLayout" Target="../slideLayouts/slideLayout1.xml"/><Relationship Id="rId6" Type="http://schemas.openxmlformats.org/officeDocument/2006/relationships/image" Target="../media/image7.svg"/><Relationship Id="rId5" Type="http://schemas.openxmlformats.org/officeDocument/2006/relationships/image" Target="../media/image5.png"/><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7.sv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15.jpg"/><Relationship Id="rId5" Type="http://schemas.openxmlformats.org/officeDocument/2006/relationships/image" Target="../media/image7.sv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7.sv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16.jpg"/><Relationship Id="rId5" Type="http://schemas.openxmlformats.org/officeDocument/2006/relationships/image" Target="../media/image7.sv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7.sv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8" Type="http://schemas.openxmlformats.org/officeDocument/2006/relationships/hyperlink" Target="https://www.ibm.com/es-es/think/topics/ddos" TargetMode="External"/><Relationship Id="rId3" Type="http://schemas.openxmlformats.org/officeDocument/2006/relationships/image" Target="../media/image7.svg"/><Relationship Id="rId7" Type="http://schemas.openxmlformats.org/officeDocument/2006/relationships/hyperlink" Target="https://www.incibe.es/empresas/blog/son-y-sirven-los-siem-ids-e-ips" TargetMode="External"/><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hyperlink" Target="https://www.cloudflare.com/es-es/learning/network-layer/ipsec-vs-ssl-vpn/" TargetMode="External"/><Relationship Id="rId11" Type="http://schemas.openxmlformats.org/officeDocument/2006/relationships/hyperlink" Target="https://preyproject.com/blog/device-security-in-schools-byod-for-lovers-and-haters" TargetMode="External"/><Relationship Id="rId5" Type="http://schemas.openxmlformats.org/officeDocument/2006/relationships/hyperlink" Target="https://repository.unad.edu.co/handle/10596/48929" TargetMode="External"/><Relationship Id="rId10" Type="http://schemas.openxmlformats.org/officeDocument/2006/relationships/hyperlink" Target="https://www.google.com/search?q=https://www.eye-security.com/cybersecurity-learning-hub/" TargetMode="External"/><Relationship Id="rId4" Type="http://schemas.openxmlformats.org/officeDocument/2006/relationships/hyperlink" Target="https://dspace.espoch.edu.ec/handle/123456789/14080" TargetMode="External"/><Relationship Id="rId9" Type="http://schemas.openxmlformats.org/officeDocument/2006/relationships/hyperlink" Target="https://oa.upm.es/71578/"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lumMod val="75000"/>
            <a:alpha val="96000"/>
          </a:schemeClr>
        </a:solid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B72D6224-CB41-26F3-E54E-013B63B7DCAF}"/>
              </a:ext>
            </a:extLst>
          </p:cNvPr>
          <p:cNvSpPr txBox="1"/>
          <p:nvPr/>
        </p:nvSpPr>
        <p:spPr>
          <a:xfrm>
            <a:off x="1381327" y="492842"/>
            <a:ext cx="8044775" cy="646331"/>
          </a:xfrm>
          <a:prstGeom prst="rect">
            <a:avLst/>
          </a:prstGeom>
          <a:noFill/>
        </p:spPr>
        <p:txBody>
          <a:bodyPr wrap="square" rtlCol="0">
            <a:spAutoFit/>
          </a:bodyPr>
          <a:lstStyle/>
          <a:p>
            <a:pPr algn="ctr"/>
            <a:r>
              <a:rPr lang="es-MX" sz="3600" dirty="0">
                <a:latin typeface="Aharoni" panose="02010803020104030203" pitchFamily="2" charset="-79"/>
                <a:cs typeface="Aharoni" panose="02010803020104030203" pitchFamily="2" charset="-79"/>
              </a:rPr>
              <a:t>PRESENTACION: EXPOSICION  B </a:t>
            </a:r>
            <a:endParaRPr lang="es-PE" sz="3600" dirty="0">
              <a:latin typeface="Aharoni" panose="02010803020104030203" pitchFamily="2" charset="-79"/>
              <a:cs typeface="Aharoni" panose="02010803020104030203" pitchFamily="2" charset="-79"/>
            </a:endParaRPr>
          </a:p>
        </p:txBody>
      </p:sp>
      <p:sp>
        <p:nvSpPr>
          <p:cNvPr id="5" name="CuadroTexto 4">
            <a:extLst>
              <a:ext uri="{FF2B5EF4-FFF2-40B4-BE49-F238E27FC236}">
                <a16:creationId xmlns:a16="http://schemas.microsoft.com/office/drawing/2014/main" id="{CA5B7B0A-7695-5C49-4D8B-0A1C8C1EED8C}"/>
              </a:ext>
            </a:extLst>
          </p:cNvPr>
          <p:cNvSpPr txBox="1"/>
          <p:nvPr/>
        </p:nvSpPr>
        <p:spPr>
          <a:xfrm>
            <a:off x="525294" y="3988340"/>
            <a:ext cx="3239310" cy="400110"/>
          </a:xfrm>
          <a:prstGeom prst="rect">
            <a:avLst/>
          </a:prstGeom>
          <a:noFill/>
        </p:spPr>
        <p:txBody>
          <a:bodyPr wrap="square" rtlCol="0">
            <a:spAutoFit/>
          </a:bodyPr>
          <a:lstStyle/>
          <a:p>
            <a:r>
              <a:rPr lang="es-MX" sz="2000" dirty="0">
                <a:latin typeface="Aharoni" panose="02010803020104030203" pitchFamily="2" charset="-79"/>
                <a:cs typeface="Aharoni" panose="02010803020104030203" pitchFamily="2" charset="-79"/>
              </a:rPr>
              <a:t>INTEGRANTE:</a:t>
            </a:r>
            <a:endParaRPr lang="es-PE" sz="2000" dirty="0">
              <a:latin typeface="Aharoni" panose="02010803020104030203" pitchFamily="2" charset="-79"/>
              <a:cs typeface="Aharoni" panose="02010803020104030203" pitchFamily="2" charset="-79"/>
            </a:endParaRPr>
          </a:p>
        </p:txBody>
      </p:sp>
      <p:sp>
        <p:nvSpPr>
          <p:cNvPr id="6" name="CuadroTexto 5">
            <a:extLst>
              <a:ext uri="{FF2B5EF4-FFF2-40B4-BE49-F238E27FC236}">
                <a16:creationId xmlns:a16="http://schemas.microsoft.com/office/drawing/2014/main" id="{451DEC05-8FCC-9B30-3F6D-B7EEE867B9B3}"/>
              </a:ext>
            </a:extLst>
          </p:cNvPr>
          <p:cNvSpPr txBox="1"/>
          <p:nvPr/>
        </p:nvSpPr>
        <p:spPr>
          <a:xfrm>
            <a:off x="690664" y="4717915"/>
            <a:ext cx="2130357" cy="923330"/>
          </a:xfrm>
          <a:prstGeom prst="rect">
            <a:avLst/>
          </a:prstGeom>
          <a:noFill/>
        </p:spPr>
        <p:txBody>
          <a:bodyPr wrap="square" rtlCol="0">
            <a:spAutoFit/>
          </a:bodyPr>
          <a:lstStyle/>
          <a:p>
            <a:pPr marL="285750" indent="-285750">
              <a:buFont typeface="Wingdings" panose="05000000000000000000" pitchFamily="2" charset="2"/>
              <a:buChar char="ü"/>
            </a:pPr>
            <a:r>
              <a:rPr lang="es-MX" dirty="0">
                <a:latin typeface="Book Antiqua" panose="02040602050305030304" pitchFamily="18" charset="0"/>
              </a:rPr>
              <a:t>BRAYAN</a:t>
            </a:r>
          </a:p>
          <a:p>
            <a:pPr marL="285750" indent="-285750">
              <a:buFont typeface="Wingdings" panose="05000000000000000000" pitchFamily="2" charset="2"/>
              <a:buChar char="ü"/>
            </a:pPr>
            <a:r>
              <a:rPr lang="es-MX" dirty="0">
                <a:latin typeface="Book Antiqua" panose="02040602050305030304" pitchFamily="18" charset="0"/>
              </a:rPr>
              <a:t>MOISES</a:t>
            </a:r>
          </a:p>
          <a:p>
            <a:pPr marL="285750" indent="-285750">
              <a:buFont typeface="Wingdings" panose="05000000000000000000" pitchFamily="2" charset="2"/>
              <a:buChar char="ü"/>
            </a:pPr>
            <a:r>
              <a:rPr lang="es-MX" dirty="0">
                <a:latin typeface="Book Antiqua" panose="02040602050305030304" pitchFamily="18" charset="0"/>
              </a:rPr>
              <a:t>BECKAM</a:t>
            </a:r>
            <a:endParaRPr lang="es-PE" dirty="0">
              <a:latin typeface="Book Antiqua" panose="02040602050305030304" pitchFamily="18" charset="0"/>
            </a:endParaRPr>
          </a:p>
        </p:txBody>
      </p:sp>
      <p:sp>
        <p:nvSpPr>
          <p:cNvPr id="7" name="CuadroTexto 6">
            <a:extLst>
              <a:ext uri="{FF2B5EF4-FFF2-40B4-BE49-F238E27FC236}">
                <a16:creationId xmlns:a16="http://schemas.microsoft.com/office/drawing/2014/main" id="{FEFA4E0D-5D7A-B9DE-7D84-93CF6F98C59D}"/>
              </a:ext>
            </a:extLst>
          </p:cNvPr>
          <p:cNvSpPr txBox="1"/>
          <p:nvPr/>
        </p:nvSpPr>
        <p:spPr>
          <a:xfrm>
            <a:off x="7597301" y="4994914"/>
            <a:ext cx="4377448" cy="369332"/>
          </a:xfrm>
          <a:prstGeom prst="rect">
            <a:avLst/>
          </a:prstGeom>
          <a:noFill/>
        </p:spPr>
        <p:txBody>
          <a:bodyPr wrap="square" rtlCol="0">
            <a:spAutoFit/>
          </a:bodyPr>
          <a:lstStyle/>
          <a:p>
            <a:r>
              <a:rPr lang="es-MX" dirty="0">
                <a:latin typeface="Aharoni" panose="02010803020104030203" pitchFamily="2" charset="-79"/>
                <a:cs typeface="Aharoni" panose="02010803020104030203" pitchFamily="2" charset="-79"/>
              </a:rPr>
              <a:t>CURSO: </a:t>
            </a:r>
            <a:r>
              <a:rPr lang="es-MX" dirty="0">
                <a:latin typeface="Book Antiqua" panose="02040602050305030304" pitchFamily="18" charset="0"/>
              </a:rPr>
              <a:t>REDES DE COMPUTADORAS</a:t>
            </a:r>
            <a:endParaRPr lang="es-PE" dirty="0">
              <a:latin typeface="Book Antiqua" panose="02040602050305030304" pitchFamily="18" charset="0"/>
            </a:endParaRPr>
          </a:p>
        </p:txBody>
      </p:sp>
      <p:sp>
        <p:nvSpPr>
          <p:cNvPr id="8" name="CuadroTexto 7">
            <a:extLst>
              <a:ext uri="{FF2B5EF4-FFF2-40B4-BE49-F238E27FC236}">
                <a16:creationId xmlns:a16="http://schemas.microsoft.com/office/drawing/2014/main" id="{25AC466D-149B-DEFB-5A2A-95C3E33AA28E}"/>
              </a:ext>
            </a:extLst>
          </p:cNvPr>
          <p:cNvSpPr txBox="1"/>
          <p:nvPr/>
        </p:nvSpPr>
        <p:spPr>
          <a:xfrm>
            <a:off x="7801583" y="5515583"/>
            <a:ext cx="3910519" cy="369332"/>
          </a:xfrm>
          <a:prstGeom prst="rect">
            <a:avLst/>
          </a:prstGeom>
          <a:noFill/>
        </p:spPr>
        <p:txBody>
          <a:bodyPr wrap="square" rtlCol="0">
            <a:spAutoFit/>
          </a:bodyPr>
          <a:lstStyle/>
          <a:p>
            <a:r>
              <a:rPr lang="es-MX" dirty="0">
                <a:latin typeface="Aharoni" panose="02010803020104030203" pitchFamily="2" charset="-79"/>
                <a:cs typeface="Aharoni" panose="02010803020104030203" pitchFamily="2" charset="-79"/>
              </a:rPr>
              <a:t>DOCENTE: </a:t>
            </a:r>
            <a:r>
              <a:rPr lang="es-PE" dirty="0">
                <a:latin typeface="Book Antiqua" panose="02040602050305030304" pitchFamily="18" charset="0"/>
              </a:rPr>
              <a:t>STEFANI YULIANA R.</a:t>
            </a:r>
          </a:p>
        </p:txBody>
      </p:sp>
      <p:pic>
        <p:nvPicPr>
          <p:cNvPr id="12" name="Imagen 11" descr="Un dibujo de una cara feliz&#10;&#10;El contenido generado por IA puede ser incorrecto.">
            <a:extLst>
              <a:ext uri="{FF2B5EF4-FFF2-40B4-BE49-F238E27FC236}">
                <a16:creationId xmlns:a16="http://schemas.microsoft.com/office/drawing/2014/main" id="{D80F2107-FEA4-4A5C-5023-16D476F82B6C}"/>
              </a:ext>
            </a:extLst>
          </p:cNvPr>
          <p:cNvPicPr>
            <a:picLocks noChangeAspect="1"/>
          </p:cNvPicPr>
          <p:nvPr/>
        </p:nvPicPr>
        <p:blipFill>
          <a:blip r:embed="rId2"/>
          <a:stretch>
            <a:fillRect/>
          </a:stretch>
        </p:blipFill>
        <p:spPr>
          <a:xfrm>
            <a:off x="3582060" y="3068158"/>
            <a:ext cx="4282811" cy="11202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cxnSp>
        <p:nvCxnSpPr>
          <p:cNvPr id="14" name="Conector: curvado 13">
            <a:extLst>
              <a:ext uri="{FF2B5EF4-FFF2-40B4-BE49-F238E27FC236}">
                <a16:creationId xmlns:a16="http://schemas.microsoft.com/office/drawing/2014/main" id="{0905BBB5-C836-C7D2-1F0A-F9E4A5199AAC}"/>
              </a:ext>
            </a:extLst>
          </p:cNvPr>
          <p:cNvCxnSpPr/>
          <p:nvPr/>
        </p:nvCxnSpPr>
        <p:spPr>
          <a:xfrm rot="16200000" flipH="1">
            <a:off x="-2405444" y="3280653"/>
            <a:ext cx="5564782" cy="296694"/>
          </a:xfrm>
          <a:prstGeom prst="curvedConnector3">
            <a:avLst>
              <a:gd name="adj1" fmla="val 50304"/>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16" name="Conector: curvado 15">
            <a:extLst>
              <a:ext uri="{FF2B5EF4-FFF2-40B4-BE49-F238E27FC236}">
                <a16:creationId xmlns:a16="http://schemas.microsoft.com/office/drawing/2014/main" id="{9940CBE8-61FE-9630-978F-D13201DEEBA9}"/>
              </a:ext>
            </a:extLst>
          </p:cNvPr>
          <p:cNvCxnSpPr>
            <a:cxnSpLocks/>
          </p:cNvCxnSpPr>
          <p:nvPr/>
        </p:nvCxnSpPr>
        <p:spPr>
          <a:xfrm rot="5400000">
            <a:off x="-2373206" y="3344886"/>
            <a:ext cx="5466260" cy="408501"/>
          </a:xfrm>
          <a:prstGeom prst="curvedConnector3">
            <a:avLst>
              <a:gd name="adj1" fmla="val 50000"/>
            </a:avLst>
          </a:prstGeom>
          <a:ln>
            <a:solidFill>
              <a:schemeClr val="accent1">
                <a:lumMod val="20000"/>
                <a:lumOff val="80000"/>
              </a:schemeClr>
            </a:solidFill>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1122479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accent1"/>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1FD54A7A-C884-9BAF-F095-389CE0EE71EC}"/>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7C2D78A8-DEFF-3BB0-3F16-2D7503D36BA3}"/>
              </a:ext>
            </a:extLst>
          </p:cNvPr>
          <p:cNvSpPr txBox="1"/>
          <p:nvPr/>
        </p:nvSpPr>
        <p:spPr>
          <a:xfrm>
            <a:off x="2213042" y="597412"/>
            <a:ext cx="8044775" cy="646331"/>
          </a:xfrm>
          <a:prstGeom prst="rect">
            <a:avLst/>
          </a:prstGeom>
          <a:noFill/>
          <a:effectLst>
            <a:outerShdw blurRad="50800" dist="38100" dir="2700000" algn="tl" rotWithShape="0">
              <a:prstClr val="black">
                <a:alpha val="40000"/>
              </a:prstClr>
            </a:outerShdw>
          </a:effectLst>
        </p:spPr>
        <p:txBody>
          <a:bodyPr wrap="square" rtlCol="0">
            <a:spAutoFit/>
          </a:bodyPr>
          <a:lstStyle/>
          <a:p>
            <a:pPr algn="ctr"/>
            <a:r>
              <a:rPr lang="es-MX" sz="36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haroni" panose="02010803020104030203" pitchFamily="2" charset="-79"/>
                <a:cs typeface="Aharoni" panose="02010803020104030203" pitchFamily="2" charset="-79"/>
              </a:rPr>
              <a:t>SEGURIDAD EN REDES</a:t>
            </a:r>
            <a:endParaRPr lang="es-PE" sz="36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haroni" panose="02010803020104030203" pitchFamily="2" charset="-79"/>
              <a:cs typeface="Aharoni" panose="02010803020104030203" pitchFamily="2" charset="-79"/>
            </a:endParaRPr>
          </a:p>
        </p:txBody>
      </p:sp>
      <p:cxnSp>
        <p:nvCxnSpPr>
          <p:cNvPr id="14" name="Conector: curvado 13">
            <a:extLst>
              <a:ext uri="{FF2B5EF4-FFF2-40B4-BE49-F238E27FC236}">
                <a16:creationId xmlns:a16="http://schemas.microsoft.com/office/drawing/2014/main" id="{896F6BF3-9128-3B01-D341-9117F0428D0A}"/>
              </a:ext>
            </a:extLst>
          </p:cNvPr>
          <p:cNvCxnSpPr/>
          <p:nvPr/>
        </p:nvCxnSpPr>
        <p:spPr>
          <a:xfrm rot="16200000" flipH="1">
            <a:off x="-2405444" y="3280653"/>
            <a:ext cx="5564782" cy="296694"/>
          </a:xfrm>
          <a:prstGeom prst="curvedConnector3">
            <a:avLst>
              <a:gd name="adj1" fmla="val 50304"/>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16" name="Conector: curvado 15">
            <a:extLst>
              <a:ext uri="{FF2B5EF4-FFF2-40B4-BE49-F238E27FC236}">
                <a16:creationId xmlns:a16="http://schemas.microsoft.com/office/drawing/2014/main" id="{2C90552B-0EA1-5473-9B82-EA87BF4B3D31}"/>
              </a:ext>
            </a:extLst>
          </p:cNvPr>
          <p:cNvCxnSpPr>
            <a:cxnSpLocks/>
          </p:cNvCxnSpPr>
          <p:nvPr/>
        </p:nvCxnSpPr>
        <p:spPr>
          <a:xfrm rot="5400000">
            <a:off x="-2373206" y="3344886"/>
            <a:ext cx="5466260" cy="408501"/>
          </a:xfrm>
          <a:prstGeom prst="curvedConnector3">
            <a:avLst>
              <a:gd name="adj1" fmla="val 50000"/>
            </a:avLst>
          </a:prstGeom>
          <a:ln>
            <a:solidFill>
              <a:schemeClr val="accent1">
                <a:lumMod val="20000"/>
                <a:lumOff val="80000"/>
              </a:schemeClr>
            </a:solidFill>
          </a:ln>
        </p:spPr>
        <p:style>
          <a:lnRef idx="2">
            <a:schemeClr val="dk1"/>
          </a:lnRef>
          <a:fillRef idx="0">
            <a:schemeClr val="dk1"/>
          </a:fillRef>
          <a:effectRef idx="1">
            <a:schemeClr val="dk1"/>
          </a:effectRef>
          <a:fontRef idx="minor">
            <a:schemeClr val="tx1"/>
          </a:fontRef>
        </p:style>
      </p:cxnSp>
      <p:sp>
        <p:nvSpPr>
          <p:cNvPr id="2" name="CuadroTexto 1">
            <a:extLst>
              <a:ext uri="{FF2B5EF4-FFF2-40B4-BE49-F238E27FC236}">
                <a16:creationId xmlns:a16="http://schemas.microsoft.com/office/drawing/2014/main" id="{4E56239A-4A15-6C87-6981-CA93A3D697D0}"/>
              </a:ext>
            </a:extLst>
          </p:cNvPr>
          <p:cNvSpPr txBox="1"/>
          <p:nvPr/>
        </p:nvSpPr>
        <p:spPr>
          <a:xfrm>
            <a:off x="856034" y="3429000"/>
            <a:ext cx="5155660" cy="3416320"/>
          </a:xfrm>
          <a:prstGeom prst="rect">
            <a:avLst/>
          </a:prstGeom>
          <a:noFill/>
        </p:spPr>
        <p:txBody>
          <a:bodyPr wrap="square" rtlCol="0">
            <a:spAutoFit/>
          </a:bodyPr>
          <a:lstStyle/>
          <a:p>
            <a:r>
              <a:rPr lang="es-PE" b="1" dirty="0">
                <a:latin typeface="Book Antiqua" panose="02040602050305030304" pitchFamily="18" charset="0"/>
              </a:rPr>
              <a:t>¿Qué es un Firewall de Próxima Generación (NGFW)?</a:t>
            </a:r>
            <a:endParaRPr lang="es-PE" dirty="0">
              <a:latin typeface="Book Antiqua" panose="02040602050305030304" pitchFamily="18" charset="0"/>
            </a:endParaRPr>
          </a:p>
          <a:p>
            <a:r>
              <a:rPr lang="es-PE" dirty="0">
                <a:latin typeface="Book Antiqua" panose="02040602050305030304" pitchFamily="18" charset="0"/>
              </a:rPr>
              <a:t>De acuerdo con la investigación, el NGFW es una evolución del firewall tradicional que no solo filtra tráfico por puertos o protocolos, sino que tiene la capacidad de realizar una </a:t>
            </a:r>
            <a:r>
              <a:rPr lang="es-PE" b="1" dirty="0">
                <a:latin typeface="Book Antiqua" panose="02040602050305030304" pitchFamily="18" charset="0"/>
              </a:rPr>
              <a:t>inspección profunda de paquetes (DPI)</a:t>
            </a:r>
            <a:r>
              <a:rPr lang="es-PE" dirty="0">
                <a:latin typeface="Book Antiqua" panose="02040602050305030304" pitchFamily="18" charset="0"/>
              </a:rPr>
              <a:t>. Esto significa que puede identificar qué aplicación específica está generando el tráfico y detectar amenazas ocultas que los firewalls antiguos no verían.</a:t>
            </a:r>
          </a:p>
          <a:p>
            <a:endParaRPr lang="es-PE" dirty="0"/>
          </a:p>
        </p:txBody>
      </p:sp>
      <p:sp>
        <p:nvSpPr>
          <p:cNvPr id="3" name="CuadroTexto 2">
            <a:extLst>
              <a:ext uri="{FF2B5EF4-FFF2-40B4-BE49-F238E27FC236}">
                <a16:creationId xmlns:a16="http://schemas.microsoft.com/office/drawing/2014/main" id="{0A124645-3BAF-E05E-2F4F-31CAD25EBE14}"/>
              </a:ext>
            </a:extLst>
          </p:cNvPr>
          <p:cNvSpPr txBox="1"/>
          <p:nvPr/>
        </p:nvSpPr>
        <p:spPr>
          <a:xfrm>
            <a:off x="856034" y="2322478"/>
            <a:ext cx="5447519" cy="369332"/>
          </a:xfrm>
          <a:prstGeom prst="rect">
            <a:avLst/>
          </a:prstGeom>
          <a:noFill/>
        </p:spPr>
        <p:txBody>
          <a:bodyPr wrap="square" rtlCol="0">
            <a:spAutoFit/>
          </a:bodyPr>
          <a:lstStyle/>
          <a:p>
            <a:r>
              <a:rPr lang="es-MX" dirty="0">
                <a:latin typeface="Aharoni" panose="02010803020104030203" pitchFamily="2" charset="-79"/>
                <a:cs typeface="Aharoni" panose="02010803020104030203" pitchFamily="2" charset="-79"/>
              </a:rPr>
              <a:t>FIREWALL DE LA PROXIMA GENERACION</a:t>
            </a:r>
            <a:endParaRPr lang="es-PE" dirty="0">
              <a:latin typeface="Aharoni" panose="02010803020104030203" pitchFamily="2" charset="-79"/>
              <a:cs typeface="Aharoni" panose="02010803020104030203" pitchFamily="2" charset="-79"/>
            </a:endParaRPr>
          </a:p>
        </p:txBody>
      </p:sp>
      <p:pic>
        <p:nvPicPr>
          <p:cNvPr id="9" name="Imagen 8" descr="Qué es un Firewall de nueva generación (NGFW) y para qué sirve?">
            <a:extLst>
              <a:ext uri="{FF2B5EF4-FFF2-40B4-BE49-F238E27FC236}">
                <a16:creationId xmlns:a16="http://schemas.microsoft.com/office/drawing/2014/main" id="{899E3371-73BA-2680-A0FF-9ED2F31863C7}"/>
              </a:ext>
            </a:extLst>
          </p:cNvPr>
          <p:cNvPicPr>
            <a:picLocks noChangeAspect="1"/>
          </p:cNvPicPr>
          <p:nvPr/>
        </p:nvPicPr>
        <p:blipFill>
          <a:blip r:embed="rId2"/>
          <a:stretch>
            <a:fillRect/>
          </a:stretch>
        </p:blipFill>
        <p:spPr>
          <a:xfrm>
            <a:off x="7450590" y="2507144"/>
            <a:ext cx="4512811" cy="3753444"/>
          </a:xfrm>
          <a:prstGeom prst="rect">
            <a:avLst/>
          </a:prstGeom>
        </p:spPr>
      </p:pic>
      <p:cxnSp>
        <p:nvCxnSpPr>
          <p:cNvPr id="11" name="Conector recto de flecha 10">
            <a:extLst>
              <a:ext uri="{FF2B5EF4-FFF2-40B4-BE49-F238E27FC236}">
                <a16:creationId xmlns:a16="http://schemas.microsoft.com/office/drawing/2014/main" id="{97B34C68-398A-5731-CCDF-EB3D0BB1294B}"/>
              </a:ext>
            </a:extLst>
          </p:cNvPr>
          <p:cNvCxnSpPr/>
          <p:nvPr/>
        </p:nvCxnSpPr>
        <p:spPr>
          <a:xfrm>
            <a:off x="6420255" y="4163438"/>
            <a:ext cx="700391" cy="0"/>
          </a:xfrm>
          <a:prstGeom prst="straightConnector1">
            <a:avLst/>
          </a:prstGeom>
          <a:ln>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13" name="Conector recto de flecha 12">
            <a:extLst>
              <a:ext uri="{FF2B5EF4-FFF2-40B4-BE49-F238E27FC236}">
                <a16:creationId xmlns:a16="http://schemas.microsoft.com/office/drawing/2014/main" id="{6659C733-CC54-A927-638A-205899CC3D49}"/>
              </a:ext>
            </a:extLst>
          </p:cNvPr>
          <p:cNvCxnSpPr>
            <a:cxnSpLocks/>
          </p:cNvCxnSpPr>
          <p:nvPr/>
        </p:nvCxnSpPr>
        <p:spPr>
          <a:xfrm flipH="1">
            <a:off x="6235430" y="4383866"/>
            <a:ext cx="700391" cy="0"/>
          </a:xfrm>
          <a:prstGeom prst="straightConnector1">
            <a:avLst/>
          </a:prstGeom>
          <a:ln>
            <a:solidFill>
              <a:schemeClr val="tx1"/>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363328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lumMod val="75000"/>
              </a:schemeClr>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38E34869-B07C-110C-BE5A-E129AF807127}"/>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11B70D76-2D03-B1A9-BCA8-857037B9B34F}"/>
              </a:ext>
            </a:extLst>
          </p:cNvPr>
          <p:cNvSpPr txBox="1"/>
          <p:nvPr/>
        </p:nvSpPr>
        <p:spPr>
          <a:xfrm>
            <a:off x="1366677" y="556074"/>
            <a:ext cx="9970851" cy="646331"/>
          </a:xfrm>
          <a:prstGeom prst="rect">
            <a:avLst/>
          </a:prstGeom>
          <a:noFill/>
          <a:effectLst>
            <a:outerShdw blurRad="50800" dist="38100" algn="l" rotWithShape="0">
              <a:prstClr val="black">
                <a:alpha val="40000"/>
              </a:prstClr>
            </a:outerShdw>
          </a:effectLst>
        </p:spPr>
        <p:txBody>
          <a:bodyPr wrap="square" rtlCol="0">
            <a:spAutoFit/>
          </a:bodyPr>
          <a:lstStyle/>
          <a:p>
            <a:r>
              <a:rPr lang="es-PE" sz="36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haroni" panose="02010803020104030203" pitchFamily="2" charset="-79"/>
                <a:cs typeface="Aharoni" panose="02010803020104030203" pitchFamily="2" charset="-79"/>
              </a:rPr>
              <a:t>Características y Resultados de la Evaluación</a:t>
            </a:r>
          </a:p>
        </p:txBody>
      </p:sp>
      <p:cxnSp>
        <p:nvCxnSpPr>
          <p:cNvPr id="14" name="Conector: curvado 13">
            <a:extLst>
              <a:ext uri="{FF2B5EF4-FFF2-40B4-BE49-F238E27FC236}">
                <a16:creationId xmlns:a16="http://schemas.microsoft.com/office/drawing/2014/main" id="{29513D86-5F0A-1805-4C21-3516C4FD5A0F}"/>
              </a:ext>
            </a:extLst>
          </p:cNvPr>
          <p:cNvCxnSpPr/>
          <p:nvPr/>
        </p:nvCxnSpPr>
        <p:spPr>
          <a:xfrm rot="16200000" flipH="1">
            <a:off x="-2405444" y="3280653"/>
            <a:ext cx="5564782" cy="296694"/>
          </a:xfrm>
          <a:prstGeom prst="curvedConnector3">
            <a:avLst>
              <a:gd name="adj1" fmla="val 50304"/>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16" name="Conector: curvado 15">
            <a:extLst>
              <a:ext uri="{FF2B5EF4-FFF2-40B4-BE49-F238E27FC236}">
                <a16:creationId xmlns:a16="http://schemas.microsoft.com/office/drawing/2014/main" id="{9DDB9B8B-C1EC-6ADC-1B46-2E4AB9A91E42}"/>
              </a:ext>
            </a:extLst>
          </p:cNvPr>
          <p:cNvCxnSpPr>
            <a:cxnSpLocks/>
          </p:cNvCxnSpPr>
          <p:nvPr/>
        </p:nvCxnSpPr>
        <p:spPr>
          <a:xfrm rot="5400000">
            <a:off x="-2373206" y="3344886"/>
            <a:ext cx="5466260" cy="408501"/>
          </a:xfrm>
          <a:prstGeom prst="curvedConnector3">
            <a:avLst>
              <a:gd name="adj1" fmla="val 50000"/>
            </a:avLst>
          </a:prstGeom>
          <a:ln>
            <a:solidFill>
              <a:schemeClr val="accent1">
                <a:lumMod val="20000"/>
                <a:lumOff val="80000"/>
              </a:schemeClr>
            </a:solidFill>
          </a:ln>
        </p:spPr>
        <p:style>
          <a:lnRef idx="2">
            <a:schemeClr val="dk1"/>
          </a:lnRef>
          <a:fillRef idx="0">
            <a:schemeClr val="dk1"/>
          </a:fillRef>
          <a:effectRef idx="1">
            <a:schemeClr val="dk1"/>
          </a:effectRef>
          <a:fontRef idx="minor">
            <a:schemeClr val="tx1"/>
          </a:fontRef>
        </p:style>
      </p:cxnSp>
      <p:sp>
        <p:nvSpPr>
          <p:cNvPr id="2" name="CuadroTexto 1">
            <a:extLst>
              <a:ext uri="{FF2B5EF4-FFF2-40B4-BE49-F238E27FC236}">
                <a16:creationId xmlns:a16="http://schemas.microsoft.com/office/drawing/2014/main" id="{8806B98E-CDF8-EB45-05B7-F722701344AC}"/>
              </a:ext>
            </a:extLst>
          </p:cNvPr>
          <p:cNvSpPr txBox="1"/>
          <p:nvPr/>
        </p:nvSpPr>
        <p:spPr>
          <a:xfrm>
            <a:off x="637101" y="2298899"/>
            <a:ext cx="6250022" cy="1231106"/>
          </a:xfrm>
          <a:prstGeom prst="rect">
            <a:avLst/>
          </a:prstGeom>
          <a:noFill/>
        </p:spPr>
        <p:txBody>
          <a:bodyPr wrap="square" rtlCol="0">
            <a:spAutoFit/>
          </a:bodyPr>
          <a:lstStyle/>
          <a:p>
            <a:pPr marL="285750" indent="-285750">
              <a:buFont typeface="Wingdings" panose="05000000000000000000" pitchFamily="2" charset="2"/>
              <a:buChar char="v"/>
            </a:pPr>
            <a:r>
              <a:rPr lang="es-PE" sz="1400" b="1" dirty="0">
                <a:latin typeface="Book Antiqua" panose="02040602050305030304" pitchFamily="18" charset="0"/>
              </a:rPr>
              <a:t>Identificación de Aplicaciones:</a:t>
            </a:r>
            <a:r>
              <a:rPr lang="es-PE" sz="1400" dirty="0">
                <a:latin typeface="Book Antiqua" panose="02040602050305030304" pitchFamily="18" charset="0"/>
              </a:rPr>
              <a:t> A diferencia de los modelos básicos, el NGFW permite crear reglas basadas en aplicaciones reales (como redes sociales, </a:t>
            </a:r>
            <a:r>
              <a:rPr lang="es-PE" sz="1400" dirty="0" err="1">
                <a:latin typeface="Book Antiqua" panose="02040602050305030304" pitchFamily="18" charset="0"/>
              </a:rPr>
              <a:t>streaming</a:t>
            </a:r>
            <a:r>
              <a:rPr lang="es-PE" sz="1400" dirty="0">
                <a:latin typeface="Book Antiqua" panose="02040602050305030304" pitchFamily="18" charset="0"/>
              </a:rPr>
              <a:t> o software de oficina), permitiendo un control mucho más granular sobre lo que ocurre en la red.</a:t>
            </a:r>
          </a:p>
          <a:p>
            <a:endParaRPr lang="es-PE" dirty="0"/>
          </a:p>
        </p:txBody>
      </p:sp>
      <p:sp>
        <p:nvSpPr>
          <p:cNvPr id="3" name="CuadroTexto 2">
            <a:extLst>
              <a:ext uri="{FF2B5EF4-FFF2-40B4-BE49-F238E27FC236}">
                <a16:creationId xmlns:a16="http://schemas.microsoft.com/office/drawing/2014/main" id="{206283FF-479E-7660-D028-C47F41EE9B7C}"/>
              </a:ext>
            </a:extLst>
          </p:cNvPr>
          <p:cNvSpPr txBox="1"/>
          <p:nvPr/>
        </p:nvSpPr>
        <p:spPr>
          <a:xfrm>
            <a:off x="1196502" y="1243743"/>
            <a:ext cx="8200417" cy="523220"/>
          </a:xfrm>
          <a:prstGeom prst="rect">
            <a:avLst/>
          </a:prstGeom>
          <a:noFill/>
        </p:spPr>
        <p:txBody>
          <a:bodyPr wrap="square" rtlCol="0">
            <a:spAutoFit/>
          </a:bodyPr>
          <a:lstStyle/>
          <a:p>
            <a:r>
              <a:rPr lang="es-PE" sz="1400" dirty="0">
                <a:latin typeface="Book Antiqua" panose="02040602050305030304" pitchFamily="18" charset="0"/>
              </a:rPr>
              <a:t>- En el estudio realizado en el Hospital Ambato, se comparó el NGFW contra otras tecnologías (como servidores estándar y UTM), destacando los siguientes puntos:</a:t>
            </a:r>
          </a:p>
        </p:txBody>
      </p:sp>
      <p:sp>
        <p:nvSpPr>
          <p:cNvPr id="5" name="CuadroTexto 4">
            <a:extLst>
              <a:ext uri="{FF2B5EF4-FFF2-40B4-BE49-F238E27FC236}">
                <a16:creationId xmlns:a16="http://schemas.microsoft.com/office/drawing/2014/main" id="{FCD1C63E-9757-67BC-18A7-85AFA1D8A4CA}"/>
              </a:ext>
            </a:extLst>
          </p:cNvPr>
          <p:cNvSpPr txBox="1"/>
          <p:nvPr/>
        </p:nvSpPr>
        <p:spPr>
          <a:xfrm>
            <a:off x="525235" y="3861886"/>
            <a:ext cx="5826868" cy="1446550"/>
          </a:xfrm>
          <a:prstGeom prst="rect">
            <a:avLst/>
          </a:prstGeom>
          <a:noFill/>
        </p:spPr>
        <p:txBody>
          <a:bodyPr wrap="square" rtlCol="0">
            <a:spAutoFit/>
          </a:bodyPr>
          <a:lstStyle/>
          <a:p>
            <a:pPr marL="285750" indent="-285750">
              <a:buFont typeface="Wingdings" panose="05000000000000000000" pitchFamily="2" charset="2"/>
              <a:buChar char="v"/>
            </a:pPr>
            <a:r>
              <a:rPr lang="es-PE" sz="1400" b="1" dirty="0">
                <a:latin typeface="Book Antiqua" panose="02040602050305030304" pitchFamily="18" charset="0"/>
              </a:rPr>
              <a:t>Rendimiento y Productividad:</a:t>
            </a:r>
            <a:r>
              <a:rPr lang="es-PE" sz="1400" dirty="0">
                <a:latin typeface="Book Antiqua" panose="02040602050305030304" pitchFamily="18" charset="0"/>
              </a:rPr>
              <a:t> La tesis demuestra que el uso de un NGFW eleva la productividad de la red drásticamente. En las pruebas estadísticas, el NGFW alcanzó un </a:t>
            </a:r>
            <a:r>
              <a:rPr lang="es-PE" sz="1400" b="1" dirty="0">
                <a:latin typeface="Book Antiqua" panose="02040602050305030304" pitchFamily="18" charset="0"/>
              </a:rPr>
              <a:t>77% de eficiencia</a:t>
            </a:r>
            <a:r>
              <a:rPr lang="es-PE" sz="1400" dirty="0">
                <a:latin typeface="Book Antiqua" panose="02040602050305030304" pitchFamily="18" charset="0"/>
              </a:rPr>
              <a:t>, superando al modelo UTM (65%) y dejando muy atrás a los servidores de red convencionales (0% en esa métrica específica).</a:t>
            </a:r>
          </a:p>
          <a:p>
            <a:endParaRPr lang="es-PE" dirty="0"/>
          </a:p>
        </p:txBody>
      </p:sp>
      <p:sp>
        <p:nvSpPr>
          <p:cNvPr id="6" name="CuadroTexto 5">
            <a:extLst>
              <a:ext uri="{FF2B5EF4-FFF2-40B4-BE49-F238E27FC236}">
                <a16:creationId xmlns:a16="http://schemas.microsoft.com/office/drawing/2014/main" id="{29E5CDC3-6B0C-82AE-4367-7075800A0B07}"/>
              </a:ext>
            </a:extLst>
          </p:cNvPr>
          <p:cNvSpPr txBox="1"/>
          <p:nvPr/>
        </p:nvSpPr>
        <p:spPr>
          <a:xfrm>
            <a:off x="7315142" y="2083455"/>
            <a:ext cx="5076278" cy="1661993"/>
          </a:xfrm>
          <a:prstGeom prst="rect">
            <a:avLst/>
          </a:prstGeom>
          <a:noFill/>
        </p:spPr>
        <p:txBody>
          <a:bodyPr wrap="square" rtlCol="0">
            <a:spAutoFit/>
          </a:bodyPr>
          <a:lstStyle/>
          <a:p>
            <a:pPr marL="285750" indent="-285750">
              <a:buFont typeface="Wingdings" panose="05000000000000000000" pitchFamily="2" charset="2"/>
              <a:buChar char="v"/>
            </a:pPr>
            <a:r>
              <a:rPr lang="es-PE" sz="1400" b="1" dirty="0">
                <a:latin typeface="Book Antiqua" panose="02040602050305030304" pitchFamily="18" charset="0"/>
              </a:rPr>
              <a:t>Tiempo de Respuesta y Disponibilidad:</a:t>
            </a:r>
            <a:r>
              <a:rPr lang="es-PE" sz="1400" dirty="0">
                <a:latin typeface="Book Antiqua" panose="02040602050305030304" pitchFamily="18" charset="0"/>
              </a:rPr>
              <a:t> Uno de los hallazgos más importantes es que el NGFW optimiza el tiempo de respuesta en un </a:t>
            </a:r>
            <a:r>
              <a:rPr lang="es-PE" sz="1400" b="1" dirty="0">
                <a:latin typeface="Book Antiqua" panose="02040602050305030304" pitchFamily="18" charset="0"/>
              </a:rPr>
              <a:t>90%</a:t>
            </a:r>
            <a:r>
              <a:rPr lang="es-PE" sz="1400" dirty="0">
                <a:latin typeface="Book Antiqua" panose="02040602050305030304" pitchFamily="18" charset="0"/>
              </a:rPr>
              <a:t>. Además, garantiza una alta disponibilidad de los servicios críticos, algo vital en entornos donde la caída de la red puede afectar la atención de emergencias o consultas médicas.</a:t>
            </a:r>
          </a:p>
          <a:p>
            <a:endParaRPr lang="es-PE" dirty="0"/>
          </a:p>
        </p:txBody>
      </p:sp>
      <p:pic>
        <p:nvPicPr>
          <p:cNvPr id="7" name="Gráfico 6" descr="Internet con relleno sólido">
            <a:extLst>
              <a:ext uri="{FF2B5EF4-FFF2-40B4-BE49-F238E27FC236}">
                <a16:creationId xmlns:a16="http://schemas.microsoft.com/office/drawing/2014/main" id="{2AF3E733-E794-7AB2-F75F-50C020EEB4C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66112" y="3183019"/>
            <a:ext cx="914400" cy="914400"/>
          </a:xfrm>
          <a:prstGeom prst="rect">
            <a:avLst/>
          </a:prstGeom>
        </p:spPr>
      </p:pic>
      <p:sp>
        <p:nvSpPr>
          <p:cNvPr id="8" name="CuadroTexto 7">
            <a:extLst>
              <a:ext uri="{FF2B5EF4-FFF2-40B4-BE49-F238E27FC236}">
                <a16:creationId xmlns:a16="http://schemas.microsoft.com/office/drawing/2014/main" id="{94C90B25-7143-4A6E-9678-03507D016811}"/>
              </a:ext>
            </a:extLst>
          </p:cNvPr>
          <p:cNvSpPr txBox="1"/>
          <p:nvPr/>
        </p:nvSpPr>
        <p:spPr>
          <a:xfrm>
            <a:off x="7543831" y="4890982"/>
            <a:ext cx="4419570" cy="1446550"/>
          </a:xfrm>
          <a:prstGeom prst="rect">
            <a:avLst/>
          </a:prstGeom>
          <a:noFill/>
        </p:spPr>
        <p:txBody>
          <a:bodyPr wrap="square" rtlCol="0">
            <a:spAutoFit/>
          </a:bodyPr>
          <a:lstStyle/>
          <a:p>
            <a:pPr marL="285750" indent="-285750">
              <a:buFont typeface="Wingdings" panose="05000000000000000000" pitchFamily="2" charset="2"/>
              <a:buChar char="v"/>
            </a:pPr>
            <a:r>
              <a:rPr lang="es-PE" sz="1400" b="1" dirty="0">
                <a:latin typeface="Book Antiqua" panose="02040602050305030304" pitchFamily="18" charset="0"/>
              </a:rPr>
              <a:t>Precisión en la Detección:</a:t>
            </a:r>
            <a:r>
              <a:rPr lang="es-PE" sz="1400" dirty="0">
                <a:latin typeface="Book Antiqua" panose="02040602050305030304" pitchFamily="18" charset="0"/>
              </a:rPr>
              <a:t> El documento califica la exactitud del NGFW como "muy buena", ya que integra sistemas de prevención de intrusiones (IPS) que bloquean ataques antes de que lleguen a los servidores internos.</a:t>
            </a:r>
          </a:p>
          <a:p>
            <a:endParaRPr lang="es-PE" dirty="0"/>
          </a:p>
        </p:txBody>
      </p:sp>
      <p:sp>
        <p:nvSpPr>
          <p:cNvPr id="10" name="CuadroTexto 9">
            <a:extLst>
              <a:ext uri="{FF2B5EF4-FFF2-40B4-BE49-F238E27FC236}">
                <a16:creationId xmlns:a16="http://schemas.microsoft.com/office/drawing/2014/main" id="{F87D4DE5-858C-B160-CED5-DCA5B90A00B9}"/>
              </a:ext>
            </a:extLst>
          </p:cNvPr>
          <p:cNvSpPr txBox="1"/>
          <p:nvPr/>
        </p:nvSpPr>
        <p:spPr>
          <a:xfrm>
            <a:off x="1118682" y="5380394"/>
            <a:ext cx="6079787" cy="1661993"/>
          </a:xfrm>
          <a:prstGeom prst="rect">
            <a:avLst/>
          </a:prstGeom>
          <a:noFill/>
        </p:spPr>
        <p:txBody>
          <a:bodyPr wrap="square" rtlCol="0">
            <a:spAutoFit/>
          </a:bodyPr>
          <a:lstStyle/>
          <a:p>
            <a:pPr marL="285750" indent="-285750">
              <a:buFont typeface="Wingdings" panose="05000000000000000000" pitchFamily="2" charset="2"/>
              <a:buChar char="ü"/>
            </a:pPr>
            <a:r>
              <a:rPr lang="es-MX" sz="1400" dirty="0"/>
              <a:t> </a:t>
            </a:r>
            <a:r>
              <a:rPr lang="es-PE" sz="1400" b="1" dirty="0">
                <a:latin typeface="Book Antiqua" panose="02040602050305030304" pitchFamily="18" charset="0"/>
              </a:rPr>
              <a:t>Conclusión del Estudio</a:t>
            </a:r>
            <a:endParaRPr lang="es-PE" sz="1400" dirty="0">
              <a:latin typeface="Book Antiqua" panose="02040602050305030304" pitchFamily="18" charset="0"/>
            </a:endParaRPr>
          </a:p>
          <a:p>
            <a:r>
              <a:rPr lang="es-PE" sz="1400" dirty="0">
                <a:latin typeface="Book Antiqua" panose="02040602050305030304" pitchFamily="18" charset="0"/>
              </a:rPr>
              <a:t>La investigación concluye que el </a:t>
            </a:r>
            <a:r>
              <a:rPr lang="es-PE" sz="1400" b="1" dirty="0">
                <a:latin typeface="Book Antiqua" panose="02040602050305030304" pitchFamily="18" charset="0"/>
              </a:rPr>
              <a:t>Next Generation Firewall ofrece mejores prestaciones</a:t>
            </a:r>
            <a:r>
              <a:rPr lang="es-PE" sz="1400" dirty="0">
                <a:latin typeface="Book Antiqua" panose="02040602050305030304" pitchFamily="18" charset="0"/>
              </a:rPr>
              <a:t> globales en comparación con las tecnologías tradicionales y los UTM. Por esta razón, el autor establece una guía de implementación recomendando el NGFW para escenarios de alta demanda donde la seguridad y el rendimiento no pueden verse comprometidos.</a:t>
            </a:r>
          </a:p>
          <a:p>
            <a:pPr marL="285750" indent="-285750">
              <a:buFont typeface="Wingdings" panose="05000000000000000000" pitchFamily="2" charset="2"/>
              <a:buChar char="ü"/>
            </a:pPr>
            <a:endParaRPr lang="es-PE" dirty="0"/>
          </a:p>
        </p:txBody>
      </p:sp>
      <p:sp>
        <p:nvSpPr>
          <p:cNvPr id="12" name="Estrella: 4 puntas 11">
            <a:extLst>
              <a:ext uri="{FF2B5EF4-FFF2-40B4-BE49-F238E27FC236}">
                <a16:creationId xmlns:a16="http://schemas.microsoft.com/office/drawing/2014/main" id="{9AB12119-5ADB-1088-7FC2-615AF0ED3AC8}"/>
              </a:ext>
            </a:extLst>
          </p:cNvPr>
          <p:cNvSpPr/>
          <p:nvPr/>
        </p:nvSpPr>
        <p:spPr>
          <a:xfrm>
            <a:off x="6589046" y="4521650"/>
            <a:ext cx="518160" cy="369332"/>
          </a:xfrm>
          <a:prstGeom prst="star4">
            <a:avLst>
              <a:gd name="adj" fmla="val 8253"/>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 name="Estrella: 4 puntas 14">
            <a:extLst>
              <a:ext uri="{FF2B5EF4-FFF2-40B4-BE49-F238E27FC236}">
                <a16:creationId xmlns:a16="http://schemas.microsoft.com/office/drawing/2014/main" id="{1EDCB239-E44C-F40A-F963-54A91147F7D3}"/>
              </a:ext>
            </a:extLst>
          </p:cNvPr>
          <p:cNvSpPr/>
          <p:nvPr/>
        </p:nvSpPr>
        <p:spPr>
          <a:xfrm>
            <a:off x="10813444" y="3830280"/>
            <a:ext cx="518160" cy="369332"/>
          </a:xfrm>
          <a:prstGeom prst="star4">
            <a:avLst>
              <a:gd name="adj" fmla="val 8253"/>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17" name="Gráfico 16" descr="Nube con relleno sólido">
            <a:extLst>
              <a:ext uri="{FF2B5EF4-FFF2-40B4-BE49-F238E27FC236}">
                <a16:creationId xmlns:a16="http://schemas.microsoft.com/office/drawing/2014/main" id="{074026F4-D1B2-3837-22A7-6B16C321ED9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3397" y="448510"/>
            <a:ext cx="914400" cy="914400"/>
          </a:xfrm>
          <a:prstGeom prst="rect">
            <a:avLst/>
          </a:prstGeom>
        </p:spPr>
      </p:pic>
    </p:spTree>
    <p:extLst>
      <p:ext uri="{BB962C8B-B14F-4D97-AF65-F5344CB8AC3E}">
        <p14:creationId xmlns:p14="http://schemas.microsoft.com/office/powerpoint/2010/main" val="39829907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lumMod val="75000"/>
              </a:schemeClr>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F70B581E-E8C8-2955-0E0A-19F7BE098D0C}"/>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907A0AB3-105A-3E58-A7BF-62F306213BEE}"/>
              </a:ext>
            </a:extLst>
          </p:cNvPr>
          <p:cNvSpPr txBox="1"/>
          <p:nvPr/>
        </p:nvSpPr>
        <p:spPr>
          <a:xfrm>
            <a:off x="1741250" y="431165"/>
            <a:ext cx="9970851" cy="646331"/>
          </a:xfrm>
          <a:prstGeom prst="rect">
            <a:avLst/>
          </a:prstGeom>
          <a:noFill/>
          <a:effectLst>
            <a:outerShdw blurRad="50800" dist="38100" dir="2700000" algn="tl" rotWithShape="0">
              <a:prstClr val="black">
                <a:alpha val="40000"/>
              </a:prstClr>
            </a:outerShdw>
          </a:effectLst>
        </p:spPr>
        <p:txBody>
          <a:bodyPr wrap="square" rtlCol="0">
            <a:spAutoFit/>
          </a:bodyPr>
          <a:lstStyle/>
          <a:p>
            <a:r>
              <a:rPr lang="es-PE" sz="36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haroni" panose="02010803020104030203" pitchFamily="2" charset="-79"/>
                <a:cs typeface="Aharoni" panose="02010803020104030203" pitchFamily="2" charset="-79"/>
              </a:rPr>
              <a:t>LA SEGURIDAD PERIMETRAL A LA IDENTIDAD</a:t>
            </a:r>
          </a:p>
        </p:txBody>
      </p:sp>
      <p:cxnSp>
        <p:nvCxnSpPr>
          <p:cNvPr id="14" name="Conector: curvado 13">
            <a:extLst>
              <a:ext uri="{FF2B5EF4-FFF2-40B4-BE49-F238E27FC236}">
                <a16:creationId xmlns:a16="http://schemas.microsoft.com/office/drawing/2014/main" id="{BAFF8B9D-B411-33C1-B59C-B8BD35C7C869}"/>
              </a:ext>
            </a:extLst>
          </p:cNvPr>
          <p:cNvCxnSpPr/>
          <p:nvPr/>
        </p:nvCxnSpPr>
        <p:spPr>
          <a:xfrm rot="16200000" flipH="1">
            <a:off x="-2405444" y="3280653"/>
            <a:ext cx="5564782" cy="296694"/>
          </a:xfrm>
          <a:prstGeom prst="curvedConnector3">
            <a:avLst>
              <a:gd name="adj1" fmla="val 50304"/>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16" name="Conector: curvado 15">
            <a:extLst>
              <a:ext uri="{FF2B5EF4-FFF2-40B4-BE49-F238E27FC236}">
                <a16:creationId xmlns:a16="http://schemas.microsoft.com/office/drawing/2014/main" id="{FE7EF017-3192-3D48-78DE-5F651BD817FF}"/>
              </a:ext>
            </a:extLst>
          </p:cNvPr>
          <p:cNvCxnSpPr>
            <a:cxnSpLocks/>
          </p:cNvCxnSpPr>
          <p:nvPr/>
        </p:nvCxnSpPr>
        <p:spPr>
          <a:xfrm rot="5400000">
            <a:off x="-2373206" y="3344886"/>
            <a:ext cx="5466260" cy="408501"/>
          </a:xfrm>
          <a:prstGeom prst="curvedConnector3">
            <a:avLst>
              <a:gd name="adj1" fmla="val 50000"/>
            </a:avLst>
          </a:prstGeom>
          <a:ln>
            <a:solidFill>
              <a:schemeClr val="accent1">
                <a:lumMod val="20000"/>
                <a:lumOff val="80000"/>
              </a:schemeClr>
            </a:solidFill>
          </a:ln>
        </p:spPr>
        <p:style>
          <a:lnRef idx="2">
            <a:schemeClr val="dk1"/>
          </a:lnRef>
          <a:fillRef idx="0">
            <a:schemeClr val="dk1"/>
          </a:fillRef>
          <a:effectRef idx="1">
            <a:schemeClr val="dk1"/>
          </a:effectRef>
          <a:fontRef idx="minor">
            <a:schemeClr val="tx1"/>
          </a:fontRef>
        </p:style>
      </p:cxnSp>
      <p:sp>
        <p:nvSpPr>
          <p:cNvPr id="2" name="CuadroTexto 1">
            <a:extLst>
              <a:ext uri="{FF2B5EF4-FFF2-40B4-BE49-F238E27FC236}">
                <a16:creationId xmlns:a16="http://schemas.microsoft.com/office/drawing/2014/main" id="{470778F8-6710-99DC-15C2-E7BD193E8759}"/>
              </a:ext>
            </a:extLst>
          </p:cNvPr>
          <p:cNvSpPr txBox="1"/>
          <p:nvPr/>
        </p:nvSpPr>
        <p:spPr>
          <a:xfrm>
            <a:off x="637101" y="2298899"/>
            <a:ext cx="5335682" cy="1661993"/>
          </a:xfrm>
          <a:prstGeom prst="rect">
            <a:avLst/>
          </a:prstGeom>
          <a:noFill/>
        </p:spPr>
        <p:txBody>
          <a:bodyPr wrap="square" rtlCol="0">
            <a:spAutoFit/>
          </a:bodyPr>
          <a:lstStyle/>
          <a:p>
            <a:pPr marL="285750" lvl="0" indent="-285750">
              <a:buFont typeface="Wingdings" panose="05000000000000000000" pitchFamily="2" charset="2"/>
              <a:buChar char="Ø"/>
            </a:pPr>
            <a:r>
              <a:rPr lang="es-PE" sz="1400" b="1" dirty="0">
                <a:latin typeface="Book Antiqua" panose="02040602050305030304" pitchFamily="18" charset="0"/>
              </a:rPr>
              <a:t>Verificación Dinámica y Continua:</a:t>
            </a:r>
            <a:r>
              <a:rPr lang="es-PE" sz="1400" dirty="0">
                <a:latin typeface="Book Antiqua" panose="02040602050305030304" pitchFamily="18" charset="0"/>
              </a:rPr>
              <a:t> No basta con autenticarse una vez al inicio de la jornada. El sistema evalúa constantemente el comportamiento del usuario y del dispositivo. Si se detecta un cambio de ubicación repentino o un intento de acceso a datos inusual, el modelo solicita una nueva verificación o bloquea el acceso.</a:t>
            </a:r>
          </a:p>
          <a:p>
            <a:endParaRPr lang="es-PE" dirty="0"/>
          </a:p>
        </p:txBody>
      </p:sp>
      <p:sp>
        <p:nvSpPr>
          <p:cNvPr id="3" name="CuadroTexto 2">
            <a:extLst>
              <a:ext uri="{FF2B5EF4-FFF2-40B4-BE49-F238E27FC236}">
                <a16:creationId xmlns:a16="http://schemas.microsoft.com/office/drawing/2014/main" id="{D0D617A8-ECF4-3F2B-E5A7-57AD2A668D77}"/>
              </a:ext>
            </a:extLst>
          </p:cNvPr>
          <p:cNvSpPr txBox="1"/>
          <p:nvPr/>
        </p:nvSpPr>
        <p:spPr>
          <a:xfrm>
            <a:off x="1089497" y="1100086"/>
            <a:ext cx="10622604" cy="954107"/>
          </a:xfrm>
          <a:prstGeom prst="rect">
            <a:avLst/>
          </a:prstGeom>
          <a:noFill/>
        </p:spPr>
        <p:txBody>
          <a:bodyPr wrap="square" rtlCol="0">
            <a:spAutoFit/>
          </a:bodyPr>
          <a:lstStyle/>
          <a:p>
            <a:r>
              <a:rPr lang="es-PE" sz="1400" dirty="0">
                <a:latin typeface="Book Antiqua" panose="02040602050305030304" pitchFamily="18" charset="0"/>
              </a:rPr>
              <a:t>- </a:t>
            </a:r>
            <a:r>
              <a:rPr lang="es-PE" sz="1400" b="1" dirty="0">
                <a:latin typeface="Book Antiqua" panose="02040602050305030304" pitchFamily="18" charset="0"/>
              </a:rPr>
              <a:t>El Concepto: Lo</a:t>
            </a:r>
            <a:r>
              <a:rPr lang="es-PE" sz="1400" dirty="0">
                <a:latin typeface="Book Antiqua" panose="02040602050305030304" pitchFamily="18" charset="0"/>
              </a:rPr>
              <a:t> que he podido extraer de la investigación es que el modelo tradicional de "castillo y foso" (donde se confía en todo lo que está dentro de la red corporativa) ha quedado obsoleto. Zero Trust propone que la ubicación de la red no sea una variable para determinar la confianza.</a:t>
            </a:r>
          </a:p>
          <a:p>
            <a:r>
              <a:rPr lang="es-PE" sz="1400" dirty="0">
                <a:latin typeface="Book Antiqua" panose="02040602050305030304" pitchFamily="18" charset="0"/>
              </a:rPr>
              <a:t>En mi análisis, los puntos más detallados de esta arquitectura son:</a:t>
            </a:r>
          </a:p>
        </p:txBody>
      </p:sp>
      <p:pic>
        <p:nvPicPr>
          <p:cNvPr id="7" name="Gráfico 6" descr="Internet con relleno sólido">
            <a:extLst>
              <a:ext uri="{FF2B5EF4-FFF2-40B4-BE49-F238E27FC236}">
                <a16:creationId xmlns:a16="http://schemas.microsoft.com/office/drawing/2014/main" id="{F7EFBD58-1F31-B76D-4020-EDEB928BA64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21927" y="6001128"/>
            <a:ext cx="914400" cy="914400"/>
          </a:xfrm>
          <a:prstGeom prst="rect">
            <a:avLst/>
          </a:prstGeom>
        </p:spPr>
      </p:pic>
      <p:sp>
        <p:nvSpPr>
          <p:cNvPr id="12" name="Estrella: 4 puntas 11">
            <a:extLst>
              <a:ext uri="{FF2B5EF4-FFF2-40B4-BE49-F238E27FC236}">
                <a16:creationId xmlns:a16="http://schemas.microsoft.com/office/drawing/2014/main" id="{34A0CA7D-D1D2-33A1-0A24-08B274F4951F}"/>
              </a:ext>
            </a:extLst>
          </p:cNvPr>
          <p:cNvSpPr/>
          <p:nvPr/>
        </p:nvSpPr>
        <p:spPr>
          <a:xfrm>
            <a:off x="228599" y="6380788"/>
            <a:ext cx="518160" cy="369332"/>
          </a:xfrm>
          <a:prstGeom prst="star4">
            <a:avLst>
              <a:gd name="adj" fmla="val 8253"/>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 name="Estrella: 4 puntas 14">
            <a:extLst>
              <a:ext uri="{FF2B5EF4-FFF2-40B4-BE49-F238E27FC236}">
                <a16:creationId xmlns:a16="http://schemas.microsoft.com/office/drawing/2014/main" id="{E75AB4C6-450B-6535-5158-C86718DE1BE7}"/>
              </a:ext>
            </a:extLst>
          </p:cNvPr>
          <p:cNvSpPr/>
          <p:nvPr/>
        </p:nvSpPr>
        <p:spPr>
          <a:xfrm>
            <a:off x="11518167" y="1622548"/>
            <a:ext cx="518160" cy="369332"/>
          </a:xfrm>
          <a:prstGeom prst="star4">
            <a:avLst>
              <a:gd name="adj" fmla="val 8253"/>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9" name="Gráfico 8" descr="Nube con relleno sólido">
            <a:extLst>
              <a:ext uri="{FF2B5EF4-FFF2-40B4-BE49-F238E27FC236}">
                <a16:creationId xmlns:a16="http://schemas.microsoft.com/office/drawing/2014/main" id="{0A86DB2F-0CB6-8E6A-E92B-A22273247B6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76072" y="257385"/>
            <a:ext cx="914400" cy="914400"/>
          </a:xfrm>
          <a:prstGeom prst="rect">
            <a:avLst/>
          </a:prstGeom>
        </p:spPr>
      </p:pic>
      <p:cxnSp>
        <p:nvCxnSpPr>
          <p:cNvPr id="13" name="Conector recto de flecha 12">
            <a:extLst>
              <a:ext uri="{FF2B5EF4-FFF2-40B4-BE49-F238E27FC236}">
                <a16:creationId xmlns:a16="http://schemas.microsoft.com/office/drawing/2014/main" id="{FBC57DA2-5047-C7EA-F64C-27E0EE03EDA3}"/>
              </a:ext>
            </a:extLst>
          </p:cNvPr>
          <p:cNvCxnSpPr/>
          <p:nvPr/>
        </p:nvCxnSpPr>
        <p:spPr>
          <a:xfrm>
            <a:off x="6468894" y="2859932"/>
            <a:ext cx="749029" cy="0"/>
          </a:xfrm>
          <a:prstGeom prst="straightConnector1">
            <a:avLst/>
          </a:prstGeom>
          <a:ln>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17" name="Conector recto de flecha 16">
            <a:extLst>
              <a:ext uri="{FF2B5EF4-FFF2-40B4-BE49-F238E27FC236}">
                <a16:creationId xmlns:a16="http://schemas.microsoft.com/office/drawing/2014/main" id="{EE45EF96-B98F-7426-BE40-654419687466}"/>
              </a:ext>
            </a:extLst>
          </p:cNvPr>
          <p:cNvCxnSpPr>
            <a:cxnSpLocks/>
          </p:cNvCxnSpPr>
          <p:nvPr/>
        </p:nvCxnSpPr>
        <p:spPr>
          <a:xfrm flipH="1">
            <a:off x="6352162" y="3099881"/>
            <a:ext cx="749029" cy="0"/>
          </a:xfrm>
          <a:prstGeom prst="straightConnector1">
            <a:avLst/>
          </a:prstGeom>
          <a:ln>
            <a:solidFill>
              <a:schemeClr val="tx1"/>
            </a:solidFill>
            <a:tailEnd type="triangle"/>
          </a:ln>
        </p:spPr>
        <p:style>
          <a:lnRef idx="2">
            <a:schemeClr val="dk1"/>
          </a:lnRef>
          <a:fillRef idx="0">
            <a:schemeClr val="dk1"/>
          </a:fillRef>
          <a:effectRef idx="1">
            <a:schemeClr val="dk1"/>
          </a:effectRef>
          <a:fontRef idx="minor">
            <a:schemeClr val="tx1"/>
          </a:fontRef>
        </p:style>
      </p:cxnSp>
      <p:pic>
        <p:nvPicPr>
          <p:cNvPr id="20" name="Imagen 19" descr="IP dinámica o estática: Diferencia, pros y contras, cuándo usarlas">
            <a:extLst>
              <a:ext uri="{FF2B5EF4-FFF2-40B4-BE49-F238E27FC236}">
                <a16:creationId xmlns:a16="http://schemas.microsoft.com/office/drawing/2014/main" id="{133906F3-EE07-0E76-F396-F6DFCD923A50}"/>
              </a:ext>
            </a:extLst>
          </p:cNvPr>
          <p:cNvPicPr>
            <a:picLocks noChangeAspect="1"/>
          </p:cNvPicPr>
          <p:nvPr/>
        </p:nvPicPr>
        <p:blipFill>
          <a:blip r:embed="rId6"/>
          <a:stretch>
            <a:fillRect/>
          </a:stretch>
        </p:blipFill>
        <p:spPr>
          <a:xfrm>
            <a:off x="7782609" y="1988661"/>
            <a:ext cx="3171355" cy="2124603"/>
          </a:xfrm>
          <a:prstGeom prst="rect">
            <a:avLst/>
          </a:prstGeom>
        </p:spPr>
      </p:pic>
      <p:sp>
        <p:nvSpPr>
          <p:cNvPr id="21" name="CuadroTexto 20">
            <a:extLst>
              <a:ext uri="{FF2B5EF4-FFF2-40B4-BE49-F238E27FC236}">
                <a16:creationId xmlns:a16="http://schemas.microsoft.com/office/drawing/2014/main" id="{EC979155-E677-4DA9-09DC-CE6A15D3890F}"/>
              </a:ext>
            </a:extLst>
          </p:cNvPr>
          <p:cNvSpPr txBox="1"/>
          <p:nvPr/>
        </p:nvSpPr>
        <p:spPr>
          <a:xfrm>
            <a:off x="906913" y="4591455"/>
            <a:ext cx="4842134" cy="1877437"/>
          </a:xfrm>
          <a:prstGeom prst="rect">
            <a:avLst/>
          </a:prstGeom>
          <a:noFill/>
        </p:spPr>
        <p:txBody>
          <a:bodyPr wrap="square" rtlCol="0">
            <a:spAutoFit/>
          </a:bodyPr>
          <a:lstStyle/>
          <a:p>
            <a:pPr marL="285750" indent="-285750">
              <a:buFont typeface="Wingdings" panose="05000000000000000000" pitchFamily="2" charset="2"/>
              <a:buChar char="Ø"/>
            </a:pPr>
            <a:r>
              <a:rPr lang="es-PE" sz="1400" b="1" dirty="0">
                <a:latin typeface="Book Antiqua" panose="02040602050305030304" pitchFamily="18" charset="0"/>
              </a:rPr>
              <a:t>Micro-segmentación de la Red:</a:t>
            </a:r>
            <a:r>
              <a:rPr lang="es-PE" sz="1400" dirty="0">
                <a:latin typeface="Book Antiqua" panose="02040602050305030304" pitchFamily="18" charset="0"/>
              </a:rPr>
              <a:t> Esta es quizás la parte más técnica y vital. En lugar de tener una red plana donde todos los servidores se ven entre sí, se crean perímetros granulares. Esto significa que, si un atacante compromete una computadora, no podrá saltar a la base de datos o al servidor de finanzas, porque cada segmento requiere su propia autorización.</a:t>
            </a:r>
          </a:p>
          <a:p>
            <a:endParaRPr lang="es-PE" dirty="0"/>
          </a:p>
        </p:txBody>
      </p:sp>
      <p:cxnSp>
        <p:nvCxnSpPr>
          <p:cNvPr id="22" name="Conector recto de flecha 21">
            <a:extLst>
              <a:ext uri="{FF2B5EF4-FFF2-40B4-BE49-F238E27FC236}">
                <a16:creationId xmlns:a16="http://schemas.microsoft.com/office/drawing/2014/main" id="{76D8B2DA-8C4B-0A58-C613-0B1DAF350877}"/>
              </a:ext>
            </a:extLst>
          </p:cNvPr>
          <p:cNvCxnSpPr>
            <a:cxnSpLocks/>
          </p:cNvCxnSpPr>
          <p:nvPr/>
        </p:nvCxnSpPr>
        <p:spPr>
          <a:xfrm flipH="1">
            <a:off x="6352162" y="5494787"/>
            <a:ext cx="749029" cy="0"/>
          </a:xfrm>
          <a:prstGeom prst="straightConnector1">
            <a:avLst/>
          </a:prstGeom>
          <a:ln>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23" name="Conector recto de flecha 22">
            <a:extLst>
              <a:ext uri="{FF2B5EF4-FFF2-40B4-BE49-F238E27FC236}">
                <a16:creationId xmlns:a16="http://schemas.microsoft.com/office/drawing/2014/main" id="{AFD01A63-02EE-6A93-337C-B31962CF4BF0}"/>
              </a:ext>
            </a:extLst>
          </p:cNvPr>
          <p:cNvCxnSpPr/>
          <p:nvPr/>
        </p:nvCxnSpPr>
        <p:spPr>
          <a:xfrm>
            <a:off x="6582383" y="5298332"/>
            <a:ext cx="749029" cy="0"/>
          </a:xfrm>
          <a:prstGeom prst="straightConnector1">
            <a:avLst/>
          </a:prstGeom>
          <a:ln>
            <a:solidFill>
              <a:schemeClr val="tx1"/>
            </a:solidFill>
            <a:tailEnd type="triangle"/>
          </a:ln>
        </p:spPr>
        <p:style>
          <a:lnRef idx="2">
            <a:schemeClr val="dk1"/>
          </a:lnRef>
          <a:fillRef idx="0">
            <a:schemeClr val="dk1"/>
          </a:fillRef>
          <a:effectRef idx="1">
            <a:schemeClr val="dk1"/>
          </a:effectRef>
          <a:fontRef idx="minor">
            <a:schemeClr val="tx1"/>
          </a:fontRef>
        </p:style>
      </p:cxnSp>
      <p:pic>
        <p:nvPicPr>
          <p:cNvPr id="24" name="Imagen 23" descr="Qué es la microsegmentación? - Palo Alto Networks">
            <a:extLst>
              <a:ext uri="{FF2B5EF4-FFF2-40B4-BE49-F238E27FC236}">
                <a16:creationId xmlns:a16="http://schemas.microsoft.com/office/drawing/2014/main" id="{1542E6EC-31C4-1FA0-FA53-D7CA3C35F34D}"/>
              </a:ext>
            </a:extLst>
          </p:cNvPr>
          <p:cNvPicPr>
            <a:picLocks noChangeAspect="1"/>
          </p:cNvPicPr>
          <p:nvPr/>
        </p:nvPicPr>
        <p:blipFill>
          <a:blip r:embed="rId7"/>
          <a:stretch>
            <a:fillRect/>
          </a:stretch>
        </p:blipFill>
        <p:spPr>
          <a:xfrm>
            <a:off x="7704306" y="4702204"/>
            <a:ext cx="2943888" cy="1655937"/>
          </a:xfrm>
          <a:prstGeom prst="rect">
            <a:avLst/>
          </a:prstGeom>
        </p:spPr>
      </p:pic>
    </p:spTree>
    <p:extLst>
      <p:ext uri="{BB962C8B-B14F-4D97-AF65-F5344CB8AC3E}">
        <p14:creationId xmlns:p14="http://schemas.microsoft.com/office/powerpoint/2010/main" val="436507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lumMod val="75000"/>
              </a:schemeClr>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6FCF11BC-55C5-53F8-DCFB-766395B32CA9}"/>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027FDFF6-D327-FFED-B613-8B8FE99AF43A}"/>
              </a:ext>
            </a:extLst>
          </p:cNvPr>
          <p:cNvSpPr txBox="1"/>
          <p:nvPr/>
        </p:nvSpPr>
        <p:spPr>
          <a:xfrm>
            <a:off x="1741250" y="431165"/>
            <a:ext cx="9970851" cy="646331"/>
          </a:xfrm>
          <a:prstGeom prst="rect">
            <a:avLst/>
          </a:prstGeom>
          <a:noFill/>
          <a:effectLst>
            <a:outerShdw blurRad="50800" dist="38100" dir="2700000" algn="tl" rotWithShape="0">
              <a:prstClr val="black">
                <a:alpha val="40000"/>
              </a:prstClr>
            </a:outerShdw>
          </a:effectLst>
        </p:spPr>
        <p:txBody>
          <a:bodyPr wrap="square" rtlCol="0">
            <a:spAutoFit/>
          </a:bodyPr>
          <a:lstStyle/>
          <a:p>
            <a:r>
              <a:rPr lang="es-PE" sz="36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haroni" panose="02010803020104030203" pitchFamily="2" charset="-79"/>
                <a:cs typeface="Aharoni" panose="02010803020104030203" pitchFamily="2" charset="-79"/>
              </a:rPr>
              <a:t>LA SEGURIDAD PERIMETRAL A LA IDENTIDAD</a:t>
            </a:r>
          </a:p>
        </p:txBody>
      </p:sp>
      <p:cxnSp>
        <p:nvCxnSpPr>
          <p:cNvPr id="14" name="Conector: curvado 13">
            <a:extLst>
              <a:ext uri="{FF2B5EF4-FFF2-40B4-BE49-F238E27FC236}">
                <a16:creationId xmlns:a16="http://schemas.microsoft.com/office/drawing/2014/main" id="{6F0F611F-3B91-EBBB-4607-26DD96237C12}"/>
              </a:ext>
            </a:extLst>
          </p:cNvPr>
          <p:cNvCxnSpPr/>
          <p:nvPr/>
        </p:nvCxnSpPr>
        <p:spPr>
          <a:xfrm rot="16200000" flipH="1">
            <a:off x="-2405444" y="3280653"/>
            <a:ext cx="5564782" cy="296694"/>
          </a:xfrm>
          <a:prstGeom prst="curvedConnector3">
            <a:avLst>
              <a:gd name="adj1" fmla="val 50304"/>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16" name="Conector: curvado 15">
            <a:extLst>
              <a:ext uri="{FF2B5EF4-FFF2-40B4-BE49-F238E27FC236}">
                <a16:creationId xmlns:a16="http://schemas.microsoft.com/office/drawing/2014/main" id="{49E9C7C4-FF39-9D16-BE8D-F3AA5CB70A66}"/>
              </a:ext>
            </a:extLst>
          </p:cNvPr>
          <p:cNvCxnSpPr>
            <a:cxnSpLocks/>
          </p:cNvCxnSpPr>
          <p:nvPr/>
        </p:nvCxnSpPr>
        <p:spPr>
          <a:xfrm rot="5400000">
            <a:off x="-2373206" y="3344886"/>
            <a:ext cx="5466260" cy="408501"/>
          </a:xfrm>
          <a:prstGeom prst="curvedConnector3">
            <a:avLst>
              <a:gd name="adj1" fmla="val 50000"/>
            </a:avLst>
          </a:prstGeom>
          <a:ln>
            <a:solidFill>
              <a:schemeClr val="accent1">
                <a:lumMod val="20000"/>
                <a:lumOff val="80000"/>
              </a:schemeClr>
            </a:solidFill>
          </a:ln>
        </p:spPr>
        <p:style>
          <a:lnRef idx="2">
            <a:schemeClr val="dk1"/>
          </a:lnRef>
          <a:fillRef idx="0">
            <a:schemeClr val="dk1"/>
          </a:fillRef>
          <a:effectRef idx="1">
            <a:schemeClr val="dk1"/>
          </a:effectRef>
          <a:fontRef idx="minor">
            <a:schemeClr val="tx1"/>
          </a:fontRef>
        </p:style>
      </p:cxnSp>
      <p:sp>
        <p:nvSpPr>
          <p:cNvPr id="2" name="CuadroTexto 1">
            <a:extLst>
              <a:ext uri="{FF2B5EF4-FFF2-40B4-BE49-F238E27FC236}">
                <a16:creationId xmlns:a16="http://schemas.microsoft.com/office/drawing/2014/main" id="{A008FD58-ECCD-1087-5F64-C323433EA69E}"/>
              </a:ext>
            </a:extLst>
          </p:cNvPr>
          <p:cNvSpPr txBox="1"/>
          <p:nvPr/>
        </p:nvSpPr>
        <p:spPr>
          <a:xfrm>
            <a:off x="637101" y="2298899"/>
            <a:ext cx="5335682" cy="1446550"/>
          </a:xfrm>
          <a:prstGeom prst="rect">
            <a:avLst/>
          </a:prstGeom>
          <a:noFill/>
        </p:spPr>
        <p:txBody>
          <a:bodyPr wrap="square" rtlCol="0">
            <a:spAutoFit/>
          </a:bodyPr>
          <a:lstStyle/>
          <a:p>
            <a:pPr marL="285750" lvl="0" indent="-285750">
              <a:buFont typeface="Wingdings" panose="05000000000000000000" pitchFamily="2" charset="2"/>
              <a:buChar char="Ø"/>
            </a:pPr>
            <a:r>
              <a:rPr lang="es-PE" sz="1400" b="1" dirty="0">
                <a:latin typeface="Book Antiqua" panose="02040602050305030304" pitchFamily="18" charset="0"/>
              </a:rPr>
              <a:t>Gestión de Dispositivos (</a:t>
            </a:r>
            <a:r>
              <a:rPr lang="es-PE" sz="1400" b="1" dirty="0" err="1">
                <a:latin typeface="Book Antiqua" panose="02040602050305030304" pitchFamily="18" charset="0"/>
              </a:rPr>
              <a:t>Device</a:t>
            </a:r>
            <a:r>
              <a:rPr lang="es-PE" sz="1400" b="1" dirty="0">
                <a:latin typeface="Book Antiqua" panose="02040602050305030304" pitchFamily="18" charset="0"/>
              </a:rPr>
              <a:t> </a:t>
            </a:r>
            <a:r>
              <a:rPr lang="es-PE" sz="1400" b="1" dirty="0" err="1">
                <a:latin typeface="Book Antiqua" panose="02040602050305030304" pitchFamily="18" charset="0"/>
              </a:rPr>
              <a:t>Hygiene</a:t>
            </a:r>
            <a:r>
              <a:rPr lang="es-PE" sz="1400" b="1" dirty="0">
                <a:latin typeface="Book Antiqua" panose="02040602050305030304" pitchFamily="18" charset="0"/>
              </a:rPr>
              <a:t>):</a:t>
            </a:r>
            <a:r>
              <a:rPr lang="es-PE" sz="1400" dirty="0">
                <a:latin typeface="Book Antiqua" panose="02040602050305030304" pitchFamily="18" charset="0"/>
              </a:rPr>
              <a:t> El modelo no solo verifica quién eres, sino desde qué equipo te conectas. Si el dispositivo no tiene el antivirus actualizado o el sistema operativo al día, Zero Trust le deniega el acceso, incluso si el usuario es el gerente de la empresa.</a:t>
            </a:r>
          </a:p>
          <a:p>
            <a:endParaRPr lang="es-PE" dirty="0"/>
          </a:p>
        </p:txBody>
      </p:sp>
      <p:pic>
        <p:nvPicPr>
          <p:cNvPr id="7" name="Gráfico 6" descr="Internet con relleno sólido">
            <a:extLst>
              <a:ext uri="{FF2B5EF4-FFF2-40B4-BE49-F238E27FC236}">
                <a16:creationId xmlns:a16="http://schemas.microsoft.com/office/drawing/2014/main" id="{74909039-60AD-451E-06CF-20477ED8D13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86791" y="3621705"/>
            <a:ext cx="914400" cy="914400"/>
          </a:xfrm>
          <a:prstGeom prst="rect">
            <a:avLst/>
          </a:prstGeom>
        </p:spPr>
      </p:pic>
      <p:sp>
        <p:nvSpPr>
          <p:cNvPr id="12" name="Estrella: 4 puntas 11">
            <a:extLst>
              <a:ext uri="{FF2B5EF4-FFF2-40B4-BE49-F238E27FC236}">
                <a16:creationId xmlns:a16="http://schemas.microsoft.com/office/drawing/2014/main" id="{E0E7BC3F-E3E0-0AA9-1357-851CFF0BB259}"/>
              </a:ext>
            </a:extLst>
          </p:cNvPr>
          <p:cNvSpPr/>
          <p:nvPr/>
        </p:nvSpPr>
        <p:spPr>
          <a:xfrm>
            <a:off x="228599" y="6380788"/>
            <a:ext cx="518160" cy="369332"/>
          </a:xfrm>
          <a:prstGeom prst="star4">
            <a:avLst>
              <a:gd name="adj" fmla="val 8253"/>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 name="Estrella: 4 puntas 14">
            <a:extLst>
              <a:ext uri="{FF2B5EF4-FFF2-40B4-BE49-F238E27FC236}">
                <a16:creationId xmlns:a16="http://schemas.microsoft.com/office/drawing/2014/main" id="{72DC9F15-A571-7B03-16B9-9A4AECFC3CAE}"/>
              </a:ext>
            </a:extLst>
          </p:cNvPr>
          <p:cNvSpPr/>
          <p:nvPr/>
        </p:nvSpPr>
        <p:spPr>
          <a:xfrm>
            <a:off x="11518167" y="1622548"/>
            <a:ext cx="518160" cy="369332"/>
          </a:xfrm>
          <a:prstGeom prst="star4">
            <a:avLst>
              <a:gd name="adj" fmla="val 8253"/>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9" name="Gráfico 8" descr="Nube con relleno sólido">
            <a:extLst>
              <a:ext uri="{FF2B5EF4-FFF2-40B4-BE49-F238E27FC236}">
                <a16:creationId xmlns:a16="http://schemas.microsoft.com/office/drawing/2014/main" id="{422475EF-B972-7365-BFBF-B70EDD297A4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76072" y="257385"/>
            <a:ext cx="914400" cy="914400"/>
          </a:xfrm>
          <a:prstGeom prst="rect">
            <a:avLst/>
          </a:prstGeom>
        </p:spPr>
      </p:pic>
      <p:cxnSp>
        <p:nvCxnSpPr>
          <p:cNvPr id="13" name="Conector recto de flecha 12">
            <a:extLst>
              <a:ext uri="{FF2B5EF4-FFF2-40B4-BE49-F238E27FC236}">
                <a16:creationId xmlns:a16="http://schemas.microsoft.com/office/drawing/2014/main" id="{8EBDFBD0-A1D0-B088-1C16-454655E88AC1}"/>
              </a:ext>
            </a:extLst>
          </p:cNvPr>
          <p:cNvCxnSpPr/>
          <p:nvPr/>
        </p:nvCxnSpPr>
        <p:spPr>
          <a:xfrm>
            <a:off x="6468894" y="2859932"/>
            <a:ext cx="749029" cy="0"/>
          </a:xfrm>
          <a:prstGeom prst="straightConnector1">
            <a:avLst/>
          </a:prstGeom>
          <a:ln>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17" name="Conector recto de flecha 16">
            <a:extLst>
              <a:ext uri="{FF2B5EF4-FFF2-40B4-BE49-F238E27FC236}">
                <a16:creationId xmlns:a16="http://schemas.microsoft.com/office/drawing/2014/main" id="{ADA53905-52BF-96A8-B822-386A2BAA5A89}"/>
              </a:ext>
            </a:extLst>
          </p:cNvPr>
          <p:cNvCxnSpPr>
            <a:cxnSpLocks/>
          </p:cNvCxnSpPr>
          <p:nvPr/>
        </p:nvCxnSpPr>
        <p:spPr>
          <a:xfrm flipH="1">
            <a:off x="6352162" y="3099881"/>
            <a:ext cx="749029" cy="0"/>
          </a:xfrm>
          <a:prstGeom prst="straightConnector1">
            <a:avLst/>
          </a:prstGeom>
          <a:ln>
            <a:solidFill>
              <a:schemeClr val="tx1"/>
            </a:solidFill>
            <a:tailEnd type="triangle"/>
          </a:ln>
        </p:spPr>
        <p:style>
          <a:lnRef idx="2">
            <a:schemeClr val="dk1"/>
          </a:lnRef>
          <a:fillRef idx="0">
            <a:schemeClr val="dk1"/>
          </a:fillRef>
          <a:effectRef idx="1">
            <a:schemeClr val="dk1"/>
          </a:effectRef>
          <a:fontRef idx="minor">
            <a:schemeClr val="tx1"/>
          </a:fontRef>
        </p:style>
      </p:cxnSp>
      <p:sp>
        <p:nvSpPr>
          <p:cNvPr id="21" name="CuadroTexto 20">
            <a:extLst>
              <a:ext uri="{FF2B5EF4-FFF2-40B4-BE49-F238E27FC236}">
                <a16:creationId xmlns:a16="http://schemas.microsoft.com/office/drawing/2014/main" id="{E00FC378-949C-E959-2BD4-CFC839B0EBDE}"/>
              </a:ext>
            </a:extLst>
          </p:cNvPr>
          <p:cNvSpPr txBox="1"/>
          <p:nvPr/>
        </p:nvSpPr>
        <p:spPr>
          <a:xfrm>
            <a:off x="906913" y="4591455"/>
            <a:ext cx="4842134" cy="1661993"/>
          </a:xfrm>
          <a:prstGeom prst="rect">
            <a:avLst/>
          </a:prstGeom>
          <a:noFill/>
        </p:spPr>
        <p:txBody>
          <a:bodyPr wrap="square" rtlCol="0">
            <a:spAutoFit/>
          </a:bodyPr>
          <a:lstStyle/>
          <a:p>
            <a:pPr marL="285750" lvl="0" indent="-285750">
              <a:buFont typeface="Wingdings" panose="05000000000000000000" pitchFamily="2" charset="2"/>
              <a:buChar char="Ø"/>
            </a:pPr>
            <a:r>
              <a:rPr lang="es-PE" sz="1400" b="1" dirty="0">
                <a:latin typeface="Book Antiqua" panose="02040602050305030304" pitchFamily="18" charset="0"/>
              </a:rPr>
              <a:t>Visibilidad y Registro Total:</a:t>
            </a:r>
            <a:r>
              <a:rPr lang="es-PE" sz="1400" dirty="0">
                <a:latin typeface="Book Antiqua" panose="02040602050305030304" pitchFamily="18" charset="0"/>
              </a:rPr>
              <a:t> El documento enfatiza que para que esto funcione, se debe capturar y analizar todo el tráfico. Esto permite crear una línea base de lo que es "normal" y detectar ataques internos o exfiltración de datos que antes pasaban desapercibidos bajo la confianza del perímetro.</a:t>
            </a:r>
          </a:p>
          <a:p>
            <a:endParaRPr lang="es-PE" dirty="0"/>
          </a:p>
        </p:txBody>
      </p:sp>
      <p:cxnSp>
        <p:nvCxnSpPr>
          <p:cNvPr id="22" name="Conector recto de flecha 21">
            <a:extLst>
              <a:ext uri="{FF2B5EF4-FFF2-40B4-BE49-F238E27FC236}">
                <a16:creationId xmlns:a16="http://schemas.microsoft.com/office/drawing/2014/main" id="{56116C31-43F2-5E4E-5EF6-FF8A064FEF8E}"/>
              </a:ext>
            </a:extLst>
          </p:cNvPr>
          <p:cNvCxnSpPr>
            <a:cxnSpLocks/>
          </p:cNvCxnSpPr>
          <p:nvPr/>
        </p:nvCxnSpPr>
        <p:spPr>
          <a:xfrm flipH="1">
            <a:off x="6235430" y="5441460"/>
            <a:ext cx="749029" cy="0"/>
          </a:xfrm>
          <a:prstGeom prst="straightConnector1">
            <a:avLst/>
          </a:prstGeom>
          <a:ln>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23" name="Conector recto de flecha 22">
            <a:extLst>
              <a:ext uri="{FF2B5EF4-FFF2-40B4-BE49-F238E27FC236}">
                <a16:creationId xmlns:a16="http://schemas.microsoft.com/office/drawing/2014/main" id="{274E9764-EF5C-AE2A-6B64-1682A3073E83}"/>
              </a:ext>
            </a:extLst>
          </p:cNvPr>
          <p:cNvCxnSpPr/>
          <p:nvPr/>
        </p:nvCxnSpPr>
        <p:spPr>
          <a:xfrm>
            <a:off x="6431604" y="5249694"/>
            <a:ext cx="749029" cy="0"/>
          </a:xfrm>
          <a:prstGeom prst="straightConnector1">
            <a:avLst/>
          </a:prstGeom>
          <a:ln>
            <a:solidFill>
              <a:schemeClr val="tx1"/>
            </a:solidFill>
            <a:tailEnd type="triangle"/>
          </a:ln>
        </p:spPr>
        <p:style>
          <a:lnRef idx="2">
            <a:schemeClr val="dk1"/>
          </a:lnRef>
          <a:fillRef idx="0">
            <a:schemeClr val="dk1"/>
          </a:fillRef>
          <a:effectRef idx="1">
            <a:schemeClr val="dk1"/>
          </a:effectRef>
          <a:fontRef idx="minor">
            <a:schemeClr val="tx1"/>
          </a:fontRef>
        </p:style>
      </p:cxnSp>
      <p:pic>
        <p:nvPicPr>
          <p:cNvPr id="5" name="Imagen 4" descr="Cómo hacer crecer un perfil de redes sociales para aumentar tu visibilidad  y proyección">
            <a:extLst>
              <a:ext uri="{FF2B5EF4-FFF2-40B4-BE49-F238E27FC236}">
                <a16:creationId xmlns:a16="http://schemas.microsoft.com/office/drawing/2014/main" id="{18698DC9-0A2D-F70E-6768-EAEB2558DF7D}"/>
              </a:ext>
            </a:extLst>
          </p:cNvPr>
          <p:cNvPicPr>
            <a:picLocks noChangeAspect="1"/>
          </p:cNvPicPr>
          <p:nvPr/>
        </p:nvPicPr>
        <p:blipFill>
          <a:blip r:embed="rId6"/>
          <a:stretch>
            <a:fillRect/>
          </a:stretch>
        </p:blipFill>
        <p:spPr>
          <a:xfrm>
            <a:off x="7436298" y="4474572"/>
            <a:ext cx="3646749" cy="1933777"/>
          </a:xfrm>
          <a:prstGeom prst="rect">
            <a:avLst/>
          </a:prstGeom>
        </p:spPr>
      </p:pic>
      <p:pic>
        <p:nvPicPr>
          <p:cNvPr id="6" name="Imagen 5" descr="Higiene en la oficina. Cómo limpiar los dispositivos en 2020 - ViewSonic  Library">
            <a:extLst>
              <a:ext uri="{FF2B5EF4-FFF2-40B4-BE49-F238E27FC236}">
                <a16:creationId xmlns:a16="http://schemas.microsoft.com/office/drawing/2014/main" id="{61516F24-5814-2D72-930C-AC8F0B50D25F}"/>
              </a:ext>
            </a:extLst>
          </p:cNvPr>
          <p:cNvPicPr>
            <a:picLocks noChangeAspect="1"/>
          </p:cNvPicPr>
          <p:nvPr/>
        </p:nvPicPr>
        <p:blipFill>
          <a:blip r:embed="rId7"/>
          <a:stretch>
            <a:fillRect/>
          </a:stretch>
        </p:blipFill>
        <p:spPr>
          <a:xfrm>
            <a:off x="7714034" y="1852364"/>
            <a:ext cx="3501388" cy="2015136"/>
          </a:xfrm>
          <a:prstGeom prst="rect">
            <a:avLst/>
          </a:prstGeom>
        </p:spPr>
      </p:pic>
      <p:sp>
        <p:nvSpPr>
          <p:cNvPr id="8" name="Estrella: 4 puntas 7">
            <a:extLst>
              <a:ext uri="{FF2B5EF4-FFF2-40B4-BE49-F238E27FC236}">
                <a16:creationId xmlns:a16="http://schemas.microsoft.com/office/drawing/2014/main" id="{64655BD6-6BCB-4A1C-F087-36A314A1FD4E}"/>
              </a:ext>
            </a:extLst>
          </p:cNvPr>
          <p:cNvSpPr/>
          <p:nvPr/>
        </p:nvSpPr>
        <p:spPr>
          <a:xfrm>
            <a:off x="6609944" y="2207357"/>
            <a:ext cx="518160" cy="369332"/>
          </a:xfrm>
          <a:prstGeom prst="star4">
            <a:avLst>
              <a:gd name="adj" fmla="val 8253"/>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4174917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lumMod val="75000"/>
              </a:schemeClr>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E609BA28-1217-143F-0166-E70CEFC6A03D}"/>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FA282137-AAF0-68A6-F8EC-576A966A3744}"/>
              </a:ext>
            </a:extLst>
          </p:cNvPr>
          <p:cNvSpPr txBox="1"/>
          <p:nvPr/>
        </p:nvSpPr>
        <p:spPr>
          <a:xfrm>
            <a:off x="1741250" y="431165"/>
            <a:ext cx="9970851" cy="646331"/>
          </a:xfrm>
          <a:prstGeom prst="rect">
            <a:avLst/>
          </a:prstGeom>
          <a:noFill/>
          <a:effectLst>
            <a:outerShdw blurRad="50800" dist="38100" dir="2700000" algn="tl" rotWithShape="0">
              <a:prstClr val="black">
                <a:alpha val="40000"/>
              </a:prstClr>
            </a:outerShdw>
          </a:effectLst>
        </p:spPr>
        <p:txBody>
          <a:bodyPr wrap="square" rtlCol="0">
            <a:spAutoFit/>
          </a:bodyPr>
          <a:lstStyle/>
          <a:p>
            <a:r>
              <a:rPr lang="es-PE" sz="36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haroni" panose="02010803020104030203" pitchFamily="2" charset="-79"/>
                <a:cs typeface="Aharoni" panose="02010803020104030203" pitchFamily="2" charset="-79"/>
              </a:rPr>
              <a:t>LA SEGURIDAD PERIMETRAL A LA IDENTIDAD</a:t>
            </a:r>
          </a:p>
        </p:txBody>
      </p:sp>
      <p:cxnSp>
        <p:nvCxnSpPr>
          <p:cNvPr id="14" name="Conector: curvado 13">
            <a:extLst>
              <a:ext uri="{FF2B5EF4-FFF2-40B4-BE49-F238E27FC236}">
                <a16:creationId xmlns:a16="http://schemas.microsoft.com/office/drawing/2014/main" id="{F70F4363-BD4D-3C57-D4EB-10A36AE5F4FD}"/>
              </a:ext>
            </a:extLst>
          </p:cNvPr>
          <p:cNvCxnSpPr/>
          <p:nvPr/>
        </p:nvCxnSpPr>
        <p:spPr>
          <a:xfrm rot="16200000" flipH="1">
            <a:off x="-2405444" y="3280653"/>
            <a:ext cx="5564782" cy="296694"/>
          </a:xfrm>
          <a:prstGeom prst="curvedConnector3">
            <a:avLst>
              <a:gd name="adj1" fmla="val 50304"/>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16" name="Conector: curvado 15">
            <a:extLst>
              <a:ext uri="{FF2B5EF4-FFF2-40B4-BE49-F238E27FC236}">
                <a16:creationId xmlns:a16="http://schemas.microsoft.com/office/drawing/2014/main" id="{DAD69874-FB3C-89F3-754C-7F22F29D7126}"/>
              </a:ext>
            </a:extLst>
          </p:cNvPr>
          <p:cNvCxnSpPr>
            <a:cxnSpLocks/>
          </p:cNvCxnSpPr>
          <p:nvPr/>
        </p:nvCxnSpPr>
        <p:spPr>
          <a:xfrm rot="5400000">
            <a:off x="-2373206" y="3344886"/>
            <a:ext cx="5466260" cy="408501"/>
          </a:xfrm>
          <a:prstGeom prst="curvedConnector3">
            <a:avLst>
              <a:gd name="adj1" fmla="val 50000"/>
            </a:avLst>
          </a:prstGeom>
          <a:ln>
            <a:solidFill>
              <a:schemeClr val="accent1">
                <a:lumMod val="20000"/>
                <a:lumOff val="80000"/>
              </a:schemeClr>
            </a:solidFill>
          </a:ln>
        </p:spPr>
        <p:style>
          <a:lnRef idx="2">
            <a:schemeClr val="dk1"/>
          </a:lnRef>
          <a:fillRef idx="0">
            <a:schemeClr val="dk1"/>
          </a:fillRef>
          <a:effectRef idx="1">
            <a:schemeClr val="dk1"/>
          </a:effectRef>
          <a:fontRef idx="minor">
            <a:schemeClr val="tx1"/>
          </a:fontRef>
        </p:style>
      </p:cxnSp>
      <p:sp>
        <p:nvSpPr>
          <p:cNvPr id="2" name="CuadroTexto 1">
            <a:extLst>
              <a:ext uri="{FF2B5EF4-FFF2-40B4-BE49-F238E27FC236}">
                <a16:creationId xmlns:a16="http://schemas.microsoft.com/office/drawing/2014/main" id="{8483953C-9C2B-AABA-5E5F-96625C803C3D}"/>
              </a:ext>
            </a:extLst>
          </p:cNvPr>
          <p:cNvSpPr txBox="1"/>
          <p:nvPr/>
        </p:nvSpPr>
        <p:spPr>
          <a:xfrm>
            <a:off x="637101" y="2298899"/>
            <a:ext cx="5335682" cy="800219"/>
          </a:xfrm>
          <a:prstGeom prst="rect">
            <a:avLst/>
          </a:prstGeom>
          <a:noFill/>
        </p:spPr>
        <p:txBody>
          <a:bodyPr wrap="square" rtlCol="0">
            <a:spAutoFit/>
          </a:bodyPr>
          <a:lstStyle/>
          <a:p>
            <a:pPr lvl="0"/>
            <a:r>
              <a:rPr lang="es-PE" sz="1400" b="1" dirty="0">
                <a:latin typeface="Book Antiqua" panose="02040602050305030304" pitchFamily="18" charset="0"/>
              </a:rPr>
              <a:t>1. Reducción de la superficie de ataque:</a:t>
            </a:r>
            <a:r>
              <a:rPr lang="es-PE" sz="1400" dirty="0">
                <a:latin typeface="Book Antiqua" panose="02040602050305030304" pitchFamily="18" charset="0"/>
              </a:rPr>
              <a:t> Al ocultar los recursos de la red pública y exigir verificación previa.</a:t>
            </a:r>
          </a:p>
          <a:p>
            <a:endParaRPr lang="es-PE" dirty="0"/>
          </a:p>
        </p:txBody>
      </p:sp>
      <p:pic>
        <p:nvPicPr>
          <p:cNvPr id="7" name="Gráfico 6" descr="Internet con relleno sólido">
            <a:extLst>
              <a:ext uri="{FF2B5EF4-FFF2-40B4-BE49-F238E27FC236}">
                <a16:creationId xmlns:a16="http://schemas.microsoft.com/office/drawing/2014/main" id="{5CB2EBF9-A623-569D-9772-A31E0F25688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86791" y="3621705"/>
            <a:ext cx="914400" cy="914400"/>
          </a:xfrm>
          <a:prstGeom prst="rect">
            <a:avLst/>
          </a:prstGeom>
        </p:spPr>
      </p:pic>
      <p:sp>
        <p:nvSpPr>
          <p:cNvPr id="12" name="Estrella: 4 puntas 11">
            <a:extLst>
              <a:ext uri="{FF2B5EF4-FFF2-40B4-BE49-F238E27FC236}">
                <a16:creationId xmlns:a16="http://schemas.microsoft.com/office/drawing/2014/main" id="{BFEC996F-A6E7-8FF2-1B3D-75CD1A4AB299}"/>
              </a:ext>
            </a:extLst>
          </p:cNvPr>
          <p:cNvSpPr/>
          <p:nvPr/>
        </p:nvSpPr>
        <p:spPr>
          <a:xfrm>
            <a:off x="228599" y="6380788"/>
            <a:ext cx="518160" cy="369332"/>
          </a:xfrm>
          <a:prstGeom prst="star4">
            <a:avLst>
              <a:gd name="adj" fmla="val 8253"/>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 name="Estrella: 4 puntas 14">
            <a:extLst>
              <a:ext uri="{FF2B5EF4-FFF2-40B4-BE49-F238E27FC236}">
                <a16:creationId xmlns:a16="http://schemas.microsoft.com/office/drawing/2014/main" id="{84D4C08D-3C97-C470-62FE-0D75CBF2E102}"/>
              </a:ext>
            </a:extLst>
          </p:cNvPr>
          <p:cNvSpPr/>
          <p:nvPr/>
        </p:nvSpPr>
        <p:spPr>
          <a:xfrm>
            <a:off x="11518167" y="1622548"/>
            <a:ext cx="518160" cy="369332"/>
          </a:xfrm>
          <a:prstGeom prst="star4">
            <a:avLst>
              <a:gd name="adj" fmla="val 8253"/>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9" name="Gráfico 8" descr="Nube con relleno sólido">
            <a:extLst>
              <a:ext uri="{FF2B5EF4-FFF2-40B4-BE49-F238E27FC236}">
                <a16:creationId xmlns:a16="http://schemas.microsoft.com/office/drawing/2014/main" id="{7C94AEE5-21B9-10CB-F9A9-458CE7B9CCD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76072" y="257385"/>
            <a:ext cx="914400" cy="914400"/>
          </a:xfrm>
          <a:prstGeom prst="rect">
            <a:avLst/>
          </a:prstGeom>
        </p:spPr>
      </p:pic>
      <p:cxnSp>
        <p:nvCxnSpPr>
          <p:cNvPr id="13" name="Conector recto de flecha 12">
            <a:extLst>
              <a:ext uri="{FF2B5EF4-FFF2-40B4-BE49-F238E27FC236}">
                <a16:creationId xmlns:a16="http://schemas.microsoft.com/office/drawing/2014/main" id="{410E7547-6DAB-0C27-EE37-08B209C47816}"/>
              </a:ext>
            </a:extLst>
          </p:cNvPr>
          <p:cNvCxnSpPr/>
          <p:nvPr/>
        </p:nvCxnSpPr>
        <p:spPr>
          <a:xfrm>
            <a:off x="6468894" y="2859932"/>
            <a:ext cx="749029" cy="0"/>
          </a:xfrm>
          <a:prstGeom prst="straightConnector1">
            <a:avLst/>
          </a:prstGeom>
          <a:ln>
            <a:solidFill>
              <a:schemeClr val="tx1"/>
            </a:solidFill>
            <a:tailEnd type="triangle"/>
          </a:ln>
        </p:spPr>
        <p:style>
          <a:lnRef idx="2">
            <a:schemeClr val="dk1"/>
          </a:lnRef>
          <a:fillRef idx="0">
            <a:schemeClr val="dk1"/>
          </a:fillRef>
          <a:effectRef idx="1">
            <a:schemeClr val="dk1"/>
          </a:effectRef>
          <a:fontRef idx="minor">
            <a:schemeClr val="tx1"/>
          </a:fontRef>
        </p:style>
      </p:cxnSp>
      <p:sp>
        <p:nvSpPr>
          <p:cNvPr id="21" name="CuadroTexto 20">
            <a:extLst>
              <a:ext uri="{FF2B5EF4-FFF2-40B4-BE49-F238E27FC236}">
                <a16:creationId xmlns:a16="http://schemas.microsoft.com/office/drawing/2014/main" id="{70DAF050-7740-FF72-2989-3F7BD8EA36AA}"/>
              </a:ext>
            </a:extLst>
          </p:cNvPr>
          <p:cNvSpPr txBox="1"/>
          <p:nvPr/>
        </p:nvSpPr>
        <p:spPr>
          <a:xfrm>
            <a:off x="7349866" y="3099118"/>
            <a:ext cx="4842134" cy="800219"/>
          </a:xfrm>
          <a:prstGeom prst="rect">
            <a:avLst/>
          </a:prstGeom>
          <a:noFill/>
        </p:spPr>
        <p:txBody>
          <a:bodyPr wrap="square" rtlCol="0">
            <a:spAutoFit/>
          </a:bodyPr>
          <a:lstStyle/>
          <a:p>
            <a:pPr lvl="0"/>
            <a:r>
              <a:rPr lang="es-PE" sz="1400" b="1" dirty="0">
                <a:latin typeface="Book Antiqua" panose="02040602050305030304" pitchFamily="18" charset="0"/>
              </a:rPr>
              <a:t>2. Protección contra amenazas internas:</a:t>
            </a:r>
            <a:r>
              <a:rPr lang="es-PE" sz="1400" dirty="0">
                <a:latin typeface="Book Antiqua" panose="02040602050305030304" pitchFamily="18" charset="0"/>
              </a:rPr>
              <a:t> Mitiga el riesgo de empleados descontentos o credenciales robadas.</a:t>
            </a:r>
          </a:p>
          <a:p>
            <a:endParaRPr lang="es-PE" dirty="0"/>
          </a:p>
        </p:txBody>
      </p:sp>
      <p:sp>
        <p:nvSpPr>
          <p:cNvPr id="8" name="Estrella: 4 puntas 7">
            <a:extLst>
              <a:ext uri="{FF2B5EF4-FFF2-40B4-BE49-F238E27FC236}">
                <a16:creationId xmlns:a16="http://schemas.microsoft.com/office/drawing/2014/main" id="{8BE7680A-2A21-D1D4-AF4A-6068F7099365}"/>
              </a:ext>
            </a:extLst>
          </p:cNvPr>
          <p:cNvSpPr/>
          <p:nvPr/>
        </p:nvSpPr>
        <p:spPr>
          <a:xfrm>
            <a:off x="6609944" y="2207357"/>
            <a:ext cx="518160" cy="369332"/>
          </a:xfrm>
          <a:prstGeom prst="star4">
            <a:avLst>
              <a:gd name="adj" fmla="val 8253"/>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 name="CuadroTexto 2">
            <a:extLst>
              <a:ext uri="{FF2B5EF4-FFF2-40B4-BE49-F238E27FC236}">
                <a16:creationId xmlns:a16="http://schemas.microsoft.com/office/drawing/2014/main" id="{4FA8A912-2926-535F-BDAC-E355E0E885E7}"/>
              </a:ext>
            </a:extLst>
          </p:cNvPr>
          <p:cNvSpPr txBox="1"/>
          <p:nvPr/>
        </p:nvSpPr>
        <p:spPr>
          <a:xfrm>
            <a:off x="2626468" y="5120740"/>
            <a:ext cx="4591455" cy="1015663"/>
          </a:xfrm>
          <a:prstGeom prst="rect">
            <a:avLst/>
          </a:prstGeom>
          <a:noFill/>
        </p:spPr>
        <p:txBody>
          <a:bodyPr wrap="square" rtlCol="0">
            <a:spAutoFit/>
          </a:bodyPr>
          <a:lstStyle/>
          <a:p>
            <a:r>
              <a:rPr lang="es-PE" sz="1400" b="1" dirty="0">
                <a:latin typeface="Book Antiqua" panose="02040602050305030304" pitchFamily="18" charset="0"/>
              </a:rPr>
              <a:t>3. Facilita el teletrabajo seguro:</a:t>
            </a:r>
            <a:r>
              <a:rPr lang="es-PE" sz="1400" dirty="0">
                <a:latin typeface="Book Antiqua" panose="02040602050305030304" pitchFamily="18" charset="0"/>
              </a:rPr>
              <a:t> Permite que las personas accedan desde cualquier lugar sin necesidad de una VPN tradicional que suele dar acceso excesivo.</a:t>
            </a:r>
          </a:p>
          <a:p>
            <a:endParaRPr lang="es-PE" dirty="0"/>
          </a:p>
        </p:txBody>
      </p:sp>
      <p:cxnSp>
        <p:nvCxnSpPr>
          <p:cNvPr id="18" name="Conector: curvado 17">
            <a:extLst>
              <a:ext uri="{FF2B5EF4-FFF2-40B4-BE49-F238E27FC236}">
                <a16:creationId xmlns:a16="http://schemas.microsoft.com/office/drawing/2014/main" id="{15F3973C-6397-BBE0-3CBC-660F3C8EB8B6}"/>
              </a:ext>
            </a:extLst>
          </p:cNvPr>
          <p:cNvCxnSpPr>
            <a:cxnSpLocks/>
            <a:stCxn id="21" idx="2"/>
          </p:cNvCxnSpPr>
          <p:nvPr/>
        </p:nvCxnSpPr>
        <p:spPr>
          <a:xfrm rot="5400000">
            <a:off x="8284557" y="3863837"/>
            <a:ext cx="1450876" cy="1521876"/>
          </a:xfrm>
          <a:prstGeom prst="curvedConnector2">
            <a:avLst/>
          </a:prstGeom>
          <a:ln>
            <a:solidFill>
              <a:schemeClr val="tx1"/>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498399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lumMod val="75000"/>
              </a:schemeClr>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C47F35CF-339F-7F93-098D-22209B86D71A}"/>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DDB67A45-88C2-93F2-B9FC-75C5FF6E62B5}"/>
              </a:ext>
            </a:extLst>
          </p:cNvPr>
          <p:cNvSpPr txBox="1"/>
          <p:nvPr/>
        </p:nvSpPr>
        <p:spPr>
          <a:xfrm>
            <a:off x="919884" y="252942"/>
            <a:ext cx="11248416" cy="646331"/>
          </a:xfrm>
          <a:prstGeom prst="rect">
            <a:avLst/>
          </a:prstGeom>
          <a:noFill/>
          <a:effectLst>
            <a:outerShdw blurRad="50800" dist="38100" dir="2700000" algn="tl" rotWithShape="0">
              <a:prstClr val="black">
                <a:alpha val="40000"/>
              </a:prstClr>
            </a:outerShdw>
          </a:effectLst>
        </p:spPr>
        <p:txBody>
          <a:bodyPr wrap="square" rtlCol="0">
            <a:spAutoFit/>
          </a:bodyPr>
          <a:lstStyle/>
          <a:p>
            <a:r>
              <a:rPr lang="es-MX" sz="36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haroni" panose="02010803020104030203" pitchFamily="2" charset="-79"/>
                <a:cs typeface="Aharoni" panose="02010803020104030203" pitchFamily="2" charset="-79"/>
              </a:rPr>
              <a:t>CPN: TIPOS, USOS Y COMPARACIONES (SSL/IPSEC</a:t>
            </a:r>
            <a:r>
              <a:rPr lang="es-MX" sz="36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a:t>
            </a:r>
            <a:endParaRPr lang="es-PE" sz="36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cxnSp>
        <p:nvCxnSpPr>
          <p:cNvPr id="14" name="Conector: curvado 13">
            <a:extLst>
              <a:ext uri="{FF2B5EF4-FFF2-40B4-BE49-F238E27FC236}">
                <a16:creationId xmlns:a16="http://schemas.microsoft.com/office/drawing/2014/main" id="{0606AC70-2D74-8D6B-D8EE-0962C3B3B146}"/>
              </a:ext>
            </a:extLst>
          </p:cNvPr>
          <p:cNvCxnSpPr/>
          <p:nvPr/>
        </p:nvCxnSpPr>
        <p:spPr>
          <a:xfrm rot="16200000" flipH="1">
            <a:off x="-2405444" y="3280653"/>
            <a:ext cx="5564782" cy="296694"/>
          </a:xfrm>
          <a:prstGeom prst="curvedConnector3">
            <a:avLst>
              <a:gd name="adj1" fmla="val 50304"/>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16" name="Conector: curvado 15">
            <a:extLst>
              <a:ext uri="{FF2B5EF4-FFF2-40B4-BE49-F238E27FC236}">
                <a16:creationId xmlns:a16="http://schemas.microsoft.com/office/drawing/2014/main" id="{A382C1D4-B8D8-BE05-1620-26624BADE25B}"/>
              </a:ext>
            </a:extLst>
          </p:cNvPr>
          <p:cNvCxnSpPr>
            <a:cxnSpLocks/>
          </p:cNvCxnSpPr>
          <p:nvPr/>
        </p:nvCxnSpPr>
        <p:spPr>
          <a:xfrm rot="5400000">
            <a:off x="-2373206" y="3344886"/>
            <a:ext cx="5466260" cy="408501"/>
          </a:xfrm>
          <a:prstGeom prst="curvedConnector3">
            <a:avLst>
              <a:gd name="adj1" fmla="val 50000"/>
            </a:avLst>
          </a:prstGeom>
          <a:ln>
            <a:solidFill>
              <a:schemeClr val="accent1">
                <a:lumMod val="20000"/>
                <a:lumOff val="80000"/>
              </a:schemeClr>
            </a:solidFill>
          </a:ln>
        </p:spPr>
        <p:style>
          <a:lnRef idx="2">
            <a:schemeClr val="dk1"/>
          </a:lnRef>
          <a:fillRef idx="0">
            <a:schemeClr val="dk1"/>
          </a:fillRef>
          <a:effectRef idx="1">
            <a:schemeClr val="dk1"/>
          </a:effectRef>
          <a:fontRef idx="minor">
            <a:schemeClr val="tx1"/>
          </a:fontRef>
        </p:style>
      </p:cxnSp>
      <p:sp>
        <p:nvSpPr>
          <p:cNvPr id="2" name="CuadroTexto 1">
            <a:extLst>
              <a:ext uri="{FF2B5EF4-FFF2-40B4-BE49-F238E27FC236}">
                <a16:creationId xmlns:a16="http://schemas.microsoft.com/office/drawing/2014/main" id="{87F52D44-E1B0-DFDF-EE0A-0A339EAC761B}"/>
              </a:ext>
            </a:extLst>
          </p:cNvPr>
          <p:cNvSpPr txBox="1"/>
          <p:nvPr/>
        </p:nvSpPr>
        <p:spPr>
          <a:xfrm>
            <a:off x="1142999" y="990164"/>
            <a:ext cx="6371988" cy="1107996"/>
          </a:xfrm>
          <a:prstGeom prst="rect">
            <a:avLst/>
          </a:prstGeom>
          <a:noFill/>
        </p:spPr>
        <p:txBody>
          <a:bodyPr wrap="square" rtlCol="0">
            <a:spAutoFit/>
          </a:bodyPr>
          <a:lstStyle/>
          <a:p>
            <a:r>
              <a:rPr lang="es-MX" sz="1600" b="1" dirty="0">
                <a:latin typeface="Book Antiqua" panose="02040602050305030304" pitchFamily="18" charset="0"/>
              </a:rPr>
              <a:t>1.- ¿Qué es CPN?</a:t>
            </a:r>
            <a:endParaRPr lang="es-PE" sz="1600" dirty="0">
              <a:latin typeface="Book Antiqua" panose="02040602050305030304" pitchFamily="18" charset="0"/>
            </a:endParaRPr>
          </a:p>
          <a:p>
            <a:r>
              <a:rPr lang="es-PE" sz="1600" dirty="0">
                <a:latin typeface="Book Antiqua" panose="02040602050305030304" pitchFamily="18" charset="0"/>
              </a:rPr>
              <a:t>Marca el límite entre la infraestructura del proveedor de servicios (ISP) y la red privada de una organización o vivienda</a:t>
            </a:r>
            <a:r>
              <a:rPr lang="es-PE" sz="1400" dirty="0">
                <a:latin typeface="Book Antiqua" panose="02040602050305030304" pitchFamily="18" charset="0"/>
              </a:rPr>
              <a:t>.</a:t>
            </a:r>
          </a:p>
          <a:p>
            <a:endParaRPr lang="es-PE" dirty="0"/>
          </a:p>
        </p:txBody>
      </p:sp>
      <p:pic>
        <p:nvPicPr>
          <p:cNvPr id="7" name="Gráfico 6" descr="Internet con relleno sólido">
            <a:extLst>
              <a:ext uri="{FF2B5EF4-FFF2-40B4-BE49-F238E27FC236}">
                <a16:creationId xmlns:a16="http://schemas.microsoft.com/office/drawing/2014/main" id="{8149CD11-8095-498D-0A4B-53B1278B51F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8775" y="4281312"/>
            <a:ext cx="914400" cy="914400"/>
          </a:xfrm>
          <a:prstGeom prst="rect">
            <a:avLst/>
          </a:prstGeom>
        </p:spPr>
      </p:pic>
      <p:sp>
        <p:nvSpPr>
          <p:cNvPr id="12" name="Estrella: 4 puntas 11">
            <a:extLst>
              <a:ext uri="{FF2B5EF4-FFF2-40B4-BE49-F238E27FC236}">
                <a16:creationId xmlns:a16="http://schemas.microsoft.com/office/drawing/2014/main" id="{F72F2555-1DA0-AC62-A4E9-058251C471EE}"/>
              </a:ext>
            </a:extLst>
          </p:cNvPr>
          <p:cNvSpPr/>
          <p:nvPr/>
        </p:nvSpPr>
        <p:spPr>
          <a:xfrm>
            <a:off x="149480" y="6301006"/>
            <a:ext cx="518160" cy="369332"/>
          </a:xfrm>
          <a:prstGeom prst="star4">
            <a:avLst>
              <a:gd name="adj" fmla="val 8253"/>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 name="Estrella: 4 puntas 14">
            <a:extLst>
              <a:ext uri="{FF2B5EF4-FFF2-40B4-BE49-F238E27FC236}">
                <a16:creationId xmlns:a16="http://schemas.microsoft.com/office/drawing/2014/main" id="{7B879256-D9EA-100F-C43B-DD3988C12431}"/>
              </a:ext>
            </a:extLst>
          </p:cNvPr>
          <p:cNvSpPr/>
          <p:nvPr/>
        </p:nvSpPr>
        <p:spPr>
          <a:xfrm>
            <a:off x="11650140" y="1063845"/>
            <a:ext cx="518160" cy="369332"/>
          </a:xfrm>
          <a:prstGeom prst="star4">
            <a:avLst>
              <a:gd name="adj" fmla="val 8253"/>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9" name="Gráfico 8" descr="Nube con relleno sólido">
            <a:extLst>
              <a:ext uri="{FF2B5EF4-FFF2-40B4-BE49-F238E27FC236}">
                <a16:creationId xmlns:a16="http://schemas.microsoft.com/office/drawing/2014/main" id="{B37DEDB6-FCE2-CB55-A33C-DCA476CE36A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975" y="309546"/>
            <a:ext cx="914400" cy="914400"/>
          </a:xfrm>
          <a:prstGeom prst="rect">
            <a:avLst/>
          </a:prstGeom>
        </p:spPr>
      </p:pic>
      <p:sp>
        <p:nvSpPr>
          <p:cNvPr id="21" name="CuadroTexto 20">
            <a:extLst>
              <a:ext uri="{FF2B5EF4-FFF2-40B4-BE49-F238E27FC236}">
                <a16:creationId xmlns:a16="http://schemas.microsoft.com/office/drawing/2014/main" id="{B88F03CE-0019-DBDE-0BAB-6FDFE126C1EA}"/>
              </a:ext>
            </a:extLst>
          </p:cNvPr>
          <p:cNvSpPr txBox="1"/>
          <p:nvPr/>
        </p:nvSpPr>
        <p:spPr>
          <a:xfrm>
            <a:off x="7608976" y="1385817"/>
            <a:ext cx="4559324" cy="2787350"/>
          </a:xfrm>
          <a:prstGeom prst="rect">
            <a:avLst/>
          </a:prstGeom>
          <a:solidFill>
            <a:schemeClr val="bg1">
              <a:alpha val="43000"/>
            </a:schemeClr>
          </a:solidFill>
        </p:spPr>
        <p:txBody>
          <a:bodyPr wrap="square" rtlCol="0">
            <a:spAutoFit/>
          </a:bodyPr>
          <a:lstStyle/>
          <a:p>
            <a:r>
              <a:rPr lang="es-PE" sz="1200" b="1" dirty="0">
                <a:latin typeface="Book Antiqua" panose="02040602050305030304" pitchFamily="18" charset="0"/>
              </a:rPr>
              <a:t>3.- Usos Principales:</a:t>
            </a:r>
            <a:endParaRPr lang="es-PE" sz="1200" dirty="0">
              <a:latin typeface="Book Antiqua" panose="02040602050305030304" pitchFamily="18" charset="0"/>
            </a:endParaRPr>
          </a:p>
          <a:p>
            <a:r>
              <a:rPr lang="es-PE" sz="1200" dirty="0">
                <a:latin typeface="Book Antiqua" panose="02040602050305030304" pitchFamily="18" charset="0"/>
              </a:rPr>
              <a:t>El CPN no solo sirve para "conectar cables"; tiene funciones operativas críticas:</a:t>
            </a:r>
          </a:p>
          <a:p>
            <a:pPr lvl="0"/>
            <a:r>
              <a:rPr lang="es-PE" sz="1200" b="1" dirty="0">
                <a:latin typeface="Book Antiqua" panose="02040602050305030304" pitchFamily="18" charset="0"/>
              </a:rPr>
              <a:t>Demarcación de Red: </a:t>
            </a:r>
            <a:r>
              <a:rPr lang="es-PE" sz="1200" dirty="0">
                <a:latin typeface="Book Antiqua" panose="02040602050305030304" pitchFamily="18" charset="0"/>
              </a:rPr>
              <a:t>Define el punto físico donde termina la responsabilidad del ISP. Si el problema es antes del CPN, es culpa del proveedor; si es después, es del usuario.</a:t>
            </a:r>
          </a:p>
          <a:p>
            <a:pPr lvl="0"/>
            <a:r>
              <a:rPr lang="es-PE" sz="1200" b="1" dirty="0">
                <a:latin typeface="Book Antiqua" panose="02040602050305030304" pitchFamily="18" charset="0"/>
              </a:rPr>
              <a:t>Traducción de Protocolos: </a:t>
            </a:r>
            <a:r>
              <a:rPr lang="es-PE" sz="1200" dirty="0">
                <a:latin typeface="Book Antiqua" panose="02040602050305030304" pitchFamily="18" charset="0"/>
              </a:rPr>
              <a:t>Convierte señales externas (DSL, Cable, Fibra) a estándares internos como Ethernet o </a:t>
            </a:r>
            <a:r>
              <a:rPr lang="es-PE" sz="1200" dirty="0" err="1">
                <a:latin typeface="Book Antiqua" panose="02040602050305030304" pitchFamily="18" charset="0"/>
              </a:rPr>
              <a:t>Wi</a:t>
            </a:r>
            <a:r>
              <a:rPr lang="es-PE" sz="1200" dirty="0">
                <a:latin typeface="Book Antiqua" panose="02040602050305030304" pitchFamily="18" charset="0"/>
              </a:rPr>
              <a:t>-Fi.</a:t>
            </a:r>
          </a:p>
          <a:p>
            <a:pPr lvl="0"/>
            <a:r>
              <a:rPr lang="es-PE" sz="1200" b="1" dirty="0">
                <a:latin typeface="Book Antiqua" panose="02040602050305030304" pitchFamily="18" charset="0"/>
              </a:rPr>
              <a:t>Gestión de Servicios: </a:t>
            </a:r>
            <a:r>
              <a:rPr lang="es-PE" sz="1200" dirty="0">
                <a:latin typeface="Book Antiqua" panose="02040602050305030304" pitchFamily="18" charset="0"/>
              </a:rPr>
              <a:t>Permite al proveedor activar o desactivar servicios (como subir el ancho de banda) de forma remota.</a:t>
            </a:r>
          </a:p>
          <a:p>
            <a:pPr lvl="0"/>
            <a:r>
              <a:rPr lang="es-PE" sz="1200" b="1" dirty="0">
                <a:latin typeface="Book Antiqua" panose="02040602050305030304" pitchFamily="18" charset="0"/>
              </a:rPr>
              <a:t>Seguridad Perimetral: </a:t>
            </a:r>
            <a:r>
              <a:rPr lang="es-PE" sz="1200" dirty="0">
                <a:latin typeface="Book Antiqua" panose="02040602050305030304" pitchFamily="18" charset="0"/>
              </a:rPr>
              <a:t>Actúa como la primera línea de defensa mediante el uso de NAT (Network Address Translation) y filtrado de paquetes.</a:t>
            </a:r>
          </a:p>
          <a:p>
            <a:endParaRPr lang="es-PE" dirty="0"/>
          </a:p>
        </p:txBody>
      </p:sp>
      <p:sp>
        <p:nvSpPr>
          <p:cNvPr id="8" name="Estrella: 4 puntas 7">
            <a:extLst>
              <a:ext uri="{FF2B5EF4-FFF2-40B4-BE49-F238E27FC236}">
                <a16:creationId xmlns:a16="http://schemas.microsoft.com/office/drawing/2014/main" id="{94D4F884-F34C-EA30-48B8-9F27D289C6B3}"/>
              </a:ext>
            </a:extLst>
          </p:cNvPr>
          <p:cNvSpPr/>
          <p:nvPr/>
        </p:nvSpPr>
        <p:spPr>
          <a:xfrm>
            <a:off x="6609944" y="2207357"/>
            <a:ext cx="518160" cy="369332"/>
          </a:xfrm>
          <a:prstGeom prst="star4">
            <a:avLst>
              <a:gd name="adj" fmla="val 8253"/>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 name="CuadroTexto 2">
            <a:extLst>
              <a:ext uri="{FF2B5EF4-FFF2-40B4-BE49-F238E27FC236}">
                <a16:creationId xmlns:a16="http://schemas.microsoft.com/office/drawing/2014/main" id="{547E49AC-6451-4331-D27D-DA1CADE93CF1}"/>
              </a:ext>
            </a:extLst>
          </p:cNvPr>
          <p:cNvSpPr txBox="1"/>
          <p:nvPr/>
        </p:nvSpPr>
        <p:spPr>
          <a:xfrm>
            <a:off x="685799" y="2098160"/>
            <a:ext cx="4591455" cy="4801314"/>
          </a:xfrm>
          <a:prstGeom prst="rect">
            <a:avLst/>
          </a:prstGeom>
          <a:noFill/>
        </p:spPr>
        <p:txBody>
          <a:bodyPr wrap="square" rtlCol="0">
            <a:spAutoFit/>
          </a:bodyPr>
          <a:lstStyle/>
          <a:p>
            <a:r>
              <a:rPr lang="es-PE" sz="1600" b="1" dirty="0">
                <a:latin typeface="Book Antiqua" panose="02040602050305030304" pitchFamily="18" charset="0"/>
              </a:rPr>
              <a:t>2.- Tipos de Equipos CPN:</a:t>
            </a:r>
            <a:endParaRPr lang="es-PE" sz="1600" dirty="0">
              <a:latin typeface="Book Antiqua" panose="02040602050305030304" pitchFamily="18" charset="0"/>
            </a:endParaRPr>
          </a:p>
          <a:p>
            <a:r>
              <a:rPr lang="es-PE" sz="1600" dirty="0">
                <a:latin typeface="Book Antiqua" panose="02040602050305030304" pitchFamily="18" charset="0"/>
              </a:rPr>
              <a:t>Los equipos se clasifican según la función que cumplen dentro de la cadena de conectividad:</a:t>
            </a:r>
          </a:p>
          <a:p>
            <a:pPr lvl="0"/>
            <a:r>
              <a:rPr lang="es-PE" sz="1600" b="1" dirty="0">
                <a:latin typeface="Book Antiqua" panose="02040602050305030304" pitchFamily="18" charset="0"/>
              </a:rPr>
              <a:t>Puertas de Enlace (Gateways): </a:t>
            </a:r>
            <a:r>
              <a:rPr lang="es-PE" sz="1600" dirty="0">
                <a:latin typeface="Book Antiqua" panose="02040602050305030304" pitchFamily="18" charset="0"/>
              </a:rPr>
              <a:t>Dispositivos "todo en uno" que combinan módem, router y punto de acceso inalámbrico. Son los más comunes en hogares.</a:t>
            </a:r>
          </a:p>
          <a:p>
            <a:pPr lvl="0"/>
            <a:r>
              <a:rPr lang="es-PE" sz="1600" b="1" dirty="0">
                <a:latin typeface="Book Antiqua" panose="02040602050305030304" pitchFamily="18" charset="0"/>
              </a:rPr>
              <a:t>Equipos de Terminación de Red (NTE): </a:t>
            </a:r>
            <a:r>
              <a:rPr lang="es-PE" sz="1600" dirty="0">
                <a:latin typeface="Book Antiqua" panose="02040602050305030304" pitchFamily="18" charset="0"/>
              </a:rPr>
              <a:t>Como las ONTs (Optical Network Terminal) en conexiones de fibra óptica, que convierten la señal de luz en datos digitales.</a:t>
            </a:r>
          </a:p>
          <a:p>
            <a:pPr lvl="0"/>
            <a:r>
              <a:rPr lang="es-PE" sz="1600" b="1" dirty="0">
                <a:latin typeface="Book Antiqua" panose="02040602050305030304" pitchFamily="18" charset="0"/>
              </a:rPr>
              <a:t>Terminales de Voz: </a:t>
            </a:r>
            <a:r>
              <a:rPr lang="es-PE" sz="1600" dirty="0">
                <a:latin typeface="Book Antiqua" panose="02040602050305030304" pitchFamily="18" charset="0"/>
              </a:rPr>
              <a:t>Teléfonos IP o adaptadores ATA que permiten realizar llamadas sobre la red de datos.</a:t>
            </a:r>
          </a:p>
          <a:p>
            <a:pPr lvl="0"/>
            <a:r>
              <a:rPr lang="es-PE" sz="1600" b="1" dirty="0">
                <a:latin typeface="Book Antiqua" panose="02040602050305030304" pitchFamily="18" charset="0"/>
              </a:rPr>
              <a:t>Equipos de Conmutación y Seguridad: </a:t>
            </a:r>
            <a:r>
              <a:rPr lang="es-PE" sz="1600" dirty="0">
                <a:latin typeface="Book Antiqua" panose="02040602050305030304" pitchFamily="18" charset="0"/>
              </a:rPr>
              <a:t>Switches administrables y Firewalls físicos que protegen y distribuyen el tráfico en redes corporativas.</a:t>
            </a:r>
          </a:p>
          <a:p>
            <a:endParaRPr lang="es-PE" dirty="0"/>
          </a:p>
        </p:txBody>
      </p:sp>
      <p:sp>
        <p:nvSpPr>
          <p:cNvPr id="5" name="CuadroTexto 4">
            <a:extLst>
              <a:ext uri="{FF2B5EF4-FFF2-40B4-BE49-F238E27FC236}">
                <a16:creationId xmlns:a16="http://schemas.microsoft.com/office/drawing/2014/main" id="{08E637EE-15FE-62D9-BAF0-E510D9094FB7}"/>
              </a:ext>
            </a:extLst>
          </p:cNvPr>
          <p:cNvSpPr txBox="1"/>
          <p:nvPr/>
        </p:nvSpPr>
        <p:spPr>
          <a:xfrm>
            <a:off x="6774696" y="4282364"/>
            <a:ext cx="5417304" cy="2523768"/>
          </a:xfrm>
          <a:prstGeom prst="rect">
            <a:avLst/>
          </a:prstGeom>
          <a:solidFill>
            <a:schemeClr val="bg1">
              <a:alpha val="34000"/>
            </a:schemeClr>
          </a:solidFill>
        </p:spPr>
        <p:txBody>
          <a:bodyPr wrap="square" rtlCol="0">
            <a:spAutoFit/>
          </a:bodyPr>
          <a:lstStyle/>
          <a:p>
            <a:r>
              <a:rPr lang="es-PE" sz="1400" b="1" dirty="0">
                <a:latin typeface="Book Antiqua" panose="02040602050305030304" pitchFamily="18" charset="0"/>
              </a:rPr>
              <a:t>4.- ¿Qué es IPsec?:</a:t>
            </a:r>
            <a:endParaRPr lang="es-PE" sz="1400" dirty="0">
              <a:latin typeface="Book Antiqua" panose="02040602050305030304" pitchFamily="18" charset="0"/>
            </a:endParaRPr>
          </a:p>
          <a:p>
            <a:r>
              <a:rPr lang="es-PE" sz="1400" dirty="0">
                <a:latin typeface="Book Antiqua" panose="02040602050305030304" pitchFamily="18" charset="0"/>
                <a:hlinkClick r:id="rId6">
                  <a:extLst>
                    <a:ext uri="{A12FA001-AC4F-418D-AE19-62706E023703}">
                      <ahyp:hlinkClr xmlns:ahyp="http://schemas.microsoft.com/office/drawing/2018/hyperlinkcolor" val="tx"/>
                    </a:ext>
                  </a:extLst>
                </a:hlinkClick>
              </a:rPr>
              <a:t>IPsec</a:t>
            </a:r>
            <a:r>
              <a:rPr lang="es-PE" sz="1400" dirty="0">
                <a:latin typeface="Book Antiqua" panose="02040602050305030304" pitchFamily="18" charset="0"/>
              </a:rPr>
              <a:t> ayuda a mantener la seguridad de los datos privados cuando se transmiten por una red pública. Más concretamente, IPsec es un grupo de protocolos que se utilizan conjuntamente para establecer conexiones seguras entre dispositivos en la capa 3 del </a:t>
            </a:r>
            <a:r>
              <a:rPr lang="es-PE" sz="1400" dirty="0">
                <a:latin typeface="Book Antiqua" panose="02040602050305030304" pitchFamily="18" charset="0"/>
                <a:hlinkClick r:id="rId7">
                  <a:extLst>
                    <a:ext uri="{A12FA001-AC4F-418D-AE19-62706E023703}">
                      <ahyp:hlinkClr xmlns:ahyp="http://schemas.microsoft.com/office/drawing/2018/hyperlinkcolor" val="tx"/>
                    </a:ext>
                  </a:extLst>
                </a:hlinkClick>
              </a:rPr>
              <a:t>modelo OSI</a:t>
            </a:r>
            <a:r>
              <a:rPr lang="es-PE" sz="1400" dirty="0">
                <a:latin typeface="Book Antiqua" panose="02040602050305030304" pitchFamily="18" charset="0"/>
              </a:rPr>
              <a:t> (la </a:t>
            </a:r>
            <a:r>
              <a:rPr lang="es-PE" sz="1400" dirty="0">
                <a:latin typeface="Book Antiqua" panose="02040602050305030304" pitchFamily="18" charset="0"/>
                <a:hlinkClick r:id="rId8">
                  <a:extLst>
                    <a:ext uri="{A12FA001-AC4F-418D-AE19-62706E023703}">
                      <ahyp:hlinkClr xmlns:ahyp="http://schemas.microsoft.com/office/drawing/2018/hyperlinkcolor" val="tx"/>
                    </a:ext>
                  </a:extLst>
                </a:hlinkClick>
              </a:rPr>
              <a:t>capa de red</a:t>
            </a:r>
            <a:r>
              <a:rPr lang="es-PE" sz="1400" dirty="0">
                <a:latin typeface="Book Antiqua" panose="02040602050305030304" pitchFamily="18" charset="0"/>
              </a:rPr>
              <a:t>). IPsec consigue lo consigue al codificar todos los mensajes para que solo las partes autorizadas puedan entenderlos, un proceso que se conoce como </a:t>
            </a:r>
            <a:r>
              <a:rPr lang="es-PE" sz="1400" dirty="0">
                <a:latin typeface="Book Antiqua" panose="02040602050305030304" pitchFamily="18" charset="0"/>
                <a:hlinkClick r:id="rId9">
                  <a:extLst>
                    <a:ext uri="{A12FA001-AC4F-418D-AE19-62706E023703}">
                      <ahyp:hlinkClr xmlns:ahyp="http://schemas.microsoft.com/office/drawing/2018/hyperlinkcolor" val="tx"/>
                    </a:ext>
                  </a:extLst>
                </a:hlinkClick>
              </a:rPr>
              <a:t>encriptación</a:t>
            </a:r>
            <a:r>
              <a:rPr lang="es-PE" sz="1400" dirty="0">
                <a:latin typeface="Book Antiqua" panose="02040602050305030304" pitchFamily="18" charset="0"/>
              </a:rPr>
              <a:t>. IPsec se suele utilizar para establecer </a:t>
            </a:r>
            <a:r>
              <a:rPr lang="es-PE" sz="1400" dirty="0">
                <a:latin typeface="Book Antiqua" panose="02040602050305030304" pitchFamily="18" charset="0"/>
                <a:hlinkClick r:id="rId10">
                  <a:extLst>
                    <a:ext uri="{A12FA001-AC4F-418D-AE19-62706E023703}">
                      <ahyp:hlinkClr xmlns:ahyp="http://schemas.microsoft.com/office/drawing/2018/hyperlinkcolor" val="tx"/>
                    </a:ext>
                  </a:extLst>
                </a:hlinkClick>
              </a:rPr>
              <a:t>redes privadas virtuales (VPN)</a:t>
            </a:r>
            <a:r>
              <a:rPr lang="es-PE" sz="1400" dirty="0">
                <a:latin typeface="Book Antiqua" panose="02040602050305030304" pitchFamily="18" charset="0"/>
              </a:rPr>
              <a:t>.</a:t>
            </a:r>
          </a:p>
          <a:p>
            <a:endParaRPr lang="es-PE" dirty="0"/>
          </a:p>
        </p:txBody>
      </p:sp>
    </p:spTree>
    <p:extLst>
      <p:ext uri="{BB962C8B-B14F-4D97-AF65-F5344CB8AC3E}">
        <p14:creationId xmlns:p14="http://schemas.microsoft.com/office/powerpoint/2010/main" val="1616442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lumMod val="75000"/>
              </a:schemeClr>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43EBC033-3F70-9618-8835-4AF89953386C}"/>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0F9362E6-F971-3C66-737F-29CC84733097}"/>
              </a:ext>
            </a:extLst>
          </p:cNvPr>
          <p:cNvSpPr txBox="1"/>
          <p:nvPr/>
        </p:nvSpPr>
        <p:spPr>
          <a:xfrm>
            <a:off x="919884" y="252942"/>
            <a:ext cx="11248416" cy="646331"/>
          </a:xfrm>
          <a:prstGeom prst="rect">
            <a:avLst/>
          </a:prstGeom>
          <a:noFill/>
          <a:effectLst>
            <a:outerShdw blurRad="50800" dist="38100" dir="2700000" algn="tl" rotWithShape="0">
              <a:prstClr val="black">
                <a:alpha val="40000"/>
              </a:prstClr>
            </a:outerShdw>
          </a:effectLst>
        </p:spPr>
        <p:txBody>
          <a:bodyPr wrap="square" rtlCol="0">
            <a:spAutoFit/>
          </a:bodyPr>
          <a:lstStyle/>
          <a:p>
            <a:r>
              <a:rPr lang="es-MX" sz="36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haroni" panose="02010803020104030203" pitchFamily="2" charset="-79"/>
                <a:cs typeface="Aharoni" panose="02010803020104030203" pitchFamily="2" charset="-79"/>
              </a:rPr>
              <a:t>CPN: TIPOS, USOS Y COMPARACIONES (SSL/IPSEC</a:t>
            </a:r>
            <a:r>
              <a:rPr lang="es-MX" sz="36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a:t>
            </a:r>
            <a:endParaRPr lang="es-PE" sz="36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cxnSp>
        <p:nvCxnSpPr>
          <p:cNvPr id="14" name="Conector: curvado 13">
            <a:extLst>
              <a:ext uri="{FF2B5EF4-FFF2-40B4-BE49-F238E27FC236}">
                <a16:creationId xmlns:a16="http://schemas.microsoft.com/office/drawing/2014/main" id="{A1FCF4A8-4A38-A160-0462-E9C4556AFB95}"/>
              </a:ext>
            </a:extLst>
          </p:cNvPr>
          <p:cNvCxnSpPr/>
          <p:nvPr/>
        </p:nvCxnSpPr>
        <p:spPr>
          <a:xfrm rot="16200000" flipH="1">
            <a:off x="-2405444" y="3280653"/>
            <a:ext cx="5564782" cy="296694"/>
          </a:xfrm>
          <a:prstGeom prst="curvedConnector3">
            <a:avLst>
              <a:gd name="adj1" fmla="val 50304"/>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16" name="Conector: curvado 15">
            <a:extLst>
              <a:ext uri="{FF2B5EF4-FFF2-40B4-BE49-F238E27FC236}">
                <a16:creationId xmlns:a16="http://schemas.microsoft.com/office/drawing/2014/main" id="{BBD86AEB-F115-FA3C-A570-FC30EA09E2A9}"/>
              </a:ext>
            </a:extLst>
          </p:cNvPr>
          <p:cNvCxnSpPr>
            <a:cxnSpLocks/>
          </p:cNvCxnSpPr>
          <p:nvPr/>
        </p:nvCxnSpPr>
        <p:spPr>
          <a:xfrm rot="5400000">
            <a:off x="-2373206" y="3344886"/>
            <a:ext cx="5466260" cy="408501"/>
          </a:xfrm>
          <a:prstGeom prst="curvedConnector3">
            <a:avLst>
              <a:gd name="adj1" fmla="val 50000"/>
            </a:avLst>
          </a:prstGeom>
          <a:ln>
            <a:solidFill>
              <a:schemeClr val="accent1">
                <a:lumMod val="20000"/>
                <a:lumOff val="80000"/>
              </a:schemeClr>
            </a:solidFill>
          </a:ln>
        </p:spPr>
        <p:style>
          <a:lnRef idx="2">
            <a:schemeClr val="dk1"/>
          </a:lnRef>
          <a:fillRef idx="0">
            <a:schemeClr val="dk1"/>
          </a:fillRef>
          <a:effectRef idx="1">
            <a:schemeClr val="dk1"/>
          </a:effectRef>
          <a:fontRef idx="minor">
            <a:schemeClr val="tx1"/>
          </a:fontRef>
        </p:style>
      </p:cxnSp>
      <p:sp>
        <p:nvSpPr>
          <p:cNvPr id="2" name="CuadroTexto 1">
            <a:extLst>
              <a:ext uri="{FF2B5EF4-FFF2-40B4-BE49-F238E27FC236}">
                <a16:creationId xmlns:a16="http://schemas.microsoft.com/office/drawing/2014/main" id="{C119CE5E-9AF9-6934-734A-E2EAE9EA8E46}"/>
              </a:ext>
            </a:extLst>
          </p:cNvPr>
          <p:cNvSpPr txBox="1"/>
          <p:nvPr/>
        </p:nvSpPr>
        <p:spPr>
          <a:xfrm>
            <a:off x="685799" y="1095401"/>
            <a:ext cx="5466945" cy="3077766"/>
          </a:xfrm>
          <a:prstGeom prst="rect">
            <a:avLst/>
          </a:prstGeom>
          <a:noFill/>
          <a:ln>
            <a:noFill/>
          </a:ln>
        </p:spPr>
        <p:txBody>
          <a:bodyPr wrap="square" rtlCol="0">
            <a:spAutoFit/>
          </a:bodyPr>
          <a:lstStyle/>
          <a:p>
            <a:r>
              <a:rPr lang="es-PE" sz="1600" b="1" dirty="0">
                <a:latin typeface="Book Antiqua" panose="02040602050305030304" pitchFamily="18" charset="0"/>
              </a:rPr>
              <a:t>5.- ¿Qué es SSL/TLS?</a:t>
            </a:r>
            <a:endParaRPr lang="es-PE" sz="1600" dirty="0">
              <a:latin typeface="Book Antiqua" panose="02040602050305030304" pitchFamily="18" charset="0"/>
            </a:endParaRPr>
          </a:p>
          <a:p>
            <a:r>
              <a:rPr lang="es-PE" sz="1600" dirty="0" err="1">
                <a:latin typeface="Book Antiqua" panose="02040602050305030304" pitchFamily="18" charset="0"/>
                <a:hlinkClick r:id="rId2">
                  <a:extLst>
                    <a:ext uri="{A12FA001-AC4F-418D-AE19-62706E023703}">
                      <ahyp:hlinkClr xmlns:ahyp="http://schemas.microsoft.com/office/drawing/2018/hyperlinkcolor" val="tx"/>
                    </a:ext>
                  </a:extLst>
                </a:hlinkClick>
              </a:rPr>
              <a:t>Secure</a:t>
            </a:r>
            <a:r>
              <a:rPr lang="es-PE" sz="1600" dirty="0">
                <a:latin typeface="Book Antiqua" panose="02040602050305030304" pitchFamily="18" charset="0"/>
                <a:hlinkClick r:id="rId2">
                  <a:extLst>
                    <a:ext uri="{A12FA001-AC4F-418D-AE19-62706E023703}">
                      <ahyp:hlinkClr xmlns:ahyp="http://schemas.microsoft.com/office/drawing/2018/hyperlinkcolor" val="tx"/>
                    </a:ext>
                  </a:extLst>
                </a:hlinkClick>
              </a:rPr>
              <a:t> Sockets </a:t>
            </a:r>
            <a:r>
              <a:rPr lang="es-PE" sz="1600" dirty="0" err="1">
                <a:latin typeface="Book Antiqua" panose="02040602050305030304" pitchFamily="18" charset="0"/>
                <a:hlinkClick r:id="rId2">
                  <a:extLst>
                    <a:ext uri="{A12FA001-AC4F-418D-AE19-62706E023703}">
                      <ahyp:hlinkClr xmlns:ahyp="http://schemas.microsoft.com/office/drawing/2018/hyperlinkcolor" val="tx"/>
                    </a:ext>
                  </a:extLst>
                </a:hlinkClick>
              </a:rPr>
              <a:t>Layer</a:t>
            </a:r>
            <a:r>
              <a:rPr lang="es-PE" sz="1600" dirty="0">
                <a:latin typeface="Book Antiqua" panose="02040602050305030304" pitchFamily="18" charset="0"/>
                <a:hlinkClick r:id="rId2">
                  <a:extLst>
                    <a:ext uri="{A12FA001-AC4F-418D-AE19-62706E023703}">
                      <ahyp:hlinkClr xmlns:ahyp="http://schemas.microsoft.com/office/drawing/2018/hyperlinkcolor" val="tx"/>
                    </a:ext>
                  </a:extLst>
                </a:hlinkClick>
              </a:rPr>
              <a:t> (SSL)</a:t>
            </a:r>
            <a:r>
              <a:rPr lang="es-PE" sz="1600" dirty="0">
                <a:latin typeface="Book Antiqua" panose="02040602050305030304" pitchFamily="18" charset="0"/>
              </a:rPr>
              <a:t> es un protocolo para encriptar el tráfico </a:t>
            </a:r>
            <a:r>
              <a:rPr lang="es-PE" sz="1600" dirty="0">
                <a:latin typeface="Book Antiqua" panose="02040602050305030304" pitchFamily="18" charset="0"/>
                <a:hlinkClick r:id="rId3">
                  <a:extLst>
                    <a:ext uri="{A12FA001-AC4F-418D-AE19-62706E023703}">
                      <ahyp:hlinkClr xmlns:ahyp="http://schemas.microsoft.com/office/drawing/2018/hyperlinkcolor" val="tx"/>
                    </a:ext>
                  </a:extLst>
                </a:hlinkClick>
              </a:rPr>
              <a:t>HTTP</a:t>
            </a:r>
            <a:r>
              <a:rPr lang="es-PE" sz="1600" dirty="0">
                <a:latin typeface="Book Antiqua" panose="02040602050305030304" pitchFamily="18" charset="0"/>
              </a:rPr>
              <a:t>, como las conexiones entre los dispositivos de los usuarios y </a:t>
            </a:r>
            <a:r>
              <a:rPr lang="es-PE" sz="1600" dirty="0">
                <a:latin typeface="Book Antiqua" panose="02040602050305030304" pitchFamily="18" charset="0"/>
                <a:hlinkClick r:id="rId4">
                  <a:extLst>
                    <a:ext uri="{A12FA001-AC4F-418D-AE19-62706E023703}">
                      <ahyp:hlinkClr xmlns:ahyp="http://schemas.microsoft.com/office/drawing/2018/hyperlinkcolor" val="tx"/>
                    </a:ext>
                  </a:extLst>
                </a:hlinkClick>
              </a:rPr>
              <a:t>los servidores web</a:t>
            </a:r>
            <a:r>
              <a:rPr lang="es-PE" sz="1600" dirty="0">
                <a:latin typeface="Book Antiqua" panose="02040602050305030304" pitchFamily="18" charset="0"/>
              </a:rPr>
              <a:t>. Los sitios web que utilizan la encriptación SSL tienen https:// en sus URL en lugar de http://. SSL fue sustituido hace varios años por </a:t>
            </a:r>
            <a:r>
              <a:rPr lang="es-PE" sz="1600" dirty="0" err="1">
                <a:latin typeface="Book Antiqua" panose="02040602050305030304" pitchFamily="18" charset="0"/>
                <a:hlinkClick r:id="rId5">
                  <a:extLst>
                    <a:ext uri="{A12FA001-AC4F-418D-AE19-62706E023703}">
                      <ahyp:hlinkClr xmlns:ahyp="http://schemas.microsoft.com/office/drawing/2018/hyperlinkcolor" val="tx"/>
                    </a:ext>
                  </a:extLst>
                </a:hlinkClick>
              </a:rPr>
              <a:t>Transport</a:t>
            </a:r>
            <a:r>
              <a:rPr lang="es-PE" sz="1600" dirty="0">
                <a:latin typeface="Book Antiqua" panose="02040602050305030304" pitchFamily="18" charset="0"/>
                <a:hlinkClick r:id="rId5">
                  <a:extLst>
                    <a:ext uri="{A12FA001-AC4F-418D-AE19-62706E023703}">
                      <ahyp:hlinkClr xmlns:ahyp="http://schemas.microsoft.com/office/drawing/2018/hyperlinkcolor" val="tx"/>
                    </a:ext>
                  </a:extLst>
                </a:hlinkClick>
              </a:rPr>
              <a:t> </a:t>
            </a:r>
            <a:r>
              <a:rPr lang="es-PE" sz="1600" dirty="0" err="1">
                <a:latin typeface="Book Antiqua" panose="02040602050305030304" pitchFamily="18" charset="0"/>
                <a:hlinkClick r:id="rId5">
                  <a:extLst>
                    <a:ext uri="{A12FA001-AC4F-418D-AE19-62706E023703}">
                      <ahyp:hlinkClr xmlns:ahyp="http://schemas.microsoft.com/office/drawing/2018/hyperlinkcolor" val="tx"/>
                    </a:ext>
                  </a:extLst>
                </a:hlinkClick>
              </a:rPr>
              <a:t>Layer</a:t>
            </a:r>
            <a:r>
              <a:rPr lang="es-PE" sz="1600" dirty="0">
                <a:latin typeface="Book Antiqua" panose="02040602050305030304" pitchFamily="18" charset="0"/>
                <a:hlinkClick r:id="rId5">
                  <a:extLst>
                    <a:ext uri="{A12FA001-AC4F-418D-AE19-62706E023703}">
                      <ahyp:hlinkClr xmlns:ahyp="http://schemas.microsoft.com/office/drawing/2018/hyperlinkcolor" val="tx"/>
                    </a:ext>
                  </a:extLst>
                </a:hlinkClick>
              </a:rPr>
              <a:t> Security</a:t>
            </a:r>
            <a:r>
              <a:rPr lang="es-PE" sz="1600" dirty="0">
                <a:latin typeface="Book Antiqua" panose="02040602050305030304" pitchFamily="18" charset="0"/>
              </a:rPr>
              <a:t> (TLS), pero el término "SSL" se sigue utilizando para referirse al protocolo.</a:t>
            </a:r>
          </a:p>
          <a:p>
            <a:r>
              <a:rPr lang="es-PE" sz="1600" dirty="0">
                <a:latin typeface="Book Antiqua" panose="02040602050305030304" pitchFamily="18" charset="0"/>
              </a:rPr>
              <a:t>Además de encriptar las comunicaciones cliente-servidor en la navegación web, SSL también puede utilizarse en las VPN.</a:t>
            </a:r>
          </a:p>
          <a:p>
            <a:endParaRPr lang="es-PE" dirty="0"/>
          </a:p>
        </p:txBody>
      </p:sp>
      <p:pic>
        <p:nvPicPr>
          <p:cNvPr id="7" name="Gráfico 6" descr="Internet con relleno sólido">
            <a:extLst>
              <a:ext uri="{FF2B5EF4-FFF2-40B4-BE49-F238E27FC236}">
                <a16:creationId xmlns:a16="http://schemas.microsoft.com/office/drawing/2014/main" id="{4738E36F-9DE6-DDA9-66DA-C1B0CBF6FCD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68775" y="4281312"/>
            <a:ext cx="914400" cy="914400"/>
          </a:xfrm>
          <a:prstGeom prst="rect">
            <a:avLst/>
          </a:prstGeom>
        </p:spPr>
      </p:pic>
      <p:sp>
        <p:nvSpPr>
          <p:cNvPr id="12" name="Estrella: 4 puntas 11">
            <a:extLst>
              <a:ext uri="{FF2B5EF4-FFF2-40B4-BE49-F238E27FC236}">
                <a16:creationId xmlns:a16="http://schemas.microsoft.com/office/drawing/2014/main" id="{37A482E9-2CF5-5FEB-2611-911640D75E65}"/>
              </a:ext>
            </a:extLst>
          </p:cNvPr>
          <p:cNvSpPr/>
          <p:nvPr/>
        </p:nvSpPr>
        <p:spPr>
          <a:xfrm>
            <a:off x="149480" y="6301006"/>
            <a:ext cx="518160" cy="369332"/>
          </a:xfrm>
          <a:prstGeom prst="star4">
            <a:avLst>
              <a:gd name="adj" fmla="val 8253"/>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 name="Estrella: 4 puntas 14">
            <a:extLst>
              <a:ext uri="{FF2B5EF4-FFF2-40B4-BE49-F238E27FC236}">
                <a16:creationId xmlns:a16="http://schemas.microsoft.com/office/drawing/2014/main" id="{274F0473-A6E0-D483-9999-752501649BD7}"/>
              </a:ext>
            </a:extLst>
          </p:cNvPr>
          <p:cNvSpPr/>
          <p:nvPr/>
        </p:nvSpPr>
        <p:spPr>
          <a:xfrm>
            <a:off x="11650140" y="1063845"/>
            <a:ext cx="518160" cy="369332"/>
          </a:xfrm>
          <a:prstGeom prst="star4">
            <a:avLst>
              <a:gd name="adj" fmla="val 8253"/>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9" name="Gráfico 8" descr="Nube con relleno sólido">
            <a:extLst>
              <a:ext uri="{FF2B5EF4-FFF2-40B4-BE49-F238E27FC236}">
                <a16:creationId xmlns:a16="http://schemas.microsoft.com/office/drawing/2014/main" id="{26E73947-D867-858E-754B-F2118E6442C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6975" y="309546"/>
            <a:ext cx="914400" cy="914400"/>
          </a:xfrm>
          <a:prstGeom prst="rect">
            <a:avLst/>
          </a:prstGeom>
        </p:spPr>
      </p:pic>
      <p:sp>
        <p:nvSpPr>
          <p:cNvPr id="21" name="CuadroTexto 20">
            <a:extLst>
              <a:ext uri="{FF2B5EF4-FFF2-40B4-BE49-F238E27FC236}">
                <a16:creationId xmlns:a16="http://schemas.microsoft.com/office/drawing/2014/main" id="{C282359E-F304-64CF-6E63-E980CFFCA7CA}"/>
              </a:ext>
            </a:extLst>
          </p:cNvPr>
          <p:cNvSpPr txBox="1"/>
          <p:nvPr/>
        </p:nvSpPr>
        <p:spPr>
          <a:xfrm>
            <a:off x="6946877" y="1095401"/>
            <a:ext cx="4559324" cy="5909310"/>
          </a:xfrm>
          <a:prstGeom prst="rect">
            <a:avLst/>
          </a:prstGeom>
          <a:solidFill>
            <a:schemeClr val="bg1">
              <a:alpha val="43000"/>
            </a:schemeClr>
          </a:solidFill>
        </p:spPr>
        <p:txBody>
          <a:bodyPr wrap="square" rtlCol="0">
            <a:spAutoFit/>
          </a:bodyPr>
          <a:lstStyle/>
          <a:p>
            <a:endParaRPr lang="es-PE" sz="1200" b="1" dirty="0">
              <a:latin typeface="Book Antiqua" panose="02040602050305030304" pitchFamily="18" charset="0"/>
            </a:endParaRPr>
          </a:p>
          <a:p>
            <a:r>
              <a:rPr lang="es-PE" sz="1200" b="1" dirty="0">
                <a:latin typeface="Book Antiqua" panose="02040602050305030304" pitchFamily="18" charset="0"/>
              </a:rPr>
              <a:t>6.- VPN IPsec vs. VPN SSL: ¿En qué se diferencian?</a:t>
            </a:r>
            <a:endParaRPr lang="es-PE" sz="1200" dirty="0">
              <a:latin typeface="Book Antiqua" panose="02040602050305030304" pitchFamily="18" charset="0"/>
            </a:endParaRPr>
          </a:p>
          <a:p>
            <a:r>
              <a:rPr lang="es-PE" sz="1200" b="1" dirty="0">
                <a:latin typeface="Book Antiqua" panose="02040602050305030304" pitchFamily="18" charset="0"/>
              </a:rPr>
              <a:t>- Capa del Modelo OSI</a:t>
            </a:r>
            <a:endParaRPr lang="es-PE" sz="1200" dirty="0">
              <a:latin typeface="Book Antiqua" panose="02040602050305030304" pitchFamily="18" charset="0"/>
            </a:endParaRPr>
          </a:p>
          <a:p>
            <a:pPr lvl="0"/>
            <a:r>
              <a:rPr lang="es-PE" sz="1200" b="1" dirty="0">
                <a:latin typeface="Book Antiqua" panose="02040602050305030304" pitchFamily="18" charset="0"/>
              </a:rPr>
              <a:t>IPsec (Capa de Red - Capa 3): </a:t>
            </a:r>
            <a:r>
              <a:rPr lang="es-PE" sz="1200" dirty="0">
                <a:latin typeface="Book Antiqua" panose="02040602050305030304" pitchFamily="18" charset="0"/>
              </a:rPr>
              <a:t>Se ejecuta directamente sobre el protocolo IP. Encripta todo el tráfico que viaja entre dos puntos, sin importar la aplicación.</a:t>
            </a:r>
          </a:p>
          <a:p>
            <a:pPr lvl="0"/>
            <a:r>
              <a:rPr lang="es-PE" sz="1200" b="1" dirty="0">
                <a:latin typeface="Book Antiqua" panose="02040602050305030304" pitchFamily="18" charset="0"/>
              </a:rPr>
              <a:t>SSL/TLS (Capa de Aplicación - Capa 7): </a:t>
            </a:r>
            <a:r>
              <a:rPr lang="es-PE" sz="1200" dirty="0">
                <a:latin typeface="Book Antiqua" panose="02040602050305030304" pitchFamily="18" charset="0"/>
              </a:rPr>
              <a:t>Encripta el tráfico de aplicaciones específicas (principalmente HTTP/Navegadores). No protege la actividad fuera del navegador a menos que se configure de forma especial.</a:t>
            </a:r>
          </a:p>
          <a:p>
            <a:r>
              <a:rPr lang="es-PE" sz="1200" b="1" dirty="0">
                <a:latin typeface="Book Antiqua" panose="02040602050305030304" pitchFamily="18" charset="0"/>
              </a:rPr>
              <a:t>- Implementación y Uso</a:t>
            </a:r>
            <a:endParaRPr lang="es-PE" sz="1200" dirty="0">
              <a:latin typeface="Book Antiqua" panose="02040602050305030304" pitchFamily="18" charset="0"/>
            </a:endParaRPr>
          </a:p>
          <a:p>
            <a:pPr lvl="0"/>
            <a:r>
              <a:rPr lang="es-PE" sz="1200" b="1" dirty="0">
                <a:latin typeface="Book Antiqua" panose="02040602050305030304" pitchFamily="18" charset="0"/>
              </a:rPr>
              <a:t>IPsec: </a:t>
            </a:r>
            <a:r>
              <a:rPr lang="es-PE" sz="1200" dirty="0">
                <a:latin typeface="Book Antiqua" panose="02040602050305030304" pitchFamily="18" charset="0"/>
              </a:rPr>
              <a:t>Requiere instalar un software cliente en cada dispositivo. Es más complejo de gestionar, pero ideal para conectar oficinas completas (Site-</a:t>
            </a:r>
            <a:r>
              <a:rPr lang="es-PE" sz="1200" dirty="0" err="1">
                <a:latin typeface="Book Antiqua" panose="02040602050305030304" pitchFamily="18" charset="0"/>
              </a:rPr>
              <a:t>to</a:t>
            </a:r>
            <a:r>
              <a:rPr lang="es-PE" sz="1200" dirty="0">
                <a:latin typeface="Book Antiqua" panose="02040602050305030304" pitchFamily="18" charset="0"/>
              </a:rPr>
              <a:t>-Site).</a:t>
            </a:r>
          </a:p>
          <a:p>
            <a:pPr lvl="0"/>
            <a:r>
              <a:rPr lang="es-PE" sz="1200" b="1" dirty="0">
                <a:latin typeface="Book Antiqua" panose="02040602050305030304" pitchFamily="18" charset="0"/>
              </a:rPr>
              <a:t>SSL</a:t>
            </a:r>
            <a:r>
              <a:rPr lang="es-PE" sz="1200" dirty="0">
                <a:latin typeface="Book Antiqua" panose="02040602050305030304" pitchFamily="18" charset="0"/>
              </a:rPr>
              <a:t>: No requiere software adicional porque los navegadores ya lo integran. Es más accesible para usuarios remotos y requiere menos soporte de TI.</a:t>
            </a:r>
          </a:p>
          <a:p>
            <a:r>
              <a:rPr lang="es-PE" sz="1200" b="1" dirty="0">
                <a:latin typeface="Book Antiqua" panose="02040602050305030304" pitchFamily="18" charset="0"/>
              </a:rPr>
              <a:t>- Control de Acceso</a:t>
            </a:r>
            <a:endParaRPr lang="es-PE" sz="1200" dirty="0">
              <a:latin typeface="Book Antiqua" panose="02040602050305030304" pitchFamily="18" charset="0"/>
            </a:endParaRPr>
          </a:p>
          <a:p>
            <a:pPr lvl="0"/>
            <a:r>
              <a:rPr lang="es-PE" sz="1200" b="1" dirty="0">
                <a:latin typeface="Book Antiqua" panose="02040602050305030304" pitchFamily="18" charset="0"/>
              </a:rPr>
              <a:t>IPsec: </a:t>
            </a:r>
            <a:r>
              <a:rPr lang="es-PE" sz="1200" dirty="0">
                <a:latin typeface="Book Antiqua" panose="02040602050305030304" pitchFamily="18" charset="0"/>
              </a:rPr>
              <a:t>El usuario suele tener acceso a toda la red una vez conectado. Para restringir accesos, se deben crear múltiples </a:t>
            </a:r>
            <a:r>
              <a:rPr lang="es-PE" sz="1200" dirty="0" err="1">
                <a:latin typeface="Book Antiqua" panose="02040602050305030304" pitchFamily="18" charset="0"/>
              </a:rPr>
              <a:t>VPNs</a:t>
            </a:r>
            <a:r>
              <a:rPr lang="es-PE" sz="1200" dirty="0">
                <a:latin typeface="Book Antiqua" panose="02040602050305030304" pitchFamily="18" charset="0"/>
              </a:rPr>
              <a:t>, lo cual es laborioso.</a:t>
            </a:r>
          </a:p>
          <a:p>
            <a:pPr lvl="0"/>
            <a:r>
              <a:rPr lang="es-PE" sz="1200" b="1" dirty="0">
                <a:latin typeface="Book Antiqua" panose="02040602050305030304" pitchFamily="18" charset="0"/>
              </a:rPr>
              <a:t>SSL: </a:t>
            </a:r>
            <a:r>
              <a:rPr lang="es-PE" sz="1200" dirty="0">
                <a:latin typeface="Book Antiqua" panose="02040602050305030304" pitchFamily="18" charset="0"/>
              </a:rPr>
              <a:t>Permite un control granular. Se puede dar acceso a una aplicación específica (ej. solo al correo o solo al CRM) sin exponer el resto de la red interna.</a:t>
            </a:r>
          </a:p>
          <a:p>
            <a:r>
              <a:rPr lang="es-PE" sz="1200" b="1" dirty="0">
                <a:latin typeface="Book Antiqua" panose="02040602050305030304" pitchFamily="18" charset="0"/>
              </a:rPr>
              <a:t>- Entorno Ideal</a:t>
            </a:r>
            <a:endParaRPr lang="es-PE" sz="1200" dirty="0">
              <a:latin typeface="Book Antiqua" panose="02040602050305030304" pitchFamily="18" charset="0"/>
            </a:endParaRPr>
          </a:p>
          <a:p>
            <a:pPr lvl="0"/>
            <a:r>
              <a:rPr lang="es-PE" sz="1200" b="1" dirty="0">
                <a:latin typeface="Book Antiqua" panose="02040602050305030304" pitchFamily="18" charset="0"/>
              </a:rPr>
              <a:t>IPsec: </a:t>
            </a:r>
            <a:r>
              <a:rPr lang="es-PE" sz="1200" dirty="0">
                <a:latin typeface="Book Antiqua" panose="02040602050305030304" pitchFamily="18" charset="0"/>
              </a:rPr>
              <a:t>Mejor para aplicaciones locales (</a:t>
            </a:r>
            <a:r>
              <a:rPr lang="es-PE" sz="1200" dirty="0" err="1">
                <a:latin typeface="Book Antiqua" panose="02040602050305030304" pitchFamily="18" charset="0"/>
              </a:rPr>
              <a:t>on</a:t>
            </a:r>
            <a:r>
              <a:rPr lang="es-PE" sz="1200" dirty="0">
                <a:latin typeface="Book Antiqua" panose="02040602050305030304" pitchFamily="18" charset="0"/>
              </a:rPr>
              <a:t>-premise) y conexiones permanentes entre infraestructuras físicas.</a:t>
            </a:r>
          </a:p>
          <a:p>
            <a:pPr lvl="0"/>
            <a:r>
              <a:rPr lang="es-PE" sz="1200" b="1" dirty="0">
                <a:latin typeface="Book Antiqua" panose="02040602050305030304" pitchFamily="18" charset="0"/>
              </a:rPr>
              <a:t>SSL</a:t>
            </a:r>
            <a:r>
              <a:rPr lang="es-PE" sz="1200" dirty="0">
                <a:latin typeface="Book Antiqua" panose="02040602050305030304" pitchFamily="18" charset="0"/>
              </a:rPr>
              <a:t>: Ideal para aplicaciones en la nube (SaaS) y trabajadores remotos que solo necesitan herramientas específicas a través de la web.</a:t>
            </a:r>
          </a:p>
          <a:p>
            <a:endParaRPr lang="es-PE" dirty="0"/>
          </a:p>
        </p:txBody>
      </p:sp>
      <p:sp>
        <p:nvSpPr>
          <p:cNvPr id="8" name="Estrella: 4 puntas 7">
            <a:extLst>
              <a:ext uri="{FF2B5EF4-FFF2-40B4-BE49-F238E27FC236}">
                <a16:creationId xmlns:a16="http://schemas.microsoft.com/office/drawing/2014/main" id="{D835317D-2ED0-747B-3E61-1337F4F39D54}"/>
              </a:ext>
            </a:extLst>
          </p:cNvPr>
          <p:cNvSpPr/>
          <p:nvPr/>
        </p:nvSpPr>
        <p:spPr>
          <a:xfrm>
            <a:off x="6224095" y="1292956"/>
            <a:ext cx="518160" cy="369332"/>
          </a:xfrm>
          <a:prstGeom prst="star4">
            <a:avLst>
              <a:gd name="adj" fmla="val 8253"/>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6" name="Imagen 5" descr="SSL/TLS simplified. SSL stands for Secure Sockets Layer. It… | by  Jayampathi Adhikari | Medium">
            <a:extLst>
              <a:ext uri="{FF2B5EF4-FFF2-40B4-BE49-F238E27FC236}">
                <a16:creationId xmlns:a16="http://schemas.microsoft.com/office/drawing/2014/main" id="{F01BAD85-8D43-5555-8883-467E9209B8C9}"/>
              </a:ext>
            </a:extLst>
          </p:cNvPr>
          <p:cNvPicPr>
            <a:picLocks noChangeAspect="1"/>
          </p:cNvPicPr>
          <p:nvPr/>
        </p:nvPicPr>
        <p:blipFill>
          <a:blip r:embed="rId10"/>
          <a:stretch>
            <a:fillRect/>
          </a:stretch>
        </p:blipFill>
        <p:spPr>
          <a:xfrm>
            <a:off x="1104119" y="3818672"/>
            <a:ext cx="3576851" cy="2667000"/>
          </a:xfrm>
          <a:prstGeom prst="rect">
            <a:avLst/>
          </a:prstGeom>
        </p:spPr>
      </p:pic>
    </p:spTree>
    <p:extLst>
      <p:ext uri="{BB962C8B-B14F-4D97-AF65-F5344CB8AC3E}">
        <p14:creationId xmlns:p14="http://schemas.microsoft.com/office/powerpoint/2010/main" val="3220102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lumMod val="75000"/>
              </a:schemeClr>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C5C72A0C-404A-BD25-2037-20753EAE2D8B}"/>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65509804-8483-E803-57F6-B9CF7E646CBF}"/>
              </a:ext>
            </a:extLst>
          </p:cNvPr>
          <p:cNvSpPr txBox="1"/>
          <p:nvPr/>
        </p:nvSpPr>
        <p:spPr>
          <a:xfrm>
            <a:off x="1098267" y="411716"/>
            <a:ext cx="11091448" cy="523220"/>
          </a:xfrm>
          <a:prstGeom prst="rect">
            <a:avLst/>
          </a:prstGeom>
          <a:noFill/>
          <a:effectLst>
            <a:outerShdw blurRad="50800" dist="38100" dir="2700000" algn="tl" rotWithShape="0">
              <a:prstClr val="black">
                <a:alpha val="40000"/>
              </a:prstClr>
            </a:outerShdw>
          </a:effectLst>
        </p:spPr>
        <p:txBody>
          <a:bodyPr wrap="square" rtlCol="0">
            <a:spAutoFit/>
          </a:bodyPr>
          <a:lstStyle/>
          <a:p>
            <a:r>
              <a:rPr lang="es-PE" sz="28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haroni" panose="02010803020104030203" pitchFamily="2" charset="-79"/>
                <a:cs typeface="Aharoni" panose="02010803020104030203" pitchFamily="2" charset="-79"/>
              </a:rPr>
              <a:t>CRIPTOGRAFÍA Y CIFRADO EN REDES MODERNAS (TLS/HTTPS)</a:t>
            </a:r>
          </a:p>
        </p:txBody>
      </p:sp>
      <p:cxnSp>
        <p:nvCxnSpPr>
          <p:cNvPr id="14" name="Conector: curvado 13">
            <a:extLst>
              <a:ext uri="{FF2B5EF4-FFF2-40B4-BE49-F238E27FC236}">
                <a16:creationId xmlns:a16="http://schemas.microsoft.com/office/drawing/2014/main" id="{F450824F-8F9D-D893-3702-9FD12DF11BBB}"/>
              </a:ext>
            </a:extLst>
          </p:cNvPr>
          <p:cNvCxnSpPr/>
          <p:nvPr/>
        </p:nvCxnSpPr>
        <p:spPr>
          <a:xfrm rot="16200000" flipH="1">
            <a:off x="-2405444" y="3280653"/>
            <a:ext cx="5564782" cy="296694"/>
          </a:xfrm>
          <a:prstGeom prst="curvedConnector3">
            <a:avLst>
              <a:gd name="adj1" fmla="val 50304"/>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16" name="Conector: curvado 15">
            <a:extLst>
              <a:ext uri="{FF2B5EF4-FFF2-40B4-BE49-F238E27FC236}">
                <a16:creationId xmlns:a16="http://schemas.microsoft.com/office/drawing/2014/main" id="{6157F57E-EB40-8808-F34E-DA27168C85FF}"/>
              </a:ext>
            </a:extLst>
          </p:cNvPr>
          <p:cNvCxnSpPr>
            <a:cxnSpLocks/>
          </p:cNvCxnSpPr>
          <p:nvPr/>
        </p:nvCxnSpPr>
        <p:spPr>
          <a:xfrm rot="5400000">
            <a:off x="-2373206" y="3344886"/>
            <a:ext cx="5466260" cy="408501"/>
          </a:xfrm>
          <a:prstGeom prst="curvedConnector3">
            <a:avLst>
              <a:gd name="adj1" fmla="val 50000"/>
            </a:avLst>
          </a:prstGeom>
          <a:ln>
            <a:solidFill>
              <a:schemeClr val="accent1">
                <a:lumMod val="20000"/>
                <a:lumOff val="80000"/>
              </a:schemeClr>
            </a:solidFill>
          </a:ln>
        </p:spPr>
        <p:style>
          <a:lnRef idx="2">
            <a:schemeClr val="dk1"/>
          </a:lnRef>
          <a:fillRef idx="0">
            <a:schemeClr val="dk1"/>
          </a:fillRef>
          <a:effectRef idx="1">
            <a:schemeClr val="dk1"/>
          </a:effectRef>
          <a:fontRef idx="minor">
            <a:schemeClr val="tx1"/>
          </a:fontRef>
        </p:style>
      </p:cxnSp>
      <p:sp>
        <p:nvSpPr>
          <p:cNvPr id="2" name="CuadroTexto 1">
            <a:extLst>
              <a:ext uri="{FF2B5EF4-FFF2-40B4-BE49-F238E27FC236}">
                <a16:creationId xmlns:a16="http://schemas.microsoft.com/office/drawing/2014/main" id="{0183EA6B-C861-4C19-C819-F1E0F905F5B1}"/>
              </a:ext>
            </a:extLst>
          </p:cNvPr>
          <p:cNvSpPr txBox="1"/>
          <p:nvPr/>
        </p:nvSpPr>
        <p:spPr>
          <a:xfrm>
            <a:off x="935417" y="987128"/>
            <a:ext cx="9671564" cy="800219"/>
          </a:xfrm>
          <a:prstGeom prst="rect">
            <a:avLst/>
          </a:prstGeom>
          <a:noFill/>
        </p:spPr>
        <p:txBody>
          <a:bodyPr wrap="square" rtlCol="0">
            <a:spAutoFit/>
          </a:bodyPr>
          <a:lstStyle/>
          <a:p>
            <a:r>
              <a:rPr lang="es-PE" sz="1400" dirty="0">
                <a:latin typeface="Book Antiqua" panose="02040602050305030304" pitchFamily="18" charset="0"/>
              </a:rPr>
              <a:t>La criptografía es el pilar que garantiza que la información viaje de forma segura por internet. Hoy en día, la mayoría de nuestras interacciones web dependen de dos conceptos fundamentales que trabajan juntos para proteger nuestros datos.</a:t>
            </a:r>
          </a:p>
          <a:p>
            <a:endParaRPr lang="es-PE" dirty="0"/>
          </a:p>
        </p:txBody>
      </p:sp>
      <p:pic>
        <p:nvPicPr>
          <p:cNvPr id="7" name="Gráfico 6" descr="Internet con relleno sólido">
            <a:extLst>
              <a:ext uri="{FF2B5EF4-FFF2-40B4-BE49-F238E27FC236}">
                <a16:creationId xmlns:a16="http://schemas.microsoft.com/office/drawing/2014/main" id="{EC3DEF8A-959D-01B2-6F9A-57300925B02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37246" y="3143176"/>
            <a:ext cx="914400" cy="914400"/>
          </a:xfrm>
          <a:prstGeom prst="rect">
            <a:avLst/>
          </a:prstGeom>
        </p:spPr>
      </p:pic>
      <p:sp>
        <p:nvSpPr>
          <p:cNvPr id="12" name="Estrella: 4 puntas 11">
            <a:extLst>
              <a:ext uri="{FF2B5EF4-FFF2-40B4-BE49-F238E27FC236}">
                <a16:creationId xmlns:a16="http://schemas.microsoft.com/office/drawing/2014/main" id="{43D60E72-BE83-FE5B-299E-08405B73D42E}"/>
              </a:ext>
            </a:extLst>
          </p:cNvPr>
          <p:cNvSpPr/>
          <p:nvPr/>
        </p:nvSpPr>
        <p:spPr>
          <a:xfrm>
            <a:off x="228599" y="6380788"/>
            <a:ext cx="518160" cy="369332"/>
          </a:xfrm>
          <a:prstGeom prst="star4">
            <a:avLst>
              <a:gd name="adj" fmla="val 8253"/>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 name="Estrella: 4 puntas 14">
            <a:extLst>
              <a:ext uri="{FF2B5EF4-FFF2-40B4-BE49-F238E27FC236}">
                <a16:creationId xmlns:a16="http://schemas.microsoft.com/office/drawing/2014/main" id="{3DFE6258-31AA-6ED8-CB0D-CDB5D4EA6EF0}"/>
              </a:ext>
            </a:extLst>
          </p:cNvPr>
          <p:cNvSpPr/>
          <p:nvPr/>
        </p:nvSpPr>
        <p:spPr>
          <a:xfrm>
            <a:off x="11518167" y="1622548"/>
            <a:ext cx="518160" cy="369332"/>
          </a:xfrm>
          <a:prstGeom prst="star4">
            <a:avLst>
              <a:gd name="adj" fmla="val 8253"/>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9" name="Gráfico 8" descr="Nube con relleno sólido">
            <a:extLst>
              <a:ext uri="{FF2B5EF4-FFF2-40B4-BE49-F238E27FC236}">
                <a16:creationId xmlns:a16="http://schemas.microsoft.com/office/drawing/2014/main" id="{71CAC92C-A7BE-8E34-CF2C-601C0DEA257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0479" y="-70328"/>
            <a:ext cx="914400" cy="914400"/>
          </a:xfrm>
          <a:prstGeom prst="rect">
            <a:avLst/>
          </a:prstGeom>
        </p:spPr>
      </p:pic>
      <p:sp>
        <p:nvSpPr>
          <p:cNvPr id="21" name="CuadroTexto 20">
            <a:extLst>
              <a:ext uri="{FF2B5EF4-FFF2-40B4-BE49-F238E27FC236}">
                <a16:creationId xmlns:a16="http://schemas.microsoft.com/office/drawing/2014/main" id="{8F2AD994-5E24-9793-5A93-662FC6B89801}"/>
              </a:ext>
            </a:extLst>
          </p:cNvPr>
          <p:cNvSpPr txBox="1"/>
          <p:nvPr/>
        </p:nvSpPr>
        <p:spPr>
          <a:xfrm>
            <a:off x="7194193" y="2245127"/>
            <a:ext cx="4842134" cy="3416320"/>
          </a:xfrm>
          <a:prstGeom prst="rect">
            <a:avLst/>
          </a:prstGeom>
          <a:solidFill>
            <a:schemeClr val="accent3">
              <a:alpha val="65000"/>
            </a:schemeClr>
          </a:solidFill>
        </p:spPr>
        <p:txBody>
          <a:bodyPr wrap="square" rtlCol="0">
            <a:spAutoFit/>
          </a:bodyPr>
          <a:lstStyle/>
          <a:p>
            <a:pPr marL="285750" indent="-285750">
              <a:buFont typeface="Wingdings" panose="05000000000000000000" pitchFamily="2" charset="2"/>
              <a:buChar char="ü"/>
            </a:pPr>
            <a:r>
              <a:rPr lang="es-PE" b="1" dirty="0">
                <a:latin typeface="Book Antiqua" panose="02040602050305030304" pitchFamily="18" charset="0"/>
              </a:rPr>
              <a:t>Diferencias con la Arquitectura Cliente/Servidor</a:t>
            </a:r>
            <a:endParaRPr lang="es-PE" dirty="0">
              <a:latin typeface="Book Antiqua" panose="02040602050305030304" pitchFamily="18" charset="0"/>
            </a:endParaRPr>
          </a:p>
          <a:p>
            <a:r>
              <a:rPr lang="es-PE" dirty="0">
                <a:latin typeface="Book Antiqua" panose="02040602050305030304" pitchFamily="18" charset="0"/>
              </a:rPr>
              <a:t>En una arquitectura </a:t>
            </a:r>
            <a:r>
              <a:rPr lang="es-PE" b="1" dirty="0">
                <a:latin typeface="Book Antiqua" panose="02040602050305030304" pitchFamily="18" charset="0"/>
              </a:rPr>
              <a:t>Cliente/Servidor</a:t>
            </a:r>
            <a:r>
              <a:rPr lang="es-PE" dirty="0">
                <a:latin typeface="Book Antiqua" panose="02040602050305030304" pitchFamily="18" charset="0"/>
              </a:rPr>
              <a:t> tradicional, el cifrado suele estar centralizado en el servidor (él gestiona el certificado). En la </a:t>
            </a:r>
            <a:r>
              <a:rPr lang="es-PE" b="1" dirty="0">
                <a:latin typeface="Book Antiqua" panose="02040602050305030304" pitchFamily="18" charset="0"/>
              </a:rPr>
              <a:t>Computación Distribuida</a:t>
            </a:r>
            <a:r>
              <a:rPr lang="es-PE" dirty="0">
                <a:latin typeface="Book Antiqua" panose="02040602050305030304" pitchFamily="18" charset="0"/>
              </a:rPr>
              <a:t>, el cifrado es más complejo porque cada nodo debe ser capaz de autenticarse y cifrar comunicaciones con múltiples puntos a la vez, lo que requiere una gestión de claves mucho más robusta para mantener la integridad de todo el sistema.</a:t>
            </a:r>
          </a:p>
          <a:p>
            <a:endParaRPr lang="es-PE" dirty="0"/>
          </a:p>
        </p:txBody>
      </p:sp>
      <p:sp>
        <p:nvSpPr>
          <p:cNvPr id="8" name="Estrella: 4 puntas 7">
            <a:extLst>
              <a:ext uri="{FF2B5EF4-FFF2-40B4-BE49-F238E27FC236}">
                <a16:creationId xmlns:a16="http://schemas.microsoft.com/office/drawing/2014/main" id="{2337163A-1B15-9312-477E-B6C4ABBEF267}"/>
              </a:ext>
            </a:extLst>
          </p:cNvPr>
          <p:cNvSpPr/>
          <p:nvPr/>
        </p:nvSpPr>
        <p:spPr>
          <a:xfrm>
            <a:off x="6609944" y="2207357"/>
            <a:ext cx="518160" cy="369332"/>
          </a:xfrm>
          <a:prstGeom prst="star4">
            <a:avLst>
              <a:gd name="adj" fmla="val 8253"/>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 name="CuadroTexto 2">
            <a:extLst>
              <a:ext uri="{FF2B5EF4-FFF2-40B4-BE49-F238E27FC236}">
                <a16:creationId xmlns:a16="http://schemas.microsoft.com/office/drawing/2014/main" id="{5ABB3653-FAD8-D7F1-1B0C-89607228A263}"/>
              </a:ext>
            </a:extLst>
          </p:cNvPr>
          <p:cNvSpPr txBox="1"/>
          <p:nvPr/>
        </p:nvSpPr>
        <p:spPr>
          <a:xfrm>
            <a:off x="598221" y="1622548"/>
            <a:ext cx="4842135" cy="5724644"/>
          </a:xfrm>
          <a:prstGeom prst="rect">
            <a:avLst/>
          </a:prstGeom>
          <a:noFill/>
        </p:spPr>
        <p:txBody>
          <a:bodyPr wrap="square" rtlCol="0">
            <a:spAutoFit/>
          </a:bodyPr>
          <a:lstStyle/>
          <a:p>
            <a:pPr marL="285750" lvl="0" indent="-285750">
              <a:buFont typeface="Wingdings" panose="05000000000000000000" pitchFamily="2" charset="2"/>
              <a:buChar char="ü"/>
            </a:pPr>
            <a:r>
              <a:rPr lang="es-PE" sz="1400" b="1" dirty="0">
                <a:latin typeface="Book Antiqua" panose="02040602050305030304" pitchFamily="18" charset="0"/>
              </a:rPr>
              <a:t>Cifrado Simétrico y Asimétrico:</a:t>
            </a:r>
            <a:r>
              <a:rPr lang="es-PE" sz="1400" dirty="0">
                <a:latin typeface="Book Antiqua" panose="02040602050305030304" pitchFamily="18" charset="0"/>
              </a:rPr>
              <a:t> * El </a:t>
            </a:r>
            <a:r>
              <a:rPr lang="es-PE" sz="1400" b="1" dirty="0">
                <a:latin typeface="Book Antiqua" panose="02040602050305030304" pitchFamily="18" charset="0"/>
              </a:rPr>
              <a:t>asimétrico</a:t>
            </a:r>
            <a:r>
              <a:rPr lang="es-PE" sz="1400" dirty="0">
                <a:latin typeface="Book Antiqua" panose="02040602050305030304" pitchFamily="18" charset="0"/>
              </a:rPr>
              <a:t> (usando una clave pública y una privada) se usa al inicio para que el cliente y el servidor se reconozcan y "se pongan de acuerdo" de forma segura.</a:t>
            </a:r>
          </a:p>
          <a:p>
            <a:pPr lvl="1"/>
            <a:r>
              <a:rPr lang="es-PE" sz="1400" dirty="0">
                <a:latin typeface="Book Antiqua" panose="02040602050305030304" pitchFamily="18" charset="0"/>
              </a:rPr>
              <a:t>El </a:t>
            </a:r>
            <a:r>
              <a:rPr lang="es-PE" sz="1400" b="1" dirty="0">
                <a:latin typeface="Book Antiqua" panose="02040602050305030304" pitchFamily="18" charset="0"/>
              </a:rPr>
              <a:t>simétrico</a:t>
            </a:r>
            <a:r>
              <a:rPr lang="es-PE" sz="1400" dirty="0">
                <a:latin typeface="Book Antiqua" panose="02040602050305030304" pitchFamily="18" charset="0"/>
              </a:rPr>
              <a:t> se usa una vez establecida la conexión para cifrar los datos reales, ya que es mucho más rápido y eficiente para grandes volúmenes de información.</a:t>
            </a:r>
          </a:p>
          <a:p>
            <a:pPr marL="285750" lvl="0" indent="-285750">
              <a:buFont typeface="Wingdings" panose="05000000000000000000" pitchFamily="2" charset="2"/>
              <a:buChar char="ü"/>
            </a:pPr>
            <a:r>
              <a:rPr lang="es-PE" sz="1400" b="1" dirty="0">
                <a:latin typeface="Book Antiqua" panose="02040602050305030304" pitchFamily="18" charset="0"/>
              </a:rPr>
              <a:t>¿Qué es TLS (</a:t>
            </a:r>
            <a:r>
              <a:rPr lang="es-PE" sz="1400" b="1" dirty="0" err="1">
                <a:latin typeface="Book Antiqua" panose="02040602050305030304" pitchFamily="18" charset="0"/>
              </a:rPr>
              <a:t>Transport</a:t>
            </a:r>
            <a:r>
              <a:rPr lang="es-PE" sz="1400" b="1" dirty="0">
                <a:latin typeface="Book Antiqua" panose="02040602050305030304" pitchFamily="18" charset="0"/>
              </a:rPr>
              <a:t> </a:t>
            </a:r>
            <a:r>
              <a:rPr lang="es-PE" sz="1400" b="1" dirty="0" err="1">
                <a:latin typeface="Book Antiqua" panose="02040602050305030304" pitchFamily="18" charset="0"/>
              </a:rPr>
              <a:t>Layer</a:t>
            </a:r>
            <a:r>
              <a:rPr lang="es-PE" sz="1400" b="1" dirty="0">
                <a:latin typeface="Book Antiqua" panose="02040602050305030304" pitchFamily="18" charset="0"/>
              </a:rPr>
              <a:t> Security)?</a:t>
            </a:r>
            <a:r>
              <a:rPr lang="es-PE" sz="1400" dirty="0">
                <a:latin typeface="Book Antiqua" panose="02040602050305030304" pitchFamily="18" charset="0"/>
              </a:rPr>
              <a:t> Es el protocolo sucesor de SSL. Su función es establecer un canal seguro entre dos computadoras. Cuando navegas, el TLS garantiza tres cosas:</a:t>
            </a:r>
          </a:p>
          <a:p>
            <a:pPr lvl="1"/>
            <a:r>
              <a:rPr lang="es-PE" sz="1400" b="1" dirty="0">
                <a:latin typeface="Book Antiqua" panose="02040602050305030304" pitchFamily="18" charset="0"/>
              </a:rPr>
              <a:t>Cifrado:</a:t>
            </a:r>
            <a:r>
              <a:rPr lang="es-PE" sz="1400" dirty="0">
                <a:latin typeface="Book Antiqua" panose="02040602050305030304" pitchFamily="18" charset="0"/>
              </a:rPr>
              <a:t> Nadie puede leer lo que envías.</a:t>
            </a:r>
          </a:p>
          <a:p>
            <a:pPr lvl="1"/>
            <a:r>
              <a:rPr lang="es-PE" sz="1400" b="1" dirty="0">
                <a:latin typeface="Book Antiqua" panose="02040602050305030304" pitchFamily="18" charset="0"/>
              </a:rPr>
              <a:t>Autenticación:</a:t>
            </a:r>
            <a:r>
              <a:rPr lang="es-PE" sz="1400" dirty="0">
                <a:latin typeface="Book Antiqua" panose="02040602050305030304" pitchFamily="18" charset="0"/>
              </a:rPr>
              <a:t> Estás hablando con quien crees que estás hablando (el servidor es real).</a:t>
            </a:r>
          </a:p>
          <a:p>
            <a:pPr lvl="1"/>
            <a:r>
              <a:rPr lang="es-PE" sz="1400" b="1" dirty="0">
                <a:latin typeface="Book Antiqua" panose="02040602050305030304" pitchFamily="18" charset="0"/>
              </a:rPr>
              <a:t>Integridad:</a:t>
            </a:r>
            <a:r>
              <a:rPr lang="es-PE" sz="1400" dirty="0">
                <a:latin typeface="Book Antiqua" panose="02040602050305030304" pitchFamily="18" charset="0"/>
              </a:rPr>
              <a:t> Los datos no han sido modificados en el camino.</a:t>
            </a:r>
          </a:p>
          <a:p>
            <a:pPr marL="285750" lvl="0" indent="-285750">
              <a:buFont typeface="Wingdings" panose="05000000000000000000" pitchFamily="2" charset="2"/>
              <a:buChar char="ü"/>
            </a:pPr>
            <a:r>
              <a:rPr lang="es-PE" sz="1400" b="1" dirty="0">
                <a:latin typeface="Book Antiqua" panose="02040602050305030304" pitchFamily="18" charset="0"/>
              </a:rPr>
              <a:t>HTTPS (</a:t>
            </a:r>
            <a:r>
              <a:rPr lang="es-PE" sz="1400" b="1" dirty="0" err="1">
                <a:latin typeface="Book Antiqua" panose="02040602050305030304" pitchFamily="18" charset="0"/>
              </a:rPr>
              <a:t>HyperText</a:t>
            </a:r>
            <a:r>
              <a:rPr lang="es-PE" sz="1400" b="1" dirty="0">
                <a:latin typeface="Book Antiqua" panose="02040602050305030304" pitchFamily="18" charset="0"/>
              </a:rPr>
              <a:t> Transfer </a:t>
            </a:r>
            <a:r>
              <a:rPr lang="es-PE" sz="1400" b="1" dirty="0" err="1">
                <a:latin typeface="Book Antiqua" panose="02040602050305030304" pitchFamily="18" charset="0"/>
              </a:rPr>
              <a:t>Protocol</a:t>
            </a:r>
            <a:r>
              <a:rPr lang="es-PE" sz="1400" b="1" dirty="0">
                <a:latin typeface="Book Antiqua" panose="02040602050305030304" pitchFamily="18" charset="0"/>
              </a:rPr>
              <a:t> </a:t>
            </a:r>
            <a:r>
              <a:rPr lang="es-PE" sz="1400" b="1" dirty="0" err="1">
                <a:latin typeface="Book Antiqua" panose="02040602050305030304" pitchFamily="18" charset="0"/>
              </a:rPr>
              <a:t>Secure</a:t>
            </a:r>
            <a:r>
              <a:rPr lang="es-PE" sz="1400" b="1" dirty="0">
                <a:latin typeface="Book Antiqua" panose="02040602050305030304" pitchFamily="18" charset="0"/>
              </a:rPr>
              <a:t>):</a:t>
            </a:r>
            <a:r>
              <a:rPr lang="es-PE" sz="1400" dirty="0">
                <a:latin typeface="Book Antiqua" panose="02040602050305030304" pitchFamily="18" charset="0"/>
              </a:rPr>
              <a:t> Es simplemente el protocolo HTTP de toda la vida, pero que corre "encima" de una conexión cifrada por TLS. Es lo que activa el famoso candado en la barra del navegador. Sin HTTPS, cualquier dato que escribas en una web (contraseñas, tarjetas) podría ser capturado por alguien que esté escuchando en la misma red.</a:t>
            </a:r>
          </a:p>
          <a:p>
            <a:r>
              <a:rPr lang="es-PE" sz="1200" dirty="0">
                <a:latin typeface="Book Antiqua" panose="02040602050305030304" pitchFamily="18" charset="0"/>
              </a:rPr>
              <a:t>.</a:t>
            </a:r>
          </a:p>
          <a:p>
            <a:endParaRPr lang="es-PE" dirty="0"/>
          </a:p>
        </p:txBody>
      </p:sp>
    </p:spTree>
    <p:extLst>
      <p:ext uri="{BB962C8B-B14F-4D97-AF65-F5344CB8AC3E}">
        <p14:creationId xmlns:p14="http://schemas.microsoft.com/office/powerpoint/2010/main" val="30871817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lumMod val="75000"/>
              </a:schemeClr>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EF2D9242-928C-0D42-C4A7-343DE37F461E}"/>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25254610-5EBC-8316-B1B7-9F4BDCDE3837}"/>
              </a:ext>
            </a:extLst>
          </p:cNvPr>
          <p:cNvSpPr txBox="1"/>
          <p:nvPr/>
        </p:nvSpPr>
        <p:spPr>
          <a:xfrm>
            <a:off x="1098267" y="411716"/>
            <a:ext cx="11091448" cy="523220"/>
          </a:xfrm>
          <a:prstGeom prst="rect">
            <a:avLst/>
          </a:prstGeom>
          <a:noFill/>
          <a:effectLst>
            <a:outerShdw blurRad="50800" dist="38100" dir="2700000" algn="tl" rotWithShape="0">
              <a:prstClr val="black">
                <a:alpha val="40000"/>
              </a:prstClr>
            </a:outerShdw>
          </a:effectLst>
        </p:spPr>
        <p:txBody>
          <a:bodyPr wrap="square" rtlCol="0">
            <a:spAutoFit/>
          </a:bodyPr>
          <a:lstStyle/>
          <a:p>
            <a:r>
              <a:rPr lang="es-MX" sz="28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haroni" panose="02010803020104030203" pitchFamily="2" charset="-79"/>
                <a:cs typeface="Aharoni" panose="02010803020104030203" pitchFamily="2" charset="-79"/>
              </a:rPr>
              <a:t>SISTEMAS IDS/IPS (DETECCIÓN Y PREVENCIÓN DE INTRUSOS)</a:t>
            </a:r>
            <a:endParaRPr lang="es-PE" sz="28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haroni" panose="02010803020104030203" pitchFamily="2" charset="-79"/>
              <a:cs typeface="Aharoni" panose="02010803020104030203" pitchFamily="2" charset="-79"/>
            </a:endParaRPr>
          </a:p>
        </p:txBody>
      </p:sp>
      <p:cxnSp>
        <p:nvCxnSpPr>
          <p:cNvPr id="14" name="Conector: curvado 13">
            <a:extLst>
              <a:ext uri="{FF2B5EF4-FFF2-40B4-BE49-F238E27FC236}">
                <a16:creationId xmlns:a16="http://schemas.microsoft.com/office/drawing/2014/main" id="{F0F40C3A-990E-2172-43A9-20A6D9DC6F97}"/>
              </a:ext>
            </a:extLst>
          </p:cNvPr>
          <p:cNvCxnSpPr/>
          <p:nvPr/>
        </p:nvCxnSpPr>
        <p:spPr>
          <a:xfrm rot="16200000" flipH="1">
            <a:off x="-2405444" y="3280653"/>
            <a:ext cx="5564782" cy="296694"/>
          </a:xfrm>
          <a:prstGeom prst="curvedConnector3">
            <a:avLst>
              <a:gd name="adj1" fmla="val 50304"/>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16" name="Conector: curvado 15">
            <a:extLst>
              <a:ext uri="{FF2B5EF4-FFF2-40B4-BE49-F238E27FC236}">
                <a16:creationId xmlns:a16="http://schemas.microsoft.com/office/drawing/2014/main" id="{3E3F42F2-A254-1B63-279F-8F218276D491}"/>
              </a:ext>
            </a:extLst>
          </p:cNvPr>
          <p:cNvCxnSpPr>
            <a:cxnSpLocks/>
          </p:cNvCxnSpPr>
          <p:nvPr/>
        </p:nvCxnSpPr>
        <p:spPr>
          <a:xfrm rot="5400000">
            <a:off x="-2373206" y="3344886"/>
            <a:ext cx="5466260" cy="408501"/>
          </a:xfrm>
          <a:prstGeom prst="curvedConnector3">
            <a:avLst>
              <a:gd name="adj1" fmla="val 50000"/>
            </a:avLst>
          </a:prstGeom>
          <a:ln>
            <a:solidFill>
              <a:schemeClr val="accent1">
                <a:lumMod val="20000"/>
                <a:lumOff val="80000"/>
              </a:schemeClr>
            </a:solidFill>
          </a:ln>
        </p:spPr>
        <p:style>
          <a:lnRef idx="2">
            <a:schemeClr val="dk1"/>
          </a:lnRef>
          <a:fillRef idx="0">
            <a:schemeClr val="dk1"/>
          </a:fillRef>
          <a:effectRef idx="1">
            <a:schemeClr val="dk1"/>
          </a:effectRef>
          <a:fontRef idx="minor">
            <a:schemeClr val="tx1"/>
          </a:fontRef>
        </p:style>
      </p:cxnSp>
      <p:sp>
        <p:nvSpPr>
          <p:cNvPr id="2" name="CuadroTexto 1">
            <a:extLst>
              <a:ext uri="{FF2B5EF4-FFF2-40B4-BE49-F238E27FC236}">
                <a16:creationId xmlns:a16="http://schemas.microsoft.com/office/drawing/2014/main" id="{42F21B6E-A9E3-0E12-C3C6-4EAD13DDF39B}"/>
              </a:ext>
            </a:extLst>
          </p:cNvPr>
          <p:cNvSpPr txBox="1"/>
          <p:nvPr/>
        </p:nvSpPr>
        <p:spPr>
          <a:xfrm>
            <a:off x="935417" y="987128"/>
            <a:ext cx="9671564" cy="738664"/>
          </a:xfrm>
          <a:prstGeom prst="rect">
            <a:avLst/>
          </a:prstGeom>
          <a:noFill/>
        </p:spPr>
        <p:txBody>
          <a:bodyPr wrap="square" rtlCol="0">
            <a:spAutoFit/>
          </a:bodyPr>
          <a:lstStyle/>
          <a:p>
            <a:r>
              <a:rPr lang="es-MX" sz="1400" b="1" dirty="0">
                <a:latin typeface="Book Antiqua" panose="02040602050305030304" pitchFamily="18" charset="0"/>
              </a:rPr>
              <a:t>1.- ¿Qué son?:</a:t>
            </a:r>
            <a:endParaRPr lang="es-PE" sz="1400" dirty="0">
              <a:latin typeface="Book Antiqua" panose="02040602050305030304" pitchFamily="18" charset="0"/>
            </a:endParaRPr>
          </a:p>
          <a:p>
            <a:r>
              <a:rPr lang="es-PE" sz="1400" dirty="0">
                <a:latin typeface="Book Antiqua" panose="02040602050305030304" pitchFamily="18" charset="0"/>
              </a:rPr>
              <a:t>Aunque las dos herramientas se usan para monitorizar y detectar intrusiones en los equipos o en la red de la empresa son diferentes entre sí.</a:t>
            </a:r>
            <a:endParaRPr lang="es-PE" dirty="0"/>
          </a:p>
        </p:txBody>
      </p:sp>
      <p:pic>
        <p:nvPicPr>
          <p:cNvPr id="7" name="Gráfico 6" descr="Internet con relleno sólido">
            <a:extLst>
              <a:ext uri="{FF2B5EF4-FFF2-40B4-BE49-F238E27FC236}">
                <a16:creationId xmlns:a16="http://schemas.microsoft.com/office/drawing/2014/main" id="{259118AE-B1C9-2687-5924-3CF9DA5ADC7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36596" y="3225296"/>
            <a:ext cx="914400" cy="914400"/>
          </a:xfrm>
          <a:prstGeom prst="rect">
            <a:avLst/>
          </a:prstGeom>
        </p:spPr>
      </p:pic>
      <p:sp>
        <p:nvSpPr>
          <p:cNvPr id="12" name="Estrella: 4 puntas 11">
            <a:extLst>
              <a:ext uri="{FF2B5EF4-FFF2-40B4-BE49-F238E27FC236}">
                <a16:creationId xmlns:a16="http://schemas.microsoft.com/office/drawing/2014/main" id="{B4939648-540A-EDD4-5D6B-B58445C0713E}"/>
              </a:ext>
            </a:extLst>
          </p:cNvPr>
          <p:cNvSpPr/>
          <p:nvPr/>
        </p:nvSpPr>
        <p:spPr>
          <a:xfrm>
            <a:off x="228599" y="6380788"/>
            <a:ext cx="518160" cy="369332"/>
          </a:xfrm>
          <a:prstGeom prst="star4">
            <a:avLst>
              <a:gd name="adj" fmla="val 8253"/>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 name="Estrella: 4 puntas 14">
            <a:extLst>
              <a:ext uri="{FF2B5EF4-FFF2-40B4-BE49-F238E27FC236}">
                <a16:creationId xmlns:a16="http://schemas.microsoft.com/office/drawing/2014/main" id="{0C378300-E9CF-F8B0-54D6-DCE7024936D1}"/>
              </a:ext>
            </a:extLst>
          </p:cNvPr>
          <p:cNvSpPr/>
          <p:nvPr/>
        </p:nvSpPr>
        <p:spPr>
          <a:xfrm>
            <a:off x="11518167" y="1622548"/>
            <a:ext cx="518160" cy="369332"/>
          </a:xfrm>
          <a:prstGeom prst="star4">
            <a:avLst>
              <a:gd name="adj" fmla="val 8253"/>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9" name="Gráfico 8" descr="Nube con relleno sólido">
            <a:extLst>
              <a:ext uri="{FF2B5EF4-FFF2-40B4-BE49-F238E27FC236}">
                <a16:creationId xmlns:a16="http://schemas.microsoft.com/office/drawing/2014/main" id="{F450AA93-3BA1-8AD4-DF50-29A7B618ABA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0479" y="-70328"/>
            <a:ext cx="914400" cy="914400"/>
          </a:xfrm>
          <a:prstGeom prst="rect">
            <a:avLst/>
          </a:prstGeom>
        </p:spPr>
      </p:pic>
      <p:sp>
        <p:nvSpPr>
          <p:cNvPr id="21" name="CuadroTexto 20">
            <a:extLst>
              <a:ext uri="{FF2B5EF4-FFF2-40B4-BE49-F238E27FC236}">
                <a16:creationId xmlns:a16="http://schemas.microsoft.com/office/drawing/2014/main" id="{6D748C5B-048D-0815-B9FB-34A6D104EB4E}"/>
              </a:ext>
            </a:extLst>
          </p:cNvPr>
          <p:cNvSpPr txBox="1"/>
          <p:nvPr/>
        </p:nvSpPr>
        <p:spPr>
          <a:xfrm>
            <a:off x="6293796" y="4174626"/>
            <a:ext cx="5505855" cy="2954655"/>
          </a:xfrm>
          <a:prstGeom prst="rect">
            <a:avLst/>
          </a:prstGeom>
          <a:solidFill>
            <a:schemeClr val="accent3">
              <a:alpha val="65000"/>
            </a:schemeClr>
          </a:solidFill>
        </p:spPr>
        <p:txBody>
          <a:bodyPr wrap="square" rtlCol="0">
            <a:spAutoFit/>
          </a:bodyPr>
          <a:lstStyle/>
          <a:p>
            <a:r>
              <a:rPr lang="es-MX" sz="1400" b="1" dirty="0">
                <a:latin typeface="Book Antiqua" panose="02040602050305030304" pitchFamily="18" charset="0"/>
              </a:rPr>
              <a:t>3.- ¿Qué es IPS?:</a:t>
            </a:r>
            <a:endParaRPr lang="es-PE" sz="1400" dirty="0">
              <a:latin typeface="Book Antiqua" panose="02040602050305030304" pitchFamily="18" charset="0"/>
            </a:endParaRPr>
          </a:p>
          <a:p>
            <a:r>
              <a:rPr lang="es-PE" sz="1400" dirty="0">
                <a:latin typeface="Book Antiqua" panose="02040602050305030304" pitchFamily="18" charset="0"/>
                <a:hlinkClick r:id="rId6" tooltip="Glosario de términos de ciberseguridad: una guía de aproximación para el empresario [PDF - 2660 KB]">
                  <a:extLst>
                    <a:ext uri="{A12FA001-AC4F-418D-AE19-62706E023703}">
                      <ahyp:hlinkClr xmlns:ahyp="http://schemas.microsoft.com/office/drawing/2018/hyperlinkcolor" val="tx"/>
                    </a:ext>
                  </a:extLst>
                </a:hlinkClick>
              </a:rPr>
              <a:t>IPS (</a:t>
            </a:r>
            <a:r>
              <a:rPr lang="es-PE" sz="1400" dirty="0" err="1">
                <a:latin typeface="Book Antiqua" panose="02040602050305030304" pitchFamily="18" charset="0"/>
                <a:hlinkClick r:id="rId6" tooltip="Glosario de términos de ciberseguridad: una guía de aproximación para el empresario [PDF - 2660 KB]">
                  <a:extLst>
                    <a:ext uri="{A12FA001-AC4F-418D-AE19-62706E023703}">
                      <ahyp:hlinkClr xmlns:ahyp="http://schemas.microsoft.com/office/drawing/2018/hyperlinkcolor" val="tx"/>
                    </a:ext>
                  </a:extLst>
                </a:hlinkClick>
              </a:rPr>
              <a:t>Intrusion</a:t>
            </a:r>
            <a:r>
              <a:rPr lang="es-PE" sz="1400" dirty="0">
                <a:latin typeface="Book Antiqua" panose="02040602050305030304" pitchFamily="18" charset="0"/>
                <a:hlinkClick r:id="rId6" tooltip="Glosario de términos de ciberseguridad: una guía de aproximación para el empresario [PDF - 2660 KB]">
                  <a:extLst>
                    <a:ext uri="{A12FA001-AC4F-418D-AE19-62706E023703}">
                      <ahyp:hlinkClr xmlns:ahyp="http://schemas.microsoft.com/office/drawing/2018/hyperlinkcolor" val="tx"/>
                    </a:ext>
                  </a:extLst>
                </a:hlinkClick>
              </a:rPr>
              <a:t> </a:t>
            </a:r>
            <a:r>
              <a:rPr lang="es-PE" sz="1400" dirty="0" err="1">
                <a:latin typeface="Book Antiqua" panose="02040602050305030304" pitchFamily="18" charset="0"/>
                <a:hlinkClick r:id="rId6" tooltip="Glosario de términos de ciberseguridad: una guía de aproximación para el empresario [PDF - 2660 KB]">
                  <a:extLst>
                    <a:ext uri="{A12FA001-AC4F-418D-AE19-62706E023703}">
                      <ahyp:hlinkClr xmlns:ahyp="http://schemas.microsoft.com/office/drawing/2018/hyperlinkcolor" val="tx"/>
                    </a:ext>
                  </a:extLst>
                </a:hlinkClick>
              </a:rPr>
              <a:t>Prevention</a:t>
            </a:r>
            <a:r>
              <a:rPr lang="es-PE" sz="1400" dirty="0">
                <a:latin typeface="Book Antiqua" panose="02040602050305030304" pitchFamily="18" charset="0"/>
                <a:hlinkClick r:id="rId6" tooltip="Glosario de términos de ciberseguridad: una guía de aproximación para el empresario [PDF - 2660 KB]">
                  <a:extLst>
                    <a:ext uri="{A12FA001-AC4F-418D-AE19-62706E023703}">
                      <ahyp:hlinkClr xmlns:ahyp="http://schemas.microsoft.com/office/drawing/2018/hyperlinkcolor" val="tx"/>
                    </a:ext>
                  </a:extLst>
                </a:hlinkClick>
              </a:rPr>
              <a:t> </a:t>
            </a:r>
            <a:r>
              <a:rPr lang="es-PE" sz="1400" dirty="0" err="1">
                <a:latin typeface="Book Antiqua" panose="02040602050305030304" pitchFamily="18" charset="0"/>
                <a:hlinkClick r:id="rId6" tooltip="Glosario de términos de ciberseguridad: una guía de aproximación para el empresario [PDF - 2660 KB]">
                  <a:extLst>
                    <a:ext uri="{A12FA001-AC4F-418D-AE19-62706E023703}">
                      <ahyp:hlinkClr xmlns:ahyp="http://schemas.microsoft.com/office/drawing/2018/hyperlinkcolor" val="tx"/>
                    </a:ext>
                  </a:extLst>
                </a:hlinkClick>
              </a:rPr>
              <a:t>System</a:t>
            </a:r>
            <a:r>
              <a:rPr lang="es-PE" sz="1400" dirty="0">
                <a:latin typeface="Book Antiqua" panose="02040602050305030304" pitchFamily="18" charset="0"/>
                <a:hlinkClick r:id="rId6" tooltip="Glosario de términos de ciberseguridad: una guía de aproximación para el empresario [PDF - 2660 KB]">
                  <a:extLst>
                    <a:ext uri="{A12FA001-AC4F-418D-AE19-62706E023703}">
                      <ahyp:hlinkClr xmlns:ahyp="http://schemas.microsoft.com/office/drawing/2018/hyperlinkcolor" val="tx"/>
                    </a:ext>
                  </a:extLst>
                </a:hlinkClick>
              </a:rPr>
              <a:t>)</a:t>
            </a:r>
            <a:r>
              <a:rPr lang="es-PE" sz="1400" dirty="0">
                <a:latin typeface="Book Antiqua" panose="02040602050305030304" pitchFamily="18" charset="0"/>
              </a:rPr>
              <a:t> o sistema de prevención de intrusiones: es un software que se utiliza para proteger a los sistemas de ataques e intrusiones. Su actuación es preventiva. Estos sistemas llevan a cabo un análisis en tiempo real de las conexiones y los protocolos para determinar si se está produciendo o se va a producir un incidente, identificando ataques según patrones, anomalías o comportamientos sospechosos y permitiendo el control de acceso a la red, implementando políticas que se basan en el contenido del tráfico monitorizado, es decir, el IPS además de lanzar alarmas, puede descartar paquetes y desconectar conexiones.</a:t>
            </a:r>
          </a:p>
          <a:p>
            <a:endParaRPr lang="es-PE" dirty="0"/>
          </a:p>
        </p:txBody>
      </p:sp>
      <p:sp>
        <p:nvSpPr>
          <p:cNvPr id="8" name="Estrella: 4 puntas 7">
            <a:extLst>
              <a:ext uri="{FF2B5EF4-FFF2-40B4-BE49-F238E27FC236}">
                <a16:creationId xmlns:a16="http://schemas.microsoft.com/office/drawing/2014/main" id="{2E836B68-86FC-4C79-073B-12470F3886CB}"/>
              </a:ext>
            </a:extLst>
          </p:cNvPr>
          <p:cNvSpPr/>
          <p:nvPr/>
        </p:nvSpPr>
        <p:spPr>
          <a:xfrm>
            <a:off x="6609944" y="2207357"/>
            <a:ext cx="518160" cy="369332"/>
          </a:xfrm>
          <a:prstGeom prst="star4">
            <a:avLst>
              <a:gd name="adj" fmla="val 8253"/>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 name="CuadroTexto 2">
            <a:extLst>
              <a:ext uri="{FF2B5EF4-FFF2-40B4-BE49-F238E27FC236}">
                <a16:creationId xmlns:a16="http://schemas.microsoft.com/office/drawing/2014/main" id="{685677E7-DFE0-1639-EC0F-BB8A93B9C908}"/>
              </a:ext>
            </a:extLst>
          </p:cNvPr>
          <p:cNvSpPr txBox="1"/>
          <p:nvPr/>
        </p:nvSpPr>
        <p:spPr>
          <a:xfrm>
            <a:off x="630264" y="1991880"/>
            <a:ext cx="4842135" cy="3139321"/>
          </a:xfrm>
          <a:prstGeom prst="rect">
            <a:avLst/>
          </a:prstGeom>
          <a:noFill/>
        </p:spPr>
        <p:txBody>
          <a:bodyPr wrap="square" rtlCol="0">
            <a:spAutoFit/>
          </a:bodyPr>
          <a:lstStyle/>
          <a:p>
            <a:r>
              <a:rPr lang="es-MX" sz="1400" b="1" dirty="0">
                <a:latin typeface="Book Antiqua" panose="02040602050305030304" pitchFamily="18" charset="0"/>
              </a:rPr>
              <a:t>2.- ¿Qué es IDS?:</a:t>
            </a:r>
            <a:endParaRPr lang="es-PE" sz="1400" dirty="0">
              <a:latin typeface="Book Antiqua" panose="02040602050305030304" pitchFamily="18" charset="0"/>
            </a:endParaRPr>
          </a:p>
          <a:p>
            <a:r>
              <a:rPr lang="es-PE" sz="1400" dirty="0">
                <a:latin typeface="Book Antiqua" panose="02040602050305030304" pitchFamily="18" charset="0"/>
                <a:hlinkClick r:id="rId6" tooltip="Glosario de términos de ciberseguridad: una guía de aproximación para el empresario [PDF - 2660 KB]">
                  <a:extLst>
                    <a:ext uri="{A12FA001-AC4F-418D-AE19-62706E023703}">
                      <ahyp:hlinkClr xmlns:ahyp="http://schemas.microsoft.com/office/drawing/2018/hyperlinkcolor" val="tx"/>
                    </a:ext>
                  </a:extLst>
                </a:hlinkClick>
              </a:rPr>
              <a:t>IDS (</a:t>
            </a:r>
            <a:r>
              <a:rPr lang="es-PE" sz="1400" dirty="0" err="1">
                <a:latin typeface="Book Antiqua" panose="02040602050305030304" pitchFamily="18" charset="0"/>
                <a:hlinkClick r:id="rId6" tooltip="Glosario de términos de ciberseguridad: una guía de aproximación para el empresario [PDF - 2660 KB]">
                  <a:extLst>
                    <a:ext uri="{A12FA001-AC4F-418D-AE19-62706E023703}">
                      <ahyp:hlinkClr xmlns:ahyp="http://schemas.microsoft.com/office/drawing/2018/hyperlinkcolor" val="tx"/>
                    </a:ext>
                  </a:extLst>
                </a:hlinkClick>
              </a:rPr>
              <a:t>Intrusion</a:t>
            </a:r>
            <a:r>
              <a:rPr lang="es-PE" sz="1400" dirty="0">
                <a:latin typeface="Book Antiqua" panose="02040602050305030304" pitchFamily="18" charset="0"/>
                <a:hlinkClick r:id="rId6" tooltip="Glosario de términos de ciberseguridad: una guía de aproximación para el empresario [PDF - 2660 KB]">
                  <a:extLst>
                    <a:ext uri="{A12FA001-AC4F-418D-AE19-62706E023703}">
                      <ahyp:hlinkClr xmlns:ahyp="http://schemas.microsoft.com/office/drawing/2018/hyperlinkcolor" val="tx"/>
                    </a:ext>
                  </a:extLst>
                </a:hlinkClick>
              </a:rPr>
              <a:t> </a:t>
            </a:r>
            <a:r>
              <a:rPr lang="es-PE" sz="1400" dirty="0" err="1">
                <a:latin typeface="Book Antiqua" panose="02040602050305030304" pitchFamily="18" charset="0"/>
                <a:hlinkClick r:id="rId6" tooltip="Glosario de términos de ciberseguridad: una guía de aproximación para el empresario [PDF - 2660 KB]">
                  <a:extLst>
                    <a:ext uri="{A12FA001-AC4F-418D-AE19-62706E023703}">
                      <ahyp:hlinkClr xmlns:ahyp="http://schemas.microsoft.com/office/drawing/2018/hyperlinkcolor" val="tx"/>
                    </a:ext>
                  </a:extLst>
                </a:hlinkClick>
              </a:rPr>
              <a:t>Detection</a:t>
            </a:r>
            <a:r>
              <a:rPr lang="es-PE" sz="1400" dirty="0">
                <a:latin typeface="Book Antiqua" panose="02040602050305030304" pitchFamily="18" charset="0"/>
                <a:hlinkClick r:id="rId6" tooltip="Glosario de términos de ciberseguridad: una guía de aproximación para el empresario [PDF - 2660 KB]">
                  <a:extLst>
                    <a:ext uri="{A12FA001-AC4F-418D-AE19-62706E023703}">
                      <ahyp:hlinkClr xmlns:ahyp="http://schemas.microsoft.com/office/drawing/2018/hyperlinkcolor" val="tx"/>
                    </a:ext>
                  </a:extLst>
                </a:hlinkClick>
              </a:rPr>
              <a:t> </a:t>
            </a:r>
            <a:r>
              <a:rPr lang="es-PE" sz="1400" dirty="0" err="1">
                <a:latin typeface="Book Antiqua" panose="02040602050305030304" pitchFamily="18" charset="0"/>
                <a:hlinkClick r:id="rId6" tooltip="Glosario de términos de ciberseguridad: una guía de aproximación para el empresario [PDF - 2660 KB]">
                  <a:extLst>
                    <a:ext uri="{A12FA001-AC4F-418D-AE19-62706E023703}">
                      <ahyp:hlinkClr xmlns:ahyp="http://schemas.microsoft.com/office/drawing/2018/hyperlinkcolor" val="tx"/>
                    </a:ext>
                  </a:extLst>
                </a:hlinkClick>
              </a:rPr>
              <a:t>System</a:t>
            </a:r>
            <a:r>
              <a:rPr lang="es-PE" sz="1400" dirty="0">
                <a:latin typeface="Book Antiqua" panose="02040602050305030304" pitchFamily="18" charset="0"/>
                <a:hlinkClick r:id="rId6" tooltip="Glosario de términos de ciberseguridad: una guía de aproximación para el empresario [PDF - 2660 KB]">
                  <a:extLst>
                    <a:ext uri="{A12FA001-AC4F-418D-AE19-62706E023703}">
                      <ahyp:hlinkClr xmlns:ahyp="http://schemas.microsoft.com/office/drawing/2018/hyperlinkcolor" val="tx"/>
                    </a:ext>
                  </a:extLst>
                </a:hlinkClick>
              </a:rPr>
              <a:t>)</a:t>
            </a:r>
            <a:r>
              <a:rPr lang="es-PE" sz="1400" dirty="0">
                <a:latin typeface="Book Antiqua" panose="02040602050305030304" pitchFamily="18" charset="0"/>
              </a:rPr>
              <a:t> o sistema de detección de intrusiones: es una aplicación usada para detectar accesos no autorizados a un ordenador o a una red, es decir, son sistemas que monitorizan el tráfico entrante y lo cotejan con una base de datos actualizada de firmas de ataque conocidas. Ante cualquier actividad sospechosa, emiten una alerta a los administradores del sistema quienes han de tomar las medidas oportunas. Estos sistemas sólo detectan los accesos sospechosos emitiendo alertas anticipatorias de posibles intrusiones, pero no tratan de mitigar la intrusión. Su actuación es reactiva.</a:t>
            </a:r>
          </a:p>
          <a:p>
            <a:endParaRPr lang="es-PE" sz="1200" dirty="0">
              <a:latin typeface="Book Antiqua" panose="02040602050305030304" pitchFamily="18" charset="0"/>
            </a:endParaRPr>
          </a:p>
          <a:p>
            <a:endParaRPr lang="es-PE" dirty="0"/>
          </a:p>
        </p:txBody>
      </p:sp>
      <p:pic>
        <p:nvPicPr>
          <p:cNvPr id="5" name="Imagen 4" descr="Qué son y para qué sirven los SIEM, IDS e IPS? | Empresas | INCIBE">
            <a:extLst>
              <a:ext uri="{FF2B5EF4-FFF2-40B4-BE49-F238E27FC236}">
                <a16:creationId xmlns:a16="http://schemas.microsoft.com/office/drawing/2014/main" id="{842EEFEA-E26C-E751-F241-4D8E2429F044}"/>
              </a:ext>
            </a:extLst>
          </p:cNvPr>
          <p:cNvPicPr>
            <a:picLocks noChangeAspect="1"/>
          </p:cNvPicPr>
          <p:nvPr/>
        </p:nvPicPr>
        <p:blipFill>
          <a:blip r:embed="rId7"/>
          <a:stretch>
            <a:fillRect/>
          </a:stretch>
        </p:blipFill>
        <p:spPr>
          <a:xfrm>
            <a:off x="8265649" y="1622548"/>
            <a:ext cx="3073147" cy="2317473"/>
          </a:xfrm>
          <a:prstGeom prst="rect">
            <a:avLst/>
          </a:prstGeom>
        </p:spPr>
      </p:pic>
      <p:cxnSp>
        <p:nvCxnSpPr>
          <p:cNvPr id="10" name="Conector recto de flecha 9">
            <a:extLst>
              <a:ext uri="{FF2B5EF4-FFF2-40B4-BE49-F238E27FC236}">
                <a16:creationId xmlns:a16="http://schemas.microsoft.com/office/drawing/2014/main" id="{B3ECD28B-7E3D-E52E-B376-04FE9EF9D3C5}"/>
              </a:ext>
            </a:extLst>
          </p:cNvPr>
          <p:cNvCxnSpPr/>
          <p:nvPr/>
        </p:nvCxnSpPr>
        <p:spPr>
          <a:xfrm>
            <a:off x="6222135" y="2811294"/>
            <a:ext cx="1293778" cy="0"/>
          </a:xfrm>
          <a:prstGeom prst="straightConnector1">
            <a:avLst/>
          </a:prstGeom>
          <a:ln>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11" name="Conector recto de flecha 10">
            <a:extLst>
              <a:ext uri="{FF2B5EF4-FFF2-40B4-BE49-F238E27FC236}">
                <a16:creationId xmlns:a16="http://schemas.microsoft.com/office/drawing/2014/main" id="{829AB5C1-32C1-9C1F-96B2-85EEB4A2EE7F}"/>
              </a:ext>
            </a:extLst>
          </p:cNvPr>
          <p:cNvCxnSpPr>
            <a:cxnSpLocks/>
          </p:cNvCxnSpPr>
          <p:nvPr/>
        </p:nvCxnSpPr>
        <p:spPr>
          <a:xfrm flipH="1">
            <a:off x="5896095" y="3002604"/>
            <a:ext cx="1056911" cy="0"/>
          </a:xfrm>
          <a:prstGeom prst="straightConnector1">
            <a:avLst/>
          </a:prstGeom>
          <a:ln>
            <a:solidFill>
              <a:schemeClr val="tx1"/>
            </a:solidFill>
            <a:tailEnd type="triangle"/>
          </a:ln>
        </p:spPr>
        <p:style>
          <a:lnRef idx="2">
            <a:schemeClr val="dk1"/>
          </a:lnRef>
          <a:fillRef idx="0">
            <a:schemeClr val="dk1"/>
          </a:fillRef>
          <a:effectRef idx="1">
            <a:schemeClr val="dk1"/>
          </a:effectRef>
          <a:fontRef idx="minor">
            <a:schemeClr val="tx1"/>
          </a:fontRef>
        </p:style>
      </p:cxnSp>
      <p:pic>
        <p:nvPicPr>
          <p:cNvPr id="18" name="Imagen 17" descr="¿Qué son las pantallas IPS?">
            <a:extLst>
              <a:ext uri="{FF2B5EF4-FFF2-40B4-BE49-F238E27FC236}">
                <a16:creationId xmlns:a16="http://schemas.microsoft.com/office/drawing/2014/main" id="{978FBA00-FF95-70E3-9289-0C27D44B9B27}"/>
              </a:ext>
            </a:extLst>
          </p:cNvPr>
          <p:cNvPicPr>
            <a:picLocks noChangeAspect="1"/>
          </p:cNvPicPr>
          <p:nvPr/>
        </p:nvPicPr>
        <p:blipFill>
          <a:blip r:embed="rId8"/>
          <a:stretch>
            <a:fillRect/>
          </a:stretch>
        </p:blipFill>
        <p:spPr>
          <a:xfrm>
            <a:off x="812848" y="4873833"/>
            <a:ext cx="3477050" cy="1764323"/>
          </a:xfrm>
          <a:prstGeom prst="rect">
            <a:avLst/>
          </a:prstGeom>
        </p:spPr>
      </p:pic>
      <p:cxnSp>
        <p:nvCxnSpPr>
          <p:cNvPr id="19" name="Conector recto de flecha 18">
            <a:extLst>
              <a:ext uri="{FF2B5EF4-FFF2-40B4-BE49-F238E27FC236}">
                <a16:creationId xmlns:a16="http://schemas.microsoft.com/office/drawing/2014/main" id="{7619E2E2-38B3-01DE-6D04-C6C19920A941}"/>
              </a:ext>
            </a:extLst>
          </p:cNvPr>
          <p:cNvCxnSpPr/>
          <p:nvPr/>
        </p:nvCxnSpPr>
        <p:spPr>
          <a:xfrm>
            <a:off x="4672195" y="5131201"/>
            <a:ext cx="1293778" cy="0"/>
          </a:xfrm>
          <a:prstGeom prst="straightConnector1">
            <a:avLst/>
          </a:prstGeom>
          <a:ln>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20" name="Conector recto de flecha 19">
            <a:extLst>
              <a:ext uri="{FF2B5EF4-FFF2-40B4-BE49-F238E27FC236}">
                <a16:creationId xmlns:a16="http://schemas.microsoft.com/office/drawing/2014/main" id="{A3856DC7-2EAA-DE12-DDD2-A48D87573B13}"/>
              </a:ext>
            </a:extLst>
          </p:cNvPr>
          <p:cNvCxnSpPr>
            <a:cxnSpLocks/>
          </p:cNvCxnSpPr>
          <p:nvPr/>
        </p:nvCxnSpPr>
        <p:spPr>
          <a:xfrm flipH="1">
            <a:off x="4467532" y="5361423"/>
            <a:ext cx="1174511" cy="0"/>
          </a:xfrm>
          <a:prstGeom prst="straightConnector1">
            <a:avLst/>
          </a:prstGeom>
          <a:ln>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24" name="Conector recto de flecha 23">
            <a:extLst>
              <a:ext uri="{FF2B5EF4-FFF2-40B4-BE49-F238E27FC236}">
                <a16:creationId xmlns:a16="http://schemas.microsoft.com/office/drawing/2014/main" id="{C9627F2E-A073-9425-9A62-8F27E2E07899}"/>
              </a:ext>
            </a:extLst>
          </p:cNvPr>
          <p:cNvCxnSpPr/>
          <p:nvPr/>
        </p:nvCxnSpPr>
        <p:spPr>
          <a:xfrm>
            <a:off x="4824595" y="5283601"/>
            <a:ext cx="1293778" cy="0"/>
          </a:xfrm>
          <a:prstGeom prst="straightConnector1">
            <a:avLst/>
          </a:prstGeom>
          <a:ln>
            <a:solidFill>
              <a:schemeClr val="tx1"/>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145170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lumMod val="75000"/>
              </a:schemeClr>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1645EEDE-E96D-BF91-68F9-EB43FF61557F}"/>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DBCE14E2-CDCE-3593-D03A-0C4AC4D453F9}"/>
              </a:ext>
            </a:extLst>
          </p:cNvPr>
          <p:cNvSpPr txBox="1"/>
          <p:nvPr/>
        </p:nvSpPr>
        <p:spPr>
          <a:xfrm>
            <a:off x="1454654" y="145336"/>
            <a:ext cx="11091448" cy="523220"/>
          </a:xfrm>
          <a:prstGeom prst="rect">
            <a:avLst/>
          </a:prstGeom>
          <a:noFill/>
          <a:effectLst>
            <a:outerShdw blurRad="50800" dist="38100" dir="2700000" algn="tl" rotWithShape="0">
              <a:prstClr val="black">
                <a:alpha val="40000"/>
              </a:prstClr>
            </a:outerShdw>
          </a:effectLst>
        </p:spPr>
        <p:txBody>
          <a:bodyPr wrap="square" rtlCol="0">
            <a:spAutoFit/>
          </a:bodyPr>
          <a:lstStyle/>
          <a:p>
            <a:r>
              <a:rPr lang="es-PE" sz="28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haroni" panose="02010803020104030203" pitchFamily="2" charset="-79"/>
                <a:cs typeface="Aharoni" panose="02010803020104030203" pitchFamily="2" charset="-79"/>
              </a:rPr>
              <a:t>4.-VENTAJAS Y DESVENTAJAS DE CADA HERRAMIENTA:</a:t>
            </a:r>
          </a:p>
        </p:txBody>
      </p:sp>
      <p:cxnSp>
        <p:nvCxnSpPr>
          <p:cNvPr id="14" name="Conector: curvado 13">
            <a:extLst>
              <a:ext uri="{FF2B5EF4-FFF2-40B4-BE49-F238E27FC236}">
                <a16:creationId xmlns:a16="http://schemas.microsoft.com/office/drawing/2014/main" id="{0BBD87D6-731D-E0F4-7E0D-1F4F75189146}"/>
              </a:ext>
            </a:extLst>
          </p:cNvPr>
          <p:cNvCxnSpPr/>
          <p:nvPr/>
        </p:nvCxnSpPr>
        <p:spPr>
          <a:xfrm rot="16200000" flipH="1">
            <a:off x="-2405444" y="3280653"/>
            <a:ext cx="5564782" cy="296694"/>
          </a:xfrm>
          <a:prstGeom prst="curvedConnector3">
            <a:avLst>
              <a:gd name="adj1" fmla="val 50304"/>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16" name="Conector: curvado 15">
            <a:extLst>
              <a:ext uri="{FF2B5EF4-FFF2-40B4-BE49-F238E27FC236}">
                <a16:creationId xmlns:a16="http://schemas.microsoft.com/office/drawing/2014/main" id="{CCA254D5-69EA-32AD-0EFA-740F4F2B2FF6}"/>
              </a:ext>
            </a:extLst>
          </p:cNvPr>
          <p:cNvCxnSpPr>
            <a:cxnSpLocks/>
          </p:cNvCxnSpPr>
          <p:nvPr/>
        </p:nvCxnSpPr>
        <p:spPr>
          <a:xfrm rot="5400000">
            <a:off x="-2373206" y="3344886"/>
            <a:ext cx="5466260" cy="408501"/>
          </a:xfrm>
          <a:prstGeom prst="curvedConnector3">
            <a:avLst>
              <a:gd name="adj1" fmla="val 50000"/>
            </a:avLst>
          </a:prstGeom>
          <a:ln>
            <a:solidFill>
              <a:schemeClr val="accent1">
                <a:lumMod val="20000"/>
                <a:lumOff val="80000"/>
              </a:schemeClr>
            </a:solidFill>
          </a:ln>
        </p:spPr>
        <p:style>
          <a:lnRef idx="2">
            <a:schemeClr val="dk1"/>
          </a:lnRef>
          <a:fillRef idx="0">
            <a:schemeClr val="dk1"/>
          </a:fillRef>
          <a:effectRef idx="1">
            <a:schemeClr val="dk1"/>
          </a:effectRef>
          <a:fontRef idx="minor">
            <a:schemeClr val="tx1"/>
          </a:fontRef>
        </p:style>
      </p:cxnSp>
      <p:sp>
        <p:nvSpPr>
          <p:cNvPr id="2" name="CuadroTexto 1">
            <a:extLst>
              <a:ext uri="{FF2B5EF4-FFF2-40B4-BE49-F238E27FC236}">
                <a16:creationId xmlns:a16="http://schemas.microsoft.com/office/drawing/2014/main" id="{A5ABAA20-D0A1-6575-4DAD-C68D3D840CAF}"/>
              </a:ext>
            </a:extLst>
          </p:cNvPr>
          <p:cNvSpPr txBox="1"/>
          <p:nvPr/>
        </p:nvSpPr>
        <p:spPr>
          <a:xfrm>
            <a:off x="-87549" y="987128"/>
            <a:ext cx="6309684" cy="2031325"/>
          </a:xfrm>
          <a:prstGeom prst="rect">
            <a:avLst/>
          </a:prstGeom>
          <a:noFill/>
        </p:spPr>
        <p:txBody>
          <a:bodyPr wrap="square" rtlCol="0">
            <a:spAutoFit/>
          </a:bodyPr>
          <a:lstStyle/>
          <a:p>
            <a:pPr marL="742950" lvl="1" indent="-285750">
              <a:buFont typeface="Wingdings" panose="05000000000000000000" pitchFamily="2" charset="2"/>
              <a:buChar char="ü"/>
            </a:pPr>
            <a:r>
              <a:rPr lang="es-MX" sz="1400" b="1" dirty="0">
                <a:latin typeface="Book Antiqua" panose="02040602050305030304" pitchFamily="18" charset="0"/>
              </a:rPr>
              <a:t>IDS:</a:t>
            </a:r>
            <a:r>
              <a:rPr lang="es-MX" sz="1400" dirty="0">
                <a:latin typeface="Book Antiqua" panose="02040602050305030304" pitchFamily="18" charset="0"/>
              </a:rPr>
              <a:t> </a:t>
            </a:r>
            <a:r>
              <a:rPr lang="es-PE" sz="1400" dirty="0">
                <a:latin typeface="Book Antiqua" panose="02040602050305030304" pitchFamily="18" charset="0"/>
              </a:rPr>
              <a:t>La principal ventaja de un sistema IDS es que permite ver lo que está sucediendo en la red en tiempo real en base a la información recopilada, reconocer modificaciones en los documentos y automatizar los patrones de búsqueda en los paquetes de datos enviados a través de la red. Su principal desventaja es qué estas herramientas, sobre todo en el caso de las de tipo pasivo, no es están diseñadas para prevenir o detener los ataques que detecten, además son vulnerables a los </a:t>
            </a:r>
            <a:r>
              <a:rPr lang="es-PE" sz="1400" dirty="0">
                <a:latin typeface="Book Antiqua" panose="02040602050305030304" pitchFamily="18" charset="0"/>
                <a:hlinkClick r:id="rId2" tooltip="Glosario de términos de ciberseguridad: una guía de aproximación para el empresario [PDF - 2660 KB]">
                  <a:extLst>
                    <a:ext uri="{A12FA001-AC4F-418D-AE19-62706E023703}">
                      <ahyp:hlinkClr xmlns:ahyp="http://schemas.microsoft.com/office/drawing/2018/hyperlinkcolor" val="tx"/>
                    </a:ext>
                  </a:extLst>
                </a:hlinkClick>
              </a:rPr>
              <a:t>ataques </a:t>
            </a:r>
            <a:r>
              <a:rPr lang="es-PE" sz="1400" dirty="0" err="1">
                <a:latin typeface="Book Antiqua" panose="02040602050305030304" pitchFamily="18" charset="0"/>
                <a:hlinkClick r:id="rId2" tooltip="Glosario de términos de ciberseguridad: una guía de aproximación para el empresario [PDF - 2660 KB]">
                  <a:extLst>
                    <a:ext uri="{A12FA001-AC4F-418D-AE19-62706E023703}">
                      <ahyp:hlinkClr xmlns:ahyp="http://schemas.microsoft.com/office/drawing/2018/hyperlinkcolor" val="tx"/>
                    </a:ext>
                  </a:extLst>
                </a:hlinkClick>
              </a:rPr>
              <a:t>DDoS</a:t>
            </a:r>
            <a:r>
              <a:rPr lang="es-PE" sz="1400" dirty="0">
                <a:latin typeface="Book Antiqua" panose="02040602050305030304" pitchFamily="18" charset="0"/>
              </a:rPr>
              <a:t> que pueden provocar la inoperatividad de la herramienta.</a:t>
            </a:r>
          </a:p>
        </p:txBody>
      </p:sp>
      <p:pic>
        <p:nvPicPr>
          <p:cNvPr id="7" name="Gráfico 6" descr="Internet con relleno sólido">
            <a:extLst>
              <a:ext uri="{FF2B5EF4-FFF2-40B4-BE49-F238E27FC236}">
                <a16:creationId xmlns:a16="http://schemas.microsoft.com/office/drawing/2014/main" id="{F4FA60C8-598D-96AF-A09F-58A48DA5D07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95468" y="3066772"/>
            <a:ext cx="914400" cy="914400"/>
          </a:xfrm>
          <a:prstGeom prst="rect">
            <a:avLst/>
          </a:prstGeom>
        </p:spPr>
      </p:pic>
      <p:sp>
        <p:nvSpPr>
          <p:cNvPr id="12" name="Estrella: 4 puntas 11">
            <a:extLst>
              <a:ext uri="{FF2B5EF4-FFF2-40B4-BE49-F238E27FC236}">
                <a16:creationId xmlns:a16="http://schemas.microsoft.com/office/drawing/2014/main" id="{2F03DCFF-67AB-696A-4B33-F40A22EA7917}"/>
              </a:ext>
            </a:extLst>
          </p:cNvPr>
          <p:cNvSpPr/>
          <p:nvPr/>
        </p:nvSpPr>
        <p:spPr>
          <a:xfrm>
            <a:off x="228599" y="6380788"/>
            <a:ext cx="518160" cy="369332"/>
          </a:xfrm>
          <a:prstGeom prst="star4">
            <a:avLst>
              <a:gd name="adj" fmla="val 8253"/>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 name="Estrella: 4 puntas 14">
            <a:extLst>
              <a:ext uri="{FF2B5EF4-FFF2-40B4-BE49-F238E27FC236}">
                <a16:creationId xmlns:a16="http://schemas.microsoft.com/office/drawing/2014/main" id="{17004836-B2A3-71AF-977B-DD32A360F8AC}"/>
              </a:ext>
            </a:extLst>
          </p:cNvPr>
          <p:cNvSpPr/>
          <p:nvPr/>
        </p:nvSpPr>
        <p:spPr>
          <a:xfrm>
            <a:off x="11518167" y="1622548"/>
            <a:ext cx="518160" cy="369332"/>
          </a:xfrm>
          <a:prstGeom prst="star4">
            <a:avLst>
              <a:gd name="adj" fmla="val 8253"/>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9" name="Gráfico 8" descr="Nube con relleno sólido">
            <a:extLst>
              <a:ext uri="{FF2B5EF4-FFF2-40B4-BE49-F238E27FC236}">
                <a16:creationId xmlns:a16="http://schemas.microsoft.com/office/drawing/2014/main" id="{9534C52F-F479-721F-DBED-F859198C16D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0479" y="-70328"/>
            <a:ext cx="914400" cy="914400"/>
          </a:xfrm>
          <a:prstGeom prst="rect">
            <a:avLst/>
          </a:prstGeom>
        </p:spPr>
      </p:pic>
      <p:sp>
        <p:nvSpPr>
          <p:cNvPr id="21" name="CuadroTexto 20">
            <a:extLst>
              <a:ext uri="{FF2B5EF4-FFF2-40B4-BE49-F238E27FC236}">
                <a16:creationId xmlns:a16="http://schemas.microsoft.com/office/drawing/2014/main" id="{7776777D-6180-4A03-A992-4383F7F675FD}"/>
              </a:ext>
            </a:extLst>
          </p:cNvPr>
          <p:cNvSpPr txBox="1"/>
          <p:nvPr/>
        </p:nvSpPr>
        <p:spPr>
          <a:xfrm>
            <a:off x="6293796" y="4174626"/>
            <a:ext cx="5505855" cy="2523768"/>
          </a:xfrm>
          <a:prstGeom prst="rect">
            <a:avLst/>
          </a:prstGeom>
          <a:solidFill>
            <a:schemeClr val="accent3">
              <a:alpha val="65000"/>
            </a:schemeClr>
          </a:solidFill>
        </p:spPr>
        <p:txBody>
          <a:bodyPr wrap="square" rtlCol="0">
            <a:spAutoFit/>
          </a:bodyPr>
          <a:lstStyle/>
          <a:p>
            <a:pPr marL="285750" indent="-285750">
              <a:buFont typeface="Wingdings" panose="05000000000000000000" pitchFamily="2" charset="2"/>
              <a:buChar char="ü"/>
            </a:pPr>
            <a:r>
              <a:rPr lang="es-PE" sz="1400" b="1" dirty="0">
                <a:latin typeface="Book Antiqua" panose="02040602050305030304" pitchFamily="18" charset="0"/>
              </a:rPr>
              <a:t>5.- ¿Por qué es aconsejable contar con alguna de estas herramientas?</a:t>
            </a:r>
            <a:endParaRPr lang="es-PE" sz="1400" dirty="0">
              <a:latin typeface="Book Antiqua" panose="02040602050305030304" pitchFamily="18" charset="0"/>
            </a:endParaRPr>
          </a:p>
          <a:p>
            <a:r>
              <a:rPr lang="es-PE" sz="1400" dirty="0">
                <a:latin typeface="Book Antiqua" panose="02040602050305030304" pitchFamily="18" charset="0"/>
              </a:rPr>
              <a:t>Estas herramientas permiten a las empresas enfrentarse, ya sea de forma pasiva (automatizada) o activa a las amenazas que puedan afectar al buen funcionamiento de los sistemas, como pueden ser redes de comunicaciones, </a:t>
            </a:r>
            <a:r>
              <a:rPr lang="es-PE" sz="1400" dirty="0">
                <a:latin typeface="Book Antiqua" panose="02040602050305030304" pitchFamily="18" charset="0"/>
                <a:hlinkClick r:id="rId7" tooltip="Seguridad en la instalación y uso de dispositivos IoT: una guía de aproximación para el empresario | Blog Protege tu empresa - INCIBE">
                  <a:extLst>
                    <a:ext uri="{A12FA001-AC4F-418D-AE19-62706E023703}">
                      <ahyp:hlinkClr xmlns:ahyp="http://schemas.microsoft.com/office/drawing/2018/hyperlinkcolor" val="tx"/>
                    </a:ext>
                  </a:extLst>
                </a:hlinkClick>
              </a:rPr>
              <a:t>dispositivos o sensores </a:t>
            </a:r>
            <a:r>
              <a:rPr lang="es-PE" sz="1400" dirty="0" err="1">
                <a:latin typeface="Book Antiqua" panose="02040602050305030304" pitchFamily="18" charset="0"/>
                <a:hlinkClick r:id="rId7" tooltip="Seguridad en la instalación y uso de dispositivos IoT: una guía de aproximación para el empresario | Blog Protege tu empresa - INCIBE">
                  <a:extLst>
                    <a:ext uri="{A12FA001-AC4F-418D-AE19-62706E023703}">
                      <ahyp:hlinkClr xmlns:ahyp="http://schemas.microsoft.com/office/drawing/2018/hyperlinkcolor" val="tx"/>
                    </a:ext>
                  </a:extLst>
                </a:hlinkClick>
              </a:rPr>
              <a:t>IoT</a:t>
            </a:r>
            <a:r>
              <a:rPr lang="es-PE" sz="1400" dirty="0">
                <a:latin typeface="Book Antiqua" panose="02040602050305030304" pitchFamily="18" charset="0"/>
              </a:rPr>
              <a:t>, ya que en menor o mayor medida ayudan a detectar y neutralizar las intrusiones, amenazas o comportamientos sospechosos que ponen en riesgo la ciberseguridad de la empresa. Dicho de otra manera, son un paso natural en la evolución de la ciberseguridad.</a:t>
            </a:r>
          </a:p>
          <a:p>
            <a:endParaRPr lang="es-PE" dirty="0"/>
          </a:p>
        </p:txBody>
      </p:sp>
      <p:sp>
        <p:nvSpPr>
          <p:cNvPr id="8" name="Estrella: 4 puntas 7">
            <a:extLst>
              <a:ext uri="{FF2B5EF4-FFF2-40B4-BE49-F238E27FC236}">
                <a16:creationId xmlns:a16="http://schemas.microsoft.com/office/drawing/2014/main" id="{D4DB0A0C-C31E-AA73-0567-FA4C87BE8CF0}"/>
              </a:ext>
            </a:extLst>
          </p:cNvPr>
          <p:cNvSpPr/>
          <p:nvPr/>
        </p:nvSpPr>
        <p:spPr>
          <a:xfrm>
            <a:off x="4228466" y="3364470"/>
            <a:ext cx="518160" cy="369332"/>
          </a:xfrm>
          <a:prstGeom prst="star4">
            <a:avLst>
              <a:gd name="adj" fmla="val 8253"/>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 name="CuadroTexto 2">
            <a:extLst>
              <a:ext uri="{FF2B5EF4-FFF2-40B4-BE49-F238E27FC236}">
                <a16:creationId xmlns:a16="http://schemas.microsoft.com/office/drawing/2014/main" id="{0201ED16-5572-5930-3870-F419AC393F9C}"/>
              </a:ext>
            </a:extLst>
          </p:cNvPr>
          <p:cNvSpPr txBox="1"/>
          <p:nvPr/>
        </p:nvSpPr>
        <p:spPr>
          <a:xfrm>
            <a:off x="487679" y="3880697"/>
            <a:ext cx="4842135" cy="1846659"/>
          </a:xfrm>
          <a:prstGeom prst="rect">
            <a:avLst/>
          </a:prstGeom>
          <a:noFill/>
        </p:spPr>
        <p:txBody>
          <a:bodyPr wrap="square" rtlCol="0">
            <a:spAutoFit/>
          </a:bodyPr>
          <a:lstStyle/>
          <a:p>
            <a:pPr marL="285750" indent="-285750">
              <a:buFont typeface="Wingdings" panose="05000000000000000000" pitchFamily="2" charset="2"/>
              <a:buChar char="ü"/>
            </a:pPr>
            <a:r>
              <a:rPr lang="es-PE" sz="1400" dirty="0">
                <a:latin typeface="Book Antiqua" panose="02040602050305030304" pitchFamily="18" charset="0"/>
              </a:rPr>
              <a:t>Entre sus desventajas, destacan los efectos adversos que pueden producirse en el caso de que se detecte un falso positivo, si por ejemplo se ejecuta una política de aislamiento de las máquinas de la red o en el caso de que se reciban ataques de tipo </a:t>
            </a:r>
            <a:r>
              <a:rPr lang="es-PE" sz="1400" dirty="0" err="1">
                <a:latin typeface="Book Antiqua" panose="02040602050305030304" pitchFamily="18" charset="0"/>
                <a:hlinkClick r:id="rId2" tooltip="Glosario de términos de ciberseguridad: una guía de aproximación para el empresario [PDF - 2660 KB]">
                  <a:extLst>
                    <a:ext uri="{A12FA001-AC4F-418D-AE19-62706E023703}">
                      <ahyp:hlinkClr xmlns:ahyp="http://schemas.microsoft.com/office/drawing/2018/hyperlinkcolor" val="tx"/>
                    </a:ext>
                  </a:extLst>
                </a:hlinkClick>
              </a:rPr>
              <a:t>DDoS</a:t>
            </a:r>
            <a:r>
              <a:rPr lang="es-PE" sz="1400" dirty="0">
                <a:latin typeface="Book Antiqua" panose="02040602050305030304" pitchFamily="18" charset="0"/>
                <a:hlinkClick r:id="rId2" tooltip="Glosario de términos de ciberseguridad: una guía de aproximación para el empresario [PDF - 2660 KB]">
                  <a:extLst>
                    <a:ext uri="{A12FA001-AC4F-418D-AE19-62706E023703}">
                      <ahyp:hlinkClr xmlns:ahyp="http://schemas.microsoft.com/office/drawing/2018/hyperlinkcolor" val="tx"/>
                    </a:ext>
                  </a:extLst>
                </a:hlinkClick>
              </a:rPr>
              <a:t> o DoS</a:t>
            </a:r>
            <a:r>
              <a:rPr lang="es-PE" sz="1400" dirty="0">
                <a:latin typeface="Book Antiqua" panose="02040602050305030304" pitchFamily="18" charset="0"/>
              </a:rPr>
              <a:t> que pueden provocar su inutilización.</a:t>
            </a:r>
          </a:p>
          <a:p>
            <a:endParaRPr lang="es-PE" sz="1200" dirty="0">
              <a:latin typeface="Book Antiqua" panose="02040602050305030304" pitchFamily="18" charset="0"/>
            </a:endParaRPr>
          </a:p>
          <a:p>
            <a:endParaRPr lang="es-PE" dirty="0"/>
          </a:p>
        </p:txBody>
      </p:sp>
      <p:sp>
        <p:nvSpPr>
          <p:cNvPr id="6" name="CuadroTexto 5">
            <a:extLst>
              <a:ext uri="{FF2B5EF4-FFF2-40B4-BE49-F238E27FC236}">
                <a16:creationId xmlns:a16="http://schemas.microsoft.com/office/drawing/2014/main" id="{F5220698-A393-0EC1-8A8C-CF70E858815C}"/>
              </a:ext>
            </a:extLst>
          </p:cNvPr>
          <p:cNvSpPr txBox="1"/>
          <p:nvPr/>
        </p:nvSpPr>
        <p:spPr>
          <a:xfrm>
            <a:off x="6375523" y="862010"/>
            <a:ext cx="6170579" cy="3385542"/>
          </a:xfrm>
          <a:prstGeom prst="rect">
            <a:avLst/>
          </a:prstGeom>
          <a:noFill/>
        </p:spPr>
        <p:txBody>
          <a:bodyPr wrap="square" rtlCol="0">
            <a:spAutoFit/>
          </a:bodyPr>
          <a:lstStyle/>
          <a:p>
            <a:pPr marL="285750" indent="-285750">
              <a:buFont typeface="Wingdings" panose="05000000000000000000" pitchFamily="2" charset="2"/>
              <a:buChar char="ü"/>
            </a:pPr>
            <a:r>
              <a:rPr lang="es-PE" sz="1400" b="1" dirty="0">
                <a:latin typeface="Book Antiqua" panose="02040602050305030304" pitchFamily="18" charset="0"/>
              </a:rPr>
              <a:t>IPS:</a:t>
            </a:r>
            <a:r>
              <a:rPr lang="es-PE" sz="1400" dirty="0">
                <a:latin typeface="Book Antiqua" panose="02040602050305030304" pitchFamily="18" charset="0"/>
              </a:rPr>
              <a:t> </a:t>
            </a:r>
          </a:p>
          <a:p>
            <a:r>
              <a:rPr lang="es-PE" sz="1400" dirty="0">
                <a:latin typeface="Book Antiqua" panose="02040602050305030304" pitchFamily="18" charset="0"/>
              </a:rPr>
              <a:t>Las ventajas son:</a:t>
            </a:r>
          </a:p>
          <a:p>
            <a:pPr lvl="0"/>
            <a:r>
              <a:rPr lang="es-PE" sz="1400" dirty="0">
                <a:latin typeface="Book Antiqua" panose="02040602050305030304" pitchFamily="18" charset="0"/>
              </a:rPr>
              <a:t>escalabilidad al gestionar multitud de dispositivos conectados a la misma red;</a:t>
            </a:r>
          </a:p>
          <a:p>
            <a:pPr lvl="0"/>
            <a:r>
              <a:rPr lang="es-PE" sz="1400" dirty="0">
                <a:latin typeface="Book Antiqua" panose="02040602050305030304" pitchFamily="18" charset="0"/>
              </a:rPr>
              <a:t>protección preventiva al comprobarse de forma automatizada comportamientos anómalos mediante el uso de reglas prefijadas;</a:t>
            </a:r>
          </a:p>
          <a:p>
            <a:pPr lvl="0"/>
            <a:r>
              <a:rPr lang="es-PE" sz="1400" dirty="0">
                <a:latin typeface="Book Antiqua" panose="02040602050305030304" pitchFamily="18" charset="0"/>
              </a:rPr>
              <a:t>fácil instalación, configuración y administración al estar disponibles multitud de configuraciones predefinidas y centralizar en un punto su gestión, aunque puede ser contraproducente para su escalabilidad;/</a:t>
            </a:r>
          </a:p>
          <a:p>
            <a:pPr lvl="0"/>
            <a:r>
              <a:rPr lang="es-PE" sz="1400" dirty="0">
                <a:latin typeface="Book Antiqua" panose="02040602050305030304" pitchFamily="18" charset="0"/>
              </a:rPr>
              <a:t>defensa frente a múltiples </a:t>
            </a:r>
            <a:r>
              <a:rPr lang="es-PE" sz="1400" dirty="0">
                <a:latin typeface="Book Antiqua" panose="02040602050305030304" pitchFamily="18" charset="0"/>
                <a:hlinkClick r:id="rId8" tooltip="Incidentes de seguridad, conoce a tus enemigos | Blog Protege tu empresa - INCIBE">
                  <a:extLst>
                    <a:ext uri="{A12FA001-AC4F-418D-AE19-62706E023703}">
                      <ahyp:hlinkClr xmlns:ahyp="http://schemas.microsoft.com/office/drawing/2018/hyperlinkcolor" val="tx"/>
                    </a:ext>
                  </a:extLst>
                </a:hlinkClick>
              </a:rPr>
              <a:t>ataques</a:t>
            </a:r>
            <a:r>
              <a:rPr lang="es-PE" sz="1400" dirty="0">
                <a:latin typeface="Book Antiqua" panose="02040602050305030304" pitchFamily="18" charset="0"/>
              </a:rPr>
              <a:t>, como intrusiones, ataques de fuerza bruta, infecciones por malware o modificaciones del sistema de archivos, entre otros;</a:t>
            </a:r>
          </a:p>
          <a:p>
            <a:pPr lvl="0"/>
            <a:r>
              <a:rPr lang="es-PE" sz="1400" dirty="0">
                <a:latin typeface="Book Antiqua" panose="02040602050305030304" pitchFamily="18" charset="0"/>
              </a:rPr>
              <a:t>aumento de la eficiencia y la seguridad de la prevención de intrusiones o ataques a la red.</a:t>
            </a:r>
          </a:p>
          <a:p>
            <a:endParaRPr lang="es-PE" dirty="0"/>
          </a:p>
        </p:txBody>
      </p:sp>
    </p:spTree>
    <p:extLst>
      <p:ext uri="{BB962C8B-B14F-4D97-AF65-F5344CB8AC3E}">
        <p14:creationId xmlns:p14="http://schemas.microsoft.com/office/powerpoint/2010/main" val="13977517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lumMod val="75000"/>
              </a:schemeClr>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D4B136AB-7427-3CF4-8520-52D0E57513D0}"/>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30EC7875-11EC-A05B-E112-D36DD5E64066}"/>
              </a:ext>
            </a:extLst>
          </p:cNvPr>
          <p:cNvSpPr txBox="1"/>
          <p:nvPr/>
        </p:nvSpPr>
        <p:spPr>
          <a:xfrm>
            <a:off x="1454654" y="145336"/>
            <a:ext cx="11091448" cy="646331"/>
          </a:xfrm>
          <a:prstGeom prst="rect">
            <a:avLst/>
          </a:prstGeom>
          <a:noFill/>
          <a:effectLst>
            <a:outerShdw blurRad="50800" dist="38100" dir="2700000" algn="tl" rotWithShape="0">
              <a:prstClr val="black">
                <a:alpha val="40000"/>
              </a:prstClr>
            </a:outerShdw>
          </a:effectLst>
        </p:spPr>
        <p:txBody>
          <a:bodyPr wrap="square" rtlCol="0">
            <a:spAutoFit/>
          </a:bodyPr>
          <a:lstStyle/>
          <a:p>
            <a:pPr algn="ctr"/>
            <a:r>
              <a:rPr lang="es-PE" sz="36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haroni" panose="02010803020104030203" pitchFamily="2" charset="-79"/>
                <a:cs typeface="Aharoni" panose="02010803020104030203" pitchFamily="2" charset="-79"/>
              </a:rPr>
              <a:t>ATAQUES DE REDES</a:t>
            </a:r>
          </a:p>
        </p:txBody>
      </p:sp>
      <p:cxnSp>
        <p:nvCxnSpPr>
          <p:cNvPr id="14" name="Conector: curvado 13">
            <a:extLst>
              <a:ext uri="{FF2B5EF4-FFF2-40B4-BE49-F238E27FC236}">
                <a16:creationId xmlns:a16="http://schemas.microsoft.com/office/drawing/2014/main" id="{1462107D-5FF9-A7F3-9D6C-E5D16CF814D1}"/>
              </a:ext>
            </a:extLst>
          </p:cNvPr>
          <p:cNvCxnSpPr/>
          <p:nvPr/>
        </p:nvCxnSpPr>
        <p:spPr>
          <a:xfrm rot="16200000" flipH="1">
            <a:off x="-2405444" y="3280653"/>
            <a:ext cx="5564782" cy="296694"/>
          </a:xfrm>
          <a:prstGeom prst="curvedConnector3">
            <a:avLst>
              <a:gd name="adj1" fmla="val 50304"/>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16" name="Conector: curvado 15">
            <a:extLst>
              <a:ext uri="{FF2B5EF4-FFF2-40B4-BE49-F238E27FC236}">
                <a16:creationId xmlns:a16="http://schemas.microsoft.com/office/drawing/2014/main" id="{D453708C-251F-66F1-FFE0-DF99C2699076}"/>
              </a:ext>
            </a:extLst>
          </p:cNvPr>
          <p:cNvCxnSpPr>
            <a:cxnSpLocks/>
          </p:cNvCxnSpPr>
          <p:nvPr/>
        </p:nvCxnSpPr>
        <p:spPr>
          <a:xfrm rot="5400000">
            <a:off x="-2373206" y="3344886"/>
            <a:ext cx="5466260" cy="408501"/>
          </a:xfrm>
          <a:prstGeom prst="curvedConnector3">
            <a:avLst>
              <a:gd name="adj1" fmla="val 50000"/>
            </a:avLst>
          </a:prstGeom>
          <a:ln>
            <a:solidFill>
              <a:schemeClr val="accent1">
                <a:lumMod val="20000"/>
                <a:lumOff val="80000"/>
              </a:schemeClr>
            </a:solidFill>
          </a:ln>
        </p:spPr>
        <p:style>
          <a:lnRef idx="2">
            <a:schemeClr val="dk1"/>
          </a:lnRef>
          <a:fillRef idx="0">
            <a:schemeClr val="dk1"/>
          </a:fillRef>
          <a:effectRef idx="1">
            <a:schemeClr val="dk1"/>
          </a:effectRef>
          <a:fontRef idx="minor">
            <a:schemeClr val="tx1"/>
          </a:fontRef>
        </p:style>
      </p:cxnSp>
      <p:sp>
        <p:nvSpPr>
          <p:cNvPr id="2" name="CuadroTexto 1">
            <a:extLst>
              <a:ext uri="{FF2B5EF4-FFF2-40B4-BE49-F238E27FC236}">
                <a16:creationId xmlns:a16="http://schemas.microsoft.com/office/drawing/2014/main" id="{1439FA85-393E-B799-C38C-CB2D0653491F}"/>
              </a:ext>
            </a:extLst>
          </p:cNvPr>
          <p:cNvSpPr txBox="1"/>
          <p:nvPr/>
        </p:nvSpPr>
        <p:spPr>
          <a:xfrm>
            <a:off x="393019" y="1037773"/>
            <a:ext cx="6309684" cy="954107"/>
          </a:xfrm>
          <a:prstGeom prst="rect">
            <a:avLst/>
          </a:prstGeom>
          <a:noFill/>
        </p:spPr>
        <p:txBody>
          <a:bodyPr wrap="square" rtlCol="0">
            <a:spAutoFit/>
          </a:bodyPr>
          <a:lstStyle/>
          <a:p>
            <a:r>
              <a:rPr lang="es-PE" sz="1400" b="1" dirty="0"/>
              <a:t>1. Ataques </a:t>
            </a:r>
            <a:r>
              <a:rPr lang="es-PE" sz="1400" b="1" dirty="0" err="1"/>
              <a:t>DDoS</a:t>
            </a:r>
            <a:r>
              <a:rPr lang="es-PE" sz="1400" b="1" dirty="0"/>
              <a:t> (Denegación de Servicio Distribuida)</a:t>
            </a:r>
            <a:endParaRPr lang="es-PE" sz="1400" dirty="0"/>
          </a:p>
          <a:p>
            <a:r>
              <a:rPr lang="es-PE" sz="1400" dirty="0"/>
              <a:t>Según </a:t>
            </a:r>
            <a:r>
              <a:rPr lang="es-PE" sz="1400" b="1" dirty="0"/>
              <a:t>IBM</a:t>
            </a:r>
            <a:r>
              <a:rPr lang="es-PE" sz="1400" dirty="0"/>
              <a:t>, este ataque busca agotar los recursos de un sistema (ancho de banda, CPU o memoria) para que los usuarios legítimos no puedan acceder a él.</a:t>
            </a:r>
          </a:p>
        </p:txBody>
      </p:sp>
      <p:pic>
        <p:nvPicPr>
          <p:cNvPr id="7" name="Gráfico 6" descr="Internet con relleno sólido">
            <a:extLst>
              <a:ext uri="{FF2B5EF4-FFF2-40B4-BE49-F238E27FC236}">
                <a16:creationId xmlns:a16="http://schemas.microsoft.com/office/drawing/2014/main" id="{5B576CCF-E293-3802-B101-C5B99FAC973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95468" y="3066772"/>
            <a:ext cx="914400" cy="914400"/>
          </a:xfrm>
          <a:prstGeom prst="rect">
            <a:avLst/>
          </a:prstGeom>
        </p:spPr>
      </p:pic>
      <p:sp>
        <p:nvSpPr>
          <p:cNvPr id="12" name="Estrella: 4 puntas 11">
            <a:extLst>
              <a:ext uri="{FF2B5EF4-FFF2-40B4-BE49-F238E27FC236}">
                <a16:creationId xmlns:a16="http://schemas.microsoft.com/office/drawing/2014/main" id="{2E670E93-18CA-9811-B108-D6B2AB87E4DD}"/>
              </a:ext>
            </a:extLst>
          </p:cNvPr>
          <p:cNvSpPr/>
          <p:nvPr/>
        </p:nvSpPr>
        <p:spPr>
          <a:xfrm>
            <a:off x="228599" y="6380788"/>
            <a:ext cx="518160" cy="369332"/>
          </a:xfrm>
          <a:prstGeom prst="star4">
            <a:avLst>
              <a:gd name="adj" fmla="val 8253"/>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 name="Estrella: 4 puntas 14">
            <a:extLst>
              <a:ext uri="{FF2B5EF4-FFF2-40B4-BE49-F238E27FC236}">
                <a16:creationId xmlns:a16="http://schemas.microsoft.com/office/drawing/2014/main" id="{28B2E7A4-4777-745E-1001-DA905F53FB21}"/>
              </a:ext>
            </a:extLst>
          </p:cNvPr>
          <p:cNvSpPr/>
          <p:nvPr/>
        </p:nvSpPr>
        <p:spPr>
          <a:xfrm>
            <a:off x="11518167" y="1622548"/>
            <a:ext cx="518160" cy="369332"/>
          </a:xfrm>
          <a:prstGeom prst="star4">
            <a:avLst>
              <a:gd name="adj" fmla="val 8253"/>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9" name="Gráfico 8" descr="Nube con relleno sólido">
            <a:extLst>
              <a:ext uri="{FF2B5EF4-FFF2-40B4-BE49-F238E27FC236}">
                <a16:creationId xmlns:a16="http://schemas.microsoft.com/office/drawing/2014/main" id="{669D27E6-C0E4-5401-3163-992F2C6599C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0479" y="-70328"/>
            <a:ext cx="914400" cy="914400"/>
          </a:xfrm>
          <a:prstGeom prst="rect">
            <a:avLst/>
          </a:prstGeom>
        </p:spPr>
      </p:pic>
      <p:sp>
        <p:nvSpPr>
          <p:cNvPr id="21" name="CuadroTexto 20">
            <a:extLst>
              <a:ext uri="{FF2B5EF4-FFF2-40B4-BE49-F238E27FC236}">
                <a16:creationId xmlns:a16="http://schemas.microsoft.com/office/drawing/2014/main" id="{43AECFF9-00DA-F228-8A73-FBF8822DDAFD}"/>
              </a:ext>
            </a:extLst>
          </p:cNvPr>
          <p:cNvSpPr txBox="1"/>
          <p:nvPr/>
        </p:nvSpPr>
        <p:spPr>
          <a:xfrm>
            <a:off x="6824991" y="1622548"/>
            <a:ext cx="5505855" cy="4893647"/>
          </a:xfrm>
          <a:prstGeom prst="rect">
            <a:avLst/>
          </a:prstGeom>
          <a:solidFill>
            <a:schemeClr val="accent3">
              <a:alpha val="65000"/>
            </a:schemeClr>
          </a:solidFill>
        </p:spPr>
        <p:txBody>
          <a:bodyPr wrap="square" rtlCol="0">
            <a:spAutoFit/>
          </a:bodyPr>
          <a:lstStyle/>
          <a:p>
            <a:r>
              <a:rPr lang="es-PE" sz="1400" b="1" dirty="0">
                <a:latin typeface="Book Antiqua" panose="02040602050305030304" pitchFamily="18" charset="0"/>
              </a:rPr>
              <a:t>2. Ataque MITM (Man-in-</a:t>
            </a:r>
            <a:r>
              <a:rPr lang="es-PE" sz="1400" b="1" dirty="0" err="1">
                <a:latin typeface="Book Antiqua" panose="02040602050305030304" pitchFamily="18" charset="0"/>
              </a:rPr>
              <a:t>the</a:t>
            </a:r>
            <a:r>
              <a:rPr lang="es-PE" sz="1400" b="1" dirty="0">
                <a:latin typeface="Book Antiqua" panose="02040602050305030304" pitchFamily="18" charset="0"/>
              </a:rPr>
              <a:t>-</a:t>
            </a:r>
            <a:r>
              <a:rPr lang="es-PE" sz="1400" b="1" dirty="0" err="1">
                <a:latin typeface="Book Antiqua" panose="02040602050305030304" pitchFamily="18" charset="0"/>
              </a:rPr>
              <a:t>Middle</a:t>
            </a:r>
            <a:r>
              <a:rPr lang="es-PE" sz="1400" b="1" dirty="0">
                <a:latin typeface="Book Antiqua" panose="02040602050305030304" pitchFamily="18" charset="0"/>
              </a:rPr>
              <a:t>)</a:t>
            </a:r>
            <a:endParaRPr lang="es-PE" sz="1400" dirty="0">
              <a:latin typeface="Book Antiqua" panose="02040602050305030304" pitchFamily="18" charset="0"/>
            </a:endParaRPr>
          </a:p>
          <a:p>
            <a:r>
              <a:rPr lang="es-PE" sz="1400" dirty="0">
                <a:latin typeface="Book Antiqua" panose="02040602050305030304" pitchFamily="18" charset="0"/>
              </a:rPr>
              <a:t>Basado en la tesis de la </a:t>
            </a:r>
            <a:r>
              <a:rPr lang="es-PE" sz="1400" b="1" dirty="0">
                <a:latin typeface="Book Antiqua" panose="02040602050305030304" pitchFamily="18" charset="0"/>
              </a:rPr>
              <a:t>UPM (Raúl Pastor Iglesias)</a:t>
            </a:r>
            <a:r>
              <a:rPr lang="es-PE" sz="1400" dirty="0">
                <a:latin typeface="Book Antiqua" panose="02040602050305030304" pitchFamily="18" charset="0"/>
              </a:rPr>
              <a:t>, este ataque consiste en que un tercero se intercepta de forma secreta en la comunicación entre dos partes que creen estar hablando directamente entre sí.</a:t>
            </a:r>
          </a:p>
          <a:p>
            <a:pPr lvl="0"/>
            <a:r>
              <a:rPr lang="es-PE" sz="1400" b="1" dirty="0">
                <a:latin typeface="Book Antiqua" panose="02040602050305030304" pitchFamily="18" charset="0"/>
              </a:rPr>
              <a:t>Funcionamiento Técnico:</a:t>
            </a:r>
            <a:r>
              <a:rPr lang="es-PE" sz="1400" dirty="0">
                <a:latin typeface="Book Antiqua" panose="02040602050305030304" pitchFamily="18" charset="0"/>
              </a:rPr>
              <a:t> El atacante "se pone en medio" para escuchar o incluso alterar los datos.</a:t>
            </a:r>
          </a:p>
          <a:p>
            <a:pPr lvl="0"/>
            <a:r>
              <a:rPr lang="es-PE" sz="1400" b="1" dirty="0">
                <a:latin typeface="Book Antiqua" panose="02040602050305030304" pitchFamily="18" charset="0"/>
              </a:rPr>
              <a:t>Técnicas Comunes:</a:t>
            </a:r>
            <a:endParaRPr lang="es-PE" sz="1400" dirty="0">
              <a:latin typeface="Book Antiqua" panose="02040602050305030304" pitchFamily="18" charset="0"/>
            </a:endParaRPr>
          </a:p>
          <a:p>
            <a:pPr lvl="1"/>
            <a:r>
              <a:rPr lang="es-PE" sz="1400" b="1" dirty="0">
                <a:latin typeface="Book Antiqua" panose="02040602050305030304" pitchFamily="18" charset="0"/>
              </a:rPr>
              <a:t>Envenenamiento de ARP (ARP </a:t>
            </a:r>
            <a:r>
              <a:rPr lang="es-PE" sz="1400" b="1" dirty="0" err="1">
                <a:latin typeface="Book Antiqua" panose="02040602050305030304" pitchFamily="18" charset="0"/>
              </a:rPr>
              <a:t>Spoofing</a:t>
            </a:r>
            <a:r>
              <a:rPr lang="es-PE" sz="1400" b="1" dirty="0">
                <a:latin typeface="Book Antiqua" panose="02040602050305030304" pitchFamily="18" charset="0"/>
              </a:rPr>
              <a:t>):</a:t>
            </a:r>
            <a:r>
              <a:rPr lang="es-PE" sz="1400" dirty="0">
                <a:latin typeface="Book Antiqua" panose="02040602050305030304" pitchFamily="18" charset="0"/>
              </a:rPr>
              <a:t> El atacante engaña a los dispositivos de una red local vinculando su propia dirección MAC con la dirección IP del router legítimo.</a:t>
            </a:r>
          </a:p>
          <a:p>
            <a:pPr lvl="1"/>
            <a:r>
              <a:rPr lang="es-PE" sz="1400" b="1" dirty="0">
                <a:latin typeface="Book Antiqua" panose="02040602050305030304" pitchFamily="18" charset="0"/>
              </a:rPr>
              <a:t>Secuestro de Sesión:</a:t>
            </a:r>
            <a:r>
              <a:rPr lang="es-PE" sz="1400" dirty="0">
                <a:latin typeface="Book Antiqua" panose="02040602050305030304" pitchFamily="18" charset="0"/>
              </a:rPr>
              <a:t> Una vez que el usuario se ha autenticado, el atacante roba la "cookie de sesión" para tomar el control de la cuenta sin necesidad de contraseña.</a:t>
            </a:r>
          </a:p>
          <a:p>
            <a:pPr lvl="1"/>
            <a:r>
              <a:rPr lang="es-PE" sz="1400" b="1" dirty="0">
                <a:latin typeface="Book Antiqua" panose="02040602050305030304" pitchFamily="18" charset="0"/>
              </a:rPr>
              <a:t>SSL </a:t>
            </a:r>
            <a:r>
              <a:rPr lang="es-PE" sz="1400" b="1" dirty="0" err="1">
                <a:latin typeface="Book Antiqua" panose="02040602050305030304" pitchFamily="18" charset="0"/>
              </a:rPr>
              <a:t>Stripping</a:t>
            </a:r>
            <a:r>
              <a:rPr lang="es-PE" sz="1400" b="1" dirty="0">
                <a:latin typeface="Book Antiqua" panose="02040602050305030304" pitchFamily="18" charset="0"/>
              </a:rPr>
              <a:t>:</a:t>
            </a:r>
            <a:r>
              <a:rPr lang="es-PE" sz="1400" dirty="0">
                <a:latin typeface="Book Antiqua" panose="02040602050305030304" pitchFamily="18" charset="0"/>
              </a:rPr>
              <a:t> El atacante obliga al navegador a usar una conexión HTTP no cifrada en lugar de HTTPS, permitiendo leer los datos en texto plano.</a:t>
            </a:r>
          </a:p>
          <a:p>
            <a:pPr lvl="0"/>
            <a:r>
              <a:rPr lang="es-PE" sz="1400" b="1" dirty="0">
                <a:latin typeface="Book Antiqua" panose="02040602050305030304" pitchFamily="18" charset="0"/>
              </a:rPr>
              <a:t>Protección:</a:t>
            </a:r>
            <a:r>
              <a:rPr lang="es-PE" sz="1400" dirty="0">
                <a:latin typeface="Book Antiqua" panose="02040602050305030304" pitchFamily="18" charset="0"/>
              </a:rPr>
              <a:t> El uso estricto de </a:t>
            </a:r>
            <a:r>
              <a:rPr lang="es-PE" sz="1400" b="1" dirty="0">
                <a:latin typeface="Book Antiqua" panose="02040602050305030304" pitchFamily="18" charset="0"/>
              </a:rPr>
              <a:t>TLS/HTTPS</a:t>
            </a:r>
            <a:r>
              <a:rPr lang="es-PE" sz="1400" dirty="0">
                <a:latin typeface="Book Antiqua" panose="02040602050305030304" pitchFamily="18" charset="0"/>
              </a:rPr>
              <a:t> y la implementación de protocolos como HSTS (que obliga al navegador a usar siempre conexiones seguras).</a:t>
            </a:r>
          </a:p>
          <a:p>
            <a:pPr lvl="1"/>
            <a:endParaRPr lang="es-PE" sz="1400" dirty="0">
              <a:solidFill>
                <a:schemeClr val="bg1"/>
              </a:solidFill>
              <a:latin typeface="Book Antiqua" panose="02040602050305030304" pitchFamily="18" charset="0"/>
            </a:endParaRPr>
          </a:p>
          <a:p>
            <a:endParaRPr lang="es-PE" dirty="0"/>
          </a:p>
        </p:txBody>
      </p:sp>
      <p:sp>
        <p:nvSpPr>
          <p:cNvPr id="8" name="Estrella: 4 puntas 7">
            <a:extLst>
              <a:ext uri="{FF2B5EF4-FFF2-40B4-BE49-F238E27FC236}">
                <a16:creationId xmlns:a16="http://schemas.microsoft.com/office/drawing/2014/main" id="{BDB674DD-B07B-7F3C-A3C8-6613426C0BA4}"/>
              </a:ext>
            </a:extLst>
          </p:cNvPr>
          <p:cNvSpPr/>
          <p:nvPr/>
        </p:nvSpPr>
        <p:spPr>
          <a:xfrm>
            <a:off x="5790190" y="2223395"/>
            <a:ext cx="518160" cy="369332"/>
          </a:xfrm>
          <a:prstGeom prst="star4">
            <a:avLst>
              <a:gd name="adj" fmla="val 8253"/>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 name="CuadroTexto 2">
            <a:extLst>
              <a:ext uri="{FF2B5EF4-FFF2-40B4-BE49-F238E27FC236}">
                <a16:creationId xmlns:a16="http://schemas.microsoft.com/office/drawing/2014/main" id="{C5B757A0-777E-2E65-CBB0-2EB861F2D524}"/>
              </a:ext>
            </a:extLst>
          </p:cNvPr>
          <p:cNvSpPr txBox="1"/>
          <p:nvPr/>
        </p:nvSpPr>
        <p:spPr>
          <a:xfrm>
            <a:off x="553333" y="2187044"/>
            <a:ext cx="4842135" cy="4647426"/>
          </a:xfrm>
          <a:prstGeom prst="rect">
            <a:avLst/>
          </a:prstGeom>
          <a:noFill/>
        </p:spPr>
        <p:txBody>
          <a:bodyPr wrap="square" rtlCol="0">
            <a:spAutoFit/>
          </a:bodyPr>
          <a:lstStyle/>
          <a:p>
            <a:pPr marL="285750" lvl="0" indent="-285750">
              <a:buFont typeface="Wingdings" panose="05000000000000000000" pitchFamily="2" charset="2"/>
              <a:buChar char="Ø"/>
            </a:pPr>
            <a:r>
              <a:rPr lang="es-PE" sz="1400" b="1" dirty="0">
                <a:latin typeface="Book Antiqua" panose="02040602050305030304" pitchFamily="18" charset="0"/>
              </a:rPr>
              <a:t>Funcionamiento Técnico:</a:t>
            </a:r>
            <a:r>
              <a:rPr lang="es-PE" sz="1400" dirty="0">
                <a:latin typeface="Book Antiqua" panose="02040602050305030304" pitchFamily="18" charset="0"/>
              </a:rPr>
              <a:t> El atacante utiliza una red de dispositivos infectados (</a:t>
            </a:r>
            <a:r>
              <a:rPr lang="es-PE" sz="1400" dirty="0" err="1">
                <a:latin typeface="Book Antiqua" panose="02040602050305030304" pitchFamily="18" charset="0"/>
              </a:rPr>
              <a:t>botnet</a:t>
            </a:r>
            <a:r>
              <a:rPr lang="es-PE" sz="1400" dirty="0">
                <a:latin typeface="Book Antiqua" panose="02040602050305030304" pitchFamily="18" charset="0"/>
              </a:rPr>
              <a:t>) para enviar un flujo masivo de tráfico hacia un solo objetivo.</a:t>
            </a:r>
          </a:p>
          <a:p>
            <a:pPr marL="742950" lvl="1" indent="-285750">
              <a:buFont typeface="Wingdings" panose="05000000000000000000" pitchFamily="2" charset="2"/>
              <a:buChar char="Ø"/>
            </a:pPr>
            <a:r>
              <a:rPr lang="es-PE" sz="1400" b="1" dirty="0">
                <a:latin typeface="Book Antiqua" panose="02040602050305030304" pitchFamily="18" charset="0"/>
              </a:rPr>
              <a:t>Tipos de Ataques:</a:t>
            </a:r>
            <a:endParaRPr lang="es-PE" sz="1400" dirty="0">
              <a:latin typeface="Book Antiqua" panose="02040602050305030304" pitchFamily="18" charset="0"/>
            </a:endParaRPr>
          </a:p>
          <a:p>
            <a:pPr marL="742950" lvl="1" indent="-285750">
              <a:buFont typeface="Courier New" panose="02070309020205020404" pitchFamily="49" charset="0"/>
              <a:buChar char="o"/>
            </a:pPr>
            <a:r>
              <a:rPr lang="es-PE" sz="1400" b="1" dirty="0">
                <a:latin typeface="Book Antiqua" panose="02040602050305030304" pitchFamily="18" charset="0"/>
              </a:rPr>
              <a:t>Volumétricos:</a:t>
            </a:r>
            <a:r>
              <a:rPr lang="es-PE" sz="1400" dirty="0">
                <a:latin typeface="Book Antiqua" panose="02040602050305030304" pitchFamily="18" charset="0"/>
              </a:rPr>
              <a:t> Inundan la red con tráfico masivo (como inundaciones UDP o ICMP) para saturar el ancho de banda.</a:t>
            </a:r>
          </a:p>
          <a:p>
            <a:pPr marL="742950" lvl="1" indent="-285750">
              <a:buFont typeface="Courier New" panose="02070309020205020404" pitchFamily="49" charset="0"/>
              <a:buChar char="o"/>
            </a:pPr>
            <a:r>
              <a:rPr lang="es-PE" sz="1400" b="1" dirty="0">
                <a:latin typeface="Book Antiqua" panose="02040602050305030304" pitchFamily="18" charset="0"/>
              </a:rPr>
              <a:t>De Protocolo:</a:t>
            </a:r>
            <a:r>
              <a:rPr lang="es-PE" sz="1400" dirty="0">
                <a:latin typeface="Book Antiqua" panose="02040602050305030304" pitchFamily="18" charset="0"/>
              </a:rPr>
              <a:t> Se dirigen a los recursos de los equipos de red (como firewalls o balanceadores). Un ejemplo es el </a:t>
            </a:r>
            <a:r>
              <a:rPr lang="es-PE" sz="1400" i="1" dirty="0">
                <a:latin typeface="Book Antiqua" panose="02040602050305030304" pitchFamily="18" charset="0"/>
              </a:rPr>
              <a:t>SYN </a:t>
            </a:r>
            <a:r>
              <a:rPr lang="es-PE" sz="1400" i="1" dirty="0" err="1">
                <a:latin typeface="Book Antiqua" panose="02040602050305030304" pitchFamily="18" charset="0"/>
              </a:rPr>
              <a:t>Flood</a:t>
            </a:r>
            <a:r>
              <a:rPr lang="es-PE" sz="1400" dirty="0">
                <a:latin typeface="Book Antiqua" panose="02040602050305030304" pitchFamily="18" charset="0"/>
              </a:rPr>
              <a:t>, que abusa del saludo de tres vías de TCP.</a:t>
            </a:r>
          </a:p>
          <a:p>
            <a:pPr marL="742950" lvl="1" indent="-285750">
              <a:buFont typeface="Courier New" panose="02070309020205020404" pitchFamily="49" charset="0"/>
              <a:buChar char="o"/>
            </a:pPr>
            <a:r>
              <a:rPr lang="es-PE" sz="1400" b="1" dirty="0">
                <a:latin typeface="Book Antiqua" panose="02040602050305030304" pitchFamily="18" charset="0"/>
              </a:rPr>
              <a:t>De Capa de Aplicación (Capa 7):</a:t>
            </a:r>
            <a:r>
              <a:rPr lang="es-PE" sz="1400" dirty="0">
                <a:latin typeface="Book Antiqua" panose="02040602050305030304" pitchFamily="18" charset="0"/>
              </a:rPr>
              <a:t> Son más sofisticados; imitan el comportamiento humano para saturar funciones específicas, como una inundación de peticiones HTTP GET o POST.</a:t>
            </a:r>
          </a:p>
          <a:p>
            <a:pPr marL="285750" lvl="0" indent="-285750">
              <a:buFont typeface="Courier New" panose="02070309020205020404" pitchFamily="49" charset="0"/>
              <a:buChar char="o"/>
            </a:pPr>
            <a:r>
              <a:rPr lang="es-PE" sz="1400" b="1" dirty="0">
                <a:latin typeface="Book Antiqua" panose="02040602050305030304" pitchFamily="18" charset="0"/>
              </a:rPr>
              <a:t>Mitigación:</a:t>
            </a:r>
            <a:r>
              <a:rPr lang="es-PE" sz="1400" dirty="0">
                <a:latin typeface="Book Antiqua" panose="02040602050305030304" pitchFamily="18" charset="0"/>
              </a:rPr>
              <a:t> IBM recomienda el uso de </a:t>
            </a:r>
            <a:r>
              <a:rPr lang="es-PE" sz="1400" b="1" dirty="0" err="1">
                <a:latin typeface="Book Antiqua" panose="02040602050305030304" pitchFamily="18" charset="0"/>
              </a:rPr>
              <a:t>CDNs</a:t>
            </a:r>
            <a:r>
              <a:rPr lang="es-PE" sz="1400" dirty="0">
                <a:latin typeface="Book Antiqua" panose="02040602050305030304" pitchFamily="18" charset="0"/>
              </a:rPr>
              <a:t>, </a:t>
            </a:r>
            <a:r>
              <a:rPr lang="es-PE" sz="1400" b="1" dirty="0" err="1">
                <a:latin typeface="Book Antiqua" panose="02040602050305030304" pitchFamily="18" charset="0"/>
              </a:rPr>
              <a:t>WAFs</a:t>
            </a:r>
            <a:r>
              <a:rPr lang="es-PE" sz="1400" dirty="0">
                <a:latin typeface="Book Antiqua" panose="02040602050305030304" pitchFamily="18" charset="0"/>
              </a:rPr>
              <a:t> (Firewalls de Aplicación Web) y técnicas de </a:t>
            </a:r>
            <a:r>
              <a:rPr lang="es-PE" sz="1400" b="1" dirty="0">
                <a:latin typeface="Book Antiqua" panose="02040602050305030304" pitchFamily="18" charset="0"/>
              </a:rPr>
              <a:t>limpieza de tráfico</a:t>
            </a:r>
            <a:r>
              <a:rPr lang="es-PE" sz="1400" dirty="0">
                <a:latin typeface="Book Antiqua" panose="02040602050305030304" pitchFamily="18" charset="0"/>
              </a:rPr>
              <a:t> (</a:t>
            </a:r>
            <a:r>
              <a:rPr lang="es-PE" sz="1400" dirty="0" err="1">
                <a:latin typeface="Book Antiqua" panose="02040602050305030304" pitchFamily="18" charset="0"/>
              </a:rPr>
              <a:t>scrubbing</a:t>
            </a:r>
            <a:r>
              <a:rPr lang="es-PE" sz="1400" dirty="0">
                <a:latin typeface="Book Antiqua" panose="02040602050305030304" pitchFamily="18" charset="0"/>
              </a:rPr>
              <a:t>) para separar el tráfico malicioso del legítimo.</a:t>
            </a:r>
          </a:p>
          <a:p>
            <a:endParaRPr lang="es-PE" sz="1200" dirty="0">
              <a:latin typeface="Book Antiqua" panose="02040602050305030304" pitchFamily="18" charset="0"/>
            </a:endParaRPr>
          </a:p>
          <a:p>
            <a:endParaRPr lang="es-PE" dirty="0"/>
          </a:p>
        </p:txBody>
      </p:sp>
    </p:spTree>
    <p:extLst>
      <p:ext uri="{BB962C8B-B14F-4D97-AF65-F5344CB8AC3E}">
        <p14:creationId xmlns:p14="http://schemas.microsoft.com/office/powerpoint/2010/main" val="18473807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lumMod val="75000"/>
              </a:schemeClr>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84FD2458-8B8F-A459-B25E-51F12B28BEC9}"/>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E960E711-4236-AA39-65C4-742EA120C85F}"/>
              </a:ext>
            </a:extLst>
          </p:cNvPr>
          <p:cNvSpPr txBox="1"/>
          <p:nvPr/>
        </p:nvSpPr>
        <p:spPr>
          <a:xfrm>
            <a:off x="1454654" y="145336"/>
            <a:ext cx="11091448" cy="646331"/>
          </a:xfrm>
          <a:prstGeom prst="rect">
            <a:avLst/>
          </a:prstGeom>
          <a:noFill/>
          <a:effectLst>
            <a:outerShdw blurRad="50800" dist="38100" dir="2700000" algn="tl" rotWithShape="0">
              <a:prstClr val="black">
                <a:alpha val="40000"/>
              </a:prstClr>
            </a:outerShdw>
          </a:effectLst>
        </p:spPr>
        <p:txBody>
          <a:bodyPr wrap="square" rtlCol="0">
            <a:spAutoFit/>
          </a:bodyPr>
          <a:lstStyle/>
          <a:p>
            <a:pPr algn="ctr"/>
            <a:r>
              <a:rPr lang="es-PE" sz="36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haroni" panose="02010803020104030203" pitchFamily="2" charset="-79"/>
                <a:cs typeface="Aharoni" panose="02010803020104030203" pitchFamily="2" charset="-79"/>
              </a:rPr>
              <a:t>ATAQUES DE REDES</a:t>
            </a:r>
          </a:p>
        </p:txBody>
      </p:sp>
      <p:cxnSp>
        <p:nvCxnSpPr>
          <p:cNvPr id="14" name="Conector: curvado 13">
            <a:extLst>
              <a:ext uri="{FF2B5EF4-FFF2-40B4-BE49-F238E27FC236}">
                <a16:creationId xmlns:a16="http://schemas.microsoft.com/office/drawing/2014/main" id="{258EB43E-3CBC-ACDA-9644-A5732E891B9F}"/>
              </a:ext>
            </a:extLst>
          </p:cNvPr>
          <p:cNvCxnSpPr/>
          <p:nvPr/>
        </p:nvCxnSpPr>
        <p:spPr>
          <a:xfrm rot="16200000" flipH="1">
            <a:off x="-2405444" y="3280653"/>
            <a:ext cx="5564782" cy="296694"/>
          </a:xfrm>
          <a:prstGeom prst="curvedConnector3">
            <a:avLst>
              <a:gd name="adj1" fmla="val 50304"/>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16" name="Conector: curvado 15">
            <a:extLst>
              <a:ext uri="{FF2B5EF4-FFF2-40B4-BE49-F238E27FC236}">
                <a16:creationId xmlns:a16="http://schemas.microsoft.com/office/drawing/2014/main" id="{652125AF-45B8-AC90-2C2E-CED8E6697392}"/>
              </a:ext>
            </a:extLst>
          </p:cNvPr>
          <p:cNvCxnSpPr>
            <a:cxnSpLocks/>
          </p:cNvCxnSpPr>
          <p:nvPr/>
        </p:nvCxnSpPr>
        <p:spPr>
          <a:xfrm rot="5400000">
            <a:off x="-2373206" y="3344886"/>
            <a:ext cx="5466260" cy="408501"/>
          </a:xfrm>
          <a:prstGeom prst="curvedConnector3">
            <a:avLst>
              <a:gd name="adj1" fmla="val 50000"/>
            </a:avLst>
          </a:prstGeom>
          <a:ln>
            <a:solidFill>
              <a:schemeClr val="accent1">
                <a:lumMod val="20000"/>
                <a:lumOff val="80000"/>
              </a:schemeClr>
            </a:solidFill>
          </a:ln>
        </p:spPr>
        <p:style>
          <a:lnRef idx="2">
            <a:schemeClr val="dk1"/>
          </a:lnRef>
          <a:fillRef idx="0">
            <a:schemeClr val="dk1"/>
          </a:fillRef>
          <a:effectRef idx="1">
            <a:schemeClr val="dk1"/>
          </a:effectRef>
          <a:fontRef idx="minor">
            <a:schemeClr val="tx1"/>
          </a:fontRef>
        </p:style>
      </p:cxnSp>
      <p:pic>
        <p:nvPicPr>
          <p:cNvPr id="7" name="Gráfico 6" descr="Internet con relleno sólido">
            <a:extLst>
              <a:ext uri="{FF2B5EF4-FFF2-40B4-BE49-F238E27FC236}">
                <a16:creationId xmlns:a16="http://schemas.microsoft.com/office/drawing/2014/main" id="{9CB9FA12-0F24-A8E2-D7C2-1042D7186F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652270" y="4170769"/>
            <a:ext cx="1185231" cy="1185231"/>
          </a:xfrm>
          <a:prstGeom prst="rect">
            <a:avLst/>
          </a:prstGeom>
        </p:spPr>
      </p:pic>
      <p:sp>
        <p:nvSpPr>
          <p:cNvPr id="12" name="Estrella: 4 puntas 11">
            <a:extLst>
              <a:ext uri="{FF2B5EF4-FFF2-40B4-BE49-F238E27FC236}">
                <a16:creationId xmlns:a16="http://schemas.microsoft.com/office/drawing/2014/main" id="{06DF4389-386F-C857-0853-96D9FCDC68D8}"/>
              </a:ext>
            </a:extLst>
          </p:cNvPr>
          <p:cNvSpPr/>
          <p:nvPr/>
        </p:nvSpPr>
        <p:spPr>
          <a:xfrm>
            <a:off x="228599" y="6380788"/>
            <a:ext cx="518160" cy="369332"/>
          </a:xfrm>
          <a:prstGeom prst="star4">
            <a:avLst>
              <a:gd name="adj" fmla="val 8253"/>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 name="Estrella: 4 puntas 14">
            <a:extLst>
              <a:ext uri="{FF2B5EF4-FFF2-40B4-BE49-F238E27FC236}">
                <a16:creationId xmlns:a16="http://schemas.microsoft.com/office/drawing/2014/main" id="{CD997445-8FB4-03F5-AAA7-374152A783C7}"/>
              </a:ext>
            </a:extLst>
          </p:cNvPr>
          <p:cNvSpPr/>
          <p:nvPr/>
        </p:nvSpPr>
        <p:spPr>
          <a:xfrm>
            <a:off x="11518167" y="1622548"/>
            <a:ext cx="518160" cy="369332"/>
          </a:xfrm>
          <a:prstGeom prst="star4">
            <a:avLst>
              <a:gd name="adj" fmla="val 8253"/>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9" name="Gráfico 8" descr="Nube con relleno sólido">
            <a:extLst>
              <a:ext uri="{FF2B5EF4-FFF2-40B4-BE49-F238E27FC236}">
                <a16:creationId xmlns:a16="http://schemas.microsoft.com/office/drawing/2014/main" id="{368245E2-ECC9-0358-D05E-B6C2F06D9CA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0479" y="-70328"/>
            <a:ext cx="914400" cy="914400"/>
          </a:xfrm>
          <a:prstGeom prst="rect">
            <a:avLst/>
          </a:prstGeom>
        </p:spPr>
      </p:pic>
      <p:sp>
        <p:nvSpPr>
          <p:cNvPr id="8" name="Estrella: 4 puntas 7">
            <a:extLst>
              <a:ext uri="{FF2B5EF4-FFF2-40B4-BE49-F238E27FC236}">
                <a16:creationId xmlns:a16="http://schemas.microsoft.com/office/drawing/2014/main" id="{DC3905BE-4E68-6B97-765F-D20639E88C8E}"/>
              </a:ext>
            </a:extLst>
          </p:cNvPr>
          <p:cNvSpPr/>
          <p:nvPr/>
        </p:nvSpPr>
        <p:spPr>
          <a:xfrm>
            <a:off x="5790190" y="2223395"/>
            <a:ext cx="518160" cy="369332"/>
          </a:xfrm>
          <a:prstGeom prst="star4">
            <a:avLst>
              <a:gd name="adj" fmla="val 8253"/>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 name="CuadroTexto 2">
            <a:extLst>
              <a:ext uri="{FF2B5EF4-FFF2-40B4-BE49-F238E27FC236}">
                <a16:creationId xmlns:a16="http://schemas.microsoft.com/office/drawing/2014/main" id="{29F540B8-4127-1270-618B-581FC26B6996}"/>
              </a:ext>
            </a:extLst>
          </p:cNvPr>
          <p:cNvSpPr txBox="1"/>
          <p:nvPr/>
        </p:nvSpPr>
        <p:spPr>
          <a:xfrm>
            <a:off x="600918" y="816006"/>
            <a:ext cx="5129071" cy="6709529"/>
          </a:xfrm>
          <a:prstGeom prst="rect">
            <a:avLst/>
          </a:prstGeom>
          <a:noFill/>
        </p:spPr>
        <p:txBody>
          <a:bodyPr wrap="square" rtlCol="0">
            <a:spAutoFit/>
          </a:bodyPr>
          <a:lstStyle/>
          <a:p>
            <a:r>
              <a:rPr lang="es-PE" sz="1600" b="1" dirty="0">
                <a:latin typeface="Book Antiqua" panose="02040602050305030304" pitchFamily="18" charset="0"/>
              </a:rPr>
              <a:t>3. Phishing Técnico (Ingeniería Social)</a:t>
            </a:r>
            <a:endParaRPr lang="es-PE" sz="1600" dirty="0">
              <a:latin typeface="Book Antiqua" panose="02040602050305030304" pitchFamily="18" charset="0"/>
            </a:endParaRPr>
          </a:p>
          <a:p>
            <a:r>
              <a:rPr lang="es-PE" sz="1600" dirty="0">
                <a:latin typeface="Book Antiqua" panose="02040602050305030304" pitchFamily="18" charset="0"/>
              </a:rPr>
              <a:t>De acuerdo con </a:t>
            </a:r>
            <a:r>
              <a:rPr lang="es-PE" sz="1600" b="1" dirty="0" err="1">
                <a:latin typeface="Book Antiqua" panose="02040602050305030304" pitchFamily="18" charset="0"/>
              </a:rPr>
              <a:t>Eye</a:t>
            </a:r>
            <a:r>
              <a:rPr lang="es-PE" sz="1600" b="1" dirty="0">
                <a:latin typeface="Book Antiqua" panose="02040602050305030304" pitchFamily="18" charset="0"/>
              </a:rPr>
              <a:t> Security</a:t>
            </a:r>
            <a:r>
              <a:rPr lang="es-PE" sz="1600" dirty="0">
                <a:latin typeface="Book Antiqua" panose="02040602050305030304" pitchFamily="18" charset="0"/>
              </a:rPr>
              <a:t> y el contexto de </a:t>
            </a:r>
            <a:r>
              <a:rPr lang="es-PE" sz="1600" b="1" dirty="0">
                <a:latin typeface="Book Antiqua" panose="02040602050305030304" pitchFamily="18" charset="0"/>
              </a:rPr>
              <a:t>IBM</a:t>
            </a:r>
            <a:r>
              <a:rPr lang="es-PE" sz="1600" dirty="0">
                <a:latin typeface="Book Antiqua" panose="02040602050305030304" pitchFamily="18" charset="0"/>
              </a:rPr>
              <a:t>, el phishing ha evolucionado de simples correos falsos a técnicas altamente técnicas y dirigidas.</a:t>
            </a:r>
          </a:p>
          <a:p>
            <a:pPr lvl="0"/>
            <a:r>
              <a:rPr lang="es-PE" sz="1600" b="1" dirty="0">
                <a:latin typeface="Book Antiqua" panose="02040602050305030304" pitchFamily="18" charset="0"/>
              </a:rPr>
              <a:t>Definición Técnica:</a:t>
            </a:r>
            <a:r>
              <a:rPr lang="es-PE" sz="1600" dirty="0">
                <a:latin typeface="Book Antiqua" panose="02040602050305030304" pitchFamily="18" charset="0"/>
              </a:rPr>
              <a:t> Es una forma de ingeniería social que utiliza canales digitales para engañar a los usuarios y que estos revelen credenciales o instalen malware.</a:t>
            </a:r>
          </a:p>
          <a:p>
            <a:pPr lvl="0"/>
            <a:r>
              <a:rPr lang="es-PE" sz="1600" b="1" dirty="0">
                <a:latin typeface="Book Antiqua" panose="02040602050305030304" pitchFamily="18" charset="0"/>
              </a:rPr>
              <a:t>Variantes Técnicas:</a:t>
            </a:r>
            <a:endParaRPr lang="es-PE" sz="1600" dirty="0">
              <a:latin typeface="Book Antiqua" panose="02040602050305030304" pitchFamily="18" charset="0"/>
            </a:endParaRPr>
          </a:p>
          <a:p>
            <a:pPr lvl="1"/>
            <a:r>
              <a:rPr lang="es-PE" sz="1600" b="1" dirty="0" err="1">
                <a:latin typeface="Book Antiqua" panose="02040602050305030304" pitchFamily="18" charset="0"/>
              </a:rPr>
              <a:t>Spear</a:t>
            </a:r>
            <a:r>
              <a:rPr lang="es-PE" sz="1600" b="1" dirty="0">
                <a:latin typeface="Book Antiqua" panose="02040602050305030304" pitchFamily="18" charset="0"/>
              </a:rPr>
              <a:t> Phishing:</a:t>
            </a:r>
            <a:r>
              <a:rPr lang="es-PE" sz="1600" dirty="0">
                <a:latin typeface="Book Antiqua" panose="02040602050305030304" pitchFamily="18" charset="0"/>
              </a:rPr>
              <a:t> Ataque dirigido a una persona específica de una organización, utilizando datos reales obtenidos previamente para generar confianza.</a:t>
            </a:r>
          </a:p>
          <a:p>
            <a:pPr lvl="1"/>
            <a:r>
              <a:rPr lang="es-PE" sz="1600" b="1" dirty="0">
                <a:latin typeface="Book Antiqua" panose="02040602050305030304" pitchFamily="18" charset="0"/>
              </a:rPr>
              <a:t>Phishing de Aplicación (</a:t>
            </a:r>
            <a:r>
              <a:rPr lang="es-PE" sz="1600" b="1" dirty="0" err="1">
                <a:latin typeface="Book Antiqua" panose="02040602050305030304" pitchFamily="18" charset="0"/>
              </a:rPr>
              <a:t>Oauth</a:t>
            </a:r>
            <a:r>
              <a:rPr lang="es-PE" sz="1600" b="1" dirty="0">
                <a:latin typeface="Book Antiqua" panose="02040602050305030304" pitchFamily="18" charset="0"/>
              </a:rPr>
              <a:t> Phishing):</a:t>
            </a:r>
            <a:r>
              <a:rPr lang="es-PE" sz="1600" dirty="0">
                <a:latin typeface="Book Antiqua" panose="02040602050305030304" pitchFamily="18" charset="0"/>
              </a:rPr>
              <a:t> En lugar de pedir una contraseña, el atacante convence al usuario de dar permisos a una aplicación maliciosa mediante un mensaje de "Aceptar permisos", obteniendo acceso total a su correo o archivos sin robar la clave.</a:t>
            </a:r>
          </a:p>
          <a:p>
            <a:pPr lvl="1"/>
            <a:r>
              <a:rPr lang="es-PE" sz="1600" b="1" dirty="0" err="1">
                <a:latin typeface="Book Antiqua" panose="02040602050305030304" pitchFamily="18" charset="0"/>
              </a:rPr>
              <a:t>Pharming</a:t>
            </a:r>
            <a:r>
              <a:rPr lang="es-PE" sz="1600" b="1" dirty="0">
                <a:latin typeface="Book Antiqua" panose="02040602050305030304" pitchFamily="18" charset="0"/>
              </a:rPr>
              <a:t>:</a:t>
            </a:r>
            <a:r>
              <a:rPr lang="es-PE" sz="1600" dirty="0">
                <a:latin typeface="Book Antiqua" panose="02040602050305030304" pitchFamily="18" charset="0"/>
              </a:rPr>
              <a:t> Es una técnica más avanzada donde se altera el archivo </a:t>
            </a:r>
            <a:r>
              <a:rPr lang="es-PE" sz="1600" i="1" dirty="0">
                <a:latin typeface="Book Antiqua" panose="02040602050305030304" pitchFamily="18" charset="0"/>
              </a:rPr>
              <a:t>hosts</a:t>
            </a:r>
            <a:r>
              <a:rPr lang="es-PE" sz="1600" dirty="0">
                <a:latin typeface="Book Antiqua" panose="02040602050305030304" pitchFamily="18" charset="0"/>
              </a:rPr>
              <a:t> de una computadora o se envenena el sistema </a:t>
            </a:r>
            <a:r>
              <a:rPr lang="es-PE" sz="1600" b="1" dirty="0">
                <a:latin typeface="Book Antiqua" panose="02040602050305030304" pitchFamily="18" charset="0"/>
              </a:rPr>
              <a:t>DNS</a:t>
            </a:r>
            <a:r>
              <a:rPr lang="es-PE" sz="1600" dirty="0">
                <a:latin typeface="Book Antiqua" panose="02040602050305030304" pitchFamily="18" charset="0"/>
              </a:rPr>
              <a:t>, haciendo que el usuario entre a una web falsa incluso si escribe la dirección correctamente en el navegador.</a:t>
            </a:r>
          </a:p>
          <a:p>
            <a:endParaRPr lang="es-PE" sz="1200" dirty="0">
              <a:latin typeface="Book Antiqua" panose="02040602050305030304" pitchFamily="18" charset="0"/>
            </a:endParaRPr>
          </a:p>
          <a:p>
            <a:endParaRPr lang="es-PE" dirty="0"/>
          </a:p>
        </p:txBody>
      </p:sp>
      <p:pic>
        <p:nvPicPr>
          <p:cNvPr id="5" name="Imagen 4" descr="Evite ser víctima de ataques de Ingeniería social | Universidad Nacional de  Loja">
            <a:extLst>
              <a:ext uri="{FF2B5EF4-FFF2-40B4-BE49-F238E27FC236}">
                <a16:creationId xmlns:a16="http://schemas.microsoft.com/office/drawing/2014/main" id="{0094CCD4-9D99-22B4-A33D-AEBA60AC3E2C}"/>
              </a:ext>
            </a:extLst>
          </p:cNvPr>
          <p:cNvPicPr>
            <a:picLocks noChangeAspect="1"/>
          </p:cNvPicPr>
          <p:nvPr/>
        </p:nvPicPr>
        <p:blipFill>
          <a:blip r:embed="rId6"/>
          <a:stretch>
            <a:fillRect/>
          </a:stretch>
        </p:blipFill>
        <p:spPr>
          <a:xfrm>
            <a:off x="7000378" y="1277729"/>
            <a:ext cx="4354913" cy="3184870"/>
          </a:xfrm>
          <a:prstGeom prst="rect">
            <a:avLst/>
          </a:prstGeom>
        </p:spPr>
      </p:pic>
      <p:sp>
        <p:nvSpPr>
          <p:cNvPr id="6" name="Estrella: 4 puntas 5">
            <a:extLst>
              <a:ext uri="{FF2B5EF4-FFF2-40B4-BE49-F238E27FC236}">
                <a16:creationId xmlns:a16="http://schemas.microsoft.com/office/drawing/2014/main" id="{FFF59765-4703-2857-6AE3-8DA79CA60AF5}"/>
              </a:ext>
            </a:extLst>
          </p:cNvPr>
          <p:cNvSpPr/>
          <p:nvPr/>
        </p:nvSpPr>
        <p:spPr>
          <a:xfrm>
            <a:off x="10340502" y="5874198"/>
            <a:ext cx="437745" cy="506590"/>
          </a:xfrm>
          <a:prstGeom prst="star4">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28393411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a:extLst>
            <a:ext uri="{FF2B5EF4-FFF2-40B4-BE49-F238E27FC236}">
              <a16:creationId xmlns:a16="http://schemas.microsoft.com/office/drawing/2014/main" id="{E212663E-1EF9-7CA7-7C22-81B8C9DE1907}"/>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6722E994-1AD0-CAEA-ADA1-312279A65C83}"/>
              </a:ext>
            </a:extLst>
          </p:cNvPr>
          <p:cNvSpPr txBox="1"/>
          <p:nvPr/>
        </p:nvSpPr>
        <p:spPr>
          <a:xfrm>
            <a:off x="944879" y="0"/>
            <a:ext cx="11709393" cy="1200329"/>
          </a:xfrm>
          <a:prstGeom prst="rect">
            <a:avLst/>
          </a:prstGeom>
          <a:noFill/>
          <a:effectLst>
            <a:outerShdw blurRad="50800" dist="38100" dir="2700000" algn="tl" rotWithShape="0">
              <a:prstClr val="black">
                <a:alpha val="40000"/>
              </a:prstClr>
            </a:outerShdw>
          </a:effectLst>
        </p:spPr>
        <p:txBody>
          <a:bodyPr wrap="square" rtlCol="0">
            <a:spAutoFit/>
          </a:bodyPr>
          <a:lstStyle/>
          <a:p>
            <a:r>
              <a:rPr lang="es-MX" sz="36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haroni" panose="02010803020104030203" pitchFamily="2" charset="-79"/>
                <a:cs typeface="Aharoni" panose="02010803020104030203" pitchFamily="2" charset="-79"/>
              </a:rPr>
              <a:t>POLÍTICAS DE SEGURIDAD BYOD EN INSTITUCIONES EDUCATIVAS</a:t>
            </a:r>
            <a:endParaRPr lang="es-PE" sz="36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haroni" panose="02010803020104030203" pitchFamily="2" charset="-79"/>
              <a:cs typeface="Aharoni" panose="02010803020104030203" pitchFamily="2" charset="-79"/>
            </a:endParaRPr>
          </a:p>
        </p:txBody>
      </p:sp>
      <p:cxnSp>
        <p:nvCxnSpPr>
          <p:cNvPr id="14" name="Conector: curvado 13">
            <a:extLst>
              <a:ext uri="{FF2B5EF4-FFF2-40B4-BE49-F238E27FC236}">
                <a16:creationId xmlns:a16="http://schemas.microsoft.com/office/drawing/2014/main" id="{6D24C7E2-BA17-F17D-FDC2-77AD52A2465D}"/>
              </a:ext>
            </a:extLst>
          </p:cNvPr>
          <p:cNvCxnSpPr/>
          <p:nvPr/>
        </p:nvCxnSpPr>
        <p:spPr>
          <a:xfrm rot="16200000" flipH="1">
            <a:off x="-2405444" y="3280653"/>
            <a:ext cx="5564782" cy="296694"/>
          </a:xfrm>
          <a:prstGeom prst="curvedConnector3">
            <a:avLst>
              <a:gd name="adj1" fmla="val 50304"/>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16" name="Conector: curvado 15">
            <a:extLst>
              <a:ext uri="{FF2B5EF4-FFF2-40B4-BE49-F238E27FC236}">
                <a16:creationId xmlns:a16="http://schemas.microsoft.com/office/drawing/2014/main" id="{2F616FEE-3F8B-4F94-10EC-4F2069321390}"/>
              </a:ext>
            </a:extLst>
          </p:cNvPr>
          <p:cNvCxnSpPr>
            <a:cxnSpLocks/>
          </p:cNvCxnSpPr>
          <p:nvPr/>
        </p:nvCxnSpPr>
        <p:spPr>
          <a:xfrm rot="5400000">
            <a:off x="-2373206" y="3344886"/>
            <a:ext cx="5466260" cy="408501"/>
          </a:xfrm>
          <a:prstGeom prst="curvedConnector3">
            <a:avLst>
              <a:gd name="adj1" fmla="val 50000"/>
            </a:avLst>
          </a:prstGeom>
          <a:ln>
            <a:solidFill>
              <a:schemeClr val="accent1">
                <a:lumMod val="20000"/>
                <a:lumOff val="80000"/>
              </a:schemeClr>
            </a:solidFill>
          </a:ln>
        </p:spPr>
        <p:style>
          <a:lnRef idx="2">
            <a:schemeClr val="dk1"/>
          </a:lnRef>
          <a:fillRef idx="0">
            <a:schemeClr val="dk1"/>
          </a:fillRef>
          <a:effectRef idx="1">
            <a:schemeClr val="dk1"/>
          </a:effectRef>
          <a:fontRef idx="minor">
            <a:schemeClr val="tx1"/>
          </a:fontRef>
        </p:style>
      </p:cxnSp>
      <p:pic>
        <p:nvPicPr>
          <p:cNvPr id="7" name="Gráfico 6" descr="Internet con relleno sólido">
            <a:extLst>
              <a:ext uri="{FF2B5EF4-FFF2-40B4-BE49-F238E27FC236}">
                <a16:creationId xmlns:a16="http://schemas.microsoft.com/office/drawing/2014/main" id="{C5380F60-C7B6-5B26-EF56-64466B52ED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603866" y="685113"/>
            <a:ext cx="1185231" cy="1185231"/>
          </a:xfrm>
          <a:prstGeom prst="rect">
            <a:avLst/>
          </a:prstGeom>
        </p:spPr>
      </p:pic>
      <p:sp>
        <p:nvSpPr>
          <p:cNvPr id="12" name="Estrella: 4 puntas 11">
            <a:extLst>
              <a:ext uri="{FF2B5EF4-FFF2-40B4-BE49-F238E27FC236}">
                <a16:creationId xmlns:a16="http://schemas.microsoft.com/office/drawing/2014/main" id="{04CA9189-766D-A30F-6D12-6D87BC5A32A1}"/>
              </a:ext>
            </a:extLst>
          </p:cNvPr>
          <p:cNvSpPr/>
          <p:nvPr/>
        </p:nvSpPr>
        <p:spPr>
          <a:xfrm>
            <a:off x="228599" y="6380788"/>
            <a:ext cx="518160" cy="369332"/>
          </a:xfrm>
          <a:prstGeom prst="star4">
            <a:avLst>
              <a:gd name="adj" fmla="val 8253"/>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 name="Estrella: 4 puntas 14">
            <a:extLst>
              <a:ext uri="{FF2B5EF4-FFF2-40B4-BE49-F238E27FC236}">
                <a16:creationId xmlns:a16="http://schemas.microsoft.com/office/drawing/2014/main" id="{488A810D-2C97-B2AE-4FEC-C1492559E9A8}"/>
              </a:ext>
            </a:extLst>
          </p:cNvPr>
          <p:cNvSpPr/>
          <p:nvPr/>
        </p:nvSpPr>
        <p:spPr>
          <a:xfrm>
            <a:off x="11518167" y="1622548"/>
            <a:ext cx="518160" cy="369332"/>
          </a:xfrm>
          <a:prstGeom prst="star4">
            <a:avLst>
              <a:gd name="adj" fmla="val 8253"/>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9" name="Gráfico 8" descr="Nube con relleno sólido">
            <a:extLst>
              <a:ext uri="{FF2B5EF4-FFF2-40B4-BE49-F238E27FC236}">
                <a16:creationId xmlns:a16="http://schemas.microsoft.com/office/drawing/2014/main" id="{6B4B4D45-C8F8-A9C4-A602-1DE27EA7924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0479" y="-70328"/>
            <a:ext cx="914400" cy="914400"/>
          </a:xfrm>
          <a:prstGeom prst="rect">
            <a:avLst/>
          </a:prstGeom>
        </p:spPr>
      </p:pic>
      <p:sp>
        <p:nvSpPr>
          <p:cNvPr id="8" name="Estrella: 4 puntas 7">
            <a:extLst>
              <a:ext uri="{FF2B5EF4-FFF2-40B4-BE49-F238E27FC236}">
                <a16:creationId xmlns:a16="http://schemas.microsoft.com/office/drawing/2014/main" id="{517AF098-375A-60E7-3491-6E156FC0FF32}"/>
              </a:ext>
            </a:extLst>
          </p:cNvPr>
          <p:cNvSpPr/>
          <p:nvPr/>
        </p:nvSpPr>
        <p:spPr>
          <a:xfrm>
            <a:off x="11432536" y="5504866"/>
            <a:ext cx="518160" cy="369332"/>
          </a:xfrm>
          <a:prstGeom prst="star4">
            <a:avLst>
              <a:gd name="adj" fmla="val 8253"/>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 name="Estrella: 4 puntas 5">
            <a:extLst>
              <a:ext uri="{FF2B5EF4-FFF2-40B4-BE49-F238E27FC236}">
                <a16:creationId xmlns:a16="http://schemas.microsoft.com/office/drawing/2014/main" id="{DFABB5C1-02A6-50A9-B640-35F1E150B2FF}"/>
              </a:ext>
            </a:extLst>
          </p:cNvPr>
          <p:cNvSpPr/>
          <p:nvPr/>
        </p:nvSpPr>
        <p:spPr>
          <a:xfrm>
            <a:off x="11691616" y="6127493"/>
            <a:ext cx="437745" cy="506590"/>
          </a:xfrm>
          <a:prstGeom prst="star4">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CuadroTexto 1">
            <a:extLst>
              <a:ext uri="{FF2B5EF4-FFF2-40B4-BE49-F238E27FC236}">
                <a16:creationId xmlns:a16="http://schemas.microsoft.com/office/drawing/2014/main" id="{261A542E-DBF1-8345-E2EC-F58C2F3F6EBB}"/>
              </a:ext>
            </a:extLst>
          </p:cNvPr>
          <p:cNvSpPr txBox="1"/>
          <p:nvPr/>
        </p:nvSpPr>
        <p:spPr>
          <a:xfrm>
            <a:off x="746759" y="1277729"/>
            <a:ext cx="4613181" cy="5786199"/>
          </a:xfrm>
          <a:prstGeom prst="rect">
            <a:avLst/>
          </a:prstGeom>
          <a:noFill/>
        </p:spPr>
        <p:txBody>
          <a:bodyPr wrap="square" rtlCol="0">
            <a:spAutoFit/>
          </a:bodyPr>
          <a:lstStyle/>
          <a:p>
            <a:r>
              <a:rPr lang="es-MX" sz="1600" b="1" dirty="0">
                <a:latin typeface="Book Antiqua" panose="02040602050305030304" pitchFamily="18" charset="0"/>
              </a:rPr>
              <a:t>1.- ¿BYOD (</a:t>
            </a:r>
            <a:r>
              <a:rPr lang="es-PE" sz="1600" b="1" dirty="0">
                <a:latin typeface="Book Antiqua" panose="02040602050305030304" pitchFamily="18" charset="0"/>
              </a:rPr>
              <a:t>Trae tu propio dispositivo en las escuelas</a:t>
            </a:r>
            <a:r>
              <a:rPr lang="es-MX" sz="1600" b="1" dirty="0">
                <a:latin typeface="Book Antiqua" panose="02040602050305030304" pitchFamily="18" charset="0"/>
              </a:rPr>
              <a:t>) ?:</a:t>
            </a:r>
            <a:endParaRPr lang="es-PE" sz="1600" dirty="0">
              <a:latin typeface="Book Antiqua" panose="02040602050305030304" pitchFamily="18" charset="0"/>
            </a:endParaRPr>
          </a:p>
          <a:p>
            <a:r>
              <a:rPr lang="es-PE" sz="1600" dirty="0">
                <a:latin typeface="Book Antiqua" panose="02040602050305030304" pitchFamily="18" charset="0"/>
              </a:rPr>
              <a:t>BYOD, siglas de </a:t>
            </a:r>
            <a:r>
              <a:rPr lang="es-PE" sz="1600" dirty="0" err="1">
                <a:latin typeface="Book Antiqua" panose="02040602050305030304" pitchFamily="18" charset="0"/>
              </a:rPr>
              <a:t>Bring</a:t>
            </a:r>
            <a:r>
              <a:rPr lang="es-PE" sz="1600" dirty="0">
                <a:latin typeface="Book Antiqua" panose="02040602050305030304" pitchFamily="18" charset="0"/>
              </a:rPr>
              <a:t> </a:t>
            </a:r>
            <a:r>
              <a:rPr lang="es-PE" sz="1600" dirty="0" err="1">
                <a:latin typeface="Book Antiqua" panose="02040602050305030304" pitchFamily="18" charset="0"/>
              </a:rPr>
              <a:t>Your</a:t>
            </a:r>
            <a:r>
              <a:rPr lang="es-PE" sz="1600" dirty="0">
                <a:latin typeface="Book Antiqua" panose="02040602050305030304" pitchFamily="18" charset="0"/>
              </a:rPr>
              <a:t> </a:t>
            </a:r>
            <a:r>
              <a:rPr lang="es-PE" sz="1600" dirty="0" err="1">
                <a:latin typeface="Book Antiqua" panose="02040602050305030304" pitchFamily="18" charset="0"/>
              </a:rPr>
              <a:t>Own</a:t>
            </a:r>
            <a:r>
              <a:rPr lang="es-PE" sz="1600" dirty="0">
                <a:latin typeface="Book Antiqua" panose="02040602050305030304" pitchFamily="18" charset="0"/>
              </a:rPr>
              <a:t> </a:t>
            </a:r>
            <a:r>
              <a:rPr lang="es-PE" sz="1600" dirty="0" err="1">
                <a:latin typeface="Book Antiqua" panose="02040602050305030304" pitchFamily="18" charset="0"/>
              </a:rPr>
              <a:t>Device</a:t>
            </a:r>
            <a:r>
              <a:rPr lang="es-PE" sz="1600" dirty="0">
                <a:latin typeface="Book Antiqua" panose="02040602050305030304" pitchFamily="18" charset="0"/>
              </a:rPr>
              <a:t> (Trae tu propio dispositivo), es un acrónimo que ha cobrado gran relevancia en las políticas educativas y laborales.</a:t>
            </a:r>
          </a:p>
          <a:p>
            <a:r>
              <a:rPr lang="es-PE" sz="1600" dirty="0">
                <a:latin typeface="Book Antiqua" panose="02040602050305030304" pitchFamily="18" charset="0"/>
              </a:rPr>
              <a:t>Se refiere a las políticas que permiten a las personas llevar sus propios dispositivos, como teléfonos inteligentes, computadoras portátiles o tabletas, a la escuela o al trabajo y llevárselos a casa.</a:t>
            </a:r>
          </a:p>
          <a:p>
            <a:r>
              <a:rPr lang="es-PE" sz="1600" dirty="0">
                <a:latin typeface="Book Antiqua" panose="02040602050305030304" pitchFamily="18" charset="0"/>
              </a:rPr>
              <a:t>La cultura de "trae tu propio dispositivo" no es del todo nueva y es una tendencia en auge. Muchos sectores productivos de EE. UU., especialmente tras la pandemia, han adoptado esta práctica durante años, ya que reduce los costes operativos (a costa de una ciberseguridad limitada). Esta tendencia se acentuó en 2020, cuando muchos empleadores trasladaron a sus empleados al teletrabajo. Y como los empleados ya contaban con un ordenador en casa, todos salieron ganando.</a:t>
            </a:r>
          </a:p>
          <a:p>
            <a:endParaRPr lang="es-PE" dirty="0"/>
          </a:p>
        </p:txBody>
      </p:sp>
      <p:sp>
        <p:nvSpPr>
          <p:cNvPr id="10" name="CuadroTexto 9">
            <a:extLst>
              <a:ext uri="{FF2B5EF4-FFF2-40B4-BE49-F238E27FC236}">
                <a16:creationId xmlns:a16="http://schemas.microsoft.com/office/drawing/2014/main" id="{6BE167DD-8C04-8FDD-0089-AC1543872E68}"/>
              </a:ext>
            </a:extLst>
          </p:cNvPr>
          <p:cNvSpPr txBox="1"/>
          <p:nvPr/>
        </p:nvSpPr>
        <p:spPr>
          <a:xfrm>
            <a:off x="7228241" y="1210142"/>
            <a:ext cx="4204295" cy="5355312"/>
          </a:xfrm>
          <a:prstGeom prst="rect">
            <a:avLst/>
          </a:prstGeom>
          <a:solidFill>
            <a:schemeClr val="accent5">
              <a:lumMod val="75000"/>
              <a:alpha val="66000"/>
            </a:schemeClr>
          </a:solidFill>
          <a:ln>
            <a:noFill/>
          </a:ln>
        </p:spPr>
        <p:txBody>
          <a:bodyPr wrap="square" rtlCol="0">
            <a:spAutoFit/>
          </a:bodyPr>
          <a:lstStyle/>
          <a:p>
            <a:r>
              <a:rPr lang="es-PE" b="1" dirty="0">
                <a:latin typeface="Book Antiqua" panose="02040602050305030304" pitchFamily="18" charset="0"/>
              </a:rPr>
              <a:t>2.- ¿Por qué es importante el BYOD en las escuelas?</a:t>
            </a:r>
            <a:endParaRPr lang="es-PE" dirty="0">
              <a:latin typeface="Book Antiqua" panose="02040602050305030304" pitchFamily="18" charset="0"/>
            </a:endParaRPr>
          </a:p>
          <a:p>
            <a:r>
              <a:rPr lang="es-PE" dirty="0">
                <a:latin typeface="Book Antiqua" panose="02040602050305030304" pitchFamily="18" charset="0"/>
              </a:rPr>
              <a:t>La importancia radica en que la gran mayoría de los estudiantes ya poseen la tecnología en casa (el 85% tiene acceso a computadoras e internet). Al permitir el uso de estos dispositivos, las escuelas pueden:</a:t>
            </a:r>
          </a:p>
          <a:p>
            <a:pPr lvl="0"/>
            <a:r>
              <a:rPr lang="es-PE" dirty="0">
                <a:latin typeface="Book Antiqua" panose="02040602050305030304" pitchFamily="18" charset="0"/>
              </a:rPr>
              <a:t>Asegurar la continuidad del aprendizaje: Permite el uso de aplicaciones web y plataformas educativas incluso cuando la escuela no tiene presupuesto para comprar equipos para todos.</a:t>
            </a:r>
          </a:p>
          <a:p>
            <a:pPr lvl="0"/>
            <a:r>
              <a:rPr lang="es-PE" dirty="0">
                <a:latin typeface="Book Antiqua" panose="02040602050305030304" pitchFamily="18" charset="0"/>
              </a:rPr>
              <a:t>Fomentar el aprendizaje digital: Los dispositivos personales se convierten en plataformas instantáneas para que los profesores impartan conocimientos de forma interactiva y divertida.</a:t>
            </a:r>
          </a:p>
        </p:txBody>
      </p:sp>
      <p:cxnSp>
        <p:nvCxnSpPr>
          <p:cNvPr id="11" name="Conector recto 10">
            <a:extLst>
              <a:ext uri="{FF2B5EF4-FFF2-40B4-BE49-F238E27FC236}">
                <a16:creationId xmlns:a16="http://schemas.microsoft.com/office/drawing/2014/main" id="{5E4532F6-7BAB-4D13-EAA6-28B5071AC9BA}"/>
              </a:ext>
            </a:extLst>
          </p:cNvPr>
          <p:cNvCxnSpPr/>
          <p:nvPr/>
        </p:nvCxnSpPr>
        <p:spPr>
          <a:xfrm>
            <a:off x="6196481" y="1919453"/>
            <a:ext cx="0" cy="4502749"/>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9224708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lumMod val="75000"/>
              </a:schemeClr>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D9D343FD-42AD-150B-D7CA-5EF2F2126428}"/>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80A85A69-421F-C4DC-F41A-8F8F4BA3EB31}"/>
              </a:ext>
            </a:extLst>
          </p:cNvPr>
          <p:cNvSpPr txBox="1"/>
          <p:nvPr/>
        </p:nvSpPr>
        <p:spPr>
          <a:xfrm>
            <a:off x="598221" y="63706"/>
            <a:ext cx="11709393" cy="646331"/>
          </a:xfrm>
          <a:prstGeom prst="rect">
            <a:avLst/>
          </a:prstGeom>
          <a:noFill/>
          <a:effectLst>
            <a:outerShdw blurRad="50800" dist="38100" dir="2700000" algn="tl" rotWithShape="0">
              <a:prstClr val="black">
                <a:alpha val="40000"/>
              </a:prstClr>
            </a:outerShdw>
          </a:effectLst>
        </p:spPr>
        <p:txBody>
          <a:bodyPr wrap="square" rtlCol="0">
            <a:spAutoFit/>
          </a:bodyPr>
          <a:lstStyle/>
          <a:p>
            <a:pPr algn="ctr"/>
            <a:r>
              <a:rPr lang="es-PE" sz="36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haroni" panose="02010803020104030203" pitchFamily="2" charset="-79"/>
                <a:cs typeface="Aharoni" panose="02010803020104030203" pitchFamily="2" charset="-79"/>
              </a:rPr>
              <a:t>3.- VENTAJAS Y DESVENTAJAS</a:t>
            </a:r>
          </a:p>
        </p:txBody>
      </p:sp>
      <p:cxnSp>
        <p:nvCxnSpPr>
          <p:cNvPr id="14" name="Conector: curvado 13">
            <a:extLst>
              <a:ext uri="{FF2B5EF4-FFF2-40B4-BE49-F238E27FC236}">
                <a16:creationId xmlns:a16="http://schemas.microsoft.com/office/drawing/2014/main" id="{5AAF577E-8F5A-CB1D-5746-82D2387E95B1}"/>
              </a:ext>
            </a:extLst>
          </p:cNvPr>
          <p:cNvCxnSpPr/>
          <p:nvPr/>
        </p:nvCxnSpPr>
        <p:spPr>
          <a:xfrm rot="16200000" flipH="1">
            <a:off x="-2405444" y="3280653"/>
            <a:ext cx="5564782" cy="296694"/>
          </a:xfrm>
          <a:prstGeom prst="curvedConnector3">
            <a:avLst>
              <a:gd name="adj1" fmla="val 50304"/>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16" name="Conector: curvado 15">
            <a:extLst>
              <a:ext uri="{FF2B5EF4-FFF2-40B4-BE49-F238E27FC236}">
                <a16:creationId xmlns:a16="http://schemas.microsoft.com/office/drawing/2014/main" id="{41961516-0C81-6FA8-BC15-4BB70C101569}"/>
              </a:ext>
            </a:extLst>
          </p:cNvPr>
          <p:cNvCxnSpPr>
            <a:cxnSpLocks/>
          </p:cNvCxnSpPr>
          <p:nvPr/>
        </p:nvCxnSpPr>
        <p:spPr>
          <a:xfrm rot="5400000">
            <a:off x="-2373206" y="3344886"/>
            <a:ext cx="5466260" cy="408501"/>
          </a:xfrm>
          <a:prstGeom prst="curvedConnector3">
            <a:avLst>
              <a:gd name="adj1" fmla="val 50000"/>
            </a:avLst>
          </a:prstGeom>
          <a:ln>
            <a:solidFill>
              <a:schemeClr val="accent1">
                <a:lumMod val="20000"/>
                <a:lumOff val="80000"/>
              </a:schemeClr>
            </a:solidFill>
          </a:ln>
        </p:spPr>
        <p:style>
          <a:lnRef idx="2">
            <a:schemeClr val="dk1"/>
          </a:lnRef>
          <a:fillRef idx="0">
            <a:schemeClr val="dk1"/>
          </a:fillRef>
          <a:effectRef idx="1">
            <a:schemeClr val="dk1"/>
          </a:effectRef>
          <a:fontRef idx="minor">
            <a:schemeClr val="tx1"/>
          </a:fontRef>
        </p:style>
      </p:cxnSp>
      <p:pic>
        <p:nvPicPr>
          <p:cNvPr id="7" name="Gráfico 6" descr="Internet con relleno sólido">
            <a:extLst>
              <a:ext uri="{FF2B5EF4-FFF2-40B4-BE49-F238E27FC236}">
                <a16:creationId xmlns:a16="http://schemas.microsoft.com/office/drawing/2014/main" id="{3F31CE09-101F-0E87-4E7F-48ABCB0B068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35501" y="5588520"/>
            <a:ext cx="1185231" cy="1185231"/>
          </a:xfrm>
          <a:prstGeom prst="rect">
            <a:avLst/>
          </a:prstGeom>
        </p:spPr>
      </p:pic>
      <p:sp>
        <p:nvSpPr>
          <p:cNvPr id="12" name="Estrella: 4 puntas 11">
            <a:extLst>
              <a:ext uri="{FF2B5EF4-FFF2-40B4-BE49-F238E27FC236}">
                <a16:creationId xmlns:a16="http://schemas.microsoft.com/office/drawing/2014/main" id="{EC15DFA8-B810-78D4-41CC-ABCC7A765D73}"/>
              </a:ext>
            </a:extLst>
          </p:cNvPr>
          <p:cNvSpPr/>
          <p:nvPr/>
        </p:nvSpPr>
        <p:spPr>
          <a:xfrm>
            <a:off x="228599" y="6380788"/>
            <a:ext cx="518160" cy="369332"/>
          </a:xfrm>
          <a:prstGeom prst="star4">
            <a:avLst>
              <a:gd name="adj" fmla="val 8253"/>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 name="Estrella: 4 puntas 14">
            <a:extLst>
              <a:ext uri="{FF2B5EF4-FFF2-40B4-BE49-F238E27FC236}">
                <a16:creationId xmlns:a16="http://schemas.microsoft.com/office/drawing/2014/main" id="{2792BDC1-AFDA-BD85-5E6D-982AD763101F}"/>
              </a:ext>
            </a:extLst>
          </p:cNvPr>
          <p:cNvSpPr/>
          <p:nvPr/>
        </p:nvSpPr>
        <p:spPr>
          <a:xfrm>
            <a:off x="11518167" y="1622548"/>
            <a:ext cx="518160" cy="369332"/>
          </a:xfrm>
          <a:prstGeom prst="star4">
            <a:avLst>
              <a:gd name="adj" fmla="val 8253"/>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9" name="Gráfico 8" descr="Nube con relleno sólido">
            <a:extLst>
              <a:ext uri="{FF2B5EF4-FFF2-40B4-BE49-F238E27FC236}">
                <a16:creationId xmlns:a16="http://schemas.microsoft.com/office/drawing/2014/main" id="{C434AA26-C38C-79B0-3986-210226226EF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0479" y="-70328"/>
            <a:ext cx="914400" cy="914400"/>
          </a:xfrm>
          <a:prstGeom prst="rect">
            <a:avLst/>
          </a:prstGeom>
        </p:spPr>
      </p:pic>
      <p:sp>
        <p:nvSpPr>
          <p:cNvPr id="8" name="Estrella: 4 puntas 7">
            <a:extLst>
              <a:ext uri="{FF2B5EF4-FFF2-40B4-BE49-F238E27FC236}">
                <a16:creationId xmlns:a16="http://schemas.microsoft.com/office/drawing/2014/main" id="{6BA43A28-5362-9C85-B2EE-4A8956736C70}"/>
              </a:ext>
            </a:extLst>
          </p:cNvPr>
          <p:cNvSpPr/>
          <p:nvPr/>
        </p:nvSpPr>
        <p:spPr>
          <a:xfrm>
            <a:off x="11432536" y="5504866"/>
            <a:ext cx="518160" cy="369332"/>
          </a:xfrm>
          <a:prstGeom prst="star4">
            <a:avLst>
              <a:gd name="adj" fmla="val 8253"/>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 name="Estrella: 4 puntas 5">
            <a:extLst>
              <a:ext uri="{FF2B5EF4-FFF2-40B4-BE49-F238E27FC236}">
                <a16:creationId xmlns:a16="http://schemas.microsoft.com/office/drawing/2014/main" id="{15F59395-18FA-27F9-52B2-5FB9ABE65E34}"/>
              </a:ext>
            </a:extLst>
          </p:cNvPr>
          <p:cNvSpPr/>
          <p:nvPr/>
        </p:nvSpPr>
        <p:spPr>
          <a:xfrm>
            <a:off x="11691616" y="6127493"/>
            <a:ext cx="437745" cy="506590"/>
          </a:xfrm>
          <a:prstGeom prst="star4">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CuadroTexto 1">
            <a:extLst>
              <a:ext uri="{FF2B5EF4-FFF2-40B4-BE49-F238E27FC236}">
                <a16:creationId xmlns:a16="http://schemas.microsoft.com/office/drawing/2014/main" id="{C5AAEFE5-025A-4A07-CA9E-6798207F8DB4}"/>
              </a:ext>
            </a:extLst>
          </p:cNvPr>
          <p:cNvSpPr txBox="1"/>
          <p:nvPr/>
        </p:nvSpPr>
        <p:spPr>
          <a:xfrm>
            <a:off x="598221" y="888139"/>
            <a:ext cx="5455473" cy="3539430"/>
          </a:xfrm>
          <a:prstGeom prst="rect">
            <a:avLst/>
          </a:prstGeom>
          <a:noFill/>
        </p:spPr>
        <p:txBody>
          <a:bodyPr wrap="square" rtlCol="0">
            <a:spAutoFit/>
          </a:bodyPr>
          <a:lstStyle/>
          <a:p>
            <a:pPr marL="285750" indent="-285750">
              <a:buFont typeface="Wingdings" panose="05000000000000000000" pitchFamily="2" charset="2"/>
              <a:buChar char="q"/>
            </a:pPr>
            <a:r>
              <a:rPr lang="es-PE" sz="1600" b="1" dirty="0">
                <a:latin typeface="Book Antiqua" panose="02040602050305030304" pitchFamily="18" charset="0"/>
              </a:rPr>
              <a:t>Ventajas (Los beneficios)</a:t>
            </a:r>
            <a:endParaRPr lang="es-PE" sz="1600" dirty="0">
              <a:latin typeface="Book Antiqua" panose="02040602050305030304" pitchFamily="18" charset="0"/>
            </a:endParaRPr>
          </a:p>
          <a:p>
            <a:pPr lvl="0"/>
            <a:r>
              <a:rPr lang="es-PE" sz="1600" dirty="0">
                <a:latin typeface="Book Antiqua" panose="02040602050305030304" pitchFamily="18" charset="0"/>
              </a:rPr>
              <a:t>Cobertura digital completa: Permite que más alumnos estén equipados simultáneamente sin depender de los laboratorios de computación fijos.</a:t>
            </a:r>
          </a:p>
          <a:p>
            <a:pPr lvl="0"/>
            <a:r>
              <a:rPr lang="es-PE" sz="1600" dirty="0">
                <a:latin typeface="Book Antiqua" panose="02040602050305030304" pitchFamily="18" charset="0"/>
              </a:rPr>
              <a:t>Ahorro de costos y tiempo: La institución evita la gran inversión inicial de compra, investigación de presupuestos y mantenimiento de flotas de portátiles.</a:t>
            </a:r>
          </a:p>
          <a:p>
            <a:pPr lvl="0"/>
            <a:r>
              <a:rPr lang="es-PE" sz="1600" dirty="0">
                <a:latin typeface="Book Antiqua" panose="02040602050305030304" pitchFamily="18" charset="0"/>
              </a:rPr>
              <a:t>Familiaridad tecnológica: Los estudiantes ya saben usar sus propios equipos, lo que elimina la necesidad de capacitación técnica y acelera el inicio de las actividades académicas.</a:t>
            </a:r>
          </a:p>
          <a:p>
            <a:pPr lvl="0"/>
            <a:r>
              <a:rPr lang="es-PE" sz="1600" dirty="0">
                <a:latin typeface="Book Antiqua" panose="02040602050305030304" pitchFamily="18" charset="0"/>
              </a:rPr>
              <a:t>Implementación rápida: Un programa BYOD puede lanzarse en cuestión de días si la infraestructura básica existe.</a:t>
            </a:r>
          </a:p>
        </p:txBody>
      </p:sp>
      <p:sp>
        <p:nvSpPr>
          <p:cNvPr id="10" name="CuadroTexto 9">
            <a:extLst>
              <a:ext uri="{FF2B5EF4-FFF2-40B4-BE49-F238E27FC236}">
                <a16:creationId xmlns:a16="http://schemas.microsoft.com/office/drawing/2014/main" id="{0FCAB2D5-24CC-8096-AD8C-CAA2DE8D5C30}"/>
              </a:ext>
            </a:extLst>
          </p:cNvPr>
          <p:cNvSpPr txBox="1"/>
          <p:nvPr/>
        </p:nvSpPr>
        <p:spPr>
          <a:xfrm>
            <a:off x="6673889" y="1143097"/>
            <a:ext cx="5455472" cy="4247317"/>
          </a:xfrm>
          <a:prstGeom prst="rect">
            <a:avLst/>
          </a:prstGeom>
          <a:solidFill>
            <a:schemeClr val="accent5">
              <a:lumMod val="75000"/>
              <a:alpha val="66000"/>
            </a:schemeClr>
          </a:solidFill>
          <a:ln>
            <a:noFill/>
          </a:ln>
        </p:spPr>
        <p:txBody>
          <a:bodyPr wrap="square" rtlCol="0">
            <a:spAutoFit/>
          </a:bodyPr>
          <a:lstStyle/>
          <a:p>
            <a:pPr marL="285750" indent="-285750">
              <a:buFont typeface="Wingdings" panose="05000000000000000000" pitchFamily="2" charset="2"/>
              <a:buChar char="q"/>
            </a:pPr>
            <a:r>
              <a:rPr lang="es-PE" b="1" dirty="0">
                <a:latin typeface="Book Antiqua" panose="02040602050305030304" pitchFamily="18" charset="0"/>
              </a:rPr>
              <a:t>Desventajas (Los desafíos)</a:t>
            </a:r>
            <a:endParaRPr lang="es-PE" dirty="0">
              <a:latin typeface="Book Antiqua" panose="02040602050305030304" pitchFamily="18" charset="0"/>
            </a:endParaRPr>
          </a:p>
          <a:p>
            <a:pPr lvl="0"/>
            <a:r>
              <a:rPr lang="es-PE" dirty="0">
                <a:latin typeface="Book Antiqua" panose="02040602050305030304" pitchFamily="18" charset="0"/>
              </a:rPr>
              <a:t>Costos de infraestructura de red: La red de la escuela debe actualizarse (switches, puntos de acceso) para soportar el tráfico masivo de múltiples dispositivos.</a:t>
            </a:r>
          </a:p>
          <a:p>
            <a:pPr lvl="0"/>
            <a:r>
              <a:rPr lang="es-PE" dirty="0">
                <a:latin typeface="Book Antiqua" panose="02040602050305030304" pitchFamily="18" charset="0"/>
              </a:rPr>
              <a:t>Riesgos de seguridad: La diversidad de sistemas operativos y dispositivos aumenta la vulnerabilidad ante filtraciones de datos o ciberataques.</a:t>
            </a:r>
          </a:p>
          <a:p>
            <a:pPr lvl="0"/>
            <a:r>
              <a:rPr lang="es-PE" dirty="0">
                <a:latin typeface="Book Antiqua" panose="02040602050305030304" pitchFamily="18" charset="0"/>
              </a:rPr>
              <a:t>Dificultad en el soporte técnico: Los equipos de TI deben lidiar con una variedad enorme de marcas, configuraciones y fallos de software.</a:t>
            </a:r>
          </a:p>
          <a:p>
            <a:pPr lvl="0"/>
            <a:r>
              <a:rPr lang="es-PE" dirty="0">
                <a:latin typeface="Book Antiqua" panose="02040602050305030304" pitchFamily="18" charset="0"/>
              </a:rPr>
              <a:t>Brecha de equidad: No todos los estudiantes tienen dispositivos de la misma calidad, lo que requiere programas de préstamo para evitar la exclusión</a:t>
            </a:r>
            <a:r>
              <a:rPr lang="es-PE" dirty="0"/>
              <a:t>.</a:t>
            </a:r>
          </a:p>
        </p:txBody>
      </p:sp>
      <p:cxnSp>
        <p:nvCxnSpPr>
          <p:cNvPr id="11" name="Conector recto 10">
            <a:extLst>
              <a:ext uri="{FF2B5EF4-FFF2-40B4-BE49-F238E27FC236}">
                <a16:creationId xmlns:a16="http://schemas.microsoft.com/office/drawing/2014/main" id="{005B5CB0-8252-8908-01A5-C9EC1A76D2C2}"/>
              </a:ext>
            </a:extLst>
          </p:cNvPr>
          <p:cNvCxnSpPr/>
          <p:nvPr/>
        </p:nvCxnSpPr>
        <p:spPr>
          <a:xfrm>
            <a:off x="6423696" y="1991880"/>
            <a:ext cx="0" cy="4502749"/>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pic>
        <p:nvPicPr>
          <p:cNvPr id="3" name="Imagen 2" descr="TemáTICas: BYOD y sus IMPLICACIONES CLAVE en tu empresa">
            <a:extLst>
              <a:ext uri="{FF2B5EF4-FFF2-40B4-BE49-F238E27FC236}">
                <a16:creationId xmlns:a16="http://schemas.microsoft.com/office/drawing/2014/main" id="{48F8CED5-31CD-C6A3-9258-B97E2570772A}"/>
              </a:ext>
            </a:extLst>
          </p:cNvPr>
          <p:cNvPicPr>
            <a:picLocks noChangeAspect="1"/>
          </p:cNvPicPr>
          <p:nvPr/>
        </p:nvPicPr>
        <p:blipFill>
          <a:blip r:embed="rId6"/>
          <a:stretch>
            <a:fillRect/>
          </a:stretch>
        </p:blipFill>
        <p:spPr>
          <a:xfrm>
            <a:off x="1368719" y="4243254"/>
            <a:ext cx="4363298" cy="2492704"/>
          </a:xfrm>
          <a:prstGeom prst="rect">
            <a:avLst/>
          </a:prstGeom>
        </p:spPr>
      </p:pic>
    </p:spTree>
    <p:extLst>
      <p:ext uri="{BB962C8B-B14F-4D97-AF65-F5344CB8AC3E}">
        <p14:creationId xmlns:p14="http://schemas.microsoft.com/office/powerpoint/2010/main" val="41189778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F53A3-3E2E-9937-0845-2435F6084A5C}"/>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00AF0AD4-E3B9-AC3F-9EA0-B5CF0ACBA8A3}"/>
              </a:ext>
            </a:extLst>
          </p:cNvPr>
          <p:cNvSpPr txBox="1"/>
          <p:nvPr/>
        </p:nvSpPr>
        <p:spPr>
          <a:xfrm>
            <a:off x="598221" y="63706"/>
            <a:ext cx="11709393" cy="646331"/>
          </a:xfrm>
          <a:prstGeom prst="rect">
            <a:avLst/>
          </a:prstGeom>
          <a:noFill/>
          <a:effectLst>
            <a:outerShdw blurRad="50800" dist="38100" dir="2700000" algn="tl" rotWithShape="0">
              <a:prstClr val="black">
                <a:alpha val="40000"/>
              </a:prstClr>
            </a:outerShdw>
          </a:effectLst>
        </p:spPr>
        <p:txBody>
          <a:bodyPr wrap="square" rtlCol="0">
            <a:spAutoFit/>
          </a:bodyPr>
          <a:lstStyle/>
          <a:p>
            <a:pPr algn="ctr"/>
            <a:r>
              <a:rPr lang="es-PE" sz="36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haroni" panose="02010803020104030203" pitchFamily="2" charset="-79"/>
                <a:cs typeface="Aharoni" panose="02010803020104030203" pitchFamily="2" charset="-79"/>
              </a:rPr>
              <a:t>3.- VENTAJAS Y DESVENTAJAS</a:t>
            </a:r>
          </a:p>
        </p:txBody>
      </p:sp>
      <p:cxnSp>
        <p:nvCxnSpPr>
          <p:cNvPr id="14" name="Conector: curvado 13">
            <a:extLst>
              <a:ext uri="{FF2B5EF4-FFF2-40B4-BE49-F238E27FC236}">
                <a16:creationId xmlns:a16="http://schemas.microsoft.com/office/drawing/2014/main" id="{B3E7FDD0-6F41-ADDB-E466-028DDF891C27}"/>
              </a:ext>
            </a:extLst>
          </p:cNvPr>
          <p:cNvCxnSpPr/>
          <p:nvPr/>
        </p:nvCxnSpPr>
        <p:spPr>
          <a:xfrm rot="16200000" flipH="1">
            <a:off x="-2405444" y="3280653"/>
            <a:ext cx="5564782" cy="296694"/>
          </a:xfrm>
          <a:prstGeom prst="curvedConnector3">
            <a:avLst>
              <a:gd name="adj1" fmla="val 50304"/>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16" name="Conector: curvado 15">
            <a:extLst>
              <a:ext uri="{FF2B5EF4-FFF2-40B4-BE49-F238E27FC236}">
                <a16:creationId xmlns:a16="http://schemas.microsoft.com/office/drawing/2014/main" id="{DFC78557-814D-C5FA-D994-9220D29F9969}"/>
              </a:ext>
            </a:extLst>
          </p:cNvPr>
          <p:cNvCxnSpPr>
            <a:cxnSpLocks/>
          </p:cNvCxnSpPr>
          <p:nvPr/>
        </p:nvCxnSpPr>
        <p:spPr>
          <a:xfrm rot="5400000">
            <a:off x="-2373206" y="3344886"/>
            <a:ext cx="5466260" cy="408501"/>
          </a:xfrm>
          <a:prstGeom prst="curvedConnector3">
            <a:avLst>
              <a:gd name="adj1" fmla="val 50000"/>
            </a:avLst>
          </a:prstGeom>
          <a:ln>
            <a:solidFill>
              <a:schemeClr val="accent1">
                <a:lumMod val="20000"/>
                <a:lumOff val="80000"/>
              </a:schemeClr>
            </a:solidFill>
          </a:ln>
        </p:spPr>
        <p:style>
          <a:lnRef idx="2">
            <a:schemeClr val="dk1"/>
          </a:lnRef>
          <a:fillRef idx="0">
            <a:schemeClr val="dk1"/>
          </a:fillRef>
          <a:effectRef idx="1">
            <a:schemeClr val="dk1"/>
          </a:effectRef>
          <a:fontRef idx="minor">
            <a:schemeClr val="tx1"/>
          </a:fontRef>
        </p:style>
      </p:cxnSp>
      <p:pic>
        <p:nvPicPr>
          <p:cNvPr id="7" name="Gráfico 6" descr="Internet con relleno sólido">
            <a:extLst>
              <a:ext uri="{FF2B5EF4-FFF2-40B4-BE49-F238E27FC236}">
                <a16:creationId xmlns:a16="http://schemas.microsoft.com/office/drawing/2014/main" id="{4C3036C4-4D68-4028-4289-8927EADE36B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7674" y="4715834"/>
            <a:ext cx="1185231" cy="1185231"/>
          </a:xfrm>
          <a:prstGeom prst="rect">
            <a:avLst/>
          </a:prstGeom>
        </p:spPr>
      </p:pic>
      <p:sp>
        <p:nvSpPr>
          <p:cNvPr id="12" name="Estrella: 4 puntas 11">
            <a:extLst>
              <a:ext uri="{FF2B5EF4-FFF2-40B4-BE49-F238E27FC236}">
                <a16:creationId xmlns:a16="http://schemas.microsoft.com/office/drawing/2014/main" id="{5818DF79-0B87-707B-39DA-EA10B5D403B9}"/>
              </a:ext>
            </a:extLst>
          </p:cNvPr>
          <p:cNvSpPr/>
          <p:nvPr/>
        </p:nvSpPr>
        <p:spPr>
          <a:xfrm>
            <a:off x="228599" y="6380788"/>
            <a:ext cx="518160" cy="369332"/>
          </a:xfrm>
          <a:prstGeom prst="star4">
            <a:avLst>
              <a:gd name="adj" fmla="val 8253"/>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 name="Estrella: 4 puntas 14">
            <a:extLst>
              <a:ext uri="{FF2B5EF4-FFF2-40B4-BE49-F238E27FC236}">
                <a16:creationId xmlns:a16="http://schemas.microsoft.com/office/drawing/2014/main" id="{0DC337AF-0752-6183-CCA6-F0608CE64610}"/>
              </a:ext>
            </a:extLst>
          </p:cNvPr>
          <p:cNvSpPr/>
          <p:nvPr/>
        </p:nvSpPr>
        <p:spPr>
          <a:xfrm>
            <a:off x="11518167" y="1622548"/>
            <a:ext cx="518160" cy="369332"/>
          </a:xfrm>
          <a:prstGeom prst="star4">
            <a:avLst>
              <a:gd name="adj" fmla="val 8253"/>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9" name="Gráfico 8" descr="Nube con relleno sólido">
            <a:extLst>
              <a:ext uri="{FF2B5EF4-FFF2-40B4-BE49-F238E27FC236}">
                <a16:creationId xmlns:a16="http://schemas.microsoft.com/office/drawing/2014/main" id="{AEF9C172-3C59-8296-D8FD-964DB5443DD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0479" y="-70328"/>
            <a:ext cx="914400" cy="914400"/>
          </a:xfrm>
          <a:prstGeom prst="rect">
            <a:avLst/>
          </a:prstGeom>
        </p:spPr>
      </p:pic>
      <p:sp>
        <p:nvSpPr>
          <p:cNvPr id="8" name="Estrella: 4 puntas 7">
            <a:extLst>
              <a:ext uri="{FF2B5EF4-FFF2-40B4-BE49-F238E27FC236}">
                <a16:creationId xmlns:a16="http://schemas.microsoft.com/office/drawing/2014/main" id="{1ED93A19-5C38-80AB-BF04-E65A0A10B6E4}"/>
              </a:ext>
            </a:extLst>
          </p:cNvPr>
          <p:cNvSpPr/>
          <p:nvPr/>
        </p:nvSpPr>
        <p:spPr>
          <a:xfrm>
            <a:off x="8669036" y="4600194"/>
            <a:ext cx="518160" cy="369332"/>
          </a:xfrm>
          <a:prstGeom prst="star4">
            <a:avLst>
              <a:gd name="adj" fmla="val 8253"/>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 name="Estrella: 4 puntas 5">
            <a:extLst>
              <a:ext uri="{FF2B5EF4-FFF2-40B4-BE49-F238E27FC236}">
                <a16:creationId xmlns:a16="http://schemas.microsoft.com/office/drawing/2014/main" id="{867A9067-A8E5-66DC-8AB0-C9F8B38176F9}"/>
              </a:ext>
            </a:extLst>
          </p:cNvPr>
          <p:cNvSpPr/>
          <p:nvPr/>
        </p:nvSpPr>
        <p:spPr>
          <a:xfrm>
            <a:off x="11691616" y="6127493"/>
            <a:ext cx="437745" cy="506590"/>
          </a:xfrm>
          <a:prstGeom prst="star4">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CuadroTexto 1">
            <a:extLst>
              <a:ext uri="{FF2B5EF4-FFF2-40B4-BE49-F238E27FC236}">
                <a16:creationId xmlns:a16="http://schemas.microsoft.com/office/drawing/2014/main" id="{D1002C57-B7BA-EA7F-CDFC-E1DF969467FC}"/>
              </a:ext>
            </a:extLst>
          </p:cNvPr>
          <p:cNvSpPr txBox="1"/>
          <p:nvPr/>
        </p:nvSpPr>
        <p:spPr>
          <a:xfrm>
            <a:off x="1116323" y="1125540"/>
            <a:ext cx="10316213" cy="2308324"/>
          </a:xfrm>
          <a:prstGeom prst="rect">
            <a:avLst/>
          </a:prstGeom>
          <a:solidFill>
            <a:schemeClr val="accent6">
              <a:alpha val="62000"/>
            </a:schemeClr>
          </a:solidFill>
        </p:spPr>
        <p:txBody>
          <a:bodyPr wrap="square" rtlCol="0">
            <a:spAutoFit/>
          </a:bodyPr>
          <a:lstStyle/>
          <a:p>
            <a:r>
              <a:rPr lang="es-PE" dirty="0">
                <a:latin typeface="Book Antiqua" panose="02040602050305030304" pitchFamily="18" charset="0"/>
              </a:rPr>
              <a:t>Para mitigar los riesgos, el texto sugiere:</a:t>
            </a:r>
          </a:p>
          <a:p>
            <a:pPr marL="742950" lvl="1" indent="-285750">
              <a:buFont typeface="Wingdings" panose="05000000000000000000" pitchFamily="2" charset="2"/>
              <a:buChar char="q"/>
            </a:pPr>
            <a:r>
              <a:rPr lang="es-PE" dirty="0">
                <a:latin typeface="Book Antiqua" panose="02040602050305030304" pitchFamily="18" charset="0"/>
              </a:rPr>
              <a:t>Gestión de riesgos: Controlar el acceso al contenido y definir qué dispositivos son permitidos.</a:t>
            </a:r>
          </a:p>
          <a:p>
            <a:pPr lvl="1"/>
            <a:r>
              <a:rPr lang="es-PE" dirty="0">
                <a:latin typeface="Book Antiqua" panose="02040602050305030304" pitchFamily="18" charset="0"/>
              </a:rPr>
              <a:t>Ciudadanía digital: Enseñar a los alumnos ética y responsabilidad en línea.</a:t>
            </a:r>
          </a:p>
          <a:p>
            <a:pPr lvl="1"/>
            <a:r>
              <a:rPr lang="es-PE" dirty="0">
                <a:latin typeface="Book Antiqua" panose="02040602050305030304" pitchFamily="18" charset="0"/>
              </a:rPr>
              <a:t>Equidad: Implementar programas de préstamo de portátiles para quienes no tienen uno propio.</a:t>
            </a:r>
          </a:p>
          <a:p>
            <a:pPr lvl="1"/>
            <a:r>
              <a:rPr lang="es-PE" dirty="0">
                <a:latin typeface="Book Antiqua" panose="02040602050305030304" pitchFamily="18" charset="0"/>
              </a:rPr>
              <a:t>Monitoreo: Utilizar herramientas (como </a:t>
            </a:r>
            <a:r>
              <a:rPr lang="es-PE" dirty="0" err="1">
                <a:latin typeface="Book Antiqua" panose="02040602050305030304" pitchFamily="18" charset="0"/>
              </a:rPr>
              <a:t>Prey</a:t>
            </a:r>
            <a:r>
              <a:rPr lang="es-PE" dirty="0">
                <a:latin typeface="Book Antiqua" panose="02040602050305030304" pitchFamily="18" charset="0"/>
              </a:rPr>
              <a:t>) para el rastreo GPS, bloqueo remoto y cumplimiento de leyes de </a:t>
            </a:r>
            <a:r>
              <a:rPr lang="es-PE" dirty="0"/>
              <a:t>privacidad como FERPA.</a:t>
            </a:r>
          </a:p>
        </p:txBody>
      </p:sp>
      <p:pic>
        <p:nvPicPr>
          <p:cNvPr id="5" name="Imagen 4" descr="WiFi para estudiantes: Lo que las universidades deben hacer bien |  Technical Guides | Purple">
            <a:extLst>
              <a:ext uri="{FF2B5EF4-FFF2-40B4-BE49-F238E27FC236}">
                <a16:creationId xmlns:a16="http://schemas.microsoft.com/office/drawing/2014/main" id="{78CBB21C-E179-5CEA-AED0-8B8BFC3381D1}"/>
              </a:ext>
            </a:extLst>
          </p:cNvPr>
          <p:cNvPicPr>
            <a:picLocks noChangeAspect="1"/>
          </p:cNvPicPr>
          <p:nvPr/>
        </p:nvPicPr>
        <p:blipFill>
          <a:blip r:embed="rId6"/>
          <a:stretch>
            <a:fillRect/>
          </a:stretch>
        </p:blipFill>
        <p:spPr>
          <a:xfrm>
            <a:off x="1958265" y="3682265"/>
            <a:ext cx="5247677" cy="2951818"/>
          </a:xfrm>
          <a:prstGeom prst="rect">
            <a:avLst/>
          </a:prstGeom>
        </p:spPr>
      </p:pic>
    </p:spTree>
    <p:extLst>
      <p:ext uri="{BB962C8B-B14F-4D97-AF65-F5344CB8AC3E}">
        <p14:creationId xmlns:p14="http://schemas.microsoft.com/office/powerpoint/2010/main" val="22311826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lumMod val="75000"/>
              </a:schemeClr>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BF811C4A-1AE3-7A70-DCD0-B43390C1AAC5}"/>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5F0A2171-99CD-E4F7-D151-1E3523109E09}"/>
              </a:ext>
            </a:extLst>
          </p:cNvPr>
          <p:cNvSpPr txBox="1"/>
          <p:nvPr/>
        </p:nvSpPr>
        <p:spPr>
          <a:xfrm>
            <a:off x="4508740" y="71495"/>
            <a:ext cx="11709393" cy="646331"/>
          </a:xfrm>
          <a:prstGeom prst="rect">
            <a:avLst/>
          </a:prstGeom>
          <a:noFill/>
          <a:effectLst>
            <a:outerShdw blurRad="50800" dist="38100" dir="2700000" algn="tl" rotWithShape="0">
              <a:prstClr val="black">
                <a:alpha val="40000"/>
              </a:prstClr>
            </a:outerShdw>
          </a:effectLst>
        </p:spPr>
        <p:txBody>
          <a:bodyPr wrap="square" rtlCol="0">
            <a:spAutoFit/>
          </a:bodyPr>
          <a:lstStyle/>
          <a:p>
            <a:r>
              <a:rPr lang="es-MX" sz="36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haroni" panose="02010803020104030203" pitchFamily="2" charset="-79"/>
                <a:cs typeface="Aharoni" panose="02010803020104030203" pitchFamily="2" charset="-79"/>
              </a:rPr>
              <a:t>BIBLIOGRAFIAS::::</a:t>
            </a:r>
            <a:endParaRPr lang="es-PE" sz="36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haroni" panose="02010803020104030203" pitchFamily="2" charset="-79"/>
              <a:cs typeface="Aharoni" panose="02010803020104030203" pitchFamily="2" charset="-79"/>
            </a:endParaRPr>
          </a:p>
        </p:txBody>
      </p:sp>
      <p:sp>
        <p:nvSpPr>
          <p:cNvPr id="15" name="Estrella: 4 puntas 14">
            <a:extLst>
              <a:ext uri="{FF2B5EF4-FFF2-40B4-BE49-F238E27FC236}">
                <a16:creationId xmlns:a16="http://schemas.microsoft.com/office/drawing/2014/main" id="{9F141D38-7F01-1B04-AFD3-9640644BE558}"/>
              </a:ext>
            </a:extLst>
          </p:cNvPr>
          <p:cNvSpPr/>
          <p:nvPr/>
        </p:nvSpPr>
        <p:spPr>
          <a:xfrm>
            <a:off x="11064861" y="202205"/>
            <a:ext cx="518160" cy="369332"/>
          </a:xfrm>
          <a:prstGeom prst="star4">
            <a:avLst>
              <a:gd name="adj" fmla="val 8253"/>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9" name="Gráfico 8" descr="Nube con relleno sólido">
            <a:extLst>
              <a:ext uri="{FF2B5EF4-FFF2-40B4-BE49-F238E27FC236}">
                <a16:creationId xmlns:a16="http://schemas.microsoft.com/office/drawing/2014/main" id="{741D7386-1BB3-632C-A107-2EB4FCBB21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83798" y="-70329"/>
            <a:ext cx="914400" cy="914400"/>
          </a:xfrm>
          <a:prstGeom prst="rect">
            <a:avLst/>
          </a:prstGeom>
        </p:spPr>
      </p:pic>
      <p:sp>
        <p:nvSpPr>
          <p:cNvPr id="2" name="CuadroTexto 1">
            <a:extLst>
              <a:ext uri="{FF2B5EF4-FFF2-40B4-BE49-F238E27FC236}">
                <a16:creationId xmlns:a16="http://schemas.microsoft.com/office/drawing/2014/main" id="{5CABA6C9-EB48-9125-9AC5-6C882AF0427D}"/>
              </a:ext>
            </a:extLst>
          </p:cNvPr>
          <p:cNvSpPr txBox="1"/>
          <p:nvPr/>
        </p:nvSpPr>
        <p:spPr>
          <a:xfrm>
            <a:off x="49951" y="1300483"/>
            <a:ext cx="7486025" cy="5355312"/>
          </a:xfrm>
          <a:prstGeom prst="rect">
            <a:avLst/>
          </a:prstGeom>
          <a:solidFill>
            <a:schemeClr val="bg1">
              <a:lumMod val="65000"/>
              <a:lumOff val="35000"/>
            </a:schemeClr>
          </a:solidFill>
        </p:spPr>
        <p:txBody>
          <a:bodyPr wrap="square" rtlCol="0">
            <a:spAutoFit/>
          </a:bodyPr>
          <a:lstStyle/>
          <a:p>
            <a:pPr marL="285750" indent="-285750">
              <a:buFont typeface="Wingdings" panose="05000000000000000000" pitchFamily="2" charset="2"/>
              <a:buChar char="q"/>
            </a:pPr>
            <a:r>
              <a:rPr lang="es-PE" sz="1200" b="1" dirty="0"/>
              <a:t>Bibliografía de firewall de próxima </a:t>
            </a:r>
            <a:r>
              <a:rPr lang="es-PE" sz="1200" b="1" dirty="0" err="1"/>
              <a:t>generacion</a:t>
            </a:r>
            <a:endParaRPr lang="es-PE" sz="1200" dirty="0"/>
          </a:p>
          <a:p>
            <a:pPr lvl="0"/>
            <a:r>
              <a:rPr lang="es-PE" sz="1200" dirty="0"/>
              <a:t>Silva Lascano, D. O. (2020). </a:t>
            </a:r>
            <a:r>
              <a:rPr lang="es-PE" sz="1200" i="1" dirty="0"/>
              <a:t>Evaluación de Tecnologías UTM (</a:t>
            </a:r>
            <a:r>
              <a:rPr lang="es-PE" sz="1200" i="1" dirty="0" err="1"/>
              <a:t>Unified</a:t>
            </a:r>
            <a:r>
              <a:rPr lang="es-PE" sz="1200" i="1" dirty="0"/>
              <a:t> </a:t>
            </a:r>
            <a:r>
              <a:rPr lang="es-PE" sz="1200" i="1" dirty="0" err="1"/>
              <a:t>Threatment</a:t>
            </a:r>
            <a:r>
              <a:rPr lang="es-PE" sz="1200" i="1" dirty="0"/>
              <a:t> Management) y NGFW (Next Generation Firewall) para detección de vulnerabilidades en la red</a:t>
            </a:r>
            <a:r>
              <a:rPr lang="es-PE" sz="1200" dirty="0"/>
              <a:t>. Riobamba: Escuela Superior Politécnica de Chimborazo. Recuperado de: </a:t>
            </a:r>
            <a:r>
              <a:rPr lang="es-PE" sz="1200" u="sng" dirty="0">
                <a:hlinkClick r:id="rId4">
                  <a:extLst>
                    <a:ext uri="{A12FA001-AC4F-418D-AE19-62706E023703}">
                      <ahyp:hlinkClr xmlns:ahyp="http://schemas.microsoft.com/office/drawing/2018/hyperlinkcolor" val="tx"/>
                    </a:ext>
                  </a:extLst>
                </a:hlinkClick>
              </a:rPr>
              <a:t>https://dspace.espoch.edu.ec/handle/123456789/14080</a:t>
            </a:r>
            <a:endParaRPr lang="es-PE" sz="1200" dirty="0"/>
          </a:p>
          <a:p>
            <a:pPr lvl="0"/>
            <a:r>
              <a:rPr lang="es-PE" sz="1200" dirty="0" err="1"/>
              <a:t>Zissis</a:t>
            </a:r>
            <a:r>
              <a:rPr lang="es-PE" sz="1200" dirty="0"/>
              <a:t>, D., &amp; </a:t>
            </a:r>
            <a:r>
              <a:rPr lang="es-PE" sz="1200" dirty="0" err="1"/>
              <a:t>Lekkas</a:t>
            </a:r>
            <a:r>
              <a:rPr lang="es-PE" sz="1200" dirty="0"/>
              <a:t>, D. (2012). </a:t>
            </a:r>
            <a:r>
              <a:rPr lang="es-PE" sz="1200" i="1" dirty="0" err="1"/>
              <a:t>Addressing</a:t>
            </a:r>
            <a:r>
              <a:rPr lang="es-PE" sz="1200" i="1" dirty="0"/>
              <a:t> </a:t>
            </a:r>
            <a:r>
              <a:rPr lang="es-PE" sz="1200" i="1" dirty="0" err="1"/>
              <a:t>cloud</a:t>
            </a:r>
            <a:r>
              <a:rPr lang="es-PE" sz="1200" i="1" dirty="0"/>
              <a:t> </a:t>
            </a:r>
            <a:r>
              <a:rPr lang="es-PE" sz="1200" i="1" dirty="0" err="1"/>
              <a:t>computing</a:t>
            </a:r>
            <a:r>
              <a:rPr lang="es-PE" sz="1200" i="1" dirty="0"/>
              <a:t> </a:t>
            </a:r>
            <a:r>
              <a:rPr lang="es-PE" sz="1200" i="1" dirty="0" err="1"/>
              <a:t>security</a:t>
            </a:r>
            <a:r>
              <a:rPr lang="es-PE" sz="1200" i="1" dirty="0"/>
              <a:t> </a:t>
            </a:r>
            <a:r>
              <a:rPr lang="es-PE" sz="1200" i="1" dirty="0" err="1"/>
              <a:t>issues</a:t>
            </a:r>
            <a:r>
              <a:rPr lang="es-PE" sz="1200" dirty="0"/>
              <a:t>. Future Generation </a:t>
            </a:r>
            <a:r>
              <a:rPr lang="es-PE" sz="1200" dirty="0" err="1"/>
              <a:t>Computer</a:t>
            </a:r>
            <a:r>
              <a:rPr lang="es-PE" sz="1200" dirty="0"/>
              <a:t> </a:t>
            </a:r>
            <a:r>
              <a:rPr lang="es-PE" sz="1200" dirty="0" err="1"/>
              <a:t>Systems</a:t>
            </a:r>
            <a:r>
              <a:rPr lang="es-PE" sz="1200" dirty="0"/>
              <a:t>.</a:t>
            </a:r>
          </a:p>
          <a:p>
            <a:pPr lvl="0"/>
            <a:r>
              <a:rPr lang="es-PE" sz="1200" dirty="0" err="1"/>
              <a:t>Stallings</a:t>
            </a:r>
            <a:r>
              <a:rPr lang="es-PE" sz="1200" dirty="0"/>
              <a:t>, W. (2014). </a:t>
            </a:r>
            <a:r>
              <a:rPr lang="es-PE" sz="1200" i="1" dirty="0"/>
              <a:t>Network Security Essentials: Applications and </a:t>
            </a:r>
            <a:r>
              <a:rPr lang="es-PE" sz="1200" i="1" dirty="0" err="1"/>
              <a:t>Standards</a:t>
            </a:r>
            <a:r>
              <a:rPr lang="es-PE" sz="1200" dirty="0"/>
              <a:t>. Pearson.</a:t>
            </a:r>
          </a:p>
          <a:p>
            <a:pPr lvl="0"/>
            <a:endParaRPr lang="es-PE" sz="1200" dirty="0"/>
          </a:p>
          <a:p>
            <a:pPr marL="285750" indent="-285750">
              <a:buFont typeface="Wingdings" panose="05000000000000000000" pitchFamily="2" charset="2"/>
              <a:buChar char="q"/>
            </a:pPr>
            <a:r>
              <a:rPr lang="es-PE" sz="1200" dirty="0"/>
              <a:t> </a:t>
            </a:r>
            <a:r>
              <a:rPr lang="es-PE" sz="1200" b="1" dirty="0">
                <a:latin typeface="Book Antiqua" panose="02040602050305030304" pitchFamily="18" charset="0"/>
              </a:rPr>
              <a:t>Bibliografía de seguridad perimetral a la identidad:</a:t>
            </a:r>
            <a:endParaRPr lang="es-PE" sz="1200" dirty="0">
              <a:latin typeface="Book Antiqua" panose="02040602050305030304" pitchFamily="18" charset="0"/>
            </a:endParaRPr>
          </a:p>
          <a:p>
            <a:pPr lvl="0"/>
            <a:r>
              <a:rPr lang="es-PE" sz="1200" dirty="0">
                <a:latin typeface="Book Antiqua" panose="02040602050305030304" pitchFamily="18" charset="0"/>
              </a:rPr>
              <a:t>Gaitán, J. L. (2022). </a:t>
            </a:r>
            <a:r>
              <a:rPr lang="es-PE" sz="1200" i="1" dirty="0">
                <a:latin typeface="Book Antiqua" panose="02040602050305030304" pitchFamily="18" charset="0"/>
              </a:rPr>
              <a:t>Diseño de un modelo de seguridad basado en el concepto de Zero Trust para la infraestructura de red de una organización</a:t>
            </a:r>
            <a:r>
              <a:rPr lang="es-PE" sz="1200" dirty="0">
                <a:latin typeface="Book Antiqua" panose="02040602050305030304" pitchFamily="18" charset="0"/>
              </a:rPr>
              <a:t>. Universidad Nacional Abierta y a Distancia (UNAD). Recuperado de: </a:t>
            </a:r>
            <a:r>
              <a:rPr lang="es-PE" sz="1200" u="sng" dirty="0">
                <a:latin typeface="Book Antiqua" panose="02040602050305030304" pitchFamily="18" charset="0"/>
                <a:hlinkClick r:id="rId5">
                  <a:extLst>
                    <a:ext uri="{A12FA001-AC4F-418D-AE19-62706E023703}">
                      <ahyp:hlinkClr xmlns:ahyp="http://schemas.microsoft.com/office/drawing/2018/hyperlinkcolor" val="tx"/>
                    </a:ext>
                  </a:extLst>
                </a:hlinkClick>
              </a:rPr>
              <a:t>https://repository.unad.edu.co/handle/10596/48929</a:t>
            </a:r>
            <a:endParaRPr lang="es-PE" sz="1200" dirty="0">
              <a:latin typeface="Book Antiqua" panose="02040602050305030304" pitchFamily="18" charset="0"/>
            </a:endParaRPr>
          </a:p>
          <a:p>
            <a:pPr lvl="0"/>
            <a:r>
              <a:rPr lang="es-PE" sz="1200" dirty="0">
                <a:latin typeface="Book Antiqua" panose="02040602050305030304" pitchFamily="18" charset="0"/>
              </a:rPr>
              <a:t>NIST. (2020). </a:t>
            </a:r>
            <a:r>
              <a:rPr lang="es-PE" sz="1200" i="1" dirty="0">
                <a:latin typeface="Book Antiqua" panose="02040602050305030304" pitchFamily="18" charset="0"/>
              </a:rPr>
              <a:t>Zero Trust </a:t>
            </a:r>
            <a:r>
              <a:rPr lang="es-PE" sz="1200" i="1" dirty="0" err="1">
                <a:latin typeface="Book Antiqua" panose="02040602050305030304" pitchFamily="18" charset="0"/>
              </a:rPr>
              <a:t>Architecture</a:t>
            </a:r>
            <a:r>
              <a:rPr lang="es-PE" sz="1200" i="1" dirty="0">
                <a:latin typeface="Book Antiqua" panose="02040602050305030304" pitchFamily="18" charset="0"/>
              </a:rPr>
              <a:t> (</a:t>
            </a:r>
            <a:r>
              <a:rPr lang="es-PE" sz="1200" i="1" dirty="0" err="1">
                <a:latin typeface="Book Antiqua" panose="02040602050305030304" pitchFamily="18" charset="0"/>
              </a:rPr>
              <a:t>Special</a:t>
            </a:r>
            <a:r>
              <a:rPr lang="es-PE" sz="1200" i="1" dirty="0">
                <a:latin typeface="Book Antiqua" panose="02040602050305030304" pitchFamily="18" charset="0"/>
              </a:rPr>
              <a:t> </a:t>
            </a:r>
            <a:r>
              <a:rPr lang="es-PE" sz="1200" i="1" dirty="0" err="1">
                <a:latin typeface="Book Antiqua" panose="02040602050305030304" pitchFamily="18" charset="0"/>
              </a:rPr>
              <a:t>Publication</a:t>
            </a:r>
            <a:r>
              <a:rPr lang="es-PE" sz="1200" i="1" dirty="0">
                <a:latin typeface="Book Antiqua" panose="02040602050305030304" pitchFamily="18" charset="0"/>
              </a:rPr>
              <a:t> 800-207)</a:t>
            </a:r>
            <a:r>
              <a:rPr lang="es-PE" sz="1200" dirty="0">
                <a:latin typeface="Book Antiqua" panose="02040602050305030304" pitchFamily="18" charset="0"/>
              </a:rPr>
              <a:t>. </a:t>
            </a:r>
            <a:r>
              <a:rPr lang="es-PE" sz="1200" dirty="0" err="1">
                <a:latin typeface="Book Antiqua" panose="02040602050305030304" pitchFamily="18" charset="0"/>
              </a:rPr>
              <a:t>National</a:t>
            </a:r>
            <a:r>
              <a:rPr lang="es-PE" sz="1200" dirty="0">
                <a:latin typeface="Book Antiqua" panose="02040602050305030304" pitchFamily="18" charset="0"/>
              </a:rPr>
              <a:t> </a:t>
            </a:r>
            <a:r>
              <a:rPr lang="es-PE" sz="1200" dirty="0" err="1">
                <a:latin typeface="Book Antiqua" panose="02040602050305030304" pitchFamily="18" charset="0"/>
              </a:rPr>
              <a:t>Institute</a:t>
            </a:r>
            <a:r>
              <a:rPr lang="es-PE" sz="1200" dirty="0">
                <a:latin typeface="Book Antiqua" panose="02040602050305030304" pitchFamily="18" charset="0"/>
              </a:rPr>
              <a:t> </a:t>
            </a:r>
            <a:r>
              <a:rPr lang="es-PE" sz="1200" dirty="0" err="1">
                <a:latin typeface="Book Antiqua" panose="02040602050305030304" pitchFamily="18" charset="0"/>
              </a:rPr>
              <a:t>of</a:t>
            </a:r>
            <a:r>
              <a:rPr lang="es-PE" sz="1200" dirty="0">
                <a:latin typeface="Book Antiqua" panose="02040602050305030304" pitchFamily="18" charset="0"/>
              </a:rPr>
              <a:t> </a:t>
            </a:r>
            <a:r>
              <a:rPr lang="es-PE" sz="1200" dirty="0" err="1">
                <a:latin typeface="Book Antiqua" panose="02040602050305030304" pitchFamily="18" charset="0"/>
              </a:rPr>
              <a:t>Standards</a:t>
            </a:r>
            <a:r>
              <a:rPr lang="es-PE" sz="1200" dirty="0">
                <a:latin typeface="Book Antiqua" panose="02040602050305030304" pitchFamily="18" charset="0"/>
              </a:rPr>
              <a:t> and </a:t>
            </a:r>
            <a:r>
              <a:rPr lang="es-PE" sz="1200" dirty="0" err="1">
                <a:latin typeface="Book Antiqua" panose="02040602050305030304" pitchFamily="18" charset="0"/>
              </a:rPr>
              <a:t>Technology</a:t>
            </a:r>
            <a:r>
              <a:rPr lang="es-PE" sz="1200" dirty="0">
                <a:latin typeface="Book Antiqua" panose="02040602050305030304" pitchFamily="18" charset="0"/>
              </a:rPr>
              <a:t>.</a:t>
            </a:r>
          </a:p>
          <a:p>
            <a:pPr lvl="0"/>
            <a:r>
              <a:rPr lang="es-PE" sz="1200" dirty="0">
                <a:latin typeface="Book Antiqua" panose="02040602050305030304" pitchFamily="18" charset="0"/>
              </a:rPr>
              <a:t>Rose, S., </a:t>
            </a:r>
            <a:r>
              <a:rPr lang="es-PE" sz="1200" dirty="0" err="1">
                <a:latin typeface="Book Antiqua" panose="02040602050305030304" pitchFamily="18" charset="0"/>
              </a:rPr>
              <a:t>Borchert</a:t>
            </a:r>
            <a:r>
              <a:rPr lang="es-PE" sz="1200" dirty="0">
                <a:latin typeface="Book Antiqua" panose="02040602050305030304" pitchFamily="18" charset="0"/>
              </a:rPr>
              <a:t>, O., Mitchell, S., &amp; </a:t>
            </a:r>
            <a:r>
              <a:rPr lang="es-PE" sz="1200" dirty="0" err="1">
                <a:latin typeface="Book Antiqua" panose="02040602050305030304" pitchFamily="18" charset="0"/>
              </a:rPr>
              <a:t>Connelly</a:t>
            </a:r>
            <a:r>
              <a:rPr lang="es-PE" sz="1200" dirty="0">
                <a:latin typeface="Book Antiqua" panose="02040602050305030304" pitchFamily="18" charset="0"/>
              </a:rPr>
              <a:t>, S. (2020). </a:t>
            </a:r>
            <a:r>
              <a:rPr lang="es-PE" sz="1200" i="1" dirty="0">
                <a:latin typeface="Book Antiqua" panose="02040602050305030304" pitchFamily="18" charset="0"/>
              </a:rPr>
              <a:t>Zero Trust </a:t>
            </a:r>
            <a:r>
              <a:rPr lang="es-PE" sz="1200" i="1" dirty="0" err="1">
                <a:latin typeface="Book Antiqua" panose="02040602050305030304" pitchFamily="18" charset="0"/>
              </a:rPr>
              <a:t>Architecture</a:t>
            </a:r>
            <a:r>
              <a:rPr lang="es-PE" sz="1200" dirty="0">
                <a:latin typeface="Book Antiqua" panose="02040602050305030304" pitchFamily="18" charset="0"/>
              </a:rPr>
              <a:t>. NIST.</a:t>
            </a:r>
          </a:p>
          <a:p>
            <a:pPr marL="285750" indent="-285750">
              <a:buFont typeface="Wingdings" panose="05000000000000000000" pitchFamily="2" charset="2"/>
              <a:buChar char="q"/>
            </a:pPr>
            <a:r>
              <a:rPr lang="es-PE" sz="1200" dirty="0"/>
              <a:t> </a:t>
            </a:r>
            <a:r>
              <a:rPr lang="es-PE" sz="1200" b="1" dirty="0">
                <a:latin typeface="Book Antiqua" panose="02040602050305030304" pitchFamily="18" charset="0"/>
              </a:rPr>
              <a:t>Bibliografía Académica Criptografía y Cifrado en Redes Modernas (TLS/HTTPS)</a:t>
            </a:r>
            <a:endParaRPr lang="es-PE" sz="1200" dirty="0">
              <a:latin typeface="Book Antiqua" panose="02040602050305030304" pitchFamily="18" charset="0"/>
            </a:endParaRPr>
          </a:p>
          <a:p>
            <a:endParaRPr lang="es-PE" sz="1200" dirty="0">
              <a:latin typeface="Book Antiqua" panose="02040602050305030304" pitchFamily="18" charset="0"/>
            </a:endParaRPr>
          </a:p>
          <a:p>
            <a:pPr lvl="0"/>
            <a:r>
              <a:rPr lang="es-PE" sz="1200" b="1" dirty="0" err="1">
                <a:latin typeface="Book Antiqua" panose="02040602050305030304" pitchFamily="18" charset="0"/>
              </a:rPr>
              <a:t>Rescorla</a:t>
            </a:r>
            <a:r>
              <a:rPr lang="es-PE" sz="1200" b="1" dirty="0">
                <a:latin typeface="Book Antiqua" panose="02040602050305030304" pitchFamily="18" charset="0"/>
              </a:rPr>
              <a:t>, E. (2018).</a:t>
            </a:r>
            <a:r>
              <a:rPr lang="es-PE" sz="1200" dirty="0">
                <a:latin typeface="Book Antiqua" panose="02040602050305030304" pitchFamily="18" charset="0"/>
              </a:rPr>
              <a:t> </a:t>
            </a:r>
            <a:r>
              <a:rPr lang="es-PE" sz="1200" i="1" dirty="0" err="1">
                <a:latin typeface="Book Antiqua" panose="02040602050305030304" pitchFamily="18" charset="0"/>
              </a:rPr>
              <a:t>The</a:t>
            </a:r>
            <a:r>
              <a:rPr lang="es-PE" sz="1200" i="1" dirty="0">
                <a:latin typeface="Book Antiqua" panose="02040602050305030304" pitchFamily="18" charset="0"/>
              </a:rPr>
              <a:t> </a:t>
            </a:r>
            <a:r>
              <a:rPr lang="es-PE" sz="1200" i="1" dirty="0" err="1">
                <a:latin typeface="Book Antiqua" panose="02040602050305030304" pitchFamily="18" charset="0"/>
              </a:rPr>
              <a:t>Transport</a:t>
            </a:r>
            <a:r>
              <a:rPr lang="es-PE" sz="1200" i="1" dirty="0">
                <a:latin typeface="Book Antiqua" panose="02040602050305030304" pitchFamily="18" charset="0"/>
              </a:rPr>
              <a:t> </a:t>
            </a:r>
            <a:r>
              <a:rPr lang="es-PE" sz="1200" i="1" dirty="0" err="1">
                <a:latin typeface="Book Antiqua" panose="02040602050305030304" pitchFamily="18" charset="0"/>
              </a:rPr>
              <a:t>Layer</a:t>
            </a:r>
            <a:r>
              <a:rPr lang="es-PE" sz="1200" i="1" dirty="0">
                <a:latin typeface="Book Antiqua" panose="02040602050305030304" pitchFamily="18" charset="0"/>
              </a:rPr>
              <a:t> Security (TLS) </a:t>
            </a:r>
            <a:r>
              <a:rPr lang="es-PE" sz="1200" i="1" dirty="0" err="1">
                <a:latin typeface="Book Antiqua" panose="02040602050305030304" pitchFamily="18" charset="0"/>
              </a:rPr>
              <a:t>Protocol</a:t>
            </a:r>
            <a:r>
              <a:rPr lang="es-PE" sz="1200" i="1" dirty="0">
                <a:latin typeface="Book Antiqua" panose="02040602050305030304" pitchFamily="18" charset="0"/>
              </a:rPr>
              <a:t> </a:t>
            </a:r>
            <a:r>
              <a:rPr lang="es-PE" sz="1200" i="1" dirty="0" err="1">
                <a:latin typeface="Book Antiqua" panose="02040602050305030304" pitchFamily="18" charset="0"/>
              </a:rPr>
              <a:t>Version</a:t>
            </a:r>
            <a:r>
              <a:rPr lang="es-PE" sz="1200" i="1" dirty="0">
                <a:latin typeface="Book Antiqua" panose="02040602050305030304" pitchFamily="18" charset="0"/>
              </a:rPr>
              <a:t> 1.3</a:t>
            </a:r>
            <a:r>
              <a:rPr lang="es-PE" sz="1200" dirty="0">
                <a:latin typeface="Book Antiqua" panose="02040602050305030304" pitchFamily="18" charset="0"/>
              </a:rPr>
              <a:t>. RFC 8446. (Este es el estándar técnico oficial de cómo funciona el cifrado moderno).</a:t>
            </a:r>
          </a:p>
          <a:p>
            <a:pPr lvl="0"/>
            <a:r>
              <a:rPr lang="es-PE" sz="1200" b="1" dirty="0" err="1">
                <a:latin typeface="Book Antiqua" panose="02040602050305030304" pitchFamily="18" charset="0"/>
              </a:rPr>
              <a:t>Stallings</a:t>
            </a:r>
            <a:r>
              <a:rPr lang="es-PE" sz="1200" b="1" dirty="0">
                <a:latin typeface="Book Antiqua" panose="02040602050305030304" pitchFamily="18" charset="0"/>
              </a:rPr>
              <a:t>, W. (2017).</a:t>
            </a:r>
            <a:r>
              <a:rPr lang="es-PE" sz="1200" dirty="0">
                <a:latin typeface="Book Antiqua" panose="02040602050305030304" pitchFamily="18" charset="0"/>
              </a:rPr>
              <a:t> </a:t>
            </a:r>
            <a:r>
              <a:rPr lang="es-PE" sz="1200" i="1" dirty="0" err="1">
                <a:latin typeface="Book Antiqua" panose="02040602050305030304" pitchFamily="18" charset="0"/>
              </a:rPr>
              <a:t>Cryptography</a:t>
            </a:r>
            <a:r>
              <a:rPr lang="es-PE" sz="1200" i="1" dirty="0">
                <a:latin typeface="Book Antiqua" panose="02040602050305030304" pitchFamily="18" charset="0"/>
              </a:rPr>
              <a:t> and Network Security: </a:t>
            </a:r>
            <a:r>
              <a:rPr lang="es-PE" sz="1200" i="1" dirty="0" err="1">
                <a:latin typeface="Book Antiqua" panose="02040602050305030304" pitchFamily="18" charset="0"/>
              </a:rPr>
              <a:t>Principles</a:t>
            </a:r>
            <a:r>
              <a:rPr lang="es-PE" sz="1200" i="1" dirty="0">
                <a:latin typeface="Book Antiqua" panose="02040602050305030304" pitchFamily="18" charset="0"/>
              </a:rPr>
              <a:t> and </a:t>
            </a:r>
            <a:r>
              <a:rPr lang="es-PE" sz="1200" i="1" dirty="0" err="1">
                <a:latin typeface="Book Antiqua" panose="02040602050305030304" pitchFamily="18" charset="0"/>
              </a:rPr>
              <a:t>Practice</a:t>
            </a:r>
            <a:r>
              <a:rPr lang="es-PE" sz="1200" dirty="0">
                <a:latin typeface="Book Antiqua" panose="02040602050305030304" pitchFamily="18" charset="0"/>
              </a:rPr>
              <a:t>. Pearson. (El libro de referencia para entender los algoritmos de cifrado).</a:t>
            </a:r>
          </a:p>
          <a:p>
            <a:pPr lvl="0"/>
            <a:r>
              <a:rPr lang="es-PE" sz="1200" b="1" dirty="0">
                <a:latin typeface="Book Antiqua" panose="02040602050305030304" pitchFamily="18" charset="0"/>
              </a:rPr>
              <a:t>Gaitán, J. L. (2022).</a:t>
            </a:r>
            <a:r>
              <a:rPr lang="es-PE" sz="1200" dirty="0">
                <a:latin typeface="Book Antiqua" panose="02040602050305030304" pitchFamily="18" charset="0"/>
              </a:rPr>
              <a:t> </a:t>
            </a:r>
            <a:r>
              <a:rPr lang="es-PE" sz="1200" i="1" dirty="0">
                <a:latin typeface="Book Antiqua" panose="02040602050305030304" pitchFamily="18" charset="0"/>
              </a:rPr>
              <a:t>Diseño de un modelo de seguridad basado en el concepto de Zero Trust para la infraestructura de red de una organización</a:t>
            </a:r>
            <a:r>
              <a:rPr lang="es-PE" sz="1200" dirty="0">
                <a:latin typeface="Book Antiqua" panose="02040602050305030304" pitchFamily="18" charset="0"/>
              </a:rPr>
              <a:t>. UNAD. (Documento que mencionamos antes y que explica cómo el cifrado es base para el modelo de "Cero Confianza").</a:t>
            </a:r>
          </a:p>
          <a:p>
            <a:r>
              <a:rPr lang="es-PE" sz="1200" dirty="0"/>
              <a:t> </a:t>
            </a:r>
            <a:r>
              <a:rPr lang="es-PE" sz="1200" b="1" dirty="0">
                <a:latin typeface="Book Antiqua" panose="02040602050305030304" pitchFamily="18" charset="0"/>
              </a:rPr>
              <a:t>Bibliografía: de CPN</a:t>
            </a:r>
            <a:endParaRPr lang="es-PE" sz="1200" dirty="0">
              <a:latin typeface="Book Antiqua" panose="02040602050305030304" pitchFamily="18" charset="0"/>
            </a:endParaRPr>
          </a:p>
          <a:p>
            <a:r>
              <a:rPr lang="es-PE" sz="1200" b="1" u="sng" dirty="0">
                <a:latin typeface="Book Antiqua" panose="02040602050305030304" pitchFamily="18" charset="0"/>
                <a:hlinkClick r:id="rId6">
                  <a:extLst>
                    <a:ext uri="{A12FA001-AC4F-418D-AE19-62706E023703}">
                      <ahyp:hlinkClr xmlns:ahyp="http://schemas.microsoft.com/office/drawing/2018/hyperlinkcolor" val="tx"/>
                    </a:ext>
                  </a:extLst>
                </a:hlinkClick>
              </a:rPr>
              <a:t>https://www.cloudflare.com/es-es/learning/network-layer/ipsec-vs-ssl-vpn/</a:t>
            </a:r>
            <a:endParaRPr lang="es-PE" sz="1200" dirty="0">
              <a:latin typeface="Book Antiqua" panose="02040602050305030304" pitchFamily="18" charset="0"/>
            </a:endParaRPr>
          </a:p>
          <a:p>
            <a:pPr marL="285750" lvl="0" indent="-285750">
              <a:buFont typeface="Wingdings" panose="05000000000000000000" pitchFamily="2" charset="2"/>
              <a:buChar char="q"/>
            </a:pPr>
            <a:endParaRPr lang="es-PE" dirty="0">
              <a:solidFill>
                <a:schemeClr val="bg1"/>
              </a:solidFill>
            </a:endParaRPr>
          </a:p>
        </p:txBody>
      </p:sp>
      <p:sp>
        <p:nvSpPr>
          <p:cNvPr id="3" name="CuadroTexto 2">
            <a:extLst>
              <a:ext uri="{FF2B5EF4-FFF2-40B4-BE49-F238E27FC236}">
                <a16:creationId xmlns:a16="http://schemas.microsoft.com/office/drawing/2014/main" id="{85FCFB0A-878B-5C70-BBC6-8E47E3335071}"/>
              </a:ext>
            </a:extLst>
          </p:cNvPr>
          <p:cNvSpPr txBox="1"/>
          <p:nvPr/>
        </p:nvSpPr>
        <p:spPr>
          <a:xfrm>
            <a:off x="7784253" y="1115817"/>
            <a:ext cx="4231532" cy="5539978"/>
          </a:xfrm>
          <a:prstGeom prst="rect">
            <a:avLst/>
          </a:prstGeom>
          <a:solidFill>
            <a:schemeClr val="bg1">
              <a:alpha val="70000"/>
            </a:schemeClr>
          </a:solidFill>
        </p:spPr>
        <p:txBody>
          <a:bodyPr wrap="square" rtlCol="0">
            <a:spAutoFit/>
          </a:bodyPr>
          <a:lstStyle/>
          <a:p>
            <a:pPr marL="285750" indent="-285750">
              <a:buFont typeface="Wingdings" panose="05000000000000000000" pitchFamily="2" charset="2"/>
              <a:buChar char="q"/>
            </a:pPr>
            <a:r>
              <a:rPr lang="es-PE" sz="1400" dirty="0"/>
              <a:t> </a:t>
            </a:r>
            <a:r>
              <a:rPr lang="es-PE" sz="1400" b="1" dirty="0" err="1">
                <a:latin typeface="Book Antiqua" panose="02040602050305030304" pitchFamily="18" charset="0"/>
              </a:rPr>
              <a:t>Bibliografia</a:t>
            </a:r>
            <a:r>
              <a:rPr lang="es-PE" sz="1400" b="1" dirty="0">
                <a:latin typeface="Book Antiqua" panose="02040602050305030304" pitchFamily="18" charset="0"/>
              </a:rPr>
              <a:t> de </a:t>
            </a:r>
            <a:r>
              <a:rPr lang="es-MX" sz="1400" b="1" dirty="0">
                <a:latin typeface="Book Antiqua" panose="02040602050305030304" pitchFamily="18" charset="0"/>
              </a:rPr>
              <a:t>Sistemas IDS/IPS (Detección y Prevención de Intrusos)</a:t>
            </a:r>
            <a:endParaRPr lang="es-PE" sz="1400" dirty="0">
              <a:latin typeface="Book Antiqua" panose="02040602050305030304" pitchFamily="18" charset="0"/>
            </a:endParaRPr>
          </a:p>
          <a:p>
            <a:r>
              <a:rPr lang="es-PE" sz="1400" b="1" dirty="0">
                <a:latin typeface="Book Antiqua" panose="02040602050305030304" pitchFamily="18" charset="0"/>
              </a:rPr>
              <a:t>:</a:t>
            </a:r>
            <a:endParaRPr lang="es-PE" sz="1400" dirty="0">
              <a:latin typeface="Book Antiqua" panose="02040602050305030304" pitchFamily="18" charset="0"/>
            </a:endParaRPr>
          </a:p>
          <a:p>
            <a:r>
              <a:rPr lang="es-PE" sz="1400" u="sng" dirty="0">
                <a:latin typeface="Book Antiqua" panose="02040602050305030304" pitchFamily="18" charset="0"/>
                <a:hlinkClick r:id="rId7">
                  <a:extLst>
                    <a:ext uri="{A12FA001-AC4F-418D-AE19-62706E023703}">
                      <ahyp:hlinkClr xmlns:ahyp="http://schemas.microsoft.com/office/drawing/2018/hyperlinkcolor" val="tx"/>
                    </a:ext>
                  </a:extLst>
                </a:hlinkClick>
              </a:rPr>
              <a:t>https://www.incibe.es/empresas/blog/son-y-sirven-los-siem-ids-e-ips</a:t>
            </a:r>
            <a:endParaRPr lang="es-PE" sz="1400" dirty="0">
              <a:latin typeface="Book Antiqua" panose="02040602050305030304" pitchFamily="18" charset="0"/>
            </a:endParaRPr>
          </a:p>
          <a:p>
            <a:pPr marL="285750" indent="-285750">
              <a:buFont typeface="Wingdings" panose="05000000000000000000" pitchFamily="2" charset="2"/>
              <a:buChar char="q"/>
            </a:pPr>
            <a:r>
              <a:rPr lang="es-PE" sz="1400" dirty="0"/>
              <a:t> </a:t>
            </a:r>
            <a:r>
              <a:rPr lang="es-PE" sz="1400" b="1" dirty="0">
                <a:latin typeface="Book Antiqua" panose="02040602050305030304" pitchFamily="18" charset="0"/>
              </a:rPr>
              <a:t>Bibliografía Consultada DE ATAQUES DE REDES </a:t>
            </a:r>
            <a:endParaRPr lang="es-PE" sz="1400" dirty="0">
              <a:latin typeface="Book Antiqua" panose="02040602050305030304" pitchFamily="18" charset="0"/>
            </a:endParaRPr>
          </a:p>
          <a:p>
            <a:pPr lvl="0"/>
            <a:r>
              <a:rPr lang="es-PE" sz="1400" b="1" dirty="0">
                <a:latin typeface="Book Antiqua" panose="02040602050305030304" pitchFamily="18" charset="0"/>
              </a:rPr>
              <a:t>IBM.</a:t>
            </a:r>
            <a:r>
              <a:rPr lang="es-PE" sz="1400" dirty="0">
                <a:latin typeface="Book Antiqua" panose="02040602050305030304" pitchFamily="18" charset="0"/>
              </a:rPr>
              <a:t> (2024). </a:t>
            </a:r>
            <a:r>
              <a:rPr lang="es-PE" sz="1400" i="1" dirty="0">
                <a:latin typeface="Book Antiqua" panose="02040602050305030304" pitchFamily="18" charset="0"/>
              </a:rPr>
              <a:t>¿Qué es un ataque de denegación de servicio distribuido (</a:t>
            </a:r>
            <a:r>
              <a:rPr lang="es-PE" sz="1400" i="1" dirty="0" err="1">
                <a:latin typeface="Book Antiqua" panose="02040602050305030304" pitchFamily="18" charset="0"/>
              </a:rPr>
              <a:t>DDoS</a:t>
            </a:r>
            <a:r>
              <a:rPr lang="es-PE" sz="1400" i="1" dirty="0">
                <a:latin typeface="Book Antiqua" panose="02040602050305030304" pitchFamily="18" charset="0"/>
              </a:rPr>
              <a:t>)?</a:t>
            </a:r>
            <a:r>
              <a:rPr lang="es-PE" sz="1400" dirty="0">
                <a:latin typeface="Book Antiqua" panose="02040602050305030304" pitchFamily="18" charset="0"/>
              </a:rPr>
              <a:t>. Recuperado de: </a:t>
            </a:r>
            <a:r>
              <a:rPr lang="es-PE" sz="1400" u="sng" dirty="0">
                <a:latin typeface="Book Antiqua" panose="02040602050305030304" pitchFamily="18" charset="0"/>
                <a:hlinkClick r:id="rId8">
                  <a:extLst>
                    <a:ext uri="{A12FA001-AC4F-418D-AE19-62706E023703}">
                      <ahyp:hlinkClr xmlns:ahyp="http://schemas.microsoft.com/office/drawing/2018/hyperlinkcolor" val="tx"/>
                    </a:ext>
                  </a:extLst>
                </a:hlinkClick>
              </a:rPr>
              <a:t>https://www.ibm.com/es-es/think/topics/ddos</a:t>
            </a:r>
            <a:endParaRPr lang="es-PE" sz="1400" dirty="0">
              <a:latin typeface="Book Antiqua" panose="02040602050305030304" pitchFamily="18" charset="0"/>
            </a:endParaRPr>
          </a:p>
          <a:p>
            <a:pPr lvl="0"/>
            <a:r>
              <a:rPr lang="es-PE" sz="1400" b="1" dirty="0">
                <a:latin typeface="Book Antiqua" panose="02040602050305030304" pitchFamily="18" charset="0"/>
              </a:rPr>
              <a:t>Pastor Iglesias, R.</a:t>
            </a:r>
            <a:r>
              <a:rPr lang="es-PE" sz="1400" dirty="0">
                <a:latin typeface="Book Antiqua" panose="02040602050305030304" pitchFamily="18" charset="0"/>
              </a:rPr>
              <a:t> (2022). </a:t>
            </a:r>
            <a:r>
              <a:rPr lang="es-PE" sz="1400" i="1" dirty="0">
                <a:latin typeface="Book Antiqua" panose="02040602050305030304" pitchFamily="18" charset="0"/>
              </a:rPr>
              <a:t>TFG: Análisis y detección de ataques en redes de comunicaciones</a:t>
            </a:r>
            <a:r>
              <a:rPr lang="es-PE" sz="1400" dirty="0">
                <a:latin typeface="Book Antiqua" panose="02040602050305030304" pitchFamily="18" charset="0"/>
              </a:rPr>
              <a:t>. Universidad Politécnica de Madrid (UPM). Recuperado de: </a:t>
            </a:r>
            <a:r>
              <a:rPr lang="es-PE" sz="1400" u="sng" dirty="0">
                <a:latin typeface="Book Antiqua" panose="02040602050305030304" pitchFamily="18" charset="0"/>
                <a:hlinkClick r:id="rId9">
                  <a:extLst>
                    <a:ext uri="{A12FA001-AC4F-418D-AE19-62706E023703}">
                      <ahyp:hlinkClr xmlns:ahyp="http://schemas.microsoft.com/office/drawing/2018/hyperlinkcolor" val="tx"/>
                    </a:ext>
                  </a:extLst>
                </a:hlinkClick>
              </a:rPr>
              <a:t>https://oa.upm.es/71578/</a:t>
            </a:r>
            <a:endParaRPr lang="es-PE" sz="1400" dirty="0">
              <a:latin typeface="Book Antiqua" panose="02040602050305030304" pitchFamily="18" charset="0"/>
            </a:endParaRPr>
          </a:p>
          <a:p>
            <a:pPr lvl="0"/>
            <a:r>
              <a:rPr lang="es-PE" sz="1400" b="1" dirty="0" err="1">
                <a:latin typeface="Book Antiqua" panose="02040602050305030304" pitchFamily="18" charset="0"/>
              </a:rPr>
              <a:t>Eye</a:t>
            </a:r>
            <a:r>
              <a:rPr lang="es-PE" sz="1400" b="1" dirty="0">
                <a:latin typeface="Book Antiqua" panose="02040602050305030304" pitchFamily="18" charset="0"/>
              </a:rPr>
              <a:t> Security.</a:t>
            </a:r>
            <a:r>
              <a:rPr lang="es-PE" sz="1400" dirty="0">
                <a:latin typeface="Book Antiqua" panose="02040602050305030304" pitchFamily="18" charset="0"/>
              </a:rPr>
              <a:t> (2024). </a:t>
            </a:r>
            <a:r>
              <a:rPr lang="es-PE" sz="1400" i="1" dirty="0" err="1">
                <a:latin typeface="Book Antiqua" panose="02040602050305030304" pitchFamily="18" charset="0"/>
              </a:rPr>
              <a:t>What</a:t>
            </a:r>
            <a:r>
              <a:rPr lang="es-PE" sz="1400" i="1" dirty="0">
                <a:latin typeface="Book Antiqua" panose="02040602050305030304" pitchFamily="18" charset="0"/>
              </a:rPr>
              <a:t> </a:t>
            </a:r>
            <a:r>
              <a:rPr lang="es-PE" sz="1400" i="1" dirty="0" err="1">
                <a:latin typeface="Book Antiqua" panose="02040602050305030304" pitchFamily="18" charset="0"/>
              </a:rPr>
              <a:t>is</a:t>
            </a:r>
            <a:r>
              <a:rPr lang="es-PE" sz="1400" i="1" dirty="0">
                <a:latin typeface="Book Antiqua" panose="02040602050305030304" pitchFamily="18" charset="0"/>
              </a:rPr>
              <a:t> Phishing as a </a:t>
            </a:r>
            <a:r>
              <a:rPr lang="es-PE" sz="1400" i="1" dirty="0" err="1">
                <a:latin typeface="Book Antiqua" panose="02040602050305030304" pitchFamily="18" charset="0"/>
              </a:rPr>
              <a:t>form</a:t>
            </a:r>
            <a:r>
              <a:rPr lang="es-PE" sz="1400" i="1" dirty="0">
                <a:latin typeface="Book Antiqua" panose="02040602050305030304" pitchFamily="18" charset="0"/>
              </a:rPr>
              <a:t> </a:t>
            </a:r>
            <a:r>
              <a:rPr lang="es-PE" sz="1400" i="1" dirty="0" err="1">
                <a:latin typeface="Book Antiqua" panose="02040602050305030304" pitchFamily="18" charset="0"/>
              </a:rPr>
              <a:t>of</a:t>
            </a:r>
            <a:r>
              <a:rPr lang="es-PE" sz="1400" i="1" dirty="0">
                <a:latin typeface="Book Antiqua" panose="02040602050305030304" pitchFamily="18" charset="0"/>
              </a:rPr>
              <a:t> Social </a:t>
            </a:r>
            <a:r>
              <a:rPr lang="es-PE" sz="1400" i="1" dirty="0" err="1">
                <a:latin typeface="Book Antiqua" panose="02040602050305030304" pitchFamily="18" charset="0"/>
              </a:rPr>
              <a:t>Engineering</a:t>
            </a:r>
            <a:r>
              <a:rPr lang="es-PE" sz="1400" i="1" dirty="0">
                <a:latin typeface="Book Antiqua" panose="02040602050305030304" pitchFamily="18" charset="0"/>
              </a:rPr>
              <a:t>?</a:t>
            </a:r>
            <a:r>
              <a:rPr lang="es-PE" sz="1400" dirty="0">
                <a:latin typeface="Book Antiqua" panose="02040602050305030304" pitchFamily="18" charset="0"/>
              </a:rPr>
              <a:t>. </a:t>
            </a:r>
            <a:r>
              <a:rPr lang="es-PE" sz="1400" dirty="0" err="1">
                <a:latin typeface="Book Antiqua" panose="02040602050305030304" pitchFamily="18" charset="0"/>
              </a:rPr>
              <a:t>Learning</a:t>
            </a:r>
            <a:r>
              <a:rPr lang="es-PE" sz="1400" dirty="0">
                <a:latin typeface="Book Antiqua" panose="02040602050305030304" pitchFamily="18" charset="0"/>
              </a:rPr>
              <a:t> Hub. Recuperado de: </a:t>
            </a:r>
            <a:r>
              <a:rPr lang="es-PE" sz="1400" u="sng" dirty="0">
                <a:latin typeface="Book Antiqua" panose="02040602050305030304" pitchFamily="18" charset="0"/>
                <a:hlinkClick r:id="rId10">
                  <a:extLst>
                    <a:ext uri="{A12FA001-AC4F-418D-AE19-62706E023703}">
                      <ahyp:hlinkClr xmlns:ahyp="http://schemas.microsoft.com/office/drawing/2018/hyperlinkcolor" val="tx"/>
                    </a:ext>
                  </a:extLst>
                </a:hlinkClick>
              </a:rPr>
              <a:t>https://www.eye-security.com/cybersecurity-learning-hub/</a:t>
            </a:r>
            <a:endParaRPr lang="es-PE" sz="1400" dirty="0">
              <a:latin typeface="Book Antiqua" panose="02040602050305030304" pitchFamily="18" charset="0"/>
            </a:endParaRPr>
          </a:p>
          <a:p>
            <a:pPr marL="285750" lvl="0" indent="-285750">
              <a:buFont typeface="Wingdings" panose="05000000000000000000" pitchFamily="2" charset="2"/>
              <a:buChar char="q"/>
            </a:pPr>
            <a:endParaRPr lang="es-PE" sz="1400" dirty="0"/>
          </a:p>
          <a:p>
            <a:pPr marL="285750" indent="-285750">
              <a:buFont typeface="Wingdings" panose="05000000000000000000" pitchFamily="2" charset="2"/>
              <a:buChar char="q"/>
            </a:pPr>
            <a:r>
              <a:rPr lang="es-PE" sz="1400" b="1" dirty="0">
                <a:latin typeface="Book Antiqua" panose="02040602050305030304" pitchFamily="18" charset="0"/>
              </a:rPr>
              <a:t>Bibliografía: </a:t>
            </a:r>
            <a:r>
              <a:rPr lang="es-MX" sz="1400" dirty="0"/>
              <a:t>Políticas de Seguridad BYOD en instituciones Educativas</a:t>
            </a:r>
            <a:endParaRPr lang="es-PE" sz="1400" dirty="0"/>
          </a:p>
          <a:p>
            <a:endParaRPr lang="es-PE" sz="1400" dirty="0">
              <a:latin typeface="Book Antiqua" panose="02040602050305030304" pitchFamily="18" charset="0"/>
            </a:endParaRPr>
          </a:p>
          <a:p>
            <a:r>
              <a:rPr lang="es-PE" sz="1400" b="1" u="sng" dirty="0">
                <a:latin typeface="Book Antiqua" panose="02040602050305030304" pitchFamily="18" charset="0"/>
                <a:hlinkClick r:id="rId11">
                  <a:extLst>
                    <a:ext uri="{A12FA001-AC4F-418D-AE19-62706E023703}">
                      <ahyp:hlinkClr xmlns:ahyp="http://schemas.microsoft.com/office/drawing/2018/hyperlinkcolor" val="tx"/>
                    </a:ext>
                  </a:extLst>
                </a:hlinkClick>
              </a:rPr>
              <a:t>https://preyproject.com/blog/device-security-in-schools-byod-for-lovers-and-haters</a:t>
            </a:r>
            <a:endParaRPr lang="es-PE" sz="1400" dirty="0">
              <a:latin typeface="Book Antiqua" panose="02040602050305030304" pitchFamily="18" charset="0"/>
            </a:endParaRPr>
          </a:p>
          <a:p>
            <a:endParaRPr lang="es-PE" dirty="0"/>
          </a:p>
        </p:txBody>
      </p:sp>
    </p:spTree>
    <p:extLst>
      <p:ext uri="{BB962C8B-B14F-4D97-AF65-F5344CB8AC3E}">
        <p14:creationId xmlns:p14="http://schemas.microsoft.com/office/powerpoint/2010/main" val="2453288983"/>
      </p:ext>
    </p:extLst>
  </p:cSld>
  <p:clrMapOvr>
    <a:masterClrMapping/>
  </p:clrMapOvr>
</p:sld>
</file>

<file path=ppt/theme/theme1.xml><?xml version="1.0" encoding="utf-8"?>
<a:theme xmlns:a="http://schemas.openxmlformats.org/drawingml/2006/main" name="Sector">
  <a:themeElements>
    <a:clrScheme name="Sector">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ector">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ector">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TM02900771[[fn=Segmento]]</Template>
  <TotalTime>112</TotalTime>
  <Words>4202</Words>
  <Application>Microsoft Office PowerPoint</Application>
  <PresentationFormat>Panorámica</PresentationFormat>
  <Paragraphs>176</Paragraphs>
  <Slides>17</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17</vt:i4>
      </vt:variant>
    </vt:vector>
  </HeadingPairs>
  <TitlesOfParts>
    <vt:vector size="24" baseType="lpstr">
      <vt:lpstr>Aharoni</vt:lpstr>
      <vt:lpstr>Book Antiqua</vt:lpstr>
      <vt:lpstr>Century Gothic</vt:lpstr>
      <vt:lpstr>Courier New</vt:lpstr>
      <vt:lpstr>Wingdings</vt:lpstr>
      <vt:lpstr>Wingdings 3</vt:lpstr>
      <vt:lpstr>Sector</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SUAREZ RUBINA, BECKAM SMITH</dc:creator>
  <cp:lastModifiedBy>SUAREZ RUBINA, BECKAM SMITH</cp:lastModifiedBy>
  <cp:revision>1</cp:revision>
  <dcterms:created xsi:type="dcterms:W3CDTF">2026-05-15T04:19:17Z</dcterms:created>
  <dcterms:modified xsi:type="dcterms:W3CDTF">2026-05-15T06:11:56Z</dcterms:modified>
</cp:coreProperties>
</file>