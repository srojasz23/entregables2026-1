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11CA24-720D-F780-D645-DCEA3D82BB8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24D49DC9-A2B1-1EDA-D694-8B9DB088FD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AF36D37C-B738-8CFE-D742-60D657C274BE}"/>
              </a:ext>
            </a:extLst>
          </p:cNvPr>
          <p:cNvSpPr>
            <a:spLocks noGrp="1"/>
          </p:cNvSpPr>
          <p:nvPr>
            <p:ph type="dt" sz="half" idx="10"/>
          </p:nvPr>
        </p:nvSpPr>
        <p:spPr/>
        <p:txBody>
          <a:bodyPr/>
          <a:lstStyle/>
          <a:p>
            <a:fld id="{638E7F59-3987-4909-B347-0BA32B382B33}" type="datetimeFigureOut">
              <a:rPr lang="es-PE" smtClean="0"/>
              <a:t>15/04/2026</a:t>
            </a:fld>
            <a:endParaRPr lang="es-PE"/>
          </a:p>
        </p:txBody>
      </p:sp>
      <p:sp>
        <p:nvSpPr>
          <p:cNvPr id="5" name="Marcador de pie de página 4">
            <a:extLst>
              <a:ext uri="{FF2B5EF4-FFF2-40B4-BE49-F238E27FC236}">
                <a16:creationId xmlns:a16="http://schemas.microsoft.com/office/drawing/2014/main" id="{0CC75DC9-5891-1430-CDEC-2AD6DB65510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123CBAFD-31B7-DADD-B4D8-2775346407B7}"/>
              </a:ext>
            </a:extLst>
          </p:cNvPr>
          <p:cNvSpPr>
            <a:spLocks noGrp="1"/>
          </p:cNvSpPr>
          <p:nvPr>
            <p:ph type="sldNum" sz="quarter" idx="12"/>
          </p:nvPr>
        </p:nvSpPr>
        <p:spPr/>
        <p:txBody>
          <a:bodyPr/>
          <a:lstStyle/>
          <a:p>
            <a:fld id="{663DF8DC-EA49-4829-9D43-B9AFA34CCE08}" type="slidenum">
              <a:rPr lang="es-PE" smtClean="0"/>
              <a:t>‹Nº›</a:t>
            </a:fld>
            <a:endParaRPr lang="es-PE"/>
          </a:p>
        </p:txBody>
      </p:sp>
    </p:spTree>
    <p:extLst>
      <p:ext uri="{BB962C8B-B14F-4D97-AF65-F5344CB8AC3E}">
        <p14:creationId xmlns:p14="http://schemas.microsoft.com/office/powerpoint/2010/main" val="2064782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CCFC95-C9F8-094B-3D61-EB8EAC1F1CEC}"/>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37A4A313-8C50-8746-950A-26829709BEC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CDB836B7-FBF9-259A-5F20-E54914764A1E}"/>
              </a:ext>
            </a:extLst>
          </p:cNvPr>
          <p:cNvSpPr>
            <a:spLocks noGrp="1"/>
          </p:cNvSpPr>
          <p:nvPr>
            <p:ph type="dt" sz="half" idx="10"/>
          </p:nvPr>
        </p:nvSpPr>
        <p:spPr/>
        <p:txBody>
          <a:bodyPr/>
          <a:lstStyle/>
          <a:p>
            <a:fld id="{638E7F59-3987-4909-B347-0BA32B382B33}" type="datetimeFigureOut">
              <a:rPr lang="es-PE" smtClean="0"/>
              <a:t>15/04/2026</a:t>
            </a:fld>
            <a:endParaRPr lang="es-PE"/>
          </a:p>
        </p:txBody>
      </p:sp>
      <p:sp>
        <p:nvSpPr>
          <p:cNvPr id="5" name="Marcador de pie de página 4">
            <a:extLst>
              <a:ext uri="{FF2B5EF4-FFF2-40B4-BE49-F238E27FC236}">
                <a16:creationId xmlns:a16="http://schemas.microsoft.com/office/drawing/2014/main" id="{7E70C1B6-8EF1-8849-71AF-FBCC9371EF2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71BC17A-B22F-CC79-1D4F-C52294DAD4DD}"/>
              </a:ext>
            </a:extLst>
          </p:cNvPr>
          <p:cNvSpPr>
            <a:spLocks noGrp="1"/>
          </p:cNvSpPr>
          <p:nvPr>
            <p:ph type="sldNum" sz="quarter" idx="12"/>
          </p:nvPr>
        </p:nvSpPr>
        <p:spPr/>
        <p:txBody>
          <a:bodyPr/>
          <a:lstStyle/>
          <a:p>
            <a:fld id="{663DF8DC-EA49-4829-9D43-B9AFA34CCE08}" type="slidenum">
              <a:rPr lang="es-PE" smtClean="0"/>
              <a:t>‹Nº›</a:t>
            </a:fld>
            <a:endParaRPr lang="es-PE"/>
          </a:p>
        </p:txBody>
      </p:sp>
    </p:spTree>
    <p:extLst>
      <p:ext uri="{BB962C8B-B14F-4D97-AF65-F5344CB8AC3E}">
        <p14:creationId xmlns:p14="http://schemas.microsoft.com/office/powerpoint/2010/main" val="2053678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30C965-F076-5B07-E213-D6415F73CF0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F9CD19F5-620F-55B7-FEFF-CECDE59FD6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789C510-9FF0-9725-B4F9-38034AFBE4C5}"/>
              </a:ext>
            </a:extLst>
          </p:cNvPr>
          <p:cNvSpPr>
            <a:spLocks noGrp="1"/>
          </p:cNvSpPr>
          <p:nvPr>
            <p:ph type="dt" sz="half" idx="10"/>
          </p:nvPr>
        </p:nvSpPr>
        <p:spPr/>
        <p:txBody>
          <a:bodyPr/>
          <a:lstStyle/>
          <a:p>
            <a:fld id="{638E7F59-3987-4909-B347-0BA32B382B33}" type="datetimeFigureOut">
              <a:rPr lang="es-PE" smtClean="0"/>
              <a:t>15/04/2026</a:t>
            </a:fld>
            <a:endParaRPr lang="es-PE"/>
          </a:p>
        </p:txBody>
      </p:sp>
      <p:sp>
        <p:nvSpPr>
          <p:cNvPr id="5" name="Marcador de pie de página 4">
            <a:extLst>
              <a:ext uri="{FF2B5EF4-FFF2-40B4-BE49-F238E27FC236}">
                <a16:creationId xmlns:a16="http://schemas.microsoft.com/office/drawing/2014/main" id="{54DEADA0-F59D-E788-CC90-2B12237EF930}"/>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DCA15237-F73F-99E4-84F0-42872D5DCB15}"/>
              </a:ext>
            </a:extLst>
          </p:cNvPr>
          <p:cNvSpPr>
            <a:spLocks noGrp="1"/>
          </p:cNvSpPr>
          <p:nvPr>
            <p:ph type="sldNum" sz="quarter" idx="12"/>
          </p:nvPr>
        </p:nvSpPr>
        <p:spPr/>
        <p:txBody>
          <a:bodyPr/>
          <a:lstStyle/>
          <a:p>
            <a:fld id="{663DF8DC-EA49-4829-9D43-B9AFA34CCE08}" type="slidenum">
              <a:rPr lang="es-PE" smtClean="0"/>
              <a:t>‹Nº›</a:t>
            </a:fld>
            <a:endParaRPr lang="es-PE"/>
          </a:p>
        </p:txBody>
      </p:sp>
    </p:spTree>
    <p:extLst>
      <p:ext uri="{BB962C8B-B14F-4D97-AF65-F5344CB8AC3E}">
        <p14:creationId xmlns:p14="http://schemas.microsoft.com/office/powerpoint/2010/main" val="2412101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685725-7B77-16A0-13E2-5F81DCDB71F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441E8894-2DAA-85EA-0049-6C26F3EB6E1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5D3DC641-E263-806E-022F-7C906E2B4AF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BD7CD734-0C23-38D6-0A28-124FBF61C4E9}"/>
              </a:ext>
            </a:extLst>
          </p:cNvPr>
          <p:cNvSpPr>
            <a:spLocks noGrp="1"/>
          </p:cNvSpPr>
          <p:nvPr>
            <p:ph type="dt" sz="half" idx="10"/>
          </p:nvPr>
        </p:nvSpPr>
        <p:spPr/>
        <p:txBody>
          <a:bodyPr/>
          <a:lstStyle/>
          <a:p>
            <a:fld id="{638E7F59-3987-4909-B347-0BA32B382B33}" type="datetimeFigureOut">
              <a:rPr lang="es-PE" smtClean="0"/>
              <a:t>15/04/2026</a:t>
            </a:fld>
            <a:endParaRPr lang="es-PE"/>
          </a:p>
        </p:txBody>
      </p:sp>
      <p:sp>
        <p:nvSpPr>
          <p:cNvPr id="6" name="Marcador de pie de página 5">
            <a:extLst>
              <a:ext uri="{FF2B5EF4-FFF2-40B4-BE49-F238E27FC236}">
                <a16:creationId xmlns:a16="http://schemas.microsoft.com/office/drawing/2014/main" id="{29CAFBA8-3CFD-813E-85CB-71A146809206}"/>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EB38F797-E268-C36B-AA6B-78382B15D0E1}"/>
              </a:ext>
            </a:extLst>
          </p:cNvPr>
          <p:cNvSpPr>
            <a:spLocks noGrp="1"/>
          </p:cNvSpPr>
          <p:nvPr>
            <p:ph type="sldNum" sz="quarter" idx="12"/>
          </p:nvPr>
        </p:nvSpPr>
        <p:spPr/>
        <p:txBody>
          <a:bodyPr/>
          <a:lstStyle/>
          <a:p>
            <a:fld id="{663DF8DC-EA49-4829-9D43-B9AFA34CCE08}" type="slidenum">
              <a:rPr lang="es-PE" smtClean="0"/>
              <a:t>‹Nº›</a:t>
            </a:fld>
            <a:endParaRPr lang="es-PE"/>
          </a:p>
        </p:txBody>
      </p:sp>
    </p:spTree>
    <p:extLst>
      <p:ext uri="{BB962C8B-B14F-4D97-AF65-F5344CB8AC3E}">
        <p14:creationId xmlns:p14="http://schemas.microsoft.com/office/powerpoint/2010/main" val="3375900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7AEF1A-516B-CFE0-A391-00009CA36D6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A0CFA949-22C3-331F-E0C2-18FC1B6E3C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2290F10-3AEE-A347-5FE4-3FC735A7130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B297A37A-DEE9-A5D9-4E31-45A635EC89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588B9AD-F41C-0814-B706-FB0DA11BF05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3F25B874-4179-C86E-386A-3A6F79AA8A28}"/>
              </a:ext>
            </a:extLst>
          </p:cNvPr>
          <p:cNvSpPr>
            <a:spLocks noGrp="1"/>
          </p:cNvSpPr>
          <p:nvPr>
            <p:ph type="dt" sz="half" idx="10"/>
          </p:nvPr>
        </p:nvSpPr>
        <p:spPr/>
        <p:txBody>
          <a:bodyPr/>
          <a:lstStyle/>
          <a:p>
            <a:fld id="{638E7F59-3987-4909-B347-0BA32B382B33}" type="datetimeFigureOut">
              <a:rPr lang="es-PE" smtClean="0"/>
              <a:t>15/04/2026</a:t>
            </a:fld>
            <a:endParaRPr lang="es-PE"/>
          </a:p>
        </p:txBody>
      </p:sp>
      <p:sp>
        <p:nvSpPr>
          <p:cNvPr id="8" name="Marcador de pie de página 7">
            <a:extLst>
              <a:ext uri="{FF2B5EF4-FFF2-40B4-BE49-F238E27FC236}">
                <a16:creationId xmlns:a16="http://schemas.microsoft.com/office/drawing/2014/main" id="{2CCA2848-08B2-F101-2D8F-83BF3391AFFE}"/>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0D2D7321-659B-AA55-9C8C-867BD1409C62}"/>
              </a:ext>
            </a:extLst>
          </p:cNvPr>
          <p:cNvSpPr>
            <a:spLocks noGrp="1"/>
          </p:cNvSpPr>
          <p:nvPr>
            <p:ph type="sldNum" sz="quarter" idx="12"/>
          </p:nvPr>
        </p:nvSpPr>
        <p:spPr/>
        <p:txBody>
          <a:bodyPr/>
          <a:lstStyle/>
          <a:p>
            <a:fld id="{663DF8DC-EA49-4829-9D43-B9AFA34CCE08}" type="slidenum">
              <a:rPr lang="es-PE" smtClean="0"/>
              <a:t>‹Nº›</a:t>
            </a:fld>
            <a:endParaRPr lang="es-PE"/>
          </a:p>
        </p:txBody>
      </p:sp>
    </p:spTree>
    <p:extLst>
      <p:ext uri="{BB962C8B-B14F-4D97-AF65-F5344CB8AC3E}">
        <p14:creationId xmlns:p14="http://schemas.microsoft.com/office/powerpoint/2010/main" val="1943762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E7BE4E-1874-030E-D0D5-6B1EA553BF40}"/>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D24CD852-F9DC-1AA2-7BDE-1923D9F02612}"/>
              </a:ext>
            </a:extLst>
          </p:cNvPr>
          <p:cNvSpPr>
            <a:spLocks noGrp="1"/>
          </p:cNvSpPr>
          <p:nvPr>
            <p:ph type="dt" sz="half" idx="10"/>
          </p:nvPr>
        </p:nvSpPr>
        <p:spPr/>
        <p:txBody>
          <a:bodyPr/>
          <a:lstStyle/>
          <a:p>
            <a:fld id="{638E7F59-3987-4909-B347-0BA32B382B33}" type="datetimeFigureOut">
              <a:rPr lang="es-PE" smtClean="0"/>
              <a:t>15/04/2026</a:t>
            </a:fld>
            <a:endParaRPr lang="es-PE"/>
          </a:p>
        </p:txBody>
      </p:sp>
      <p:sp>
        <p:nvSpPr>
          <p:cNvPr id="4" name="Marcador de pie de página 3">
            <a:extLst>
              <a:ext uri="{FF2B5EF4-FFF2-40B4-BE49-F238E27FC236}">
                <a16:creationId xmlns:a16="http://schemas.microsoft.com/office/drawing/2014/main" id="{A04DEF8B-3371-C263-6152-AFBF16852BDA}"/>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AB6F5CF0-49C4-D5BC-AA87-3EC49C0205A2}"/>
              </a:ext>
            </a:extLst>
          </p:cNvPr>
          <p:cNvSpPr>
            <a:spLocks noGrp="1"/>
          </p:cNvSpPr>
          <p:nvPr>
            <p:ph type="sldNum" sz="quarter" idx="12"/>
          </p:nvPr>
        </p:nvSpPr>
        <p:spPr/>
        <p:txBody>
          <a:bodyPr/>
          <a:lstStyle/>
          <a:p>
            <a:fld id="{663DF8DC-EA49-4829-9D43-B9AFA34CCE08}" type="slidenum">
              <a:rPr lang="es-PE" smtClean="0"/>
              <a:t>‹Nº›</a:t>
            </a:fld>
            <a:endParaRPr lang="es-PE"/>
          </a:p>
        </p:txBody>
      </p:sp>
    </p:spTree>
    <p:extLst>
      <p:ext uri="{BB962C8B-B14F-4D97-AF65-F5344CB8AC3E}">
        <p14:creationId xmlns:p14="http://schemas.microsoft.com/office/powerpoint/2010/main" val="2203646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D705A9C-FA71-A370-E096-70927D31F4D8}"/>
              </a:ext>
            </a:extLst>
          </p:cNvPr>
          <p:cNvSpPr>
            <a:spLocks noGrp="1"/>
          </p:cNvSpPr>
          <p:nvPr>
            <p:ph type="dt" sz="half" idx="10"/>
          </p:nvPr>
        </p:nvSpPr>
        <p:spPr/>
        <p:txBody>
          <a:bodyPr/>
          <a:lstStyle/>
          <a:p>
            <a:fld id="{638E7F59-3987-4909-B347-0BA32B382B33}" type="datetimeFigureOut">
              <a:rPr lang="es-PE" smtClean="0"/>
              <a:t>15/04/2026</a:t>
            </a:fld>
            <a:endParaRPr lang="es-PE"/>
          </a:p>
        </p:txBody>
      </p:sp>
      <p:sp>
        <p:nvSpPr>
          <p:cNvPr id="3" name="Marcador de pie de página 2">
            <a:extLst>
              <a:ext uri="{FF2B5EF4-FFF2-40B4-BE49-F238E27FC236}">
                <a16:creationId xmlns:a16="http://schemas.microsoft.com/office/drawing/2014/main" id="{F4F9E2DF-1B13-CBFB-392F-62D534545DDE}"/>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425E2991-CEE3-C3A0-070D-0C908F2C5FB0}"/>
              </a:ext>
            </a:extLst>
          </p:cNvPr>
          <p:cNvSpPr>
            <a:spLocks noGrp="1"/>
          </p:cNvSpPr>
          <p:nvPr>
            <p:ph type="sldNum" sz="quarter" idx="12"/>
          </p:nvPr>
        </p:nvSpPr>
        <p:spPr/>
        <p:txBody>
          <a:bodyPr/>
          <a:lstStyle/>
          <a:p>
            <a:fld id="{663DF8DC-EA49-4829-9D43-B9AFA34CCE08}" type="slidenum">
              <a:rPr lang="es-PE" smtClean="0"/>
              <a:t>‹Nº›</a:t>
            </a:fld>
            <a:endParaRPr lang="es-PE"/>
          </a:p>
        </p:txBody>
      </p:sp>
    </p:spTree>
    <p:extLst>
      <p:ext uri="{BB962C8B-B14F-4D97-AF65-F5344CB8AC3E}">
        <p14:creationId xmlns:p14="http://schemas.microsoft.com/office/powerpoint/2010/main" val="4275227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1B8C31-1768-745E-6965-3348538D3B0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C3AC4A9B-9444-3808-12F7-344CD4AED6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88833922-CBE0-5259-BC1D-BF95117CFE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67C22BB-E910-F428-2FA9-ABBE2604380D}"/>
              </a:ext>
            </a:extLst>
          </p:cNvPr>
          <p:cNvSpPr>
            <a:spLocks noGrp="1"/>
          </p:cNvSpPr>
          <p:nvPr>
            <p:ph type="dt" sz="half" idx="10"/>
          </p:nvPr>
        </p:nvSpPr>
        <p:spPr/>
        <p:txBody>
          <a:bodyPr/>
          <a:lstStyle/>
          <a:p>
            <a:fld id="{638E7F59-3987-4909-B347-0BA32B382B33}" type="datetimeFigureOut">
              <a:rPr lang="es-PE" smtClean="0"/>
              <a:t>15/04/2026</a:t>
            </a:fld>
            <a:endParaRPr lang="es-PE"/>
          </a:p>
        </p:txBody>
      </p:sp>
      <p:sp>
        <p:nvSpPr>
          <p:cNvPr id="6" name="Marcador de pie de página 5">
            <a:extLst>
              <a:ext uri="{FF2B5EF4-FFF2-40B4-BE49-F238E27FC236}">
                <a16:creationId xmlns:a16="http://schemas.microsoft.com/office/drawing/2014/main" id="{DA4C5265-F22B-0DEB-E620-DDB6B0A4D176}"/>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F6BA01C-6D9A-0E60-6FB5-C4D5A9F2FDC7}"/>
              </a:ext>
            </a:extLst>
          </p:cNvPr>
          <p:cNvSpPr>
            <a:spLocks noGrp="1"/>
          </p:cNvSpPr>
          <p:nvPr>
            <p:ph type="sldNum" sz="quarter" idx="12"/>
          </p:nvPr>
        </p:nvSpPr>
        <p:spPr/>
        <p:txBody>
          <a:bodyPr/>
          <a:lstStyle/>
          <a:p>
            <a:fld id="{663DF8DC-EA49-4829-9D43-B9AFA34CCE08}" type="slidenum">
              <a:rPr lang="es-PE" smtClean="0"/>
              <a:t>‹Nº›</a:t>
            </a:fld>
            <a:endParaRPr lang="es-PE"/>
          </a:p>
        </p:txBody>
      </p:sp>
    </p:spTree>
    <p:extLst>
      <p:ext uri="{BB962C8B-B14F-4D97-AF65-F5344CB8AC3E}">
        <p14:creationId xmlns:p14="http://schemas.microsoft.com/office/powerpoint/2010/main" val="27462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11C004-9B49-3D46-A531-2654153A604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F1AD3E7F-0D61-A4BC-AB81-CAAA23F1EB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2EC9C3E3-3A5B-E9C5-D562-7F7DD0B507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4DA2A05-3968-6DBD-96AA-E4374556405E}"/>
              </a:ext>
            </a:extLst>
          </p:cNvPr>
          <p:cNvSpPr>
            <a:spLocks noGrp="1"/>
          </p:cNvSpPr>
          <p:nvPr>
            <p:ph type="dt" sz="half" idx="10"/>
          </p:nvPr>
        </p:nvSpPr>
        <p:spPr/>
        <p:txBody>
          <a:bodyPr/>
          <a:lstStyle/>
          <a:p>
            <a:fld id="{638E7F59-3987-4909-B347-0BA32B382B33}" type="datetimeFigureOut">
              <a:rPr lang="es-PE" smtClean="0"/>
              <a:t>15/04/2026</a:t>
            </a:fld>
            <a:endParaRPr lang="es-PE"/>
          </a:p>
        </p:txBody>
      </p:sp>
      <p:sp>
        <p:nvSpPr>
          <p:cNvPr id="6" name="Marcador de pie de página 5">
            <a:extLst>
              <a:ext uri="{FF2B5EF4-FFF2-40B4-BE49-F238E27FC236}">
                <a16:creationId xmlns:a16="http://schemas.microsoft.com/office/drawing/2014/main" id="{5762D8FD-8310-6362-F425-B38218C0EB00}"/>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AB651ED3-4F9D-645D-D0AC-5F714C740808}"/>
              </a:ext>
            </a:extLst>
          </p:cNvPr>
          <p:cNvSpPr>
            <a:spLocks noGrp="1"/>
          </p:cNvSpPr>
          <p:nvPr>
            <p:ph type="sldNum" sz="quarter" idx="12"/>
          </p:nvPr>
        </p:nvSpPr>
        <p:spPr/>
        <p:txBody>
          <a:bodyPr/>
          <a:lstStyle/>
          <a:p>
            <a:fld id="{663DF8DC-EA49-4829-9D43-B9AFA34CCE08}" type="slidenum">
              <a:rPr lang="es-PE" smtClean="0"/>
              <a:t>‹Nº›</a:t>
            </a:fld>
            <a:endParaRPr lang="es-PE"/>
          </a:p>
        </p:txBody>
      </p:sp>
    </p:spTree>
    <p:extLst>
      <p:ext uri="{BB962C8B-B14F-4D97-AF65-F5344CB8AC3E}">
        <p14:creationId xmlns:p14="http://schemas.microsoft.com/office/powerpoint/2010/main" val="2394328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4DD4AE-47ED-C9FB-0472-9C26FF63A662}"/>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85426FA9-5173-EFFB-C505-2E6754835A1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AE329D2-B79A-1443-6421-AC5E61BB3F8D}"/>
              </a:ext>
            </a:extLst>
          </p:cNvPr>
          <p:cNvSpPr>
            <a:spLocks noGrp="1"/>
          </p:cNvSpPr>
          <p:nvPr>
            <p:ph type="dt" sz="half" idx="10"/>
          </p:nvPr>
        </p:nvSpPr>
        <p:spPr/>
        <p:txBody>
          <a:bodyPr/>
          <a:lstStyle/>
          <a:p>
            <a:fld id="{638E7F59-3987-4909-B347-0BA32B382B33}" type="datetimeFigureOut">
              <a:rPr lang="es-PE" smtClean="0"/>
              <a:t>15/04/2026</a:t>
            </a:fld>
            <a:endParaRPr lang="es-PE"/>
          </a:p>
        </p:txBody>
      </p:sp>
      <p:sp>
        <p:nvSpPr>
          <p:cNvPr id="5" name="Marcador de pie de página 4">
            <a:extLst>
              <a:ext uri="{FF2B5EF4-FFF2-40B4-BE49-F238E27FC236}">
                <a16:creationId xmlns:a16="http://schemas.microsoft.com/office/drawing/2014/main" id="{A86EFB99-6FDB-49D6-3A0B-5DCB51DA14A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4ECADFB-C0AD-C341-08D0-63EC281FD2C5}"/>
              </a:ext>
            </a:extLst>
          </p:cNvPr>
          <p:cNvSpPr>
            <a:spLocks noGrp="1"/>
          </p:cNvSpPr>
          <p:nvPr>
            <p:ph type="sldNum" sz="quarter" idx="12"/>
          </p:nvPr>
        </p:nvSpPr>
        <p:spPr/>
        <p:txBody>
          <a:bodyPr/>
          <a:lstStyle/>
          <a:p>
            <a:fld id="{663DF8DC-EA49-4829-9D43-B9AFA34CCE08}" type="slidenum">
              <a:rPr lang="es-PE" smtClean="0"/>
              <a:t>‹Nº›</a:t>
            </a:fld>
            <a:endParaRPr lang="es-PE"/>
          </a:p>
        </p:txBody>
      </p:sp>
    </p:spTree>
    <p:extLst>
      <p:ext uri="{BB962C8B-B14F-4D97-AF65-F5344CB8AC3E}">
        <p14:creationId xmlns:p14="http://schemas.microsoft.com/office/powerpoint/2010/main" val="20941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A503605-6F87-3B05-C814-575E29F8EE3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518C664A-3687-D6E3-4034-295FF38700E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F7BC567F-B494-0F0A-3800-7276CE8A3A7C}"/>
              </a:ext>
            </a:extLst>
          </p:cNvPr>
          <p:cNvSpPr>
            <a:spLocks noGrp="1"/>
          </p:cNvSpPr>
          <p:nvPr>
            <p:ph type="dt" sz="half" idx="10"/>
          </p:nvPr>
        </p:nvSpPr>
        <p:spPr/>
        <p:txBody>
          <a:bodyPr/>
          <a:lstStyle/>
          <a:p>
            <a:fld id="{638E7F59-3987-4909-B347-0BA32B382B33}" type="datetimeFigureOut">
              <a:rPr lang="es-PE" smtClean="0"/>
              <a:t>15/04/2026</a:t>
            </a:fld>
            <a:endParaRPr lang="es-PE"/>
          </a:p>
        </p:txBody>
      </p:sp>
      <p:sp>
        <p:nvSpPr>
          <p:cNvPr id="5" name="Marcador de pie de página 4">
            <a:extLst>
              <a:ext uri="{FF2B5EF4-FFF2-40B4-BE49-F238E27FC236}">
                <a16:creationId xmlns:a16="http://schemas.microsoft.com/office/drawing/2014/main" id="{D04E65C3-9AF7-6DE4-B329-D572DB175D99}"/>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93A1A47-2EF9-92C3-E726-2CD9DECE30E2}"/>
              </a:ext>
            </a:extLst>
          </p:cNvPr>
          <p:cNvSpPr>
            <a:spLocks noGrp="1"/>
          </p:cNvSpPr>
          <p:nvPr>
            <p:ph type="sldNum" sz="quarter" idx="12"/>
          </p:nvPr>
        </p:nvSpPr>
        <p:spPr/>
        <p:txBody>
          <a:bodyPr/>
          <a:lstStyle/>
          <a:p>
            <a:fld id="{663DF8DC-EA49-4829-9D43-B9AFA34CCE08}" type="slidenum">
              <a:rPr lang="es-PE" smtClean="0"/>
              <a:t>‹Nº›</a:t>
            </a:fld>
            <a:endParaRPr lang="es-PE"/>
          </a:p>
        </p:txBody>
      </p:sp>
    </p:spTree>
    <p:extLst>
      <p:ext uri="{BB962C8B-B14F-4D97-AF65-F5344CB8AC3E}">
        <p14:creationId xmlns:p14="http://schemas.microsoft.com/office/powerpoint/2010/main" val="4118112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7469C98-B2AC-A6EA-78D5-FEEA14C5EA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F550A644-CEFA-FC29-A3A1-8AAF04AC09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636FE2C-DC21-697E-91F3-2F8DE8991B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8E7F59-3987-4909-B347-0BA32B382B33}" type="datetimeFigureOut">
              <a:rPr lang="es-PE" smtClean="0"/>
              <a:t>15/04/2026</a:t>
            </a:fld>
            <a:endParaRPr lang="es-PE"/>
          </a:p>
        </p:txBody>
      </p:sp>
      <p:sp>
        <p:nvSpPr>
          <p:cNvPr id="5" name="Marcador de pie de página 4">
            <a:extLst>
              <a:ext uri="{FF2B5EF4-FFF2-40B4-BE49-F238E27FC236}">
                <a16:creationId xmlns:a16="http://schemas.microsoft.com/office/drawing/2014/main" id="{6B210E5A-F3E4-9539-B49B-2CF46C60F8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FFF1BF8E-C56D-8A0A-E1AC-1154833AC1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3DF8DC-EA49-4829-9D43-B9AFA34CCE08}" type="slidenum">
              <a:rPr lang="es-PE" smtClean="0"/>
              <a:t>‹Nº›</a:t>
            </a:fld>
            <a:endParaRPr lang="es-PE"/>
          </a:p>
        </p:txBody>
      </p:sp>
    </p:spTree>
    <p:extLst>
      <p:ext uri="{BB962C8B-B14F-4D97-AF65-F5344CB8AC3E}">
        <p14:creationId xmlns:p14="http://schemas.microsoft.com/office/powerpoint/2010/main" val="38545786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rojasz23/Entregables2026-1/blob/main/Lenguaje_programacion/Actividades/casos-investigacion.md#caso-1--spotify--poo-y-patrones-de-dise%C3%B1o"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s://engineering.atspotify.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Descargar Ellogotipo De Spotify Se Ve Sobre Un Fondo Negro. | Wallpapers.com">
            <a:extLst>
              <a:ext uri="{FF2B5EF4-FFF2-40B4-BE49-F238E27FC236}">
                <a16:creationId xmlns:a16="http://schemas.microsoft.com/office/drawing/2014/main" id="{8D53B2BA-0A5C-DA35-1470-1ACB44C41D91}"/>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ángulo: esquinas redondeadas 4">
            <a:extLst>
              <a:ext uri="{FF2B5EF4-FFF2-40B4-BE49-F238E27FC236}">
                <a16:creationId xmlns:a16="http://schemas.microsoft.com/office/drawing/2014/main" id="{83DF893C-4C33-D7DF-6F21-E37D2B31DD78}"/>
              </a:ext>
            </a:extLst>
          </p:cNvPr>
          <p:cNvSpPr/>
          <p:nvPr/>
        </p:nvSpPr>
        <p:spPr>
          <a:xfrm>
            <a:off x="668866" y="524932"/>
            <a:ext cx="7281334" cy="125306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u="sng" dirty="0">
                <a:solidFill>
                  <a:schemeClr val="bg1"/>
                </a:solidFill>
                <a:latin typeface="Arial Black" panose="020B0A04020102020204" pitchFamily="34" charset="0"/>
                <a:hlinkClick r:id="rId3">
                  <a:extLst>
                    <a:ext uri="{A12FA001-AC4F-418D-AE19-62706E023703}">
                      <ahyp:hlinkClr xmlns:ahyp="http://schemas.microsoft.com/office/drawing/2018/hyperlinkcolor" val="tx"/>
                    </a:ext>
                  </a:extLst>
                </a:hlinkClick>
              </a:rPr>
              <a:t>Caso 1 — Spotify · POO y Patrones de Diseño</a:t>
            </a:r>
            <a:endParaRPr lang="es-MX" sz="2800" dirty="0">
              <a:solidFill>
                <a:schemeClr val="bg1"/>
              </a:solidFill>
              <a:latin typeface="Arial Black" panose="020B0A04020102020204" pitchFamily="34" charset="0"/>
            </a:endParaRPr>
          </a:p>
          <a:p>
            <a:pPr algn="ctr"/>
            <a:endParaRPr lang="es-PE" dirty="0"/>
          </a:p>
        </p:txBody>
      </p:sp>
      <p:sp>
        <p:nvSpPr>
          <p:cNvPr id="6" name="Rectángulo: esquinas redondeadas 5">
            <a:extLst>
              <a:ext uri="{FF2B5EF4-FFF2-40B4-BE49-F238E27FC236}">
                <a16:creationId xmlns:a16="http://schemas.microsoft.com/office/drawing/2014/main" id="{3E5CF15F-35EC-E762-1EEA-12CD97D915FB}"/>
              </a:ext>
            </a:extLst>
          </p:cNvPr>
          <p:cNvSpPr/>
          <p:nvPr/>
        </p:nvSpPr>
        <p:spPr>
          <a:xfrm>
            <a:off x="237067" y="4241801"/>
            <a:ext cx="6053666" cy="147320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2400" dirty="0">
                <a:latin typeface="Bahnschrift" panose="020B0502040204020203" pitchFamily="34" charset="0"/>
              </a:rPr>
              <a:t>INTEGRANTES : </a:t>
            </a:r>
          </a:p>
          <a:p>
            <a:pPr marL="285750" indent="-285750">
              <a:buFont typeface="Courier New" panose="02070309020205020404" pitchFamily="49" charset="0"/>
              <a:buChar char="o"/>
            </a:pPr>
            <a:r>
              <a:rPr lang="es-MX" sz="2400" dirty="0">
                <a:latin typeface="Bahnschrift" panose="020B0502040204020203" pitchFamily="34" charset="0"/>
              </a:rPr>
              <a:t>Pedro Z. </a:t>
            </a:r>
          </a:p>
          <a:p>
            <a:pPr marL="285750" indent="-285750">
              <a:buFont typeface="Courier New" panose="02070309020205020404" pitchFamily="49" charset="0"/>
              <a:buChar char="o"/>
            </a:pPr>
            <a:r>
              <a:rPr lang="es-MX" sz="2400" dirty="0">
                <a:latin typeface="Bahnschrift" panose="020B0502040204020203" pitchFamily="34" charset="0"/>
              </a:rPr>
              <a:t>Jean </a:t>
            </a:r>
          </a:p>
          <a:p>
            <a:pPr marL="285750" indent="-285750">
              <a:buFont typeface="Courier New" panose="02070309020205020404" pitchFamily="49" charset="0"/>
              <a:buChar char="o"/>
            </a:pPr>
            <a:r>
              <a:rPr lang="es-MX" sz="2400" dirty="0" err="1">
                <a:latin typeface="Bahnschrift" panose="020B0502040204020203" pitchFamily="34" charset="0"/>
              </a:rPr>
              <a:t>Beckam</a:t>
            </a:r>
            <a:r>
              <a:rPr lang="es-MX" sz="2400" dirty="0">
                <a:latin typeface="Bahnschrift" panose="020B0502040204020203" pitchFamily="34" charset="0"/>
              </a:rPr>
              <a:t> S.</a:t>
            </a:r>
            <a:endParaRPr lang="es-PE" sz="2400" dirty="0">
              <a:latin typeface="Bahnschrift" panose="020B0502040204020203" pitchFamily="34" charset="0"/>
            </a:endParaRPr>
          </a:p>
        </p:txBody>
      </p:sp>
    </p:spTree>
    <p:extLst>
      <p:ext uri="{BB962C8B-B14F-4D97-AF65-F5344CB8AC3E}">
        <p14:creationId xmlns:p14="http://schemas.microsoft.com/office/powerpoint/2010/main" val="1660229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1E9DF-D3A4-3A51-38F1-273990C9FAFA}"/>
            </a:ext>
          </a:extLst>
        </p:cNvPr>
        <p:cNvGrpSpPr/>
        <p:nvPr/>
      </p:nvGrpSpPr>
      <p:grpSpPr>
        <a:xfrm>
          <a:off x="0" y="0"/>
          <a:ext cx="0" cy="0"/>
          <a:chOff x="0" y="0"/>
          <a:chExt cx="0" cy="0"/>
        </a:xfrm>
      </p:grpSpPr>
      <p:pic>
        <p:nvPicPr>
          <p:cNvPr id="4" name="Imagen 3" descr="Descargar Ellogotipo De Spotify Se Ve Sobre Un Fondo Negro. | Wallpapers.com">
            <a:extLst>
              <a:ext uri="{FF2B5EF4-FFF2-40B4-BE49-F238E27FC236}">
                <a16:creationId xmlns:a16="http://schemas.microsoft.com/office/drawing/2014/main" id="{EED34749-C2CB-FA6B-DC46-644AD083CEDD}"/>
              </a:ext>
            </a:extLst>
          </p:cNvPr>
          <p:cNvPicPr>
            <a:picLocks noChangeAspect="1"/>
          </p:cNvPicPr>
          <p:nvPr/>
        </p:nvPicPr>
        <p:blipFill>
          <a:blip r:embed="rId2">
            <a:alphaModFix amt="90000"/>
          </a:blip>
          <a:stretch>
            <a:fillRect/>
          </a:stretch>
        </p:blipFill>
        <p:spPr>
          <a:xfrm>
            <a:off x="0" y="16934"/>
            <a:ext cx="12192000" cy="6858000"/>
          </a:xfrm>
          <a:prstGeom prst="rect">
            <a:avLst/>
          </a:prstGeom>
        </p:spPr>
      </p:pic>
      <p:sp>
        <p:nvSpPr>
          <p:cNvPr id="2" name="Rectángulo: esquinas redondeadas 1">
            <a:extLst>
              <a:ext uri="{FF2B5EF4-FFF2-40B4-BE49-F238E27FC236}">
                <a16:creationId xmlns:a16="http://schemas.microsoft.com/office/drawing/2014/main" id="{CEFD47FB-53E9-3DED-DF82-6829A1C9D1C2}"/>
              </a:ext>
            </a:extLst>
          </p:cNvPr>
          <p:cNvSpPr/>
          <p:nvPr/>
        </p:nvSpPr>
        <p:spPr>
          <a:xfrm>
            <a:off x="618067" y="550333"/>
            <a:ext cx="7882466" cy="132926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1. ¿Qué relación existe entre los principios SOLID y el diseño de clases en C#? Explica cada principio con un ejemplo aplicado al dominio de Spotify.</a:t>
            </a:r>
          </a:p>
          <a:p>
            <a:pPr algn="ctr"/>
            <a:endParaRPr lang="es-PE" dirty="0"/>
          </a:p>
        </p:txBody>
      </p:sp>
      <p:sp>
        <p:nvSpPr>
          <p:cNvPr id="3" name="Rectángulo: esquinas redondeadas 2">
            <a:extLst>
              <a:ext uri="{FF2B5EF4-FFF2-40B4-BE49-F238E27FC236}">
                <a16:creationId xmlns:a16="http://schemas.microsoft.com/office/drawing/2014/main" id="{B40E15C0-D4DA-68C6-F208-9578C6312283}"/>
              </a:ext>
            </a:extLst>
          </p:cNvPr>
          <p:cNvSpPr/>
          <p:nvPr/>
        </p:nvSpPr>
        <p:spPr>
          <a:xfrm>
            <a:off x="186267" y="84667"/>
            <a:ext cx="5367866" cy="626533"/>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PE" b="1" dirty="0"/>
              <a:t>Preguntas de investigación</a:t>
            </a:r>
          </a:p>
          <a:p>
            <a:endParaRPr lang="es-PE" dirty="0"/>
          </a:p>
        </p:txBody>
      </p:sp>
      <p:sp>
        <p:nvSpPr>
          <p:cNvPr id="6" name="CuadroTexto 5">
            <a:extLst>
              <a:ext uri="{FF2B5EF4-FFF2-40B4-BE49-F238E27FC236}">
                <a16:creationId xmlns:a16="http://schemas.microsoft.com/office/drawing/2014/main" id="{6D03A712-2165-CC12-072F-EC478692A28C}"/>
              </a:ext>
            </a:extLst>
          </p:cNvPr>
          <p:cNvSpPr txBox="1"/>
          <p:nvPr/>
        </p:nvSpPr>
        <p:spPr>
          <a:xfrm>
            <a:off x="118533" y="1591733"/>
            <a:ext cx="9728200" cy="923330"/>
          </a:xfrm>
          <a:prstGeom prst="rect">
            <a:avLst/>
          </a:prstGeom>
          <a:noFill/>
        </p:spPr>
        <p:txBody>
          <a:bodyPr wrap="square" rtlCol="0">
            <a:spAutoFit/>
          </a:bodyPr>
          <a:lstStyle/>
          <a:p>
            <a:r>
              <a:rPr lang="en-US" dirty="0">
                <a:solidFill>
                  <a:schemeClr val="bg1">
                    <a:lumMod val="95000"/>
                  </a:schemeClr>
                </a:solidFill>
              </a:rPr>
              <a:t>- Los </a:t>
            </a:r>
            <a:r>
              <a:rPr lang="en-US" dirty="0" err="1">
                <a:solidFill>
                  <a:schemeClr val="bg1">
                    <a:lumMod val="95000"/>
                  </a:schemeClr>
                </a:solidFill>
              </a:rPr>
              <a:t>principios</a:t>
            </a:r>
            <a:r>
              <a:rPr lang="en-US" dirty="0">
                <a:solidFill>
                  <a:schemeClr val="bg1">
                    <a:lumMod val="95000"/>
                  </a:schemeClr>
                </a:solidFill>
              </a:rPr>
              <a:t> SOLID </a:t>
            </a:r>
            <a:r>
              <a:rPr lang="en-US" dirty="0" err="1">
                <a:solidFill>
                  <a:schemeClr val="bg1">
                    <a:lumMod val="95000"/>
                  </a:schemeClr>
                </a:solidFill>
              </a:rPr>
              <a:t>permiten</a:t>
            </a:r>
            <a:r>
              <a:rPr lang="en-US" dirty="0">
                <a:solidFill>
                  <a:schemeClr val="bg1">
                    <a:lumMod val="95000"/>
                  </a:schemeClr>
                </a:solidFill>
              </a:rPr>
              <a:t> </a:t>
            </a:r>
            <a:r>
              <a:rPr lang="en-US" dirty="0" err="1">
                <a:solidFill>
                  <a:schemeClr val="bg1">
                    <a:lumMod val="95000"/>
                  </a:schemeClr>
                </a:solidFill>
              </a:rPr>
              <a:t>diseñar</a:t>
            </a:r>
            <a:r>
              <a:rPr lang="en-US" dirty="0">
                <a:solidFill>
                  <a:schemeClr val="bg1">
                    <a:lumMod val="95000"/>
                  </a:schemeClr>
                </a:solidFill>
              </a:rPr>
              <a:t> </a:t>
            </a:r>
            <a:r>
              <a:rPr lang="en-US" dirty="0" err="1">
                <a:solidFill>
                  <a:schemeClr val="bg1">
                    <a:lumMod val="95000"/>
                  </a:schemeClr>
                </a:solidFill>
              </a:rPr>
              <a:t>clases</a:t>
            </a:r>
            <a:r>
              <a:rPr lang="en-US" dirty="0">
                <a:solidFill>
                  <a:schemeClr val="bg1">
                    <a:lumMod val="95000"/>
                  </a:schemeClr>
                </a:solidFill>
              </a:rPr>
              <a:t> </a:t>
            </a:r>
            <a:r>
              <a:rPr lang="en-US" dirty="0" err="1">
                <a:solidFill>
                  <a:schemeClr val="bg1">
                    <a:lumMod val="95000"/>
                  </a:schemeClr>
                </a:solidFill>
              </a:rPr>
              <a:t>más</a:t>
            </a:r>
            <a:r>
              <a:rPr lang="en-US" dirty="0">
                <a:solidFill>
                  <a:schemeClr val="bg1">
                    <a:lumMod val="95000"/>
                  </a:schemeClr>
                </a:solidFill>
              </a:rPr>
              <a:t> </a:t>
            </a:r>
            <a:r>
              <a:rPr lang="en-US" dirty="0" err="1">
                <a:solidFill>
                  <a:schemeClr val="bg1">
                    <a:lumMod val="95000"/>
                  </a:schemeClr>
                </a:solidFill>
              </a:rPr>
              <a:t>organizadas</a:t>
            </a:r>
            <a:r>
              <a:rPr lang="en-US" dirty="0">
                <a:solidFill>
                  <a:schemeClr val="bg1">
                    <a:lumMod val="95000"/>
                  </a:schemeClr>
                </a:solidFill>
              </a:rPr>
              <a:t>, </a:t>
            </a:r>
            <a:r>
              <a:rPr lang="en-US" dirty="0" err="1">
                <a:solidFill>
                  <a:schemeClr val="bg1">
                    <a:lumMod val="95000"/>
                  </a:schemeClr>
                </a:solidFill>
              </a:rPr>
              <a:t>reutilizables</a:t>
            </a:r>
            <a:r>
              <a:rPr lang="en-US" dirty="0">
                <a:solidFill>
                  <a:schemeClr val="bg1">
                    <a:lumMod val="95000"/>
                  </a:schemeClr>
                </a:solidFill>
              </a:rPr>
              <a:t> y </a:t>
            </a:r>
            <a:r>
              <a:rPr lang="en-US" dirty="0" err="1">
                <a:solidFill>
                  <a:schemeClr val="bg1">
                    <a:lumMod val="95000"/>
                  </a:schemeClr>
                </a:solidFill>
              </a:rPr>
              <a:t>fáciles</a:t>
            </a:r>
            <a:r>
              <a:rPr lang="en-US" dirty="0">
                <a:solidFill>
                  <a:schemeClr val="bg1">
                    <a:lumMod val="95000"/>
                  </a:schemeClr>
                </a:solidFill>
              </a:rPr>
              <a:t> de </a:t>
            </a:r>
            <a:r>
              <a:rPr lang="en-US" dirty="0" err="1">
                <a:solidFill>
                  <a:schemeClr val="bg1">
                    <a:lumMod val="95000"/>
                  </a:schemeClr>
                </a:solidFill>
              </a:rPr>
              <a:t>mantener</a:t>
            </a:r>
            <a:r>
              <a:rPr lang="en-US" dirty="0">
                <a:solidFill>
                  <a:schemeClr val="bg1">
                    <a:lumMod val="95000"/>
                  </a:schemeClr>
                </a:solidFill>
              </a:rPr>
              <a:t> </a:t>
            </a:r>
            <a:r>
              <a:rPr lang="en-US" dirty="0" err="1">
                <a:solidFill>
                  <a:schemeClr val="bg1">
                    <a:lumMod val="95000"/>
                  </a:schemeClr>
                </a:solidFill>
              </a:rPr>
              <a:t>en</a:t>
            </a:r>
            <a:r>
              <a:rPr lang="en-US" dirty="0">
                <a:solidFill>
                  <a:schemeClr val="bg1">
                    <a:lumMod val="95000"/>
                  </a:schemeClr>
                </a:solidFill>
              </a:rPr>
              <a:t> C#.</a:t>
            </a:r>
            <a:endParaRPr lang="es-PE" dirty="0">
              <a:solidFill>
                <a:schemeClr val="bg1">
                  <a:lumMod val="95000"/>
                </a:schemeClr>
              </a:solidFill>
            </a:endParaRPr>
          </a:p>
          <a:p>
            <a:endParaRPr lang="es-PE" dirty="0"/>
          </a:p>
        </p:txBody>
      </p:sp>
      <p:sp>
        <p:nvSpPr>
          <p:cNvPr id="7" name="CuadroTexto 6">
            <a:extLst>
              <a:ext uri="{FF2B5EF4-FFF2-40B4-BE49-F238E27FC236}">
                <a16:creationId xmlns:a16="http://schemas.microsoft.com/office/drawing/2014/main" id="{E467F97B-17A1-17B5-6E92-0F1BD27F0E0F}"/>
              </a:ext>
            </a:extLst>
          </p:cNvPr>
          <p:cNvSpPr txBox="1"/>
          <p:nvPr/>
        </p:nvSpPr>
        <p:spPr>
          <a:xfrm>
            <a:off x="186267" y="2515063"/>
            <a:ext cx="11362266" cy="4524315"/>
          </a:xfrm>
          <a:prstGeom prst="rect">
            <a:avLst/>
          </a:prstGeom>
          <a:noFill/>
        </p:spPr>
        <p:txBody>
          <a:bodyPr wrap="square" rtlCol="0">
            <a:spAutoFit/>
          </a:bodyPr>
          <a:lstStyle/>
          <a:p>
            <a:pPr marL="285750" lvl="0" indent="-285750">
              <a:buFont typeface="Courier New" panose="02070309020205020404" pitchFamily="49" charset="0"/>
              <a:buChar char="o"/>
            </a:pPr>
            <a:r>
              <a:rPr lang="en-US" b="1" dirty="0">
                <a:solidFill>
                  <a:schemeClr val="bg1">
                    <a:lumMod val="95000"/>
                  </a:schemeClr>
                </a:solidFill>
              </a:rPr>
              <a:t>SRP (</a:t>
            </a:r>
            <a:r>
              <a:rPr lang="en-US" b="1" dirty="0" err="1">
                <a:solidFill>
                  <a:schemeClr val="bg1">
                    <a:lumMod val="95000"/>
                  </a:schemeClr>
                </a:solidFill>
              </a:rPr>
              <a:t>Responsabilidad</a:t>
            </a:r>
            <a:r>
              <a:rPr lang="en-US" b="1" dirty="0">
                <a:solidFill>
                  <a:schemeClr val="bg1">
                    <a:lumMod val="95000"/>
                  </a:schemeClr>
                </a:solidFill>
              </a:rPr>
              <a:t> </a:t>
            </a:r>
            <a:r>
              <a:rPr lang="en-US" b="1" dirty="0" err="1">
                <a:solidFill>
                  <a:schemeClr val="bg1">
                    <a:lumMod val="95000"/>
                  </a:schemeClr>
                </a:solidFill>
              </a:rPr>
              <a:t>Única</a:t>
            </a:r>
            <a:r>
              <a:rPr lang="en-US" b="1" dirty="0">
                <a:solidFill>
                  <a:schemeClr val="bg1">
                    <a:lumMod val="95000"/>
                  </a:schemeClr>
                </a:solidFill>
              </a:rPr>
              <a:t>):</a:t>
            </a:r>
            <a:br>
              <a:rPr lang="en-US" dirty="0">
                <a:solidFill>
                  <a:schemeClr val="bg1">
                    <a:lumMod val="95000"/>
                  </a:schemeClr>
                </a:solidFill>
              </a:rPr>
            </a:br>
            <a:r>
              <a:rPr lang="en-US" dirty="0">
                <a:solidFill>
                  <a:schemeClr val="bg1">
                    <a:lumMod val="95000"/>
                  </a:schemeClr>
                </a:solidFill>
              </a:rPr>
              <a:t>Cada clase </a:t>
            </a:r>
            <a:r>
              <a:rPr lang="en-US" dirty="0" err="1">
                <a:solidFill>
                  <a:schemeClr val="bg1">
                    <a:lumMod val="95000"/>
                  </a:schemeClr>
                </a:solidFill>
              </a:rPr>
              <a:t>debe</a:t>
            </a:r>
            <a:r>
              <a:rPr lang="en-US" dirty="0">
                <a:solidFill>
                  <a:schemeClr val="bg1">
                    <a:lumMod val="95000"/>
                  </a:schemeClr>
                </a:solidFill>
              </a:rPr>
              <a:t> </a:t>
            </a:r>
            <a:r>
              <a:rPr lang="en-US" dirty="0" err="1">
                <a:solidFill>
                  <a:schemeClr val="bg1">
                    <a:lumMod val="95000"/>
                  </a:schemeClr>
                </a:solidFill>
              </a:rPr>
              <a:t>tener</a:t>
            </a:r>
            <a:r>
              <a:rPr lang="en-US" dirty="0">
                <a:solidFill>
                  <a:schemeClr val="bg1">
                    <a:lumMod val="95000"/>
                  </a:schemeClr>
                </a:solidFill>
              </a:rPr>
              <a:t> una sola </a:t>
            </a:r>
            <a:r>
              <a:rPr lang="en-US" dirty="0" err="1">
                <a:solidFill>
                  <a:schemeClr val="bg1">
                    <a:lumMod val="95000"/>
                  </a:schemeClr>
                </a:solidFill>
              </a:rPr>
              <a:t>función</a:t>
            </a:r>
            <a:r>
              <a:rPr lang="en-US" dirty="0">
                <a:solidFill>
                  <a:schemeClr val="bg1">
                    <a:lumMod val="95000"/>
                  </a:schemeClr>
                </a:solidFill>
              </a:rPr>
              <a:t>.</a:t>
            </a:r>
            <a:br>
              <a:rPr lang="en-US" dirty="0">
                <a:solidFill>
                  <a:schemeClr val="bg1">
                    <a:lumMod val="95000"/>
                  </a:schemeClr>
                </a:solidFill>
              </a:rPr>
            </a:br>
            <a:r>
              <a:rPr lang="en-US" dirty="0">
                <a:solidFill>
                  <a:schemeClr val="bg1">
                    <a:lumMod val="95000"/>
                  </a:schemeClr>
                </a:solidFill>
              </a:rPr>
              <a:t>Ejemplo: una clase </a:t>
            </a:r>
            <a:r>
              <a:rPr lang="en-US" i="1" dirty="0">
                <a:solidFill>
                  <a:schemeClr val="bg1">
                    <a:lumMod val="95000"/>
                  </a:schemeClr>
                </a:solidFill>
              </a:rPr>
              <a:t>Cancion</a:t>
            </a:r>
            <a:r>
              <a:rPr lang="en-US" dirty="0">
                <a:solidFill>
                  <a:schemeClr val="bg1">
                    <a:lumMod val="95000"/>
                  </a:schemeClr>
                </a:solidFill>
              </a:rPr>
              <a:t> solo </a:t>
            </a:r>
            <a:r>
              <a:rPr lang="en-US" dirty="0" err="1">
                <a:solidFill>
                  <a:schemeClr val="bg1">
                    <a:lumMod val="95000"/>
                  </a:schemeClr>
                </a:solidFill>
              </a:rPr>
              <a:t>almacena</a:t>
            </a:r>
            <a:r>
              <a:rPr lang="en-US" dirty="0">
                <a:solidFill>
                  <a:schemeClr val="bg1">
                    <a:lumMod val="95000"/>
                  </a:schemeClr>
                </a:solidFill>
              </a:rPr>
              <a:t> </a:t>
            </a:r>
            <a:r>
              <a:rPr lang="en-US" dirty="0" err="1">
                <a:solidFill>
                  <a:schemeClr val="bg1">
                    <a:lumMod val="95000"/>
                  </a:schemeClr>
                </a:solidFill>
              </a:rPr>
              <a:t>datos</a:t>
            </a:r>
            <a:r>
              <a:rPr lang="en-US" dirty="0">
                <a:solidFill>
                  <a:schemeClr val="bg1">
                    <a:lumMod val="95000"/>
                  </a:schemeClr>
                </a:solidFill>
              </a:rPr>
              <a:t>, </a:t>
            </a:r>
            <a:r>
              <a:rPr lang="en-US" dirty="0" err="1">
                <a:solidFill>
                  <a:schemeClr val="bg1">
                    <a:lumMod val="95000"/>
                  </a:schemeClr>
                </a:solidFill>
              </a:rPr>
              <a:t>mientras</a:t>
            </a:r>
            <a:r>
              <a:rPr lang="en-US" dirty="0">
                <a:solidFill>
                  <a:schemeClr val="bg1">
                    <a:lumMod val="95000"/>
                  </a:schemeClr>
                </a:solidFill>
              </a:rPr>
              <a:t> que </a:t>
            </a:r>
            <a:r>
              <a:rPr lang="en-US" i="1" dirty="0" err="1">
                <a:solidFill>
                  <a:schemeClr val="bg1">
                    <a:lumMod val="95000"/>
                  </a:schemeClr>
                </a:solidFill>
              </a:rPr>
              <a:t>Reproductor</a:t>
            </a:r>
            <a:r>
              <a:rPr lang="en-US" dirty="0">
                <a:solidFill>
                  <a:schemeClr val="bg1">
                    <a:lumMod val="95000"/>
                  </a:schemeClr>
                </a:solidFill>
              </a:rPr>
              <a:t> se </a:t>
            </a:r>
            <a:r>
              <a:rPr lang="en-US" dirty="0" err="1">
                <a:solidFill>
                  <a:schemeClr val="bg1">
                    <a:lumMod val="95000"/>
                  </a:schemeClr>
                </a:solidFill>
              </a:rPr>
              <a:t>encarga</a:t>
            </a:r>
            <a:r>
              <a:rPr lang="en-US" dirty="0">
                <a:solidFill>
                  <a:schemeClr val="bg1">
                    <a:lumMod val="95000"/>
                  </a:schemeClr>
                </a:solidFill>
              </a:rPr>
              <a:t> de </a:t>
            </a:r>
            <a:r>
              <a:rPr lang="en-US" dirty="0" err="1">
                <a:solidFill>
                  <a:schemeClr val="bg1">
                    <a:lumMod val="95000"/>
                  </a:schemeClr>
                </a:solidFill>
              </a:rPr>
              <a:t>reproducir</a:t>
            </a:r>
            <a:r>
              <a:rPr lang="en-US" dirty="0">
                <a:solidFill>
                  <a:schemeClr val="bg1">
                    <a:lumMod val="95000"/>
                  </a:schemeClr>
                </a:solidFill>
              </a:rPr>
              <a:t>. </a:t>
            </a:r>
            <a:endParaRPr lang="es-PE" dirty="0">
              <a:solidFill>
                <a:schemeClr val="bg1">
                  <a:lumMod val="95000"/>
                </a:schemeClr>
              </a:solidFill>
            </a:endParaRPr>
          </a:p>
          <a:p>
            <a:pPr marL="285750" lvl="0" indent="-285750">
              <a:buFont typeface="Courier New" panose="02070309020205020404" pitchFamily="49" charset="0"/>
              <a:buChar char="o"/>
            </a:pPr>
            <a:r>
              <a:rPr lang="en-US" b="1" dirty="0">
                <a:solidFill>
                  <a:schemeClr val="bg1">
                    <a:lumMod val="95000"/>
                  </a:schemeClr>
                </a:solidFill>
              </a:rPr>
              <a:t>OCP (Abierto/Cerrado):</a:t>
            </a:r>
            <a:br>
              <a:rPr lang="en-US" dirty="0">
                <a:solidFill>
                  <a:schemeClr val="bg1">
                    <a:lumMod val="95000"/>
                  </a:schemeClr>
                </a:solidFill>
              </a:rPr>
            </a:br>
            <a:r>
              <a:rPr lang="en-US" dirty="0">
                <a:solidFill>
                  <a:schemeClr val="bg1">
                    <a:lumMod val="95000"/>
                  </a:schemeClr>
                </a:solidFill>
              </a:rPr>
              <a:t>El </a:t>
            </a:r>
            <a:r>
              <a:rPr lang="en-US" dirty="0" err="1">
                <a:solidFill>
                  <a:schemeClr val="bg1">
                    <a:lumMod val="95000"/>
                  </a:schemeClr>
                </a:solidFill>
              </a:rPr>
              <a:t>sistema</a:t>
            </a:r>
            <a:r>
              <a:rPr lang="en-US" dirty="0">
                <a:solidFill>
                  <a:schemeClr val="bg1">
                    <a:lumMod val="95000"/>
                  </a:schemeClr>
                </a:solidFill>
              </a:rPr>
              <a:t> se </a:t>
            </a:r>
            <a:r>
              <a:rPr lang="en-US" dirty="0" err="1">
                <a:solidFill>
                  <a:schemeClr val="bg1">
                    <a:lumMod val="95000"/>
                  </a:schemeClr>
                </a:solidFill>
              </a:rPr>
              <a:t>puede</a:t>
            </a:r>
            <a:r>
              <a:rPr lang="en-US" dirty="0">
                <a:solidFill>
                  <a:schemeClr val="bg1">
                    <a:lumMod val="95000"/>
                  </a:schemeClr>
                </a:solidFill>
              </a:rPr>
              <a:t> extender sin modificar </a:t>
            </a:r>
            <a:r>
              <a:rPr lang="en-US" dirty="0" err="1">
                <a:solidFill>
                  <a:schemeClr val="bg1">
                    <a:lumMod val="95000"/>
                  </a:schemeClr>
                </a:solidFill>
              </a:rPr>
              <a:t>código</a:t>
            </a:r>
            <a:r>
              <a:rPr lang="en-US" dirty="0">
                <a:solidFill>
                  <a:schemeClr val="bg1">
                    <a:lumMod val="95000"/>
                  </a:schemeClr>
                </a:solidFill>
              </a:rPr>
              <a:t> existente.</a:t>
            </a:r>
            <a:br>
              <a:rPr lang="en-US" dirty="0">
                <a:solidFill>
                  <a:schemeClr val="bg1">
                    <a:lumMod val="95000"/>
                  </a:schemeClr>
                </a:solidFill>
              </a:rPr>
            </a:br>
            <a:r>
              <a:rPr lang="en-US" dirty="0">
                <a:solidFill>
                  <a:schemeClr val="bg1">
                    <a:lumMod val="95000"/>
                  </a:schemeClr>
                </a:solidFill>
              </a:rPr>
              <a:t>Ejemplo: </a:t>
            </a:r>
            <a:r>
              <a:rPr lang="en-US" dirty="0" err="1">
                <a:solidFill>
                  <a:schemeClr val="bg1">
                    <a:lumMod val="95000"/>
                  </a:schemeClr>
                </a:solidFill>
              </a:rPr>
              <a:t>agregar</a:t>
            </a:r>
            <a:r>
              <a:rPr lang="en-US" dirty="0">
                <a:solidFill>
                  <a:schemeClr val="bg1">
                    <a:lumMod val="95000"/>
                  </a:schemeClr>
                </a:solidFill>
              </a:rPr>
              <a:t> un nuevo tipo de contenido (Podcast) sin </a:t>
            </a:r>
            <a:r>
              <a:rPr lang="en-US" dirty="0" err="1">
                <a:solidFill>
                  <a:schemeClr val="bg1">
                    <a:lumMod val="95000"/>
                  </a:schemeClr>
                </a:solidFill>
              </a:rPr>
              <a:t>cambiar</a:t>
            </a:r>
            <a:r>
              <a:rPr lang="en-US" dirty="0">
                <a:solidFill>
                  <a:schemeClr val="bg1">
                    <a:lumMod val="95000"/>
                  </a:schemeClr>
                </a:solidFill>
              </a:rPr>
              <a:t> las </a:t>
            </a:r>
            <a:r>
              <a:rPr lang="en-US" dirty="0" err="1">
                <a:solidFill>
                  <a:schemeClr val="bg1">
                    <a:lumMod val="95000"/>
                  </a:schemeClr>
                </a:solidFill>
              </a:rPr>
              <a:t>clases</a:t>
            </a:r>
            <a:r>
              <a:rPr lang="en-US" dirty="0">
                <a:solidFill>
                  <a:schemeClr val="bg1">
                    <a:lumMod val="95000"/>
                  </a:schemeClr>
                </a:solidFill>
              </a:rPr>
              <a:t> </a:t>
            </a:r>
            <a:r>
              <a:rPr lang="en-US" dirty="0" err="1">
                <a:solidFill>
                  <a:schemeClr val="bg1">
                    <a:lumMod val="95000"/>
                  </a:schemeClr>
                </a:solidFill>
              </a:rPr>
              <a:t>existentes</a:t>
            </a:r>
            <a:r>
              <a:rPr lang="en-US" dirty="0">
                <a:solidFill>
                  <a:schemeClr val="bg1">
                    <a:lumMod val="95000"/>
                  </a:schemeClr>
                </a:solidFill>
              </a:rPr>
              <a:t>. </a:t>
            </a:r>
            <a:endParaRPr lang="es-PE" dirty="0">
              <a:solidFill>
                <a:schemeClr val="bg1">
                  <a:lumMod val="95000"/>
                </a:schemeClr>
              </a:solidFill>
            </a:endParaRPr>
          </a:p>
          <a:p>
            <a:pPr marL="285750" lvl="0" indent="-285750">
              <a:buFont typeface="Courier New" panose="02070309020205020404" pitchFamily="49" charset="0"/>
              <a:buChar char="o"/>
            </a:pPr>
            <a:r>
              <a:rPr lang="en-US" b="1" dirty="0">
                <a:solidFill>
                  <a:schemeClr val="bg1">
                    <a:lumMod val="95000"/>
                  </a:schemeClr>
                </a:solidFill>
              </a:rPr>
              <a:t>LSP (</a:t>
            </a:r>
            <a:r>
              <a:rPr lang="en-US" b="1" dirty="0" err="1">
                <a:solidFill>
                  <a:schemeClr val="bg1">
                    <a:lumMod val="95000"/>
                  </a:schemeClr>
                </a:solidFill>
              </a:rPr>
              <a:t>Sustitución</a:t>
            </a:r>
            <a:r>
              <a:rPr lang="en-US" b="1" dirty="0">
                <a:solidFill>
                  <a:schemeClr val="bg1">
                    <a:lumMod val="95000"/>
                  </a:schemeClr>
                </a:solidFill>
              </a:rPr>
              <a:t> de </a:t>
            </a:r>
            <a:r>
              <a:rPr lang="en-US" b="1" dirty="0" err="1">
                <a:solidFill>
                  <a:schemeClr val="bg1">
                    <a:lumMod val="95000"/>
                  </a:schemeClr>
                </a:solidFill>
              </a:rPr>
              <a:t>Liskov</a:t>
            </a:r>
            <a:r>
              <a:rPr lang="en-US" b="1" dirty="0">
                <a:solidFill>
                  <a:schemeClr val="bg1">
                    <a:lumMod val="95000"/>
                  </a:schemeClr>
                </a:solidFill>
              </a:rPr>
              <a:t>):</a:t>
            </a:r>
            <a:br>
              <a:rPr lang="en-US" dirty="0">
                <a:solidFill>
                  <a:schemeClr val="bg1">
                    <a:lumMod val="95000"/>
                  </a:schemeClr>
                </a:solidFill>
              </a:rPr>
            </a:br>
            <a:r>
              <a:rPr lang="en-US" dirty="0">
                <a:solidFill>
                  <a:schemeClr val="bg1">
                    <a:lumMod val="95000"/>
                  </a:schemeClr>
                </a:solidFill>
              </a:rPr>
              <a:t>Las </a:t>
            </a:r>
            <a:r>
              <a:rPr lang="en-US" dirty="0" err="1">
                <a:solidFill>
                  <a:schemeClr val="bg1">
                    <a:lumMod val="95000"/>
                  </a:schemeClr>
                </a:solidFill>
              </a:rPr>
              <a:t>clases</a:t>
            </a:r>
            <a:r>
              <a:rPr lang="en-US" dirty="0">
                <a:solidFill>
                  <a:schemeClr val="bg1">
                    <a:lumMod val="95000"/>
                  </a:schemeClr>
                </a:solidFill>
              </a:rPr>
              <a:t> </a:t>
            </a:r>
            <a:r>
              <a:rPr lang="en-US" dirty="0" err="1">
                <a:solidFill>
                  <a:schemeClr val="bg1">
                    <a:lumMod val="95000"/>
                  </a:schemeClr>
                </a:solidFill>
              </a:rPr>
              <a:t>hijas</a:t>
            </a:r>
            <a:r>
              <a:rPr lang="en-US" dirty="0">
                <a:solidFill>
                  <a:schemeClr val="bg1">
                    <a:lumMod val="95000"/>
                  </a:schemeClr>
                </a:solidFill>
              </a:rPr>
              <a:t> </a:t>
            </a:r>
            <a:r>
              <a:rPr lang="en-US" dirty="0" err="1">
                <a:solidFill>
                  <a:schemeClr val="bg1">
                    <a:lumMod val="95000"/>
                  </a:schemeClr>
                </a:solidFill>
              </a:rPr>
              <a:t>deben</a:t>
            </a:r>
            <a:r>
              <a:rPr lang="en-US" dirty="0">
                <a:solidFill>
                  <a:schemeClr val="bg1">
                    <a:lumMod val="95000"/>
                  </a:schemeClr>
                </a:solidFill>
              </a:rPr>
              <a:t> </a:t>
            </a:r>
            <a:r>
              <a:rPr lang="en-US" dirty="0" err="1">
                <a:solidFill>
                  <a:schemeClr val="bg1">
                    <a:lumMod val="95000"/>
                  </a:schemeClr>
                </a:solidFill>
              </a:rPr>
              <a:t>poder</a:t>
            </a:r>
            <a:r>
              <a:rPr lang="en-US" dirty="0">
                <a:solidFill>
                  <a:schemeClr val="bg1">
                    <a:lumMod val="95000"/>
                  </a:schemeClr>
                </a:solidFill>
              </a:rPr>
              <a:t> </a:t>
            </a:r>
            <a:r>
              <a:rPr lang="en-US" dirty="0" err="1">
                <a:solidFill>
                  <a:schemeClr val="bg1">
                    <a:lumMod val="95000"/>
                  </a:schemeClr>
                </a:solidFill>
              </a:rPr>
              <a:t>reemplazar</a:t>
            </a:r>
            <a:r>
              <a:rPr lang="en-US" dirty="0">
                <a:solidFill>
                  <a:schemeClr val="bg1">
                    <a:lumMod val="95000"/>
                  </a:schemeClr>
                </a:solidFill>
              </a:rPr>
              <a:t> a la clase base sin </a:t>
            </a:r>
            <a:r>
              <a:rPr lang="en-US" dirty="0" err="1">
                <a:solidFill>
                  <a:schemeClr val="bg1">
                    <a:lumMod val="95000"/>
                  </a:schemeClr>
                </a:solidFill>
              </a:rPr>
              <a:t>errores</a:t>
            </a:r>
            <a:r>
              <a:rPr lang="en-US" dirty="0">
                <a:solidFill>
                  <a:schemeClr val="bg1">
                    <a:lumMod val="95000"/>
                  </a:schemeClr>
                </a:solidFill>
              </a:rPr>
              <a:t>.</a:t>
            </a:r>
            <a:br>
              <a:rPr lang="en-US" dirty="0">
                <a:solidFill>
                  <a:schemeClr val="bg1">
                    <a:lumMod val="95000"/>
                  </a:schemeClr>
                </a:solidFill>
              </a:rPr>
            </a:br>
            <a:r>
              <a:rPr lang="en-US" dirty="0">
                <a:solidFill>
                  <a:schemeClr val="bg1">
                    <a:lumMod val="95000"/>
                  </a:schemeClr>
                </a:solidFill>
              </a:rPr>
              <a:t>Ejemplo: una clase </a:t>
            </a:r>
            <a:r>
              <a:rPr lang="en-US" i="1" dirty="0">
                <a:solidFill>
                  <a:schemeClr val="bg1">
                    <a:lumMod val="95000"/>
                  </a:schemeClr>
                </a:solidFill>
              </a:rPr>
              <a:t>Podcast</a:t>
            </a:r>
            <a:r>
              <a:rPr lang="en-US" dirty="0">
                <a:solidFill>
                  <a:schemeClr val="bg1">
                    <a:lumMod val="95000"/>
                  </a:schemeClr>
                </a:solidFill>
              </a:rPr>
              <a:t> </a:t>
            </a:r>
            <a:r>
              <a:rPr lang="en-US" dirty="0" err="1">
                <a:solidFill>
                  <a:schemeClr val="bg1">
                    <a:lumMod val="95000"/>
                  </a:schemeClr>
                </a:solidFill>
              </a:rPr>
              <a:t>puede</a:t>
            </a:r>
            <a:r>
              <a:rPr lang="en-US" dirty="0">
                <a:solidFill>
                  <a:schemeClr val="bg1">
                    <a:lumMod val="95000"/>
                  </a:schemeClr>
                </a:solidFill>
              </a:rPr>
              <a:t> </a:t>
            </a:r>
            <a:r>
              <a:rPr lang="en-US" dirty="0" err="1">
                <a:solidFill>
                  <a:schemeClr val="bg1">
                    <a:lumMod val="95000"/>
                  </a:schemeClr>
                </a:solidFill>
              </a:rPr>
              <a:t>usarse</a:t>
            </a:r>
            <a:r>
              <a:rPr lang="en-US" dirty="0">
                <a:solidFill>
                  <a:schemeClr val="bg1">
                    <a:lumMod val="95000"/>
                  </a:schemeClr>
                </a:solidFill>
              </a:rPr>
              <a:t> </a:t>
            </a:r>
            <a:r>
              <a:rPr lang="en-US" dirty="0" err="1">
                <a:solidFill>
                  <a:schemeClr val="bg1">
                    <a:lumMod val="95000"/>
                  </a:schemeClr>
                </a:solidFill>
              </a:rPr>
              <a:t>donde</a:t>
            </a:r>
            <a:r>
              <a:rPr lang="en-US" dirty="0">
                <a:solidFill>
                  <a:schemeClr val="bg1">
                    <a:lumMod val="95000"/>
                  </a:schemeClr>
                </a:solidFill>
              </a:rPr>
              <a:t> se </a:t>
            </a:r>
            <a:r>
              <a:rPr lang="en-US" dirty="0" err="1">
                <a:solidFill>
                  <a:schemeClr val="bg1">
                    <a:lumMod val="95000"/>
                  </a:schemeClr>
                </a:solidFill>
              </a:rPr>
              <a:t>espera</a:t>
            </a:r>
            <a:r>
              <a:rPr lang="en-US" dirty="0">
                <a:solidFill>
                  <a:schemeClr val="bg1">
                    <a:lumMod val="95000"/>
                  </a:schemeClr>
                </a:solidFill>
              </a:rPr>
              <a:t> un </a:t>
            </a:r>
            <a:r>
              <a:rPr lang="en-US" i="1" dirty="0">
                <a:solidFill>
                  <a:schemeClr val="bg1">
                    <a:lumMod val="95000"/>
                  </a:schemeClr>
                </a:solidFill>
              </a:rPr>
              <a:t>Contenido</a:t>
            </a:r>
            <a:r>
              <a:rPr lang="en-US" dirty="0">
                <a:solidFill>
                  <a:schemeClr val="bg1">
                    <a:lumMod val="95000"/>
                  </a:schemeClr>
                </a:solidFill>
              </a:rPr>
              <a:t>. </a:t>
            </a:r>
            <a:endParaRPr lang="es-PE" dirty="0">
              <a:solidFill>
                <a:schemeClr val="bg1">
                  <a:lumMod val="95000"/>
                </a:schemeClr>
              </a:solidFill>
            </a:endParaRPr>
          </a:p>
          <a:p>
            <a:pPr marL="285750" lvl="0" indent="-285750">
              <a:buFont typeface="Courier New" panose="02070309020205020404" pitchFamily="49" charset="0"/>
              <a:buChar char="o"/>
            </a:pPr>
            <a:r>
              <a:rPr lang="en-US" b="1" dirty="0">
                <a:solidFill>
                  <a:schemeClr val="bg1">
                    <a:lumMod val="95000"/>
                  </a:schemeClr>
                </a:solidFill>
              </a:rPr>
              <a:t>ISP (</a:t>
            </a:r>
            <a:r>
              <a:rPr lang="en-US" b="1" dirty="0" err="1">
                <a:solidFill>
                  <a:schemeClr val="bg1">
                    <a:lumMod val="95000"/>
                  </a:schemeClr>
                </a:solidFill>
              </a:rPr>
              <a:t>Segregación</a:t>
            </a:r>
            <a:r>
              <a:rPr lang="en-US" b="1" dirty="0">
                <a:solidFill>
                  <a:schemeClr val="bg1">
                    <a:lumMod val="95000"/>
                  </a:schemeClr>
                </a:solidFill>
              </a:rPr>
              <a:t> de Interfaces):</a:t>
            </a:r>
            <a:br>
              <a:rPr lang="en-US" dirty="0">
                <a:solidFill>
                  <a:schemeClr val="bg1">
                    <a:lumMod val="95000"/>
                  </a:schemeClr>
                </a:solidFill>
              </a:rPr>
            </a:br>
            <a:r>
              <a:rPr lang="en-US" dirty="0">
                <a:solidFill>
                  <a:schemeClr val="bg1">
                    <a:lumMod val="95000"/>
                  </a:schemeClr>
                </a:solidFill>
              </a:rPr>
              <a:t>Las interfaces </a:t>
            </a:r>
            <a:r>
              <a:rPr lang="en-US" dirty="0" err="1">
                <a:solidFill>
                  <a:schemeClr val="bg1">
                    <a:lumMod val="95000"/>
                  </a:schemeClr>
                </a:solidFill>
              </a:rPr>
              <a:t>deben</a:t>
            </a:r>
            <a:r>
              <a:rPr lang="en-US" dirty="0">
                <a:solidFill>
                  <a:schemeClr val="bg1">
                    <a:lumMod val="95000"/>
                  </a:schemeClr>
                </a:solidFill>
              </a:rPr>
              <a:t> ser </a:t>
            </a:r>
            <a:r>
              <a:rPr lang="en-US" dirty="0" err="1">
                <a:solidFill>
                  <a:schemeClr val="bg1">
                    <a:lumMod val="95000"/>
                  </a:schemeClr>
                </a:solidFill>
              </a:rPr>
              <a:t>específicas</a:t>
            </a:r>
            <a:r>
              <a:rPr lang="en-US" dirty="0">
                <a:solidFill>
                  <a:schemeClr val="bg1">
                    <a:lumMod val="95000"/>
                  </a:schemeClr>
                </a:solidFill>
              </a:rPr>
              <a:t>.</a:t>
            </a:r>
            <a:br>
              <a:rPr lang="en-US" dirty="0">
                <a:solidFill>
                  <a:schemeClr val="bg1">
                    <a:lumMod val="95000"/>
                  </a:schemeClr>
                </a:solidFill>
              </a:rPr>
            </a:br>
            <a:r>
              <a:rPr lang="en-US" dirty="0">
                <a:solidFill>
                  <a:schemeClr val="bg1">
                    <a:lumMod val="95000"/>
                  </a:schemeClr>
                </a:solidFill>
              </a:rPr>
              <a:t>Ejemplo: una </a:t>
            </a:r>
            <a:r>
              <a:rPr lang="en-US" dirty="0" err="1">
                <a:solidFill>
                  <a:schemeClr val="bg1">
                    <a:lumMod val="95000"/>
                  </a:schemeClr>
                </a:solidFill>
              </a:rPr>
              <a:t>interfaz</a:t>
            </a:r>
            <a:r>
              <a:rPr lang="en-US" dirty="0">
                <a:solidFill>
                  <a:schemeClr val="bg1">
                    <a:lumMod val="95000"/>
                  </a:schemeClr>
                </a:solidFill>
              </a:rPr>
              <a:t> </a:t>
            </a:r>
            <a:r>
              <a:rPr lang="en-US" i="1" dirty="0" err="1">
                <a:solidFill>
                  <a:schemeClr val="bg1">
                    <a:lumMod val="95000"/>
                  </a:schemeClr>
                </a:solidFill>
              </a:rPr>
              <a:t>IDescargable</a:t>
            </a:r>
            <a:r>
              <a:rPr lang="en-US" dirty="0">
                <a:solidFill>
                  <a:schemeClr val="bg1">
                    <a:lumMod val="95000"/>
                  </a:schemeClr>
                </a:solidFill>
              </a:rPr>
              <a:t> solo para usuarios Premium. </a:t>
            </a:r>
            <a:endParaRPr lang="es-PE" dirty="0">
              <a:solidFill>
                <a:schemeClr val="bg1">
                  <a:lumMod val="95000"/>
                </a:schemeClr>
              </a:solidFill>
            </a:endParaRPr>
          </a:p>
          <a:p>
            <a:pPr marL="285750" lvl="0" indent="-285750">
              <a:buFont typeface="Courier New" panose="02070309020205020404" pitchFamily="49" charset="0"/>
              <a:buChar char="o"/>
            </a:pPr>
            <a:r>
              <a:rPr lang="en-US" b="1" dirty="0">
                <a:solidFill>
                  <a:schemeClr val="bg1">
                    <a:lumMod val="95000"/>
                  </a:schemeClr>
                </a:solidFill>
              </a:rPr>
              <a:t>DIP (</a:t>
            </a:r>
            <a:r>
              <a:rPr lang="en-US" b="1" dirty="0" err="1">
                <a:solidFill>
                  <a:schemeClr val="bg1">
                    <a:lumMod val="95000"/>
                  </a:schemeClr>
                </a:solidFill>
              </a:rPr>
              <a:t>Inversión</a:t>
            </a:r>
            <a:r>
              <a:rPr lang="en-US" b="1" dirty="0">
                <a:solidFill>
                  <a:schemeClr val="bg1">
                    <a:lumMod val="95000"/>
                  </a:schemeClr>
                </a:solidFill>
              </a:rPr>
              <a:t> de </a:t>
            </a:r>
            <a:r>
              <a:rPr lang="en-US" b="1" dirty="0" err="1">
                <a:solidFill>
                  <a:schemeClr val="bg1">
                    <a:lumMod val="95000"/>
                  </a:schemeClr>
                </a:solidFill>
              </a:rPr>
              <a:t>Dependencias</a:t>
            </a:r>
            <a:r>
              <a:rPr lang="en-US" b="1" dirty="0">
                <a:solidFill>
                  <a:schemeClr val="bg1">
                    <a:lumMod val="95000"/>
                  </a:schemeClr>
                </a:solidFill>
              </a:rPr>
              <a:t>):</a:t>
            </a:r>
            <a:br>
              <a:rPr lang="en-US" dirty="0">
                <a:solidFill>
                  <a:schemeClr val="bg1">
                    <a:lumMod val="95000"/>
                  </a:schemeClr>
                </a:solidFill>
              </a:rPr>
            </a:br>
            <a:r>
              <a:rPr lang="en-US" dirty="0">
                <a:solidFill>
                  <a:schemeClr val="bg1">
                    <a:lumMod val="95000"/>
                  </a:schemeClr>
                </a:solidFill>
              </a:rPr>
              <a:t>Las </a:t>
            </a:r>
            <a:r>
              <a:rPr lang="en-US" dirty="0" err="1">
                <a:solidFill>
                  <a:schemeClr val="bg1">
                    <a:lumMod val="95000"/>
                  </a:schemeClr>
                </a:solidFill>
              </a:rPr>
              <a:t>clases</a:t>
            </a:r>
            <a:r>
              <a:rPr lang="en-US" dirty="0">
                <a:solidFill>
                  <a:schemeClr val="bg1">
                    <a:lumMod val="95000"/>
                  </a:schemeClr>
                </a:solidFill>
              </a:rPr>
              <a:t> </a:t>
            </a:r>
            <a:r>
              <a:rPr lang="en-US" dirty="0" err="1">
                <a:solidFill>
                  <a:schemeClr val="bg1">
                    <a:lumMod val="95000"/>
                  </a:schemeClr>
                </a:solidFill>
              </a:rPr>
              <a:t>dependen</a:t>
            </a:r>
            <a:r>
              <a:rPr lang="en-US" dirty="0">
                <a:solidFill>
                  <a:schemeClr val="bg1">
                    <a:lumMod val="95000"/>
                  </a:schemeClr>
                </a:solidFill>
              </a:rPr>
              <a:t> de interfaces, no de </a:t>
            </a:r>
            <a:r>
              <a:rPr lang="en-US" dirty="0" err="1">
                <a:solidFill>
                  <a:schemeClr val="bg1">
                    <a:lumMod val="95000"/>
                  </a:schemeClr>
                </a:solidFill>
              </a:rPr>
              <a:t>implementaciones</a:t>
            </a:r>
            <a:r>
              <a:rPr lang="en-US" dirty="0">
                <a:solidFill>
                  <a:schemeClr val="bg1">
                    <a:lumMod val="95000"/>
                  </a:schemeClr>
                </a:solidFill>
              </a:rPr>
              <a:t>.</a:t>
            </a:r>
            <a:br>
              <a:rPr lang="en-US" dirty="0">
                <a:solidFill>
                  <a:schemeClr val="bg1">
                    <a:lumMod val="95000"/>
                  </a:schemeClr>
                </a:solidFill>
              </a:rPr>
            </a:br>
            <a:r>
              <a:rPr lang="en-US" dirty="0">
                <a:solidFill>
                  <a:schemeClr val="bg1">
                    <a:lumMod val="95000"/>
                  </a:schemeClr>
                </a:solidFill>
              </a:rPr>
              <a:t>Ejemplo: el </a:t>
            </a:r>
            <a:r>
              <a:rPr lang="en-US" dirty="0" err="1">
                <a:solidFill>
                  <a:schemeClr val="bg1">
                    <a:lumMod val="95000"/>
                  </a:schemeClr>
                </a:solidFill>
              </a:rPr>
              <a:t>reproductor</a:t>
            </a:r>
            <a:r>
              <a:rPr lang="en-US" dirty="0">
                <a:solidFill>
                  <a:schemeClr val="bg1">
                    <a:lumMod val="95000"/>
                  </a:schemeClr>
                </a:solidFill>
              </a:rPr>
              <a:t> </a:t>
            </a:r>
            <a:r>
              <a:rPr lang="en-US" dirty="0" err="1">
                <a:solidFill>
                  <a:schemeClr val="bg1">
                    <a:lumMod val="95000"/>
                  </a:schemeClr>
                </a:solidFill>
              </a:rPr>
              <a:t>usa</a:t>
            </a:r>
            <a:r>
              <a:rPr lang="en-US" dirty="0">
                <a:solidFill>
                  <a:schemeClr val="bg1">
                    <a:lumMod val="95000"/>
                  </a:schemeClr>
                </a:solidFill>
              </a:rPr>
              <a:t> </a:t>
            </a:r>
            <a:r>
              <a:rPr lang="en-US" i="1" dirty="0" err="1">
                <a:solidFill>
                  <a:schemeClr val="bg1">
                    <a:lumMod val="95000"/>
                  </a:schemeClr>
                </a:solidFill>
              </a:rPr>
              <a:t>IContenido</a:t>
            </a:r>
            <a:r>
              <a:rPr lang="en-US" dirty="0">
                <a:solidFill>
                  <a:schemeClr val="bg1">
                    <a:lumMod val="95000"/>
                  </a:schemeClr>
                </a:solidFill>
              </a:rPr>
              <a:t> </a:t>
            </a:r>
            <a:r>
              <a:rPr lang="en-US" dirty="0" err="1">
                <a:solidFill>
                  <a:schemeClr val="bg1">
                    <a:lumMod val="95000"/>
                  </a:schemeClr>
                </a:solidFill>
              </a:rPr>
              <a:t>en</a:t>
            </a:r>
            <a:r>
              <a:rPr lang="en-US" dirty="0">
                <a:solidFill>
                  <a:schemeClr val="bg1">
                    <a:lumMod val="95000"/>
                  </a:schemeClr>
                </a:solidFill>
              </a:rPr>
              <a:t> </a:t>
            </a:r>
            <a:r>
              <a:rPr lang="en-US" dirty="0" err="1">
                <a:solidFill>
                  <a:schemeClr val="bg1">
                    <a:lumMod val="95000"/>
                  </a:schemeClr>
                </a:solidFill>
              </a:rPr>
              <a:t>lugar</a:t>
            </a:r>
            <a:r>
              <a:rPr lang="en-US" dirty="0">
                <a:solidFill>
                  <a:schemeClr val="bg1">
                    <a:lumMod val="95000"/>
                  </a:schemeClr>
                </a:solidFill>
              </a:rPr>
              <a:t> de una clase </a:t>
            </a:r>
            <a:r>
              <a:rPr lang="en-US" dirty="0" err="1">
                <a:solidFill>
                  <a:schemeClr val="bg1">
                    <a:lumMod val="95000"/>
                  </a:schemeClr>
                </a:solidFill>
              </a:rPr>
              <a:t>concreta</a:t>
            </a:r>
            <a:r>
              <a:rPr lang="en-US" dirty="0">
                <a:solidFill>
                  <a:schemeClr val="bg1">
                    <a:lumMod val="95000"/>
                  </a:schemeClr>
                </a:solidFill>
              </a:rPr>
              <a:t>. </a:t>
            </a:r>
            <a:endParaRPr lang="es-PE" dirty="0">
              <a:solidFill>
                <a:schemeClr val="bg1">
                  <a:lumMod val="95000"/>
                </a:schemeClr>
              </a:solidFill>
            </a:endParaRPr>
          </a:p>
          <a:p>
            <a:endParaRPr lang="es-PE" dirty="0"/>
          </a:p>
        </p:txBody>
      </p:sp>
    </p:spTree>
    <p:extLst>
      <p:ext uri="{BB962C8B-B14F-4D97-AF65-F5344CB8AC3E}">
        <p14:creationId xmlns:p14="http://schemas.microsoft.com/office/powerpoint/2010/main" val="194301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53135-1564-404D-EE0E-60D8FF9225E4}"/>
            </a:ext>
          </a:extLst>
        </p:cNvPr>
        <p:cNvGrpSpPr/>
        <p:nvPr/>
      </p:nvGrpSpPr>
      <p:grpSpPr>
        <a:xfrm>
          <a:off x="0" y="0"/>
          <a:ext cx="0" cy="0"/>
          <a:chOff x="0" y="0"/>
          <a:chExt cx="0" cy="0"/>
        </a:xfrm>
      </p:grpSpPr>
      <p:pic>
        <p:nvPicPr>
          <p:cNvPr id="4" name="Imagen 3" descr="Descargar Ellogotipo De Spotify Se Ve Sobre Un Fondo Negro. | Wallpapers.com">
            <a:extLst>
              <a:ext uri="{FF2B5EF4-FFF2-40B4-BE49-F238E27FC236}">
                <a16:creationId xmlns:a16="http://schemas.microsoft.com/office/drawing/2014/main" id="{DED23C80-2046-8DFD-4E6B-FBE86EB68CA0}"/>
              </a:ext>
            </a:extLst>
          </p:cNvPr>
          <p:cNvPicPr>
            <a:picLocks noChangeAspect="1"/>
          </p:cNvPicPr>
          <p:nvPr/>
        </p:nvPicPr>
        <p:blipFill>
          <a:blip r:embed="rId2"/>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39BE59DF-D431-8B95-29E5-C7248A0583E5}"/>
              </a:ext>
            </a:extLst>
          </p:cNvPr>
          <p:cNvSpPr txBox="1"/>
          <p:nvPr/>
        </p:nvSpPr>
        <p:spPr>
          <a:xfrm>
            <a:off x="135467" y="160867"/>
            <a:ext cx="11506200" cy="923330"/>
          </a:xfrm>
          <a:prstGeom prst="rect">
            <a:avLst/>
          </a:prstGeom>
          <a:noFill/>
        </p:spPr>
        <p:txBody>
          <a:bodyPr wrap="square" rtlCol="0">
            <a:spAutoFit/>
          </a:bodyPr>
          <a:lstStyle/>
          <a:p>
            <a:r>
              <a:rPr lang="es-MX" dirty="0">
                <a:solidFill>
                  <a:schemeClr val="bg1"/>
                </a:solidFill>
              </a:rPr>
              <a:t>2. Diseña en C# una jerarquía de clases para representar los tipos de contenido de Spotify. ¿Qué atributos y métodos compartiría la clase base? ¿Qué sobrescribirían las clases derivadas?</a:t>
            </a:r>
          </a:p>
          <a:p>
            <a:endParaRPr lang="es-PE" dirty="0"/>
          </a:p>
        </p:txBody>
      </p:sp>
      <p:sp>
        <p:nvSpPr>
          <p:cNvPr id="3" name="CuadroTexto 2">
            <a:extLst>
              <a:ext uri="{FF2B5EF4-FFF2-40B4-BE49-F238E27FC236}">
                <a16:creationId xmlns:a16="http://schemas.microsoft.com/office/drawing/2014/main" id="{D62C8E22-5B1C-A4BC-8677-BDAC1C62941B}"/>
              </a:ext>
            </a:extLst>
          </p:cNvPr>
          <p:cNvSpPr txBox="1"/>
          <p:nvPr/>
        </p:nvSpPr>
        <p:spPr>
          <a:xfrm>
            <a:off x="127001" y="1312333"/>
            <a:ext cx="3911600" cy="2308324"/>
          </a:xfrm>
          <a:prstGeom prst="rect">
            <a:avLst/>
          </a:prstGeom>
          <a:noFill/>
        </p:spPr>
        <p:txBody>
          <a:bodyPr wrap="square" rtlCol="0">
            <a:spAutoFit/>
          </a:bodyPr>
          <a:lstStyle/>
          <a:p>
            <a:pPr marL="285750" indent="-285750">
              <a:buFont typeface="Wingdings" panose="05000000000000000000" pitchFamily="2" charset="2"/>
              <a:buChar char="q"/>
            </a:pPr>
            <a:r>
              <a:rPr lang="es-MX" dirty="0">
                <a:solidFill>
                  <a:schemeClr val="bg1"/>
                </a:solidFill>
              </a:rPr>
              <a:t>Tipo de contenido:</a:t>
            </a:r>
          </a:p>
          <a:p>
            <a:endParaRPr lang="es-MX" dirty="0">
              <a:solidFill>
                <a:schemeClr val="bg1"/>
              </a:solidFill>
            </a:endParaRPr>
          </a:p>
          <a:p>
            <a:pPr marL="285750" indent="-285750">
              <a:buFontTx/>
              <a:buChar char="-"/>
            </a:pPr>
            <a:r>
              <a:rPr lang="es-MX" dirty="0">
                <a:solidFill>
                  <a:schemeClr val="bg1"/>
                </a:solidFill>
              </a:rPr>
              <a:t>Clase de base </a:t>
            </a:r>
          </a:p>
          <a:p>
            <a:pPr marL="285750" indent="-285750">
              <a:buFontTx/>
              <a:buChar char="-"/>
            </a:pPr>
            <a:r>
              <a:rPr lang="es-MX" dirty="0">
                <a:solidFill>
                  <a:schemeClr val="bg1"/>
                </a:solidFill>
              </a:rPr>
              <a:t>Clases derivadas : canción</a:t>
            </a:r>
          </a:p>
          <a:p>
            <a:pPr marL="285750" indent="-285750">
              <a:buFontTx/>
              <a:buChar char="-"/>
            </a:pPr>
            <a:r>
              <a:rPr lang="es-MX" dirty="0" err="1">
                <a:solidFill>
                  <a:schemeClr val="bg1"/>
                </a:solidFill>
              </a:rPr>
              <a:t>Class</a:t>
            </a:r>
            <a:r>
              <a:rPr lang="es-MX" dirty="0">
                <a:solidFill>
                  <a:schemeClr val="bg1"/>
                </a:solidFill>
              </a:rPr>
              <a:t> podcast </a:t>
            </a:r>
          </a:p>
          <a:p>
            <a:pPr marL="285750" indent="-285750">
              <a:buFontTx/>
              <a:buChar char="-"/>
            </a:pPr>
            <a:r>
              <a:rPr lang="es-MX" dirty="0" err="1">
                <a:solidFill>
                  <a:schemeClr val="bg1"/>
                </a:solidFill>
              </a:rPr>
              <a:t>Autolibro</a:t>
            </a:r>
            <a:endParaRPr lang="es-MX" dirty="0">
              <a:solidFill>
                <a:schemeClr val="bg1"/>
              </a:solidFill>
            </a:endParaRPr>
          </a:p>
          <a:p>
            <a:pPr marL="285750" indent="-285750">
              <a:buFontTx/>
              <a:buChar char="-"/>
            </a:pPr>
            <a:endParaRPr lang="es-MX" dirty="0">
              <a:solidFill>
                <a:schemeClr val="bg1"/>
              </a:solidFill>
            </a:endParaRPr>
          </a:p>
          <a:p>
            <a:pPr marL="285750" indent="-285750">
              <a:buFontTx/>
              <a:buChar char="-"/>
            </a:pPr>
            <a:endParaRPr lang="es-PE" dirty="0">
              <a:solidFill>
                <a:schemeClr val="bg1"/>
              </a:solidFill>
            </a:endParaRPr>
          </a:p>
        </p:txBody>
      </p:sp>
      <p:sp>
        <p:nvSpPr>
          <p:cNvPr id="5" name="CuadroTexto 4">
            <a:extLst>
              <a:ext uri="{FF2B5EF4-FFF2-40B4-BE49-F238E27FC236}">
                <a16:creationId xmlns:a16="http://schemas.microsoft.com/office/drawing/2014/main" id="{D4FC6724-1025-5566-5B66-01A190178F20}"/>
              </a:ext>
            </a:extLst>
          </p:cNvPr>
          <p:cNvSpPr txBox="1"/>
          <p:nvPr/>
        </p:nvSpPr>
        <p:spPr>
          <a:xfrm>
            <a:off x="372533" y="3620657"/>
            <a:ext cx="3285067" cy="2862322"/>
          </a:xfrm>
          <a:prstGeom prst="rect">
            <a:avLst/>
          </a:prstGeom>
          <a:noFill/>
          <a:ln w="19050">
            <a:solidFill>
              <a:srgbClr val="00B050"/>
            </a:solidFill>
          </a:ln>
        </p:spPr>
        <p:txBody>
          <a:bodyPr wrap="square" rtlCol="0">
            <a:spAutoFit/>
          </a:bodyPr>
          <a:lstStyle/>
          <a:p>
            <a:r>
              <a:rPr lang="es-MX" b="1" dirty="0">
                <a:solidFill>
                  <a:schemeClr val="bg1"/>
                </a:solidFill>
              </a:rPr>
              <a:t>Lo que comparte en la clase base.</a:t>
            </a:r>
          </a:p>
          <a:p>
            <a:r>
              <a:rPr lang="es-MX" dirty="0">
                <a:solidFill>
                  <a:schemeClr val="bg1"/>
                </a:solidFill>
              </a:rPr>
              <a:t>son:</a:t>
            </a:r>
          </a:p>
          <a:p>
            <a:r>
              <a:rPr lang="es-MX" dirty="0">
                <a:solidFill>
                  <a:schemeClr val="bg1"/>
                </a:solidFill>
              </a:rPr>
              <a:t>Id </a:t>
            </a:r>
          </a:p>
          <a:p>
            <a:r>
              <a:rPr lang="es-MX" dirty="0">
                <a:solidFill>
                  <a:schemeClr val="bg1"/>
                </a:solidFill>
              </a:rPr>
              <a:t>Titulo </a:t>
            </a:r>
          </a:p>
          <a:p>
            <a:r>
              <a:rPr lang="es-MX" dirty="0">
                <a:solidFill>
                  <a:schemeClr val="bg1"/>
                </a:solidFill>
              </a:rPr>
              <a:t>Duración </a:t>
            </a:r>
          </a:p>
          <a:p>
            <a:r>
              <a:rPr lang="es-MX" dirty="0">
                <a:solidFill>
                  <a:schemeClr val="bg1"/>
                </a:solidFill>
              </a:rPr>
              <a:t>Método Reproducir() (abstracto) </a:t>
            </a:r>
          </a:p>
          <a:p>
            <a:r>
              <a:rPr lang="es-MX" dirty="0">
                <a:solidFill>
                  <a:schemeClr val="bg1"/>
                </a:solidFill>
              </a:rPr>
              <a:t>Método ObtenerInfo() (virtual)</a:t>
            </a:r>
          </a:p>
          <a:p>
            <a:endParaRPr lang="es-PE" dirty="0"/>
          </a:p>
        </p:txBody>
      </p:sp>
      <p:sp>
        <p:nvSpPr>
          <p:cNvPr id="6" name="Rectángulo: esquinas redondeadas 5">
            <a:extLst>
              <a:ext uri="{FF2B5EF4-FFF2-40B4-BE49-F238E27FC236}">
                <a16:creationId xmlns:a16="http://schemas.microsoft.com/office/drawing/2014/main" id="{8CAE7510-E188-FD9A-2999-52DFD7A89792}"/>
              </a:ext>
            </a:extLst>
          </p:cNvPr>
          <p:cNvSpPr/>
          <p:nvPr/>
        </p:nvSpPr>
        <p:spPr>
          <a:xfrm>
            <a:off x="3340100" y="1191274"/>
            <a:ext cx="4504267" cy="2148132"/>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Y sobreescribe las clases como: </a:t>
            </a:r>
          </a:p>
          <a:p>
            <a:pPr marL="285750" indent="-285750" algn="ctr">
              <a:buFont typeface="Arial" panose="020B0604020202020204" pitchFamily="34" charset="0"/>
              <a:buChar char="•"/>
            </a:pPr>
            <a:r>
              <a:rPr lang="es-MX" dirty="0"/>
              <a:t>Reporducir()</a:t>
            </a:r>
          </a:p>
          <a:p>
            <a:pPr marL="285750" indent="-285750" algn="ctr">
              <a:buFont typeface="Arial" panose="020B0604020202020204" pitchFamily="34" charset="0"/>
              <a:buChar char="•"/>
            </a:pPr>
            <a:r>
              <a:rPr lang="es-MX" dirty="0"/>
              <a:t>Y opcional es ObternerInfo() </a:t>
            </a:r>
          </a:p>
          <a:p>
            <a:pPr algn="ctr"/>
            <a:endParaRPr lang="es-PE" dirty="0"/>
          </a:p>
        </p:txBody>
      </p:sp>
      <p:sp>
        <p:nvSpPr>
          <p:cNvPr id="7" name="Rectángulo: esquinas redondeadas 6">
            <a:extLst>
              <a:ext uri="{FF2B5EF4-FFF2-40B4-BE49-F238E27FC236}">
                <a16:creationId xmlns:a16="http://schemas.microsoft.com/office/drawing/2014/main" id="{E9EC051F-A704-C6C5-1D3A-3120B8EC3460}"/>
              </a:ext>
            </a:extLst>
          </p:cNvPr>
          <p:cNvSpPr/>
          <p:nvPr/>
        </p:nvSpPr>
        <p:spPr>
          <a:xfrm>
            <a:off x="4508501" y="3115733"/>
            <a:ext cx="3606799" cy="3581400"/>
          </a:xfrm>
          <a:prstGeom prst="round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E0000"/>
                </a:solidFill>
              </a:rPr>
              <a:t>Ejemplo:</a:t>
            </a:r>
          </a:p>
          <a:p>
            <a:pPr algn="ctr"/>
            <a:r>
              <a:rPr lang="en-US" sz="1200" dirty="0">
                <a:solidFill>
                  <a:srgbClr val="EE0000"/>
                </a:solidFill>
              </a:rPr>
              <a:t>public abstract class Contenido</a:t>
            </a:r>
            <a:br>
              <a:rPr lang="en-US" sz="1200" dirty="0">
                <a:solidFill>
                  <a:srgbClr val="EE0000"/>
                </a:solidFill>
              </a:rPr>
            </a:br>
            <a:r>
              <a:rPr lang="en-US" sz="1200" dirty="0">
                <a:solidFill>
                  <a:srgbClr val="EE0000"/>
                </a:solidFill>
              </a:rPr>
              <a:t>{</a:t>
            </a:r>
            <a:br>
              <a:rPr lang="en-US" sz="1200" dirty="0">
                <a:solidFill>
                  <a:srgbClr val="EE0000"/>
                </a:solidFill>
              </a:rPr>
            </a:br>
            <a:r>
              <a:rPr lang="en-US" sz="1200" dirty="0">
                <a:solidFill>
                  <a:srgbClr val="EE0000"/>
                </a:solidFill>
              </a:rPr>
              <a:t>    public string </a:t>
            </a:r>
            <a:r>
              <a:rPr lang="en-US" sz="1200" dirty="0" err="1">
                <a:solidFill>
                  <a:srgbClr val="EE0000"/>
                </a:solidFill>
              </a:rPr>
              <a:t>Titulo</a:t>
            </a:r>
            <a:r>
              <a:rPr lang="en-US" sz="1200" dirty="0">
                <a:solidFill>
                  <a:srgbClr val="EE0000"/>
                </a:solidFill>
              </a:rPr>
              <a:t> { get; set; }</a:t>
            </a:r>
            <a:br>
              <a:rPr lang="en-US" sz="1200" dirty="0">
                <a:solidFill>
                  <a:srgbClr val="EE0000"/>
                </a:solidFill>
              </a:rPr>
            </a:br>
            <a:r>
              <a:rPr lang="en-US" sz="1200" dirty="0">
                <a:solidFill>
                  <a:srgbClr val="EE0000"/>
                </a:solidFill>
              </a:rPr>
              <a:t>    public string Autor { get; set; }</a:t>
            </a:r>
            <a:br>
              <a:rPr lang="en-US" sz="1200" dirty="0">
                <a:solidFill>
                  <a:srgbClr val="EE0000"/>
                </a:solidFill>
              </a:rPr>
            </a:br>
            <a:r>
              <a:rPr lang="en-US" sz="1200" dirty="0">
                <a:solidFill>
                  <a:srgbClr val="EE0000"/>
                </a:solidFill>
              </a:rPr>
              <a:t>    public int </a:t>
            </a:r>
            <a:r>
              <a:rPr lang="en-US" sz="1200" dirty="0" err="1">
                <a:solidFill>
                  <a:srgbClr val="EE0000"/>
                </a:solidFill>
              </a:rPr>
              <a:t>Duracion</a:t>
            </a:r>
            <a:r>
              <a:rPr lang="en-US" sz="1200" dirty="0">
                <a:solidFill>
                  <a:srgbClr val="EE0000"/>
                </a:solidFill>
              </a:rPr>
              <a:t> { get; set; }</a:t>
            </a:r>
            <a:br>
              <a:rPr lang="en-US" sz="1200" dirty="0">
                <a:solidFill>
                  <a:srgbClr val="EE0000"/>
                </a:solidFill>
              </a:rPr>
            </a:br>
            <a:br>
              <a:rPr lang="en-US" sz="1200" dirty="0">
                <a:solidFill>
                  <a:srgbClr val="EE0000"/>
                </a:solidFill>
              </a:rPr>
            </a:br>
            <a:r>
              <a:rPr lang="en-US" sz="1200" dirty="0">
                <a:solidFill>
                  <a:srgbClr val="EE0000"/>
                </a:solidFill>
              </a:rPr>
              <a:t>    public abstract void </a:t>
            </a:r>
            <a:r>
              <a:rPr lang="en-US" sz="1200" dirty="0" err="1">
                <a:solidFill>
                  <a:srgbClr val="EE0000"/>
                </a:solidFill>
              </a:rPr>
              <a:t>Reproducir</a:t>
            </a:r>
            <a:r>
              <a:rPr lang="en-US" sz="1200" dirty="0">
                <a:solidFill>
                  <a:srgbClr val="EE0000"/>
                </a:solidFill>
              </a:rPr>
              <a:t>();</a:t>
            </a:r>
            <a:br>
              <a:rPr lang="en-US" sz="1200" dirty="0">
                <a:solidFill>
                  <a:srgbClr val="EE0000"/>
                </a:solidFill>
              </a:rPr>
            </a:br>
            <a:r>
              <a:rPr lang="en-US" sz="1200" dirty="0">
                <a:solidFill>
                  <a:srgbClr val="EE0000"/>
                </a:solidFill>
              </a:rPr>
              <a:t>}</a:t>
            </a:r>
            <a:br>
              <a:rPr lang="en-US" sz="1200" dirty="0">
                <a:solidFill>
                  <a:srgbClr val="EE0000"/>
                </a:solidFill>
              </a:rPr>
            </a:br>
            <a:br>
              <a:rPr lang="en-US" sz="1200" dirty="0">
                <a:solidFill>
                  <a:srgbClr val="EE0000"/>
                </a:solidFill>
              </a:rPr>
            </a:br>
            <a:r>
              <a:rPr lang="en-US" sz="1200" dirty="0">
                <a:solidFill>
                  <a:srgbClr val="EE0000"/>
                </a:solidFill>
              </a:rPr>
              <a:t>public class Cancion : Contenido</a:t>
            </a:r>
            <a:br>
              <a:rPr lang="en-US" sz="1200" dirty="0">
                <a:solidFill>
                  <a:srgbClr val="EE0000"/>
                </a:solidFill>
              </a:rPr>
            </a:br>
            <a:r>
              <a:rPr lang="en-US" sz="1200" dirty="0">
                <a:solidFill>
                  <a:srgbClr val="EE0000"/>
                </a:solidFill>
              </a:rPr>
              <a:t>{</a:t>
            </a:r>
            <a:br>
              <a:rPr lang="en-US" sz="1200" dirty="0">
                <a:solidFill>
                  <a:srgbClr val="EE0000"/>
                </a:solidFill>
              </a:rPr>
            </a:br>
            <a:r>
              <a:rPr lang="en-US" sz="1200" dirty="0">
                <a:solidFill>
                  <a:srgbClr val="EE0000"/>
                </a:solidFill>
              </a:rPr>
              <a:t>    public override void </a:t>
            </a:r>
            <a:r>
              <a:rPr lang="en-US" sz="1200" dirty="0" err="1">
                <a:solidFill>
                  <a:srgbClr val="EE0000"/>
                </a:solidFill>
              </a:rPr>
              <a:t>Reproducir</a:t>
            </a:r>
            <a:r>
              <a:rPr lang="en-US" sz="1200" dirty="0">
                <a:solidFill>
                  <a:srgbClr val="EE0000"/>
                </a:solidFill>
              </a:rPr>
              <a:t>()</a:t>
            </a:r>
            <a:br>
              <a:rPr lang="en-US" sz="1200" dirty="0">
                <a:solidFill>
                  <a:srgbClr val="EE0000"/>
                </a:solidFill>
              </a:rPr>
            </a:br>
            <a:r>
              <a:rPr lang="en-US" sz="1200" dirty="0">
                <a:solidFill>
                  <a:srgbClr val="EE0000"/>
                </a:solidFill>
              </a:rPr>
              <a:t>    {</a:t>
            </a:r>
            <a:br>
              <a:rPr lang="en-US" sz="1200" dirty="0">
                <a:solidFill>
                  <a:srgbClr val="EE0000"/>
                </a:solidFill>
              </a:rPr>
            </a:br>
            <a:r>
              <a:rPr lang="en-US" sz="1200" dirty="0">
                <a:solidFill>
                  <a:srgbClr val="EE0000"/>
                </a:solidFill>
              </a:rPr>
              <a:t>        </a:t>
            </a:r>
            <a:r>
              <a:rPr lang="en-US" sz="1200" dirty="0" err="1">
                <a:solidFill>
                  <a:srgbClr val="EE0000"/>
                </a:solidFill>
              </a:rPr>
              <a:t>Console.WriteLine</a:t>
            </a:r>
            <a:r>
              <a:rPr lang="en-US" sz="1200" dirty="0">
                <a:solidFill>
                  <a:srgbClr val="EE0000"/>
                </a:solidFill>
              </a:rPr>
              <a:t>("</a:t>
            </a:r>
            <a:r>
              <a:rPr lang="en-US" sz="1200" dirty="0" err="1">
                <a:solidFill>
                  <a:srgbClr val="EE0000"/>
                </a:solidFill>
              </a:rPr>
              <a:t>Reproduciendo</a:t>
            </a:r>
            <a:r>
              <a:rPr lang="en-US" sz="1200" dirty="0">
                <a:solidFill>
                  <a:srgbClr val="EE0000"/>
                </a:solidFill>
              </a:rPr>
              <a:t> canción");</a:t>
            </a:r>
            <a:br>
              <a:rPr lang="en-US" sz="1200" dirty="0">
                <a:solidFill>
                  <a:srgbClr val="EE0000"/>
                </a:solidFill>
              </a:rPr>
            </a:br>
            <a:r>
              <a:rPr lang="en-US" sz="1200" dirty="0">
                <a:solidFill>
                  <a:srgbClr val="EE0000"/>
                </a:solidFill>
              </a:rPr>
              <a:t>    }</a:t>
            </a:r>
            <a:br>
              <a:rPr lang="en-US" sz="1200" dirty="0">
                <a:solidFill>
                  <a:srgbClr val="EE0000"/>
                </a:solidFill>
              </a:rPr>
            </a:br>
            <a:r>
              <a:rPr lang="en-US" sz="1200" dirty="0">
                <a:solidFill>
                  <a:srgbClr val="EE0000"/>
                </a:solidFill>
              </a:rPr>
              <a:t>}</a:t>
            </a:r>
            <a:endParaRPr lang="es-PE" sz="1200" dirty="0">
              <a:solidFill>
                <a:srgbClr val="EE0000"/>
              </a:solidFill>
            </a:endParaRPr>
          </a:p>
          <a:p>
            <a:pPr algn="ctr"/>
            <a:endParaRPr lang="es-PE" dirty="0"/>
          </a:p>
        </p:txBody>
      </p:sp>
    </p:spTree>
    <p:extLst>
      <p:ext uri="{BB962C8B-B14F-4D97-AF65-F5344CB8AC3E}">
        <p14:creationId xmlns:p14="http://schemas.microsoft.com/office/powerpoint/2010/main" val="3100550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89902-1EE3-467B-B31F-BE7D8F417939}"/>
            </a:ext>
          </a:extLst>
        </p:cNvPr>
        <p:cNvGrpSpPr/>
        <p:nvPr/>
      </p:nvGrpSpPr>
      <p:grpSpPr>
        <a:xfrm>
          <a:off x="0" y="0"/>
          <a:ext cx="0" cy="0"/>
          <a:chOff x="0" y="0"/>
          <a:chExt cx="0" cy="0"/>
        </a:xfrm>
      </p:grpSpPr>
      <p:pic>
        <p:nvPicPr>
          <p:cNvPr id="4" name="Imagen 3" descr="Descargar Ellogotipo De Spotify Se Ve Sobre Un Fondo Negro. | Wallpapers.com">
            <a:extLst>
              <a:ext uri="{FF2B5EF4-FFF2-40B4-BE49-F238E27FC236}">
                <a16:creationId xmlns:a16="http://schemas.microsoft.com/office/drawing/2014/main" id="{AF28EB79-4278-29D6-B9DD-7B5DB7B6F211}"/>
              </a:ext>
            </a:extLst>
          </p:cNvPr>
          <p:cNvPicPr>
            <a:picLocks noChangeAspect="1"/>
          </p:cNvPicPr>
          <p:nvPr/>
        </p:nvPicPr>
        <p:blipFill>
          <a:blip r:embed="rId2"/>
          <a:stretch>
            <a:fillRect/>
          </a:stretch>
        </p:blipFill>
        <p:spPr>
          <a:xfrm>
            <a:off x="0" y="-33868"/>
            <a:ext cx="12192000" cy="6858000"/>
          </a:xfrm>
          <a:prstGeom prst="rect">
            <a:avLst/>
          </a:prstGeom>
        </p:spPr>
      </p:pic>
      <p:sp>
        <p:nvSpPr>
          <p:cNvPr id="2" name="CuadroTexto 1">
            <a:extLst>
              <a:ext uri="{FF2B5EF4-FFF2-40B4-BE49-F238E27FC236}">
                <a16:creationId xmlns:a16="http://schemas.microsoft.com/office/drawing/2014/main" id="{02998908-E5DF-8643-E5B0-45130DAD2616}"/>
              </a:ext>
            </a:extLst>
          </p:cNvPr>
          <p:cNvSpPr txBox="1"/>
          <p:nvPr/>
        </p:nvSpPr>
        <p:spPr>
          <a:xfrm>
            <a:off x="254000" y="254000"/>
            <a:ext cx="10998200" cy="1200329"/>
          </a:xfrm>
          <a:prstGeom prst="rect">
            <a:avLst/>
          </a:prstGeom>
          <a:noFill/>
        </p:spPr>
        <p:txBody>
          <a:bodyPr wrap="square" rtlCol="0">
            <a:spAutoFit/>
          </a:bodyPr>
          <a:lstStyle/>
          <a:p>
            <a:r>
              <a:rPr lang="es-MX" dirty="0">
                <a:solidFill>
                  <a:schemeClr val="bg1"/>
                </a:solidFill>
              </a:rPr>
              <a:t>3. ¿Qué patrón de diseño usarías para notificar a los seguidores cuando un artista publica una nueva canción? Impleméntalo en C#.</a:t>
            </a:r>
          </a:p>
          <a:p>
            <a:br>
              <a:rPr lang="es-MX" dirty="0">
                <a:solidFill>
                  <a:schemeClr val="bg1"/>
                </a:solidFill>
              </a:rPr>
            </a:br>
            <a:endParaRPr lang="es-PE" dirty="0">
              <a:solidFill>
                <a:schemeClr val="bg1"/>
              </a:solidFill>
            </a:endParaRPr>
          </a:p>
        </p:txBody>
      </p:sp>
      <p:sp>
        <p:nvSpPr>
          <p:cNvPr id="3" name="CuadroTexto 2">
            <a:extLst>
              <a:ext uri="{FF2B5EF4-FFF2-40B4-BE49-F238E27FC236}">
                <a16:creationId xmlns:a16="http://schemas.microsoft.com/office/drawing/2014/main" id="{93E77AA8-834E-0D5D-2F0F-F0A29377DB48}"/>
              </a:ext>
            </a:extLst>
          </p:cNvPr>
          <p:cNvSpPr txBox="1"/>
          <p:nvPr/>
        </p:nvSpPr>
        <p:spPr>
          <a:xfrm>
            <a:off x="406400" y="778933"/>
            <a:ext cx="8458199" cy="2831544"/>
          </a:xfrm>
          <a:prstGeom prst="rect">
            <a:avLst/>
          </a:prstGeom>
          <a:noFill/>
        </p:spPr>
        <p:txBody>
          <a:bodyPr wrap="square" rtlCol="0">
            <a:spAutoFit/>
          </a:bodyPr>
          <a:lstStyle/>
          <a:p>
            <a:endParaRPr lang="en-US" dirty="0">
              <a:solidFill>
                <a:schemeClr val="bg1"/>
              </a:solidFill>
            </a:endParaRPr>
          </a:p>
          <a:p>
            <a:r>
              <a:rPr lang="en-US" dirty="0">
                <a:solidFill>
                  <a:schemeClr val="bg1"/>
                </a:solidFill>
              </a:rPr>
              <a:t>El patrón </a:t>
            </a:r>
            <a:r>
              <a:rPr lang="en-US" b="1" dirty="0">
                <a:solidFill>
                  <a:schemeClr val="bg1"/>
                </a:solidFill>
              </a:rPr>
              <a:t>Observer</a:t>
            </a:r>
            <a:r>
              <a:rPr lang="en-US" dirty="0">
                <a:solidFill>
                  <a:schemeClr val="bg1"/>
                </a:solidFill>
              </a:rPr>
              <a:t> permite que los usuarios reciban notificaciones cuando un artista publica contenido nuevo.</a:t>
            </a:r>
          </a:p>
          <a:p>
            <a:endParaRPr lang="en-US" dirty="0">
              <a:solidFill>
                <a:schemeClr val="bg1"/>
              </a:solidFill>
            </a:endParaRPr>
          </a:p>
          <a:p>
            <a:r>
              <a:rPr lang="en-US" sz="1100" b="1" dirty="0">
                <a:solidFill>
                  <a:schemeClr val="bg1"/>
                </a:solidFill>
              </a:rPr>
              <a:t>Funcionamiento:</a:t>
            </a:r>
            <a:endParaRPr lang="es-PE" sz="1100" b="1" dirty="0">
              <a:solidFill>
                <a:schemeClr val="bg1"/>
              </a:solidFill>
            </a:endParaRPr>
          </a:p>
          <a:p>
            <a:pPr lvl="0"/>
            <a:r>
              <a:rPr lang="en-US" sz="1100" dirty="0">
                <a:solidFill>
                  <a:schemeClr val="bg1"/>
                </a:solidFill>
              </a:rPr>
              <a:t>El artista es el sujeto (emisor) </a:t>
            </a:r>
            <a:endParaRPr lang="es-PE" sz="1100" dirty="0">
              <a:solidFill>
                <a:schemeClr val="bg1"/>
              </a:solidFill>
            </a:endParaRPr>
          </a:p>
          <a:p>
            <a:pPr lvl="0"/>
            <a:r>
              <a:rPr lang="en-US" sz="1100" dirty="0">
                <a:solidFill>
                  <a:schemeClr val="bg1"/>
                </a:solidFill>
              </a:rPr>
              <a:t>Los usuarios son observadores (suscriptores) </a:t>
            </a:r>
            <a:endParaRPr lang="es-PE" sz="1100" dirty="0">
              <a:solidFill>
                <a:schemeClr val="bg1"/>
              </a:solidFill>
            </a:endParaRPr>
          </a:p>
          <a:p>
            <a:pPr lvl="0"/>
            <a:r>
              <a:rPr lang="en-US" sz="1100" dirty="0">
                <a:solidFill>
                  <a:schemeClr val="bg1"/>
                </a:solidFill>
              </a:rPr>
              <a:t>Cuando el artista publica una canción, notifica a todos </a:t>
            </a:r>
          </a:p>
          <a:p>
            <a:pPr lvl="0"/>
            <a:endParaRPr lang="es-PE" sz="1100" dirty="0">
              <a:solidFill>
                <a:schemeClr val="bg1"/>
              </a:solidFill>
            </a:endParaRPr>
          </a:p>
          <a:p>
            <a:r>
              <a:rPr lang="en-US" sz="1100" b="1" dirty="0">
                <a:solidFill>
                  <a:schemeClr val="bg1"/>
                </a:solidFill>
              </a:rPr>
              <a:t>Ejemplo :</a:t>
            </a:r>
          </a:p>
          <a:p>
            <a:endParaRPr lang="es-PE" sz="1100" b="1" dirty="0">
              <a:solidFill>
                <a:schemeClr val="bg1"/>
              </a:solidFill>
            </a:endParaRPr>
          </a:p>
          <a:p>
            <a:br>
              <a:rPr lang="en-US" sz="1100" dirty="0">
                <a:solidFill>
                  <a:schemeClr val="bg1"/>
                </a:solidFill>
              </a:rPr>
            </a:br>
            <a:endParaRPr lang="es-PE" dirty="0">
              <a:solidFill>
                <a:schemeClr val="bg1"/>
              </a:solidFill>
            </a:endParaRPr>
          </a:p>
        </p:txBody>
      </p:sp>
      <p:sp>
        <p:nvSpPr>
          <p:cNvPr id="5" name="Rectángulo 4">
            <a:extLst>
              <a:ext uri="{FF2B5EF4-FFF2-40B4-BE49-F238E27FC236}">
                <a16:creationId xmlns:a16="http://schemas.microsoft.com/office/drawing/2014/main" id="{13CEBF81-E7C9-4B2D-8A07-1C7265BFC04E}"/>
              </a:ext>
            </a:extLst>
          </p:cNvPr>
          <p:cNvSpPr/>
          <p:nvPr/>
        </p:nvSpPr>
        <p:spPr>
          <a:xfrm>
            <a:off x="6726766" y="2194705"/>
            <a:ext cx="3801534" cy="4089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00000"/>
                </a:solidFill>
              </a:rPr>
              <a:t>public class Artista</a:t>
            </a:r>
            <a:br>
              <a:rPr lang="en-US" sz="1200" dirty="0">
                <a:solidFill>
                  <a:srgbClr val="C00000"/>
                </a:solidFill>
              </a:rPr>
            </a:br>
            <a:r>
              <a:rPr lang="en-US" sz="1200" dirty="0">
                <a:solidFill>
                  <a:srgbClr val="C00000"/>
                </a:solidFill>
              </a:rPr>
              <a:t>{</a:t>
            </a:r>
            <a:br>
              <a:rPr lang="en-US" sz="1200" dirty="0">
                <a:solidFill>
                  <a:srgbClr val="C00000"/>
                </a:solidFill>
              </a:rPr>
            </a:br>
            <a:r>
              <a:rPr lang="en-US" sz="1200" dirty="0">
                <a:solidFill>
                  <a:srgbClr val="C00000"/>
                </a:solidFill>
              </a:rPr>
              <a:t>    private List&lt;</a:t>
            </a:r>
            <a:r>
              <a:rPr lang="en-US" sz="1200" dirty="0" err="1">
                <a:solidFill>
                  <a:srgbClr val="C00000"/>
                </a:solidFill>
              </a:rPr>
              <a:t>IObserver</a:t>
            </a:r>
            <a:r>
              <a:rPr lang="en-US" sz="1200" dirty="0">
                <a:solidFill>
                  <a:srgbClr val="C00000"/>
                </a:solidFill>
              </a:rPr>
              <a:t>&gt; </a:t>
            </a:r>
            <a:r>
              <a:rPr lang="en-US" sz="1200" dirty="0" err="1">
                <a:solidFill>
                  <a:srgbClr val="C00000"/>
                </a:solidFill>
              </a:rPr>
              <a:t>seguidores</a:t>
            </a:r>
            <a:r>
              <a:rPr lang="en-US" sz="1200" dirty="0">
                <a:solidFill>
                  <a:srgbClr val="C00000"/>
                </a:solidFill>
              </a:rPr>
              <a:t> = new List&lt;</a:t>
            </a:r>
            <a:r>
              <a:rPr lang="en-US" sz="1200" dirty="0" err="1">
                <a:solidFill>
                  <a:srgbClr val="C00000"/>
                </a:solidFill>
              </a:rPr>
              <a:t>IObserver</a:t>
            </a:r>
            <a:r>
              <a:rPr lang="en-US" sz="1200" dirty="0">
                <a:solidFill>
                  <a:srgbClr val="C00000"/>
                </a:solidFill>
              </a:rPr>
              <a:t>&gt;();</a:t>
            </a:r>
            <a:br>
              <a:rPr lang="en-US" sz="1200" dirty="0">
                <a:solidFill>
                  <a:srgbClr val="C00000"/>
                </a:solidFill>
              </a:rPr>
            </a:br>
            <a:br>
              <a:rPr lang="en-US" sz="1200" dirty="0">
                <a:solidFill>
                  <a:srgbClr val="C00000"/>
                </a:solidFill>
              </a:rPr>
            </a:br>
            <a:r>
              <a:rPr lang="en-US" sz="1200" dirty="0">
                <a:solidFill>
                  <a:srgbClr val="C00000"/>
                </a:solidFill>
              </a:rPr>
              <a:t>    public void </a:t>
            </a:r>
            <a:r>
              <a:rPr lang="en-US" sz="1200" dirty="0" err="1">
                <a:solidFill>
                  <a:srgbClr val="C00000"/>
                </a:solidFill>
              </a:rPr>
              <a:t>Suscribir</a:t>
            </a:r>
            <a:r>
              <a:rPr lang="en-US" sz="1200" dirty="0">
                <a:solidFill>
                  <a:srgbClr val="C00000"/>
                </a:solidFill>
              </a:rPr>
              <a:t>(</a:t>
            </a:r>
            <a:r>
              <a:rPr lang="en-US" sz="1200" dirty="0" err="1">
                <a:solidFill>
                  <a:srgbClr val="C00000"/>
                </a:solidFill>
              </a:rPr>
              <a:t>IObserver</a:t>
            </a:r>
            <a:r>
              <a:rPr lang="en-US" sz="1200" dirty="0">
                <a:solidFill>
                  <a:srgbClr val="C00000"/>
                </a:solidFill>
              </a:rPr>
              <a:t> usuario)</a:t>
            </a:r>
            <a:br>
              <a:rPr lang="en-US" sz="1200" dirty="0">
                <a:solidFill>
                  <a:srgbClr val="C00000"/>
                </a:solidFill>
              </a:rPr>
            </a:br>
            <a:r>
              <a:rPr lang="en-US" sz="1200" dirty="0">
                <a:solidFill>
                  <a:srgbClr val="C00000"/>
                </a:solidFill>
              </a:rPr>
              <a:t>    {</a:t>
            </a:r>
            <a:br>
              <a:rPr lang="en-US" sz="1200" dirty="0">
                <a:solidFill>
                  <a:srgbClr val="C00000"/>
                </a:solidFill>
              </a:rPr>
            </a:br>
            <a:r>
              <a:rPr lang="en-US" sz="1200" dirty="0">
                <a:solidFill>
                  <a:srgbClr val="C00000"/>
                </a:solidFill>
              </a:rPr>
              <a:t>        </a:t>
            </a:r>
            <a:r>
              <a:rPr lang="en-US" sz="1200" dirty="0" err="1">
                <a:solidFill>
                  <a:srgbClr val="C00000"/>
                </a:solidFill>
              </a:rPr>
              <a:t>seguidores.Add</a:t>
            </a:r>
            <a:r>
              <a:rPr lang="en-US" sz="1200" dirty="0">
                <a:solidFill>
                  <a:srgbClr val="C00000"/>
                </a:solidFill>
              </a:rPr>
              <a:t>(usuario);</a:t>
            </a:r>
            <a:br>
              <a:rPr lang="en-US" sz="1200" dirty="0">
                <a:solidFill>
                  <a:srgbClr val="C00000"/>
                </a:solidFill>
              </a:rPr>
            </a:br>
            <a:r>
              <a:rPr lang="en-US" sz="1200" dirty="0">
                <a:solidFill>
                  <a:srgbClr val="C00000"/>
                </a:solidFill>
              </a:rPr>
              <a:t>    }</a:t>
            </a:r>
            <a:br>
              <a:rPr lang="en-US" sz="1200" dirty="0">
                <a:solidFill>
                  <a:srgbClr val="C00000"/>
                </a:solidFill>
              </a:rPr>
            </a:br>
            <a:br>
              <a:rPr lang="en-US" sz="1200" dirty="0">
                <a:solidFill>
                  <a:srgbClr val="C00000"/>
                </a:solidFill>
              </a:rPr>
            </a:br>
            <a:r>
              <a:rPr lang="en-US" sz="1200" dirty="0">
                <a:solidFill>
                  <a:srgbClr val="C00000"/>
                </a:solidFill>
              </a:rPr>
              <a:t>    public void </a:t>
            </a:r>
            <a:r>
              <a:rPr lang="en-US" sz="1200" dirty="0" err="1">
                <a:solidFill>
                  <a:srgbClr val="C00000"/>
                </a:solidFill>
              </a:rPr>
              <a:t>Publicar</a:t>
            </a:r>
            <a:r>
              <a:rPr lang="en-US" sz="1200" dirty="0">
                <a:solidFill>
                  <a:srgbClr val="C00000"/>
                </a:solidFill>
              </a:rPr>
              <a:t>(string cancion)</a:t>
            </a:r>
            <a:br>
              <a:rPr lang="en-US" sz="1200" dirty="0">
                <a:solidFill>
                  <a:srgbClr val="C00000"/>
                </a:solidFill>
              </a:rPr>
            </a:br>
            <a:r>
              <a:rPr lang="en-US" sz="1200" dirty="0">
                <a:solidFill>
                  <a:srgbClr val="C00000"/>
                </a:solidFill>
              </a:rPr>
              <a:t>    {</a:t>
            </a:r>
            <a:br>
              <a:rPr lang="en-US" sz="1200" dirty="0">
                <a:solidFill>
                  <a:srgbClr val="C00000"/>
                </a:solidFill>
              </a:rPr>
            </a:br>
            <a:r>
              <a:rPr lang="en-US" sz="1200" dirty="0">
                <a:solidFill>
                  <a:srgbClr val="C00000"/>
                </a:solidFill>
              </a:rPr>
              <a:t>        foreach (var </a:t>
            </a:r>
            <a:r>
              <a:rPr lang="en-US" sz="1200" dirty="0" err="1">
                <a:solidFill>
                  <a:srgbClr val="C00000"/>
                </a:solidFill>
              </a:rPr>
              <a:t>seguidor</a:t>
            </a:r>
            <a:r>
              <a:rPr lang="en-US" sz="1200" dirty="0">
                <a:solidFill>
                  <a:srgbClr val="C00000"/>
                </a:solidFill>
              </a:rPr>
              <a:t> in </a:t>
            </a:r>
            <a:r>
              <a:rPr lang="en-US" sz="1200" dirty="0" err="1">
                <a:solidFill>
                  <a:srgbClr val="C00000"/>
                </a:solidFill>
              </a:rPr>
              <a:t>seguidores</a:t>
            </a:r>
            <a:r>
              <a:rPr lang="en-US" sz="1200" dirty="0">
                <a:solidFill>
                  <a:srgbClr val="C00000"/>
                </a:solidFill>
              </a:rPr>
              <a:t>)</a:t>
            </a:r>
            <a:br>
              <a:rPr lang="en-US" sz="1200" dirty="0">
                <a:solidFill>
                  <a:srgbClr val="C00000"/>
                </a:solidFill>
              </a:rPr>
            </a:br>
            <a:r>
              <a:rPr lang="en-US" sz="1200" dirty="0">
                <a:solidFill>
                  <a:srgbClr val="C00000"/>
                </a:solidFill>
              </a:rPr>
              <a:t>        {</a:t>
            </a:r>
            <a:br>
              <a:rPr lang="en-US" sz="1200" dirty="0">
                <a:solidFill>
                  <a:srgbClr val="C00000"/>
                </a:solidFill>
              </a:rPr>
            </a:br>
            <a:r>
              <a:rPr lang="en-US" sz="1200" dirty="0">
                <a:solidFill>
                  <a:srgbClr val="C00000"/>
                </a:solidFill>
              </a:rPr>
              <a:t>            </a:t>
            </a:r>
            <a:r>
              <a:rPr lang="en-US" sz="1200" dirty="0" err="1">
                <a:solidFill>
                  <a:srgbClr val="C00000"/>
                </a:solidFill>
              </a:rPr>
              <a:t>seguidor.Actualizar</a:t>
            </a:r>
            <a:r>
              <a:rPr lang="en-US" sz="1200" dirty="0">
                <a:solidFill>
                  <a:srgbClr val="C00000"/>
                </a:solidFill>
              </a:rPr>
              <a:t>("Nueva canción: " + cancion);</a:t>
            </a:r>
            <a:br>
              <a:rPr lang="en-US" sz="1200" dirty="0">
                <a:solidFill>
                  <a:srgbClr val="C00000"/>
                </a:solidFill>
              </a:rPr>
            </a:br>
            <a:endParaRPr lang="es-PE" sz="1200" dirty="0">
              <a:solidFill>
                <a:srgbClr val="C00000"/>
              </a:solidFill>
            </a:endParaRPr>
          </a:p>
        </p:txBody>
      </p:sp>
      <p:sp>
        <p:nvSpPr>
          <p:cNvPr id="6" name="Rectángulo 5">
            <a:extLst>
              <a:ext uri="{FF2B5EF4-FFF2-40B4-BE49-F238E27FC236}">
                <a16:creationId xmlns:a16="http://schemas.microsoft.com/office/drawing/2014/main" id="{747039A0-2B70-FFBC-DC7E-FBDCF2D7CF2E}"/>
              </a:ext>
            </a:extLst>
          </p:cNvPr>
          <p:cNvSpPr/>
          <p:nvPr/>
        </p:nvSpPr>
        <p:spPr>
          <a:xfrm>
            <a:off x="340783" y="2920999"/>
            <a:ext cx="3615267" cy="357293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rPr>
              <a:t>public interface </a:t>
            </a:r>
            <a:r>
              <a:rPr lang="en-US" sz="1400" dirty="0" err="1">
                <a:solidFill>
                  <a:srgbClr val="C00000"/>
                </a:solidFill>
              </a:rPr>
              <a:t>IObserver</a:t>
            </a:r>
            <a:br>
              <a:rPr lang="en-US" sz="1400" dirty="0">
                <a:solidFill>
                  <a:srgbClr val="C00000"/>
                </a:solidFill>
              </a:rPr>
            </a:br>
            <a:r>
              <a:rPr lang="en-US" sz="1400" dirty="0">
                <a:solidFill>
                  <a:srgbClr val="C00000"/>
                </a:solidFill>
              </a:rPr>
              <a:t>{</a:t>
            </a:r>
            <a:br>
              <a:rPr lang="en-US" sz="1400" dirty="0">
                <a:solidFill>
                  <a:srgbClr val="C00000"/>
                </a:solidFill>
              </a:rPr>
            </a:br>
            <a:r>
              <a:rPr lang="en-US" sz="1400" dirty="0">
                <a:solidFill>
                  <a:srgbClr val="C00000"/>
                </a:solidFill>
              </a:rPr>
              <a:t>    void </a:t>
            </a:r>
            <a:r>
              <a:rPr lang="en-US" sz="1400" dirty="0" err="1">
                <a:solidFill>
                  <a:srgbClr val="C00000"/>
                </a:solidFill>
              </a:rPr>
              <a:t>Actualizar</a:t>
            </a:r>
            <a:r>
              <a:rPr lang="en-US" sz="1400" dirty="0">
                <a:solidFill>
                  <a:srgbClr val="C00000"/>
                </a:solidFill>
              </a:rPr>
              <a:t>(string </a:t>
            </a:r>
            <a:r>
              <a:rPr lang="en-US" sz="1400" dirty="0" err="1">
                <a:solidFill>
                  <a:srgbClr val="C00000"/>
                </a:solidFill>
              </a:rPr>
              <a:t>mensaje</a:t>
            </a:r>
            <a:r>
              <a:rPr lang="en-US" sz="1400" dirty="0">
                <a:solidFill>
                  <a:srgbClr val="C00000"/>
                </a:solidFill>
              </a:rPr>
              <a:t>);</a:t>
            </a:r>
            <a:br>
              <a:rPr lang="en-US" sz="1400" dirty="0">
                <a:solidFill>
                  <a:srgbClr val="C00000"/>
                </a:solidFill>
              </a:rPr>
            </a:br>
            <a:r>
              <a:rPr lang="en-US" sz="1400" dirty="0">
                <a:solidFill>
                  <a:srgbClr val="C00000"/>
                </a:solidFill>
              </a:rPr>
              <a:t>}</a:t>
            </a:r>
            <a:br>
              <a:rPr lang="en-US" sz="1400" dirty="0">
                <a:solidFill>
                  <a:srgbClr val="C00000"/>
                </a:solidFill>
              </a:rPr>
            </a:br>
            <a:br>
              <a:rPr lang="en-US" sz="1400" dirty="0">
                <a:solidFill>
                  <a:srgbClr val="C00000"/>
                </a:solidFill>
              </a:rPr>
            </a:br>
            <a:r>
              <a:rPr lang="en-US" sz="1400" dirty="0">
                <a:solidFill>
                  <a:srgbClr val="C00000"/>
                </a:solidFill>
              </a:rPr>
              <a:t>public class Usuario : </a:t>
            </a:r>
            <a:r>
              <a:rPr lang="en-US" sz="1400" dirty="0" err="1">
                <a:solidFill>
                  <a:srgbClr val="C00000"/>
                </a:solidFill>
              </a:rPr>
              <a:t>IObserver</a:t>
            </a:r>
            <a:br>
              <a:rPr lang="en-US" sz="1400" dirty="0">
                <a:solidFill>
                  <a:srgbClr val="C00000"/>
                </a:solidFill>
              </a:rPr>
            </a:br>
            <a:r>
              <a:rPr lang="en-US" sz="1400" dirty="0">
                <a:solidFill>
                  <a:srgbClr val="C00000"/>
                </a:solidFill>
              </a:rPr>
              <a:t>{</a:t>
            </a:r>
            <a:br>
              <a:rPr lang="en-US" sz="1400" dirty="0">
                <a:solidFill>
                  <a:srgbClr val="C00000"/>
                </a:solidFill>
              </a:rPr>
            </a:br>
            <a:r>
              <a:rPr lang="en-US" sz="1400" dirty="0">
                <a:solidFill>
                  <a:srgbClr val="C00000"/>
                </a:solidFill>
              </a:rPr>
              <a:t>    public void </a:t>
            </a:r>
            <a:r>
              <a:rPr lang="en-US" sz="1400" dirty="0" err="1">
                <a:solidFill>
                  <a:srgbClr val="C00000"/>
                </a:solidFill>
              </a:rPr>
              <a:t>Actualizar</a:t>
            </a:r>
            <a:r>
              <a:rPr lang="en-US" sz="1400" dirty="0">
                <a:solidFill>
                  <a:srgbClr val="C00000"/>
                </a:solidFill>
              </a:rPr>
              <a:t>(string </a:t>
            </a:r>
            <a:r>
              <a:rPr lang="en-US" sz="1400" dirty="0" err="1">
                <a:solidFill>
                  <a:srgbClr val="C00000"/>
                </a:solidFill>
              </a:rPr>
              <a:t>mensaje</a:t>
            </a:r>
            <a:r>
              <a:rPr lang="en-US" sz="1400" dirty="0">
                <a:solidFill>
                  <a:srgbClr val="C00000"/>
                </a:solidFill>
              </a:rPr>
              <a:t>)</a:t>
            </a:r>
            <a:br>
              <a:rPr lang="en-US" sz="1400" dirty="0">
                <a:solidFill>
                  <a:srgbClr val="C00000"/>
                </a:solidFill>
              </a:rPr>
            </a:br>
            <a:r>
              <a:rPr lang="en-US" sz="1400" dirty="0">
                <a:solidFill>
                  <a:srgbClr val="C00000"/>
                </a:solidFill>
              </a:rPr>
              <a:t>    {</a:t>
            </a:r>
            <a:br>
              <a:rPr lang="en-US" sz="1400" dirty="0">
                <a:solidFill>
                  <a:srgbClr val="C00000"/>
                </a:solidFill>
              </a:rPr>
            </a:br>
            <a:r>
              <a:rPr lang="en-US" sz="1400" dirty="0">
                <a:solidFill>
                  <a:srgbClr val="C00000"/>
                </a:solidFill>
              </a:rPr>
              <a:t>        </a:t>
            </a:r>
            <a:r>
              <a:rPr lang="en-US" sz="1400" dirty="0" err="1">
                <a:solidFill>
                  <a:srgbClr val="C00000"/>
                </a:solidFill>
              </a:rPr>
              <a:t>Console.WriteLine</a:t>
            </a:r>
            <a:r>
              <a:rPr lang="en-US" sz="1400" dirty="0">
                <a:solidFill>
                  <a:srgbClr val="C00000"/>
                </a:solidFill>
              </a:rPr>
              <a:t>("</a:t>
            </a:r>
            <a:r>
              <a:rPr lang="en-US" sz="1400" dirty="0" err="1">
                <a:solidFill>
                  <a:srgbClr val="C00000"/>
                </a:solidFill>
              </a:rPr>
              <a:t>Notificación</a:t>
            </a:r>
            <a:r>
              <a:rPr lang="en-US" sz="1400" dirty="0">
                <a:solidFill>
                  <a:srgbClr val="C00000"/>
                </a:solidFill>
              </a:rPr>
              <a:t>: " + </a:t>
            </a:r>
            <a:r>
              <a:rPr lang="en-US" sz="1400" dirty="0" err="1">
                <a:solidFill>
                  <a:srgbClr val="C00000"/>
                </a:solidFill>
              </a:rPr>
              <a:t>mensaje</a:t>
            </a:r>
            <a:r>
              <a:rPr lang="en-US" sz="1400" dirty="0">
                <a:solidFill>
                  <a:srgbClr val="C00000"/>
                </a:solidFill>
              </a:rPr>
              <a:t>);</a:t>
            </a:r>
            <a:br>
              <a:rPr lang="en-US" sz="1400" dirty="0">
                <a:solidFill>
                  <a:srgbClr val="C00000"/>
                </a:solidFill>
              </a:rPr>
            </a:br>
            <a:r>
              <a:rPr lang="en-US" sz="1400" dirty="0">
                <a:solidFill>
                  <a:srgbClr val="C00000"/>
                </a:solidFill>
              </a:rPr>
              <a:t>    }</a:t>
            </a:r>
            <a:br>
              <a:rPr lang="en-US" sz="1400" dirty="0">
                <a:solidFill>
                  <a:srgbClr val="C00000"/>
                </a:solidFill>
              </a:rPr>
            </a:br>
            <a:r>
              <a:rPr lang="en-US" sz="1400" dirty="0">
                <a:solidFill>
                  <a:srgbClr val="C00000"/>
                </a:solidFill>
              </a:rPr>
              <a:t>}</a:t>
            </a:r>
            <a:br>
              <a:rPr lang="en-US" sz="1400" dirty="0">
                <a:solidFill>
                  <a:schemeClr val="bg1"/>
                </a:solidFill>
              </a:rPr>
            </a:br>
            <a:endParaRPr lang="es-PE" sz="1400" dirty="0">
              <a:solidFill>
                <a:schemeClr val="bg1"/>
              </a:solidFill>
            </a:endParaRPr>
          </a:p>
          <a:p>
            <a:pPr algn="ctr"/>
            <a:endParaRPr lang="es-PE" dirty="0"/>
          </a:p>
        </p:txBody>
      </p:sp>
    </p:spTree>
    <p:extLst>
      <p:ext uri="{BB962C8B-B14F-4D97-AF65-F5344CB8AC3E}">
        <p14:creationId xmlns:p14="http://schemas.microsoft.com/office/powerpoint/2010/main" val="2877828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26AAF-2677-6834-A53A-8EBC944279A1}"/>
            </a:ext>
          </a:extLst>
        </p:cNvPr>
        <p:cNvGrpSpPr/>
        <p:nvPr/>
      </p:nvGrpSpPr>
      <p:grpSpPr>
        <a:xfrm>
          <a:off x="0" y="0"/>
          <a:ext cx="0" cy="0"/>
          <a:chOff x="0" y="0"/>
          <a:chExt cx="0" cy="0"/>
        </a:xfrm>
      </p:grpSpPr>
      <p:pic>
        <p:nvPicPr>
          <p:cNvPr id="4" name="Imagen 3" descr="Descargar Ellogotipo De Spotify Se Ve Sobre Un Fondo Negro. | Wallpapers.com">
            <a:extLst>
              <a:ext uri="{FF2B5EF4-FFF2-40B4-BE49-F238E27FC236}">
                <a16:creationId xmlns:a16="http://schemas.microsoft.com/office/drawing/2014/main" id="{86FD4C3B-9F81-10D9-FF86-33F46EF8FD56}"/>
              </a:ext>
            </a:extLst>
          </p:cNvPr>
          <p:cNvPicPr>
            <a:picLocks noChangeAspect="1"/>
          </p:cNvPicPr>
          <p:nvPr/>
        </p:nvPicPr>
        <p:blipFill>
          <a:blip r:embed="rId2"/>
          <a:stretch>
            <a:fillRect/>
          </a:stretch>
        </p:blipFill>
        <p:spPr>
          <a:xfrm>
            <a:off x="0" y="-33868"/>
            <a:ext cx="12192000" cy="6858000"/>
          </a:xfrm>
          <a:prstGeom prst="rect">
            <a:avLst/>
          </a:prstGeom>
        </p:spPr>
      </p:pic>
      <p:sp>
        <p:nvSpPr>
          <p:cNvPr id="2" name="CuadroTexto 1">
            <a:extLst>
              <a:ext uri="{FF2B5EF4-FFF2-40B4-BE49-F238E27FC236}">
                <a16:creationId xmlns:a16="http://schemas.microsoft.com/office/drawing/2014/main" id="{D08F1EA9-DE6C-4776-FA40-1AA6BB21A104}"/>
              </a:ext>
            </a:extLst>
          </p:cNvPr>
          <p:cNvSpPr txBox="1"/>
          <p:nvPr/>
        </p:nvSpPr>
        <p:spPr>
          <a:xfrm>
            <a:off x="254000" y="254000"/>
            <a:ext cx="10998200" cy="1200329"/>
          </a:xfrm>
          <a:prstGeom prst="rect">
            <a:avLst/>
          </a:prstGeom>
          <a:noFill/>
        </p:spPr>
        <p:txBody>
          <a:bodyPr wrap="square" rtlCol="0">
            <a:spAutoFit/>
          </a:bodyPr>
          <a:lstStyle/>
          <a:p>
            <a:r>
              <a:rPr lang="es-MX" dirty="0">
                <a:solidFill>
                  <a:schemeClr val="bg1"/>
                </a:solidFill>
              </a:rPr>
              <a:t>4.¿Cómo aplicarías el patrón Factory para crear instancias de distintos reproductores según el tipo de contenido y el plan del usuario (Free / Premium)?</a:t>
            </a:r>
          </a:p>
          <a:p>
            <a:br>
              <a:rPr lang="es-MX" dirty="0">
                <a:solidFill>
                  <a:schemeClr val="bg1"/>
                </a:solidFill>
              </a:rPr>
            </a:br>
            <a:endParaRPr lang="es-PE" dirty="0">
              <a:solidFill>
                <a:schemeClr val="bg1"/>
              </a:solidFill>
            </a:endParaRPr>
          </a:p>
        </p:txBody>
      </p:sp>
      <p:sp>
        <p:nvSpPr>
          <p:cNvPr id="3" name="CuadroTexto 2">
            <a:extLst>
              <a:ext uri="{FF2B5EF4-FFF2-40B4-BE49-F238E27FC236}">
                <a16:creationId xmlns:a16="http://schemas.microsoft.com/office/drawing/2014/main" id="{F3CB63C4-1582-0D0E-95E6-C1BC6C3733BC}"/>
              </a:ext>
            </a:extLst>
          </p:cNvPr>
          <p:cNvSpPr txBox="1"/>
          <p:nvPr/>
        </p:nvSpPr>
        <p:spPr>
          <a:xfrm>
            <a:off x="406400" y="778933"/>
            <a:ext cx="8458199" cy="707886"/>
          </a:xfrm>
          <a:prstGeom prst="rect">
            <a:avLst/>
          </a:prstGeom>
          <a:noFill/>
        </p:spPr>
        <p:txBody>
          <a:bodyPr wrap="square" rtlCol="0">
            <a:spAutoFit/>
          </a:bodyPr>
          <a:lstStyle/>
          <a:p>
            <a:endParaRPr lang="es-PE" sz="1100" b="1" dirty="0">
              <a:solidFill>
                <a:schemeClr val="bg1"/>
              </a:solidFill>
            </a:endParaRPr>
          </a:p>
          <a:p>
            <a:br>
              <a:rPr lang="en-US" sz="1100" dirty="0">
                <a:solidFill>
                  <a:schemeClr val="bg1"/>
                </a:solidFill>
              </a:rPr>
            </a:br>
            <a:endParaRPr lang="es-PE" dirty="0">
              <a:solidFill>
                <a:schemeClr val="bg1"/>
              </a:solidFill>
            </a:endParaRPr>
          </a:p>
        </p:txBody>
      </p:sp>
      <p:sp>
        <p:nvSpPr>
          <p:cNvPr id="7" name="Rectángulo: esquinas redondeadas 6">
            <a:extLst>
              <a:ext uri="{FF2B5EF4-FFF2-40B4-BE49-F238E27FC236}">
                <a16:creationId xmlns:a16="http://schemas.microsoft.com/office/drawing/2014/main" id="{1D296A73-6F00-1D08-20BE-CBDE5164F7F6}"/>
              </a:ext>
            </a:extLst>
          </p:cNvPr>
          <p:cNvSpPr/>
          <p:nvPr/>
        </p:nvSpPr>
        <p:spPr>
          <a:xfrm>
            <a:off x="406400" y="1742197"/>
            <a:ext cx="5858933" cy="3903134"/>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Para aplicar el patrón Factory en este escenario, </a:t>
            </a:r>
          </a:p>
          <a:p>
            <a:pPr algn="ctr"/>
            <a:r>
              <a:rPr lang="es-MX" dirty="0"/>
              <a:t>lo ideal es utilizar el Factory </a:t>
            </a:r>
            <a:r>
              <a:rPr lang="es-MX" dirty="0" err="1"/>
              <a:t>Method</a:t>
            </a:r>
            <a:r>
              <a:rPr lang="es-MX" dirty="0"/>
              <a:t> o un </a:t>
            </a:r>
            <a:r>
              <a:rPr lang="es-MX" dirty="0" err="1"/>
              <a:t>Abstract</a:t>
            </a:r>
            <a:r>
              <a:rPr lang="es-MX" dirty="0"/>
              <a:t> Factory. </a:t>
            </a:r>
          </a:p>
          <a:p>
            <a:pPr algn="ctr"/>
            <a:r>
              <a:rPr lang="es-MX" dirty="0"/>
              <a:t>Este patrón permite centralizar la lógica de instanciación, </a:t>
            </a:r>
          </a:p>
          <a:p>
            <a:pPr algn="ctr"/>
            <a:r>
              <a:rPr lang="es-MX" dirty="0"/>
              <a:t>ocultando la complejidad de decidir qué reproductor entregar </a:t>
            </a:r>
          </a:p>
          <a:p>
            <a:pPr algn="ctr"/>
            <a:r>
              <a:rPr lang="es-MX" dirty="0"/>
              <a:t>según las reglas de negocio (como el plan del usuario).</a:t>
            </a:r>
          </a:p>
          <a:p>
            <a:pPr algn="ctr"/>
            <a:endParaRPr lang="es-PE" dirty="0"/>
          </a:p>
        </p:txBody>
      </p:sp>
    </p:spTree>
    <p:extLst>
      <p:ext uri="{BB962C8B-B14F-4D97-AF65-F5344CB8AC3E}">
        <p14:creationId xmlns:p14="http://schemas.microsoft.com/office/powerpoint/2010/main" val="2658452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8E57-4BE5-1987-71BC-6C14450E3AA3}"/>
            </a:ext>
          </a:extLst>
        </p:cNvPr>
        <p:cNvGrpSpPr/>
        <p:nvPr/>
      </p:nvGrpSpPr>
      <p:grpSpPr>
        <a:xfrm>
          <a:off x="0" y="0"/>
          <a:ext cx="0" cy="0"/>
          <a:chOff x="0" y="0"/>
          <a:chExt cx="0" cy="0"/>
        </a:xfrm>
      </p:grpSpPr>
      <p:pic>
        <p:nvPicPr>
          <p:cNvPr id="4" name="Imagen 3" descr="Descargar Ellogotipo De Spotify Se Ve Sobre Un Fondo Negro. | Wallpapers.com">
            <a:extLst>
              <a:ext uri="{FF2B5EF4-FFF2-40B4-BE49-F238E27FC236}">
                <a16:creationId xmlns:a16="http://schemas.microsoft.com/office/drawing/2014/main" id="{A1AD9DC1-B5B0-895E-FF52-D6BCF819EB4E}"/>
              </a:ext>
            </a:extLst>
          </p:cNvPr>
          <p:cNvPicPr>
            <a:picLocks noChangeAspect="1"/>
          </p:cNvPicPr>
          <p:nvPr/>
        </p:nvPicPr>
        <p:blipFill>
          <a:blip r:embed="rId2"/>
          <a:stretch>
            <a:fillRect/>
          </a:stretch>
        </p:blipFill>
        <p:spPr>
          <a:xfrm>
            <a:off x="0" y="-33868"/>
            <a:ext cx="12192000" cy="6858000"/>
          </a:xfrm>
          <a:prstGeom prst="rect">
            <a:avLst/>
          </a:prstGeom>
        </p:spPr>
      </p:pic>
      <p:sp>
        <p:nvSpPr>
          <p:cNvPr id="2" name="CuadroTexto 1">
            <a:extLst>
              <a:ext uri="{FF2B5EF4-FFF2-40B4-BE49-F238E27FC236}">
                <a16:creationId xmlns:a16="http://schemas.microsoft.com/office/drawing/2014/main" id="{B9959687-961D-D6C8-EB95-315B388F03C7}"/>
              </a:ext>
            </a:extLst>
          </p:cNvPr>
          <p:cNvSpPr txBox="1"/>
          <p:nvPr/>
        </p:nvSpPr>
        <p:spPr>
          <a:xfrm>
            <a:off x="254000" y="254000"/>
            <a:ext cx="10998200" cy="1200329"/>
          </a:xfrm>
          <a:prstGeom prst="rect">
            <a:avLst/>
          </a:prstGeom>
          <a:noFill/>
        </p:spPr>
        <p:txBody>
          <a:bodyPr wrap="square" rtlCol="0">
            <a:spAutoFit/>
          </a:bodyPr>
          <a:lstStyle/>
          <a:p>
            <a:r>
              <a:rPr lang="es-MX" dirty="0">
                <a:solidFill>
                  <a:schemeClr val="bg1"/>
                </a:solidFill>
              </a:rPr>
              <a:t>5. ¿Qué patrón de diseño usarías para notificar a los seguidores cuando un artista publica una nueva canción? Impleméntalo en C#.</a:t>
            </a:r>
          </a:p>
          <a:p>
            <a:br>
              <a:rPr lang="es-MX" dirty="0">
                <a:solidFill>
                  <a:schemeClr val="bg1"/>
                </a:solidFill>
              </a:rPr>
            </a:br>
            <a:endParaRPr lang="es-PE" dirty="0">
              <a:solidFill>
                <a:schemeClr val="bg1"/>
              </a:solidFill>
            </a:endParaRPr>
          </a:p>
        </p:txBody>
      </p:sp>
      <p:sp>
        <p:nvSpPr>
          <p:cNvPr id="3" name="CuadroTexto 2">
            <a:extLst>
              <a:ext uri="{FF2B5EF4-FFF2-40B4-BE49-F238E27FC236}">
                <a16:creationId xmlns:a16="http://schemas.microsoft.com/office/drawing/2014/main" id="{CBF92A50-E5D7-AE57-9925-9757EF8451B9}"/>
              </a:ext>
            </a:extLst>
          </p:cNvPr>
          <p:cNvSpPr txBox="1"/>
          <p:nvPr/>
        </p:nvSpPr>
        <p:spPr>
          <a:xfrm>
            <a:off x="406400" y="778933"/>
            <a:ext cx="8458199" cy="538609"/>
          </a:xfrm>
          <a:prstGeom prst="rect">
            <a:avLst/>
          </a:prstGeom>
          <a:noFill/>
        </p:spPr>
        <p:txBody>
          <a:bodyPr wrap="square" rtlCol="0">
            <a:spAutoFit/>
          </a:bodyPr>
          <a:lstStyle/>
          <a:p>
            <a:br>
              <a:rPr lang="en-US" sz="1100" dirty="0">
                <a:solidFill>
                  <a:schemeClr val="bg1"/>
                </a:solidFill>
              </a:rPr>
            </a:br>
            <a:endParaRPr lang="es-PE" dirty="0">
              <a:solidFill>
                <a:schemeClr val="bg1"/>
              </a:solidFill>
            </a:endParaRPr>
          </a:p>
        </p:txBody>
      </p:sp>
      <p:sp>
        <p:nvSpPr>
          <p:cNvPr id="5" name="Rectángulo 4">
            <a:extLst>
              <a:ext uri="{FF2B5EF4-FFF2-40B4-BE49-F238E27FC236}">
                <a16:creationId xmlns:a16="http://schemas.microsoft.com/office/drawing/2014/main" id="{049471BF-5D0D-5F65-FB00-FF64D05FF3DD}"/>
              </a:ext>
            </a:extLst>
          </p:cNvPr>
          <p:cNvSpPr/>
          <p:nvPr/>
        </p:nvSpPr>
        <p:spPr>
          <a:xfrm>
            <a:off x="254000" y="1540933"/>
            <a:ext cx="8297333" cy="5063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dirty="0"/>
              <a:t>Ventajas:</a:t>
            </a:r>
          </a:p>
          <a:p>
            <a:r>
              <a:rPr lang="es-MX" dirty="0"/>
              <a:t>Múltiples Roles: Un Usuario puede ser un </a:t>
            </a:r>
            <a:r>
              <a:rPr lang="es-MX" dirty="0" err="1"/>
              <a:t>ISeguidor</a:t>
            </a:r>
            <a:r>
              <a:rPr lang="es-MX" dirty="0"/>
              <a:t>, </a:t>
            </a:r>
          </a:p>
          <a:p>
            <a:r>
              <a:rPr lang="es-MX" dirty="0"/>
              <a:t>pero también podría ser un </a:t>
            </a:r>
            <a:r>
              <a:rPr lang="es-MX" dirty="0" err="1"/>
              <a:t>IAutor</a:t>
            </a:r>
            <a:r>
              <a:rPr lang="es-MX" dirty="0"/>
              <a:t> o un </a:t>
            </a:r>
            <a:r>
              <a:rPr lang="es-MX" dirty="0" err="1"/>
              <a:t>IAdministrador</a:t>
            </a:r>
            <a:r>
              <a:rPr lang="es-MX" dirty="0"/>
              <a:t>. </a:t>
            </a:r>
          </a:p>
          <a:p>
            <a:r>
              <a:rPr lang="es-MX" dirty="0"/>
              <a:t>Con interfaces, una misma clase puede cumplir todos esos roles </a:t>
            </a:r>
          </a:p>
          <a:p>
            <a:r>
              <a:rPr lang="es-MX" dirty="0"/>
              <a:t>simultáneamente.</a:t>
            </a:r>
          </a:p>
          <a:p>
            <a:r>
              <a:rPr lang="es-MX" dirty="0"/>
              <a:t>Desacoplamiento Total: Al usar </a:t>
            </a:r>
            <a:r>
              <a:rPr lang="es-MX" dirty="0" err="1"/>
              <a:t>IReproductor</a:t>
            </a:r>
            <a:r>
              <a:rPr lang="es-MX" dirty="0"/>
              <a:t>, la fábrica puede devolver </a:t>
            </a:r>
          </a:p>
          <a:p>
            <a:r>
              <a:rPr lang="es-MX" dirty="0"/>
              <a:t>cualquier cosa que implemente esa interfaz, </a:t>
            </a:r>
          </a:p>
          <a:p>
            <a:r>
              <a:rPr lang="es-MX" dirty="0"/>
              <a:t>incluso si provienen de familias de clases totalmente distintas.</a:t>
            </a:r>
          </a:p>
          <a:p>
            <a:r>
              <a:rPr lang="es-MX" dirty="0"/>
              <a:t>Cuando usar una y otra:</a:t>
            </a:r>
          </a:p>
          <a:p>
            <a:r>
              <a:rPr lang="es-MX" dirty="0"/>
              <a:t>Usa una Interfaz cuando:</a:t>
            </a:r>
          </a:p>
          <a:p>
            <a:r>
              <a:rPr lang="es-MX" dirty="0"/>
              <a:t>Necesitas definir un comportamiento común entre clases que no están relacionadas </a:t>
            </a:r>
          </a:p>
          <a:p>
            <a:r>
              <a:rPr lang="es-MX" dirty="0"/>
              <a:t>Quieres aprovechar la herencia múltiple.</a:t>
            </a:r>
          </a:p>
          <a:p>
            <a:r>
              <a:rPr lang="es-MX" dirty="0"/>
              <a:t>Usa una Clase Abstracta cuando:</a:t>
            </a:r>
          </a:p>
          <a:p>
            <a:r>
              <a:rPr lang="es-MX" dirty="0"/>
              <a:t>Quieres compartir código entre varias clases estrechamente relacionadas. </a:t>
            </a:r>
          </a:p>
          <a:p>
            <a:r>
              <a:rPr lang="es-MX" dirty="0"/>
              <a:t>Necesitas definir campos o estados (como una variable _</a:t>
            </a:r>
            <a:r>
              <a:rPr lang="es-MX" dirty="0" err="1"/>
              <a:t>volumenActual</a:t>
            </a:r>
            <a:r>
              <a:rPr lang="es-MX" dirty="0"/>
              <a:t>) que todas las subclases deben tener.</a:t>
            </a:r>
          </a:p>
          <a:p>
            <a:pPr algn="ctr"/>
            <a:endParaRPr lang="es-PE" dirty="0"/>
          </a:p>
        </p:txBody>
      </p:sp>
    </p:spTree>
    <p:extLst>
      <p:ext uri="{BB962C8B-B14F-4D97-AF65-F5344CB8AC3E}">
        <p14:creationId xmlns:p14="http://schemas.microsoft.com/office/powerpoint/2010/main" val="4042422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335E2-9D84-9FBB-8DF7-486A2039431A}"/>
            </a:ext>
          </a:extLst>
        </p:cNvPr>
        <p:cNvGrpSpPr/>
        <p:nvPr/>
      </p:nvGrpSpPr>
      <p:grpSpPr>
        <a:xfrm>
          <a:off x="0" y="0"/>
          <a:ext cx="0" cy="0"/>
          <a:chOff x="0" y="0"/>
          <a:chExt cx="0" cy="0"/>
        </a:xfrm>
      </p:grpSpPr>
      <p:pic>
        <p:nvPicPr>
          <p:cNvPr id="4" name="Imagen 3" descr="Descargar Ellogotipo De Spotify Se Ve Sobre Un Fondo Negro. | Wallpapers.com">
            <a:extLst>
              <a:ext uri="{FF2B5EF4-FFF2-40B4-BE49-F238E27FC236}">
                <a16:creationId xmlns:a16="http://schemas.microsoft.com/office/drawing/2014/main" id="{3A0A6529-D166-8338-2E78-6A74754C1482}"/>
              </a:ext>
            </a:extLst>
          </p:cNvPr>
          <p:cNvPicPr>
            <a:picLocks noChangeAspect="1"/>
          </p:cNvPicPr>
          <p:nvPr/>
        </p:nvPicPr>
        <p:blipFill>
          <a:blip r:embed="rId2"/>
          <a:stretch>
            <a:fillRect/>
          </a:stretch>
        </p:blipFill>
        <p:spPr>
          <a:xfrm>
            <a:off x="0" y="-33868"/>
            <a:ext cx="12192000" cy="6858000"/>
          </a:xfrm>
          <a:prstGeom prst="rect">
            <a:avLst/>
          </a:prstGeom>
        </p:spPr>
      </p:pic>
      <p:sp>
        <p:nvSpPr>
          <p:cNvPr id="2" name="CuadroTexto 1">
            <a:extLst>
              <a:ext uri="{FF2B5EF4-FFF2-40B4-BE49-F238E27FC236}">
                <a16:creationId xmlns:a16="http://schemas.microsoft.com/office/drawing/2014/main" id="{316FDC4B-7486-131F-DF15-1B0C4ACCBA9F}"/>
              </a:ext>
            </a:extLst>
          </p:cNvPr>
          <p:cNvSpPr txBox="1"/>
          <p:nvPr/>
        </p:nvSpPr>
        <p:spPr>
          <a:xfrm>
            <a:off x="254000" y="254000"/>
            <a:ext cx="10998200" cy="1200329"/>
          </a:xfrm>
          <a:prstGeom prst="rect">
            <a:avLst/>
          </a:prstGeom>
          <a:noFill/>
        </p:spPr>
        <p:txBody>
          <a:bodyPr wrap="square" rtlCol="0">
            <a:spAutoFit/>
          </a:bodyPr>
          <a:lstStyle/>
          <a:p>
            <a:r>
              <a:rPr lang="es-MX" dirty="0">
                <a:solidFill>
                  <a:schemeClr val="bg1"/>
                </a:solidFill>
              </a:rPr>
              <a:t>6 . Si el equipo de Spotify necesitara agregar un nuevo tipo de contenido (por ejemplo, audiolibros interactivos) sin modificar el código existente, ¿qué principio SOLID garantizaría eso y cómo lo implementarías?</a:t>
            </a:r>
          </a:p>
          <a:p>
            <a:r>
              <a:rPr lang="es-MX" dirty="0">
                <a:solidFill>
                  <a:schemeClr val="bg1"/>
                </a:solidFill>
              </a:rPr>
              <a:t> </a:t>
            </a:r>
            <a:br>
              <a:rPr lang="es-MX" dirty="0">
                <a:solidFill>
                  <a:schemeClr val="bg1"/>
                </a:solidFill>
              </a:rPr>
            </a:br>
            <a:endParaRPr lang="es-PE" dirty="0">
              <a:solidFill>
                <a:schemeClr val="bg1"/>
              </a:solidFill>
            </a:endParaRPr>
          </a:p>
        </p:txBody>
      </p:sp>
      <p:sp>
        <p:nvSpPr>
          <p:cNvPr id="3" name="CuadroTexto 2">
            <a:extLst>
              <a:ext uri="{FF2B5EF4-FFF2-40B4-BE49-F238E27FC236}">
                <a16:creationId xmlns:a16="http://schemas.microsoft.com/office/drawing/2014/main" id="{3C9E1766-3ED4-DBB1-30ED-E1B731AAC734}"/>
              </a:ext>
            </a:extLst>
          </p:cNvPr>
          <p:cNvSpPr txBox="1"/>
          <p:nvPr/>
        </p:nvSpPr>
        <p:spPr>
          <a:xfrm>
            <a:off x="381000" y="1075267"/>
            <a:ext cx="8458199" cy="815608"/>
          </a:xfrm>
          <a:prstGeom prst="rect">
            <a:avLst/>
          </a:prstGeom>
          <a:noFill/>
        </p:spPr>
        <p:txBody>
          <a:bodyPr wrap="square" rtlCol="0">
            <a:spAutoFit/>
          </a:bodyPr>
          <a:lstStyle/>
          <a:p>
            <a:pPr marL="285750" indent="-285750">
              <a:buFontTx/>
              <a:buChar char="-"/>
            </a:pPr>
            <a:r>
              <a:rPr lang="es-MX" dirty="0">
                <a:solidFill>
                  <a:schemeClr val="bg1"/>
                </a:solidFill>
              </a:rPr>
              <a:t>Las clases deben estar abiertas a extensión, pero cerradas a modificación.</a:t>
            </a:r>
            <a:endParaRPr lang="es-PE" sz="1100" b="1" dirty="0">
              <a:solidFill>
                <a:schemeClr val="bg1"/>
              </a:solidFill>
            </a:endParaRPr>
          </a:p>
          <a:p>
            <a:br>
              <a:rPr lang="en-US" sz="1100" dirty="0">
                <a:solidFill>
                  <a:schemeClr val="bg1"/>
                </a:solidFill>
              </a:rPr>
            </a:br>
            <a:endParaRPr lang="es-PE" dirty="0">
              <a:solidFill>
                <a:schemeClr val="bg1"/>
              </a:solidFill>
            </a:endParaRPr>
          </a:p>
        </p:txBody>
      </p:sp>
      <p:sp>
        <p:nvSpPr>
          <p:cNvPr id="5" name="Rectángulo: esquinas redondeadas 4">
            <a:extLst>
              <a:ext uri="{FF2B5EF4-FFF2-40B4-BE49-F238E27FC236}">
                <a16:creationId xmlns:a16="http://schemas.microsoft.com/office/drawing/2014/main" id="{AC71EB7C-D534-BCC9-17CE-973F2F9A7D2F}"/>
              </a:ext>
            </a:extLst>
          </p:cNvPr>
          <p:cNvSpPr/>
          <p:nvPr/>
        </p:nvSpPr>
        <p:spPr>
          <a:xfrm>
            <a:off x="6096000" y="2571059"/>
            <a:ext cx="3522132" cy="3324590"/>
          </a:xfrm>
          <a:prstGeom prst="round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Base cerrada a cambios</a:t>
            </a:r>
            <a:endParaRPr lang="en-US" dirty="0">
              <a:solidFill>
                <a:schemeClr val="bg1"/>
              </a:solidFill>
            </a:endParaRPr>
          </a:p>
          <a:p>
            <a:pPr algn="ctr"/>
            <a:endParaRPr lang="es-PE" dirty="0"/>
          </a:p>
          <a:p>
            <a:pPr algn="ctr"/>
            <a:r>
              <a:rPr lang="es-PE" dirty="0" err="1"/>
              <a:t>abstract</a:t>
            </a:r>
            <a:r>
              <a:rPr lang="es-PE" dirty="0"/>
              <a:t> </a:t>
            </a:r>
            <a:r>
              <a:rPr lang="es-PE" dirty="0" err="1"/>
              <a:t>class</a:t>
            </a:r>
            <a:r>
              <a:rPr lang="es-PE" dirty="0"/>
              <a:t> Contenido</a:t>
            </a:r>
            <a:br>
              <a:rPr lang="es-PE" dirty="0"/>
            </a:br>
            <a:r>
              <a:rPr lang="es-PE" dirty="0"/>
              <a:t>{</a:t>
            </a:r>
            <a:br>
              <a:rPr lang="es-PE" dirty="0"/>
            </a:br>
            <a:r>
              <a:rPr lang="es-PE" dirty="0" err="1"/>
              <a:t>public</a:t>
            </a:r>
            <a:r>
              <a:rPr lang="es-PE" dirty="0"/>
              <a:t> </a:t>
            </a:r>
            <a:r>
              <a:rPr lang="es-PE" dirty="0" err="1"/>
              <a:t>string</a:t>
            </a:r>
            <a:r>
              <a:rPr lang="es-PE" dirty="0"/>
              <a:t> Titulo { </a:t>
            </a:r>
            <a:r>
              <a:rPr lang="es-PE" dirty="0" err="1"/>
              <a:t>get</a:t>
            </a:r>
            <a:r>
              <a:rPr lang="es-PE" dirty="0"/>
              <a:t>; set; }</a:t>
            </a:r>
            <a:br>
              <a:rPr lang="es-PE" dirty="0"/>
            </a:br>
            <a:r>
              <a:rPr lang="es-PE" dirty="0" err="1"/>
              <a:t>public</a:t>
            </a:r>
            <a:r>
              <a:rPr lang="es-PE" dirty="0"/>
              <a:t> </a:t>
            </a:r>
            <a:r>
              <a:rPr lang="es-PE" dirty="0" err="1"/>
              <a:t>double</a:t>
            </a:r>
            <a:r>
              <a:rPr lang="es-PE" dirty="0"/>
              <a:t> </a:t>
            </a:r>
            <a:r>
              <a:rPr lang="es-PE" dirty="0" err="1"/>
              <a:t>Duracion</a:t>
            </a:r>
            <a:r>
              <a:rPr lang="es-PE" dirty="0"/>
              <a:t> { </a:t>
            </a:r>
            <a:r>
              <a:rPr lang="es-PE" dirty="0" err="1"/>
              <a:t>get</a:t>
            </a:r>
            <a:r>
              <a:rPr lang="es-PE" dirty="0"/>
              <a:t>; set; }</a:t>
            </a:r>
            <a:br>
              <a:rPr lang="es-PE" dirty="0"/>
            </a:br>
            <a:br>
              <a:rPr lang="es-PE" dirty="0"/>
            </a:br>
            <a:r>
              <a:rPr lang="es-PE" dirty="0" err="1"/>
              <a:t>public</a:t>
            </a:r>
            <a:r>
              <a:rPr lang="es-PE" dirty="0"/>
              <a:t> </a:t>
            </a:r>
            <a:r>
              <a:rPr lang="es-PE" dirty="0" err="1"/>
              <a:t>abstract</a:t>
            </a:r>
            <a:r>
              <a:rPr lang="es-PE" dirty="0"/>
              <a:t> </a:t>
            </a:r>
            <a:r>
              <a:rPr lang="es-PE" dirty="0" err="1"/>
              <a:t>void</a:t>
            </a:r>
            <a:r>
              <a:rPr lang="es-PE" dirty="0"/>
              <a:t> Reproducir();</a:t>
            </a:r>
            <a:br>
              <a:rPr lang="es-PE" dirty="0"/>
            </a:br>
            <a:r>
              <a:rPr lang="es-PE" dirty="0"/>
              <a:t>}</a:t>
            </a:r>
          </a:p>
          <a:p>
            <a:pPr algn="ctr"/>
            <a:endParaRPr lang="es-PE" dirty="0"/>
          </a:p>
        </p:txBody>
      </p:sp>
      <p:sp>
        <p:nvSpPr>
          <p:cNvPr id="6" name="Rectángulo 5">
            <a:extLst>
              <a:ext uri="{FF2B5EF4-FFF2-40B4-BE49-F238E27FC236}">
                <a16:creationId xmlns:a16="http://schemas.microsoft.com/office/drawing/2014/main" id="{AB7A6F29-612B-939F-D47C-8DFAE6E2433C}"/>
              </a:ext>
            </a:extLst>
          </p:cNvPr>
          <p:cNvSpPr/>
          <p:nvPr/>
        </p:nvSpPr>
        <p:spPr>
          <a:xfrm>
            <a:off x="0" y="1744619"/>
            <a:ext cx="5139267" cy="46223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US" b="1" spc="50" dirty="0">
                <a:ln w="0"/>
                <a:solidFill>
                  <a:schemeClr val="bg1"/>
                </a:solidFill>
                <a:effectLst>
                  <a:innerShdw blurRad="63500" dist="50800" dir="13500000">
                    <a:srgbClr val="000000">
                      <a:alpha val="50000"/>
                    </a:srgbClr>
                  </a:innerShdw>
                </a:effectLst>
              </a:rPr>
              <a:t>¿Que garatiza el OPC?</a:t>
            </a:r>
          </a:p>
          <a:p>
            <a:pPr algn="ctr"/>
            <a:endParaRPr lang="en-US" b="1" spc="50" dirty="0">
              <a:ln w="0"/>
              <a:solidFill>
                <a:schemeClr val="bg1"/>
              </a:solidFill>
              <a:effectLst>
                <a:innerShdw blurRad="63500" dist="50800" dir="13500000">
                  <a:srgbClr val="000000">
                    <a:alpha val="50000"/>
                  </a:srgbClr>
                </a:innerShdw>
              </a:effectLst>
            </a:endParaRPr>
          </a:p>
          <a:p>
            <a:r>
              <a:rPr lang="es-MX" b="1" spc="50" dirty="0">
                <a:ln w="0"/>
                <a:solidFill>
                  <a:schemeClr val="bg1"/>
                </a:solidFill>
                <a:effectLst>
                  <a:innerShdw blurRad="63500" dist="50800" dir="13500000">
                    <a:srgbClr val="000000">
                      <a:alpha val="50000"/>
                    </a:srgbClr>
                  </a:innerShdw>
                </a:effectLst>
              </a:rPr>
              <a:t>El principio es el Open/Closed Principle (OCP), que establece que el sistema debe estar abierto a extensión pero cerrado a modificación. En el caso de Spotify, se implementa definiendo una clase base abstracta (Contenido) y creando nuevas clases derivadas como AudiolibroInteractivo sin modificar el código existente. Además, se puede usar una Factory extensible basada en registro dinámico para crear nuevas instancias sin alterar la lógica previa.</a:t>
            </a:r>
          </a:p>
          <a:p>
            <a:pPr algn="ctr"/>
            <a:endParaRPr lang="es-PE" b="1" dirty="0">
              <a:ln/>
              <a:solidFill>
                <a:schemeClr val="accent3"/>
              </a:solidFill>
            </a:endParaRPr>
          </a:p>
        </p:txBody>
      </p:sp>
    </p:spTree>
    <p:extLst>
      <p:ext uri="{BB962C8B-B14F-4D97-AF65-F5344CB8AC3E}">
        <p14:creationId xmlns:p14="http://schemas.microsoft.com/office/powerpoint/2010/main" val="2669681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FA2AC-6602-F142-8771-4B09747D53C7}"/>
            </a:ext>
          </a:extLst>
        </p:cNvPr>
        <p:cNvGrpSpPr/>
        <p:nvPr/>
      </p:nvGrpSpPr>
      <p:grpSpPr>
        <a:xfrm>
          <a:off x="0" y="0"/>
          <a:ext cx="0" cy="0"/>
          <a:chOff x="0" y="0"/>
          <a:chExt cx="0" cy="0"/>
        </a:xfrm>
      </p:grpSpPr>
      <p:pic>
        <p:nvPicPr>
          <p:cNvPr id="4" name="Imagen 3" descr="Descargar Ellogotipo De Spotify Se Ve Sobre Un Fondo Negro. | Wallpapers.com">
            <a:extLst>
              <a:ext uri="{FF2B5EF4-FFF2-40B4-BE49-F238E27FC236}">
                <a16:creationId xmlns:a16="http://schemas.microsoft.com/office/drawing/2014/main" id="{317DCC05-3BC3-AC9D-466A-25F04AA73915}"/>
              </a:ext>
            </a:extLst>
          </p:cNvPr>
          <p:cNvPicPr>
            <a:picLocks noChangeAspect="1"/>
          </p:cNvPicPr>
          <p:nvPr/>
        </p:nvPicPr>
        <p:blipFill>
          <a:blip r:embed="rId2"/>
          <a:stretch>
            <a:fillRect/>
          </a:stretch>
        </p:blipFill>
        <p:spPr>
          <a:xfrm>
            <a:off x="0" y="-33868"/>
            <a:ext cx="12192000" cy="6858000"/>
          </a:xfrm>
          <a:prstGeom prst="rect">
            <a:avLst/>
          </a:prstGeom>
        </p:spPr>
      </p:pic>
      <p:sp>
        <p:nvSpPr>
          <p:cNvPr id="2" name="CuadroTexto 1">
            <a:extLst>
              <a:ext uri="{FF2B5EF4-FFF2-40B4-BE49-F238E27FC236}">
                <a16:creationId xmlns:a16="http://schemas.microsoft.com/office/drawing/2014/main" id="{FC2ED6C1-EC68-A22B-3348-00337C0747B7}"/>
              </a:ext>
            </a:extLst>
          </p:cNvPr>
          <p:cNvSpPr txBox="1"/>
          <p:nvPr/>
        </p:nvSpPr>
        <p:spPr>
          <a:xfrm>
            <a:off x="254000" y="254000"/>
            <a:ext cx="10998200" cy="923330"/>
          </a:xfrm>
          <a:prstGeom prst="rect">
            <a:avLst/>
          </a:prstGeom>
          <a:noFill/>
        </p:spPr>
        <p:txBody>
          <a:bodyPr wrap="square" rtlCol="0">
            <a:spAutoFit/>
          </a:bodyPr>
          <a:lstStyle/>
          <a:p>
            <a:r>
              <a:rPr lang="es-MX" dirty="0">
                <a:solidFill>
                  <a:schemeClr val="bg1"/>
                </a:solidFill>
              </a:rPr>
              <a:t>7. Propón una mejora a la arquitectura de clases considerando escalabilidad y mantenibilidad a largo plazo.</a:t>
            </a:r>
          </a:p>
          <a:p>
            <a:br>
              <a:rPr lang="es-MX" dirty="0">
                <a:solidFill>
                  <a:schemeClr val="bg1"/>
                </a:solidFill>
              </a:rPr>
            </a:br>
            <a:endParaRPr lang="es-PE" dirty="0">
              <a:solidFill>
                <a:schemeClr val="bg1"/>
              </a:solidFill>
            </a:endParaRPr>
          </a:p>
        </p:txBody>
      </p:sp>
      <p:sp>
        <p:nvSpPr>
          <p:cNvPr id="3" name="CuadroTexto 2">
            <a:extLst>
              <a:ext uri="{FF2B5EF4-FFF2-40B4-BE49-F238E27FC236}">
                <a16:creationId xmlns:a16="http://schemas.microsoft.com/office/drawing/2014/main" id="{197B5E06-6CF9-3C66-50DA-DC3F2652D6D7}"/>
              </a:ext>
            </a:extLst>
          </p:cNvPr>
          <p:cNvSpPr txBox="1"/>
          <p:nvPr/>
        </p:nvSpPr>
        <p:spPr>
          <a:xfrm>
            <a:off x="160867" y="1007533"/>
            <a:ext cx="8458199" cy="2062103"/>
          </a:xfrm>
          <a:prstGeom prst="rect">
            <a:avLst/>
          </a:prstGeom>
          <a:noFill/>
        </p:spPr>
        <p:txBody>
          <a:bodyPr wrap="square" rtlCol="0">
            <a:spAutoFit/>
          </a:bodyPr>
          <a:lstStyle/>
          <a:p>
            <a:r>
              <a:rPr lang="es-PE" sz="1100" b="1" dirty="0">
                <a:solidFill>
                  <a:schemeClr val="bg1"/>
                </a:solidFill>
              </a:rPr>
              <a:t>S</a:t>
            </a:r>
            <a:r>
              <a:rPr lang="es-MX" sz="1100" dirty="0">
                <a:solidFill>
                  <a:schemeClr val="bg1"/>
                </a:solidFill>
              </a:rPr>
              <a:t>eparar el sistema en 3 capas</a:t>
            </a:r>
            <a:r>
              <a:rPr lang="es-MX" sz="1100" dirty="0"/>
              <a:t>:</a:t>
            </a:r>
          </a:p>
          <a:p>
            <a:endParaRPr lang="es-MX" sz="1100" b="1" dirty="0">
              <a:solidFill>
                <a:schemeClr val="bg1"/>
              </a:solidFill>
            </a:endParaRPr>
          </a:p>
          <a:p>
            <a:pPr marL="171450" indent="-171450">
              <a:buFont typeface="Wingdings" panose="05000000000000000000" pitchFamily="2" charset="2"/>
              <a:buChar char="ü"/>
            </a:pPr>
            <a:r>
              <a:rPr lang="es-MX" sz="1100" b="1" dirty="0">
                <a:solidFill>
                  <a:schemeClr val="bg1"/>
                </a:solidFill>
              </a:rPr>
              <a:t>Modelo </a:t>
            </a:r>
          </a:p>
          <a:p>
            <a:pPr marL="171450" indent="-171450">
              <a:buFont typeface="Wingdings" panose="05000000000000000000" pitchFamily="2" charset="2"/>
              <a:buChar char="ü"/>
            </a:pPr>
            <a:r>
              <a:rPr lang="es-MX" sz="1100" b="1" dirty="0">
                <a:solidFill>
                  <a:schemeClr val="bg1"/>
                </a:solidFill>
              </a:rPr>
              <a:t>Estrategias</a:t>
            </a:r>
          </a:p>
          <a:p>
            <a:r>
              <a:rPr lang="es-MX" sz="1100" b="1" dirty="0">
                <a:solidFill>
                  <a:schemeClr val="bg1"/>
                </a:solidFill>
              </a:rPr>
              <a:t>- Estrategias concretas </a:t>
            </a:r>
          </a:p>
          <a:p>
            <a:pPr marL="171450" indent="-171450">
              <a:buFont typeface="Arial" panose="020B0604020202020204" pitchFamily="34" charset="0"/>
              <a:buChar char="•"/>
            </a:pPr>
            <a:r>
              <a:rPr lang="es-PE" sz="1100" dirty="0" err="1">
                <a:solidFill>
                  <a:schemeClr val="bg1"/>
                </a:solidFill>
              </a:rPr>
              <a:t>class</a:t>
            </a:r>
            <a:r>
              <a:rPr lang="es-PE" sz="1100" dirty="0">
                <a:solidFill>
                  <a:schemeClr val="bg1"/>
                </a:solidFill>
              </a:rPr>
              <a:t> </a:t>
            </a:r>
            <a:r>
              <a:rPr lang="es-PE" sz="1100" dirty="0" err="1">
                <a:solidFill>
                  <a:schemeClr val="bg1"/>
                </a:solidFill>
              </a:rPr>
              <a:t>ModoFree</a:t>
            </a:r>
            <a:endParaRPr lang="es-PE" sz="1100" dirty="0">
              <a:solidFill>
                <a:schemeClr val="bg1"/>
              </a:solidFill>
            </a:endParaRPr>
          </a:p>
          <a:p>
            <a:pPr marL="171450" indent="-171450">
              <a:buFont typeface="Arial" panose="020B0604020202020204" pitchFamily="34" charset="0"/>
              <a:buChar char="•"/>
            </a:pPr>
            <a:r>
              <a:rPr lang="es-PE" sz="1100" b="1" dirty="0" err="1">
                <a:solidFill>
                  <a:schemeClr val="bg1"/>
                </a:solidFill>
              </a:rPr>
              <a:t>Class</a:t>
            </a:r>
            <a:r>
              <a:rPr lang="es-PE" sz="1100" b="1" dirty="0">
                <a:solidFill>
                  <a:schemeClr val="bg1"/>
                </a:solidFill>
              </a:rPr>
              <a:t> </a:t>
            </a:r>
            <a:r>
              <a:rPr lang="es-PE" sz="1100" b="1" dirty="0" err="1">
                <a:solidFill>
                  <a:schemeClr val="bg1"/>
                </a:solidFill>
              </a:rPr>
              <a:t>ModoPremiun</a:t>
            </a:r>
            <a:endParaRPr lang="es-PE" sz="1100" b="1" dirty="0">
              <a:solidFill>
                <a:schemeClr val="bg1"/>
              </a:solidFill>
            </a:endParaRPr>
          </a:p>
          <a:p>
            <a:pPr marL="171450" indent="-171450">
              <a:buFont typeface="Wingdings" panose="05000000000000000000" pitchFamily="2" charset="2"/>
              <a:buChar char="ü"/>
            </a:pPr>
            <a:r>
              <a:rPr lang="es-PE" sz="1100" dirty="0">
                <a:solidFill>
                  <a:schemeClr val="bg1"/>
                </a:solidFill>
              </a:rPr>
              <a:t> Reproductor</a:t>
            </a:r>
            <a:endParaRPr lang="es-PE" sz="1100" b="1" dirty="0">
              <a:solidFill>
                <a:schemeClr val="bg1"/>
              </a:solidFill>
            </a:endParaRPr>
          </a:p>
          <a:p>
            <a:pPr marL="171450" indent="-171450">
              <a:buFont typeface="Wingdings" panose="05000000000000000000" pitchFamily="2" charset="2"/>
              <a:buChar char="ü"/>
            </a:pPr>
            <a:r>
              <a:rPr lang="en-US" sz="1100" dirty="0" err="1">
                <a:solidFill>
                  <a:schemeClr val="bg1"/>
                </a:solidFill>
              </a:rPr>
              <a:t>Estrategia</a:t>
            </a:r>
            <a:r>
              <a:rPr lang="en-US" sz="1100" dirty="0">
                <a:solidFill>
                  <a:schemeClr val="bg1"/>
                </a:solidFill>
              </a:rPr>
              <a:t> Factory:  que </a:t>
            </a:r>
            <a:r>
              <a:rPr lang="en-US" sz="1100" dirty="0" err="1">
                <a:solidFill>
                  <a:schemeClr val="bg1"/>
                </a:solidFill>
              </a:rPr>
              <a:t>va</a:t>
            </a:r>
            <a:r>
              <a:rPr lang="en-US" sz="1100" dirty="0">
                <a:solidFill>
                  <a:schemeClr val="bg1"/>
                </a:solidFill>
              </a:rPr>
              <a:t> ser creada segun </a:t>
            </a:r>
            <a:r>
              <a:rPr lang="en-US" sz="1100" dirty="0" err="1">
                <a:solidFill>
                  <a:schemeClr val="bg1"/>
                </a:solidFill>
              </a:rPr>
              <a:t>su</a:t>
            </a:r>
            <a:r>
              <a:rPr lang="en-US" sz="1100" dirty="0">
                <a:solidFill>
                  <a:schemeClr val="bg1"/>
                </a:solidFill>
              </a:rPr>
              <a:t> plan</a:t>
            </a:r>
          </a:p>
          <a:p>
            <a:pPr marL="171450" indent="-171450">
              <a:buFont typeface="Wingdings" panose="05000000000000000000" pitchFamily="2" charset="2"/>
              <a:buChar char="ü"/>
            </a:pPr>
            <a:r>
              <a:rPr lang="en-US" sz="1100" dirty="0">
                <a:solidFill>
                  <a:schemeClr val="bg1"/>
                </a:solidFill>
              </a:rPr>
              <a:t> </a:t>
            </a:r>
            <a:br>
              <a:rPr lang="en-US" sz="1100" dirty="0">
                <a:solidFill>
                  <a:schemeClr val="bg1"/>
                </a:solidFill>
              </a:rPr>
            </a:br>
            <a:endParaRPr lang="es-PE" dirty="0">
              <a:solidFill>
                <a:schemeClr val="bg1"/>
              </a:solidFill>
            </a:endParaRPr>
          </a:p>
        </p:txBody>
      </p:sp>
      <p:sp>
        <p:nvSpPr>
          <p:cNvPr id="5" name="Rectángulo: esquinas redondeadas 4">
            <a:extLst>
              <a:ext uri="{FF2B5EF4-FFF2-40B4-BE49-F238E27FC236}">
                <a16:creationId xmlns:a16="http://schemas.microsoft.com/office/drawing/2014/main" id="{5729CFFD-5981-111B-AF67-1973FDB71BD2}"/>
              </a:ext>
            </a:extLst>
          </p:cNvPr>
          <p:cNvSpPr/>
          <p:nvPr/>
        </p:nvSpPr>
        <p:spPr>
          <a:xfrm>
            <a:off x="-160867" y="2375369"/>
            <a:ext cx="6045200" cy="3788364"/>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dirty="0"/>
              <a:t>Para mejorar la escalabilidad del sistema, propuse una arquitectura basada en el patrón </a:t>
            </a:r>
            <a:r>
              <a:rPr lang="es-MX" sz="1600" dirty="0" err="1"/>
              <a:t>Strategy</a:t>
            </a:r>
            <a:r>
              <a:rPr lang="es-MX" sz="1600" dirty="0"/>
              <a:t>, donde las reglas de reproducción como anuncios o calidad se separan del reproductor.</a:t>
            </a:r>
            <a:br>
              <a:rPr lang="es-MX" sz="1600" dirty="0"/>
            </a:br>
            <a:r>
              <a:rPr lang="es-MX" sz="1600" dirty="0"/>
              <a:t>Además, uso Factory para crear estas estrategias según el tipo de usuario, para desacoplar la creación de objetos.</a:t>
            </a:r>
            <a:br>
              <a:rPr lang="es-MX" sz="1600" dirty="0"/>
            </a:br>
            <a:r>
              <a:rPr lang="es-MX" sz="1600" dirty="0"/>
              <a:t>Esto permite agregar nuevos planes o tipos de contenido sin modificar el código existente, cumpliendo el principio Open/Closed y facilitando el mantenimiento a largo plazo.</a:t>
            </a:r>
            <a:endParaRPr lang="es-PE" sz="1600" dirty="0"/>
          </a:p>
        </p:txBody>
      </p:sp>
    </p:spTree>
    <p:extLst>
      <p:ext uri="{BB962C8B-B14F-4D97-AF65-F5344CB8AC3E}">
        <p14:creationId xmlns:p14="http://schemas.microsoft.com/office/powerpoint/2010/main" val="2966677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F6619-C401-D652-2EA8-9E1E984568EE}"/>
            </a:ext>
          </a:extLst>
        </p:cNvPr>
        <p:cNvGrpSpPr/>
        <p:nvPr/>
      </p:nvGrpSpPr>
      <p:grpSpPr>
        <a:xfrm>
          <a:off x="0" y="0"/>
          <a:ext cx="0" cy="0"/>
          <a:chOff x="0" y="0"/>
          <a:chExt cx="0" cy="0"/>
        </a:xfrm>
      </p:grpSpPr>
      <p:pic>
        <p:nvPicPr>
          <p:cNvPr id="4" name="Imagen 3" descr="Descargar Ellogotipo De Spotify Se Ve Sobre Un Fondo Negro. | Wallpapers.com">
            <a:extLst>
              <a:ext uri="{FF2B5EF4-FFF2-40B4-BE49-F238E27FC236}">
                <a16:creationId xmlns:a16="http://schemas.microsoft.com/office/drawing/2014/main" id="{3511DAC4-39CC-9C62-13CB-CD0DA61DE2B2}"/>
              </a:ext>
            </a:extLst>
          </p:cNvPr>
          <p:cNvPicPr>
            <a:picLocks noChangeAspect="1"/>
          </p:cNvPicPr>
          <p:nvPr/>
        </p:nvPicPr>
        <p:blipFill>
          <a:blip r:embed="rId2"/>
          <a:stretch>
            <a:fillRect/>
          </a:stretch>
        </p:blipFill>
        <p:spPr>
          <a:xfrm>
            <a:off x="0" y="-33868"/>
            <a:ext cx="12192000" cy="6858000"/>
          </a:xfrm>
          <a:prstGeom prst="rect">
            <a:avLst/>
          </a:prstGeom>
        </p:spPr>
      </p:pic>
      <p:sp>
        <p:nvSpPr>
          <p:cNvPr id="2" name="CuadroTexto 1">
            <a:extLst>
              <a:ext uri="{FF2B5EF4-FFF2-40B4-BE49-F238E27FC236}">
                <a16:creationId xmlns:a16="http://schemas.microsoft.com/office/drawing/2014/main" id="{B7E55142-C68E-F0E2-6C5D-DC5350DEECC8}"/>
              </a:ext>
            </a:extLst>
          </p:cNvPr>
          <p:cNvSpPr txBox="1"/>
          <p:nvPr/>
        </p:nvSpPr>
        <p:spPr>
          <a:xfrm>
            <a:off x="160867" y="317268"/>
            <a:ext cx="10998200" cy="4524315"/>
          </a:xfrm>
          <a:prstGeom prst="rect">
            <a:avLst/>
          </a:prstGeom>
          <a:noFill/>
        </p:spPr>
        <p:txBody>
          <a:bodyPr wrap="square" rtlCol="0">
            <a:spAutoFit/>
          </a:bodyPr>
          <a:lstStyle/>
          <a:p>
            <a:r>
              <a:rPr lang="es-PE" dirty="0">
                <a:solidFill>
                  <a:schemeClr val="bg1"/>
                </a:solidFill>
              </a:rPr>
              <a:t>Conclusiones individuales</a:t>
            </a:r>
            <a:r>
              <a:rPr lang="es-PE" dirty="0"/>
              <a:t>.</a:t>
            </a:r>
          </a:p>
          <a:p>
            <a:endParaRPr lang="es-MX" dirty="0">
              <a:solidFill>
                <a:schemeClr val="bg1"/>
              </a:solidFill>
            </a:endParaRPr>
          </a:p>
          <a:p>
            <a:endParaRPr lang="es-MX" dirty="0">
              <a:solidFill>
                <a:schemeClr val="bg1"/>
              </a:solidFill>
            </a:endParaRPr>
          </a:p>
          <a:p>
            <a:pPr marL="285750" indent="-285750">
              <a:buFont typeface="Wingdings" panose="05000000000000000000" pitchFamily="2" charset="2"/>
              <a:buChar char="q"/>
            </a:pPr>
            <a:r>
              <a:rPr lang="en-US" dirty="0">
                <a:solidFill>
                  <a:schemeClr val="bg1"/>
                </a:solidFill>
              </a:rPr>
              <a:t>En general, </a:t>
            </a:r>
            <a:r>
              <a:rPr lang="en-US" dirty="0" err="1">
                <a:solidFill>
                  <a:schemeClr val="bg1"/>
                </a:solidFill>
              </a:rPr>
              <a:t>aplicar</a:t>
            </a:r>
            <a:r>
              <a:rPr lang="en-US" dirty="0">
                <a:solidFill>
                  <a:schemeClr val="bg1"/>
                </a:solidFill>
              </a:rPr>
              <a:t> </a:t>
            </a:r>
            <a:r>
              <a:rPr lang="en-US" dirty="0" err="1">
                <a:solidFill>
                  <a:schemeClr val="bg1"/>
                </a:solidFill>
              </a:rPr>
              <a:t>buenas</a:t>
            </a:r>
            <a:r>
              <a:rPr lang="en-US" dirty="0">
                <a:solidFill>
                  <a:schemeClr val="bg1"/>
                </a:solidFill>
              </a:rPr>
              <a:t> </a:t>
            </a:r>
            <a:r>
              <a:rPr lang="en-US" dirty="0" err="1">
                <a:solidFill>
                  <a:schemeClr val="bg1"/>
                </a:solidFill>
              </a:rPr>
              <a:t>prácticas</a:t>
            </a:r>
            <a:r>
              <a:rPr lang="en-US" dirty="0">
                <a:solidFill>
                  <a:schemeClr val="bg1"/>
                </a:solidFill>
              </a:rPr>
              <a:t> y </a:t>
            </a:r>
            <a:r>
              <a:rPr lang="en-US" dirty="0" err="1">
                <a:solidFill>
                  <a:schemeClr val="bg1"/>
                </a:solidFill>
              </a:rPr>
              <a:t>patrones</a:t>
            </a:r>
            <a:r>
              <a:rPr lang="en-US" dirty="0">
                <a:solidFill>
                  <a:schemeClr val="bg1"/>
                </a:solidFill>
              </a:rPr>
              <a:t> de </a:t>
            </a:r>
            <a:r>
              <a:rPr lang="en-US" dirty="0" err="1">
                <a:solidFill>
                  <a:schemeClr val="bg1"/>
                </a:solidFill>
              </a:rPr>
              <a:t>diseño</a:t>
            </a:r>
            <a:r>
              <a:rPr lang="en-US" dirty="0">
                <a:solidFill>
                  <a:schemeClr val="bg1"/>
                </a:solidFill>
              </a:rPr>
              <a:t> </a:t>
            </a:r>
            <a:r>
              <a:rPr lang="en-US" dirty="0" err="1">
                <a:solidFill>
                  <a:schemeClr val="bg1"/>
                </a:solidFill>
              </a:rPr>
              <a:t>en</a:t>
            </a:r>
            <a:r>
              <a:rPr lang="en-US" dirty="0">
                <a:solidFill>
                  <a:schemeClr val="bg1"/>
                </a:solidFill>
              </a:rPr>
              <a:t> C# </a:t>
            </a:r>
            <a:r>
              <a:rPr lang="en-US" dirty="0" err="1">
                <a:solidFill>
                  <a:schemeClr val="bg1"/>
                </a:solidFill>
              </a:rPr>
              <a:t>ayuda</a:t>
            </a:r>
            <a:r>
              <a:rPr lang="en-US" dirty="0">
                <a:solidFill>
                  <a:schemeClr val="bg1"/>
                </a:solidFill>
              </a:rPr>
              <a:t> a </a:t>
            </a:r>
            <a:r>
              <a:rPr lang="en-US" dirty="0" err="1">
                <a:solidFill>
                  <a:schemeClr val="bg1"/>
                </a:solidFill>
              </a:rPr>
              <a:t>crear</a:t>
            </a:r>
            <a:r>
              <a:rPr lang="en-US" dirty="0">
                <a:solidFill>
                  <a:schemeClr val="bg1"/>
                </a:solidFill>
              </a:rPr>
              <a:t> </a:t>
            </a:r>
            <a:r>
              <a:rPr lang="en-US" dirty="0" err="1">
                <a:solidFill>
                  <a:schemeClr val="bg1"/>
                </a:solidFill>
              </a:rPr>
              <a:t>aplicaciones</a:t>
            </a:r>
            <a:r>
              <a:rPr lang="en-US" dirty="0">
                <a:solidFill>
                  <a:schemeClr val="bg1"/>
                </a:solidFill>
              </a:rPr>
              <a:t> </a:t>
            </a:r>
            <a:r>
              <a:rPr lang="en-US" dirty="0" err="1">
                <a:solidFill>
                  <a:schemeClr val="bg1"/>
                </a:solidFill>
              </a:rPr>
              <a:t>más</a:t>
            </a:r>
            <a:r>
              <a:rPr lang="en-US" dirty="0">
                <a:solidFill>
                  <a:schemeClr val="bg1"/>
                </a:solidFill>
              </a:rPr>
              <a:t> flexibles, que </a:t>
            </a:r>
            <a:r>
              <a:rPr lang="en-US" dirty="0" err="1">
                <a:solidFill>
                  <a:schemeClr val="bg1"/>
                </a:solidFill>
              </a:rPr>
              <a:t>pueden</a:t>
            </a:r>
            <a:r>
              <a:rPr lang="en-US" dirty="0">
                <a:solidFill>
                  <a:schemeClr val="bg1"/>
                </a:solidFill>
              </a:rPr>
              <a:t> </a:t>
            </a:r>
            <a:r>
              <a:rPr lang="en-US" dirty="0" err="1">
                <a:solidFill>
                  <a:schemeClr val="bg1"/>
                </a:solidFill>
              </a:rPr>
              <a:t>adaptarse</a:t>
            </a:r>
            <a:r>
              <a:rPr lang="en-US" dirty="0">
                <a:solidFill>
                  <a:schemeClr val="bg1"/>
                </a:solidFill>
              </a:rPr>
              <a:t> a </a:t>
            </a:r>
            <a:r>
              <a:rPr lang="en-US" dirty="0" err="1">
                <a:solidFill>
                  <a:schemeClr val="bg1"/>
                </a:solidFill>
              </a:rPr>
              <a:t>cambios</a:t>
            </a:r>
            <a:r>
              <a:rPr lang="en-US" dirty="0">
                <a:solidFill>
                  <a:schemeClr val="bg1"/>
                </a:solidFill>
              </a:rPr>
              <a:t> sin </a:t>
            </a:r>
            <a:r>
              <a:rPr lang="en-US" dirty="0" err="1">
                <a:solidFill>
                  <a:schemeClr val="bg1"/>
                </a:solidFill>
              </a:rPr>
              <a:t>necesidad</a:t>
            </a:r>
            <a:r>
              <a:rPr lang="en-US" dirty="0">
                <a:solidFill>
                  <a:schemeClr val="bg1"/>
                </a:solidFill>
              </a:rPr>
              <a:t> de </a:t>
            </a:r>
            <a:r>
              <a:rPr lang="en-US" dirty="0" err="1">
                <a:solidFill>
                  <a:schemeClr val="bg1"/>
                </a:solidFill>
              </a:rPr>
              <a:t>rehacer</a:t>
            </a:r>
            <a:r>
              <a:rPr lang="en-US" dirty="0">
                <a:solidFill>
                  <a:schemeClr val="bg1"/>
                </a:solidFill>
              </a:rPr>
              <a:t> </a:t>
            </a:r>
            <a:r>
              <a:rPr lang="en-US" dirty="0" err="1">
                <a:solidFill>
                  <a:schemeClr val="bg1"/>
                </a:solidFill>
              </a:rPr>
              <a:t>todo</a:t>
            </a:r>
            <a:r>
              <a:rPr lang="en-US" dirty="0">
                <a:solidFill>
                  <a:schemeClr val="bg1"/>
                </a:solidFill>
              </a:rPr>
              <a:t> el </a:t>
            </a:r>
            <a:r>
              <a:rPr lang="en-US" dirty="0" err="1">
                <a:solidFill>
                  <a:schemeClr val="bg1"/>
                </a:solidFill>
              </a:rPr>
              <a:t>código</a:t>
            </a:r>
            <a:r>
              <a:rPr lang="en-US" dirty="0">
                <a:solidFill>
                  <a:schemeClr val="bg1"/>
                </a:solidFill>
              </a:rPr>
              <a:t>.</a:t>
            </a:r>
            <a:endParaRPr lang="es-PE" dirty="0">
              <a:solidFill>
                <a:schemeClr val="bg1"/>
              </a:solidFill>
            </a:endParaRPr>
          </a:p>
          <a:p>
            <a:pPr marL="285750" indent="-285750">
              <a:buFont typeface="Wingdings" panose="05000000000000000000" pitchFamily="2" charset="2"/>
              <a:buChar char="q"/>
            </a:pPr>
            <a:endParaRPr lang="es-MX" dirty="0">
              <a:solidFill>
                <a:schemeClr val="bg1"/>
              </a:solidFill>
            </a:endParaRPr>
          </a:p>
          <a:p>
            <a:pPr marL="285750" indent="-285750">
              <a:buFont typeface="Wingdings" panose="05000000000000000000" pitchFamily="2" charset="2"/>
              <a:buChar char="q"/>
            </a:pPr>
            <a:endParaRPr lang="es-MX" dirty="0">
              <a:solidFill>
                <a:schemeClr val="bg1"/>
              </a:solidFill>
            </a:endParaRPr>
          </a:p>
          <a:p>
            <a:pPr marL="285750" indent="-285750">
              <a:buFont typeface="Wingdings" panose="05000000000000000000" pitchFamily="2" charset="2"/>
              <a:buChar char="q"/>
            </a:pPr>
            <a:r>
              <a:rPr lang="es-MX" dirty="0">
                <a:solidFill>
                  <a:schemeClr val="bg1"/>
                </a:solidFill>
              </a:rPr>
              <a:t>Usa interfaces para maximizar la flexibilidad y desacoplamiento, </a:t>
            </a:r>
          </a:p>
          <a:p>
            <a:r>
              <a:rPr lang="es-MX" dirty="0">
                <a:solidFill>
                  <a:schemeClr val="bg1"/>
                </a:solidFill>
              </a:rPr>
              <a:t>y reserva las clases abstractas solo cuando necesites reutilizar código base o compartir un estado común </a:t>
            </a:r>
          </a:p>
          <a:p>
            <a:r>
              <a:rPr lang="es-MX" dirty="0">
                <a:solidFill>
                  <a:schemeClr val="bg1"/>
                </a:solidFill>
              </a:rPr>
              <a:t>entre objetos que son esencialmente lo mismo.</a:t>
            </a:r>
            <a:br>
              <a:rPr lang="es-MX" dirty="0">
                <a:solidFill>
                  <a:schemeClr val="bg1"/>
                </a:solidFill>
              </a:rPr>
            </a:br>
            <a:endParaRPr lang="es-MX" dirty="0">
              <a:solidFill>
                <a:schemeClr val="bg1"/>
              </a:solidFill>
            </a:endParaRPr>
          </a:p>
          <a:p>
            <a:endParaRPr lang="es-MX" dirty="0">
              <a:solidFill>
                <a:schemeClr val="bg1"/>
              </a:solidFill>
            </a:endParaRPr>
          </a:p>
          <a:p>
            <a:endParaRPr lang="es-MX" dirty="0">
              <a:solidFill>
                <a:schemeClr val="bg1"/>
              </a:solidFill>
            </a:endParaRPr>
          </a:p>
          <a:p>
            <a:pPr marL="342900" indent="-342900">
              <a:buFont typeface="Wingdings" panose="05000000000000000000" pitchFamily="2" charset="2"/>
              <a:buChar char="q"/>
            </a:pPr>
            <a:r>
              <a:rPr lang="es-MX" dirty="0">
                <a:solidFill>
                  <a:schemeClr val="bg1"/>
                </a:solidFill>
              </a:rPr>
              <a:t>Además, gracias al principio </a:t>
            </a:r>
            <a:r>
              <a:rPr lang="es-MX" b="1" dirty="0">
                <a:solidFill>
                  <a:schemeClr val="bg1"/>
                </a:solidFill>
              </a:rPr>
              <a:t>Open/Closed</a:t>
            </a:r>
            <a:r>
              <a:rPr lang="es-MX" dirty="0">
                <a:solidFill>
                  <a:schemeClr val="bg1"/>
                </a:solidFill>
              </a:rPr>
              <a:t>, es posible incorporar nuevos tipos de contenido, como audiolibros interactivos, o nuevos planes de usuario, sin modificar el código existente, reduciendo riesgos y costos de mantenimiento</a:t>
            </a:r>
            <a:endParaRPr lang="es-PE" dirty="0">
              <a:solidFill>
                <a:schemeClr val="bg1"/>
              </a:solidFill>
            </a:endParaRPr>
          </a:p>
        </p:txBody>
      </p:sp>
      <p:sp>
        <p:nvSpPr>
          <p:cNvPr id="3" name="CuadroTexto 2">
            <a:extLst>
              <a:ext uri="{FF2B5EF4-FFF2-40B4-BE49-F238E27FC236}">
                <a16:creationId xmlns:a16="http://schemas.microsoft.com/office/drawing/2014/main" id="{77CE4E91-A3BA-7755-F5A1-D3651AEA1FAF}"/>
              </a:ext>
            </a:extLst>
          </p:cNvPr>
          <p:cNvSpPr txBox="1"/>
          <p:nvPr/>
        </p:nvSpPr>
        <p:spPr>
          <a:xfrm>
            <a:off x="406400" y="778933"/>
            <a:ext cx="8458199" cy="538609"/>
          </a:xfrm>
          <a:prstGeom prst="rect">
            <a:avLst/>
          </a:prstGeom>
          <a:noFill/>
        </p:spPr>
        <p:txBody>
          <a:bodyPr wrap="square" rtlCol="0">
            <a:spAutoFit/>
          </a:bodyPr>
          <a:lstStyle/>
          <a:p>
            <a:br>
              <a:rPr lang="en-US" sz="1100" dirty="0">
                <a:solidFill>
                  <a:schemeClr val="bg1"/>
                </a:solidFill>
              </a:rPr>
            </a:br>
            <a:endParaRPr lang="es-PE" dirty="0">
              <a:solidFill>
                <a:schemeClr val="bg1"/>
              </a:solidFill>
            </a:endParaRPr>
          </a:p>
        </p:txBody>
      </p:sp>
    </p:spTree>
    <p:extLst>
      <p:ext uri="{BB962C8B-B14F-4D97-AF65-F5344CB8AC3E}">
        <p14:creationId xmlns:p14="http://schemas.microsoft.com/office/powerpoint/2010/main" val="1206080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67EF0-8D48-893D-FE0B-969959E7A86A}"/>
            </a:ext>
          </a:extLst>
        </p:cNvPr>
        <p:cNvGrpSpPr/>
        <p:nvPr/>
      </p:nvGrpSpPr>
      <p:grpSpPr>
        <a:xfrm>
          <a:off x="0" y="0"/>
          <a:ext cx="0" cy="0"/>
          <a:chOff x="0" y="0"/>
          <a:chExt cx="0" cy="0"/>
        </a:xfrm>
      </p:grpSpPr>
      <p:pic>
        <p:nvPicPr>
          <p:cNvPr id="4" name="Imagen 3" descr="Descargar Ellogotipo De Spotify Se Ve Sobre Un Fondo Negro. | Wallpapers.com">
            <a:extLst>
              <a:ext uri="{FF2B5EF4-FFF2-40B4-BE49-F238E27FC236}">
                <a16:creationId xmlns:a16="http://schemas.microsoft.com/office/drawing/2014/main" id="{5992A297-0D24-9EA6-5CAC-A19CD50C10D0}"/>
              </a:ext>
            </a:extLst>
          </p:cNvPr>
          <p:cNvPicPr>
            <a:picLocks noChangeAspect="1"/>
          </p:cNvPicPr>
          <p:nvPr/>
        </p:nvPicPr>
        <p:blipFill>
          <a:blip r:embed="rId2"/>
          <a:stretch>
            <a:fillRect/>
          </a:stretch>
        </p:blipFill>
        <p:spPr>
          <a:xfrm>
            <a:off x="0" y="-33868"/>
            <a:ext cx="12192000" cy="6858000"/>
          </a:xfrm>
          <a:prstGeom prst="rect">
            <a:avLst/>
          </a:prstGeom>
        </p:spPr>
      </p:pic>
      <p:sp>
        <p:nvSpPr>
          <p:cNvPr id="2" name="CuadroTexto 1">
            <a:extLst>
              <a:ext uri="{FF2B5EF4-FFF2-40B4-BE49-F238E27FC236}">
                <a16:creationId xmlns:a16="http://schemas.microsoft.com/office/drawing/2014/main" id="{22993885-8C02-E5A7-89CA-B1A52C0841F5}"/>
              </a:ext>
            </a:extLst>
          </p:cNvPr>
          <p:cNvSpPr txBox="1"/>
          <p:nvPr/>
        </p:nvSpPr>
        <p:spPr>
          <a:xfrm>
            <a:off x="381000" y="1329266"/>
            <a:ext cx="9067800" cy="5355312"/>
          </a:xfrm>
          <a:prstGeom prst="rect">
            <a:avLst/>
          </a:prstGeom>
          <a:noFill/>
        </p:spPr>
        <p:txBody>
          <a:bodyPr wrap="square" rtlCol="0">
            <a:spAutoFit/>
          </a:bodyPr>
          <a:lstStyle/>
          <a:p>
            <a:r>
              <a:rPr lang="es-PE" b="1" dirty="0">
                <a:solidFill>
                  <a:schemeClr val="bg1"/>
                </a:solidFill>
              </a:rPr>
              <a:t>📚 Bibliografía</a:t>
            </a:r>
          </a:p>
          <a:p>
            <a:endParaRPr lang="es-PE" b="1" dirty="0">
              <a:solidFill>
                <a:schemeClr val="bg1"/>
              </a:solidFill>
            </a:endParaRPr>
          </a:p>
          <a:p>
            <a:endParaRPr lang="es-PE" b="1" dirty="0">
              <a:solidFill>
                <a:schemeClr val="bg1"/>
              </a:solidFill>
            </a:endParaRPr>
          </a:p>
          <a:p>
            <a:endParaRPr lang="es-PE" b="1" dirty="0">
              <a:solidFill>
                <a:schemeClr val="bg1"/>
              </a:solidFill>
            </a:endParaRPr>
          </a:p>
          <a:p>
            <a:endParaRPr lang="es-PE" b="1" dirty="0">
              <a:solidFill>
                <a:schemeClr val="bg1"/>
              </a:solidFill>
            </a:endParaRPr>
          </a:p>
          <a:p>
            <a:endParaRPr lang="es-PE" b="1" dirty="0">
              <a:solidFill>
                <a:schemeClr val="bg1"/>
              </a:solidFill>
            </a:endParaRPr>
          </a:p>
          <a:p>
            <a:endParaRPr lang="es-PE" b="1" dirty="0">
              <a:solidFill>
                <a:schemeClr val="bg1"/>
              </a:solidFill>
            </a:endParaRPr>
          </a:p>
          <a:p>
            <a:r>
              <a:rPr lang="es-PE" dirty="0" err="1">
                <a:solidFill>
                  <a:schemeClr val="bg1"/>
                </a:solidFill>
              </a:rPr>
              <a:t>Clean</a:t>
            </a:r>
            <a:r>
              <a:rPr lang="es-PE" dirty="0">
                <a:solidFill>
                  <a:schemeClr val="bg1"/>
                </a:solidFill>
              </a:rPr>
              <a:t> </a:t>
            </a:r>
            <a:r>
              <a:rPr lang="es-PE" dirty="0" err="1">
                <a:solidFill>
                  <a:schemeClr val="bg1"/>
                </a:solidFill>
              </a:rPr>
              <a:t>Code</a:t>
            </a:r>
            <a:r>
              <a:rPr lang="es-PE" dirty="0">
                <a:solidFill>
                  <a:schemeClr val="bg1"/>
                </a:solidFill>
              </a:rPr>
              <a:t> – Robert C. Martin. </a:t>
            </a:r>
            <a:r>
              <a:rPr lang="es-PE" i="1" dirty="0" err="1">
                <a:solidFill>
                  <a:schemeClr val="bg1"/>
                </a:solidFill>
              </a:rPr>
              <a:t>Clean</a:t>
            </a:r>
            <a:r>
              <a:rPr lang="es-PE" i="1" dirty="0">
                <a:solidFill>
                  <a:schemeClr val="bg1"/>
                </a:solidFill>
              </a:rPr>
              <a:t> </a:t>
            </a:r>
            <a:r>
              <a:rPr lang="es-PE" i="1" dirty="0" err="1">
                <a:solidFill>
                  <a:schemeClr val="bg1"/>
                </a:solidFill>
              </a:rPr>
              <a:t>Code</a:t>
            </a:r>
            <a:r>
              <a:rPr lang="es-PE" i="1" dirty="0">
                <a:solidFill>
                  <a:schemeClr val="bg1"/>
                </a:solidFill>
              </a:rPr>
              <a:t>: A </a:t>
            </a:r>
            <a:r>
              <a:rPr lang="es-PE" i="1" dirty="0" err="1">
                <a:solidFill>
                  <a:schemeClr val="bg1"/>
                </a:solidFill>
              </a:rPr>
              <a:t>Handbook</a:t>
            </a:r>
            <a:r>
              <a:rPr lang="es-PE" i="1" dirty="0">
                <a:solidFill>
                  <a:schemeClr val="bg1"/>
                </a:solidFill>
              </a:rPr>
              <a:t> </a:t>
            </a:r>
            <a:r>
              <a:rPr lang="es-PE" i="1" dirty="0" err="1">
                <a:solidFill>
                  <a:schemeClr val="bg1"/>
                </a:solidFill>
              </a:rPr>
              <a:t>of</a:t>
            </a:r>
            <a:r>
              <a:rPr lang="es-PE" i="1" dirty="0">
                <a:solidFill>
                  <a:schemeClr val="bg1"/>
                </a:solidFill>
              </a:rPr>
              <a:t> Agile Software </a:t>
            </a:r>
            <a:r>
              <a:rPr lang="es-PE" i="1" dirty="0" err="1">
                <a:solidFill>
                  <a:schemeClr val="bg1"/>
                </a:solidFill>
              </a:rPr>
              <a:t>Craftsmanship</a:t>
            </a:r>
            <a:r>
              <a:rPr lang="es-PE" dirty="0">
                <a:solidFill>
                  <a:schemeClr val="bg1"/>
                </a:solidFill>
              </a:rPr>
              <a:t>. Prentice Hall, 2008. </a:t>
            </a:r>
          </a:p>
          <a:p>
            <a:r>
              <a:rPr lang="es-PE" dirty="0">
                <a:solidFill>
                  <a:schemeClr val="bg1"/>
                </a:solidFill>
              </a:rPr>
              <a:t>Agile Software </a:t>
            </a:r>
            <a:r>
              <a:rPr lang="es-PE" dirty="0" err="1">
                <a:solidFill>
                  <a:schemeClr val="bg1"/>
                </a:solidFill>
              </a:rPr>
              <a:t>Development</a:t>
            </a:r>
            <a:r>
              <a:rPr lang="es-PE" dirty="0">
                <a:solidFill>
                  <a:schemeClr val="bg1"/>
                </a:solidFill>
              </a:rPr>
              <a:t>, </a:t>
            </a:r>
            <a:r>
              <a:rPr lang="es-PE" dirty="0" err="1">
                <a:solidFill>
                  <a:schemeClr val="bg1"/>
                </a:solidFill>
              </a:rPr>
              <a:t>Principles</a:t>
            </a:r>
            <a:r>
              <a:rPr lang="es-PE" dirty="0">
                <a:solidFill>
                  <a:schemeClr val="bg1"/>
                </a:solidFill>
              </a:rPr>
              <a:t>, </a:t>
            </a:r>
            <a:r>
              <a:rPr lang="es-PE" dirty="0" err="1">
                <a:solidFill>
                  <a:schemeClr val="bg1"/>
                </a:solidFill>
              </a:rPr>
              <a:t>Patterns</a:t>
            </a:r>
            <a:r>
              <a:rPr lang="es-PE" dirty="0">
                <a:solidFill>
                  <a:schemeClr val="bg1"/>
                </a:solidFill>
              </a:rPr>
              <a:t>, and </a:t>
            </a:r>
            <a:r>
              <a:rPr lang="es-PE" dirty="0" err="1">
                <a:solidFill>
                  <a:schemeClr val="bg1"/>
                </a:solidFill>
              </a:rPr>
              <a:t>Practices</a:t>
            </a:r>
            <a:r>
              <a:rPr lang="es-PE" dirty="0">
                <a:solidFill>
                  <a:schemeClr val="bg1"/>
                </a:solidFill>
              </a:rPr>
              <a:t> – Robert C. Martin. Prentice Hall, 2003. </a:t>
            </a:r>
          </a:p>
          <a:p>
            <a:r>
              <a:rPr lang="es-PE" dirty="0" err="1">
                <a:solidFill>
                  <a:schemeClr val="bg1"/>
                </a:solidFill>
              </a:rPr>
              <a:t>Design</a:t>
            </a:r>
            <a:r>
              <a:rPr lang="es-PE" dirty="0">
                <a:solidFill>
                  <a:schemeClr val="bg1"/>
                </a:solidFill>
              </a:rPr>
              <a:t> </a:t>
            </a:r>
            <a:r>
              <a:rPr lang="es-PE" dirty="0" err="1">
                <a:solidFill>
                  <a:schemeClr val="bg1"/>
                </a:solidFill>
              </a:rPr>
              <a:t>Patterns</a:t>
            </a:r>
            <a:r>
              <a:rPr lang="es-PE" dirty="0">
                <a:solidFill>
                  <a:schemeClr val="bg1"/>
                </a:solidFill>
              </a:rPr>
              <a:t>: </a:t>
            </a:r>
            <a:r>
              <a:rPr lang="es-PE" dirty="0" err="1">
                <a:solidFill>
                  <a:schemeClr val="bg1"/>
                </a:solidFill>
              </a:rPr>
              <a:t>Elements</a:t>
            </a:r>
            <a:r>
              <a:rPr lang="es-PE" dirty="0">
                <a:solidFill>
                  <a:schemeClr val="bg1"/>
                </a:solidFill>
              </a:rPr>
              <a:t> </a:t>
            </a:r>
            <a:r>
              <a:rPr lang="es-PE" dirty="0" err="1">
                <a:solidFill>
                  <a:schemeClr val="bg1"/>
                </a:solidFill>
              </a:rPr>
              <a:t>of</a:t>
            </a:r>
            <a:r>
              <a:rPr lang="es-PE" dirty="0">
                <a:solidFill>
                  <a:schemeClr val="bg1"/>
                </a:solidFill>
              </a:rPr>
              <a:t> Reusable </a:t>
            </a:r>
            <a:r>
              <a:rPr lang="es-PE" dirty="0" err="1">
                <a:solidFill>
                  <a:schemeClr val="bg1"/>
                </a:solidFill>
              </a:rPr>
              <a:t>Object-Oriented</a:t>
            </a:r>
            <a:r>
              <a:rPr lang="es-PE" dirty="0">
                <a:solidFill>
                  <a:schemeClr val="bg1"/>
                </a:solidFill>
              </a:rPr>
              <a:t> Software – Erich Gamma, Richard Helm, Ralph Johnson, John </a:t>
            </a:r>
            <a:r>
              <a:rPr lang="es-PE" dirty="0" err="1">
                <a:solidFill>
                  <a:schemeClr val="bg1"/>
                </a:solidFill>
              </a:rPr>
              <a:t>Vlissides</a:t>
            </a:r>
            <a:r>
              <a:rPr lang="es-PE" dirty="0">
                <a:solidFill>
                  <a:schemeClr val="bg1"/>
                </a:solidFill>
              </a:rPr>
              <a:t>. Addison-Wesley, 1994. </a:t>
            </a:r>
          </a:p>
          <a:p>
            <a:r>
              <a:rPr lang="es-PE" dirty="0">
                <a:solidFill>
                  <a:schemeClr val="bg1"/>
                </a:solidFill>
              </a:rPr>
              <a:t>Head </a:t>
            </a:r>
            <a:r>
              <a:rPr lang="es-PE" dirty="0" err="1">
                <a:solidFill>
                  <a:schemeClr val="bg1"/>
                </a:solidFill>
              </a:rPr>
              <a:t>First</a:t>
            </a:r>
            <a:r>
              <a:rPr lang="es-PE" dirty="0">
                <a:solidFill>
                  <a:schemeClr val="bg1"/>
                </a:solidFill>
              </a:rPr>
              <a:t> </a:t>
            </a:r>
            <a:r>
              <a:rPr lang="es-PE" dirty="0" err="1">
                <a:solidFill>
                  <a:schemeClr val="bg1"/>
                </a:solidFill>
              </a:rPr>
              <a:t>Design</a:t>
            </a:r>
            <a:r>
              <a:rPr lang="es-PE" dirty="0">
                <a:solidFill>
                  <a:schemeClr val="bg1"/>
                </a:solidFill>
              </a:rPr>
              <a:t> </a:t>
            </a:r>
            <a:r>
              <a:rPr lang="es-PE" dirty="0" err="1">
                <a:solidFill>
                  <a:schemeClr val="bg1"/>
                </a:solidFill>
              </a:rPr>
              <a:t>Patterns</a:t>
            </a:r>
            <a:r>
              <a:rPr lang="es-PE" dirty="0">
                <a:solidFill>
                  <a:schemeClr val="bg1"/>
                </a:solidFill>
              </a:rPr>
              <a:t> – Eric Freeman, Elisabeth Robson. O’Reilly Media, 2004. </a:t>
            </a:r>
          </a:p>
          <a:p>
            <a:r>
              <a:rPr lang="es-PE" dirty="0">
                <a:solidFill>
                  <a:schemeClr val="bg1"/>
                </a:solidFill>
              </a:rPr>
              <a:t>Microsoft Docs. </a:t>
            </a:r>
            <a:r>
              <a:rPr lang="es-PE" i="1" dirty="0">
                <a:solidFill>
                  <a:schemeClr val="bg1"/>
                </a:solidFill>
              </a:rPr>
              <a:t>Documentación oficial de C# y .NET</a:t>
            </a:r>
            <a:r>
              <a:rPr lang="es-PE" dirty="0">
                <a:solidFill>
                  <a:schemeClr val="bg1"/>
                </a:solidFill>
              </a:rPr>
              <a:t>. Disponible en: </a:t>
            </a:r>
            <a:r>
              <a:rPr lang="es-PE" dirty="0">
                <a:solidFill>
                  <a:schemeClr val="bg1"/>
                </a:solidFill>
                <a:hlinkClick r:id="rId3">
                  <a:extLst>
                    <a:ext uri="{A12FA001-AC4F-418D-AE19-62706E023703}">
                      <ahyp:hlinkClr xmlns:ahyp="http://schemas.microsoft.com/office/drawing/2018/hyperlinkcolor" val="tx"/>
                    </a:ext>
                  </a:extLst>
                </a:hlinkClick>
              </a:rPr>
              <a:t>https://learn.microsoft.com</a:t>
            </a:r>
            <a:r>
              <a:rPr lang="es-PE" dirty="0">
                <a:solidFill>
                  <a:schemeClr val="bg1"/>
                </a:solidFill>
              </a:rPr>
              <a:t> </a:t>
            </a:r>
          </a:p>
          <a:p>
            <a:r>
              <a:rPr lang="es-PE" dirty="0">
                <a:solidFill>
                  <a:schemeClr val="bg1"/>
                </a:solidFill>
              </a:rPr>
              <a:t>Spotify. </a:t>
            </a:r>
            <a:r>
              <a:rPr lang="es-PE" i="1" dirty="0" err="1">
                <a:solidFill>
                  <a:schemeClr val="bg1"/>
                </a:solidFill>
              </a:rPr>
              <a:t>Engineering</a:t>
            </a:r>
            <a:r>
              <a:rPr lang="es-PE" i="1" dirty="0">
                <a:solidFill>
                  <a:schemeClr val="bg1"/>
                </a:solidFill>
              </a:rPr>
              <a:t> Culture and </a:t>
            </a:r>
            <a:r>
              <a:rPr lang="es-PE" i="1" dirty="0" err="1">
                <a:solidFill>
                  <a:schemeClr val="bg1"/>
                </a:solidFill>
              </a:rPr>
              <a:t>Architecture</a:t>
            </a:r>
            <a:r>
              <a:rPr lang="es-PE" dirty="0">
                <a:solidFill>
                  <a:schemeClr val="bg1"/>
                </a:solidFill>
              </a:rPr>
              <a:t>. Disponible en: </a:t>
            </a:r>
            <a:r>
              <a:rPr lang="es-PE" dirty="0">
                <a:solidFill>
                  <a:schemeClr val="bg1"/>
                </a:solidFill>
                <a:hlinkClick r:id="rId4">
                  <a:extLst>
                    <a:ext uri="{A12FA001-AC4F-418D-AE19-62706E023703}">
                      <ahyp:hlinkClr xmlns:ahyp="http://schemas.microsoft.com/office/drawing/2018/hyperlinkcolor" val="tx"/>
                    </a:ext>
                  </a:extLst>
                </a:hlinkClick>
              </a:rPr>
              <a:t>https://engineering.atspotify.com</a:t>
            </a:r>
            <a:endParaRPr lang="es-PE" dirty="0">
              <a:solidFill>
                <a:schemeClr val="bg1"/>
              </a:solidFill>
            </a:endParaRPr>
          </a:p>
          <a:p>
            <a:endParaRPr lang="es-MX" dirty="0">
              <a:solidFill>
                <a:schemeClr val="bg1"/>
              </a:solidFill>
            </a:endParaRPr>
          </a:p>
        </p:txBody>
      </p:sp>
    </p:spTree>
    <p:extLst>
      <p:ext uri="{BB962C8B-B14F-4D97-AF65-F5344CB8AC3E}">
        <p14:creationId xmlns:p14="http://schemas.microsoft.com/office/powerpoint/2010/main" val="261490922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1381</Words>
  <Application>Microsoft Office PowerPoint</Application>
  <PresentationFormat>Panorámica</PresentationFormat>
  <Paragraphs>123</Paragraphs>
  <Slides>10</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10</vt:i4>
      </vt:variant>
    </vt:vector>
  </HeadingPairs>
  <TitlesOfParts>
    <vt:vector size="18" baseType="lpstr">
      <vt:lpstr>Aptos</vt:lpstr>
      <vt:lpstr>Aptos Display</vt:lpstr>
      <vt:lpstr>Arial</vt:lpstr>
      <vt:lpstr>Arial Black</vt:lpstr>
      <vt:lpstr>Bahnschrift</vt:lpstr>
      <vt:lpstr>Courier New</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SUAREZ RUBINA, BECKAM SMITH</dc:creator>
  <cp:lastModifiedBy>SUAREZ RUBINA, BECKAM SMITH</cp:lastModifiedBy>
  <cp:revision>1</cp:revision>
  <dcterms:created xsi:type="dcterms:W3CDTF">2026-04-15T19:57:10Z</dcterms:created>
  <dcterms:modified xsi:type="dcterms:W3CDTF">2026-04-15T22:33:57Z</dcterms:modified>
</cp:coreProperties>
</file>