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F78AB88-C8BC-4E73-846A-B9A8DAFAB29D}" type="datetimeFigureOut">
              <a:rPr lang="es-PE" smtClean="0"/>
              <a:t>5/05/2026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4A522827-DD8F-4F09-926D-2AB0E6AC6E89}" type="slidenum">
              <a:rPr lang="es-PE" smtClean="0"/>
              <a:t>‹Nº›</a:t>
            </a:fld>
            <a:endParaRPr lang="es-P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506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F78AB88-C8BC-4E73-846A-B9A8DAFAB29D}" type="datetimeFigureOut">
              <a:rPr lang="es-PE" smtClean="0"/>
              <a:t>5/05/2026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1114008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F78AB88-C8BC-4E73-846A-B9A8DAFAB29D}" type="datetimeFigureOut">
              <a:rPr lang="es-PE" smtClean="0"/>
              <a:t>5/05/2026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4A522827-DD8F-4F09-926D-2AB0E6AC6E89}" type="slidenum">
              <a:rPr lang="es-PE" smtClean="0"/>
              <a:t>‹Nº›</a:t>
            </a:fld>
            <a:endParaRPr lang="es-P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17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F78AB88-C8BC-4E73-846A-B9A8DAFAB29D}" type="datetimeFigureOut">
              <a:rPr lang="es-PE" smtClean="0"/>
              <a:t>5/05/2026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2606314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F78AB88-C8BC-4E73-846A-B9A8DAFAB29D}" type="datetimeFigureOut">
              <a:rPr lang="es-PE" smtClean="0"/>
              <a:t>5/05/2026</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305626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F78AB88-C8BC-4E73-846A-B9A8DAFAB29D}" type="datetimeFigureOut">
              <a:rPr lang="es-PE" smtClean="0"/>
              <a:t>5/05/2026</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963916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78AB88-C8BC-4E73-846A-B9A8DAFAB29D}" type="datetimeFigureOut">
              <a:rPr lang="es-PE" smtClean="0"/>
              <a:t>5/05/2026</a:t>
            </a:fld>
            <a:endParaRPr lang="es-P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PE"/>
          </a:p>
        </p:txBody>
      </p:sp>
      <p:sp>
        <p:nvSpPr>
          <p:cNvPr id="9" name="Slide Number Placeholder 8"/>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2143982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78AB88-C8BC-4E73-846A-B9A8DAFAB29D}" type="datetimeFigureOut">
              <a:rPr lang="es-PE" smtClean="0"/>
              <a:t>5/05/2026</a:t>
            </a:fld>
            <a:endParaRPr lang="es-P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P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A522827-DD8F-4F09-926D-2AB0E6AC6E89}" type="slidenum">
              <a:rPr lang="es-PE" smtClean="0"/>
              <a:t>‹Nº›</a:t>
            </a:fld>
            <a:endParaRPr lang="es-PE"/>
          </a:p>
        </p:txBody>
      </p:sp>
    </p:spTree>
    <p:extLst>
      <p:ext uri="{BB962C8B-B14F-4D97-AF65-F5344CB8AC3E}">
        <p14:creationId xmlns:p14="http://schemas.microsoft.com/office/powerpoint/2010/main" val="2800177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F78AB88-C8BC-4E73-846A-B9A8DAFAB29D}" type="datetimeFigureOut">
              <a:rPr lang="es-PE" smtClean="0"/>
              <a:t>5/05/2026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1193985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F78AB88-C8BC-4E73-846A-B9A8DAFAB29D}" type="datetimeFigureOut">
              <a:rPr lang="es-PE" smtClean="0"/>
              <a:t>5/05/2026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218934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F78AB88-C8BC-4E73-846A-B9A8DAFAB29D}" type="datetimeFigureOut">
              <a:rPr lang="es-PE" smtClean="0"/>
              <a:t>5/05/2026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4A522827-DD8F-4F09-926D-2AB0E6AC6E89}" type="slidenum">
              <a:rPr lang="es-PE" smtClean="0"/>
              <a:t>‹Nº›</a:t>
            </a:fld>
            <a:endParaRPr lang="es-PE"/>
          </a:p>
        </p:txBody>
      </p:sp>
    </p:spTree>
    <p:extLst>
      <p:ext uri="{BB962C8B-B14F-4D97-AF65-F5344CB8AC3E}">
        <p14:creationId xmlns:p14="http://schemas.microsoft.com/office/powerpoint/2010/main" val="59461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F78AB88-C8BC-4E73-846A-B9A8DAFAB29D}" type="datetimeFigureOut">
              <a:rPr lang="es-PE" smtClean="0"/>
              <a:t>5/05/2026</a:t>
            </a:fld>
            <a:endParaRPr lang="es-P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P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A522827-DD8F-4F09-926D-2AB0E6AC6E89}" type="slidenum">
              <a:rPr lang="es-PE" smtClean="0"/>
              <a:t>‹Nº›</a:t>
            </a:fld>
            <a:endParaRPr lang="es-P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5782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A9499B-563B-B3DD-8BBE-BEECB5BC7B10}"/>
              </a:ext>
            </a:extLst>
          </p:cNvPr>
          <p:cNvSpPr>
            <a:spLocks noGrp="1"/>
          </p:cNvSpPr>
          <p:nvPr>
            <p:ph type="ctrTitle"/>
          </p:nvPr>
        </p:nvSpPr>
        <p:spPr>
          <a:xfrm>
            <a:off x="1066800" y="889461"/>
            <a:ext cx="10058400" cy="3566160"/>
          </a:xfrm>
        </p:spPr>
        <p:txBody>
          <a:bodyPr/>
          <a:lstStyle/>
          <a:p>
            <a:r>
              <a:rPr lang="it-IT" b="1" i="0" dirty="0">
                <a:solidFill>
                  <a:srgbClr val="1F2328"/>
                </a:solidFill>
                <a:effectLst/>
                <a:latin typeface="Mona Sans VF"/>
              </a:rPr>
              <a:t>Caso 4 — Microsoft Azure AD</a:t>
            </a:r>
            <a:br>
              <a:rPr lang="it-IT" b="1" i="0" dirty="0">
                <a:solidFill>
                  <a:srgbClr val="1F2328"/>
                </a:solidFill>
                <a:effectLst/>
                <a:latin typeface="Mona Sans VF"/>
              </a:rPr>
            </a:br>
            <a:endParaRPr lang="es-PE" dirty="0"/>
          </a:p>
        </p:txBody>
      </p:sp>
      <p:sp>
        <p:nvSpPr>
          <p:cNvPr id="3" name="Subtítulo 2">
            <a:extLst>
              <a:ext uri="{FF2B5EF4-FFF2-40B4-BE49-F238E27FC236}">
                <a16:creationId xmlns:a16="http://schemas.microsoft.com/office/drawing/2014/main" id="{21FE37AF-202A-4FB3-2349-243DA08CE89F}"/>
              </a:ext>
            </a:extLst>
          </p:cNvPr>
          <p:cNvSpPr>
            <a:spLocks noGrp="1"/>
          </p:cNvSpPr>
          <p:nvPr>
            <p:ph type="subTitle" idx="1"/>
          </p:nvPr>
        </p:nvSpPr>
        <p:spPr>
          <a:xfrm>
            <a:off x="1100051" y="4455620"/>
            <a:ext cx="10058400" cy="1674591"/>
          </a:xfrm>
        </p:spPr>
        <p:txBody>
          <a:bodyPr/>
          <a:lstStyle/>
          <a:p>
            <a:r>
              <a:rPr lang="es-MX" dirty="0"/>
              <a:t>ESTUDIANTES: </a:t>
            </a:r>
          </a:p>
          <a:p>
            <a:r>
              <a:rPr lang="es-MX" dirty="0"/>
              <a:t>Eddy Bryan Gutiérrez Marín</a:t>
            </a:r>
          </a:p>
          <a:p>
            <a:r>
              <a:rPr lang="es-PE" dirty="0"/>
              <a:t>FRANCISCO JAVIER CASTILLO MONRROY</a:t>
            </a:r>
          </a:p>
        </p:txBody>
      </p:sp>
    </p:spTree>
    <p:extLst>
      <p:ext uri="{BB962C8B-B14F-4D97-AF65-F5344CB8AC3E}">
        <p14:creationId xmlns:p14="http://schemas.microsoft.com/office/powerpoint/2010/main" val="834427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8653F9-FF24-B981-3E15-CE44F08662F1}"/>
              </a:ext>
            </a:extLst>
          </p:cNvPr>
          <p:cNvSpPr>
            <a:spLocks noGrp="1"/>
          </p:cNvSpPr>
          <p:nvPr>
            <p:ph type="title"/>
          </p:nvPr>
        </p:nvSpPr>
        <p:spPr/>
        <p:txBody>
          <a:bodyPr>
            <a:noAutofit/>
          </a:bodyPr>
          <a:lstStyle/>
          <a:p>
            <a:r>
              <a:rPr lang="es-MX" sz="3600" b="0" i="0" dirty="0">
                <a:solidFill>
                  <a:srgbClr val="1F2328"/>
                </a:solidFill>
                <a:effectLst/>
                <a:latin typeface="Mona Sans VF"/>
              </a:rPr>
              <a:t>1.-¿Cuál es la diferencia entre autenticación y autorización? ¿Cómo las gestiona ASP.NET Core de forma independiente?</a:t>
            </a:r>
            <a:endParaRPr lang="es-PE" sz="3600" dirty="0"/>
          </a:p>
        </p:txBody>
      </p:sp>
      <p:sp>
        <p:nvSpPr>
          <p:cNvPr id="3" name="Marcador de contenido 2">
            <a:extLst>
              <a:ext uri="{FF2B5EF4-FFF2-40B4-BE49-F238E27FC236}">
                <a16:creationId xmlns:a16="http://schemas.microsoft.com/office/drawing/2014/main" id="{D34EB59B-6816-4B08-52EF-F1BD4FFD3AE3}"/>
              </a:ext>
            </a:extLst>
          </p:cNvPr>
          <p:cNvSpPr>
            <a:spLocks noGrp="1"/>
          </p:cNvSpPr>
          <p:nvPr>
            <p:ph sz="half" idx="1"/>
          </p:nvPr>
        </p:nvSpPr>
        <p:spPr/>
        <p:txBody>
          <a:bodyPr>
            <a:normAutofit/>
          </a:bodyPr>
          <a:lstStyle/>
          <a:p>
            <a:r>
              <a:rPr lang="es-MX" b="1" dirty="0"/>
              <a:t>Autenticación y Autorización</a:t>
            </a:r>
          </a:p>
          <a:p>
            <a:r>
              <a:rPr lang="es-MX" dirty="0"/>
              <a:t>Aunque suelen ir de la mano, cumplen funciones distintas:</a:t>
            </a:r>
          </a:p>
          <a:p>
            <a:pPr>
              <a:buFont typeface="Arial" panose="020B0604020202020204" pitchFamily="34" charset="0"/>
              <a:buChar char="•"/>
            </a:pPr>
            <a:r>
              <a:rPr lang="es-MX" b="1" dirty="0"/>
              <a:t>Autenticación:</a:t>
            </a:r>
            <a:r>
              <a:rPr lang="es-MX" dirty="0"/>
              <a:t> Responde a </a:t>
            </a:r>
            <a:r>
              <a:rPr lang="es-MX" b="1" dirty="0"/>
              <a:t>¿Quién eres?</a:t>
            </a:r>
            <a:r>
              <a:rPr lang="es-MX" dirty="0"/>
              <a:t>. Es el proceso de validar la identidad del usuario (ej. mediante credenciales).</a:t>
            </a:r>
          </a:p>
          <a:p>
            <a:pPr>
              <a:buFont typeface="Arial" panose="020B0604020202020204" pitchFamily="34" charset="0"/>
              <a:buChar char="•"/>
            </a:pPr>
            <a:r>
              <a:rPr lang="es-MX" b="1" dirty="0"/>
              <a:t>Autorización:</a:t>
            </a:r>
            <a:r>
              <a:rPr lang="es-MX" dirty="0"/>
              <a:t> Responde a </a:t>
            </a:r>
            <a:r>
              <a:rPr lang="es-MX" b="1" dirty="0"/>
              <a:t>¿Qué puedes hacer?</a:t>
            </a:r>
            <a:r>
              <a:rPr lang="es-MX" dirty="0"/>
              <a:t>. Es el proceso de verificar si el usuario autenticado tiene permisos para acceder a un recurso.</a:t>
            </a:r>
          </a:p>
          <a:p>
            <a:endParaRPr lang="es-PE" dirty="0"/>
          </a:p>
        </p:txBody>
      </p:sp>
      <p:sp>
        <p:nvSpPr>
          <p:cNvPr id="4" name="Marcador de contenido 3">
            <a:extLst>
              <a:ext uri="{FF2B5EF4-FFF2-40B4-BE49-F238E27FC236}">
                <a16:creationId xmlns:a16="http://schemas.microsoft.com/office/drawing/2014/main" id="{1B87439D-B1D9-12A0-D6EB-82DA8FBB0C7A}"/>
              </a:ext>
            </a:extLst>
          </p:cNvPr>
          <p:cNvSpPr>
            <a:spLocks noGrp="1"/>
          </p:cNvSpPr>
          <p:nvPr>
            <p:ph sz="half" idx="2"/>
          </p:nvPr>
        </p:nvSpPr>
        <p:spPr/>
        <p:txBody>
          <a:bodyPr>
            <a:normAutofit/>
          </a:bodyPr>
          <a:lstStyle/>
          <a:p>
            <a:r>
              <a:rPr lang="es-MX" b="1" dirty="0"/>
              <a:t>Gestión en ASP.NET Core:</a:t>
            </a:r>
          </a:p>
          <a:p>
            <a:r>
              <a:rPr lang="es-MX" dirty="0"/>
              <a:t>ASP.NET Core las gestiona mediante Middlewares independientes en el pipeline de ejecución:</a:t>
            </a:r>
          </a:p>
          <a:p>
            <a:r>
              <a:rPr lang="es-MX" b="1" dirty="0"/>
              <a:t>UseAuthentication(): </a:t>
            </a:r>
            <a:r>
              <a:rPr lang="es-MX" dirty="0"/>
              <a:t>Intenta construir un ClaimsPrincipal a partir de los datos de la solicitud (cookies, tokens).</a:t>
            </a:r>
          </a:p>
          <a:p>
            <a:r>
              <a:rPr lang="es-MX" b="1" dirty="0"/>
              <a:t>UseAuthorization(): </a:t>
            </a:r>
            <a:r>
              <a:rPr lang="es-MX" dirty="0"/>
              <a:t>Evalúa si ese ClaimsPrincipal cumple con las políticas de acceso requeridas.</a:t>
            </a:r>
            <a:endParaRPr lang="es-PE" dirty="0"/>
          </a:p>
        </p:txBody>
      </p:sp>
    </p:spTree>
    <p:extLst>
      <p:ext uri="{BB962C8B-B14F-4D97-AF65-F5344CB8AC3E}">
        <p14:creationId xmlns:p14="http://schemas.microsoft.com/office/powerpoint/2010/main" val="259820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9AC223-BB61-8E4B-0EF2-79BF0DD328DA}"/>
              </a:ext>
            </a:extLst>
          </p:cNvPr>
          <p:cNvSpPr>
            <a:spLocks noGrp="1"/>
          </p:cNvSpPr>
          <p:nvPr>
            <p:ph type="title"/>
          </p:nvPr>
        </p:nvSpPr>
        <p:spPr/>
        <p:txBody>
          <a:bodyPr>
            <a:normAutofit/>
          </a:bodyPr>
          <a:lstStyle/>
          <a:p>
            <a:r>
              <a:rPr lang="es-MX" dirty="0"/>
              <a:t>La Analogía del Club Privado(ejemplo)</a:t>
            </a:r>
            <a:endParaRPr lang="es-PE" dirty="0"/>
          </a:p>
        </p:txBody>
      </p:sp>
      <p:sp>
        <p:nvSpPr>
          <p:cNvPr id="3" name="Marcador de contenido 2">
            <a:extLst>
              <a:ext uri="{FF2B5EF4-FFF2-40B4-BE49-F238E27FC236}">
                <a16:creationId xmlns:a16="http://schemas.microsoft.com/office/drawing/2014/main" id="{D00ACE41-4DC0-5A8B-07D3-7D203E5BAB4C}"/>
              </a:ext>
            </a:extLst>
          </p:cNvPr>
          <p:cNvSpPr>
            <a:spLocks noGrp="1"/>
          </p:cNvSpPr>
          <p:nvPr>
            <p:ph sz="half" idx="1"/>
          </p:nvPr>
        </p:nvSpPr>
        <p:spPr/>
        <p:txBody>
          <a:bodyPr>
            <a:normAutofit/>
          </a:bodyPr>
          <a:lstStyle/>
          <a:p>
            <a:r>
              <a:rPr lang="es-MX" b="1" dirty="0"/>
              <a:t>1. UseAuthentication() → El DNI (Identidad)</a:t>
            </a:r>
          </a:p>
          <a:p>
            <a:r>
              <a:rPr lang="es-MX" dirty="0"/>
              <a:t>Es el portero que te pide tu identificación para saber quién eres.</a:t>
            </a:r>
          </a:p>
          <a:p>
            <a:r>
              <a:rPr lang="es-MX" dirty="0"/>
              <a:t>¿Qué hace? Revisa si traes una "llave" (Token o Cookie).</a:t>
            </a:r>
          </a:p>
          <a:p>
            <a:r>
              <a:rPr lang="es-MX" dirty="0"/>
              <a:t>Resultado: Crea un ClaimsPrincipal. Es como si te pusieran una pulsera que dice tu nombre y tu edad.</a:t>
            </a:r>
          </a:p>
          <a:p>
            <a:r>
              <a:rPr lang="es-MX" dirty="0"/>
              <a:t>Pregunta: ¿Eres quien dices ser?</a:t>
            </a:r>
            <a:endParaRPr lang="es-PE" dirty="0"/>
          </a:p>
        </p:txBody>
      </p:sp>
      <p:sp>
        <p:nvSpPr>
          <p:cNvPr id="4" name="Marcador de contenido 3">
            <a:extLst>
              <a:ext uri="{FF2B5EF4-FFF2-40B4-BE49-F238E27FC236}">
                <a16:creationId xmlns:a16="http://schemas.microsoft.com/office/drawing/2014/main" id="{535E6CB2-8632-5401-8400-BF6EA7913D9D}"/>
              </a:ext>
            </a:extLst>
          </p:cNvPr>
          <p:cNvSpPr>
            <a:spLocks noGrp="1"/>
          </p:cNvSpPr>
          <p:nvPr>
            <p:ph sz="half" idx="2"/>
          </p:nvPr>
        </p:nvSpPr>
        <p:spPr>
          <a:xfrm>
            <a:off x="6217920" y="1845734"/>
            <a:ext cx="4937760" cy="4023360"/>
          </a:xfrm>
        </p:spPr>
        <p:txBody>
          <a:bodyPr>
            <a:normAutofit/>
          </a:bodyPr>
          <a:lstStyle/>
          <a:p>
            <a:r>
              <a:rPr lang="es-MX" b="1" dirty="0"/>
              <a:t>2. UseAuthorization() → La Zona VIP (Permisos)</a:t>
            </a:r>
          </a:p>
          <a:p>
            <a:r>
              <a:rPr lang="es-MX" dirty="0"/>
              <a:t>Es el guardia que está dentro del club controlando el acceso a diferentes áreas.</a:t>
            </a:r>
          </a:p>
          <a:p>
            <a:r>
              <a:rPr lang="es-MX" dirty="0"/>
              <a:t>¿Qué hace? Mira tu pulsera (tu identidad) y decide si puedes pasar a ciertos lugares.</a:t>
            </a:r>
          </a:p>
          <a:p>
            <a:r>
              <a:rPr lang="es-MX" dirty="0"/>
              <a:t>Resultado: Te deja pasar al controlador o te rebota con un error.</a:t>
            </a:r>
          </a:p>
          <a:p>
            <a:r>
              <a:rPr lang="es-MX" dirty="0"/>
              <a:t>Pregunta: ¿Tienes permiso para entrar aquí?</a:t>
            </a:r>
            <a:endParaRPr lang="es-PE" dirty="0"/>
          </a:p>
        </p:txBody>
      </p:sp>
    </p:spTree>
    <p:extLst>
      <p:ext uri="{BB962C8B-B14F-4D97-AF65-F5344CB8AC3E}">
        <p14:creationId xmlns:p14="http://schemas.microsoft.com/office/powerpoint/2010/main" val="702731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ED7D37-1C89-A837-960D-A665C902AB37}"/>
              </a:ext>
            </a:extLst>
          </p:cNvPr>
          <p:cNvSpPr>
            <a:spLocks noGrp="1"/>
          </p:cNvSpPr>
          <p:nvPr>
            <p:ph type="title"/>
          </p:nvPr>
        </p:nvSpPr>
        <p:spPr/>
        <p:txBody>
          <a:bodyPr>
            <a:noAutofit/>
          </a:bodyPr>
          <a:lstStyle/>
          <a:p>
            <a:r>
              <a:rPr lang="es-MX" sz="3600" dirty="0"/>
              <a:t>2.-¿Qué es un JWT (JSON Web Token)? Describe su estructura interna y demuestra en C# cómo validar uno usando AddJwtBearer.</a:t>
            </a:r>
            <a:endParaRPr lang="es-PE" sz="3600" dirty="0"/>
          </a:p>
        </p:txBody>
      </p:sp>
      <p:sp>
        <p:nvSpPr>
          <p:cNvPr id="3" name="Marcador de contenido 2">
            <a:extLst>
              <a:ext uri="{FF2B5EF4-FFF2-40B4-BE49-F238E27FC236}">
                <a16:creationId xmlns:a16="http://schemas.microsoft.com/office/drawing/2014/main" id="{25D77B25-5057-D01F-4A26-74CFFB6CBB49}"/>
              </a:ext>
            </a:extLst>
          </p:cNvPr>
          <p:cNvSpPr>
            <a:spLocks noGrp="1"/>
          </p:cNvSpPr>
          <p:nvPr>
            <p:ph idx="1"/>
          </p:nvPr>
        </p:nvSpPr>
        <p:spPr/>
        <p:txBody>
          <a:bodyPr>
            <a:normAutofit/>
          </a:bodyPr>
          <a:lstStyle/>
          <a:p>
            <a:r>
              <a:rPr lang="es-MX" dirty="0"/>
              <a:t> </a:t>
            </a:r>
            <a:r>
              <a:rPr lang="es-MX" b="1" dirty="0"/>
              <a:t>JSON Web Token (JWT)</a:t>
            </a:r>
          </a:p>
          <a:p>
            <a:r>
              <a:rPr lang="es-MX" dirty="0"/>
              <a:t>Un JWT es un estándar (RFC 7519) para transmitir información de forma segura entre partes como un objeto JSON.</a:t>
            </a:r>
          </a:p>
          <a:p>
            <a:r>
              <a:rPr lang="es-MX" b="1" dirty="0"/>
              <a:t>Estructura interna:</a:t>
            </a:r>
          </a:p>
          <a:p>
            <a:r>
              <a:rPr lang="es-MX" dirty="0"/>
              <a:t>Consta de tres partes separadas por puntos (header.payload.signature):</a:t>
            </a:r>
          </a:p>
          <a:p>
            <a:r>
              <a:rPr lang="es-MX" b="1" dirty="0"/>
              <a:t>- Header: </a:t>
            </a:r>
            <a:r>
              <a:rPr lang="es-MX" dirty="0"/>
              <a:t>Indica el algoritmo de hash (ej. HS256) y el tipo de token.</a:t>
            </a:r>
          </a:p>
          <a:p>
            <a:r>
              <a:rPr lang="es-MX" b="1" dirty="0"/>
              <a:t>- Payload: </a:t>
            </a:r>
            <a:r>
              <a:rPr lang="es-MX" dirty="0"/>
              <a:t>Contiene los claims (datos del usuario como sub, name, roles).</a:t>
            </a:r>
          </a:p>
          <a:p>
            <a:r>
              <a:rPr lang="es-MX" b="1" dirty="0"/>
              <a:t>- Signature: </a:t>
            </a:r>
            <a:r>
              <a:rPr lang="es-MX" dirty="0"/>
              <a:t>El hash del header + payload usando una clave secreta para asegurar que el token no fue alterado.</a:t>
            </a:r>
            <a:endParaRPr lang="es-PE" dirty="0"/>
          </a:p>
        </p:txBody>
      </p:sp>
    </p:spTree>
    <p:extLst>
      <p:ext uri="{BB962C8B-B14F-4D97-AF65-F5344CB8AC3E}">
        <p14:creationId xmlns:p14="http://schemas.microsoft.com/office/powerpoint/2010/main" val="2825798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EB4C93-3131-E98B-F161-A536B69C9BE5}"/>
              </a:ext>
            </a:extLst>
          </p:cNvPr>
          <p:cNvSpPr>
            <a:spLocks noGrp="1"/>
          </p:cNvSpPr>
          <p:nvPr>
            <p:ph type="title"/>
          </p:nvPr>
        </p:nvSpPr>
        <p:spPr/>
        <p:txBody>
          <a:bodyPr/>
          <a:lstStyle/>
          <a:p>
            <a:r>
              <a:rPr lang="es-PE" dirty="0"/>
              <a:t>Validación en C#:</a:t>
            </a:r>
          </a:p>
        </p:txBody>
      </p:sp>
      <p:sp>
        <p:nvSpPr>
          <p:cNvPr id="3" name="Marcador de contenido 2">
            <a:extLst>
              <a:ext uri="{FF2B5EF4-FFF2-40B4-BE49-F238E27FC236}">
                <a16:creationId xmlns:a16="http://schemas.microsoft.com/office/drawing/2014/main" id="{094DF12E-5720-09C7-42F9-6D36F588C3A1}"/>
              </a:ext>
            </a:extLst>
          </p:cNvPr>
          <p:cNvSpPr>
            <a:spLocks noGrp="1"/>
          </p:cNvSpPr>
          <p:nvPr>
            <p:ph idx="1"/>
          </p:nvPr>
        </p:nvSpPr>
        <p:spPr/>
        <p:txBody>
          <a:bodyPr/>
          <a:lstStyle/>
          <a:p>
            <a:r>
              <a:rPr lang="es-PE" dirty="0"/>
              <a:t>En el Program.cs, se utiliza el paquete </a:t>
            </a:r>
            <a:r>
              <a:rPr lang="es-PE" b="1" dirty="0"/>
              <a:t>Microsoft.AspNetCore.Authentication.JwtBearer:</a:t>
            </a:r>
          </a:p>
        </p:txBody>
      </p:sp>
      <p:pic>
        <p:nvPicPr>
          <p:cNvPr id="5" name="Imagen 4">
            <a:extLst>
              <a:ext uri="{FF2B5EF4-FFF2-40B4-BE49-F238E27FC236}">
                <a16:creationId xmlns:a16="http://schemas.microsoft.com/office/drawing/2014/main" id="{722B489E-EACF-D2AB-00B0-C36F8346D920}"/>
              </a:ext>
            </a:extLst>
          </p:cNvPr>
          <p:cNvPicPr>
            <a:picLocks noChangeAspect="1"/>
          </p:cNvPicPr>
          <p:nvPr/>
        </p:nvPicPr>
        <p:blipFill>
          <a:blip r:embed="rId2"/>
          <a:stretch>
            <a:fillRect/>
          </a:stretch>
        </p:blipFill>
        <p:spPr>
          <a:xfrm>
            <a:off x="621418" y="2530893"/>
            <a:ext cx="10748761" cy="3114127"/>
          </a:xfrm>
          <a:prstGeom prst="rect">
            <a:avLst/>
          </a:prstGeom>
        </p:spPr>
      </p:pic>
    </p:spTree>
    <p:extLst>
      <p:ext uri="{BB962C8B-B14F-4D97-AF65-F5344CB8AC3E}">
        <p14:creationId xmlns:p14="http://schemas.microsoft.com/office/powerpoint/2010/main" val="3091446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1E7AB4-AFA5-8CD7-1555-F60279C68E38}"/>
              </a:ext>
            </a:extLst>
          </p:cNvPr>
          <p:cNvSpPr>
            <a:spLocks noGrp="1"/>
          </p:cNvSpPr>
          <p:nvPr>
            <p:ph type="title"/>
          </p:nvPr>
        </p:nvSpPr>
        <p:spPr/>
        <p:txBody>
          <a:bodyPr>
            <a:noAutofit/>
          </a:bodyPr>
          <a:lstStyle/>
          <a:p>
            <a:r>
              <a:rPr lang="es-MX" sz="3600" dirty="0"/>
              <a:t>3.-¿Qué flujo de OAuth 2.0 usarías para una aplicación web en ASP.NET Core? ¿Qué diferencia hay entre el flujo Authorization Code y el flujo Client Credentials?</a:t>
            </a:r>
            <a:endParaRPr lang="es-PE" sz="3600" dirty="0"/>
          </a:p>
        </p:txBody>
      </p:sp>
      <p:sp>
        <p:nvSpPr>
          <p:cNvPr id="3" name="Marcador de contenido 2">
            <a:extLst>
              <a:ext uri="{FF2B5EF4-FFF2-40B4-BE49-F238E27FC236}">
                <a16:creationId xmlns:a16="http://schemas.microsoft.com/office/drawing/2014/main" id="{B8F7454C-19B9-0245-693E-F23C5933C0A1}"/>
              </a:ext>
            </a:extLst>
          </p:cNvPr>
          <p:cNvSpPr>
            <a:spLocks noGrp="1"/>
          </p:cNvSpPr>
          <p:nvPr>
            <p:ph sz="half" idx="1"/>
          </p:nvPr>
        </p:nvSpPr>
        <p:spPr/>
        <p:txBody>
          <a:bodyPr>
            <a:normAutofit fontScale="85000" lnSpcReduction="20000"/>
          </a:bodyPr>
          <a:lstStyle/>
          <a:p>
            <a:r>
              <a:rPr lang="es-MX" b="1" dirty="0"/>
              <a:t>1. ¿Qué flujo usarías para una aplicación web en ASP.NET Core?</a:t>
            </a:r>
          </a:p>
          <a:p>
            <a:r>
              <a:rPr lang="es-MX" dirty="0"/>
              <a:t>Para una aplicación web tradicional (donde el servidor renderiza las vistas y el usuario inicia sesión), el flujo estándar es el </a:t>
            </a:r>
            <a:r>
              <a:rPr lang="es-MX" b="1" dirty="0"/>
              <a:t>Authorization Code Flow con PKCE</a:t>
            </a:r>
            <a:r>
              <a:rPr lang="es-MX" dirty="0"/>
              <a:t> (Proof Key for Code Exchange).</a:t>
            </a:r>
          </a:p>
          <a:p>
            <a:r>
              <a:rPr lang="es-MX" dirty="0"/>
              <a:t>Este es el método más seguro porque el intercambio pesado de credenciales ocurre en el "Back-</a:t>
            </a:r>
            <a:r>
              <a:rPr lang="es-MX" dirty="0" err="1"/>
              <a:t>channel</a:t>
            </a:r>
            <a:r>
              <a:rPr lang="es-MX" dirty="0"/>
              <a:t>" (de servidor a servidor), lo que evita que los tokens de acceso queden expuestos en el historial del navegador del usuario. El uso de </a:t>
            </a:r>
            <a:r>
              <a:rPr lang="es-MX" b="1" dirty="0"/>
              <a:t>PKCE</a:t>
            </a:r>
            <a:r>
              <a:rPr lang="es-MX" dirty="0"/>
              <a:t> añade una capa extra de protección que impide que un atacante intercepte el código de autorización y lo use para obtener un token ilegalmente.</a:t>
            </a:r>
          </a:p>
          <a:p>
            <a:endParaRPr lang="es-PE" dirty="0"/>
          </a:p>
        </p:txBody>
      </p:sp>
      <p:sp>
        <p:nvSpPr>
          <p:cNvPr id="4" name="Marcador de contenido 3">
            <a:extLst>
              <a:ext uri="{FF2B5EF4-FFF2-40B4-BE49-F238E27FC236}">
                <a16:creationId xmlns:a16="http://schemas.microsoft.com/office/drawing/2014/main" id="{01C1D43C-0914-02C3-1E53-7DA7C3183539}"/>
              </a:ext>
            </a:extLst>
          </p:cNvPr>
          <p:cNvSpPr>
            <a:spLocks noGrp="1"/>
          </p:cNvSpPr>
          <p:nvPr>
            <p:ph sz="half" idx="2"/>
          </p:nvPr>
        </p:nvSpPr>
        <p:spPr/>
        <p:txBody>
          <a:bodyPr>
            <a:normAutofit fontScale="85000" lnSpcReduction="20000"/>
          </a:bodyPr>
          <a:lstStyle/>
          <a:p>
            <a:r>
              <a:rPr lang="es-MX" b="1" dirty="0"/>
              <a:t>2. ¿Qué diferencia hay entre el flujo Authorization Code y el flujo Client Credentials?</a:t>
            </a:r>
          </a:p>
          <a:p>
            <a:r>
              <a:rPr lang="es-MX" dirty="0"/>
              <a:t>La diferencia principal radica en </a:t>
            </a:r>
            <a:r>
              <a:rPr lang="es-MX" b="1" dirty="0"/>
              <a:t>quién</a:t>
            </a:r>
            <a:r>
              <a:rPr lang="es-MX" dirty="0"/>
              <a:t> es el titular de la identidad y si existe intervención humana:</a:t>
            </a:r>
          </a:p>
          <a:p>
            <a:pPr>
              <a:buFont typeface="Arial" panose="020B0604020202020204" pitchFamily="34" charset="0"/>
              <a:buChar char="•"/>
            </a:pPr>
            <a:r>
              <a:rPr lang="es-MX" b="1" dirty="0"/>
              <a:t>Authorization Code Flow:</a:t>
            </a:r>
            <a:r>
              <a:rPr lang="es-MX" dirty="0"/>
              <a:t> Se centra en el </a:t>
            </a:r>
            <a:r>
              <a:rPr lang="es-MX" b="1" dirty="0"/>
              <a:t>usuario final</a:t>
            </a:r>
            <a:r>
              <a:rPr lang="es-MX" dirty="0"/>
              <a:t>. El objetivo es que una persona autorice a la aplicación para que esta acceda a sus datos (ej. "Yo, Eddy, permito que esta App vea mi perfil"). Requiere que el usuario interactúe con una interfaz de login y otorgue consentimiento explícito.</a:t>
            </a:r>
          </a:p>
          <a:p>
            <a:pPr>
              <a:buFont typeface="Arial" panose="020B0604020202020204" pitchFamily="34" charset="0"/>
              <a:buChar char="•"/>
            </a:pPr>
            <a:r>
              <a:rPr lang="es-MX" b="1" dirty="0"/>
              <a:t>Client Credentials Flow:</a:t>
            </a:r>
            <a:r>
              <a:rPr lang="es-MX" dirty="0"/>
              <a:t> Se centra en la </a:t>
            </a:r>
            <a:r>
              <a:rPr lang="es-MX" b="1" dirty="0"/>
              <a:t>aplicación misma</a:t>
            </a:r>
            <a:r>
              <a:rPr lang="es-MX" dirty="0"/>
              <a:t>. Se usa para comunicaciones </a:t>
            </a:r>
            <a:r>
              <a:rPr lang="es-MX" b="1" dirty="0"/>
              <a:t>Machine-</a:t>
            </a:r>
            <a:r>
              <a:rPr lang="es-MX" b="1" dirty="0" err="1"/>
              <a:t>to</a:t>
            </a:r>
            <a:r>
              <a:rPr lang="es-MX" b="1" dirty="0"/>
              <a:t>-Machine (M2M)</a:t>
            </a:r>
            <a:r>
              <a:rPr lang="es-MX" dirty="0"/>
              <a:t> donde no hay un usuario presente. La aplicación se identifica ante el servidor usando su propio ID y Secreto para realizar tareas automáticas (ej. un proceso en segundo plano que sincroniza inventarios o genera reportes a medianoche).</a:t>
            </a:r>
          </a:p>
          <a:p>
            <a:endParaRPr lang="es-PE" dirty="0"/>
          </a:p>
        </p:txBody>
      </p:sp>
    </p:spTree>
    <p:extLst>
      <p:ext uri="{BB962C8B-B14F-4D97-AF65-F5344CB8AC3E}">
        <p14:creationId xmlns:p14="http://schemas.microsoft.com/office/powerpoint/2010/main" val="3877361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282160-90C5-F463-8202-8C05518AF63F}"/>
              </a:ext>
            </a:extLst>
          </p:cNvPr>
          <p:cNvSpPr>
            <a:spLocks noGrp="1"/>
          </p:cNvSpPr>
          <p:nvPr>
            <p:ph type="title"/>
          </p:nvPr>
        </p:nvSpPr>
        <p:spPr/>
        <p:txBody>
          <a:bodyPr>
            <a:noAutofit/>
          </a:bodyPr>
          <a:lstStyle/>
          <a:p>
            <a:r>
              <a:rPr lang="es-MX" sz="2800" dirty="0"/>
              <a:t>4.-¿Qué es la autorización basada en roles (RBAC) y cómo se diferencia de la autorización basada en </a:t>
            </a:r>
            <a:r>
              <a:rPr lang="es-MX" sz="2800" dirty="0" err="1"/>
              <a:t>claims</a:t>
            </a:r>
            <a:r>
              <a:rPr lang="es-MX" sz="2800" dirty="0"/>
              <a:t>? ¿En qué escenario empresarial real conviene usar una u otra dentro de una aplicación ASP.NET Core?</a:t>
            </a:r>
            <a:endParaRPr lang="es-PE" sz="2800" dirty="0"/>
          </a:p>
        </p:txBody>
      </p:sp>
      <p:sp>
        <p:nvSpPr>
          <p:cNvPr id="3" name="Marcador de contenido 2">
            <a:extLst>
              <a:ext uri="{FF2B5EF4-FFF2-40B4-BE49-F238E27FC236}">
                <a16:creationId xmlns:a16="http://schemas.microsoft.com/office/drawing/2014/main" id="{2C7B1EE2-0F89-4D8D-F101-5C2C07CA9F8F}"/>
              </a:ext>
            </a:extLst>
          </p:cNvPr>
          <p:cNvSpPr>
            <a:spLocks noGrp="1"/>
          </p:cNvSpPr>
          <p:nvPr>
            <p:ph sz="half" idx="1"/>
          </p:nvPr>
        </p:nvSpPr>
        <p:spPr/>
        <p:txBody>
          <a:bodyPr>
            <a:normAutofit fontScale="77500" lnSpcReduction="20000"/>
          </a:bodyPr>
          <a:lstStyle/>
          <a:p>
            <a:r>
              <a:rPr lang="es-MX" b="1" dirty="0"/>
              <a:t>1. ¿Qué es RBAC y cómo se diferencia de </a:t>
            </a:r>
            <a:r>
              <a:rPr lang="es-MX" b="1" dirty="0" err="1"/>
              <a:t>Claims-Based</a:t>
            </a:r>
            <a:r>
              <a:rPr lang="es-MX" b="1" dirty="0"/>
              <a:t> Authorization?</a:t>
            </a:r>
          </a:p>
          <a:p>
            <a:r>
              <a:rPr lang="es-MX" dirty="0"/>
              <a:t>La diferencia fundamental es la </a:t>
            </a:r>
            <a:r>
              <a:rPr lang="es-MX" b="1" dirty="0"/>
              <a:t>granularidad</a:t>
            </a:r>
            <a:r>
              <a:rPr lang="es-MX" dirty="0"/>
              <a:t> y el </a:t>
            </a:r>
            <a:r>
              <a:rPr lang="es-MX" b="1" dirty="0"/>
              <a:t>enfoque</a:t>
            </a:r>
            <a:r>
              <a:rPr lang="es-MX" dirty="0"/>
              <a:t> de la información.</a:t>
            </a:r>
          </a:p>
          <a:p>
            <a:pPr>
              <a:buFont typeface="Arial" panose="020B0604020202020204" pitchFamily="34" charset="0"/>
              <a:buChar char="•"/>
            </a:pPr>
            <a:r>
              <a:rPr lang="es-MX" b="1" dirty="0"/>
              <a:t>RBAC (Role-</a:t>
            </a:r>
            <a:r>
              <a:rPr lang="es-MX" b="1" dirty="0" err="1"/>
              <a:t>Based</a:t>
            </a:r>
            <a:r>
              <a:rPr lang="es-MX" b="1" dirty="0"/>
              <a:t> Access Control):</a:t>
            </a:r>
            <a:r>
              <a:rPr lang="es-MX" dirty="0"/>
              <a:t> Se basa en "paquetes" de permisos. El usuario pertenece a un grupo (ej. "Administrador", "Vendedor") y el sistema solo pregunta: </a:t>
            </a:r>
            <a:r>
              <a:rPr lang="es-MX" i="1" dirty="0"/>
              <a:t>¿Eres del grupo X?</a:t>
            </a:r>
            <a:r>
              <a:rPr lang="es-MX" dirty="0"/>
              <a:t>. Es un modelo rígido y jerárquico. Si mañana el "Vendedor" necesita un permiso extra, o le das el rol de "Administrador" (peligroso) o creas un tercer rol intermedio.</a:t>
            </a:r>
          </a:p>
          <a:p>
            <a:pPr>
              <a:buFont typeface="Arial" panose="020B0604020202020204" pitchFamily="34" charset="0"/>
              <a:buChar char="•"/>
            </a:pPr>
            <a:r>
              <a:rPr lang="es-MX" b="1" dirty="0" err="1"/>
              <a:t>Claims-Based</a:t>
            </a:r>
            <a:r>
              <a:rPr lang="es-MX" b="1" dirty="0"/>
              <a:t> Authorization:</a:t>
            </a:r>
            <a:r>
              <a:rPr lang="es-MX" dirty="0"/>
              <a:t> Se basa en "características" o "atributos" específicos del usuario (</a:t>
            </a:r>
            <a:r>
              <a:rPr lang="es-MX" dirty="0" err="1"/>
              <a:t>Claims</a:t>
            </a:r>
            <a:r>
              <a:rPr lang="es-MX" dirty="0"/>
              <a:t>). Un </a:t>
            </a:r>
            <a:r>
              <a:rPr lang="es-MX" dirty="0" err="1"/>
              <a:t>Claim</a:t>
            </a:r>
            <a:r>
              <a:rPr lang="es-MX" dirty="0"/>
              <a:t> es una declaración de </a:t>
            </a:r>
            <a:r>
              <a:rPr lang="es-MX" b="1" dirty="0"/>
              <a:t>lo que el usuario es</a:t>
            </a:r>
            <a:r>
              <a:rPr lang="es-MX" dirty="0"/>
              <a:t>, no solo su cargo. Por ejemplo: "Fecha de nacimiento", "ID de empleado", "Tiene permiso para firmar cheques de &gt;$500". El sistema pregunta: </a:t>
            </a:r>
            <a:r>
              <a:rPr lang="es-MX" i="1" dirty="0"/>
              <a:t>¿Tienes la característica X?</a:t>
            </a:r>
            <a:r>
              <a:rPr lang="es-MX" dirty="0"/>
              <a:t>. Es mucho más flexible porque puedes combinar múltiples atributos para dar acceso.</a:t>
            </a:r>
          </a:p>
          <a:p>
            <a:endParaRPr lang="es-PE" dirty="0"/>
          </a:p>
        </p:txBody>
      </p:sp>
      <p:sp>
        <p:nvSpPr>
          <p:cNvPr id="4" name="Marcador de contenido 3">
            <a:extLst>
              <a:ext uri="{FF2B5EF4-FFF2-40B4-BE49-F238E27FC236}">
                <a16:creationId xmlns:a16="http://schemas.microsoft.com/office/drawing/2014/main" id="{E188D8F7-CCB4-CE33-3DDC-AE6D41D6F59E}"/>
              </a:ext>
            </a:extLst>
          </p:cNvPr>
          <p:cNvSpPr>
            <a:spLocks noGrp="1"/>
          </p:cNvSpPr>
          <p:nvPr>
            <p:ph sz="half" idx="2"/>
          </p:nvPr>
        </p:nvSpPr>
        <p:spPr/>
        <p:txBody>
          <a:bodyPr>
            <a:noAutofit/>
          </a:bodyPr>
          <a:lstStyle/>
          <a:p>
            <a:pPr>
              <a:spcBef>
                <a:spcPts val="0"/>
              </a:spcBef>
            </a:pPr>
            <a:r>
              <a:rPr lang="es-MX" sz="1600" b="1" dirty="0"/>
              <a:t>2. Escenario empresarial: ¿Cuándo usar cada uno?</a:t>
            </a:r>
          </a:p>
          <a:p>
            <a:pPr>
              <a:spcBef>
                <a:spcPts val="0"/>
              </a:spcBef>
            </a:pPr>
            <a:r>
              <a:rPr lang="es-MX" sz="1600" b="1" dirty="0"/>
              <a:t>Usa RBAC (Roles) para lo Simple</a:t>
            </a:r>
          </a:p>
          <a:p>
            <a:pPr>
              <a:spcBef>
                <a:spcPts val="0"/>
              </a:spcBef>
            </a:pPr>
            <a:r>
              <a:rPr lang="es-MX" sz="1400" b="1" dirty="0"/>
              <a:t>Escenario: Un sistema de inventario básico para una tienda de repuestos.</a:t>
            </a:r>
          </a:p>
          <a:p>
            <a:pPr>
              <a:spcBef>
                <a:spcPts val="0"/>
              </a:spcBef>
            </a:pPr>
            <a:r>
              <a:rPr lang="es-MX" sz="1400" b="1" dirty="0"/>
              <a:t>Cuándo conviene: </a:t>
            </a:r>
            <a:r>
              <a:rPr lang="es-MX" sz="1400" dirty="0"/>
              <a:t>Cuando solo tienes dos o tres tipos de personas (ej. Dueño, Vendedor, Almacenero) y sus funciones nunca cambian. El Dueño borra, el Vendedor vende, el Almacenero registra. No hay condiciones extra.</a:t>
            </a:r>
          </a:p>
          <a:p>
            <a:pPr>
              <a:spcBef>
                <a:spcPts val="0"/>
              </a:spcBef>
            </a:pPr>
            <a:r>
              <a:rPr lang="es-MX" sz="1400" b="1" dirty="0"/>
              <a:t>En ASP.NET Core: </a:t>
            </a:r>
            <a:r>
              <a:rPr lang="es-MX" sz="1400" dirty="0"/>
              <a:t>Usas [</a:t>
            </a:r>
            <a:r>
              <a:rPr lang="es-MX" sz="1400" dirty="0" err="1"/>
              <a:t>Authorize</a:t>
            </a:r>
            <a:r>
              <a:rPr lang="es-MX" sz="1400" dirty="0"/>
              <a:t>(Roles = "</a:t>
            </a:r>
            <a:r>
              <a:rPr lang="es-MX" sz="1400" dirty="0" err="1"/>
              <a:t>Admin</a:t>
            </a:r>
            <a:r>
              <a:rPr lang="es-MX" sz="1400" dirty="0"/>
              <a:t>")].</a:t>
            </a:r>
          </a:p>
          <a:p>
            <a:pPr>
              <a:spcBef>
                <a:spcPts val="0"/>
              </a:spcBef>
            </a:pPr>
            <a:r>
              <a:rPr lang="es-MX" sz="1400" dirty="0"/>
              <a:t>Usa </a:t>
            </a:r>
            <a:r>
              <a:rPr lang="es-MX" sz="1400" dirty="0" err="1"/>
              <a:t>Claims</a:t>
            </a:r>
            <a:r>
              <a:rPr lang="es-MX" sz="1400" dirty="0"/>
              <a:t> (Políticas) para lo Complejo.</a:t>
            </a:r>
          </a:p>
          <a:p>
            <a:pPr>
              <a:spcBef>
                <a:spcPts val="0"/>
              </a:spcBef>
            </a:pPr>
            <a:r>
              <a:rPr lang="es-MX" sz="1400" b="1" dirty="0"/>
              <a:t>Escenario: Una plataforma de banca en línea o un sistema médico.</a:t>
            </a:r>
          </a:p>
          <a:p>
            <a:pPr>
              <a:spcBef>
                <a:spcPts val="0"/>
              </a:spcBef>
            </a:pPr>
            <a:r>
              <a:rPr lang="es-MX" sz="1400" b="1" dirty="0"/>
              <a:t>Cuándo conviene: </a:t>
            </a:r>
            <a:r>
              <a:rPr lang="es-MX" sz="1400" dirty="0"/>
              <a:t>Cuando el permiso depende de varios factores a la vez.</a:t>
            </a:r>
          </a:p>
          <a:p>
            <a:pPr>
              <a:spcBef>
                <a:spcPts val="0"/>
              </a:spcBef>
            </a:pPr>
            <a:r>
              <a:rPr lang="es-MX" sz="1400" b="1" dirty="0"/>
              <a:t>Ejemplo: </a:t>
            </a:r>
            <a:r>
              <a:rPr lang="es-MX" sz="1400" dirty="0"/>
              <a:t>Un médico solo puede ver una historia clínica SI es de su especialidad Y si está en su horario de turno.</a:t>
            </a:r>
          </a:p>
          <a:p>
            <a:pPr>
              <a:spcBef>
                <a:spcPts val="0"/>
              </a:spcBef>
            </a:pPr>
            <a:r>
              <a:rPr lang="es-MX" sz="1400" dirty="0"/>
              <a:t>No puedes crear un rol para cada combinación; mejor usas </a:t>
            </a:r>
            <a:r>
              <a:rPr lang="es-MX" sz="1400" dirty="0" err="1"/>
              <a:t>Claims</a:t>
            </a:r>
            <a:r>
              <a:rPr lang="es-MX" sz="1400" dirty="0"/>
              <a:t> (Especialidad, Horario) y una Política que los valide juntos.</a:t>
            </a:r>
          </a:p>
          <a:p>
            <a:pPr>
              <a:spcBef>
                <a:spcPts val="0"/>
              </a:spcBef>
            </a:pPr>
            <a:r>
              <a:rPr lang="es-MX" sz="1400" dirty="0"/>
              <a:t>En ASP.NET Core: Usas [</a:t>
            </a:r>
            <a:r>
              <a:rPr lang="es-MX" sz="1400" dirty="0" err="1"/>
              <a:t>Authorize</a:t>
            </a:r>
            <a:r>
              <a:rPr lang="es-MX" sz="1400" dirty="0"/>
              <a:t>(</a:t>
            </a:r>
            <a:r>
              <a:rPr lang="es-MX" sz="1400" dirty="0" err="1"/>
              <a:t>Policy</a:t>
            </a:r>
            <a:r>
              <a:rPr lang="es-MX" sz="1400" dirty="0"/>
              <a:t> = "</a:t>
            </a:r>
            <a:r>
              <a:rPr lang="es-MX" sz="1400" dirty="0" err="1"/>
              <a:t>SoloMedicosDeTurno</a:t>
            </a:r>
            <a:r>
              <a:rPr lang="es-MX" sz="1400" dirty="0"/>
              <a:t>")]</a:t>
            </a:r>
            <a:endParaRPr lang="es-PE" sz="1400" dirty="0"/>
          </a:p>
        </p:txBody>
      </p:sp>
    </p:spTree>
    <p:extLst>
      <p:ext uri="{BB962C8B-B14F-4D97-AF65-F5344CB8AC3E}">
        <p14:creationId xmlns:p14="http://schemas.microsoft.com/office/powerpoint/2010/main" val="2161518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0E129-5028-B47C-E8DF-D1E7973B2E63}"/>
              </a:ext>
            </a:extLst>
          </p:cNvPr>
          <p:cNvSpPr>
            <a:spLocks noGrp="1"/>
          </p:cNvSpPr>
          <p:nvPr>
            <p:ph type="title"/>
          </p:nvPr>
        </p:nvSpPr>
        <p:spPr/>
        <p:txBody>
          <a:bodyPr>
            <a:normAutofit/>
          </a:bodyPr>
          <a:lstStyle/>
          <a:p>
            <a:r>
              <a:rPr lang="es-MX" sz="2800" dirty="0"/>
              <a:t>5.-¿Por qué no se debe guardar una contraseña en texto plano? Explica el concepto de hash + </a:t>
            </a:r>
            <a:r>
              <a:rPr lang="es-MX" sz="2800" dirty="0" err="1"/>
              <a:t>salt</a:t>
            </a:r>
            <a:r>
              <a:rPr lang="es-MX" sz="2800" dirty="0"/>
              <a:t> e implementa un ejemplo en C# usando </a:t>
            </a:r>
            <a:r>
              <a:rPr lang="es-MX" sz="2800" dirty="0" err="1"/>
              <a:t>BCrypt.Net</a:t>
            </a:r>
            <a:r>
              <a:rPr lang="es-MX" sz="2800" dirty="0"/>
              <a:t> o PBKDF2.</a:t>
            </a:r>
            <a:endParaRPr lang="es-PE" sz="2800" dirty="0"/>
          </a:p>
        </p:txBody>
      </p:sp>
      <p:sp>
        <p:nvSpPr>
          <p:cNvPr id="3" name="Marcador de contenido 2">
            <a:extLst>
              <a:ext uri="{FF2B5EF4-FFF2-40B4-BE49-F238E27FC236}">
                <a16:creationId xmlns:a16="http://schemas.microsoft.com/office/drawing/2014/main" id="{D276526B-6698-E25C-2809-8103DE686650}"/>
              </a:ext>
            </a:extLst>
          </p:cNvPr>
          <p:cNvSpPr>
            <a:spLocks noGrp="1"/>
          </p:cNvSpPr>
          <p:nvPr>
            <p:ph sz="half" idx="1"/>
          </p:nvPr>
        </p:nvSpPr>
        <p:spPr/>
        <p:txBody>
          <a:bodyPr>
            <a:normAutofit fontScale="85000" lnSpcReduction="20000"/>
          </a:bodyPr>
          <a:lstStyle/>
          <a:p>
            <a:r>
              <a:rPr lang="es-MX" b="1" dirty="0"/>
              <a:t>1. ¿Por qué no guardar contraseñas en texto plano?</a:t>
            </a:r>
          </a:p>
          <a:p>
            <a:r>
              <a:rPr lang="es-MX" dirty="0"/>
              <a:t>Si un atacante logra acceso a tu base de datos (por una inyección SQL o una filtración de archivos), tendría inmediatamente todas las credenciales de tus usuarios.</a:t>
            </a:r>
          </a:p>
          <a:p>
            <a:pPr>
              <a:buFont typeface="Arial" panose="020B0604020202020204" pitchFamily="34" charset="0"/>
              <a:buChar char="•"/>
            </a:pPr>
            <a:r>
              <a:rPr lang="es-MX" b="1" dirty="0"/>
              <a:t>Efecto Dominó:</a:t>
            </a:r>
            <a:r>
              <a:rPr lang="es-MX" dirty="0"/>
              <a:t> La mayoría de las personas reutilizan contraseñas. Si hackean tu sistema, los atacantes probarán esos correos y claves en bancos, Gmail o redes sociales.</a:t>
            </a:r>
          </a:p>
          <a:p>
            <a:pPr>
              <a:buFont typeface="Arial" panose="020B0604020202020204" pitchFamily="34" charset="0"/>
              <a:buChar char="•"/>
            </a:pPr>
            <a:r>
              <a:rPr lang="es-MX" b="1" dirty="0"/>
              <a:t>Responsabilidad Legal:</a:t>
            </a:r>
            <a:r>
              <a:rPr lang="es-MX" dirty="0"/>
              <a:t> En muchos países, guardar contraseñas sin cifrar es una negligencia legal grave.</a:t>
            </a:r>
          </a:p>
          <a:p>
            <a:endParaRPr lang="es-PE" dirty="0"/>
          </a:p>
        </p:txBody>
      </p:sp>
      <p:sp>
        <p:nvSpPr>
          <p:cNvPr id="4" name="Marcador de contenido 3">
            <a:extLst>
              <a:ext uri="{FF2B5EF4-FFF2-40B4-BE49-F238E27FC236}">
                <a16:creationId xmlns:a16="http://schemas.microsoft.com/office/drawing/2014/main" id="{75FEE8E5-A8FB-BD1B-E48D-D81667593A1D}"/>
              </a:ext>
            </a:extLst>
          </p:cNvPr>
          <p:cNvSpPr>
            <a:spLocks noGrp="1"/>
          </p:cNvSpPr>
          <p:nvPr>
            <p:ph sz="half" idx="2"/>
          </p:nvPr>
        </p:nvSpPr>
        <p:spPr/>
        <p:txBody>
          <a:bodyPr>
            <a:normAutofit fontScale="85000" lnSpcReduction="20000"/>
          </a:bodyPr>
          <a:lstStyle/>
          <a:p>
            <a:r>
              <a:rPr lang="es-MX" b="1" dirty="0"/>
              <a:t>2. El Concepto: Hash + Salt</a:t>
            </a:r>
          </a:p>
          <a:p>
            <a:r>
              <a:rPr lang="es-MX" dirty="0"/>
              <a:t>Para protegerlas, usamos funciones de Hash, que son algoritmos de una sola vía (no se pueden "descifrar").</a:t>
            </a:r>
          </a:p>
          <a:p>
            <a:r>
              <a:rPr lang="es-MX" b="1" dirty="0"/>
              <a:t>¿Qué es el Hash? </a:t>
            </a:r>
            <a:r>
              <a:rPr lang="es-MX" dirty="0"/>
              <a:t>Es convertir un texto (ej. Hola123) en una cadena única e irreversible (ej. 8f82c...). Si cambias una sola letra, el hash cambia por completo.</a:t>
            </a:r>
          </a:p>
          <a:p>
            <a:r>
              <a:rPr lang="es-MX" b="1" dirty="0"/>
              <a:t>¿Qué es el Salt (Sal)? </a:t>
            </a:r>
            <a:r>
              <a:rPr lang="es-MX" dirty="0"/>
              <a:t>Es un valor aleatorio que se genera para cada usuario y se añade a la contraseña antes de aplicar el hash.</a:t>
            </a:r>
          </a:p>
          <a:p>
            <a:r>
              <a:rPr lang="es-MX" b="1" dirty="0"/>
              <a:t>¿Para qué sirve? </a:t>
            </a:r>
            <a:r>
              <a:rPr lang="es-MX" dirty="0"/>
              <a:t>Evita que dos usuarios con la misma contraseña tengan el mismo hash. Además, protege contra Tablas Arcoíris (bases de datos de hashes ya calculados por hackers).</a:t>
            </a:r>
          </a:p>
          <a:p>
            <a:r>
              <a:rPr lang="es-MX" b="1" dirty="0"/>
              <a:t>Fórmula</a:t>
            </a:r>
            <a:r>
              <a:rPr lang="es-MX" dirty="0"/>
              <a:t>: Hash(Contraseña + Salt) = Resultado Guardado</a:t>
            </a:r>
            <a:endParaRPr lang="es-PE" dirty="0"/>
          </a:p>
        </p:txBody>
      </p:sp>
    </p:spTree>
    <p:extLst>
      <p:ext uri="{BB962C8B-B14F-4D97-AF65-F5344CB8AC3E}">
        <p14:creationId xmlns:p14="http://schemas.microsoft.com/office/powerpoint/2010/main" val="2372300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C298C-D752-F5B9-47F9-A568595139EA}"/>
              </a:ext>
            </a:extLst>
          </p:cNvPr>
          <p:cNvSpPr>
            <a:spLocks noGrp="1"/>
          </p:cNvSpPr>
          <p:nvPr>
            <p:ph type="title"/>
          </p:nvPr>
        </p:nvSpPr>
        <p:spPr/>
        <p:txBody>
          <a:bodyPr>
            <a:normAutofit/>
          </a:bodyPr>
          <a:lstStyle/>
          <a:p>
            <a:r>
              <a:rPr lang="es-MX" sz="4000" b="1" dirty="0"/>
              <a:t>3. Implementación en C# con </a:t>
            </a:r>
            <a:r>
              <a:rPr lang="es-MX" sz="4000" b="1" dirty="0" err="1"/>
              <a:t>BCrypt.Net</a:t>
            </a:r>
            <a:endParaRPr lang="es-PE" sz="4000" b="1" dirty="0"/>
          </a:p>
        </p:txBody>
      </p:sp>
      <p:sp>
        <p:nvSpPr>
          <p:cNvPr id="3" name="Marcador de contenido 2">
            <a:extLst>
              <a:ext uri="{FF2B5EF4-FFF2-40B4-BE49-F238E27FC236}">
                <a16:creationId xmlns:a16="http://schemas.microsoft.com/office/drawing/2014/main" id="{10808514-2E0B-0A83-8713-1AEE85C3DB90}"/>
              </a:ext>
            </a:extLst>
          </p:cNvPr>
          <p:cNvSpPr>
            <a:spLocks noGrp="1"/>
          </p:cNvSpPr>
          <p:nvPr>
            <p:ph idx="1"/>
          </p:nvPr>
        </p:nvSpPr>
        <p:spPr/>
        <p:txBody>
          <a:bodyPr/>
          <a:lstStyle/>
          <a:p>
            <a:r>
              <a:rPr lang="es-MX" b="1" dirty="0" err="1"/>
              <a:t>BCrypt</a:t>
            </a:r>
            <a:r>
              <a:rPr lang="es-MX" dirty="0"/>
              <a:t> es la opción preferida en ASP.NET Core porque es lento por diseño (hace que sea carísimo para un hacker intentar adivinar por fuerza bruta) y maneja el </a:t>
            </a:r>
            <a:r>
              <a:rPr lang="es-MX" b="1" dirty="0"/>
              <a:t>Salt</a:t>
            </a:r>
            <a:r>
              <a:rPr lang="es-MX" dirty="0"/>
              <a:t> de forma automática.</a:t>
            </a:r>
          </a:p>
          <a:p>
            <a:r>
              <a:rPr lang="es-MX" b="1" dirty="0"/>
              <a:t>Instalación</a:t>
            </a:r>
          </a:p>
          <a:p>
            <a:r>
              <a:rPr lang="es-MX" dirty="0"/>
              <a:t>Primero, instala el paquete </a:t>
            </a:r>
            <a:r>
              <a:rPr lang="es-MX" dirty="0" err="1"/>
              <a:t>NuGet</a:t>
            </a:r>
            <a:r>
              <a:rPr lang="es-MX" dirty="0"/>
              <a:t>:</a:t>
            </a:r>
          </a:p>
          <a:p>
            <a:r>
              <a:rPr lang="es-PE" dirty="0" err="1"/>
              <a:t>dotnet</a:t>
            </a:r>
            <a:r>
              <a:rPr lang="es-PE" dirty="0"/>
              <a:t> </a:t>
            </a:r>
            <a:r>
              <a:rPr lang="es-PE" dirty="0" err="1"/>
              <a:t>add</a:t>
            </a:r>
            <a:r>
              <a:rPr lang="es-PE" dirty="0"/>
              <a:t> </a:t>
            </a:r>
            <a:r>
              <a:rPr lang="es-PE" dirty="0" err="1"/>
              <a:t>package</a:t>
            </a:r>
            <a:r>
              <a:rPr lang="es-PE" dirty="0"/>
              <a:t> </a:t>
            </a:r>
            <a:r>
              <a:rPr lang="es-PE" dirty="0" err="1"/>
              <a:t>BCrypt.Net</a:t>
            </a:r>
            <a:r>
              <a:rPr lang="es-PE" dirty="0"/>
              <a:t>-Next</a:t>
            </a:r>
          </a:p>
          <a:p>
            <a:endParaRPr lang="es-PE" dirty="0"/>
          </a:p>
        </p:txBody>
      </p:sp>
    </p:spTree>
    <p:extLst>
      <p:ext uri="{BB962C8B-B14F-4D97-AF65-F5344CB8AC3E}">
        <p14:creationId xmlns:p14="http://schemas.microsoft.com/office/powerpoint/2010/main" val="3028366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1C18E-4AFC-A777-D855-E51790A44D5D}"/>
              </a:ext>
            </a:extLst>
          </p:cNvPr>
          <p:cNvSpPr>
            <a:spLocks noGrp="1"/>
          </p:cNvSpPr>
          <p:nvPr>
            <p:ph type="title"/>
          </p:nvPr>
        </p:nvSpPr>
        <p:spPr/>
        <p:txBody>
          <a:bodyPr/>
          <a:lstStyle/>
          <a:p>
            <a:r>
              <a:rPr lang="es-PE" dirty="0"/>
              <a:t>Código de ejemplo (C#)</a:t>
            </a:r>
          </a:p>
        </p:txBody>
      </p:sp>
      <p:pic>
        <p:nvPicPr>
          <p:cNvPr id="5" name="Marcador de contenido 4">
            <a:extLst>
              <a:ext uri="{FF2B5EF4-FFF2-40B4-BE49-F238E27FC236}">
                <a16:creationId xmlns:a16="http://schemas.microsoft.com/office/drawing/2014/main" id="{7530CD3B-2307-1546-DC4E-DA2573E76371}"/>
              </a:ext>
            </a:extLst>
          </p:cNvPr>
          <p:cNvPicPr>
            <a:picLocks noGrp="1" noChangeAspect="1"/>
          </p:cNvPicPr>
          <p:nvPr>
            <p:ph idx="1"/>
          </p:nvPr>
        </p:nvPicPr>
        <p:blipFill>
          <a:blip r:embed="rId2"/>
          <a:stretch>
            <a:fillRect/>
          </a:stretch>
        </p:blipFill>
        <p:spPr>
          <a:xfrm>
            <a:off x="1227908" y="1929303"/>
            <a:ext cx="8503920" cy="4157472"/>
          </a:xfrm>
        </p:spPr>
      </p:pic>
    </p:spTree>
    <p:extLst>
      <p:ext uri="{BB962C8B-B14F-4D97-AF65-F5344CB8AC3E}">
        <p14:creationId xmlns:p14="http://schemas.microsoft.com/office/powerpoint/2010/main" val="324863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8947DE-4150-6C9F-0649-61B102BB4A34}"/>
              </a:ext>
            </a:extLst>
          </p:cNvPr>
          <p:cNvSpPr>
            <a:spLocks noGrp="1"/>
          </p:cNvSpPr>
          <p:nvPr>
            <p:ph type="title"/>
          </p:nvPr>
        </p:nvSpPr>
        <p:spPr/>
        <p:txBody>
          <a:bodyPr/>
          <a:lstStyle/>
          <a:p>
            <a:r>
              <a:rPr lang="es-MX" dirty="0"/>
              <a:t>Aplicación:</a:t>
            </a:r>
            <a:endParaRPr lang="es-PE" dirty="0"/>
          </a:p>
        </p:txBody>
      </p:sp>
      <p:pic>
        <p:nvPicPr>
          <p:cNvPr id="5" name="Marcador de contenido 4">
            <a:extLst>
              <a:ext uri="{FF2B5EF4-FFF2-40B4-BE49-F238E27FC236}">
                <a16:creationId xmlns:a16="http://schemas.microsoft.com/office/drawing/2014/main" id="{10230394-9D88-C6DD-473E-EED12BAFEFF7}"/>
              </a:ext>
            </a:extLst>
          </p:cNvPr>
          <p:cNvPicPr>
            <a:picLocks noGrp="1" noChangeAspect="1"/>
          </p:cNvPicPr>
          <p:nvPr>
            <p:ph idx="1"/>
          </p:nvPr>
        </p:nvPicPr>
        <p:blipFill>
          <a:blip r:embed="rId2"/>
          <a:srcRect l="10524" t="-2810" r="2486" b="34112"/>
          <a:stretch/>
        </p:blipFill>
        <p:spPr>
          <a:xfrm>
            <a:off x="516338" y="2446235"/>
            <a:ext cx="5251115" cy="889457"/>
          </a:xfrm>
        </p:spPr>
      </p:pic>
      <p:pic>
        <p:nvPicPr>
          <p:cNvPr id="7" name="Imagen 6">
            <a:extLst>
              <a:ext uri="{FF2B5EF4-FFF2-40B4-BE49-F238E27FC236}">
                <a16:creationId xmlns:a16="http://schemas.microsoft.com/office/drawing/2014/main" id="{D6E43425-9A92-E0E4-B76B-D10F310F5DE1}"/>
              </a:ext>
            </a:extLst>
          </p:cNvPr>
          <p:cNvPicPr>
            <a:picLocks noChangeAspect="1"/>
          </p:cNvPicPr>
          <p:nvPr/>
        </p:nvPicPr>
        <p:blipFill>
          <a:blip r:embed="rId3"/>
          <a:stretch>
            <a:fillRect/>
          </a:stretch>
        </p:blipFill>
        <p:spPr>
          <a:xfrm>
            <a:off x="6301009" y="1869778"/>
            <a:ext cx="5514612" cy="4435180"/>
          </a:xfrm>
          <a:prstGeom prst="rect">
            <a:avLst/>
          </a:prstGeom>
        </p:spPr>
      </p:pic>
    </p:spTree>
    <p:extLst>
      <p:ext uri="{BB962C8B-B14F-4D97-AF65-F5344CB8AC3E}">
        <p14:creationId xmlns:p14="http://schemas.microsoft.com/office/powerpoint/2010/main" val="732486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A9963F-01D8-B0DB-144B-6379428A5E05}"/>
              </a:ext>
            </a:extLst>
          </p:cNvPr>
          <p:cNvSpPr>
            <a:spLocks noGrp="1"/>
          </p:cNvSpPr>
          <p:nvPr>
            <p:ph type="title"/>
          </p:nvPr>
        </p:nvSpPr>
        <p:spPr/>
        <p:txBody>
          <a:bodyPr>
            <a:noAutofit/>
          </a:bodyPr>
          <a:lstStyle/>
          <a:p>
            <a:r>
              <a:rPr lang="es-MX" sz="3200" dirty="0"/>
              <a:t>6.-¿Qué son los ataques SQL </a:t>
            </a:r>
            <a:r>
              <a:rPr lang="es-MX" sz="3200" dirty="0" err="1"/>
              <a:t>Injection</a:t>
            </a:r>
            <a:r>
              <a:rPr lang="es-MX" sz="3200" dirty="0"/>
              <a:t>, XSS y CSRF? ¿Qué mecanismos ofrece ASP.NET Core para mitigar cada uno?</a:t>
            </a:r>
            <a:endParaRPr lang="es-PE" sz="3200" dirty="0"/>
          </a:p>
        </p:txBody>
      </p:sp>
      <p:sp>
        <p:nvSpPr>
          <p:cNvPr id="3" name="Marcador de contenido 2">
            <a:extLst>
              <a:ext uri="{FF2B5EF4-FFF2-40B4-BE49-F238E27FC236}">
                <a16:creationId xmlns:a16="http://schemas.microsoft.com/office/drawing/2014/main" id="{A04DFB2C-E697-C42A-07A0-05B0DF03D927}"/>
              </a:ext>
            </a:extLst>
          </p:cNvPr>
          <p:cNvSpPr>
            <a:spLocks noGrp="1"/>
          </p:cNvSpPr>
          <p:nvPr>
            <p:ph sz="half" idx="1"/>
          </p:nvPr>
        </p:nvSpPr>
        <p:spPr/>
        <p:txBody>
          <a:bodyPr>
            <a:normAutofit fontScale="70000" lnSpcReduction="20000"/>
          </a:bodyPr>
          <a:lstStyle/>
          <a:p>
            <a:r>
              <a:rPr lang="es-MX" b="1" dirty="0"/>
              <a:t>1. SQL </a:t>
            </a:r>
            <a:r>
              <a:rPr lang="es-MX" b="1" dirty="0" err="1"/>
              <a:t>Injection</a:t>
            </a:r>
            <a:r>
              <a:rPr lang="es-MX" b="1" dirty="0"/>
              <a:t> (Inyección SQL</a:t>
            </a:r>
            <a:r>
              <a:rPr lang="es-MX" dirty="0"/>
              <a:t>)</a:t>
            </a:r>
          </a:p>
          <a:p>
            <a:r>
              <a:rPr lang="es-MX" b="1" dirty="0"/>
              <a:t>¿Qué es? </a:t>
            </a:r>
            <a:r>
              <a:rPr lang="es-MX" dirty="0"/>
              <a:t>Ocurre cuando un atacante inserta código SQL malicioso en un campo de entrada (como un login o un buscador) para manipular la base de datos.</a:t>
            </a:r>
          </a:p>
          <a:p>
            <a:r>
              <a:rPr lang="es-MX" b="1" dirty="0"/>
              <a:t>El peligro: </a:t>
            </a:r>
            <a:r>
              <a:rPr lang="es-MX" dirty="0"/>
              <a:t>Pueden saltarse el login, borrar tablas enteras o extraer toda tu lista de usuarios y contraseñas.</a:t>
            </a:r>
          </a:p>
          <a:p>
            <a:r>
              <a:rPr lang="es-MX" b="1" dirty="0"/>
              <a:t>Ejemplo: </a:t>
            </a:r>
            <a:r>
              <a:rPr lang="es-MX" dirty="0"/>
              <a:t>En lugar de poner un nombre, el atacante escribe ' OR 1=1 --. Esto hace que la consulta siempre sea verdadera y le dé acceso sin contraseña.</a:t>
            </a:r>
          </a:p>
          <a:p>
            <a:r>
              <a:rPr lang="es-MX" b="1" dirty="0"/>
              <a:t>Mecanismos en ASP.NET Core:</a:t>
            </a:r>
          </a:p>
          <a:p>
            <a:r>
              <a:rPr lang="es-MX" b="1" dirty="0" err="1"/>
              <a:t>Entity</a:t>
            </a:r>
            <a:r>
              <a:rPr lang="es-MX" b="1" dirty="0"/>
              <a:t> Framework Core: </a:t>
            </a:r>
            <a:r>
              <a:rPr lang="es-MX" dirty="0"/>
              <a:t>Al usar </a:t>
            </a:r>
            <a:r>
              <a:rPr lang="es-MX" dirty="0" err="1"/>
              <a:t>Linq</a:t>
            </a:r>
            <a:r>
              <a:rPr lang="es-MX" dirty="0"/>
              <a:t> (</a:t>
            </a:r>
            <a:r>
              <a:rPr lang="es-MX" dirty="0" err="1"/>
              <a:t>context.Usuarios.Where</a:t>
            </a:r>
            <a:r>
              <a:rPr lang="es-MX" dirty="0"/>
              <a:t>(u =&gt; </a:t>
            </a:r>
            <a:r>
              <a:rPr lang="es-MX" dirty="0" err="1"/>
              <a:t>u.Id</a:t>
            </a:r>
            <a:r>
              <a:rPr lang="es-MX" dirty="0"/>
              <a:t> == id)), EF Core usa automáticamente consultas parametrizadas. Esto separa el comando SQL de los datos del usuario, haciendo imposible la inyección.</a:t>
            </a:r>
          </a:p>
          <a:p>
            <a:r>
              <a:rPr lang="es-MX" b="1" dirty="0" err="1"/>
              <a:t>Dapper</a:t>
            </a:r>
            <a:r>
              <a:rPr lang="es-MX" b="1" dirty="0"/>
              <a:t> o ADO.NET: </a:t>
            </a:r>
            <a:r>
              <a:rPr lang="es-MX" dirty="0"/>
              <a:t>Si usas SQL puro, ASP.NET Core te obliga a usar parámetros (ej. @Id) en lugar de concatenar </a:t>
            </a:r>
            <a:r>
              <a:rPr lang="es-MX" dirty="0" err="1"/>
              <a:t>strings</a:t>
            </a:r>
            <a:r>
              <a:rPr lang="es-MX" dirty="0"/>
              <a:t>.</a:t>
            </a:r>
            <a:endParaRPr lang="es-PE" dirty="0"/>
          </a:p>
        </p:txBody>
      </p:sp>
      <p:sp>
        <p:nvSpPr>
          <p:cNvPr id="4" name="Marcador de contenido 3">
            <a:extLst>
              <a:ext uri="{FF2B5EF4-FFF2-40B4-BE49-F238E27FC236}">
                <a16:creationId xmlns:a16="http://schemas.microsoft.com/office/drawing/2014/main" id="{0175034C-9508-BCBD-AC7B-671F8DD31C44}"/>
              </a:ext>
            </a:extLst>
          </p:cNvPr>
          <p:cNvSpPr>
            <a:spLocks noGrp="1"/>
          </p:cNvSpPr>
          <p:nvPr>
            <p:ph sz="half" idx="2"/>
          </p:nvPr>
        </p:nvSpPr>
        <p:spPr/>
        <p:txBody>
          <a:bodyPr>
            <a:normAutofit fontScale="70000" lnSpcReduction="20000"/>
          </a:bodyPr>
          <a:lstStyle/>
          <a:p>
            <a:r>
              <a:rPr lang="es-MX" b="1" dirty="0"/>
              <a:t>2. XSS (Cross-Site Scripting)</a:t>
            </a:r>
          </a:p>
          <a:p>
            <a:r>
              <a:rPr lang="es-MX" b="1" dirty="0"/>
              <a:t>¿Qué es? </a:t>
            </a:r>
            <a:r>
              <a:rPr lang="es-MX" dirty="0"/>
              <a:t>El atacante logra inyectar scripts de JavaScript en las páginas que otros usuarios ven.</a:t>
            </a:r>
          </a:p>
          <a:p>
            <a:r>
              <a:rPr lang="es-MX" b="1" dirty="0"/>
              <a:t>El peligro: </a:t>
            </a:r>
            <a:r>
              <a:rPr lang="es-MX" dirty="0"/>
              <a:t>El script puede robar las cookies de sesión del usuario, redirigirlo a sitios falsos o capturar lo que escribe en pantalla.</a:t>
            </a:r>
          </a:p>
          <a:p>
            <a:r>
              <a:rPr lang="es-MX" b="1" dirty="0"/>
              <a:t>Ejemplo: </a:t>
            </a:r>
            <a:r>
              <a:rPr lang="es-MX" dirty="0"/>
              <a:t>Un atacante deja un comentario en un producto que dice &lt;script&gt;</a:t>
            </a:r>
            <a:r>
              <a:rPr lang="es-MX" dirty="0" err="1"/>
              <a:t>alert</a:t>
            </a:r>
            <a:r>
              <a:rPr lang="es-MX" dirty="0"/>
              <a:t>(</a:t>
            </a:r>
            <a:r>
              <a:rPr lang="es-MX" dirty="0" err="1"/>
              <a:t>document.cookie</a:t>
            </a:r>
            <a:r>
              <a:rPr lang="es-MX" dirty="0"/>
              <a:t>)&lt;/script&gt;. Cada vez que alguien vea ese comentario, su navegador ejecutará el script.</a:t>
            </a:r>
          </a:p>
          <a:p>
            <a:r>
              <a:rPr lang="es-MX" b="1" dirty="0"/>
              <a:t>Mecanismos en ASP.NET Core:</a:t>
            </a:r>
          </a:p>
          <a:p>
            <a:r>
              <a:rPr lang="es-MX" b="1" dirty="0"/>
              <a:t>Codificación Automática (</a:t>
            </a:r>
            <a:r>
              <a:rPr lang="es-MX" b="1" dirty="0" err="1"/>
              <a:t>Encoding</a:t>
            </a:r>
            <a:r>
              <a:rPr lang="es-MX" b="1" dirty="0"/>
              <a:t>): </a:t>
            </a:r>
            <a:r>
              <a:rPr lang="es-MX" dirty="0"/>
              <a:t>Los motores de vistas como </a:t>
            </a:r>
            <a:r>
              <a:rPr lang="es-MX" dirty="0" err="1"/>
              <a:t>Razor</a:t>
            </a:r>
            <a:r>
              <a:rPr lang="es-MX" dirty="0"/>
              <a:t> codifican automáticamente cualquier salida. Si intentas mostrar &lt;script&gt;, </a:t>
            </a:r>
            <a:r>
              <a:rPr lang="es-MX" dirty="0" err="1"/>
              <a:t>Razor</a:t>
            </a:r>
            <a:r>
              <a:rPr lang="es-MX" dirty="0"/>
              <a:t> lo convierte en &amp;</a:t>
            </a:r>
            <a:r>
              <a:rPr lang="es-MX" dirty="0" err="1"/>
              <a:t>lt;script&amp;gt</a:t>
            </a:r>
            <a:r>
              <a:rPr lang="es-MX" dirty="0"/>
              <a:t>;, mostrándolo como texto plano en lugar de ejecutarlo.</a:t>
            </a:r>
          </a:p>
          <a:p>
            <a:r>
              <a:rPr lang="es-MX" b="1" dirty="0"/>
              <a:t>Librerías de Sanitización: </a:t>
            </a:r>
            <a:r>
              <a:rPr lang="es-MX" dirty="0"/>
              <a:t>Si necesitas permitir algo de HTML (como negritas), ASP.NET ofrece el </a:t>
            </a:r>
            <a:r>
              <a:rPr lang="es-MX" dirty="0" err="1"/>
              <a:t>HtmlEncoder</a:t>
            </a:r>
            <a:r>
              <a:rPr lang="es-MX" dirty="0"/>
              <a:t> para limpiar etiquetas peligrosas.</a:t>
            </a:r>
            <a:endParaRPr lang="es-PE" dirty="0"/>
          </a:p>
        </p:txBody>
      </p:sp>
    </p:spTree>
    <p:extLst>
      <p:ext uri="{BB962C8B-B14F-4D97-AF65-F5344CB8AC3E}">
        <p14:creationId xmlns:p14="http://schemas.microsoft.com/office/powerpoint/2010/main" val="3786216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A9939-CEB5-8AF4-9998-3864E7002B1D}"/>
              </a:ext>
            </a:extLst>
          </p:cNvPr>
          <p:cNvSpPr>
            <a:spLocks noGrp="1"/>
          </p:cNvSpPr>
          <p:nvPr>
            <p:ph type="title"/>
          </p:nvPr>
        </p:nvSpPr>
        <p:spPr/>
        <p:txBody>
          <a:bodyPr>
            <a:noAutofit/>
          </a:bodyPr>
          <a:lstStyle/>
          <a:p>
            <a:r>
              <a:rPr lang="es-MX" sz="3600" dirty="0"/>
              <a:t>6.-¿Qué son los ataques SQL </a:t>
            </a:r>
            <a:r>
              <a:rPr lang="es-MX" sz="3600" dirty="0" err="1"/>
              <a:t>Injection</a:t>
            </a:r>
            <a:r>
              <a:rPr lang="es-MX" sz="3600" dirty="0"/>
              <a:t>, XSS y CSRF? ¿Qué mecanismos ofrece ASP.NET Core para mitigar cada uno?</a:t>
            </a:r>
            <a:endParaRPr lang="es-PE" sz="3600" dirty="0"/>
          </a:p>
        </p:txBody>
      </p:sp>
      <p:sp>
        <p:nvSpPr>
          <p:cNvPr id="3" name="Marcador de contenido 2">
            <a:extLst>
              <a:ext uri="{FF2B5EF4-FFF2-40B4-BE49-F238E27FC236}">
                <a16:creationId xmlns:a16="http://schemas.microsoft.com/office/drawing/2014/main" id="{2587E3AE-B4CA-A17A-0D94-8E570FA70F0A}"/>
              </a:ext>
            </a:extLst>
          </p:cNvPr>
          <p:cNvSpPr>
            <a:spLocks noGrp="1"/>
          </p:cNvSpPr>
          <p:nvPr>
            <p:ph idx="1"/>
          </p:nvPr>
        </p:nvSpPr>
        <p:spPr/>
        <p:txBody>
          <a:bodyPr>
            <a:normAutofit fontScale="92500" lnSpcReduction="20000"/>
          </a:bodyPr>
          <a:lstStyle/>
          <a:p>
            <a:r>
              <a:rPr lang="es-MX" b="1" dirty="0"/>
              <a:t>3. CSRF (Cross-Site </a:t>
            </a:r>
            <a:r>
              <a:rPr lang="es-MX" b="1" dirty="0" err="1"/>
              <a:t>Request</a:t>
            </a:r>
            <a:r>
              <a:rPr lang="es-MX" b="1" dirty="0"/>
              <a:t> </a:t>
            </a:r>
            <a:r>
              <a:rPr lang="es-MX" b="1" dirty="0" err="1"/>
              <a:t>Forgery</a:t>
            </a:r>
            <a:r>
              <a:rPr lang="es-MX" b="1" dirty="0"/>
              <a:t>)</a:t>
            </a:r>
          </a:p>
          <a:p>
            <a:r>
              <a:rPr lang="es-MX" b="1" dirty="0"/>
              <a:t>¿Qué es? </a:t>
            </a:r>
            <a:r>
              <a:rPr lang="es-MX" dirty="0"/>
              <a:t>Es un ataque que engaña a un usuario autenticado para que envíe una solicitud maliciosa a una aplicación web sin su consentimiento.</a:t>
            </a:r>
          </a:p>
          <a:p>
            <a:r>
              <a:rPr lang="es-MX" b="1" dirty="0"/>
              <a:t>El peligro: </a:t>
            </a:r>
            <a:r>
              <a:rPr lang="es-MX" dirty="0"/>
              <a:t>El atacante aprovecha que tú ya tienes la sesión iniciada en tu banco o sistema. Te envía un link falso y, al hacer clic, tu navegador envía una orden de "Transferir dinero" o "Borrar cuenta" porque el servidor cree que eres tú.</a:t>
            </a:r>
          </a:p>
          <a:p>
            <a:r>
              <a:rPr lang="es-MX" b="1" dirty="0"/>
              <a:t>Mecanismos en ASP.NET Core:</a:t>
            </a:r>
          </a:p>
          <a:p>
            <a:r>
              <a:rPr lang="es-MX" b="1" dirty="0" err="1"/>
              <a:t>Antiforgery</a:t>
            </a:r>
            <a:r>
              <a:rPr lang="es-MX" b="1" dirty="0"/>
              <a:t> Tokens (Tokens de validación): </a:t>
            </a:r>
            <a:r>
              <a:rPr lang="es-MX" dirty="0"/>
              <a:t>ASP.NET Core genera un código único y oculto en cada formulario (__</a:t>
            </a:r>
            <a:r>
              <a:rPr lang="es-MX" dirty="0" err="1"/>
              <a:t>RequestVerificationToken</a:t>
            </a:r>
            <a:r>
              <a:rPr lang="es-MX" dirty="0"/>
              <a:t>).</a:t>
            </a:r>
          </a:p>
          <a:p>
            <a:r>
              <a:rPr lang="es-MX" b="1" dirty="0"/>
              <a:t>Atributo [</a:t>
            </a:r>
            <a:r>
              <a:rPr lang="es-MX" b="1" dirty="0" err="1"/>
              <a:t>ValidateAntiForgeryToken</a:t>
            </a:r>
            <a:r>
              <a:rPr lang="es-MX" b="1" dirty="0"/>
              <a:t>]: </a:t>
            </a:r>
            <a:r>
              <a:rPr lang="es-MX" dirty="0"/>
              <a:t>Cuando el formulario llega al servidor, ASP.NET verifica que el token coincida. Como el sitio del atacante no puede conocer ese token secreto, la solicitud es rechazada.</a:t>
            </a:r>
          </a:p>
          <a:p>
            <a:r>
              <a:rPr lang="es-MX" b="1" dirty="0"/>
              <a:t>Tag </a:t>
            </a:r>
            <a:r>
              <a:rPr lang="es-MX" b="1" dirty="0" err="1"/>
              <a:t>Helpers</a:t>
            </a:r>
            <a:r>
              <a:rPr lang="es-MX" b="1" dirty="0"/>
              <a:t>: </a:t>
            </a:r>
            <a:r>
              <a:rPr lang="es-MX" dirty="0"/>
              <a:t>En </a:t>
            </a:r>
            <a:r>
              <a:rPr lang="es-MX" dirty="0" err="1"/>
              <a:t>Razor</a:t>
            </a:r>
            <a:r>
              <a:rPr lang="es-MX" dirty="0"/>
              <a:t>, el tag &lt;</a:t>
            </a:r>
            <a:r>
              <a:rPr lang="es-MX" dirty="0" err="1"/>
              <a:t>form</a:t>
            </a:r>
            <a:r>
              <a:rPr lang="es-MX" dirty="0"/>
              <a:t>&gt; genera este token automáticamente por ti.</a:t>
            </a:r>
            <a:endParaRPr lang="es-PE" dirty="0"/>
          </a:p>
        </p:txBody>
      </p:sp>
    </p:spTree>
    <p:extLst>
      <p:ext uri="{BB962C8B-B14F-4D97-AF65-F5344CB8AC3E}">
        <p14:creationId xmlns:p14="http://schemas.microsoft.com/office/powerpoint/2010/main" val="3939609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854B91-F907-8B1E-C987-EB1085D6929D}"/>
              </a:ext>
            </a:extLst>
          </p:cNvPr>
          <p:cNvSpPr>
            <a:spLocks noGrp="1"/>
          </p:cNvSpPr>
          <p:nvPr>
            <p:ph type="title"/>
          </p:nvPr>
        </p:nvSpPr>
        <p:spPr/>
        <p:txBody>
          <a:bodyPr>
            <a:noAutofit/>
          </a:bodyPr>
          <a:lstStyle/>
          <a:p>
            <a:r>
              <a:rPr lang="es-MX" sz="3200" b="0" i="0" dirty="0">
                <a:solidFill>
                  <a:srgbClr val="1F2328"/>
                </a:solidFill>
                <a:effectLst/>
                <a:latin typeface="Mona Sans VF"/>
              </a:rPr>
              <a:t>7.-Si diseñaran el módulo de login de una app empresarial en C#, ¿qué capas de seguridad implementarían desde el registro del usuario hasta el acceso a un recurso protegido?</a:t>
            </a:r>
            <a:endParaRPr lang="es-PE" sz="3200" dirty="0"/>
          </a:p>
        </p:txBody>
      </p:sp>
      <p:sp>
        <p:nvSpPr>
          <p:cNvPr id="3" name="Marcador de contenido 2">
            <a:extLst>
              <a:ext uri="{FF2B5EF4-FFF2-40B4-BE49-F238E27FC236}">
                <a16:creationId xmlns:a16="http://schemas.microsoft.com/office/drawing/2014/main" id="{173CD287-30DA-C333-4D6C-7C944718879F}"/>
              </a:ext>
            </a:extLst>
          </p:cNvPr>
          <p:cNvSpPr>
            <a:spLocks noGrp="1"/>
          </p:cNvSpPr>
          <p:nvPr>
            <p:ph sz="half" idx="1"/>
          </p:nvPr>
        </p:nvSpPr>
        <p:spPr/>
        <p:txBody>
          <a:bodyPr>
            <a:normAutofit fontScale="92500" lnSpcReduction="10000"/>
          </a:bodyPr>
          <a:lstStyle/>
          <a:p>
            <a:r>
              <a:rPr lang="es-MX" b="1" dirty="0"/>
              <a:t>1. Capa de Identidad y Persistencia (Data </a:t>
            </a:r>
            <a:r>
              <a:rPr lang="es-MX" b="1" dirty="0" err="1"/>
              <a:t>Layer</a:t>
            </a:r>
            <a:r>
              <a:rPr lang="es-MX" b="1" dirty="0"/>
              <a:t>)</a:t>
            </a:r>
          </a:p>
          <a:p>
            <a:r>
              <a:rPr lang="es-MX" dirty="0"/>
              <a:t>En una exposición, aquí explicas cómo protegemos el "repositorio de la verdad".</a:t>
            </a:r>
          </a:p>
          <a:p>
            <a:pPr>
              <a:buFont typeface="Arial" panose="020B0604020202020204" pitchFamily="34" charset="0"/>
              <a:buChar char="•"/>
            </a:pPr>
            <a:r>
              <a:rPr lang="es-MX" b="1" dirty="0"/>
              <a:t>Derivación de Claves (PBKDF2/</a:t>
            </a:r>
            <a:r>
              <a:rPr lang="es-MX" b="1" dirty="0" err="1"/>
              <a:t>BCrypt</a:t>
            </a:r>
            <a:r>
              <a:rPr lang="es-MX" b="1" dirty="0"/>
              <a:t>):</a:t>
            </a:r>
            <a:r>
              <a:rPr lang="es-MX" dirty="0"/>
              <a:t> Se explica que no se guarda la clave, sino un resultado matemático complejo. El uso de </a:t>
            </a:r>
            <a:r>
              <a:rPr lang="es-MX" b="1" dirty="0" err="1"/>
              <a:t>Work</a:t>
            </a:r>
            <a:r>
              <a:rPr lang="es-MX" b="1" dirty="0"/>
              <a:t> Factor</a:t>
            </a:r>
            <a:r>
              <a:rPr lang="es-MX" dirty="0"/>
              <a:t> (factor de costo) es clave aquí: permite que el hash sea más lento de procesar para el hardware moderno, frenando ataques de fuerza bruta.</a:t>
            </a:r>
          </a:p>
          <a:p>
            <a:pPr>
              <a:buFont typeface="Arial" panose="020B0604020202020204" pitchFamily="34" charset="0"/>
              <a:buChar char="•"/>
            </a:pPr>
            <a:r>
              <a:rPr lang="es-MX" b="1" dirty="0"/>
              <a:t>Normalización de Datos:</a:t>
            </a:r>
            <a:r>
              <a:rPr lang="es-MX" dirty="0"/>
              <a:t> Antes de guardar, se normalizan correos y nombres de usuario para evitar duplicidad y ataques de confusión de caracteres (homógrafos).</a:t>
            </a:r>
          </a:p>
        </p:txBody>
      </p:sp>
      <p:sp>
        <p:nvSpPr>
          <p:cNvPr id="4" name="Marcador de contenido 3">
            <a:extLst>
              <a:ext uri="{FF2B5EF4-FFF2-40B4-BE49-F238E27FC236}">
                <a16:creationId xmlns:a16="http://schemas.microsoft.com/office/drawing/2014/main" id="{8D1F45DC-4FE9-9A98-3DC2-EB9790549010}"/>
              </a:ext>
            </a:extLst>
          </p:cNvPr>
          <p:cNvSpPr>
            <a:spLocks noGrp="1"/>
          </p:cNvSpPr>
          <p:nvPr>
            <p:ph sz="half" idx="2"/>
          </p:nvPr>
        </p:nvSpPr>
        <p:spPr/>
        <p:txBody>
          <a:bodyPr>
            <a:normAutofit fontScale="92500" lnSpcReduction="10000"/>
          </a:bodyPr>
          <a:lstStyle/>
          <a:p>
            <a:r>
              <a:rPr lang="es-MX" b="1" dirty="0"/>
              <a:t>2. Capa de Autenticación y Desafío (Middleware </a:t>
            </a:r>
            <a:r>
              <a:rPr lang="es-MX" b="1" dirty="0" err="1"/>
              <a:t>Layer</a:t>
            </a:r>
            <a:r>
              <a:rPr lang="es-MX" b="1" dirty="0"/>
              <a:t>)</a:t>
            </a:r>
          </a:p>
          <a:p>
            <a:r>
              <a:rPr lang="es-MX" dirty="0"/>
              <a:t>Aquí detallamos el proceso de "dar la cara" ante el sistema.</a:t>
            </a:r>
          </a:p>
          <a:p>
            <a:r>
              <a:rPr lang="es-MX" b="1" dirty="0"/>
              <a:t>MFA (Multi-Factor </a:t>
            </a:r>
            <a:r>
              <a:rPr lang="es-MX" b="1" dirty="0" err="1"/>
              <a:t>Authentication</a:t>
            </a:r>
            <a:r>
              <a:rPr lang="es-MX" b="1" dirty="0"/>
              <a:t>): </a:t>
            </a:r>
            <a:r>
              <a:rPr lang="es-MX" dirty="0"/>
              <a:t>Es la implementación de un segundo canal de confianza. En .NET usamos el </a:t>
            </a:r>
            <a:r>
              <a:rPr lang="es-MX" dirty="0" err="1"/>
              <a:t>UserManager</a:t>
            </a:r>
            <a:r>
              <a:rPr lang="es-MX" dirty="0"/>
              <a:t> para generar tokens de tiempo limitado (TOTP).</a:t>
            </a:r>
          </a:p>
          <a:p>
            <a:r>
              <a:rPr lang="es-MX" b="1" dirty="0"/>
              <a:t>Protocolo </a:t>
            </a:r>
            <a:r>
              <a:rPr lang="es-MX" b="1" dirty="0" err="1"/>
              <a:t>OpenID</a:t>
            </a:r>
            <a:r>
              <a:rPr lang="es-MX" b="1" dirty="0"/>
              <a:t> </a:t>
            </a:r>
            <a:r>
              <a:rPr lang="es-MX" b="1" dirty="0" err="1"/>
              <a:t>Connect</a:t>
            </a:r>
            <a:r>
              <a:rPr lang="es-MX" b="1" dirty="0"/>
              <a:t>: </a:t>
            </a:r>
            <a:r>
              <a:rPr lang="es-MX" dirty="0"/>
              <a:t>Si la app es empresarial, mencionas que delegamos la identidad a un proveedor (como Azure AD o Auth0) para no gestionar nosotros las claves, usando el flujo de Authorization Code.</a:t>
            </a:r>
            <a:endParaRPr lang="es-PE" dirty="0"/>
          </a:p>
        </p:txBody>
      </p:sp>
    </p:spTree>
    <p:extLst>
      <p:ext uri="{BB962C8B-B14F-4D97-AF65-F5344CB8AC3E}">
        <p14:creationId xmlns:p14="http://schemas.microsoft.com/office/powerpoint/2010/main" val="1369560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854B91-F907-8B1E-C987-EB1085D6929D}"/>
              </a:ext>
            </a:extLst>
          </p:cNvPr>
          <p:cNvSpPr>
            <a:spLocks noGrp="1"/>
          </p:cNvSpPr>
          <p:nvPr>
            <p:ph type="title"/>
          </p:nvPr>
        </p:nvSpPr>
        <p:spPr/>
        <p:txBody>
          <a:bodyPr>
            <a:noAutofit/>
          </a:bodyPr>
          <a:lstStyle/>
          <a:p>
            <a:r>
              <a:rPr lang="es-MX" sz="3200" b="0" i="0" dirty="0">
                <a:solidFill>
                  <a:srgbClr val="1F2328"/>
                </a:solidFill>
                <a:effectLst/>
                <a:latin typeface="Mona Sans VF"/>
              </a:rPr>
              <a:t>7.-Si diseñaran el módulo de login de una app empresarial en C#, ¿qué capas de seguridad implementarían desde el registro del usuario hasta el acceso a un recurso protegido?</a:t>
            </a:r>
            <a:endParaRPr lang="es-PE" sz="3200" dirty="0"/>
          </a:p>
        </p:txBody>
      </p:sp>
      <p:sp>
        <p:nvSpPr>
          <p:cNvPr id="3" name="Marcador de contenido 2">
            <a:extLst>
              <a:ext uri="{FF2B5EF4-FFF2-40B4-BE49-F238E27FC236}">
                <a16:creationId xmlns:a16="http://schemas.microsoft.com/office/drawing/2014/main" id="{173CD287-30DA-C333-4D6C-7C944718879F}"/>
              </a:ext>
            </a:extLst>
          </p:cNvPr>
          <p:cNvSpPr>
            <a:spLocks noGrp="1"/>
          </p:cNvSpPr>
          <p:nvPr>
            <p:ph sz="half" idx="1"/>
          </p:nvPr>
        </p:nvSpPr>
        <p:spPr/>
        <p:txBody>
          <a:bodyPr>
            <a:normAutofit fontScale="92500" lnSpcReduction="20000"/>
          </a:bodyPr>
          <a:lstStyle/>
          <a:p>
            <a:r>
              <a:rPr lang="es-MX" b="1" dirty="0"/>
              <a:t>3. Capa de Sesión y Transporte (Security Tokens)</a:t>
            </a:r>
          </a:p>
          <a:p>
            <a:r>
              <a:rPr lang="es-MX" dirty="0"/>
              <a:t>Una vez que sabemos quién es el usuario, debemos mantener esa sesión sin comprometer la seguridad.</a:t>
            </a:r>
          </a:p>
          <a:p>
            <a:r>
              <a:rPr lang="es-MX" b="1" dirty="0"/>
              <a:t>JWT (JSON Web Tokens) con Rotación: </a:t>
            </a:r>
            <a:r>
              <a:rPr lang="es-MX" dirty="0"/>
              <a:t>Explicas la estructura del token (</a:t>
            </a:r>
            <a:r>
              <a:rPr lang="es-MX" dirty="0" err="1"/>
              <a:t>Header</a:t>
            </a:r>
            <a:r>
              <a:rPr lang="es-MX" dirty="0"/>
              <a:t>, </a:t>
            </a:r>
            <a:r>
              <a:rPr lang="es-MX" dirty="0" err="1"/>
              <a:t>Payload</a:t>
            </a:r>
            <a:r>
              <a:rPr lang="es-MX" dirty="0"/>
              <a:t>, </a:t>
            </a:r>
            <a:r>
              <a:rPr lang="es-MX" dirty="0" err="1"/>
              <a:t>Signature</a:t>
            </a:r>
            <a:r>
              <a:rPr lang="es-MX" dirty="0"/>
              <a:t>). El punto fuerte aquí es la Rotación de </a:t>
            </a:r>
            <a:r>
              <a:rPr lang="es-MX" dirty="0" err="1"/>
              <a:t>Refresh</a:t>
            </a:r>
            <a:r>
              <a:rPr lang="es-MX" dirty="0"/>
              <a:t> Tokens: si un atacante roba un token, este expirará pronto, y el sistema detectará si alguien intenta usar un token de refresco viejo para invalidar toda la sesión.</a:t>
            </a:r>
          </a:p>
          <a:p>
            <a:r>
              <a:rPr lang="es-MX" b="1" dirty="0"/>
              <a:t>Políticas de Seguridad en Cookies: </a:t>
            </a:r>
            <a:r>
              <a:rPr lang="es-MX" dirty="0"/>
              <a:t>Si usas Cookies en lugar de JWT, mencionas los atributos </a:t>
            </a:r>
            <a:r>
              <a:rPr lang="es-MX" dirty="0" err="1"/>
              <a:t>HttpOnly</a:t>
            </a:r>
            <a:r>
              <a:rPr lang="es-MX" dirty="0"/>
              <a:t> (evita XSS), </a:t>
            </a:r>
            <a:r>
              <a:rPr lang="es-MX" dirty="0" err="1"/>
              <a:t>Secure</a:t>
            </a:r>
            <a:r>
              <a:rPr lang="es-MX" dirty="0"/>
              <a:t> (solo HTTPS) y </a:t>
            </a:r>
            <a:r>
              <a:rPr lang="es-MX" dirty="0" err="1"/>
              <a:t>SameSite</a:t>
            </a:r>
            <a:r>
              <a:rPr lang="es-MX" dirty="0"/>
              <a:t>=</a:t>
            </a:r>
            <a:r>
              <a:rPr lang="es-MX" dirty="0" err="1"/>
              <a:t>Strict</a:t>
            </a:r>
            <a:r>
              <a:rPr lang="es-MX" dirty="0"/>
              <a:t> (evita CSRF).</a:t>
            </a:r>
          </a:p>
        </p:txBody>
      </p:sp>
      <p:sp>
        <p:nvSpPr>
          <p:cNvPr id="4" name="Marcador de contenido 3">
            <a:extLst>
              <a:ext uri="{FF2B5EF4-FFF2-40B4-BE49-F238E27FC236}">
                <a16:creationId xmlns:a16="http://schemas.microsoft.com/office/drawing/2014/main" id="{8D1F45DC-4FE9-9A98-3DC2-EB9790549010}"/>
              </a:ext>
            </a:extLst>
          </p:cNvPr>
          <p:cNvSpPr>
            <a:spLocks noGrp="1"/>
          </p:cNvSpPr>
          <p:nvPr>
            <p:ph sz="half" idx="2"/>
          </p:nvPr>
        </p:nvSpPr>
        <p:spPr/>
        <p:txBody>
          <a:bodyPr>
            <a:normAutofit fontScale="92500" lnSpcReduction="20000"/>
          </a:bodyPr>
          <a:lstStyle/>
          <a:p>
            <a:r>
              <a:rPr lang="es-MX" b="1" dirty="0"/>
              <a:t>4. Capa de Autorización Granular (</a:t>
            </a:r>
            <a:r>
              <a:rPr lang="es-MX" b="1" dirty="0" err="1"/>
              <a:t>Logic</a:t>
            </a:r>
            <a:r>
              <a:rPr lang="es-MX" b="1" dirty="0"/>
              <a:t> </a:t>
            </a:r>
            <a:r>
              <a:rPr lang="es-MX" b="1" dirty="0" err="1"/>
              <a:t>Layer</a:t>
            </a:r>
            <a:r>
              <a:rPr lang="es-MX" b="1" dirty="0"/>
              <a:t>)</a:t>
            </a:r>
          </a:p>
          <a:p>
            <a:r>
              <a:rPr lang="es-MX" dirty="0"/>
              <a:t>Es el control de acceso final antes de ejecutar cualquier lógica de negocio.</a:t>
            </a:r>
          </a:p>
          <a:p>
            <a:r>
              <a:rPr lang="es-MX" b="1" dirty="0"/>
              <a:t>Abstracción mediante Requerimientos y </a:t>
            </a:r>
            <a:r>
              <a:rPr lang="es-MX" b="1" dirty="0" err="1"/>
              <a:t>Handlers</a:t>
            </a:r>
            <a:r>
              <a:rPr lang="es-MX" b="1" dirty="0"/>
              <a:t>: </a:t>
            </a:r>
            <a:r>
              <a:rPr lang="es-MX" dirty="0"/>
              <a:t>En lugar de saturar los controladores con </a:t>
            </a:r>
            <a:r>
              <a:rPr lang="es-MX" dirty="0" err="1"/>
              <a:t>if</a:t>
            </a:r>
            <a:r>
              <a:rPr lang="es-MX" dirty="0"/>
              <a:t>(</a:t>
            </a:r>
            <a:r>
              <a:rPr lang="es-MX" dirty="0" err="1"/>
              <a:t>User.IsInRole</a:t>
            </a:r>
            <a:r>
              <a:rPr lang="es-MX" dirty="0"/>
              <a:t>), creas Requerimientos de Autorización.</a:t>
            </a:r>
          </a:p>
          <a:p>
            <a:r>
              <a:rPr lang="es-MX" b="1" dirty="0"/>
              <a:t>Ejemplo: </a:t>
            </a:r>
            <a:r>
              <a:rPr lang="es-MX" dirty="0"/>
              <a:t>Un requerimiento de "</a:t>
            </a:r>
            <a:r>
              <a:rPr lang="es-MX" dirty="0" err="1"/>
              <a:t>EdadMínima</a:t>
            </a:r>
            <a:r>
              <a:rPr lang="es-MX" dirty="0"/>
              <a:t>" o "</a:t>
            </a:r>
            <a:r>
              <a:rPr lang="es-MX" dirty="0" err="1"/>
              <a:t>SucursalAsignada</a:t>
            </a:r>
            <a:r>
              <a:rPr lang="es-MX" dirty="0"/>
              <a:t>". Esto separa la regla de negocio de la infraestructura de seguridad.</a:t>
            </a:r>
          </a:p>
          <a:p>
            <a:r>
              <a:rPr lang="es-MX" b="1" dirty="0"/>
              <a:t>Filtros de Acción Globales: </a:t>
            </a:r>
            <a:r>
              <a:rPr lang="es-MX" dirty="0"/>
              <a:t>Aplicar un </a:t>
            </a:r>
            <a:r>
              <a:rPr lang="es-MX" dirty="0" err="1"/>
              <a:t>AuthorizeFilter</a:t>
            </a:r>
            <a:r>
              <a:rPr lang="es-MX" dirty="0"/>
              <a:t> a toda la aplicación por defecto (</a:t>
            </a:r>
            <a:r>
              <a:rPr lang="es-MX" dirty="0" err="1"/>
              <a:t>Deny</a:t>
            </a:r>
            <a:r>
              <a:rPr lang="es-MX" dirty="0"/>
              <a:t> </a:t>
            </a:r>
            <a:r>
              <a:rPr lang="es-MX" dirty="0" err="1"/>
              <a:t>by</a:t>
            </a:r>
            <a:r>
              <a:rPr lang="es-MX" dirty="0"/>
              <a:t> default) y solo abrir excepciones con [</a:t>
            </a:r>
            <a:r>
              <a:rPr lang="es-MX" dirty="0" err="1"/>
              <a:t>AllowAnonymous</a:t>
            </a:r>
            <a:r>
              <a:rPr lang="es-MX" dirty="0"/>
              <a:t>] donde sea estrictamente necesario.</a:t>
            </a:r>
            <a:endParaRPr lang="es-PE" dirty="0"/>
          </a:p>
        </p:txBody>
      </p:sp>
    </p:spTree>
    <p:extLst>
      <p:ext uri="{BB962C8B-B14F-4D97-AF65-F5344CB8AC3E}">
        <p14:creationId xmlns:p14="http://schemas.microsoft.com/office/powerpoint/2010/main" val="3164393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01A8A-CDF6-93FC-DF9B-A599EE1B4F9D}"/>
              </a:ext>
            </a:extLst>
          </p:cNvPr>
          <p:cNvSpPr>
            <a:spLocks noGrp="1"/>
          </p:cNvSpPr>
          <p:nvPr>
            <p:ph type="title"/>
          </p:nvPr>
        </p:nvSpPr>
        <p:spPr/>
        <p:txBody>
          <a:bodyPr/>
          <a:lstStyle/>
          <a:p>
            <a:r>
              <a:rPr lang="es-PE" b="0" i="0" dirty="0">
                <a:solidFill>
                  <a:srgbClr val="1F2328"/>
                </a:solidFill>
                <a:effectLst/>
                <a:latin typeface="Mona Sans VF"/>
              </a:rPr>
              <a:t>8.-Conclusiones individuales.</a:t>
            </a:r>
            <a:endParaRPr lang="es-PE" dirty="0"/>
          </a:p>
        </p:txBody>
      </p:sp>
      <p:sp>
        <p:nvSpPr>
          <p:cNvPr id="3" name="Marcador de contenido 2">
            <a:extLst>
              <a:ext uri="{FF2B5EF4-FFF2-40B4-BE49-F238E27FC236}">
                <a16:creationId xmlns:a16="http://schemas.microsoft.com/office/drawing/2014/main" id="{D2B5A3D1-DCFE-6636-DAC7-16A127A4B326}"/>
              </a:ext>
            </a:extLst>
          </p:cNvPr>
          <p:cNvSpPr>
            <a:spLocks noGrp="1"/>
          </p:cNvSpPr>
          <p:nvPr>
            <p:ph sz="half" idx="1"/>
          </p:nvPr>
        </p:nvSpPr>
        <p:spPr/>
        <p:txBody>
          <a:bodyPr/>
          <a:lstStyle/>
          <a:p>
            <a:r>
              <a:rPr lang="es-MX" b="1" dirty="0"/>
              <a:t>Eddy:</a:t>
            </a:r>
            <a:r>
              <a:rPr lang="es-MX" dirty="0"/>
              <a:t> "Mi conclusión principal es que la seguridad debe ser el núcleo de cualquier arquitectura de software y no un añadido posterior. Al implementar herramientas como </a:t>
            </a:r>
            <a:r>
              <a:rPr lang="es-MX" b="1" dirty="0" err="1"/>
              <a:t>BCrypt</a:t>
            </a:r>
            <a:r>
              <a:rPr lang="es-MX" dirty="0"/>
              <a:t> y </a:t>
            </a:r>
            <a:r>
              <a:rPr lang="es-MX" b="1" dirty="0" err="1"/>
              <a:t>Entity</a:t>
            </a:r>
            <a:r>
              <a:rPr lang="es-MX" b="1" dirty="0"/>
              <a:t> Framework</a:t>
            </a:r>
            <a:r>
              <a:rPr lang="es-MX" dirty="0"/>
              <a:t>, he comprendido que nuestra responsabilidad como desarrolladores es anticipar vulnerabilidades para proteger la integridad de los datos. Para mí, construir un sistema robusto significa priorizar la defensa en profundidad desde la primera línea de código, asegurando que cada capa sea un muro contra posibles ataques."</a:t>
            </a:r>
            <a:endParaRPr lang="es-PE" dirty="0"/>
          </a:p>
        </p:txBody>
      </p:sp>
      <p:sp>
        <p:nvSpPr>
          <p:cNvPr id="4" name="Marcador de contenido 3">
            <a:extLst>
              <a:ext uri="{FF2B5EF4-FFF2-40B4-BE49-F238E27FC236}">
                <a16:creationId xmlns:a16="http://schemas.microsoft.com/office/drawing/2014/main" id="{560E7EF9-25F2-6400-791C-ED69D0514127}"/>
              </a:ext>
            </a:extLst>
          </p:cNvPr>
          <p:cNvSpPr>
            <a:spLocks noGrp="1"/>
          </p:cNvSpPr>
          <p:nvPr>
            <p:ph sz="half" idx="2"/>
          </p:nvPr>
        </p:nvSpPr>
        <p:spPr/>
        <p:txBody>
          <a:bodyPr/>
          <a:lstStyle/>
          <a:p>
            <a:r>
              <a:rPr lang="es-MX" b="1" dirty="0"/>
              <a:t>Francisco:</a:t>
            </a:r>
            <a:r>
              <a:rPr lang="es-MX" dirty="0"/>
              <a:t> "A través de este proyecto, concluyo que el desarrollo moderno exige un equilibrio entre una seguridad rigurosa y una experiencia de usuario fluida. El uso de </a:t>
            </a:r>
            <a:r>
              <a:rPr lang="es-MX" b="1" dirty="0"/>
              <a:t>JWT</a:t>
            </a:r>
            <a:r>
              <a:rPr lang="es-MX" dirty="0"/>
              <a:t> y la autorización basada en </a:t>
            </a:r>
            <a:r>
              <a:rPr lang="es-MX" b="1" dirty="0" err="1"/>
              <a:t>Claims</a:t>
            </a:r>
            <a:r>
              <a:rPr lang="es-MX" dirty="0"/>
              <a:t> me ha demostrado que podemos crear aplicaciones altamente escalables y flexibles sin comprometer la confianza. Considero que dominar estándares internacionales como </a:t>
            </a:r>
            <a:r>
              <a:rPr lang="es-MX" b="1" dirty="0"/>
              <a:t>OAuth 2.0</a:t>
            </a:r>
            <a:r>
              <a:rPr lang="es-MX" dirty="0"/>
              <a:t> es lo que nos permite, como futuros profesionales, diseñar soluciones que se adapten a las reglas complejas del mundo empresarial actual."</a:t>
            </a:r>
            <a:endParaRPr lang="es-PE" dirty="0"/>
          </a:p>
        </p:txBody>
      </p:sp>
    </p:spTree>
    <p:extLst>
      <p:ext uri="{BB962C8B-B14F-4D97-AF65-F5344CB8AC3E}">
        <p14:creationId xmlns:p14="http://schemas.microsoft.com/office/powerpoint/2010/main" val="1157120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F8DEF8-35E7-4436-B666-DB0BBC3D29B5}"/>
              </a:ext>
            </a:extLst>
          </p:cNvPr>
          <p:cNvSpPr>
            <a:spLocks noGrp="1"/>
          </p:cNvSpPr>
          <p:nvPr>
            <p:ph type="title"/>
          </p:nvPr>
        </p:nvSpPr>
        <p:spPr/>
        <p:txBody>
          <a:bodyPr/>
          <a:lstStyle/>
          <a:p>
            <a:r>
              <a:rPr lang="es-PE" b="0" i="0" dirty="0">
                <a:solidFill>
                  <a:srgbClr val="1F2328"/>
                </a:solidFill>
                <a:effectLst/>
                <a:latin typeface="Mona Sans VF"/>
              </a:rPr>
              <a:t>9.-Bibliografía.</a:t>
            </a:r>
            <a:endParaRPr lang="es-PE" dirty="0"/>
          </a:p>
        </p:txBody>
      </p:sp>
      <p:sp>
        <p:nvSpPr>
          <p:cNvPr id="3" name="Marcador de contenido 2">
            <a:extLst>
              <a:ext uri="{FF2B5EF4-FFF2-40B4-BE49-F238E27FC236}">
                <a16:creationId xmlns:a16="http://schemas.microsoft.com/office/drawing/2014/main" id="{AF888499-6D5C-0945-A397-DFFD12DCA48A}"/>
              </a:ext>
            </a:extLst>
          </p:cNvPr>
          <p:cNvSpPr>
            <a:spLocks noGrp="1"/>
          </p:cNvSpPr>
          <p:nvPr>
            <p:ph idx="1"/>
          </p:nvPr>
        </p:nvSpPr>
        <p:spPr/>
        <p:txBody>
          <a:bodyPr>
            <a:normAutofit fontScale="77500" lnSpcReduction="20000"/>
          </a:bodyPr>
          <a:lstStyle/>
          <a:p>
            <a:r>
              <a:rPr lang="es-MX" dirty="0"/>
              <a:t>Microsoft. (2024). Seguridad y protección de datos en ASP.NET Core. Recuperado de https://learn.microsoft.com/es-es/aspnet/core/security/</a:t>
            </a:r>
          </a:p>
          <a:p>
            <a:endParaRPr lang="es-MX" dirty="0"/>
          </a:p>
          <a:p>
            <a:r>
              <a:rPr lang="es-MX" dirty="0"/>
              <a:t>OWASP </a:t>
            </a:r>
            <a:r>
              <a:rPr lang="es-MX" dirty="0" err="1"/>
              <a:t>Foundation</a:t>
            </a:r>
            <a:r>
              <a:rPr lang="es-MX" dirty="0"/>
              <a:t>. (2021). Guía de los 10 riesgos de seguridad más críticos en aplicaciones web. Recuperado de https://owasp.org/www-project-top-ten/</a:t>
            </a:r>
          </a:p>
          <a:p>
            <a:endParaRPr lang="es-MX" dirty="0"/>
          </a:p>
          <a:p>
            <a:r>
              <a:rPr lang="es-MX" dirty="0"/>
              <a:t>Auth0. (2023). Guía de flujos de OAuth 2.0 y estándares de JSON Web Tokens (JWT). Recuperado de https://auth0.com/docs/authenticate/protocols/oauth</a:t>
            </a:r>
          </a:p>
          <a:p>
            <a:endParaRPr lang="es-MX" dirty="0"/>
          </a:p>
          <a:p>
            <a:r>
              <a:rPr lang="es-MX" dirty="0" err="1"/>
              <a:t>Bcrypt.Net</a:t>
            </a:r>
            <a:r>
              <a:rPr lang="es-MX" dirty="0"/>
              <a:t>-Next. (2024). Repositorio oficial y documentación de algoritmos de </a:t>
            </a:r>
            <a:r>
              <a:rPr lang="es-MX" dirty="0" err="1"/>
              <a:t>hashing</a:t>
            </a:r>
            <a:r>
              <a:rPr lang="es-MX" dirty="0"/>
              <a:t>. Recuperado de https://github.com/BcryptNet/bcrypt.net</a:t>
            </a:r>
          </a:p>
          <a:p>
            <a:endParaRPr lang="es-MX" dirty="0"/>
          </a:p>
          <a:p>
            <a:r>
              <a:rPr lang="es-MX" dirty="0"/>
              <a:t>IETF. (2015). RFC 7519: JSON Web Token (JWT) Standard. Recuperado de https://datatracker.ietf.org/doc/html/rfc7519</a:t>
            </a:r>
            <a:endParaRPr lang="es-PE" dirty="0"/>
          </a:p>
        </p:txBody>
      </p:sp>
    </p:spTree>
    <p:extLst>
      <p:ext uri="{BB962C8B-B14F-4D97-AF65-F5344CB8AC3E}">
        <p14:creationId xmlns:p14="http://schemas.microsoft.com/office/powerpoint/2010/main" val="4125710939"/>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170</TotalTime>
  <Words>2926</Words>
  <Application>Microsoft Office PowerPoint</Application>
  <PresentationFormat>Panorámica</PresentationFormat>
  <Paragraphs>131</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Mona Sans VF</vt:lpstr>
      <vt:lpstr>Retrospección</vt:lpstr>
      <vt:lpstr>Caso 4 — Microsoft Azure AD </vt:lpstr>
      <vt:lpstr>1.-¿Cuál es la diferencia entre autenticación y autorización? ¿Cómo las gestiona ASP.NET Core de forma independiente?</vt:lpstr>
      <vt:lpstr>La Analogía del Club Privado(ejemplo)</vt:lpstr>
      <vt:lpstr>2.-¿Qué es un JWT (JSON Web Token)? Describe su estructura interna y demuestra en C# cómo validar uno usando AddJwtBearer.</vt:lpstr>
      <vt:lpstr>Validación en C#:</vt:lpstr>
      <vt:lpstr>3.-¿Qué flujo de OAuth 2.0 usarías para una aplicación web en ASP.NET Core? ¿Qué diferencia hay entre el flujo Authorization Code y el flujo Client Credentials?</vt:lpstr>
      <vt:lpstr>4.-¿Qué es la autorización basada en roles (RBAC) y cómo se diferencia de la autorización basada en claims? ¿En qué escenario empresarial real conviene usar una u otra dentro de una aplicación ASP.NET Core?</vt:lpstr>
      <vt:lpstr>5.-¿Por qué no se debe guardar una contraseña en texto plano? Explica el concepto de hash + salt e implementa un ejemplo en C# usando BCrypt.Net o PBKDF2.</vt:lpstr>
      <vt:lpstr>3. Implementación en C# con BCrypt.Net</vt:lpstr>
      <vt:lpstr>Código de ejemplo (C#)</vt:lpstr>
      <vt:lpstr>Aplicación:</vt:lpstr>
      <vt:lpstr>6.-¿Qué son los ataques SQL Injection, XSS y CSRF? ¿Qué mecanismos ofrece ASP.NET Core para mitigar cada uno?</vt:lpstr>
      <vt:lpstr>6.-¿Qué son los ataques SQL Injection, XSS y CSRF? ¿Qué mecanismos ofrece ASP.NET Core para mitigar cada uno?</vt:lpstr>
      <vt:lpstr>7.-Si diseñaran el módulo de login de una app empresarial en C#, ¿qué capas de seguridad implementarían desde el registro del usuario hasta el acceso a un recurso protegido?</vt:lpstr>
      <vt:lpstr>7.-Si diseñaran el módulo de login de una app empresarial en C#, ¿qué capas de seguridad implementarían desde el registro del usuario hasta el acceso a un recurso protegido?</vt:lpstr>
      <vt:lpstr>8.-Conclusiones individuales.</vt:lpstr>
      <vt:lpstr>9.-Bibliografía.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dc:creator>
  <cp:lastModifiedBy>BRYAN</cp:lastModifiedBy>
  <cp:revision>2</cp:revision>
  <dcterms:created xsi:type="dcterms:W3CDTF">2026-05-04T20:52:32Z</dcterms:created>
  <dcterms:modified xsi:type="dcterms:W3CDTF">2026-05-05T21:34:46Z</dcterms:modified>
</cp:coreProperties>
</file>