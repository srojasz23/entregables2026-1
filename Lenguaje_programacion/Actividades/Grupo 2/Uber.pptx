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Barlow" panose="00000500000000000000" pitchFamily="2" charset="0"/>
      <p:regular r:id="rId13"/>
    </p:embeddedFont>
    <p:embeddedFont>
      <p:font typeface="Consolas" panose="020B0609020204030204" pitchFamily="49" charset="0"/>
      <p:regular r:id="rId14"/>
      <p:bold r:id="rId15"/>
      <p:italic r:id="rId16"/>
      <p:boldItalic r:id="rId17"/>
    </p:embeddedFont>
  </p:embeddedFontLst>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52" autoAdjust="0"/>
  </p:normalViewPr>
  <p:slideViewPr>
    <p:cSldViewPr snapToGrid="0" snapToObjects="1">
      <p:cViewPr varScale="1">
        <p:scale>
          <a:sx n="87" d="100"/>
          <a:sy n="87" d="100"/>
        </p:scale>
        <p:origin x="81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232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txBody>
          <a:bodyPr/>
          <a:lstStyle/>
          <a:p>
            <a:endParaRPr lang="es-PE"/>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1063" y="2263497"/>
            <a:ext cx="2534603" cy="473273"/>
          </a:xfrm>
          <a:prstGeom prst="roundRect">
            <a:avLst>
              <a:gd name="adj" fmla="val 63836"/>
            </a:avLst>
          </a:prstGeom>
          <a:solidFill>
            <a:srgbClr val="004D36"/>
          </a:solidFill>
          <a:ln/>
        </p:spPr>
        <p:txBody>
          <a:bodyPr/>
          <a:lstStyle/>
          <a:p>
            <a:endParaRPr lang="es-PE"/>
          </a:p>
        </p:txBody>
      </p:sp>
      <p:sp>
        <p:nvSpPr>
          <p:cNvPr id="3" name="Text 1"/>
          <p:cNvSpPr/>
          <p:nvPr/>
        </p:nvSpPr>
        <p:spPr>
          <a:xfrm>
            <a:off x="1032034" y="2338983"/>
            <a:ext cx="2232660" cy="322302"/>
          </a:xfrm>
          <a:prstGeom prst="rect">
            <a:avLst/>
          </a:prstGeom>
          <a:noFill/>
          <a:ln/>
        </p:spPr>
        <p:txBody>
          <a:bodyPr wrap="none" lIns="0" tIns="0" rIns="0" bIns="0" rtlCol="0" anchor="t"/>
          <a:lstStyle/>
          <a:p>
            <a:pPr marL="0" indent="0" algn="l">
              <a:lnSpc>
                <a:spcPts val="2500"/>
              </a:lnSpc>
              <a:buNone/>
            </a:pPr>
            <a:r>
              <a:rPr lang="en-US" sz="1550" dirty="0">
                <a:solidFill>
                  <a:srgbClr val="E0E4E6"/>
                </a:solidFill>
                <a:latin typeface="Barlow" pitchFamily="34" charset="0"/>
                <a:ea typeface="Barlow" pitchFamily="34" charset="-122"/>
                <a:cs typeface="Barlow" pitchFamily="34" charset="-120"/>
              </a:rPr>
              <a:t>ESTRUCTURAS DE DATOS</a:t>
            </a:r>
            <a:endParaRPr lang="en-US" sz="1550" dirty="0"/>
          </a:p>
        </p:txBody>
      </p:sp>
      <p:sp>
        <p:nvSpPr>
          <p:cNvPr id="4" name="Text 2"/>
          <p:cNvSpPr/>
          <p:nvPr/>
        </p:nvSpPr>
        <p:spPr>
          <a:xfrm>
            <a:off x="881063" y="3019901"/>
            <a:ext cx="12868275" cy="402908"/>
          </a:xfrm>
          <a:prstGeom prst="rect">
            <a:avLst/>
          </a:prstGeom>
          <a:noFill/>
          <a:ln/>
        </p:spPr>
        <p:txBody>
          <a:bodyPr wrap="none" lIns="0" tIns="0" rIns="0" bIns="0" rtlCol="0" anchor="t"/>
          <a:lstStyle/>
          <a:p>
            <a:pPr marL="0" indent="0" algn="l">
              <a:lnSpc>
                <a:spcPts val="3150"/>
              </a:lnSpc>
              <a:buNone/>
            </a:pPr>
            <a:r>
              <a:rPr lang="en-US" sz="1950" dirty="0">
                <a:solidFill>
                  <a:srgbClr val="E0E4E6"/>
                </a:solidFill>
                <a:latin typeface="Barlow" pitchFamily="34" charset="0"/>
                <a:ea typeface="Barlow" pitchFamily="34" charset="-122"/>
                <a:cs typeface="Barlow" pitchFamily="34" charset="-120"/>
              </a:rPr>
              <a:t>Caso 3</a:t>
            </a:r>
            <a:endParaRPr lang="en-US" sz="1950" dirty="0"/>
          </a:p>
        </p:txBody>
      </p:sp>
      <p:sp>
        <p:nvSpPr>
          <p:cNvPr id="5" name="Text 3"/>
          <p:cNvSpPr/>
          <p:nvPr/>
        </p:nvSpPr>
        <p:spPr>
          <a:xfrm>
            <a:off x="881063" y="3800356"/>
            <a:ext cx="5594747" cy="699254"/>
          </a:xfrm>
          <a:prstGeom prst="rect">
            <a:avLst/>
          </a:prstGeom>
          <a:noFill/>
          <a:ln/>
        </p:spPr>
        <p:txBody>
          <a:bodyPr wrap="none" lIns="0" tIns="0" rIns="0" bIns="0" rtlCol="0" anchor="t"/>
          <a:lstStyle/>
          <a:p>
            <a:pPr marL="0" indent="0" algn="l">
              <a:lnSpc>
                <a:spcPts val="5500"/>
              </a:lnSpc>
              <a:buNone/>
            </a:pPr>
            <a:r>
              <a:rPr lang="en-US" sz="4400" b="1" dirty="0">
                <a:solidFill>
                  <a:srgbClr val="F0FCFF"/>
                </a:solidFill>
                <a:latin typeface="Spline Sans Bold" pitchFamily="34" charset="0"/>
                <a:ea typeface="Spline Sans Bold" pitchFamily="34" charset="-122"/>
                <a:cs typeface="Spline Sans Bold" pitchFamily="34" charset="-120"/>
              </a:rPr>
              <a:t>Uber</a:t>
            </a:r>
            <a:endParaRPr lang="en-US" sz="4400" dirty="0"/>
          </a:p>
        </p:txBody>
      </p:sp>
      <p:sp>
        <p:nvSpPr>
          <p:cNvPr id="6" name="Text 4"/>
          <p:cNvSpPr/>
          <p:nvPr/>
        </p:nvSpPr>
        <p:spPr>
          <a:xfrm>
            <a:off x="881063" y="4877157"/>
            <a:ext cx="12868275" cy="402908"/>
          </a:xfrm>
          <a:prstGeom prst="rect">
            <a:avLst/>
          </a:prstGeom>
          <a:noFill/>
          <a:ln/>
        </p:spPr>
        <p:txBody>
          <a:bodyPr wrap="none" lIns="0" tIns="0" rIns="0" bIns="0" rtlCol="0" anchor="t"/>
          <a:lstStyle/>
          <a:p>
            <a:pPr marL="0" indent="0" algn="l">
              <a:lnSpc>
                <a:spcPts val="3150"/>
              </a:lnSpc>
              <a:buNone/>
            </a:pPr>
            <a:r>
              <a:rPr lang="en-US" sz="1950" i="1" dirty="0">
                <a:solidFill>
                  <a:srgbClr val="E0E4E6"/>
                </a:solidFill>
                <a:latin typeface="Barlow" pitchFamily="34" charset="0"/>
                <a:ea typeface="Barlow" pitchFamily="34" charset="-122"/>
                <a:cs typeface="Barlow" pitchFamily="34" charset="-120"/>
              </a:rPr>
              <a:t>Algoritmos y Estructuras de Datos en Sistemas de Alto Rendimiento</a:t>
            </a:r>
            <a:endParaRPr lang="en-US" sz="1950" dirty="0"/>
          </a:p>
        </p:txBody>
      </p:sp>
      <p:sp>
        <p:nvSpPr>
          <p:cNvPr id="7" name="Text 5"/>
          <p:cNvSpPr/>
          <p:nvPr/>
        </p:nvSpPr>
        <p:spPr>
          <a:xfrm>
            <a:off x="881063" y="5563195"/>
            <a:ext cx="5262883" cy="765686"/>
          </a:xfrm>
          <a:prstGeom prst="rect">
            <a:avLst/>
          </a:prstGeom>
          <a:noFill/>
          <a:ln/>
        </p:spPr>
        <p:txBody>
          <a:bodyPr wrap="none" lIns="0" tIns="0" rIns="0" bIns="0" rtlCol="0" anchor="t"/>
          <a:lstStyle/>
          <a:p>
            <a:pPr>
              <a:lnSpc>
                <a:spcPts val="3150"/>
              </a:lnSpc>
            </a:pPr>
            <a:r>
              <a:rPr lang="en-US" sz="1950" dirty="0">
                <a:solidFill>
                  <a:srgbClr val="E0E4E6"/>
                </a:solidFill>
                <a:latin typeface="Barlow" pitchFamily="34" charset="0"/>
                <a:ea typeface="Barlow" pitchFamily="34" charset="-122"/>
                <a:cs typeface="Barlow" pitchFamily="34" charset="-120"/>
              </a:rPr>
              <a:t>Integrantes: </a:t>
            </a:r>
            <a:r>
              <a:rPr lang="es-PE" dirty="0">
                <a:solidFill>
                  <a:schemeClr val="bg1"/>
                </a:solidFill>
              </a:rPr>
              <a:t>CESAR BRANDON MAMANI ARIAS</a:t>
            </a:r>
            <a:r>
              <a:rPr lang="en-US" sz="1950" dirty="0">
                <a:solidFill>
                  <a:schemeClr val="bg1"/>
                </a:solidFill>
                <a:latin typeface="Barlow" pitchFamily="34" charset="0"/>
                <a:ea typeface="Barlow" pitchFamily="34" charset="-122"/>
                <a:cs typeface="Barlow" pitchFamily="34" charset="-120"/>
              </a:rPr>
              <a:t> </a:t>
            </a:r>
          </a:p>
          <a:p>
            <a:pPr>
              <a:lnSpc>
                <a:spcPts val="3150"/>
              </a:lnSpc>
            </a:pPr>
            <a:r>
              <a:rPr lang="es-PE" dirty="0">
                <a:solidFill>
                  <a:schemeClr val="bg1"/>
                </a:solidFill>
              </a:rPr>
              <a:t>                           MOISÉS RODOLFO PALOMINO SANCHEZ </a:t>
            </a:r>
            <a:endParaRPr lang="en-US" sz="1950" dirty="0">
              <a:solidFill>
                <a:schemeClr val="bg1"/>
              </a:solidFill>
            </a:endParaRPr>
          </a:p>
        </p:txBody>
      </p:sp>
      <p:pic>
        <p:nvPicPr>
          <p:cNvPr id="9" name="Imagen 8">
            <a:extLst>
              <a:ext uri="{FF2B5EF4-FFF2-40B4-BE49-F238E27FC236}">
                <a16:creationId xmlns:a16="http://schemas.microsoft.com/office/drawing/2014/main" id="{F86F3F4B-5798-C556-5697-6222F5A2488A}"/>
              </a:ext>
            </a:extLst>
          </p:cNvPr>
          <p:cNvPicPr>
            <a:picLocks noChangeAspect="1"/>
          </p:cNvPicPr>
          <p:nvPr/>
        </p:nvPicPr>
        <p:blipFill>
          <a:blip r:embed="rId3"/>
          <a:stretch>
            <a:fillRect/>
          </a:stretch>
        </p:blipFill>
        <p:spPr>
          <a:xfrm>
            <a:off x="12842698" y="7724705"/>
            <a:ext cx="1730668" cy="504895"/>
          </a:xfrm>
          <a:prstGeom prst="rect">
            <a:avLst/>
          </a:prstGeom>
        </p:spPr>
      </p:pic>
      <p:sp>
        <p:nvSpPr>
          <p:cNvPr id="10" name="AutoShape 2" descr="Logo Uber PNG HD vector (EPS) Descarga Gratis">
            <a:extLst>
              <a:ext uri="{FF2B5EF4-FFF2-40B4-BE49-F238E27FC236}">
                <a16:creationId xmlns:a16="http://schemas.microsoft.com/office/drawing/2014/main" id="{EAEC59F8-D8C0-C853-E131-AD83CBCD7477}"/>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17" name="Imagen 16">
            <a:extLst>
              <a:ext uri="{FF2B5EF4-FFF2-40B4-BE49-F238E27FC236}">
                <a16:creationId xmlns:a16="http://schemas.microsoft.com/office/drawing/2014/main" id="{659FF1F7-CDCB-3E08-39C8-FECCB58D51D7}"/>
              </a:ext>
            </a:extLst>
          </p:cNvPr>
          <p:cNvPicPr>
            <a:picLocks noChangeAspect="1"/>
          </p:cNvPicPr>
          <p:nvPr/>
        </p:nvPicPr>
        <p:blipFill>
          <a:blip r:embed="rId4"/>
          <a:stretch>
            <a:fillRect/>
          </a:stretch>
        </p:blipFill>
        <p:spPr>
          <a:xfrm>
            <a:off x="6626781" y="495845"/>
            <a:ext cx="6873416" cy="40037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81063" y="978932"/>
            <a:ext cx="12868275"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P1 / ¿Qué es la complejidad algorítmica (Big O)?</a:t>
            </a:r>
            <a:endParaRPr lang="en-US" sz="1650" dirty="0"/>
          </a:p>
        </p:txBody>
      </p:sp>
      <p:sp>
        <p:nvSpPr>
          <p:cNvPr id="3" name="Text 1"/>
          <p:cNvSpPr/>
          <p:nvPr/>
        </p:nvSpPr>
        <p:spPr>
          <a:xfrm>
            <a:off x="881063" y="1477328"/>
            <a:ext cx="2377678" cy="297180"/>
          </a:xfrm>
          <a:prstGeom prst="rect">
            <a:avLst/>
          </a:prstGeom>
          <a:noFill/>
          <a:ln/>
        </p:spPr>
        <p:txBody>
          <a:bodyPr wrap="none" lIns="0" tIns="0" rIns="0" bIns="0" rtlCol="0" anchor="t"/>
          <a:lstStyle/>
          <a:p>
            <a:pPr marL="0" indent="0" algn="l">
              <a:lnSpc>
                <a:spcPts val="2300"/>
              </a:lnSpc>
              <a:buNone/>
            </a:pPr>
            <a:r>
              <a:rPr lang="en-US" sz="1850" b="1" dirty="0">
                <a:solidFill>
                  <a:srgbClr val="F0FCFF"/>
                </a:solidFill>
                <a:latin typeface="Spline Sans Bold" pitchFamily="34" charset="0"/>
                <a:ea typeface="Spline Sans Bold" pitchFamily="34" charset="-122"/>
                <a:cs typeface="Spline Sans Bold" pitchFamily="34" charset="-120"/>
              </a:rPr>
              <a:t>Pregunta:</a:t>
            </a:r>
            <a:endParaRPr lang="en-US" sz="1850" dirty="0"/>
          </a:p>
        </p:txBody>
      </p:sp>
      <p:sp>
        <p:nvSpPr>
          <p:cNvPr id="4" name="Text 2"/>
          <p:cNvSpPr/>
          <p:nvPr/>
        </p:nvSpPr>
        <p:spPr>
          <a:xfrm>
            <a:off x="881063" y="2047280"/>
            <a:ext cx="12868275" cy="791766"/>
          </a:xfrm>
          <a:prstGeom prst="rect">
            <a:avLst/>
          </a:prstGeom>
          <a:noFill/>
          <a:ln/>
        </p:spPr>
        <p:txBody>
          <a:bodyPr wrap="square" lIns="0" tIns="0" rIns="0" bIns="0" rtlCol="0" anchor="t"/>
          <a:lstStyle/>
          <a:p>
            <a:pPr marL="0" indent="0" algn="l">
              <a:lnSpc>
                <a:spcPts val="3100"/>
              </a:lnSpc>
              <a:buNone/>
            </a:pPr>
            <a:r>
              <a:rPr lang="en-US" sz="2100" i="1" dirty="0">
                <a:solidFill>
                  <a:srgbClr val="E0E4E6"/>
                </a:solidFill>
                <a:latin typeface="Barlow" pitchFamily="34" charset="0"/>
                <a:ea typeface="Barlow" pitchFamily="34" charset="-122"/>
                <a:cs typeface="Barlow" pitchFamily="34" charset="-120"/>
              </a:rPr>
              <a:t>¿Qué es la complejidad algorítmica (Big O) y por qué es crítica cuando un sistema tiene millones de usuarios simultáneos?</a:t>
            </a:r>
            <a:endParaRPr lang="en-US" sz="2100" dirty="0"/>
          </a:p>
        </p:txBody>
      </p:sp>
      <p:sp>
        <p:nvSpPr>
          <p:cNvPr id="5" name="Text 3"/>
          <p:cNvSpPr/>
          <p:nvPr/>
        </p:nvSpPr>
        <p:spPr>
          <a:xfrm>
            <a:off x="881063" y="3111818"/>
            <a:ext cx="2377678" cy="297180"/>
          </a:xfrm>
          <a:prstGeom prst="rect">
            <a:avLst/>
          </a:prstGeom>
          <a:noFill/>
          <a:ln/>
        </p:spPr>
        <p:txBody>
          <a:bodyPr wrap="none" lIns="0" tIns="0" rIns="0" bIns="0" rtlCol="0" anchor="t"/>
          <a:lstStyle/>
          <a:p>
            <a:pPr marL="0" indent="0" algn="l">
              <a:lnSpc>
                <a:spcPts val="2300"/>
              </a:lnSpc>
              <a:buNone/>
            </a:pPr>
            <a:r>
              <a:rPr lang="en-US" sz="1850" b="1" dirty="0">
                <a:solidFill>
                  <a:srgbClr val="F0FCFF"/>
                </a:solidFill>
                <a:latin typeface="Spline Sans Bold" pitchFamily="34" charset="0"/>
                <a:ea typeface="Spline Sans Bold" pitchFamily="34" charset="-122"/>
                <a:cs typeface="Spline Sans Bold" pitchFamily="34" charset="-120"/>
              </a:rPr>
              <a:t>Respuesta:</a:t>
            </a:r>
            <a:endParaRPr lang="en-US" sz="1850" dirty="0"/>
          </a:p>
        </p:txBody>
      </p:sp>
      <p:sp>
        <p:nvSpPr>
          <p:cNvPr id="6" name="Text 4"/>
          <p:cNvSpPr/>
          <p:nvPr/>
        </p:nvSpPr>
        <p:spPr>
          <a:xfrm>
            <a:off x="881063" y="3681770"/>
            <a:ext cx="12868275" cy="791766"/>
          </a:xfrm>
          <a:prstGeom prst="rect">
            <a:avLst/>
          </a:prstGeom>
          <a:noFill/>
          <a:ln/>
        </p:spPr>
        <p:txBody>
          <a:bodyPr wrap="square" lIns="0" tIns="0" rIns="0" bIns="0" rtlCol="0" anchor="t"/>
          <a:lstStyle/>
          <a:p>
            <a:pPr marL="0" indent="0" algn="l">
              <a:lnSpc>
                <a:spcPts val="3100"/>
              </a:lnSpc>
              <a:buNone/>
            </a:pPr>
            <a:r>
              <a:rPr lang="en-US" sz="2100" dirty="0">
                <a:solidFill>
                  <a:srgbClr val="E0E4E6"/>
                </a:solidFill>
                <a:latin typeface="Barlow" pitchFamily="34" charset="0"/>
                <a:ea typeface="Barlow" pitchFamily="34" charset="-122"/>
                <a:cs typeface="Barlow" pitchFamily="34" charset="-120"/>
              </a:rPr>
              <a:t>Big O mide cómo crece el tiempo de ejecución de un algoritmo en función del tamaño de datos (n). En Uber, con millones de conductores, usar O(n) en lugar de O(1) puede colapsar el sistema.</a:t>
            </a:r>
            <a:endParaRPr lang="en-US" sz="2100" dirty="0"/>
          </a:p>
        </p:txBody>
      </p:sp>
      <p:sp>
        <p:nvSpPr>
          <p:cNvPr id="7" name="Shape 5"/>
          <p:cNvSpPr/>
          <p:nvPr/>
        </p:nvSpPr>
        <p:spPr>
          <a:xfrm>
            <a:off x="881063" y="4678085"/>
            <a:ext cx="12868275" cy="2215039"/>
          </a:xfrm>
          <a:prstGeom prst="roundRect">
            <a:avLst>
              <a:gd name="adj" fmla="val 14492"/>
            </a:avLst>
          </a:prstGeom>
          <a:noFill/>
          <a:ln w="7620">
            <a:solidFill>
              <a:srgbClr val="FFFFFF">
                <a:alpha val="24000"/>
              </a:srgbClr>
            </a:solidFill>
            <a:prstDash val="solid"/>
          </a:ln>
        </p:spPr>
        <p:txBody>
          <a:bodyPr/>
          <a:lstStyle/>
          <a:p>
            <a:endParaRPr lang="es-PE"/>
          </a:p>
        </p:txBody>
      </p:sp>
      <p:sp>
        <p:nvSpPr>
          <p:cNvPr id="8" name="Shape 6"/>
          <p:cNvSpPr/>
          <p:nvPr/>
        </p:nvSpPr>
        <p:spPr>
          <a:xfrm>
            <a:off x="888683" y="4685705"/>
            <a:ext cx="12853035" cy="549950"/>
          </a:xfrm>
          <a:prstGeom prst="rect">
            <a:avLst/>
          </a:prstGeom>
          <a:solidFill>
            <a:srgbClr val="FFFFFF">
              <a:alpha val="4000"/>
            </a:srgbClr>
          </a:solidFill>
          <a:ln/>
        </p:spPr>
        <p:txBody>
          <a:bodyPr/>
          <a:lstStyle/>
          <a:p>
            <a:endParaRPr lang="es-PE"/>
          </a:p>
        </p:txBody>
      </p:sp>
      <p:sp>
        <p:nvSpPr>
          <p:cNvPr id="9" name="Text 7"/>
          <p:cNvSpPr/>
          <p:nvPr/>
        </p:nvSpPr>
        <p:spPr>
          <a:xfrm>
            <a:off x="1102638" y="4802386"/>
            <a:ext cx="278153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Operación</a:t>
            </a:r>
            <a:endParaRPr lang="en-US" sz="1650" dirty="0"/>
          </a:p>
        </p:txBody>
      </p:sp>
      <p:sp>
        <p:nvSpPr>
          <p:cNvPr id="10" name="Text 8"/>
          <p:cNvSpPr/>
          <p:nvPr/>
        </p:nvSpPr>
        <p:spPr>
          <a:xfrm>
            <a:off x="4319707" y="4802386"/>
            <a:ext cx="277772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List&lt;T&gt;</a:t>
            </a:r>
            <a:endParaRPr lang="en-US" sz="1650" dirty="0"/>
          </a:p>
        </p:txBody>
      </p:sp>
      <p:sp>
        <p:nvSpPr>
          <p:cNvPr id="11" name="Text 9"/>
          <p:cNvSpPr/>
          <p:nvPr/>
        </p:nvSpPr>
        <p:spPr>
          <a:xfrm>
            <a:off x="7532965" y="4802386"/>
            <a:ext cx="277772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Dictionary&lt;K,V&gt;</a:t>
            </a:r>
            <a:endParaRPr lang="en-US" sz="1650" dirty="0"/>
          </a:p>
        </p:txBody>
      </p:sp>
      <p:sp>
        <p:nvSpPr>
          <p:cNvPr id="12" name="Text 10"/>
          <p:cNvSpPr/>
          <p:nvPr/>
        </p:nvSpPr>
        <p:spPr>
          <a:xfrm>
            <a:off x="10746224" y="4802386"/>
            <a:ext cx="278153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Heap / PQ</a:t>
            </a:r>
            <a:endParaRPr lang="en-US" sz="1650" dirty="0"/>
          </a:p>
        </p:txBody>
      </p:sp>
      <p:sp>
        <p:nvSpPr>
          <p:cNvPr id="13" name="Shape 11"/>
          <p:cNvSpPr/>
          <p:nvPr/>
        </p:nvSpPr>
        <p:spPr>
          <a:xfrm>
            <a:off x="888683" y="5235654"/>
            <a:ext cx="12853035" cy="549950"/>
          </a:xfrm>
          <a:prstGeom prst="rect">
            <a:avLst/>
          </a:prstGeom>
          <a:solidFill>
            <a:srgbClr val="000000">
              <a:alpha val="4000"/>
            </a:srgbClr>
          </a:solidFill>
          <a:ln/>
        </p:spPr>
        <p:txBody>
          <a:bodyPr/>
          <a:lstStyle/>
          <a:p>
            <a:endParaRPr lang="es-PE"/>
          </a:p>
        </p:txBody>
      </p:sp>
      <p:sp>
        <p:nvSpPr>
          <p:cNvPr id="14" name="Text 12"/>
          <p:cNvSpPr/>
          <p:nvPr/>
        </p:nvSpPr>
        <p:spPr>
          <a:xfrm>
            <a:off x="1102638" y="5352336"/>
            <a:ext cx="278153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Búsqueda por valor</a:t>
            </a:r>
            <a:endParaRPr lang="en-US" sz="1650" dirty="0"/>
          </a:p>
        </p:txBody>
      </p:sp>
      <p:sp>
        <p:nvSpPr>
          <p:cNvPr id="15" name="Text 13"/>
          <p:cNvSpPr/>
          <p:nvPr/>
        </p:nvSpPr>
        <p:spPr>
          <a:xfrm>
            <a:off x="4319707" y="5352336"/>
            <a:ext cx="277772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O(n) ✗</a:t>
            </a:r>
            <a:endParaRPr lang="en-US" sz="1650" dirty="0"/>
          </a:p>
        </p:txBody>
      </p:sp>
      <p:sp>
        <p:nvSpPr>
          <p:cNvPr id="16" name="Text 14"/>
          <p:cNvSpPr/>
          <p:nvPr/>
        </p:nvSpPr>
        <p:spPr>
          <a:xfrm>
            <a:off x="7532965" y="5352336"/>
            <a:ext cx="277772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O(1) ✓</a:t>
            </a:r>
            <a:endParaRPr lang="en-US" sz="1650" dirty="0"/>
          </a:p>
        </p:txBody>
      </p:sp>
      <p:sp>
        <p:nvSpPr>
          <p:cNvPr id="17" name="Text 15"/>
          <p:cNvSpPr/>
          <p:nvPr/>
        </p:nvSpPr>
        <p:spPr>
          <a:xfrm>
            <a:off x="10746224" y="5352336"/>
            <a:ext cx="278153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O(n)</a:t>
            </a:r>
            <a:endParaRPr lang="en-US" sz="1650" dirty="0"/>
          </a:p>
        </p:txBody>
      </p:sp>
      <p:sp>
        <p:nvSpPr>
          <p:cNvPr id="18" name="Shape 16"/>
          <p:cNvSpPr/>
          <p:nvPr/>
        </p:nvSpPr>
        <p:spPr>
          <a:xfrm>
            <a:off x="888683" y="5785604"/>
            <a:ext cx="12853035" cy="549950"/>
          </a:xfrm>
          <a:prstGeom prst="rect">
            <a:avLst/>
          </a:prstGeom>
          <a:solidFill>
            <a:srgbClr val="FFFFFF">
              <a:alpha val="4000"/>
            </a:srgbClr>
          </a:solidFill>
          <a:ln/>
        </p:spPr>
        <p:txBody>
          <a:bodyPr/>
          <a:lstStyle/>
          <a:p>
            <a:endParaRPr lang="es-PE"/>
          </a:p>
        </p:txBody>
      </p:sp>
      <p:sp>
        <p:nvSpPr>
          <p:cNvPr id="19" name="Text 17"/>
          <p:cNvSpPr/>
          <p:nvPr/>
        </p:nvSpPr>
        <p:spPr>
          <a:xfrm>
            <a:off x="1102638" y="5902285"/>
            <a:ext cx="278153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Inserción ordenada</a:t>
            </a:r>
            <a:endParaRPr lang="en-US" sz="1650" dirty="0"/>
          </a:p>
        </p:txBody>
      </p:sp>
      <p:sp>
        <p:nvSpPr>
          <p:cNvPr id="20" name="Text 18"/>
          <p:cNvSpPr/>
          <p:nvPr/>
        </p:nvSpPr>
        <p:spPr>
          <a:xfrm>
            <a:off x="4319707" y="5902285"/>
            <a:ext cx="277772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O(n) ✗</a:t>
            </a:r>
            <a:endParaRPr lang="en-US" sz="1650" dirty="0"/>
          </a:p>
        </p:txBody>
      </p:sp>
      <p:sp>
        <p:nvSpPr>
          <p:cNvPr id="21" name="Text 19"/>
          <p:cNvSpPr/>
          <p:nvPr/>
        </p:nvSpPr>
        <p:spPr>
          <a:xfrm>
            <a:off x="7532965" y="5902285"/>
            <a:ext cx="277772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O(1) ✓</a:t>
            </a:r>
            <a:endParaRPr lang="en-US" sz="1650" dirty="0"/>
          </a:p>
        </p:txBody>
      </p:sp>
      <p:sp>
        <p:nvSpPr>
          <p:cNvPr id="22" name="Text 20"/>
          <p:cNvSpPr/>
          <p:nvPr/>
        </p:nvSpPr>
        <p:spPr>
          <a:xfrm>
            <a:off x="10746224" y="5902285"/>
            <a:ext cx="278153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O(log n) ✓</a:t>
            </a:r>
            <a:endParaRPr lang="en-US" sz="1650" dirty="0"/>
          </a:p>
        </p:txBody>
      </p:sp>
      <p:sp>
        <p:nvSpPr>
          <p:cNvPr id="23" name="Shape 21"/>
          <p:cNvSpPr/>
          <p:nvPr/>
        </p:nvSpPr>
        <p:spPr>
          <a:xfrm>
            <a:off x="888683" y="6335554"/>
            <a:ext cx="12853035" cy="549950"/>
          </a:xfrm>
          <a:prstGeom prst="rect">
            <a:avLst/>
          </a:prstGeom>
          <a:solidFill>
            <a:srgbClr val="000000">
              <a:alpha val="4000"/>
            </a:srgbClr>
          </a:solidFill>
          <a:ln/>
        </p:spPr>
        <p:txBody>
          <a:bodyPr/>
          <a:lstStyle/>
          <a:p>
            <a:endParaRPr lang="es-PE"/>
          </a:p>
        </p:txBody>
      </p:sp>
      <p:sp>
        <p:nvSpPr>
          <p:cNvPr id="24" name="Text 22"/>
          <p:cNvSpPr/>
          <p:nvPr/>
        </p:nvSpPr>
        <p:spPr>
          <a:xfrm>
            <a:off x="1102638" y="6452235"/>
            <a:ext cx="278153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Extraer el mínimo</a:t>
            </a:r>
            <a:endParaRPr lang="en-US" sz="1650" dirty="0"/>
          </a:p>
        </p:txBody>
      </p:sp>
      <p:sp>
        <p:nvSpPr>
          <p:cNvPr id="25" name="Text 23"/>
          <p:cNvSpPr/>
          <p:nvPr/>
        </p:nvSpPr>
        <p:spPr>
          <a:xfrm>
            <a:off x="4319707" y="6452235"/>
            <a:ext cx="277772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O(n) ✗</a:t>
            </a:r>
            <a:endParaRPr lang="en-US" sz="1650" dirty="0"/>
          </a:p>
        </p:txBody>
      </p:sp>
      <p:sp>
        <p:nvSpPr>
          <p:cNvPr id="26" name="Text 24"/>
          <p:cNvSpPr/>
          <p:nvPr/>
        </p:nvSpPr>
        <p:spPr>
          <a:xfrm>
            <a:off x="7532965" y="6452235"/>
            <a:ext cx="277772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a:t>
            </a:r>
            <a:endParaRPr lang="en-US" sz="1650" dirty="0"/>
          </a:p>
        </p:txBody>
      </p:sp>
      <p:sp>
        <p:nvSpPr>
          <p:cNvPr id="27" name="Text 25"/>
          <p:cNvSpPr/>
          <p:nvPr/>
        </p:nvSpPr>
        <p:spPr>
          <a:xfrm>
            <a:off x="10746224" y="6452235"/>
            <a:ext cx="2781538" cy="316587"/>
          </a:xfrm>
          <a:prstGeom prst="rect">
            <a:avLst/>
          </a:prstGeom>
          <a:noFill/>
          <a:ln/>
        </p:spPr>
        <p:txBody>
          <a:bodyPr wrap="none" lIns="0" tIns="0" rIns="0" bIns="0" rtlCol="0" anchor="t"/>
          <a:lstStyle/>
          <a:p>
            <a:pPr marL="0" indent="0" algn="l">
              <a:lnSpc>
                <a:spcPts val="2450"/>
              </a:lnSpc>
              <a:buNone/>
            </a:pPr>
            <a:r>
              <a:rPr lang="en-US" sz="1650" dirty="0">
                <a:solidFill>
                  <a:srgbClr val="E0E4E6"/>
                </a:solidFill>
                <a:latin typeface="Barlow" pitchFamily="34" charset="0"/>
                <a:ea typeface="Barlow" pitchFamily="34" charset="-122"/>
                <a:cs typeface="Barlow" pitchFamily="34" charset="-120"/>
              </a:rPr>
              <a:t>O(log n) ✓</a:t>
            </a:r>
            <a:endParaRPr lang="en-US" sz="1650" dirty="0"/>
          </a:p>
        </p:txBody>
      </p:sp>
      <p:sp>
        <p:nvSpPr>
          <p:cNvPr id="28" name="Text 26"/>
          <p:cNvSpPr/>
          <p:nvPr/>
        </p:nvSpPr>
        <p:spPr>
          <a:xfrm>
            <a:off x="881063" y="7097673"/>
            <a:ext cx="12868275" cy="316587"/>
          </a:xfrm>
          <a:prstGeom prst="rect">
            <a:avLst/>
          </a:prstGeom>
          <a:noFill/>
          <a:ln/>
        </p:spPr>
        <p:txBody>
          <a:bodyPr wrap="none" lIns="0" tIns="0" rIns="0" bIns="0" rtlCol="0" anchor="t"/>
          <a:lstStyle/>
          <a:p>
            <a:pPr marL="0" indent="0" algn="l">
              <a:lnSpc>
                <a:spcPts val="2450"/>
              </a:lnSpc>
              <a:buNone/>
            </a:pPr>
            <a:r>
              <a:rPr lang="en-US" sz="1650" b="1" dirty="0">
                <a:solidFill>
                  <a:srgbClr val="E0E4E6"/>
                </a:solidFill>
                <a:latin typeface="Barlow" pitchFamily="34" charset="0"/>
                <a:ea typeface="Barlow" pitchFamily="34" charset="-122"/>
                <a:cs typeface="Barlow" pitchFamily="34" charset="-120"/>
              </a:rPr>
              <a:t>Ejemplo: buscar conductor entre 500,000 activos → Lista: 500,000 pasos | Heap: solo 19 pasos (log₂ 500,000 ≈ 19)</a:t>
            </a:r>
            <a:endParaRPr lang="en-US" sz="1650" dirty="0"/>
          </a:p>
        </p:txBody>
      </p:sp>
      <p:pic>
        <p:nvPicPr>
          <p:cNvPr id="30" name="Imagen 29">
            <a:extLst>
              <a:ext uri="{FF2B5EF4-FFF2-40B4-BE49-F238E27FC236}">
                <a16:creationId xmlns:a16="http://schemas.microsoft.com/office/drawing/2014/main" id="{E0A5EDA2-1965-FAC6-ED1E-11AD7E0CE7AE}"/>
              </a:ext>
            </a:extLst>
          </p:cNvPr>
          <p:cNvPicPr>
            <a:picLocks noChangeAspect="1"/>
          </p:cNvPicPr>
          <p:nvPr/>
        </p:nvPicPr>
        <p:blipFill>
          <a:blip r:embed="rId3"/>
          <a:stretch>
            <a:fillRect/>
          </a:stretch>
        </p:blipFill>
        <p:spPr>
          <a:xfrm>
            <a:off x="12822148" y="7618809"/>
            <a:ext cx="1743597" cy="5048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7370" y="747593"/>
            <a:ext cx="9265801" cy="550664"/>
          </a:xfrm>
          <a:prstGeom prst="rect">
            <a:avLst/>
          </a:prstGeom>
          <a:noFill/>
          <a:ln/>
        </p:spPr>
        <p:txBody>
          <a:bodyPr wrap="none" lIns="0" tIns="0" rIns="0" bIns="0" rtlCol="0" anchor="t"/>
          <a:lstStyle/>
          <a:p>
            <a:pPr marL="0" indent="0" algn="l">
              <a:lnSpc>
                <a:spcPts val="4300"/>
              </a:lnSpc>
              <a:buNone/>
            </a:pPr>
            <a:r>
              <a:rPr lang="en-US" sz="3450" b="1" dirty="0">
                <a:solidFill>
                  <a:srgbClr val="F0FCFF"/>
                </a:solidFill>
                <a:latin typeface="Spline Sans Bold" pitchFamily="34" charset="0"/>
                <a:ea typeface="Spline Sans Bold" pitchFamily="34" charset="-122"/>
                <a:cs typeface="Spline Sans Bold" pitchFamily="34" charset="-120"/>
              </a:rPr>
              <a:t>P2 / PriorityQueue — Conductor más cercano</a:t>
            </a:r>
            <a:endParaRPr lang="en-US" sz="3450" dirty="0"/>
          </a:p>
        </p:txBody>
      </p:sp>
      <p:sp>
        <p:nvSpPr>
          <p:cNvPr id="3" name="Text 1"/>
          <p:cNvSpPr/>
          <p:nvPr/>
        </p:nvSpPr>
        <p:spPr>
          <a:xfrm>
            <a:off x="867370" y="1360646"/>
            <a:ext cx="2202894" cy="275273"/>
          </a:xfrm>
          <a:prstGeom prst="rect">
            <a:avLst/>
          </a:prstGeom>
          <a:noFill/>
          <a:ln/>
        </p:spPr>
        <p:txBody>
          <a:bodyPr wrap="none" lIns="0" tIns="0" rIns="0" bIns="0" rtlCol="0" anchor="t"/>
          <a:lstStyle/>
          <a:p>
            <a:pPr marL="0" indent="0" algn="l">
              <a:lnSpc>
                <a:spcPts val="2150"/>
              </a:lnSpc>
              <a:buNone/>
            </a:pPr>
            <a:r>
              <a:rPr lang="en-US" sz="1700" b="1" dirty="0">
                <a:solidFill>
                  <a:srgbClr val="F0FCFF"/>
                </a:solidFill>
                <a:latin typeface="Spline Sans Bold" pitchFamily="34" charset="0"/>
                <a:ea typeface="Spline Sans Bold" pitchFamily="34" charset="-122"/>
                <a:cs typeface="Spline Sans Bold" pitchFamily="34" charset="-120"/>
              </a:rPr>
              <a:t>Pregunta:</a:t>
            </a:r>
            <a:endParaRPr lang="en-US" sz="1700" dirty="0"/>
          </a:p>
        </p:txBody>
      </p:sp>
      <p:sp>
        <p:nvSpPr>
          <p:cNvPr id="4" name="Text 2"/>
          <p:cNvSpPr/>
          <p:nvPr/>
        </p:nvSpPr>
        <p:spPr>
          <a:xfrm>
            <a:off x="867370" y="1870115"/>
            <a:ext cx="12895659" cy="283369"/>
          </a:xfrm>
          <a:prstGeom prst="rect">
            <a:avLst/>
          </a:prstGeom>
          <a:noFill/>
          <a:ln/>
        </p:spPr>
        <p:txBody>
          <a:bodyPr wrap="none" lIns="0" tIns="0" rIns="0" bIns="0" rtlCol="0" anchor="t"/>
          <a:lstStyle/>
          <a:p>
            <a:pPr marL="0" indent="0" algn="l">
              <a:lnSpc>
                <a:spcPts val="2200"/>
              </a:lnSpc>
              <a:buNone/>
            </a:pPr>
            <a:r>
              <a:rPr lang="en-US" sz="1550" i="1" dirty="0">
                <a:solidFill>
                  <a:srgbClr val="E0E4E6"/>
                </a:solidFill>
                <a:latin typeface="Barlow" pitchFamily="34" charset="0"/>
                <a:ea typeface="Barlow" pitchFamily="34" charset="-122"/>
                <a:cs typeface="Barlow" pitchFamily="34" charset="-120"/>
              </a:rPr>
              <a:t>Implementa en C# una PriorityQueue para asignar el conductor más cercano. ¿Por qué es más eficiente que una lista?</a:t>
            </a:r>
            <a:endParaRPr lang="en-US" sz="1550" dirty="0"/>
          </a:p>
        </p:txBody>
      </p:sp>
      <p:sp>
        <p:nvSpPr>
          <p:cNvPr id="5" name="Text 3"/>
          <p:cNvSpPr/>
          <p:nvPr/>
        </p:nvSpPr>
        <p:spPr>
          <a:xfrm>
            <a:off x="867370" y="2387679"/>
            <a:ext cx="2202894" cy="275273"/>
          </a:xfrm>
          <a:prstGeom prst="rect">
            <a:avLst/>
          </a:prstGeom>
          <a:noFill/>
          <a:ln/>
        </p:spPr>
        <p:txBody>
          <a:bodyPr wrap="none" lIns="0" tIns="0" rIns="0" bIns="0" rtlCol="0" anchor="t"/>
          <a:lstStyle/>
          <a:p>
            <a:pPr marL="0" indent="0" algn="l">
              <a:lnSpc>
                <a:spcPts val="2150"/>
              </a:lnSpc>
              <a:buNone/>
            </a:pPr>
            <a:r>
              <a:rPr lang="en-US" sz="1700" b="1" dirty="0">
                <a:solidFill>
                  <a:srgbClr val="F0FCFF"/>
                </a:solidFill>
                <a:latin typeface="Spline Sans Bold" pitchFamily="34" charset="0"/>
                <a:ea typeface="Spline Sans Bold" pitchFamily="34" charset="-122"/>
                <a:cs typeface="Spline Sans Bold" pitchFamily="34" charset="-120"/>
              </a:rPr>
              <a:t>Respuesta:</a:t>
            </a:r>
            <a:endParaRPr lang="en-US" sz="1700" dirty="0"/>
          </a:p>
        </p:txBody>
      </p:sp>
      <p:sp>
        <p:nvSpPr>
          <p:cNvPr id="6" name="Text 4"/>
          <p:cNvSpPr/>
          <p:nvPr/>
        </p:nvSpPr>
        <p:spPr>
          <a:xfrm>
            <a:off x="867370" y="3037642"/>
            <a:ext cx="6206014" cy="850106"/>
          </a:xfrm>
          <a:prstGeom prst="rect">
            <a:avLst/>
          </a:prstGeom>
          <a:noFill/>
          <a:ln/>
        </p:spPr>
        <p:txBody>
          <a:bodyPr wrap="square" lIns="0" tIns="0" rIns="0" bIns="0" rtlCol="0" anchor="t"/>
          <a:lstStyle/>
          <a:p>
            <a:pPr marL="0" indent="0" algn="l">
              <a:lnSpc>
                <a:spcPts val="2200"/>
              </a:lnSpc>
              <a:buNone/>
            </a:pPr>
            <a:r>
              <a:rPr lang="en-US" sz="1550" dirty="0">
                <a:solidFill>
                  <a:srgbClr val="E0E4E6"/>
                </a:solidFill>
                <a:latin typeface="Barlow" pitchFamily="34" charset="0"/>
                <a:ea typeface="Barlow" pitchFamily="34" charset="-122"/>
                <a:cs typeface="Barlow" pitchFamily="34" charset="-120"/>
              </a:rPr>
              <a:t>La PriorityQueue usa un heap binario. Cada conductor se inserta con su distancia como prioridad. Dequeue() siempre devuelve el MÁS CERCANO sin reordenar toda la lista.</a:t>
            </a:r>
            <a:endParaRPr lang="en-US" sz="1550" dirty="0"/>
          </a:p>
        </p:txBody>
      </p:sp>
      <p:sp>
        <p:nvSpPr>
          <p:cNvPr id="7" name="Shape 5"/>
          <p:cNvSpPr/>
          <p:nvPr/>
        </p:nvSpPr>
        <p:spPr>
          <a:xfrm>
            <a:off x="867370" y="4063365"/>
            <a:ext cx="6206014" cy="2380059"/>
          </a:xfrm>
          <a:prstGeom prst="roundRect">
            <a:avLst>
              <a:gd name="adj" fmla="val 12495"/>
            </a:avLst>
          </a:prstGeom>
          <a:solidFill>
            <a:srgbClr val="171528"/>
          </a:solidFill>
          <a:ln/>
        </p:spPr>
        <p:txBody>
          <a:bodyPr/>
          <a:lstStyle/>
          <a:p>
            <a:endParaRPr lang="es-PE"/>
          </a:p>
        </p:txBody>
      </p:sp>
      <p:sp>
        <p:nvSpPr>
          <p:cNvPr id="8" name="Shape 6"/>
          <p:cNvSpPr/>
          <p:nvPr/>
        </p:nvSpPr>
        <p:spPr>
          <a:xfrm>
            <a:off x="857488" y="4063365"/>
            <a:ext cx="6225778" cy="2380059"/>
          </a:xfrm>
          <a:prstGeom prst="roundRect">
            <a:avLst>
              <a:gd name="adj" fmla="val 1250"/>
            </a:avLst>
          </a:prstGeom>
          <a:solidFill>
            <a:srgbClr val="171528"/>
          </a:solidFill>
          <a:ln/>
        </p:spPr>
        <p:txBody>
          <a:bodyPr/>
          <a:lstStyle/>
          <a:p>
            <a:endParaRPr lang="es-PE"/>
          </a:p>
        </p:txBody>
      </p:sp>
      <p:sp>
        <p:nvSpPr>
          <p:cNvPr id="9" name="Text 7"/>
          <p:cNvSpPr/>
          <p:nvPr/>
        </p:nvSpPr>
        <p:spPr>
          <a:xfrm>
            <a:off x="1105257" y="4261604"/>
            <a:ext cx="5730240" cy="1983581"/>
          </a:xfrm>
          <a:prstGeom prst="rect">
            <a:avLst/>
          </a:prstGeom>
          <a:noFill/>
          <a:ln/>
        </p:spPr>
        <p:txBody>
          <a:bodyPr wrap="square" lIns="0" tIns="0" rIns="0" bIns="0" rtlCol="0" anchor="t"/>
          <a:lstStyle/>
          <a:p>
            <a:pPr marL="0" indent="0" algn="l">
              <a:lnSpc>
                <a:spcPts val="220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var pq = new PriorityQueue&lt;string,int&gt;();</a:t>
            </a:r>
            <a:endParaRPr lang="en-US" sz="1550" dirty="0"/>
          </a:p>
          <a:p>
            <a:pPr marL="0" indent="0" algn="l">
              <a:lnSpc>
                <a:spcPts val="220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pq.Enqueue("Juan", 5);</a:t>
            </a:r>
            <a:endParaRPr lang="en-US" sz="1550" dirty="0"/>
          </a:p>
          <a:p>
            <a:pPr marL="0" indent="0" algn="l">
              <a:lnSpc>
                <a:spcPts val="220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pq.Enqueue("Ana" , 2); // más cercana</a:t>
            </a:r>
            <a:endParaRPr lang="en-US" sz="1550" dirty="0"/>
          </a:p>
          <a:p>
            <a:pPr marL="0" indent="0" algn="l">
              <a:lnSpc>
                <a:spcPts val="220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pq.Enqueue("Luis", 8);</a:t>
            </a:r>
            <a:endParaRPr lang="en-US" sz="1550" dirty="0"/>
          </a:p>
          <a:p>
            <a:pPr marL="0" indent="0" algn="l">
              <a:lnSpc>
                <a:spcPts val="220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var asignado = pq.Dequeue();</a:t>
            </a:r>
            <a:endParaRPr lang="en-US" sz="1550" dirty="0"/>
          </a:p>
          <a:p>
            <a:pPr marL="0" indent="0" algn="l">
              <a:lnSpc>
                <a:spcPts val="220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 → "Ana" (distancia 2)</a:t>
            </a:r>
            <a:endParaRPr lang="en-US" sz="1550" dirty="0"/>
          </a:p>
          <a:p>
            <a:pPr marL="0" indent="0" algn="l">
              <a:lnSpc>
                <a:spcPts val="220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        </a:t>
            </a:r>
            <a:endParaRPr lang="en-US" sz="1550" dirty="0"/>
          </a:p>
        </p:txBody>
      </p:sp>
      <p:sp>
        <p:nvSpPr>
          <p:cNvPr id="10" name="Text 8"/>
          <p:cNvSpPr/>
          <p:nvPr/>
        </p:nvSpPr>
        <p:spPr>
          <a:xfrm>
            <a:off x="7564636" y="3053239"/>
            <a:ext cx="2202894" cy="275273"/>
          </a:xfrm>
          <a:prstGeom prst="rect">
            <a:avLst/>
          </a:prstGeom>
          <a:noFill/>
          <a:ln/>
        </p:spPr>
        <p:txBody>
          <a:bodyPr wrap="none" lIns="0" tIns="0" rIns="0" bIns="0" rtlCol="0" anchor="t"/>
          <a:lstStyle/>
          <a:p>
            <a:pPr marL="0" indent="0" algn="l">
              <a:lnSpc>
                <a:spcPts val="2150"/>
              </a:lnSpc>
              <a:buNone/>
            </a:pPr>
            <a:r>
              <a:rPr lang="en-US" sz="1700" b="1" dirty="0">
                <a:solidFill>
                  <a:srgbClr val="F0FCFF"/>
                </a:solidFill>
                <a:latin typeface="Spline Sans Bold" pitchFamily="34" charset="0"/>
                <a:ea typeface="Spline Sans Bold" pitchFamily="34" charset="-122"/>
                <a:cs typeface="Spline Sans Bold" pitchFamily="34" charset="-120"/>
              </a:rPr>
              <a:t>¿Por qué no List&lt;T&gt;?</a:t>
            </a:r>
            <a:endParaRPr lang="en-US" sz="1700" dirty="0"/>
          </a:p>
        </p:txBody>
      </p:sp>
      <p:sp>
        <p:nvSpPr>
          <p:cNvPr id="11" name="Shape 9"/>
          <p:cNvSpPr/>
          <p:nvPr/>
        </p:nvSpPr>
        <p:spPr>
          <a:xfrm>
            <a:off x="7564636" y="3504128"/>
            <a:ext cx="6206014" cy="1583769"/>
          </a:xfrm>
          <a:prstGeom prst="roundRect">
            <a:avLst>
              <a:gd name="adj" fmla="val 18778"/>
            </a:avLst>
          </a:prstGeom>
          <a:solidFill>
            <a:srgbClr val="4B3F02"/>
          </a:solidFill>
          <a:ln/>
        </p:spPr>
        <p:txBody>
          <a:bodyPr/>
          <a:lstStyle/>
          <a:p>
            <a:endParaRPr lang="es-PE"/>
          </a:p>
        </p:txBody>
      </p:sp>
      <p:pic>
        <p:nvPicPr>
          <p:cNvPr id="12" name="Image 0" descr="preencoded.png"/>
          <p:cNvPicPr>
            <a:picLocks noChangeAspect="1"/>
          </p:cNvPicPr>
          <p:nvPr/>
        </p:nvPicPr>
        <p:blipFill>
          <a:blip r:embed="rId3"/>
          <a:stretch>
            <a:fillRect/>
          </a:stretch>
        </p:blipFill>
        <p:spPr>
          <a:xfrm>
            <a:off x="7762875" y="3730347"/>
            <a:ext cx="275273" cy="220266"/>
          </a:xfrm>
          <a:prstGeom prst="rect">
            <a:avLst/>
          </a:prstGeom>
        </p:spPr>
      </p:pic>
      <p:sp>
        <p:nvSpPr>
          <p:cNvPr id="13" name="Text 10"/>
          <p:cNvSpPr/>
          <p:nvPr/>
        </p:nvSpPr>
        <p:spPr>
          <a:xfrm>
            <a:off x="8236387" y="3709749"/>
            <a:ext cx="2202894" cy="275273"/>
          </a:xfrm>
          <a:prstGeom prst="rect">
            <a:avLst/>
          </a:prstGeom>
          <a:noFill/>
          <a:ln/>
        </p:spPr>
        <p:txBody>
          <a:bodyPr wrap="none" lIns="0" tIns="0" rIns="0" bIns="0" rtlCol="0" anchor="t"/>
          <a:lstStyle/>
          <a:p>
            <a:pPr marL="0" indent="0" algn="l">
              <a:lnSpc>
                <a:spcPts val="2150"/>
              </a:lnSpc>
              <a:buNone/>
            </a:pPr>
            <a:r>
              <a:rPr lang="en-US" sz="1700" b="1" dirty="0">
                <a:solidFill>
                  <a:srgbClr val="FFFFFF"/>
                </a:solidFill>
                <a:latin typeface="Spline Sans Bold" pitchFamily="34" charset="0"/>
                <a:ea typeface="Spline Sans Bold" pitchFamily="34" charset="-122"/>
                <a:cs typeface="Spline Sans Bold" pitchFamily="34" charset="-120"/>
              </a:rPr>
              <a:t>List&lt;T&gt; ordenada</a:t>
            </a:r>
            <a:endParaRPr lang="en-US" sz="1700" dirty="0"/>
          </a:p>
        </p:txBody>
      </p:sp>
      <p:sp>
        <p:nvSpPr>
          <p:cNvPr id="14" name="Text 11"/>
          <p:cNvSpPr/>
          <p:nvPr/>
        </p:nvSpPr>
        <p:spPr>
          <a:xfrm>
            <a:off x="8236387" y="4141113"/>
            <a:ext cx="5336024" cy="283369"/>
          </a:xfrm>
          <a:prstGeom prst="rect">
            <a:avLst/>
          </a:prstGeom>
          <a:noFill/>
          <a:ln/>
        </p:spPr>
        <p:txBody>
          <a:bodyPr wrap="none" lIns="0" tIns="0" rIns="0" bIns="0" rtlCol="0" anchor="t"/>
          <a:lstStyle/>
          <a:p>
            <a:pPr marL="0" indent="0" algn="l">
              <a:lnSpc>
                <a:spcPts val="2200"/>
              </a:lnSpc>
              <a:buNone/>
            </a:pPr>
            <a:r>
              <a:rPr lang="en-US" sz="1550" dirty="0">
                <a:solidFill>
                  <a:srgbClr val="FFFFFF"/>
                </a:solidFill>
                <a:latin typeface="Barlow" pitchFamily="34" charset="0"/>
                <a:ea typeface="Barlow" pitchFamily="34" charset="-122"/>
                <a:cs typeface="Barlow" pitchFamily="34" charset="-120"/>
              </a:rPr>
              <a:t>Inserción: O(n)</a:t>
            </a:r>
            <a:endParaRPr lang="en-US" sz="1550" dirty="0"/>
          </a:p>
        </p:txBody>
      </p:sp>
      <p:sp>
        <p:nvSpPr>
          <p:cNvPr id="15" name="Text 12"/>
          <p:cNvSpPr/>
          <p:nvPr/>
        </p:nvSpPr>
        <p:spPr>
          <a:xfrm>
            <a:off x="8236387" y="4564975"/>
            <a:ext cx="5336024" cy="283369"/>
          </a:xfrm>
          <a:prstGeom prst="rect">
            <a:avLst/>
          </a:prstGeom>
          <a:noFill/>
          <a:ln/>
        </p:spPr>
        <p:txBody>
          <a:bodyPr wrap="none" lIns="0" tIns="0" rIns="0" bIns="0" rtlCol="0" anchor="t"/>
          <a:lstStyle/>
          <a:p>
            <a:pPr marL="0" indent="0" algn="l">
              <a:lnSpc>
                <a:spcPts val="2200"/>
              </a:lnSpc>
              <a:buNone/>
            </a:pPr>
            <a:r>
              <a:rPr lang="en-US" sz="1550" dirty="0">
                <a:solidFill>
                  <a:srgbClr val="FFFFFF"/>
                </a:solidFill>
                <a:latin typeface="Barlow" pitchFamily="34" charset="0"/>
                <a:ea typeface="Barlow" pitchFamily="34" charset="-122"/>
                <a:cs typeface="Barlow" pitchFamily="34" charset="-120"/>
              </a:rPr>
              <a:t>Reordena toda la lista</a:t>
            </a:r>
            <a:endParaRPr lang="en-US" sz="1550" dirty="0"/>
          </a:p>
        </p:txBody>
      </p:sp>
      <p:sp>
        <p:nvSpPr>
          <p:cNvPr id="16" name="Shape 13"/>
          <p:cNvSpPr/>
          <p:nvPr/>
        </p:nvSpPr>
        <p:spPr>
          <a:xfrm>
            <a:off x="7564636" y="5263515"/>
            <a:ext cx="6206014" cy="1583769"/>
          </a:xfrm>
          <a:prstGeom prst="roundRect">
            <a:avLst>
              <a:gd name="adj" fmla="val 18778"/>
            </a:avLst>
          </a:prstGeom>
          <a:solidFill>
            <a:srgbClr val="183A13"/>
          </a:solidFill>
          <a:ln/>
        </p:spPr>
        <p:txBody>
          <a:bodyPr/>
          <a:lstStyle/>
          <a:p>
            <a:endParaRPr lang="es-PE"/>
          </a:p>
        </p:txBody>
      </p:sp>
      <p:pic>
        <p:nvPicPr>
          <p:cNvPr id="17" name="Image 1" descr="preencoded.png"/>
          <p:cNvPicPr>
            <a:picLocks noChangeAspect="1"/>
          </p:cNvPicPr>
          <p:nvPr/>
        </p:nvPicPr>
        <p:blipFill>
          <a:blip r:embed="rId4"/>
          <a:stretch>
            <a:fillRect/>
          </a:stretch>
        </p:blipFill>
        <p:spPr>
          <a:xfrm>
            <a:off x="7762875" y="5489734"/>
            <a:ext cx="275273" cy="220266"/>
          </a:xfrm>
          <a:prstGeom prst="rect">
            <a:avLst/>
          </a:prstGeom>
        </p:spPr>
      </p:pic>
      <p:sp>
        <p:nvSpPr>
          <p:cNvPr id="18" name="Text 14"/>
          <p:cNvSpPr/>
          <p:nvPr/>
        </p:nvSpPr>
        <p:spPr>
          <a:xfrm>
            <a:off x="8236387" y="5469136"/>
            <a:ext cx="2202894" cy="275273"/>
          </a:xfrm>
          <a:prstGeom prst="rect">
            <a:avLst/>
          </a:prstGeom>
          <a:noFill/>
          <a:ln/>
        </p:spPr>
        <p:txBody>
          <a:bodyPr wrap="none" lIns="0" tIns="0" rIns="0" bIns="0" rtlCol="0" anchor="t"/>
          <a:lstStyle/>
          <a:p>
            <a:pPr marL="0" indent="0" algn="l">
              <a:lnSpc>
                <a:spcPts val="2150"/>
              </a:lnSpc>
              <a:buNone/>
            </a:pPr>
            <a:r>
              <a:rPr lang="en-US" sz="1700" b="1" dirty="0">
                <a:solidFill>
                  <a:srgbClr val="FFFFFF"/>
                </a:solidFill>
                <a:latin typeface="Spline Sans Bold" pitchFamily="34" charset="0"/>
                <a:ea typeface="Spline Sans Bold" pitchFamily="34" charset="-122"/>
                <a:cs typeface="Spline Sans Bold" pitchFamily="34" charset="-120"/>
              </a:rPr>
              <a:t>PriorityQueue&lt;T&gt;</a:t>
            </a:r>
            <a:endParaRPr lang="en-US" sz="1700" dirty="0"/>
          </a:p>
        </p:txBody>
      </p:sp>
      <p:sp>
        <p:nvSpPr>
          <p:cNvPr id="19" name="Text 15"/>
          <p:cNvSpPr/>
          <p:nvPr/>
        </p:nvSpPr>
        <p:spPr>
          <a:xfrm>
            <a:off x="8236387" y="5900499"/>
            <a:ext cx="5336024" cy="283369"/>
          </a:xfrm>
          <a:prstGeom prst="rect">
            <a:avLst/>
          </a:prstGeom>
          <a:noFill/>
          <a:ln/>
        </p:spPr>
        <p:txBody>
          <a:bodyPr wrap="none" lIns="0" tIns="0" rIns="0" bIns="0" rtlCol="0" anchor="t"/>
          <a:lstStyle/>
          <a:p>
            <a:pPr marL="0" indent="0" algn="l">
              <a:lnSpc>
                <a:spcPts val="2200"/>
              </a:lnSpc>
              <a:buNone/>
            </a:pPr>
            <a:r>
              <a:rPr lang="en-US" sz="1550" dirty="0">
                <a:solidFill>
                  <a:srgbClr val="FFFFFF"/>
                </a:solidFill>
                <a:latin typeface="Barlow" pitchFamily="34" charset="0"/>
                <a:ea typeface="Barlow" pitchFamily="34" charset="-122"/>
                <a:cs typeface="Barlow" pitchFamily="34" charset="-120"/>
              </a:rPr>
              <a:t>Inserción: O(log n)</a:t>
            </a:r>
            <a:endParaRPr lang="en-US" sz="1550" dirty="0"/>
          </a:p>
        </p:txBody>
      </p:sp>
      <p:sp>
        <p:nvSpPr>
          <p:cNvPr id="20" name="Text 16"/>
          <p:cNvSpPr/>
          <p:nvPr/>
        </p:nvSpPr>
        <p:spPr>
          <a:xfrm>
            <a:off x="8236387" y="6324362"/>
            <a:ext cx="5336024" cy="283369"/>
          </a:xfrm>
          <a:prstGeom prst="rect">
            <a:avLst/>
          </a:prstGeom>
          <a:noFill/>
          <a:ln/>
        </p:spPr>
        <p:txBody>
          <a:bodyPr wrap="none" lIns="0" tIns="0" rIns="0" bIns="0" rtlCol="0" anchor="t"/>
          <a:lstStyle/>
          <a:p>
            <a:pPr marL="0" indent="0" algn="l">
              <a:lnSpc>
                <a:spcPts val="2200"/>
              </a:lnSpc>
              <a:buNone/>
            </a:pPr>
            <a:r>
              <a:rPr lang="en-US" sz="1550" dirty="0">
                <a:solidFill>
                  <a:srgbClr val="FFFFFF"/>
                </a:solidFill>
                <a:latin typeface="Barlow" pitchFamily="34" charset="0"/>
                <a:ea typeface="Barlow" pitchFamily="34" charset="-122"/>
                <a:cs typeface="Barlow" pitchFamily="34" charset="-120"/>
              </a:rPr>
              <a:t>Heap se autobalancea solo</a:t>
            </a:r>
            <a:endParaRPr lang="en-US" sz="1550" dirty="0"/>
          </a:p>
        </p:txBody>
      </p:sp>
      <p:sp>
        <p:nvSpPr>
          <p:cNvPr id="21" name="Text 17"/>
          <p:cNvSpPr/>
          <p:nvPr/>
        </p:nvSpPr>
        <p:spPr>
          <a:xfrm>
            <a:off x="867370" y="7198519"/>
            <a:ext cx="12895659" cy="283369"/>
          </a:xfrm>
          <a:prstGeom prst="rect">
            <a:avLst/>
          </a:prstGeom>
          <a:noFill/>
          <a:ln/>
        </p:spPr>
        <p:txBody>
          <a:bodyPr wrap="none" lIns="0" tIns="0" rIns="0" bIns="0" rtlCol="0" anchor="t"/>
          <a:lstStyle/>
          <a:p>
            <a:pPr marL="0" indent="0" algn="l">
              <a:lnSpc>
                <a:spcPts val="2200"/>
              </a:lnSpc>
              <a:buNone/>
            </a:pPr>
            <a:r>
              <a:rPr lang="en-US" sz="1550" b="1" dirty="0">
                <a:solidFill>
                  <a:srgbClr val="E0E4E6"/>
                </a:solidFill>
                <a:latin typeface="Barlow" pitchFamily="34" charset="0"/>
                <a:ea typeface="Barlow" pitchFamily="34" charset="-122"/>
                <a:cs typeface="Barlow" pitchFamily="34" charset="-120"/>
              </a:rPr>
              <a:t>Con 1M conductores: List = 1,000,000 pasos | PriorityQueue = 20 pasos (log₂ 1M ≈ 20)</a:t>
            </a:r>
            <a:endParaRPr lang="en-US" sz="1550" dirty="0"/>
          </a:p>
        </p:txBody>
      </p:sp>
      <p:pic>
        <p:nvPicPr>
          <p:cNvPr id="23" name="Imagen 22">
            <a:extLst>
              <a:ext uri="{FF2B5EF4-FFF2-40B4-BE49-F238E27FC236}">
                <a16:creationId xmlns:a16="http://schemas.microsoft.com/office/drawing/2014/main" id="{65E2631F-5EA4-ECCE-3C79-2033FE403DCA}"/>
              </a:ext>
            </a:extLst>
          </p:cNvPr>
          <p:cNvPicPr>
            <a:picLocks noChangeAspect="1"/>
          </p:cNvPicPr>
          <p:nvPr/>
        </p:nvPicPr>
        <p:blipFill>
          <a:blip r:embed="rId5"/>
          <a:stretch>
            <a:fillRect/>
          </a:stretch>
        </p:blipFill>
        <p:spPr>
          <a:xfrm>
            <a:off x="12822149" y="7602379"/>
            <a:ext cx="1764908" cy="504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81063" y="962858"/>
            <a:ext cx="6809899" cy="279797"/>
          </a:xfrm>
          <a:prstGeom prst="rect">
            <a:avLst/>
          </a:prstGeom>
          <a:noFill/>
          <a:ln/>
        </p:spPr>
        <p:txBody>
          <a:bodyPr wrap="none" lIns="0" tIns="0" rIns="0" bIns="0" rtlCol="0" anchor="t"/>
          <a:lstStyle/>
          <a:p>
            <a:pPr marL="0" indent="0" algn="l">
              <a:lnSpc>
                <a:spcPts val="2200"/>
              </a:lnSpc>
              <a:buNone/>
            </a:pPr>
            <a:r>
              <a:rPr lang="en-US" sz="1750" b="1" dirty="0">
                <a:solidFill>
                  <a:srgbClr val="F0FCFF"/>
                </a:solidFill>
                <a:latin typeface="Spline Sans Bold" pitchFamily="34" charset="0"/>
                <a:ea typeface="Spline Sans Bold" pitchFamily="34" charset="-122"/>
                <a:cs typeface="Spline Sans Bold" pitchFamily="34" charset="-120"/>
              </a:rPr>
              <a:t>P3 / Dictionary&lt;string,List&lt;Conductor&gt;&gt; — Conductores por zona</a:t>
            </a:r>
            <a:endParaRPr lang="en-US" sz="1750" dirty="0"/>
          </a:p>
        </p:txBody>
      </p:sp>
      <p:sp>
        <p:nvSpPr>
          <p:cNvPr id="3" name="Text 1"/>
          <p:cNvSpPr/>
          <p:nvPr/>
        </p:nvSpPr>
        <p:spPr>
          <a:xfrm>
            <a:off x="881063" y="1564838"/>
            <a:ext cx="12868275" cy="290036"/>
          </a:xfrm>
          <a:prstGeom prst="rect">
            <a:avLst/>
          </a:prstGeom>
          <a:noFill/>
          <a:ln/>
        </p:spPr>
        <p:txBody>
          <a:bodyPr wrap="none" lIns="0" tIns="0" rIns="0" bIns="0" rtlCol="0" anchor="t"/>
          <a:lstStyle/>
          <a:p>
            <a:pPr marL="0" indent="0" algn="l">
              <a:lnSpc>
                <a:spcPts val="2250"/>
              </a:lnSpc>
              <a:buNone/>
            </a:pPr>
            <a:r>
              <a:rPr lang="en-US" sz="1550" b="1" dirty="0">
                <a:solidFill>
                  <a:srgbClr val="E0E4E6"/>
                </a:solidFill>
                <a:latin typeface="Barlow" pitchFamily="34" charset="0"/>
                <a:ea typeface="Barlow" pitchFamily="34" charset="-122"/>
                <a:cs typeface="Barlow" pitchFamily="34" charset="-120"/>
              </a:rPr>
              <a:t>Pregunta:</a:t>
            </a:r>
            <a:endParaRPr lang="en-US" sz="1550" dirty="0"/>
          </a:p>
        </p:txBody>
      </p:sp>
      <p:sp>
        <p:nvSpPr>
          <p:cNvPr id="4" name="Text 2"/>
          <p:cNvSpPr/>
          <p:nvPr/>
        </p:nvSpPr>
        <p:spPr>
          <a:xfrm>
            <a:off x="881063" y="2036088"/>
            <a:ext cx="12868275" cy="290036"/>
          </a:xfrm>
          <a:prstGeom prst="rect">
            <a:avLst/>
          </a:prstGeom>
          <a:noFill/>
          <a:ln/>
        </p:spPr>
        <p:txBody>
          <a:bodyPr wrap="none" lIns="0" tIns="0" rIns="0" bIns="0" rtlCol="0" anchor="t"/>
          <a:lstStyle/>
          <a:p>
            <a:pPr marL="0" indent="0" algn="l">
              <a:lnSpc>
                <a:spcPts val="2250"/>
              </a:lnSpc>
              <a:buNone/>
            </a:pPr>
            <a:r>
              <a:rPr lang="en-US" sz="1550" i="1" dirty="0">
                <a:solidFill>
                  <a:srgbClr val="E0E4E6"/>
                </a:solidFill>
                <a:latin typeface="Barlow" pitchFamily="34" charset="0"/>
                <a:ea typeface="Barlow" pitchFamily="34" charset="-122"/>
                <a:cs typeface="Barlow" pitchFamily="34" charset="-120"/>
              </a:rPr>
              <a:t>¿Cómo usarías un Dictionary&lt;string,List&lt;Conductor&gt;&gt; para indexar conductores por zona geográfica? ¿Cuál es su complejidad?</a:t>
            </a:r>
            <a:endParaRPr lang="en-US" sz="1550" dirty="0"/>
          </a:p>
        </p:txBody>
      </p:sp>
      <p:sp>
        <p:nvSpPr>
          <p:cNvPr id="5" name="Text 3"/>
          <p:cNvSpPr/>
          <p:nvPr/>
        </p:nvSpPr>
        <p:spPr>
          <a:xfrm>
            <a:off x="881063" y="2507337"/>
            <a:ext cx="12868275" cy="290036"/>
          </a:xfrm>
          <a:prstGeom prst="rect">
            <a:avLst/>
          </a:prstGeom>
          <a:noFill/>
          <a:ln/>
        </p:spPr>
        <p:txBody>
          <a:bodyPr wrap="none" lIns="0" tIns="0" rIns="0" bIns="0" rtlCol="0" anchor="t"/>
          <a:lstStyle/>
          <a:p>
            <a:pPr marL="0" indent="0" algn="l">
              <a:lnSpc>
                <a:spcPts val="2250"/>
              </a:lnSpc>
              <a:buNone/>
            </a:pPr>
            <a:r>
              <a:rPr lang="en-US" sz="1550" b="1" dirty="0">
                <a:solidFill>
                  <a:srgbClr val="E0E4E6"/>
                </a:solidFill>
                <a:latin typeface="Barlow" pitchFamily="34" charset="0"/>
                <a:ea typeface="Barlow" pitchFamily="34" charset="-122"/>
                <a:cs typeface="Barlow" pitchFamily="34" charset="-120"/>
              </a:rPr>
              <a:t>Respuesta:</a:t>
            </a:r>
            <a:endParaRPr lang="en-US" sz="1550" dirty="0"/>
          </a:p>
        </p:txBody>
      </p:sp>
      <p:sp>
        <p:nvSpPr>
          <p:cNvPr id="6" name="Text 4"/>
          <p:cNvSpPr/>
          <p:nvPr/>
        </p:nvSpPr>
        <p:spPr>
          <a:xfrm>
            <a:off x="881063" y="3123486"/>
            <a:ext cx="6188512" cy="870109"/>
          </a:xfrm>
          <a:prstGeom prst="rect">
            <a:avLst/>
          </a:prstGeom>
          <a:noFill/>
          <a:ln/>
        </p:spPr>
        <p:txBody>
          <a:bodyPr wrap="square" lIns="0" tIns="0" rIns="0" bIns="0" rtlCol="0" anchor="t"/>
          <a:lstStyle/>
          <a:p>
            <a:pPr marL="0" indent="0" algn="l">
              <a:lnSpc>
                <a:spcPts val="2250"/>
              </a:lnSpc>
              <a:buNone/>
            </a:pPr>
            <a:r>
              <a:rPr lang="en-US" sz="1550" dirty="0">
                <a:solidFill>
                  <a:srgbClr val="E0E4E6"/>
                </a:solidFill>
                <a:latin typeface="Barlow" pitchFamily="34" charset="0"/>
                <a:ea typeface="Barlow" pitchFamily="34" charset="-122"/>
                <a:cs typeface="Barlow" pitchFamily="34" charset="-120"/>
              </a:rPr>
              <a:t>Dividimos la ciudad en zonas. La clave del Dictionary es el nombre de la zona y el valor es la lista de conductores disponibles ahí. Accedemos directamente a la zona del pasajero en O(1).</a:t>
            </a:r>
            <a:endParaRPr lang="en-US" sz="1550" dirty="0"/>
          </a:p>
        </p:txBody>
      </p:sp>
      <p:sp>
        <p:nvSpPr>
          <p:cNvPr id="7" name="Shape 5"/>
          <p:cNvSpPr/>
          <p:nvPr/>
        </p:nvSpPr>
        <p:spPr>
          <a:xfrm>
            <a:off x="881063" y="4174808"/>
            <a:ext cx="6188512" cy="2142887"/>
          </a:xfrm>
          <a:prstGeom prst="roundRect">
            <a:avLst>
              <a:gd name="adj" fmla="val 14099"/>
            </a:avLst>
          </a:prstGeom>
          <a:solidFill>
            <a:srgbClr val="171528"/>
          </a:solidFill>
          <a:ln/>
        </p:spPr>
        <p:txBody>
          <a:bodyPr/>
          <a:lstStyle/>
          <a:p>
            <a:endParaRPr lang="es-PE"/>
          </a:p>
        </p:txBody>
      </p:sp>
      <p:sp>
        <p:nvSpPr>
          <p:cNvPr id="8" name="Shape 6"/>
          <p:cNvSpPr/>
          <p:nvPr/>
        </p:nvSpPr>
        <p:spPr>
          <a:xfrm>
            <a:off x="871061" y="4174808"/>
            <a:ext cx="6208514" cy="2142887"/>
          </a:xfrm>
          <a:prstGeom prst="roundRect">
            <a:avLst>
              <a:gd name="adj" fmla="val 1410"/>
            </a:avLst>
          </a:prstGeom>
          <a:solidFill>
            <a:srgbClr val="171528"/>
          </a:solidFill>
          <a:ln/>
        </p:spPr>
        <p:txBody>
          <a:bodyPr/>
          <a:lstStyle/>
          <a:p>
            <a:endParaRPr lang="es-PE"/>
          </a:p>
        </p:txBody>
      </p:sp>
      <p:sp>
        <p:nvSpPr>
          <p:cNvPr id="9" name="Text 7"/>
          <p:cNvSpPr/>
          <p:nvPr/>
        </p:nvSpPr>
        <p:spPr>
          <a:xfrm>
            <a:off x="1122759" y="4376142"/>
            <a:ext cx="5705118" cy="1740218"/>
          </a:xfrm>
          <a:prstGeom prst="rect">
            <a:avLst/>
          </a:prstGeom>
          <a:noFill/>
          <a:ln/>
        </p:spPr>
        <p:txBody>
          <a:bodyPr wrap="square" lIns="0" tIns="0" rIns="0" bIns="0" rtlCol="0" anchor="t"/>
          <a:lstStyle/>
          <a:p>
            <a:pPr marL="0" indent="0" algn="l">
              <a:lnSpc>
                <a:spcPts val="225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var zonas = new Dictionary&lt;string,List&lt;string&gt;&gt;();</a:t>
            </a:r>
            <a:endParaRPr lang="en-US" sz="1550" dirty="0"/>
          </a:p>
          <a:p>
            <a:pPr marL="0" indent="0" algn="l">
              <a:lnSpc>
                <a:spcPts val="225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zonas["Miraflores"] = new List&lt;string&gt;();</a:t>
            </a:r>
            <a:endParaRPr lang="en-US" sz="1550" dirty="0"/>
          </a:p>
          <a:p>
            <a:pPr marL="0" indent="0" algn="l">
              <a:lnSpc>
                <a:spcPts val="225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zonas["Miraflores"].Add("Pedro");</a:t>
            </a:r>
            <a:endParaRPr lang="en-US" sz="1550" dirty="0"/>
          </a:p>
          <a:p>
            <a:pPr marL="0" indent="0" algn="l">
              <a:lnSpc>
                <a:spcPts val="2250"/>
              </a:lnSpc>
              <a:buNone/>
            </a:pPr>
            <a:endParaRPr lang="en-US" sz="1550" dirty="0"/>
          </a:p>
          <a:p>
            <a:pPr marL="0" indent="0" algn="l">
              <a:lnSpc>
                <a:spcPts val="225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 Acceso directo → O(1)</a:t>
            </a:r>
            <a:endParaRPr lang="en-US" sz="1550" dirty="0"/>
          </a:p>
          <a:p>
            <a:pPr marL="0" indent="0" algn="l">
              <a:lnSpc>
                <a:spcPts val="2250"/>
              </a:lnSpc>
              <a:buNone/>
            </a:pPr>
            <a:r>
              <a:rPr lang="en-US" sz="1550" dirty="0">
                <a:solidFill>
                  <a:srgbClr val="FF7B72"/>
                </a:solidFill>
                <a:highlight>
                  <a:srgbClr val="171528"/>
                </a:highlight>
                <a:latin typeface="Consolas" pitchFamily="34" charset="0"/>
                <a:ea typeface="Consolas" pitchFamily="34" charset="-122"/>
                <a:cs typeface="Consolas" pitchFamily="34" charset="-120"/>
              </a:rPr>
              <a:t>var lista = zonas["Miraflores"];</a:t>
            </a:r>
            <a:endParaRPr lang="en-US" sz="1550" dirty="0"/>
          </a:p>
        </p:txBody>
      </p:sp>
      <p:sp>
        <p:nvSpPr>
          <p:cNvPr id="10" name="Text 8"/>
          <p:cNvSpPr/>
          <p:nvPr/>
        </p:nvSpPr>
        <p:spPr>
          <a:xfrm>
            <a:off x="881063" y="6498908"/>
            <a:ext cx="6188512" cy="580073"/>
          </a:xfrm>
          <a:prstGeom prst="rect">
            <a:avLst/>
          </a:prstGeom>
          <a:noFill/>
          <a:ln/>
        </p:spPr>
        <p:txBody>
          <a:bodyPr wrap="square" lIns="0" tIns="0" rIns="0" bIns="0" rtlCol="0" anchor="t"/>
          <a:lstStyle/>
          <a:p>
            <a:pPr marL="0" indent="0" algn="l">
              <a:lnSpc>
                <a:spcPts val="2250"/>
              </a:lnSpc>
              <a:buNone/>
            </a:pPr>
            <a:r>
              <a:rPr lang="en-US" sz="1550" b="1" dirty="0">
                <a:solidFill>
                  <a:srgbClr val="E0E4E6"/>
                </a:solidFill>
                <a:latin typeface="Barlow" pitchFamily="34" charset="0"/>
                <a:ea typeface="Barlow" pitchFamily="34" charset="-122"/>
                <a:cs typeface="Barlow" pitchFamily="34" charset="-120"/>
              </a:rPr>
              <a:t>Ventaja clave: no se recorre toda la ciudad. Solo se consulta la zona del pasajero. Escala a millones.</a:t>
            </a:r>
            <a:endParaRPr lang="en-US" sz="1550" dirty="0"/>
          </a:p>
        </p:txBody>
      </p:sp>
      <p:sp>
        <p:nvSpPr>
          <p:cNvPr id="11" name="Shape 9"/>
          <p:cNvSpPr/>
          <p:nvPr/>
        </p:nvSpPr>
        <p:spPr>
          <a:xfrm>
            <a:off x="7568446" y="3159800"/>
            <a:ext cx="6188512" cy="1187768"/>
          </a:xfrm>
          <a:prstGeom prst="roundRect">
            <a:avLst>
              <a:gd name="adj" fmla="val 25436"/>
            </a:avLst>
          </a:prstGeom>
          <a:solidFill>
            <a:srgbClr val="183A13"/>
          </a:solidFill>
          <a:ln/>
        </p:spPr>
        <p:txBody>
          <a:bodyPr/>
          <a:lstStyle/>
          <a:p>
            <a:endParaRPr lang="es-PE"/>
          </a:p>
        </p:txBody>
      </p:sp>
      <p:pic>
        <p:nvPicPr>
          <p:cNvPr id="12" name="Image 0" descr="preencoded.png"/>
          <p:cNvPicPr>
            <a:picLocks noChangeAspect="1"/>
          </p:cNvPicPr>
          <p:nvPr/>
        </p:nvPicPr>
        <p:blipFill>
          <a:blip r:embed="rId3"/>
          <a:stretch>
            <a:fillRect/>
          </a:stretch>
        </p:blipFill>
        <p:spPr>
          <a:xfrm>
            <a:off x="7769781" y="3388638"/>
            <a:ext cx="279678" cy="223718"/>
          </a:xfrm>
          <a:prstGeom prst="rect">
            <a:avLst/>
          </a:prstGeom>
        </p:spPr>
      </p:pic>
      <p:sp>
        <p:nvSpPr>
          <p:cNvPr id="13" name="Text 10"/>
          <p:cNvSpPr/>
          <p:nvPr/>
        </p:nvSpPr>
        <p:spPr>
          <a:xfrm>
            <a:off x="8250793" y="3371136"/>
            <a:ext cx="2237899" cy="279797"/>
          </a:xfrm>
          <a:prstGeom prst="rect">
            <a:avLst/>
          </a:prstGeom>
          <a:noFill/>
          <a:ln/>
        </p:spPr>
        <p:txBody>
          <a:bodyPr wrap="none" lIns="0" tIns="0" rIns="0" bIns="0" rtlCol="0" anchor="t"/>
          <a:lstStyle/>
          <a:p>
            <a:pPr marL="0" indent="0" algn="l">
              <a:lnSpc>
                <a:spcPts val="2200"/>
              </a:lnSpc>
              <a:buNone/>
            </a:pPr>
            <a:r>
              <a:rPr lang="en-US" sz="1750" b="1" dirty="0">
                <a:solidFill>
                  <a:srgbClr val="FFFFFF"/>
                </a:solidFill>
                <a:latin typeface="Spline Sans Bold" pitchFamily="34" charset="0"/>
                <a:ea typeface="Spline Sans Bold" pitchFamily="34" charset="-122"/>
                <a:cs typeface="Spline Sans Bold" pitchFamily="34" charset="-120"/>
              </a:rPr>
              <a:t>Acceso por clave</a:t>
            </a:r>
            <a:endParaRPr lang="en-US" sz="1750" dirty="0"/>
          </a:p>
        </p:txBody>
      </p:sp>
      <p:sp>
        <p:nvSpPr>
          <p:cNvPr id="14" name="Text 11"/>
          <p:cNvSpPr/>
          <p:nvPr/>
        </p:nvSpPr>
        <p:spPr>
          <a:xfrm>
            <a:off x="8250793" y="3812024"/>
            <a:ext cx="5304830" cy="290036"/>
          </a:xfrm>
          <a:prstGeom prst="rect">
            <a:avLst/>
          </a:prstGeom>
          <a:noFill/>
          <a:ln/>
        </p:spPr>
        <p:txBody>
          <a:bodyPr wrap="none" lIns="0" tIns="0" rIns="0" bIns="0" rtlCol="0" anchor="t"/>
          <a:lstStyle/>
          <a:p>
            <a:pPr marL="0" indent="0" algn="l">
              <a:lnSpc>
                <a:spcPts val="2250"/>
              </a:lnSpc>
              <a:buNone/>
            </a:pPr>
            <a:r>
              <a:rPr lang="en-US" sz="1550" dirty="0">
                <a:solidFill>
                  <a:srgbClr val="FFFFFF"/>
                </a:solidFill>
                <a:latin typeface="Barlow" pitchFamily="34" charset="0"/>
                <a:ea typeface="Barlow" pitchFamily="34" charset="-122"/>
                <a:cs typeface="Barlow" pitchFamily="34" charset="-120"/>
              </a:rPr>
              <a:t>O(1) promedio (hash)</a:t>
            </a:r>
            <a:endParaRPr lang="en-US" sz="1550" dirty="0"/>
          </a:p>
        </p:txBody>
      </p:sp>
      <p:sp>
        <p:nvSpPr>
          <p:cNvPr id="15" name="Shape 12"/>
          <p:cNvSpPr/>
          <p:nvPr/>
        </p:nvSpPr>
        <p:spPr>
          <a:xfrm>
            <a:off x="7568446" y="4528780"/>
            <a:ext cx="6188512" cy="1187768"/>
          </a:xfrm>
          <a:prstGeom prst="roundRect">
            <a:avLst>
              <a:gd name="adj" fmla="val 25436"/>
            </a:avLst>
          </a:prstGeom>
          <a:solidFill>
            <a:srgbClr val="022349"/>
          </a:solidFill>
          <a:ln/>
        </p:spPr>
        <p:txBody>
          <a:bodyPr/>
          <a:lstStyle/>
          <a:p>
            <a:endParaRPr lang="es-PE"/>
          </a:p>
        </p:txBody>
      </p:sp>
      <p:pic>
        <p:nvPicPr>
          <p:cNvPr id="16" name="Image 1" descr="preencoded.png"/>
          <p:cNvPicPr>
            <a:picLocks noChangeAspect="1"/>
          </p:cNvPicPr>
          <p:nvPr/>
        </p:nvPicPr>
        <p:blipFill>
          <a:blip r:embed="rId4"/>
          <a:stretch>
            <a:fillRect/>
          </a:stretch>
        </p:blipFill>
        <p:spPr>
          <a:xfrm>
            <a:off x="7769781" y="4757618"/>
            <a:ext cx="279678" cy="223718"/>
          </a:xfrm>
          <a:prstGeom prst="rect">
            <a:avLst/>
          </a:prstGeom>
        </p:spPr>
      </p:pic>
      <p:sp>
        <p:nvSpPr>
          <p:cNvPr id="17" name="Text 13"/>
          <p:cNvSpPr/>
          <p:nvPr/>
        </p:nvSpPr>
        <p:spPr>
          <a:xfrm>
            <a:off x="8250793" y="4740116"/>
            <a:ext cx="2237899" cy="279797"/>
          </a:xfrm>
          <a:prstGeom prst="rect">
            <a:avLst/>
          </a:prstGeom>
          <a:noFill/>
          <a:ln/>
        </p:spPr>
        <p:txBody>
          <a:bodyPr wrap="none" lIns="0" tIns="0" rIns="0" bIns="0" rtlCol="0" anchor="t"/>
          <a:lstStyle/>
          <a:p>
            <a:pPr marL="0" indent="0" algn="l">
              <a:lnSpc>
                <a:spcPts val="2200"/>
              </a:lnSpc>
              <a:buNone/>
            </a:pPr>
            <a:r>
              <a:rPr lang="en-US" sz="1750" b="1" dirty="0">
                <a:solidFill>
                  <a:srgbClr val="FFFFFF"/>
                </a:solidFill>
                <a:latin typeface="Spline Sans Bold" pitchFamily="34" charset="0"/>
                <a:ea typeface="Spline Sans Bold" pitchFamily="34" charset="-122"/>
                <a:cs typeface="Spline Sans Bold" pitchFamily="34" charset="-120"/>
              </a:rPr>
              <a:t>Inserción</a:t>
            </a:r>
            <a:endParaRPr lang="en-US" sz="1750" dirty="0"/>
          </a:p>
        </p:txBody>
      </p:sp>
      <p:sp>
        <p:nvSpPr>
          <p:cNvPr id="18" name="Text 14"/>
          <p:cNvSpPr/>
          <p:nvPr/>
        </p:nvSpPr>
        <p:spPr>
          <a:xfrm>
            <a:off x="8250793" y="5181005"/>
            <a:ext cx="5304830" cy="290036"/>
          </a:xfrm>
          <a:prstGeom prst="rect">
            <a:avLst/>
          </a:prstGeom>
          <a:noFill/>
          <a:ln/>
        </p:spPr>
        <p:txBody>
          <a:bodyPr wrap="none" lIns="0" tIns="0" rIns="0" bIns="0" rtlCol="0" anchor="t"/>
          <a:lstStyle/>
          <a:p>
            <a:pPr marL="0" indent="0" algn="l">
              <a:lnSpc>
                <a:spcPts val="2250"/>
              </a:lnSpc>
              <a:buNone/>
            </a:pPr>
            <a:r>
              <a:rPr lang="en-US" sz="1550" dirty="0">
                <a:solidFill>
                  <a:srgbClr val="FFFFFF"/>
                </a:solidFill>
                <a:latin typeface="Barlow" pitchFamily="34" charset="0"/>
                <a:ea typeface="Barlow" pitchFamily="34" charset="-122"/>
                <a:cs typeface="Barlow" pitchFamily="34" charset="-120"/>
              </a:rPr>
              <a:t>O(1) amortizado</a:t>
            </a:r>
            <a:endParaRPr lang="en-US" sz="1550" dirty="0"/>
          </a:p>
        </p:txBody>
      </p:sp>
      <p:sp>
        <p:nvSpPr>
          <p:cNvPr id="19" name="Shape 15"/>
          <p:cNvSpPr/>
          <p:nvPr/>
        </p:nvSpPr>
        <p:spPr>
          <a:xfrm>
            <a:off x="7568446" y="5897761"/>
            <a:ext cx="6188512" cy="1187768"/>
          </a:xfrm>
          <a:prstGeom prst="roundRect">
            <a:avLst>
              <a:gd name="adj" fmla="val 25436"/>
            </a:avLst>
          </a:prstGeom>
          <a:solidFill>
            <a:srgbClr val="4B3F02"/>
          </a:solidFill>
          <a:ln/>
        </p:spPr>
        <p:txBody>
          <a:bodyPr/>
          <a:lstStyle/>
          <a:p>
            <a:endParaRPr lang="es-PE"/>
          </a:p>
        </p:txBody>
      </p:sp>
      <p:pic>
        <p:nvPicPr>
          <p:cNvPr id="20" name="Image 2" descr="preencoded.png"/>
          <p:cNvPicPr>
            <a:picLocks noChangeAspect="1"/>
          </p:cNvPicPr>
          <p:nvPr/>
        </p:nvPicPr>
        <p:blipFill>
          <a:blip r:embed="rId5"/>
          <a:stretch>
            <a:fillRect/>
          </a:stretch>
        </p:blipFill>
        <p:spPr>
          <a:xfrm>
            <a:off x="7769781" y="6126599"/>
            <a:ext cx="279678" cy="223718"/>
          </a:xfrm>
          <a:prstGeom prst="rect">
            <a:avLst/>
          </a:prstGeom>
        </p:spPr>
      </p:pic>
      <p:sp>
        <p:nvSpPr>
          <p:cNvPr id="21" name="Text 16"/>
          <p:cNvSpPr/>
          <p:nvPr/>
        </p:nvSpPr>
        <p:spPr>
          <a:xfrm>
            <a:off x="8250793" y="6109097"/>
            <a:ext cx="2237899" cy="279797"/>
          </a:xfrm>
          <a:prstGeom prst="rect">
            <a:avLst/>
          </a:prstGeom>
          <a:noFill/>
          <a:ln/>
        </p:spPr>
        <p:txBody>
          <a:bodyPr wrap="none" lIns="0" tIns="0" rIns="0" bIns="0" rtlCol="0" anchor="t"/>
          <a:lstStyle/>
          <a:p>
            <a:pPr marL="0" indent="0" algn="l">
              <a:lnSpc>
                <a:spcPts val="2200"/>
              </a:lnSpc>
              <a:buNone/>
            </a:pPr>
            <a:r>
              <a:rPr lang="en-US" sz="1750" b="1" dirty="0">
                <a:solidFill>
                  <a:srgbClr val="FFFFFF"/>
                </a:solidFill>
                <a:latin typeface="Spline Sans Bold" pitchFamily="34" charset="0"/>
                <a:ea typeface="Spline Sans Bold" pitchFamily="34" charset="-122"/>
                <a:cs typeface="Spline Sans Bold" pitchFamily="34" charset="-120"/>
              </a:rPr>
              <a:t>Zona no encontrada</a:t>
            </a:r>
            <a:endParaRPr lang="en-US" sz="1750" dirty="0"/>
          </a:p>
        </p:txBody>
      </p:sp>
      <p:sp>
        <p:nvSpPr>
          <p:cNvPr id="22" name="Text 17"/>
          <p:cNvSpPr/>
          <p:nvPr/>
        </p:nvSpPr>
        <p:spPr>
          <a:xfrm>
            <a:off x="8250793" y="6549985"/>
            <a:ext cx="5304830" cy="290036"/>
          </a:xfrm>
          <a:prstGeom prst="rect">
            <a:avLst/>
          </a:prstGeom>
          <a:noFill/>
          <a:ln/>
        </p:spPr>
        <p:txBody>
          <a:bodyPr wrap="none" lIns="0" tIns="0" rIns="0" bIns="0" rtlCol="0" anchor="t"/>
          <a:lstStyle/>
          <a:p>
            <a:pPr marL="0" indent="0" algn="l">
              <a:lnSpc>
                <a:spcPts val="2250"/>
              </a:lnSpc>
              <a:buNone/>
            </a:pPr>
            <a:r>
              <a:rPr lang="en-US" sz="1550" dirty="0">
                <a:solidFill>
                  <a:srgbClr val="FFFFFF"/>
                </a:solidFill>
                <a:latin typeface="Barlow" pitchFamily="34" charset="0"/>
                <a:ea typeface="Barlow" pitchFamily="34" charset="-122"/>
                <a:cs typeface="Barlow" pitchFamily="34" charset="-120"/>
              </a:rPr>
              <a:t>O(1) → respuesta inmediata</a:t>
            </a:r>
            <a:endParaRPr lang="en-US" sz="1550" dirty="0"/>
          </a:p>
        </p:txBody>
      </p:sp>
      <p:pic>
        <p:nvPicPr>
          <p:cNvPr id="24" name="Imagen 23">
            <a:extLst>
              <a:ext uri="{FF2B5EF4-FFF2-40B4-BE49-F238E27FC236}">
                <a16:creationId xmlns:a16="http://schemas.microsoft.com/office/drawing/2014/main" id="{31506715-CBEE-BDBB-4D65-FAC928215F2B}"/>
              </a:ext>
            </a:extLst>
          </p:cNvPr>
          <p:cNvPicPr>
            <a:picLocks noChangeAspect="1"/>
          </p:cNvPicPr>
          <p:nvPr/>
        </p:nvPicPr>
        <p:blipFill>
          <a:blip r:embed="rId6"/>
          <a:stretch>
            <a:fillRect/>
          </a:stretch>
        </p:blipFill>
        <p:spPr>
          <a:xfrm>
            <a:off x="12801600" y="7724705"/>
            <a:ext cx="1779385" cy="5048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81063" y="913090"/>
            <a:ext cx="10372606" cy="524470"/>
          </a:xfrm>
          <a:prstGeom prst="rect">
            <a:avLst/>
          </a:prstGeom>
          <a:noFill/>
          <a:ln/>
        </p:spPr>
        <p:txBody>
          <a:bodyPr wrap="none" lIns="0" tIns="0" rIns="0" bIns="0" rtlCol="0" anchor="t"/>
          <a:lstStyle/>
          <a:p>
            <a:pPr marL="0" indent="0" algn="l">
              <a:lnSpc>
                <a:spcPts val="4100"/>
              </a:lnSpc>
              <a:buNone/>
            </a:pPr>
            <a:r>
              <a:rPr lang="en-US" sz="3300" b="1" dirty="0">
                <a:solidFill>
                  <a:srgbClr val="F0FCFF"/>
                </a:solidFill>
                <a:latin typeface="Spline Sans Bold" pitchFamily="34" charset="0"/>
                <a:ea typeface="Spline Sans Bold" pitchFamily="34" charset="-122"/>
                <a:cs typeface="Spline Sans Bold" pitchFamily="34" charset="-120"/>
              </a:rPr>
              <a:t>P4 / Dijkstra — Ruta más corta en un grafo ponderado</a:t>
            </a:r>
            <a:endParaRPr lang="en-US" sz="3300" dirty="0"/>
          </a:p>
        </p:txBody>
      </p:sp>
      <p:sp>
        <p:nvSpPr>
          <p:cNvPr id="3" name="Text 1"/>
          <p:cNvSpPr/>
          <p:nvPr/>
        </p:nvSpPr>
        <p:spPr>
          <a:xfrm>
            <a:off x="881063" y="1494115"/>
            <a:ext cx="2098000" cy="262176"/>
          </a:xfrm>
          <a:prstGeom prst="rect">
            <a:avLst/>
          </a:prstGeom>
          <a:noFill/>
          <a:ln/>
        </p:spPr>
        <p:txBody>
          <a:bodyPr wrap="none" lIns="0" tIns="0" rIns="0" bIns="0" rtlCol="0" anchor="t"/>
          <a:lstStyle/>
          <a:p>
            <a:pPr marL="0" indent="0" algn="l">
              <a:lnSpc>
                <a:spcPts val="2050"/>
              </a:lnSpc>
              <a:buNone/>
            </a:pPr>
            <a:r>
              <a:rPr lang="en-US" sz="1650" b="1" dirty="0">
                <a:solidFill>
                  <a:srgbClr val="F0FCFF"/>
                </a:solidFill>
                <a:latin typeface="Spline Sans Bold" pitchFamily="34" charset="0"/>
                <a:ea typeface="Spline Sans Bold" pitchFamily="34" charset="-122"/>
                <a:cs typeface="Spline Sans Bold" pitchFamily="34" charset="-120"/>
              </a:rPr>
              <a:t>Pregunta:</a:t>
            </a:r>
            <a:endParaRPr lang="en-US" sz="1650" dirty="0"/>
          </a:p>
        </p:txBody>
      </p:sp>
      <p:sp>
        <p:nvSpPr>
          <p:cNvPr id="4" name="Text 2"/>
          <p:cNvSpPr/>
          <p:nvPr/>
        </p:nvSpPr>
        <p:spPr>
          <a:xfrm>
            <a:off x="881063" y="1968698"/>
            <a:ext cx="12868275" cy="264319"/>
          </a:xfrm>
          <a:prstGeom prst="rect">
            <a:avLst/>
          </a:prstGeom>
          <a:noFill/>
          <a:ln/>
        </p:spPr>
        <p:txBody>
          <a:bodyPr wrap="none" lIns="0" tIns="0" rIns="0" bIns="0" rtlCol="0" anchor="t"/>
          <a:lstStyle/>
          <a:p>
            <a:pPr marL="0" indent="0" algn="l">
              <a:lnSpc>
                <a:spcPts val="2050"/>
              </a:lnSpc>
              <a:buNone/>
            </a:pPr>
            <a:r>
              <a:rPr lang="en-US" sz="1450" i="1" dirty="0">
                <a:solidFill>
                  <a:srgbClr val="E0E4E6"/>
                </a:solidFill>
                <a:latin typeface="Barlow" pitchFamily="34" charset="0"/>
                <a:ea typeface="Barlow" pitchFamily="34" charset="-122"/>
                <a:cs typeface="Barlow" pitchFamily="34" charset="-120"/>
              </a:rPr>
              <a:t>Implementa el algoritmo de Dijkstra en C# para calcular la ruta más corta entre dos puntos en un mapa.</a:t>
            </a:r>
            <a:endParaRPr lang="en-US" sz="1450" dirty="0"/>
          </a:p>
        </p:txBody>
      </p:sp>
      <p:sp>
        <p:nvSpPr>
          <p:cNvPr id="5" name="Text 3"/>
          <p:cNvSpPr/>
          <p:nvPr/>
        </p:nvSpPr>
        <p:spPr>
          <a:xfrm>
            <a:off x="881063" y="2445425"/>
            <a:ext cx="2098000" cy="262176"/>
          </a:xfrm>
          <a:prstGeom prst="rect">
            <a:avLst/>
          </a:prstGeom>
          <a:noFill/>
          <a:ln/>
        </p:spPr>
        <p:txBody>
          <a:bodyPr wrap="none" lIns="0" tIns="0" rIns="0" bIns="0" rtlCol="0" anchor="t"/>
          <a:lstStyle/>
          <a:p>
            <a:pPr marL="0" indent="0" algn="l">
              <a:lnSpc>
                <a:spcPts val="2050"/>
              </a:lnSpc>
              <a:buNone/>
            </a:pPr>
            <a:r>
              <a:rPr lang="en-US" sz="1650" b="1" dirty="0">
                <a:solidFill>
                  <a:srgbClr val="F0FCFF"/>
                </a:solidFill>
                <a:latin typeface="Spline Sans Bold" pitchFamily="34" charset="0"/>
                <a:ea typeface="Spline Sans Bold" pitchFamily="34" charset="-122"/>
                <a:cs typeface="Spline Sans Bold" pitchFamily="34" charset="-120"/>
              </a:rPr>
              <a:t>Respuesta:</a:t>
            </a:r>
            <a:endParaRPr lang="en-US" sz="1650" dirty="0"/>
          </a:p>
        </p:txBody>
      </p:sp>
      <p:sp>
        <p:nvSpPr>
          <p:cNvPr id="6" name="Text 4"/>
          <p:cNvSpPr/>
          <p:nvPr/>
        </p:nvSpPr>
        <p:spPr>
          <a:xfrm>
            <a:off x="881063" y="2920008"/>
            <a:ext cx="12868275" cy="528638"/>
          </a:xfrm>
          <a:prstGeom prst="rect">
            <a:avLst/>
          </a:prstGeom>
          <a:noFill/>
          <a:ln/>
        </p:spPr>
        <p:txBody>
          <a:bodyPr wrap="square" lIns="0" tIns="0" rIns="0" bIns="0" rtlCol="0" anchor="t"/>
          <a:lstStyle/>
          <a:p>
            <a:pPr marL="0" indent="0" algn="l">
              <a:lnSpc>
                <a:spcPts val="2050"/>
              </a:lnSpc>
              <a:buNone/>
            </a:pPr>
            <a:r>
              <a:rPr lang="en-US" sz="1450" dirty="0">
                <a:solidFill>
                  <a:srgbClr val="E0E4E6"/>
                </a:solidFill>
                <a:latin typeface="Barlow" pitchFamily="34" charset="0"/>
                <a:ea typeface="Barlow" pitchFamily="34" charset="-122"/>
                <a:cs typeface="Barlow" pitchFamily="34" charset="-120"/>
              </a:rPr>
              <a:t>Parte del nodo origen con distancia 0. La PriorityQueue expande siempre el nodo más barato. Si halla camino más corto a un vecino, actualiza y lo encola. Garantiza la ruta óptima.</a:t>
            </a:r>
            <a:endParaRPr lang="en-US" sz="1450" dirty="0"/>
          </a:p>
        </p:txBody>
      </p:sp>
      <p:sp>
        <p:nvSpPr>
          <p:cNvPr id="7" name="Shape 5"/>
          <p:cNvSpPr/>
          <p:nvPr/>
        </p:nvSpPr>
        <p:spPr>
          <a:xfrm>
            <a:off x="881063" y="3607951"/>
            <a:ext cx="12868275" cy="3284934"/>
          </a:xfrm>
          <a:prstGeom prst="roundRect">
            <a:avLst>
              <a:gd name="adj" fmla="val 8622"/>
            </a:avLst>
          </a:prstGeom>
          <a:solidFill>
            <a:srgbClr val="171528"/>
          </a:solidFill>
          <a:ln/>
        </p:spPr>
        <p:txBody>
          <a:bodyPr/>
          <a:lstStyle/>
          <a:p>
            <a:endParaRPr lang="es-PE"/>
          </a:p>
        </p:txBody>
      </p:sp>
      <p:sp>
        <p:nvSpPr>
          <p:cNvPr id="8" name="Shape 6"/>
          <p:cNvSpPr/>
          <p:nvPr/>
        </p:nvSpPr>
        <p:spPr>
          <a:xfrm>
            <a:off x="871657" y="3607951"/>
            <a:ext cx="12887087" cy="3284934"/>
          </a:xfrm>
          <a:prstGeom prst="roundRect">
            <a:avLst>
              <a:gd name="adj" fmla="val 862"/>
            </a:avLst>
          </a:prstGeom>
          <a:solidFill>
            <a:srgbClr val="171528"/>
          </a:solidFill>
          <a:ln/>
        </p:spPr>
        <p:txBody>
          <a:bodyPr/>
          <a:lstStyle/>
          <a:p>
            <a:endParaRPr lang="es-PE"/>
          </a:p>
        </p:txBody>
      </p:sp>
      <p:sp>
        <p:nvSpPr>
          <p:cNvPr id="9" name="Text 7"/>
          <p:cNvSpPr/>
          <p:nvPr/>
        </p:nvSpPr>
        <p:spPr>
          <a:xfrm>
            <a:off x="1107638" y="3796665"/>
            <a:ext cx="12415123" cy="2907506"/>
          </a:xfrm>
          <a:prstGeom prst="rect">
            <a:avLst/>
          </a:prstGeom>
          <a:noFill/>
          <a:ln/>
        </p:spPr>
        <p:txBody>
          <a:bodyPr wrap="square" lIns="0" tIns="0" rIns="0" bIns="0" rtlCol="0" anchor="t"/>
          <a:lstStyle/>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dist[origen]=0; pq.Enqueue(origen, 0);</a:t>
            </a:r>
            <a:endParaRPr lang="en-US" sz="1450" dirty="0"/>
          </a:p>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while (pq.Count &gt; 0) {</a:t>
            </a:r>
            <a:endParaRPr lang="en-US" sz="1450" dirty="0"/>
          </a:p>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  var nodo = pq.Dequeue();</a:t>
            </a:r>
            <a:endParaRPr lang="en-US" sz="1450" dirty="0"/>
          </a:p>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  foreach (var (v,w) in grafo[nodo]) {</a:t>
            </a:r>
            <a:endParaRPr lang="en-US" sz="1450" dirty="0"/>
          </a:p>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    int nueva = dist[nodo] + w;</a:t>
            </a:r>
            <a:endParaRPr lang="en-US" sz="1450" dirty="0"/>
          </a:p>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    if (nueva &lt; dist.GetValueOrDefault(v, int.MaxValue)) {</a:t>
            </a:r>
            <a:endParaRPr lang="en-US" sz="1450" dirty="0"/>
          </a:p>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      dist[v] = nueva; pq.Enqueue(v, nueva);</a:t>
            </a:r>
            <a:endParaRPr lang="en-US" sz="1450" dirty="0"/>
          </a:p>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    }</a:t>
            </a:r>
            <a:endParaRPr lang="en-US" sz="1450" dirty="0"/>
          </a:p>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  }</a:t>
            </a:r>
            <a:endParaRPr lang="en-US" sz="1450" dirty="0"/>
          </a:p>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a:t>
            </a:r>
            <a:endParaRPr lang="en-US" sz="1450" dirty="0"/>
          </a:p>
          <a:p>
            <a:pPr marL="0" indent="0" algn="l">
              <a:lnSpc>
                <a:spcPts val="2050"/>
              </a:lnSpc>
              <a:buNone/>
            </a:pPr>
            <a:r>
              <a:rPr lang="en-US" sz="1450" dirty="0">
                <a:solidFill>
                  <a:srgbClr val="E0E4E6"/>
                </a:solidFill>
                <a:latin typeface="Consolas" pitchFamily="34" charset="0"/>
                <a:ea typeface="Consolas" pitchFamily="34" charset="-122"/>
                <a:cs typeface="Consolas" pitchFamily="34" charset="-120"/>
              </a:rPr>
              <a:t>    </a:t>
            </a:r>
            <a:endParaRPr lang="en-US" sz="1450" dirty="0"/>
          </a:p>
        </p:txBody>
      </p:sp>
      <p:sp>
        <p:nvSpPr>
          <p:cNvPr id="10" name="Text 8"/>
          <p:cNvSpPr/>
          <p:nvPr/>
        </p:nvSpPr>
        <p:spPr>
          <a:xfrm>
            <a:off x="881063" y="7052191"/>
            <a:ext cx="12868275" cy="264319"/>
          </a:xfrm>
          <a:prstGeom prst="rect">
            <a:avLst/>
          </a:prstGeom>
          <a:noFill/>
          <a:ln/>
        </p:spPr>
        <p:txBody>
          <a:bodyPr wrap="none" lIns="0" tIns="0" rIns="0" bIns="0" rtlCol="0" anchor="t"/>
          <a:lstStyle/>
          <a:p>
            <a:pPr marL="0" indent="0" algn="l">
              <a:lnSpc>
                <a:spcPts val="2050"/>
              </a:lnSpc>
              <a:buNone/>
            </a:pPr>
            <a:r>
              <a:rPr lang="en-US" sz="1450" b="1" dirty="0">
                <a:solidFill>
                  <a:srgbClr val="818CF8"/>
                </a:solidFill>
                <a:latin typeface="Barlow" pitchFamily="34" charset="0"/>
                <a:ea typeface="Barlow" pitchFamily="34" charset="-122"/>
                <a:cs typeface="Barlow" pitchFamily="34" charset="-120"/>
              </a:rPr>
              <a:t>Complejidad: O((V+E)·log V) V = intersecciones (nodos) E = calles (aristas) Uber: ruta más rápida al pasajero.</a:t>
            </a:r>
            <a:endParaRPr lang="en-US" sz="1450" dirty="0"/>
          </a:p>
        </p:txBody>
      </p:sp>
      <p:pic>
        <p:nvPicPr>
          <p:cNvPr id="12" name="Imagen 11">
            <a:extLst>
              <a:ext uri="{FF2B5EF4-FFF2-40B4-BE49-F238E27FC236}">
                <a16:creationId xmlns:a16="http://schemas.microsoft.com/office/drawing/2014/main" id="{E6E3869A-6BDB-6176-CCF6-A4960F24137C}"/>
              </a:ext>
            </a:extLst>
          </p:cNvPr>
          <p:cNvPicPr>
            <a:picLocks noChangeAspect="1"/>
          </p:cNvPicPr>
          <p:nvPr/>
        </p:nvPicPr>
        <p:blipFill>
          <a:blip r:embed="rId3"/>
          <a:stretch>
            <a:fillRect/>
          </a:stretch>
        </p:blipFill>
        <p:spPr>
          <a:xfrm>
            <a:off x="12852971" y="7657923"/>
            <a:ext cx="1777429" cy="5048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81063" y="797481"/>
            <a:ext cx="10245090" cy="629364"/>
          </a:xfrm>
          <a:prstGeom prst="rect">
            <a:avLst/>
          </a:prstGeom>
          <a:noFill/>
          <a:ln/>
        </p:spPr>
        <p:txBody>
          <a:bodyPr wrap="none" lIns="0" tIns="0" rIns="0" bIns="0" rtlCol="0" anchor="t"/>
          <a:lstStyle/>
          <a:p>
            <a:pPr marL="0" indent="0" algn="l">
              <a:lnSpc>
                <a:spcPts val="4950"/>
              </a:lnSpc>
              <a:buNone/>
            </a:pPr>
            <a:r>
              <a:rPr lang="en-US" sz="3950" b="1" dirty="0">
                <a:solidFill>
                  <a:srgbClr val="F0FCFF"/>
                </a:solidFill>
                <a:latin typeface="Spline Sans Bold" pitchFamily="34" charset="0"/>
                <a:ea typeface="Spline Sans Bold" pitchFamily="34" charset="-122"/>
                <a:cs typeface="Spline Sans Bold" pitchFamily="34" charset="-120"/>
              </a:rPr>
              <a:t>P4b / A* — ¿Cuándo es preferible a Dijkstra?</a:t>
            </a:r>
            <a:endParaRPr lang="en-US" sz="3950" dirty="0"/>
          </a:p>
        </p:txBody>
      </p:sp>
      <p:sp>
        <p:nvSpPr>
          <p:cNvPr id="3" name="Text 1"/>
          <p:cNvSpPr/>
          <p:nvPr/>
        </p:nvSpPr>
        <p:spPr>
          <a:xfrm>
            <a:off x="881063" y="1834634"/>
            <a:ext cx="12868275" cy="344329"/>
          </a:xfrm>
          <a:prstGeom prst="rect">
            <a:avLst/>
          </a:prstGeom>
          <a:noFill/>
          <a:ln/>
        </p:spPr>
        <p:txBody>
          <a:bodyPr wrap="none" lIns="0" tIns="0" rIns="0" bIns="0" rtlCol="0" anchor="t"/>
          <a:lstStyle/>
          <a:p>
            <a:pPr marL="0" indent="0" algn="l">
              <a:lnSpc>
                <a:spcPts val="2700"/>
              </a:lnSpc>
              <a:buNone/>
            </a:pPr>
            <a:r>
              <a:rPr lang="en-US" sz="1750" b="1" dirty="0">
                <a:solidFill>
                  <a:srgbClr val="F472B6"/>
                </a:solidFill>
                <a:latin typeface="Barlow" pitchFamily="34" charset="0"/>
                <a:ea typeface="Barlow" pitchFamily="34" charset="-122"/>
                <a:cs typeface="Barlow" pitchFamily="34" charset="-120"/>
              </a:rPr>
              <a:t>Pregunta:</a:t>
            </a:r>
            <a:endParaRPr lang="en-US" sz="1750" dirty="0"/>
          </a:p>
        </p:txBody>
      </p:sp>
      <p:sp>
        <p:nvSpPr>
          <p:cNvPr id="4" name="Text 2"/>
          <p:cNvSpPr/>
          <p:nvPr/>
        </p:nvSpPr>
        <p:spPr>
          <a:xfrm>
            <a:off x="881063" y="2408277"/>
            <a:ext cx="12868275" cy="344329"/>
          </a:xfrm>
          <a:prstGeom prst="rect">
            <a:avLst/>
          </a:prstGeom>
          <a:noFill/>
          <a:ln/>
        </p:spPr>
        <p:txBody>
          <a:bodyPr wrap="none" lIns="0" tIns="0" rIns="0" bIns="0" rtlCol="0" anchor="t"/>
          <a:lstStyle/>
          <a:p>
            <a:pPr marL="0" indent="0" algn="l">
              <a:lnSpc>
                <a:spcPts val="2700"/>
              </a:lnSpc>
              <a:buNone/>
            </a:pPr>
            <a:r>
              <a:rPr lang="en-US" sz="1750" i="1" dirty="0">
                <a:solidFill>
                  <a:srgbClr val="E0E4E6"/>
                </a:solidFill>
                <a:latin typeface="Barlow" pitchFamily="34" charset="0"/>
                <a:ea typeface="Barlow" pitchFamily="34" charset="-122"/>
                <a:cs typeface="Barlow" pitchFamily="34" charset="-120"/>
              </a:rPr>
              <a:t>¿En qué situaciones A* sería preferible a Dijkstra para calcular rutas en Uber?</a:t>
            </a:r>
            <a:endParaRPr lang="en-US" sz="1750" dirty="0"/>
          </a:p>
        </p:txBody>
      </p:sp>
      <p:sp>
        <p:nvSpPr>
          <p:cNvPr id="5" name="Text 3"/>
          <p:cNvSpPr/>
          <p:nvPr/>
        </p:nvSpPr>
        <p:spPr>
          <a:xfrm>
            <a:off x="881063" y="2981920"/>
            <a:ext cx="12868275" cy="344329"/>
          </a:xfrm>
          <a:prstGeom prst="rect">
            <a:avLst/>
          </a:prstGeom>
          <a:noFill/>
          <a:ln/>
        </p:spPr>
        <p:txBody>
          <a:bodyPr wrap="none" lIns="0" tIns="0" rIns="0" bIns="0" rtlCol="0" anchor="t"/>
          <a:lstStyle/>
          <a:p>
            <a:pPr marL="0" indent="0" algn="l">
              <a:lnSpc>
                <a:spcPts val="2700"/>
              </a:lnSpc>
              <a:buNone/>
            </a:pPr>
            <a:r>
              <a:rPr lang="en-US" sz="1750" b="1" dirty="0">
                <a:solidFill>
                  <a:srgbClr val="F472B6"/>
                </a:solidFill>
                <a:latin typeface="Barlow" pitchFamily="34" charset="0"/>
                <a:ea typeface="Barlow" pitchFamily="34" charset="-122"/>
                <a:cs typeface="Barlow" pitchFamily="34" charset="-120"/>
              </a:rPr>
              <a:t>Respuesta:</a:t>
            </a:r>
            <a:endParaRPr lang="en-US" sz="1750" dirty="0"/>
          </a:p>
        </p:txBody>
      </p:sp>
      <p:sp>
        <p:nvSpPr>
          <p:cNvPr id="6" name="Text 4"/>
          <p:cNvSpPr/>
          <p:nvPr/>
        </p:nvSpPr>
        <p:spPr>
          <a:xfrm>
            <a:off x="881063" y="3555563"/>
            <a:ext cx="12868275" cy="688658"/>
          </a:xfrm>
          <a:prstGeom prst="rect">
            <a:avLst/>
          </a:prstGeom>
          <a:noFill/>
          <a:ln/>
        </p:spPr>
        <p:txBody>
          <a:bodyPr wrap="square" lIns="0" tIns="0" rIns="0" bIns="0" rtlCol="0" anchor="t"/>
          <a:lstStyle/>
          <a:p>
            <a:pPr marL="0" indent="0" algn="l">
              <a:lnSpc>
                <a:spcPts val="2700"/>
              </a:lnSpc>
              <a:buNone/>
            </a:pPr>
            <a:r>
              <a:rPr lang="en-US" sz="1750" dirty="0">
                <a:solidFill>
                  <a:srgbClr val="E0E4E6"/>
                </a:solidFill>
                <a:latin typeface="Barlow" pitchFamily="34" charset="0"/>
                <a:ea typeface="Barlow" pitchFamily="34" charset="-122"/>
                <a:cs typeface="Barlow" pitchFamily="34" charset="-120"/>
              </a:rPr>
              <a:t>A* agrega una heurística h(n): estimación de la distancia al destino. Guía la búsqueda hacia el destino en lugar de explorar todos los nodos. En mapas con coordenadas GPS, A* es significativamente más rápido.</a:t>
            </a:r>
            <a:endParaRPr lang="en-US" sz="1750" dirty="0"/>
          </a:p>
        </p:txBody>
      </p:sp>
      <p:sp>
        <p:nvSpPr>
          <p:cNvPr id="7" name="Shape 5"/>
          <p:cNvSpPr/>
          <p:nvPr/>
        </p:nvSpPr>
        <p:spPr>
          <a:xfrm>
            <a:off x="717947" y="4473535"/>
            <a:ext cx="6484025" cy="2384941"/>
          </a:xfrm>
          <a:prstGeom prst="roundRect">
            <a:avLst>
              <a:gd name="adj" fmla="val 22802"/>
            </a:avLst>
          </a:prstGeom>
          <a:solidFill>
            <a:srgbClr val="EEF2FF">
              <a:alpha val="75000"/>
            </a:srgbClr>
          </a:solidFill>
          <a:ln/>
        </p:spPr>
        <p:txBody>
          <a:bodyPr/>
          <a:lstStyle/>
          <a:p>
            <a:endParaRPr lang="es-PE"/>
          </a:p>
        </p:txBody>
      </p:sp>
      <p:sp>
        <p:nvSpPr>
          <p:cNvPr id="8" name="Text 6"/>
          <p:cNvSpPr/>
          <p:nvPr/>
        </p:nvSpPr>
        <p:spPr>
          <a:xfrm>
            <a:off x="944523" y="4677370"/>
            <a:ext cx="2517577" cy="314682"/>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Spline Sans Bold" pitchFamily="34" charset="0"/>
                <a:ea typeface="Spline Sans Bold" pitchFamily="34" charset="-122"/>
                <a:cs typeface="Spline Sans Bold" pitchFamily="34" charset="-120"/>
              </a:rPr>
              <a:t>Dijkstra</a:t>
            </a:r>
            <a:endParaRPr lang="en-US" sz="1950" dirty="0"/>
          </a:p>
        </p:txBody>
      </p:sp>
      <p:sp>
        <p:nvSpPr>
          <p:cNvPr id="9" name="Text 7"/>
          <p:cNvSpPr/>
          <p:nvPr/>
        </p:nvSpPr>
        <p:spPr>
          <a:xfrm>
            <a:off x="944523" y="5195888"/>
            <a:ext cx="6030873" cy="1591270"/>
          </a:xfrm>
          <a:prstGeom prst="rect">
            <a:avLst/>
          </a:prstGeom>
          <a:noFill/>
          <a:ln/>
        </p:spPr>
        <p:txBody>
          <a:bodyPr wrap="square" lIns="0" tIns="0" rIns="0" bIns="0" rtlCol="0" anchor="t"/>
          <a:lstStyle/>
          <a:p>
            <a:pPr marL="342900" indent="-342900" algn="l">
              <a:lnSpc>
                <a:spcPts val="2700"/>
              </a:lnSpc>
              <a:buSzPct val="100000"/>
              <a:buChar char="•"/>
            </a:pPr>
            <a:r>
              <a:rPr lang="en-US" sz="1750" dirty="0">
                <a:solidFill>
                  <a:srgbClr val="000000"/>
                </a:solidFill>
                <a:latin typeface="Barlow" pitchFamily="34" charset="0"/>
                <a:ea typeface="Barlow" pitchFamily="34" charset="-122"/>
                <a:cs typeface="Barlow" pitchFamily="34" charset="-120"/>
              </a:rPr>
              <a:t>Explora TODOS los nodos posibles</a:t>
            </a:r>
            <a:endParaRPr lang="en-US" sz="1750" dirty="0"/>
          </a:p>
          <a:p>
            <a:pPr marL="342900" indent="-342900" algn="l">
              <a:lnSpc>
                <a:spcPts val="2700"/>
              </a:lnSpc>
              <a:buSzPct val="100000"/>
              <a:buChar char="•"/>
            </a:pPr>
            <a:r>
              <a:rPr lang="en-US" sz="1750" dirty="0">
                <a:solidFill>
                  <a:srgbClr val="000000"/>
                </a:solidFill>
                <a:latin typeface="Barlow" pitchFamily="34" charset="0"/>
                <a:ea typeface="Barlow" pitchFamily="34" charset="-122"/>
                <a:cs typeface="Barlow" pitchFamily="34" charset="-120"/>
              </a:rPr>
              <a:t>No tiene sentido de dirección</a:t>
            </a:r>
            <a:endParaRPr lang="en-US" sz="1750" dirty="0"/>
          </a:p>
          <a:p>
            <a:pPr marL="342900" indent="-342900" algn="l">
              <a:lnSpc>
                <a:spcPts val="2700"/>
              </a:lnSpc>
              <a:buSzPct val="100000"/>
              <a:buChar char="•"/>
            </a:pPr>
            <a:r>
              <a:rPr lang="en-US" sz="1750" dirty="0">
                <a:solidFill>
                  <a:srgbClr val="000000"/>
                </a:solidFill>
                <a:latin typeface="Barlow" pitchFamily="34" charset="0"/>
                <a:ea typeface="Barlow" pitchFamily="34" charset="-122"/>
                <a:cs typeface="Barlow" pitchFamily="34" charset="-120"/>
              </a:rPr>
              <a:t>Más lento en mapas grandes</a:t>
            </a:r>
            <a:endParaRPr lang="en-US" sz="1750" dirty="0"/>
          </a:p>
          <a:p>
            <a:pPr marL="342900" indent="-342900" algn="l">
              <a:lnSpc>
                <a:spcPts val="2700"/>
              </a:lnSpc>
              <a:buSzPct val="100000"/>
              <a:buChar char="•"/>
            </a:pPr>
            <a:r>
              <a:rPr lang="en-US" sz="1750" dirty="0">
                <a:solidFill>
                  <a:srgbClr val="000000"/>
                </a:solidFill>
                <a:latin typeface="Barlow" pitchFamily="34" charset="0"/>
                <a:ea typeface="Barlow" pitchFamily="34" charset="-122"/>
                <a:cs typeface="Barlow" pitchFamily="34" charset="-120"/>
              </a:rPr>
              <a:t>Ideal: grafos sin coordenadas GPS</a:t>
            </a:r>
            <a:endParaRPr lang="en-US" sz="1750" dirty="0"/>
          </a:p>
        </p:txBody>
      </p:sp>
      <p:sp>
        <p:nvSpPr>
          <p:cNvPr id="10" name="Shape 8"/>
          <p:cNvSpPr/>
          <p:nvPr/>
        </p:nvSpPr>
        <p:spPr>
          <a:xfrm>
            <a:off x="7436048" y="4473535"/>
            <a:ext cx="6484025" cy="2384941"/>
          </a:xfrm>
          <a:prstGeom prst="roundRect">
            <a:avLst>
              <a:gd name="adj" fmla="val 22802"/>
            </a:avLst>
          </a:prstGeom>
          <a:solidFill>
            <a:srgbClr val="FDF2F8">
              <a:alpha val="75000"/>
            </a:srgbClr>
          </a:solidFill>
          <a:ln/>
        </p:spPr>
        <p:txBody>
          <a:bodyPr/>
          <a:lstStyle/>
          <a:p>
            <a:endParaRPr lang="es-PE"/>
          </a:p>
        </p:txBody>
      </p:sp>
      <p:sp>
        <p:nvSpPr>
          <p:cNvPr id="11" name="Text 9"/>
          <p:cNvSpPr/>
          <p:nvPr/>
        </p:nvSpPr>
        <p:spPr>
          <a:xfrm>
            <a:off x="7662624" y="4677370"/>
            <a:ext cx="2517577" cy="314682"/>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Spline Sans Bold" pitchFamily="34" charset="0"/>
                <a:ea typeface="Spline Sans Bold" pitchFamily="34" charset="-122"/>
                <a:cs typeface="Spline Sans Bold" pitchFamily="34" charset="-120"/>
              </a:rPr>
              <a:t>A* (A-Star)</a:t>
            </a:r>
            <a:endParaRPr lang="en-US" sz="1950" dirty="0"/>
          </a:p>
        </p:txBody>
      </p:sp>
      <p:sp>
        <p:nvSpPr>
          <p:cNvPr id="12" name="Text 10"/>
          <p:cNvSpPr/>
          <p:nvPr/>
        </p:nvSpPr>
        <p:spPr>
          <a:xfrm>
            <a:off x="7662624" y="5195888"/>
            <a:ext cx="6030873" cy="1591270"/>
          </a:xfrm>
          <a:prstGeom prst="rect">
            <a:avLst/>
          </a:prstGeom>
          <a:noFill/>
          <a:ln/>
        </p:spPr>
        <p:txBody>
          <a:bodyPr wrap="square" lIns="0" tIns="0" rIns="0" bIns="0" rtlCol="0" anchor="t"/>
          <a:lstStyle/>
          <a:p>
            <a:pPr marL="342900" indent="-342900" algn="l">
              <a:lnSpc>
                <a:spcPts val="2700"/>
              </a:lnSpc>
              <a:buSzPct val="100000"/>
              <a:buChar char="•"/>
            </a:pPr>
            <a:r>
              <a:rPr lang="en-US" sz="1750" dirty="0">
                <a:solidFill>
                  <a:srgbClr val="000000"/>
                </a:solidFill>
                <a:latin typeface="Barlow" pitchFamily="34" charset="0"/>
                <a:ea typeface="Barlow" pitchFamily="34" charset="-122"/>
                <a:cs typeface="Barlow" pitchFamily="34" charset="-120"/>
              </a:rPr>
              <a:t>Solo explora nodos "prometedores"</a:t>
            </a:r>
            <a:endParaRPr lang="en-US" sz="1750" dirty="0"/>
          </a:p>
          <a:p>
            <a:pPr marL="342900" indent="-342900" algn="l">
              <a:lnSpc>
                <a:spcPts val="2700"/>
              </a:lnSpc>
              <a:buSzPct val="100000"/>
              <a:buChar char="•"/>
            </a:pPr>
            <a:r>
              <a:rPr lang="en-US" sz="1750" dirty="0">
                <a:solidFill>
                  <a:srgbClr val="000000"/>
                </a:solidFill>
                <a:latin typeface="Barlow" pitchFamily="34" charset="0"/>
                <a:ea typeface="Barlow" pitchFamily="34" charset="-122"/>
                <a:cs typeface="Barlow" pitchFamily="34" charset="-120"/>
              </a:rPr>
              <a:t>Guiado por heurística h(n)</a:t>
            </a:r>
            <a:endParaRPr lang="en-US" sz="1750" dirty="0"/>
          </a:p>
          <a:p>
            <a:pPr marL="342900" indent="-342900" algn="l">
              <a:lnSpc>
                <a:spcPts val="2700"/>
              </a:lnSpc>
              <a:buSzPct val="100000"/>
              <a:buChar char="•"/>
            </a:pPr>
            <a:r>
              <a:rPr lang="en-US" sz="1750" dirty="0">
                <a:solidFill>
                  <a:srgbClr val="000000"/>
                </a:solidFill>
                <a:latin typeface="Barlow" pitchFamily="34" charset="0"/>
                <a:ea typeface="Barlow" pitchFamily="34" charset="-122"/>
                <a:cs typeface="Barlow" pitchFamily="34" charset="-120"/>
              </a:rPr>
              <a:t>Más rápido en mapas con coordenadas</a:t>
            </a:r>
            <a:endParaRPr lang="en-US" sz="1750" dirty="0"/>
          </a:p>
          <a:p>
            <a:pPr marL="342900" indent="-342900" algn="l">
              <a:lnSpc>
                <a:spcPts val="2700"/>
              </a:lnSpc>
              <a:buSzPct val="100000"/>
              <a:buChar char="•"/>
            </a:pPr>
            <a:r>
              <a:rPr lang="en-US" sz="1750" dirty="0">
                <a:solidFill>
                  <a:srgbClr val="000000"/>
                </a:solidFill>
                <a:latin typeface="Barlow" pitchFamily="34" charset="0"/>
                <a:ea typeface="Barlow" pitchFamily="34" charset="-122"/>
                <a:cs typeface="Barlow" pitchFamily="34" charset="-120"/>
              </a:rPr>
              <a:t>Ideal: rutas Uber, Waze, Google Maps</a:t>
            </a:r>
            <a:endParaRPr lang="en-US" sz="1750" dirty="0"/>
          </a:p>
        </p:txBody>
      </p:sp>
      <p:sp>
        <p:nvSpPr>
          <p:cNvPr id="13" name="Text 11"/>
          <p:cNvSpPr/>
          <p:nvPr/>
        </p:nvSpPr>
        <p:spPr>
          <a:xfrm>
            <a:off x="881063" y="7087791"/>
            <a:ext cx="12868275" cy="344329"/>
          </a:xfrm>
          <a:prstGeom prst="rect">
            <a:avLst/>
          </a:prstGeom>
          <a:noFill/>
          <a:ln/>
        </p:spPr>
        <p:txBody>
          <a:bodyPr wrap="none" lIns="0" tIns="0" rIns="0" bIns="0" rtlCol="0" anchor="t"/>
          <a:lstStyle/>
          <a:p>
            <a:pPr marL="0" indent="0" algn="ctr">
              <a:lnSpc>
                <a:spcPts val="2700"/>
              </a:lnSpc>
              <a:buNone/>
            </a:pPr>
            <a:r>
              <a:rPr lang="en-US" sz="1750" b="1" dirty="0">
                <a:solidFill>
                  <a:srgbClr val="F472B6"/>
                </a:solidFill>
                <a:latin typeface="Barlow" pitchFamily="34" charset="0"/>
                <a:ea typeface="Barlow" pitchFamily="34" charset="-122"/>
                <a:cs typeface="Barlow" pitchFamily="34" charset="-120"/>
              </a:rPr>
              <a:t>Fórmula A*: f(n) = g(n) + h(n)</a:t>
            </a:r>
            <a:r>
              <a:rPr lang="en-US" sz="1750" dirty="0">
                <a:solidFill>
                  <a:srgbClr val="E0E4E6"/>
                </a:solidFill>
                <a:latin typeface="Barlow" pitchFamily="34" charset="0"/>
                <a:ea typeface="Barlow" pitchFamily="34" charset="-122"/>
                <a:cs typeface="Barlow" pitchFamily="34" charset="-120"/>
              </a:rPr>
              <a:t> </a:t>
            </a:r>
            <a:r>
              <a:rPr lang="en-US" sz="1750" dirty="0">
                <a:solidFill>
                  <a:srgbClr val="F472B6"/>
                </a:solidFill>
                <a:latin typeface="Barlow" pitchFamily="34" charset="0"/>
                <a:ea typeface="Barlow" pitchFamily="34" charset="-122"/>
                <a:cs typeface="Barlow" pitchFamily="34" charset="-120"/>
              </a:rPr>
              <a:t>g = costo real recorrido</a:t>
            </a:r>
            <a:r>
              <a:rPr lang="en-US" sz="1750" dirty="0">
                <a:solidFill>
                  <a:srgbClr val="E0E4E6"/>
                </a:solidFill>
                <a:latin typeface="Barlow" pitchFamily="34" charset="0"/>
                <a:ea typeface="Barlow" pitchFamily="34" charset="-122"/>
                <a:cs typeface="Barlow" pitchFamily="34" charset="-120"/>
              </a:rPr>
              <a:t> </a:t>
            </a:r>
            <a:r>
              <a:rPr lang="en-US" sz="1750" dirty="0">
                <a:solidFill>
                  <a:srgbClr val="F472B6"/>
                </a:solidFill>
                <a:latin typeface="Barlow" pitchFamily="34" charset="0"/>
                <a:ea typeface="Barlow" pitchFamily="34" charset="-122"/>
                <a:cs typeface="Barlow" pitchFamily="34" charset="-120"/>
              </a:rPr>
              <a:t>h = distancia estimada al destino</a:t>
            </a:r>
            <a:endParaRPr lang="en-US" sz="1750" dirty="0"/>
          </a:p>
        </p:txBody>
      </p:sp>
      <p:pic>
        <p:nvPicPr>
          <p:cNvPr id="15" name="Imagen 14">
            <a:extLst>
              <a:ext uri="{FF2B5EF4-FFF2-40B4-BE49-F238E27FC236}">
                <a16:creationId xmlns:a16="http://schemas.microsoft.com/office/drawing/2014/main" id="{5D134088-AA72-8ED2-6FA2-E7A8AD23CE93}"/>
              </a:ext>
            </a:extLst>
          </p:cNvPr>
          <p:cNvPicPr>
            <a:picLocks noChangeAspect="1"/>
          </p:cNvPicPr>
          <p:nvPr/>
        </p:nvPicPr>
        <p:blipFill>
          <a:blip r:embed="rId3"/>
          <a:stretch>
            <a:fillRect/>
          </a:stretch>
        </p:blipFill>
        <p:spPr>
          <a:xfrm>
            <a:off x="12869469" y="7612382"/>
            <a:ext cx="1648055" cy="5048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81063" y="839153"/>
            <a:ext cx="12868275" cy="264319"/>
          </a:xfrm>
          <a:prstGeom prst="rect">
            <a:avLst/>
          </a:prstGeom>
          <a:noFill/>
          <a:ln/>
        </p:spPr>
        <p:txBody>
          <a:bodyPr wrap="none" lIns="0" tIns="0" rIns="0" bIns="0" rtlCol="0" anchor="t"/>
          <a:lstStyle/>
          <a:p>
            <a:pPr marL="0" indent="0" algn="l">
              <a:lnSpc>
                <a:spcPts val="2050"/>
              </a:lnSpc>
              <a:buNone/>
            </a:pPr>
            <a:r>
              <a:rPr lang="en-US" sz="1450" b="1" dirty="0">
                <a:solidFill>
                  <a:srgbClr val="E0E4E6"/>
                </a:solidFill>
                <a:latin typeface="Barlow" pitchFamily="34" charset="0"/>
                <a:ea typeface="Barlow" pitchFamily="34" charset="-122"/>
                <a:cs typeface="Barlow" pitchFamily="34" charset="-120"/>
              </a:rPr>
              <a:t>P5 / SortedDictionary&lt;DateTime,Viaje&gt; — Historial de viajes</a:t>
            </a:r>
            <a:endParaRPr lang="en-US" sz="1450" dirty="0"/>
          </a:p>
        </p:txBody>
      </p:sp>
      <p:sp>
        <p:nvSpPr>
          <p:cNvPr id="3" name="Text 1"/>
          <p:cNvSpPr/>
          <p:nvPr/>
        </p:nvSpPr>
        <p:spPr>
          <a:xfrm>
            <a:off x="881063" y="1262777"/>
            <a:ext cx="12868275" cy="264319"/>
          </a:xfrm>
          <a:prstGeom prst="rect">
            <a:avLst/>
          </a:prstGeom>
          <a:noFill/>
          <a:ln/>
        </p:spPr>
        <p:txBody>
          <a:bodyPr wrap="none" lIns="0" tIns="0" rIns="0" bIns="0" rtlCol="0" anchor="t"/>
          <a:lstStyle/>
          <a:p>
            <a:pPr marL="0" indent="0" algn="l">
              <a:lnSpc>
                <a:spcPts val="2050"/>
              </a:lnSpc>
              <a:buNone/>
            </a:pPr>
            <a:r>
              <a:rPr lang="en-US" sz="1450" b="1" dirty="0">
                <a:solidFill>
                  <a:srgbClr val="E0E4E6"/>
                </a:solidFill>
                <a:latin typeface="Barlow" pitchFamily="34" charset="0"/>
                <a:ea typeface="Barlow" pitchFamily="34" charset="-122"/>
                <a:cs typeface="Barlow" pitchFamily="34" charset="-120"/>
              </a:rPr>
              <a:t>Pregunta:</a:t>
            </a:r>
            <a:endParaRPr lang="en-US" sz="1450" dirty="0"/>
          </a:p>
        </p:txBody>
      </p:sp>
      <p:sp>
        <p:nvSpPr>
          <p:cNvPr id="4" name="Text 2"/>
          <p:cNvSpPr/>
          <p:nvPr/>
        </p:nvSpPr>
        <p:spPr>
          <a:xfrm>
            <a:off x="881063" y="1686401"/>
            <a:ext cx="12868275" cy="264319"/>
          </a:xfrm>
          <a:prstGeom prst="rect">
            <a:avLst/>
          </a:prstGeom>
          <a:noFill/>
          <a:ln/>
        </p:spPr>
        <p:txBody>
          <a:bodyPr wrap="none" lIns="0" tIns="0" rIns="0" bIns="0" rtlCol="0" anchor="t"/>
          <a:lstStyle/>
          <a:p>
            <a:pPr marL="0" indent="0" algn="l">
              <a:lnSpc>
                <a:spcPts val="2050"/>
              </a:lnSpc>
              <a:buNone/>
            </a:pPr>
            <a:r>
              <a:rPr lang="en-US" sz="1450" i="1" dirty="0">
                <a:solidFill>
                  <a:srgbClr val="E0E4E6"/>
                </a:solidFill>
                <a:latin typeface="Barlow" pitchFamily="34" charset="0"/>
                <a:ea typeface="Barlow" pitchFamily="34" charset="-122"/>
                <a:cs typeface="Barlow" pitchFamily="34" charset="-120"/>
              </a:rPr>
              <a:t>¿Qué estructura de datos usarías para almacenar el historial de viajes con búsqueda rápida por fecha? Justifica tu elección.</a:t>
            </a:r>
            <a:endParaRPr lang="en-US" sz="1450" dirty="0"/>
          </a:p>
        </p:txBody>
      </p:sp>
      <p:sp>
        <p:nvSpPr>
          <p:cNvPr id="5" name="Text 3"/>
          <p:cNvSpPr/>
          <p:nvPr/>
        </p:nvSpPr>
        <p:spPr>
          <a:xfrm>
            <a:off x="881063" y="2110026"/>
            <a:ext cx="12868275" cy="264319"/>
          </a:xfrm>
          <a:prstGeom prst="rect">
            <a:avLst/>
          </a:prstGeom>
          <a:noFill/>
          <a:ln/>
        </p:spPr>
        <p:txBody>
          <a:bodyPr wrap="none" lIns="0" tIns="0" rIns="0" bIns="0" rtlCol="0" anchor="t"/>
          <a:lstStyle/>
          <a:p>
            <a:pPr marL="0" indent="0" algn="l">
              <a:lnSpc>
                <a:spcPts val="2050"/>
              </a:lnSpc>
              <a:buNone/>
            </a:pPr>
            <a:r>
              <a:rPr lang="en-US" sz="1450" b="1" dirty="0">
                <a:solidFill>
                  <a:srgbClr val="E0E4E6"/>
                </a:solidFill>
                <a:latin typeface="Barlow" pitchFamily="34" charset="0"/>
                <a:ea typeface="Barlow" pitchFamily="34" charset="-122"/>
                <a:cs typeface="Barlow" pitchFamily="34" charset="-120"/>
              </a:rPr>
              <a:t>Respuesta:</a:t>
            </a:r>
            <a:endParaRPr lang="en-US" sz="1450" dirty="0"/>
          </a:p>
        </p:txBody>
      </p:sp>
      <p:sp>
        <p:nvSpPr>
          <p:cNvPr id="6" name="Text 4"/>
          <p:cNvSpPr/>
          <p:nvPr/>
        </p:nvSpPr>
        <p:spPr>
          <a:xfrm>
            <a:off x="881063" y="2533650"/>
            <a:ext cx="12868275" cy="528638"/>
          </a:xfrm>
          <a:prstGeom prst="rect">
            <a:avLst/>
          </a:prstGeom>
          <a:noFill/>
          <a:ln/>
        </p:spPr>
        <p:txBody>
          <a:bodyPr wrap="square" lIns="0" tIns="0" rIns="0" bIns="0" rtlCol="0" anchor="t"/>
          <a:lstStyle/>
          <a:p>
            <a:pPr marL="0" indent="0" algn="l">
              <a:lnSpc>
                <a:spcPts val="2050"/>
              </a:lnSpc>
              <a:buNone/>
            </a:pPr>
            <a:r>
              <a:rPr lang="en-US" sz="1450" dirty="0">
                <a:solidFill>
                  <a:srgbClr val="E0E4E6"/>
                </a:solidFill>
                <a:latin typeface="Barlow" pitchFamily="34" charset="0"/>
                <a:ea typeface="Barlow" pitchFamily="34" charset="-122"/>
                <a:cs typeface="Barlow" pitchFamily="34" charset="-120"/>
              </a:rPr>
              <a:t>Usaríamos SortedDictionary&lt;DateTime,Viaje&gt;: mantiene los viajes ordenados automáticamente por fecha. Inserción y búsqueda en O(log n). Permite consultar rangos de fechas sin trabajo extra.</a:t>
            </a:r>
            <a:endParaRPr lang="en-US" sz="1450" dirty="0"/>
          </a:p>
        </p:txBody>
      </p:sp>
      <p:sp>
        <p:nvSpPr>
          <p:cNvPr id="7" name="Shape 5"/>
          <p:cNvSpPr/>
          <p:nvPr/>
        </p:nvSpPr>
        <p:spPr>
          <a:xfrm>
            <a:off x="881063" y="3380899"/>
            <a:ext cx="6203871" cy="2227659"/>
          </a:xfrm>
          <a:prstGeom prst="roundRect">
            <a:avLst>
              <a:gd name="adj" fmla="val 12715"/>
            </a:avLst>
          </a:prstGeom>
          <a:solidFill>
            <a:srgbClr val="171528"/>
          </a:solidFill>
          <a:ln/>
        </p:spPr>
        <p:txBody>
          <a:bodyPr/>
          <a:lstStyle/>
          <a:p>
            <a:endParaRPr lang="es-PE"/>
          </a:p>
        </p:txBody>
      </p:sp>
      <p:sp>
        <p:nvSpPr>
          <p:cNvPr id="8" name="Shape 6"/>
          <p:cNvSpPr/>
          <p:nvPr/>
        </p:nvSpPr>
        <p:spPr>
          <a:xfrm>
            <a:off x="871657" y="3380899"/>
            <a:ext cx="6222683" cy="2227659"/>
          </a:xfrm>
          <a:prstGeom prst="roundRect">
            <a:avLst>
              <a:gd name="adj" fmla="val 1271"/>
            </a:avLst>
          </a:prstGeom>
          <a:solidFill>
            <a:srgbClr val="171528"/>
          </a:solidFill>
          <a:ln/>
        </p:spPr>
        <p:txBody>
          <a:bodyPr/>
          <a:lstStyle/>
          <a:p>
            <a:endParaRPr lang="es-PE"/>
          </a:p>
        </p:txBody>
      </p:sp>
      <p:sp>
        <p:nvSpPr>
          <p:cNvPr id="9" name="Text 7"/>
          <p:cNvSpPr/>
          <p:nvPr/>
        </p:nvSpPr>
        <p:spPr>
          <a:xfrm>
            <a:off x="1107638" y="3569613"/>
            <a:ext cx="5750719" cy="1850231"/>
          </a:xfrm>
          <a:prstGeom prst="rect">
            <a:avLst/>
          </a:prstGeom>
          <a:noFill/>
          <a:ln/>
        </p:spPr>
        <p:txBody>
          <a:bodyPr wrap="square" lIns="0" tIns="0" rIns="0" bIns="0" rtlCol="0" anchor="t"/>
          <a:lstStyle/>
          <a:p>
            <a:pPr marL="0" indent="0" algn="l">
              <a:lnSpc>
                <a:spcPts val="2050"/>
              </a:lnSpc>
              <a:buNone/>
            </a:pPr>
            <a:r>
              <a:rPr lang="en-US" sz="1450" dirty="0">
                <a:solidFill>
                  <a:srgbClr val="FF7B72"/>
                </a:solidFill>
                <a:highlight>
                  <a:srgbClr val="171528"/>
                </a:highlight>
                <a:latin typeface="Consolas" pitchFamily="34" charset="0"/>
                <a:ea typeface="Consolas" pitchFamily="34" charset="-122"/>
                <a:cs typeface="Consolas" pitchFamily="34" charset="-120"/>
              </a:rPr>
              <a:t>var historial = new SortedDictionary&lt;DateTime,Viaje&gt;();</a:t>
            </a:r>
            <a:endParaRPr lang="en-US" sz="1450" dirty="0"/>
          </a:p>
          <a:p>
            <a:pPr marL="0" indent="0" algn="l">
              <a:lnSpc>
                <a:spcPts val="2050"/>
              </a:lnSpc>
              <a:buNone/>
            </a:pPr>
            <a:r>
              <a:rPr lang="en-US" sz="1450" dirty="0">
                <a:solidFill>
                  <a:srgbClr val="FF7B72"/>
                </a:solidFill>
                <a:highlight>
                  <a:srgbClr val="171528"/>
                </a:highlight>
                <a:latin typeface="Consolas" pitchFamily="34" charset="0"/>
                <a:ea typeface="Consolas" pitchFamily="34" charset="-122"/>
                <a:cs typeface="Consolas" pitchFamily="34" charset="-120"/>
              </a:rPr>
              <a:t>// Insertar → O(log n)</a:t>
            </a:r>
            <a:endParaRPr lang="en-US" sz="1450" dirty="0"/>
          </a:p>
          <a:p>
            <a:pPr marL="0" indent="0" algn="l">
              <a:lnSpc>
                <a:spcPts val="2050"/>
              </a:lnSpc>
              <a:buNone/>
            </a:pPr>
            <a:r>
              <a:rPr lang="en-US" sz="1450" dirty="0">
                <a:solidFill>
                  <a:srgbClr val="FF7B72"/>
                </a:solidFill>
                <a:highlight>
                  <a:srgbClr val="171528"/>
                </a:highlight>
                <a:latin typeface="Consolas" pitchFamily="34" charset="0"/>
                <a:ea typeface="Consolas" pitchFamily="34" charset="-122"/>
                <a:cs typeface="Consolas" pitchFamily="34" charset="-120"/>
              </a:rPr>
              <a:t>historial[DateTime.Now] = new Viaje("A","B");</a:t>
            </a:r>
            <a:endParaRPr lang="en-US" sz="1450" dirty="0"/>
          </a:p>
          <a:p>
            <a:pPr marL="0" indent="0" algn="l">
              <a:lnSpc>
                <a:spcPts val="2050"/>
              </a:lnSpc>
              <a:buNone/>
            </a:pPr>
            <a:r>
              <a:rPr lang="en-US" sz="1450" dirty="0">
                <a:solidFill>
                  <a:srgbClr val="FF7B72"/>
                </a:solidFill>
                <a:highlight>
                  <a:srgbClr val="171528"/>
                </a:highlight>
                <a:latin typeface="Consolas" pitchFamily="34" charset="0"/>
                <a:ea typeface="Consolas" pitchFamily="34" charset="-122"/>
                <a:cs typeface="Consolas" pitchFamily="34" charset="-120"/>
              </a:rPr>
              <a:t>// Buscar por rango de fechas</a:t>
            </a:r>
            <a:endParaRPr lang="en-US" sz="1450" dirty="0"/>
          </a:p>
          <a:p>
            <a:pPr marL="0" indent="0" algn="l">
              <a:lnSpc>
                <a:spcPts val="2050"/>
              </a:lnSpc>
              <a:buNone/>
            </a:pPr>
            <a:r>
              <a:rPr lang="en-US" sz="1450" dirty="0">
                <a:solidFill>
                  <a:srgbClr val="FF7B72"/>
                </a:solidFill>
                <a:highlight>
                  <a:srgbClr val="171528"/>
                </a:highlight>
                <a:latin typeface="Consolas" pitchFamily="34" charset="0"/>
                <a:ea typeface="Consolas" pitchFamily="34" charset="-122"/>
                <a:cs typeface="Consolas" pitchFamily="34" charset="-120"/>
              </a:rPr>
              <a:t>var rango = historial.Where(</a:t>
            </a:r>
            <a:endParaRPr lang="en-US" sz="1450" dirty="0"/>
          </a:p>
          <a:p>
            <a:pPr marL="0" indent="0" algn="l">
              <a:lnSpc>
                <a:spcPts val="2050"/>
              </a:lnSpc>
              <a:buNone/>
            </a:pPr>
            <a:r>
              <a:rPr lang="en-US" sz="1450" dirty="0">
                <a:solidFill>
                  <a:srgbClr val="FF7B72"/>
                </a:solidFill>
                <a:highlight>
                  <a:srgbClr val="171528"/>
                </a:highlight>
                <a:latin typeface="Consolas" pitchFamily="34" charset="0"/>
                <a:ea typeface="Consolas" pitchFamily="34" charset="-122"/>
                <a:cs typeface="Consolas" pitchFamily="34" charset="-120"/>
              </a:rPr>
              <a:t>  kv =&gt; kv.Key &gt;= inicio &amp;&amp; kv.Key &lt;= fin);</a:t>
            </a:r>
            <a:endParaRPr lang="en-US" sz="1450" dirty="0"/>
          </a:p>
          <a:p>
            <a:pPr marL="0" indent="0" algn="l">
              <a:lnSpc>
                <a:spcPts val="2050"/>
              </a:lnSpc>
              <a:buNone/>
            </a:pPr>
            <a:r>
              <a:rPr lang="en-US" sz="1450" dirty="0">
                <a:solidFill>
                  <a:srgbClr val="FF7B72"/>
                </a:solidFill>
                <a:highlight>
                  <a:srgbClr val="171528"/>
                </a:highlight>
                <a:latin typeface="Consolas" pitchFamily="34" charset="0"/>
                <a:ea typeface="Consolas" pitchFamily="34" charset="-122"/>
                <a:cs typeface="Consolas" pitchFamily="34" charset="-120"/>
              </a:rPr>
              <a:t>        </a:t>
            </a:r>
            <a:endParaRPr lang="en-US" sz="1450" dirty="0"/>
          </a:p>
        </p:txBody>
      </p:sp>
      <p:sp>
        <p:nvSpPr>
          <p:cNvPr id="10" name="Shape 8"/>
          <p:cNvSpPr/>
          <p:nvPr/>
        </p:nvSpPr>
        <p:spPr>
          <a:xfrm>
            <a:off x="7553087" y="3380899"/>
            <a:ext cx="6203871" cy="1078468"/>
          </a:xfrm>
          <a:prstGeom prst="roundRect">
            <a:avLst>
              <a:gd name="adj" fmla="val 26263"/>
            </a:avLst>
          </a:prstGeom>
          <a:solidFill>
            <a:srgbClr val="4B3F02"/>
          </a:solidFill>
          <a:ln/>
        </p:spPr>
        <p:txBody>
          <a:bodyPr/>
          <a:lstStyle/>
          <a:p>
            <a:endParaRPr lang="es-PE"/>
          </a:p>
        </p:txBody>
      </p:sp>
      <p:pic>
        <p:nvPicPr>
          <p:cNvPr id="11" name="Image 0" descr="preencoded.png"/>
          <p:cNvPicPr>
            <a:picLocks noChangeAspect="1"/>
          </p:cNvPicPr>
          <p:nvPr/>
        </p:nvPicPr>
        <p:blipFill>
          <a:blip r:embed="rId3"/>
          <a:stretch>
            <a:fillRect/>
          </a:stretch>
        </p:blipFill>
        <p:spPr>
          <a:xfrm>
            <a:off x="7741801" y="3591758"/>
            <a:ext cx="262176" cy="209788"/>
          </a:xfrm>
          <a:prstGeom prst="rect">
            <a:avLst/>
          </a:prstGeom>
        </p:spPr>
      </p:pic>
      <p:sp>
        <p:nvSpPr>
          <p:cNvPr id="12" name="Text 9"/>
          <p:cNvSpPr/>
          <p:nvPr/>
        </p:nvSpPr>
        <p:spPr>
          <a:xfrm>
            <a:off x="8192691" y="3569613"/>
            <a:ext cx="2098000" cy="262176"/>
          </a:xfrm>
          <a:prstGeom prst="rect">
            <a:avLst/>
          </a:prstGeom>
          <a:noFill/>
          <a:ln/>
        </p:spPr>
        <p:txBody>
          <a:bodyPr wrap="none" lIns="0" tIns="0" rIns="0" bIns="0" rtlCol="0" anchor="t"/>
          <a:lstStyle/>
          <a:p>
            <a:pPr marL="0" indent="0" algn="l">
              <a:lnSpc>
                <a:spcPts val="2050"/>
              </a:lnSpc>
              <a:buNone/>
            </a:pPr>
            <a:r>
              <a:rPr lang="en-US" sz="1650" b="1" dirty="0">
                <a:solidFill>
                  <a:srgbClr val="FFFFFF"/>
                </a:solidFill>
                <a:latin typeface="Spline Sans Bold" pitchFamily="34" charset="0"/>
                <a:ea typeface="Spline Sans Bold" pitchFamily="34" charset="-122"/>
                <a:cs typeface="Spline Sans Bold" pitchFamily="34" charset="-120"/>
              </a:rPr>
              <a:t>List&lt;T&gt;</a:t>
            </a:r>
            <a:endParaRPr lang="en-US" sz="1650" dirty="0"/>
          </a:p>
        </p:txBody>
      </p:sp>
      <p:sp>
        <p:nvSpPr>
          <p:cNvPr id="13" name="Text 10"/>
          <p:cNvSpPr/>
          <p:nvPr/>
        </p:nvSpPr>
        <p:spPr>
          <a:xfrm>
            <a:off x="8192691" y="3973354"/>
            <a:ext cx="5375553" cy="264319"/>
          </a:xfrm>
          <a:prstGeom prst="rect">
            <a:avLst/>
          </a:prstGeom>
          <a:noFill/>
          <a:ln/>
        </p:spPr>
        <p:txBody>
          <a:bodyPr wrap="none" lIns="0" tIns="0" rIns="0" bIns="0" rtlCol="0" anchor="t"/>
          <a:lstStyle/>
          <a:p>
            <a:pPr marL="0" indent="0" algn="l">
              <a:lnSpc>
                <a:spcPts val="2050"/>
              </a:lnSpc>
              <a:buNone/>
            </a:pPr>
            <a:r>
              <a:rPr lang="en-US" sz="1450" dirty="0">
                <a:solidFill>
                  <a:srgbClr val="FFFFFF"/>
                </a:solidFill>
                <a:latin typeface="Barlow" pitchFamily="34" charset="0"/>
                <a:ea typeface="Barlow" pitchFamily="34" charset="-122"/>
                <a:cs typeface="Barlow" pitchFamily="34" charset="-120"/>
              </a:rPr>
              <a:t>O(n) búsqueda. Sin orden cronológico.</a:t>
            </a:r>
            <a:endParaRPr lang="en-US" sz="1450" dirty="0"/>
          </a:p>
        </p:txBody>
      </p:sp>
      <p:sp>
        <p:nvSpPr>
          <p:cNvPr id="14" name="Shape 11"/>
          <p:cNvSpPr/>
          <p:nvPr/>
        </p:nvSpPr>
        <p:spPr>
          <a:xfrm>
            <a:off x="7553087" y="4618673"/>
            <a:ext cx="6203871" cy="1078468"/>
          </a:xfrm>
          <a:prstGeom prst="roundRect">
            <a:avLst>
              <a:gd name="adj" fmla="val 26263"/>
            </a:avLst>
          </a:prstGeom>
          <a:solidFill>
            <a:srgbClr val="183A13"/>
          </a:solidFill>
          <a:ln/>
        </p:spPr>
        <p:txBody>
          <a:bodyPr/>
          <a:lstStyle/>
          <a:p>
            <a:endParaRPr lang="es-PE"/>
          </a:p>
        </p:txBody>
      </p:sp>
      <p:pic>
        <p:nvPicPr>
          <p:cNvPr id="15" name="Image 1" descr="preencoded.png"/>
          <p:cNvPicPr>
            <a:picLocks noChangeAspect="1"/>
          </p:cNvPicPr>
          <p:nvPr/>
        </p:nvPicPr>
        <p:blipFill>
          <a:blip r:embed="rId4"/>
          <a:stretch>
            <a:fillRect/>
          </a:stretch>
        </p:blipFill>
        <p:spPr>
          <a:xfrm>
            <a:off x="7741801" y="4829532"/>
            <a:ext cx="262176" cy="209788"/>
          </a:xfrm>
          <a:prstGeom prst="rect">
            <a:avLst/>
          </a:prstGeom>
        </p:spPr>
      </p:pic>
      <p:sp>
        <p:nvSpPr>
          <p:cNvPr id="16" name="Text 12"/>
          <p:cNvSpPr/>
          <p:nvPr/>
        </p:nvSpPr>
        <p:spPr>
          <a:xfrm>
            <a:off x="8192691" y="4807387"/>
            <a:ext cx="2098000" cy="262176"/>
          </a:xfrm>
          <a:prstGeom prst="rect">
            <a:avLst/>
          </a:prstGeom>
          <a:noFill/>
          <a:ln/>
        </p:spPr>
        <p:txBody>
          <a:bodyPr wrap="none" lIns="0" tIns="0" rIns="0" bIns="0" rtlCol="0" anchor="t"/>
          <a:lstStyle/>
          <a:p>
            <a:pPr marL="0" indent="0" algn="l">
              <a:lnSpc>
                <a:spcPts val="2050"/>
              </a:lnSpc>
              <a:buNone/>
            </a:pPr>
            <a:r>
              <a:rPr lang="en-US" sz="1650" b="1" dirty="0">
                <a:solidFill>
                  <a:srgbClr val="FFFFFF"/>
                </a:solidFill>
                <a:latin typeface="Spline Sans Bold" pitchFamily="34" charset="0"/>
                <a:ea typeface="Spline Sans Bold" pitchFamily="34" charset="-122"/>
                <a:cs typeface="Spline Sans Bold" pitchFamily="34" charset="-120"/>
              </a:rPr>
              <a:t>SortedDictionary</a:t>
            </a:r>
            <a:endParaRPr lang="en-US" sz="1650" dirty="0"/>
          </a:p>
        </p:txBody>
      </p:sp>
      <p:sp>
        <p:nvSpPr>
          <p:cNvPr id="17" name="Text 13"/>
          <p:cNvSpPr/>
          <p:nvPr/>
        </p:nvSpPr>
        <p:spPr>
          <a:xfrm>
            <a:off x="8192691" y="5211128"/>
            <a:ext cx="5375553" cy="264319"/>
          </a:xfrm>
          <a:prstGeom prst="rect">
            <a:avLst/>
          </a:prstGeom>
          <a:noFill/>
          <a:ln/>
        </p:spPr>
        <p:txBody>
          <a:bodyPr wrap="none" lIns="0" tIns="0" rIns="0" bIns="0" rtlCol="0" anchor="t"/>
          <a:lstStyle/>
          <a:p>
            <a:pPr marL="0" indent="0" algn="l">
              <a:lnSpc>
                <a:spcPts val="2050"/>
              </a:lnSpc>
              <a:buNone/>
            </a:pPr>
            <a:r>
              <a:rPr lang="en-US" sz="1450" dirty="0">
                <a:solidFill>
                  <a:srgbClr val="FFFFFF"/>
                </a:solidFill>
                <a:latin typeface="Barlow" pitchFamily="34" charset="0"/>
                <a:ea typeface="Barlow" pitchFamily="34" charset="-122"/>
                <a:cs typeface="Barlow" pitchFamily="34" charset="-120"/>
              </a:rPr>
              <a:t>O(log n) todo. Orden automático. ✓ ELEGIDA</a:t>
            </a:r>
            <a:endParaRPr lang="en-US" sz="1450" dirty="0"/>
          </a:p>
        </p:txBody>
      </p:sp>
      <p:sp>
        <p:nvSpPr>
          <p:cNvPr id="18" name="Shape 14"/>
          <p:cNvSpPr/>
          <p:nvPr/>
        </p:nvSpPr>
        <p:spPr>
          <a:xfrm>
            <a:off x="7553087" y="5856446"/>
            <a:ext cx="6203871" cy="1078468"/>
          </a:xfrm>
          <a:prstGeom prst="roundRect">
            <a:avLst>
              <a:gd name="adj" fmla="val 26263"/>
            </a:avLst>
          </a:prstGeom>
          <a:solidFill>
            <a:srgbClr val="004D36"/>
          </a:solidFill>
          <a:ln/>
        </p:spPr>
        <p:txBody>
          <a:bodyPr/>
          <a:lstStyle/>
          <a:p>
            <a:endParaRPr lang="es-PE"/>
          </a:p>
        </p:txBody>
      </p:sp>
      <p:pic>
        <p:nvPicPr>
          <p:cNvPr id="19" name="Image 2" descr="preencoded.png"/>
          <p:cNvPicPr>
            <a:picLocks noChangeAspect="1"/>
          </p:cNvPicPr>
          <p:nvPr/>
        </p:nvPicPr>
        <p:blipFill>
          <a:blip r:embed="rId5"/>
          <a:stretch>
            <a:fillRect/>
          </a:stretch>
        </p:blipFill>
        <p:spPr>
          <a:xfrm>
            <a:off x="7741801" y="6067306"/>
            <a:ext cx="262176" cy="209788"/>
          </a:xfrm>
          <a:prstGeom prst="rect">
            <a:avLst/>
          </a:prstGeom>
        </p:spPr>
      </p:pic>
      <p:sp>
        <p:nvSpPr>
          <p:cNvPr id="20" name="Text 15"/>
          <p:cNvSpPr/>
          <p:nvPr/>
        </p:nvSpPr>
        <p:spPr>
          <a:xfrm>
            <a:off x="8192691" y="6045160"/>
            <a:ext cx="2098000" cy="262176"/>
          </a:xfrm>
          <a:prstGeom prst="rect">
            <a:avLst/>
          </a:prstGeom>
          <a:noFill/>
          <a:ln/>
        </p:spPr>
        <p:txBody>
          <a:bodyPr wrap="none" lIns="0" tIns="0" rIns="0" bIns="0" rtlCol="0" anchor="t"/>
          <a:lstStyle/>
          <a:p>
            <a:pPr marL="0" indent="0" algn="l">
              <a:lnSpc>
                <a:spcPts val="2050"/>
              </a:lnSpc>
              <a:buNone/>
            </a:pPr>
            <a:r>
              <a:rPr lang="en-US" sz="1650" b="1" dirty="0">
                <a:solidFill>
                  <a:srgbClr val="FFFFFF"/>
                </a:solidFill>
                <a:latin typeface="Spline Sans Bold" pitchFamily="34" charset="0"/>
                <a:ea typeface="Spline Sans Bold" pitchFamily="34" charset="-122"/>
                <a:cs typeface="Spline Sans Bold" pitchFamily="34" charset="-120"/>
              </a:rPr>
              <a:t>SortedList</a:t>
            </a:r>
            <a:endParaRPr lang="en-US" sz="1650" dirty="0"/>
          </a:p>
        </p:txBody>
      </p:sp>
      <p:sp>
        <p:nvSpPr>
          <p:cNvPr id="21" name="Text 16"/>
          <p:cNvSpPr/>
          <p:nvPr/>
        </p:nvSpPr>
        <p:spPr>
          <a:xfrm>
            <a:off x="8192691" y="6448901"/>
            <a:ext cx="5375553" cy="264319"/>
          </a:xfrm>
          <a:prstGeom prst="rect">
            <a:avLst/>
          </a:prstGeom>
          <a:noFill/>
          <a:ln/>
        </p:spPr>
        <p:txBody>
          <a:bodyPr wrap="none" lIns="0" tIns="0" rIns="0" bIns="0" rtlCol="0" anchor="t"/>
          <a:lstStyle/>
          <a:p>
            <a:pPr marL="0" indent="0" algn="l">
              <a:lnSpc>
                <a:spcPts val="2050"/>
              </a:lnSpc>
              <a:buNone/>
            </a:pPr>
            <a:r>
              <a:rPr lang="en-US" sz="1450" dirty="0">
                <a:solidFill>
                  <a:srgbClr val="FFFFFF"/>
                </a:solidFill>
                <a:latin typeface="Barlow" pitchFamily="34" charset="0"/>
                <a:ea typeface="Barlow" pitchFamily="34" charset="-122"/>
                <a:cs typeface="Barlow" pitchFamily="34" charset="-120"/>
              </a:rPr>
              <a:t>O(log n) búsqueda. Menor memoria, inserción O(n).</a:t>
            </a:r>
            <a:endParaRPr lang="en-US" sz="1450" dirty="0"/>
          </a:p>
        </p:txBody>
      </p:sp>
      <p:sp>
        <p:nvSpPr>
          <p:cNvPr id="22" name="Text 17"/>
          <p:cNvSpPr/>
          <p:nvPr/>
        </p:nvSpPr>
        <p:spPr>
          <a:xfrm>
            <a:off x="881063" y="7253526"/>
            <a:ext cx="12868275" cy="264319"/>
          </a:xfrm>
          <a:prstGeom prst="rect">
            <a:avLst/>
          </a:prstGeom>
          <a:noFill/>
          <a:ln/>
        </p:spPr>
        <p:txBody>
          <a:bodyPr wrap="none" lIns="0" tIns="0" rIns="0" bIns="0" rtlCol="0" anchor="t"/>
          <a:lstStyle/>
          <a:p>
            <a:pPr marL="0" indent="0" algn="l">
              <a:lnSpc>
                <a:spcPts val="2050"/>
              </a:lnSpc>
              <a:buNone/>
            </a:pPr>
            <a:r>
              <a:rPr lang="en-US" sz="1450" b="1" dirty="0">
                <a:solidFill>
                  <a:srgbClr val="E0E4E6"/>
                </a:solidFill>
                <a:latin typeface="Barlow" pitchFamily="34" charset="0"/>
                <a:ea typeface="Barlow" pitchFamily="34" charset="-122"/>
                <a:cs typeface="Barlow" pitchFamily="34" charset="-120"/>
              </a:rPr>
              <a:t>Elección: SortedDictionary — O(log n) garantizado. Orden temporal automático. Búsqueda por rango eficiente.</a:t>
            </a:r>
            <a:endParaRPr lang="en-US" sz="1450" dirty="0"/>
          </a:p>
        </p:txBody>
      </p:sp>
      <p:pic>
        <p:nvPicPr>
          <p:cNvPr id="24" name="Imagen 23">
            <a:extLst>
              <a:ext uri="{FF2B5EF4-FFF2-40B4-BE49-F238E27FC236}">
                <a16:creationId xmlns:a16="http://schemas.microsoft.com/office/drawing/2014/main" id="{10214576-3E01-D4DB-2B88-93EADA05533D}"/>
              </a:ext>
            </a:extLst>
          </p:cNvPr>
          <p:cNvPicPr>
            <a:picLocks noChangeAspect="1"/>
          </p:cNvPicPr>
          <p:nvPr/>
        </p:nvPicPr>
        <p:blipFill>
          <a:blip r:embed="rId6"/>
          <a:stretch>
            <a:fillRect/>
          </a:stretch>
        </p:blipFill>
        <p:spPr>
          <a:xfrm>
            <a:off x="12801601" y="7724705"/>
            <a:ext cx="1828800" cy="5048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6" name="Imagen 35">
            <a:extLst>
              <a:ext uri="{FF2B5EF4-FFF2-40B4-BE49-F238E27FC236}">
                <a16:creationId xmlns:a16="http://schemas.microsoft.com/office/drawing/2014/main" id="{16019D15-FE7C-FA71-B889-BE68F605262A}"/>
              </a:ext>
            </a:extLst>
          </p:cNvPr>
          <p:cNvPicPr>
            <a:picLocks noChangeAspect="1"/>
          </p:cNvPicPr>
          <p:nvPr/>
        </p:nvPicPr>
        <p:blipFill>
          <a:blip r:embed="rId3"/>
          <a:stretch>
            <a:fillRect/>
          </a:stretch>
        </p:blipFill>
        <p:spPr>
          <a:xfrm>
            <a:off x="0" y="1668"/>
            <a:ext cx="14630400" cy="82262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106" name="Imagen 105">
            <a:extLst>
              <a:ext uri="{FF2B5EF4-FFF2-40B4-BE49-F238E27FC236}">
                <a16:creationId xmlns:a16="http://schemas.microsoft.com/office/drawing/2014/main" id="{AEF39296-544E-9FD2-1370-CD3F8D041940}"/>
              </a:ext>
            </a:extLst>
          </p:cNvPr>
          <p:cNvPicPr>
            <a:picLocks noChangeAspect="1"/>
          </p:cNvPicPr>
          <p:nvPr/>
        </p:nvPicPr>
        <p:blipFill>
          <a:blip r:embed="rId3"/>
          <a:stretch>
            <a:fillRect/>
          </a:stretch>
        </p:blipFill>
        <p:spPr>
          <a:xfrm>
            <a:off x="0" y="1668"/>
            <a:ext cx="14630400" cy="82262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81063" y="885230"/>
            <a:ext cx="12868275" cy="290036"/>
          </a:xfrm>
          <a:prstGeom prst="rect">
            <a:avLst/>
          </a:prstGeom>
          <a:noFill/>
          <a:ln/>
        </p:spPr>
        <p:txBody>
          <a:bodyPr wrap="none" lIns="0" tIns="0" rIns="0" bIns="0" rtlCol="0" anchor="t"/>
          <a:lstStyle/>
          <a:p>
            <a:pPr marL="0" indent="0" algn="l">
              <a:lnSpc>
                <a:spcPts val="2250"/>
              </a:lnSpc>
              <a:buNone/>
            </a:pPr>
            <a:r>
              <a:rPr lang="en-US" sz="1550" b="1" dirty="0">
                <a:solidFill>
                  <a:srgbClr val="E0E4E6"/>
                </a:solidFill>
                <a:latin typeface="Barlow" pitchFamily="34" charset="0"/>
                <a:ea typeface="Barlow" pitchFamily="34" charset="-122"/>
                <a:cs typeface="Barlow" pitchFamily="34" charset="-120"/>
              </a:rPr>
              <a:t>— / Conclusiones individuales &amp; Bibliografía</a:t>
            </a:r>
            <a:endParaRPr lang="en-US" sz="1550" dirty="0"/>
          </a:p>
        </p:txBody>
      </p:sp>
      <p:sp>
        <p:nvSpPr>
          <p:cNvPr id="3" name="Text 1"/>
          <p:cNvSpPr/>
          <p:nvPr/>
        </p:nvSpPr>
        <p:spPr>
          <a:xfrm>
            <a:off x="881063" y="1517571"/>
            <a:ext cx="3228975" cy="279797"/>
          </a:xfrm>
          <a:prstGeom prst="rect">
            <a:avLst/>
          </a:prstGeom>
          <a:noFill/>
          <a:ln/>
        </p:spPr>
        <p:txBody>
          <a:bodyPr wrap="none" lIns="0" tIns="0" rIns="0" bIns="0" rtlCol="0" anchor="t"/>
          <a:lstStyle/>
          <a:p>
            <a:pPr marL="0" indent="0" algn="l">
              <a:lnSpc>
                <a:spcPts val="2200"/>
              </a:lnSpc>
              <a:buNone/>
            </a:pPr>
            <a:r>
              <a:rPr lang="en-US" sz="1750" b="1" dirty="0">
                <a:solidFill>
                  <a:srgbClr val="F0FCFF"/>
                </a:solidFill>
                <a:latin typeface="Spline Sans Bold" pitchFamily="34" charset="0"/>
                <a:ea typeface="Spline Sans Bold" pitchFamily="34" charset="-122"/>
                <a:cs typeface="Spline Sans Bold" pitchFamily="34" charset="-120"/>
              </a:rPr>
              <a:t>CONCLUSIONES INDIVIDUALES</a:t>
            </a:r>
            <a:endParaRPr lang="en-US" sz="1750" dirty="0"/>
          </a:p>
        </p:txBody>
      </p:sp>
      <p:sp>
        <p:nvSpPr>
          <p:cNvPr id="4" name="Shape 2"/>
          <p:cNvSpPr/>
          <p:nvPr/>
        </p:nvSpPr>
        <p:spPr>
          <a:xfrm>
            <a:off x="881063" y="1978581"/>
            <a:ext cx="6188512" cy="2197060"/>
          </a:xfrm>
          <a:prstGeom prst="roundRect">
            <a:avLst>
              <a:gd name="adj" fmla="val 13751"/>
            </a:avLst>
          </a:prstGeom>
          <a:solidFill>
            <a:srgbClr val="004D36"/>
          </a:solidFill>
          <a:ln/>
        </p:spPr>
        <p:txBody>
          <a:bodyPr/>
          <a:lstStyle/>
          <a:p>
            <a:endParaRPr lang="es-PE"/>
          </a:p>
        </p:txBody>
      </p:sp>
      <p:pic>
        <p:nvPicPr>
          <p:cNvPr id="5" name="Image 0" descr="preencoded.png"/>
          <p:cNvPicPr>
            <a:picLocks noChangeAspect="1"/>
          </p:cNvPicPr>
          <p:nvPr/>
        </p:nvPicPr>
        <p:blipFill>
          <a:blip r:embed="rId3"/>
          <a:stretch>
            <a:fillRect/>
          </a:stretch>
        </p:blipFill>
        <p:spPr>
          <a:xfrm>
            <a:off x="1082397" y="2274927"/>
            <a:ext cx="251698" cy="201335"/>
          </a:xfrm>
          <a:prstGeom prst="rect">
            <a:avLst/>
          </a:prstGeom>
        </p:spPr>
      </p:pic>
      <p:sp>
        <p:nvSpPr>
          <p:cNvPr id="6" name="Text 3"/>
          <p:cNvSpPr/>
          <p:nvPr/>
        </p:nvSpPr>
        <p:spPr>
          <a:xfrm>
            <a:off x="1535430" y="2189917"/>
            <a:ext cx="5332809" cy="1740218"/>
          </a:xfrm>
          <a:prstGeom prst="rect">
            <a:avLst/>
          </a:prstGeom>
          <a:noFill/>
          <a:ln/>
        </p:spPr>
        <p:txBody>
          <a:bodyPr wrap="square" lIns="0" tIns="0" rIns="0" bIns="0" rtlCol="0" anchor="t"/>
          <a:lstStyle/>
          <a:p>
            <a:pPr marL="0" indent="0" algn="l">
              <a:lnSpc>
                <a:spcPts val="2250"/>
              </a:lnSpc>
              <a:buNone/>
            </a:pPr>
            <a:r>
              <a:rPr lang="en-US" sz="1550" dirty="0">
                <a:solidFill>
                  <a:srgbClr val="FFFFFF"/>
                </a:solidFill>
                <a:latin typeface="Barlow" pitchFamily="34" charset="0"/>
                <a:ea typeface="Barlow" pitchFamily="34" charset="-122"/>
                <a:cs typeface="Barlow" pitchFamily="34" charset="-120"/>
              </a:rPr>
              <a:t>El uso de estructuras de datos adecuadas como PriorityQueue, Dictionary y SortedDictionary es fundamental en sistemas de alto rendimiento como Uber. Elegir entre O(1) y O(n) no es un detalle técnico menor: a escala de millones de usuarios, puede significar la diferencia entre una app fluida y un sistema colapsado.</a:t>
            </a:r>
            <a:endParaRPr lang="en-US" sz="1550" dirty="0"/>
          </a:p>
        </p:txBody>
      </p:sp>
      <p:sp>
        <p:nvSpPr>
          <p:cNvPr id="7" name="Shape 4"/>
          <p:cNvSpPr/>
          <p:nvPr/>
        </p:nvSpPr>
        <p:spPr>
          <a:xfrm>
            <a:off x="881063" y="4356854"/>
            <a:ext cx="6188512" cy="2487097"/>
          </a:xfrm>
          <a:prstGeom prst="roundRect">
            <a:avLst>
              <a:gd name="adj" fmla="val 12147"/>
            </a:avLst>
          </a:prstGeom>
          <a:solidFill>
            <a:srgbClr val="004D36"/>
          </a:solidFill>
          <a:ln/>
        </p:spPr>
        <p:txBody>
          <a:bodyPr/>
          <a:lstStyle/>
          <a:p>
            <a:endParaRPr lang="es-PE"/>
          </a:p>
        </p:txBody>
      </p:sp>
      <p:pic>
        <p:nvPicPr>
          <p:cNvPr id="8" name="Image 1" descr="preencoded.png"/>
          <p:cNvPicPr>
            <a:picLocks noChangeAspect="1"/>
          </p:cNvPicPr>
          <p:nvPr/>
        </p:nvPicPr>
        <p:blipFill>
          <a:blip r:embed="rId3"/>
          <a:stretch>
            <a:fillRect/>
          </a:stretch>
        </p:blipFill>
        <p:spPr>
          <a:xfrm>
            <a:off x="1082397" y="4653201"/>
            <a:ext cx="251698" cy="201335"/>
          </a:xfrm>
          <a:prstGeom prst="rect">
            <a:avLst/>
          </a:prstGeom>
        </p:spPr>
      </p:pic>
      <p:sp>
        <p:nvSpPr>
          <p:cNvPr id="9" name="Text 5"/>
          <p:cNvSpPr/>
          <p:nvPr/>
        </p:nvSpPr>
        <p:spPr>
          <a:xfrm>
            <a:off x="1535430" y="4568190"/>
            <a:ext cx="5332809" cy="2030254"/>
          </a:xfrm>
          <a:prstGeom prst="rect">
            <a:avLst/>
          </a:prstGeom>
          <a:noFill/>
          <a:ln/>
        </p:spPr>
        <p:txBody>
          <a:bodyPr wrap="square" lIns="0" tIns="0" rIns="0" bIns="0" rtlCol="0" anchor="t"/>
          <a:lstStyle/>
          <a:p>
            <a:pPr marL="0" indent="0" algn="l">
              <a:lnSpc>
                <a:spcPts val="2250"/>
              </a:lnSpc>
              <a:buNone/>
            </a:pPr>
            <a:r>
              <a:rPr lang="en-US" sz="1550" dirty="0">
                <a:solidFill>
                  <a:srgbClr val="FFFFFF"/>
                </a:solidFill>
                <a:latin typeface="Barlow" pitchFamily="34" charset="0"/>
                <a:ea typeface="Barlow" pitchFamily="34" charset="-122"/>
                <a:cs typeface="Barlow" pitchFamily="34" charset="-120"/>
              </a:rPr>
              <a:t>Implementar algoritmos como Dijkstra y A* nos permitió comprender cómo los sistemas de navegación calculan rutas óptimas en tiempo real. A* demuestra que combinar una heurística con la búsqueda por costo real reduce drásticamente el número de nodos explorados, siendo más eficiente que Dijkstra en mapas con coordenadas geográficas.</a:t>
            </a:r>
            <a:endParaRPr lang="en-US" sz="1550" dirty="0"/>
          </a:p>
        </p:txBody>
      </p:sp>
      <p:sp>
        <p:nvSpPr>
          <p:cNvPr id="10" name="Text 6"/>
          <p:cNvSpPr/>
          <p:nvPr/>
        </p:nvSpPr>
        <p:spPr>
          <a:xfrm>
            <a:off x="7568446" y="1517571"/>
            <a:ext cx="2237899" cy="279797"/>
          </a:xfrm>
          <a:prstGeom prst="rect">
            <a:avLst/>
          </a:prstGeom>
          <a:noFill/>
          <a:ln/>
        </p:spPr>
        <p:txBody>
          <a:bodyPr wrap="none" lIns="0" tIns="0" rIns="0" bIns="0" rtlCol="0" anchor="t"/>
          <a:lstStyle/>
          <a:p>
            <a:pPr marL="0" indent="0" algn="l">
              <a:lnSpc>
                <a:spcPts val="2200"/>
              </a:lnSpc>
              <a:buNone/>
            </a:pPr>
            <a:r>
              <a:rPr lang="en-US" sz="1750" b="1" dirty="0">
                <a:solidFill>
                  <a:srgbClr val="F0FCFF"/>
                </a:solidFill>
                <a:latin typeface="Spline Sans Bold" pitchFamily="34" charset="0"/>
                <a:ea typeface="Spline Sans Bold" pitchFamily="34" charset="-122"/>
                <a:cs typeface="Spline Sans Bold" pitchFamily="34" charset="-120"/>
              </a:rPr>
              <a:t>BIBLIOGRAFÍA</a:t>
            </a:r>
            <a:endParaRPr lang="en-US" sz="1750" dirty="0"/>
          </a:p>
        </p:txBody>
      </p:sp>
      <p:sp>
        <p:nvSpPr>
          <p:cNvPr id="11" name="Shape 7"/>
          <p:cNvSpPr/>
          <p:nvPr/>
        </p:nvSpPr>
        <p:spPr>
          <a:xfrm>
            <a:off x="7568446" y="1978581"/>
            <a:ext cx="6188512" cy="1036915"/>
          </a:xfrm>
          <a:prstGeom prst="roundRect">
            <a:avLst>
              <a:gd name="adj" fmla="val 29136"/>
            </a:avLst>
          </a:prstGeom>
          <a:solidFill>
            <a:srgbClr val="004D36"/>
          </a:solidFill>
          <a:ln/>
        </p:spPr>
        <p:txBody>
          <a:bodyPr/>
          <a:lstStyle/>
          <a:p>
            <a:endParaRPr lang="es-PE"/>
          </a:p>
        </p:txBody>
      </p:sp>
      <p:pic>
        <p:nvPicPr>
          <p:cNvPr id="12" name="Image 2" descr="preencoded.png"/>
          <p:cNvPicPr>
            <a:picLocks noChangeAspect="1"/>
          </p:cNvPicPr>
          <p:nvPr/>
        </p:nvPicPr>
        <p:blipFill>
          <a:blip r:embed="rId3"/>
          <a:stretch>
            <a:fillRect/>
          </a:stretch>
        </p:blipFill>
        <p:spPr>
          <a:xfrm>
            <a:off x="7769781" y="2274927"/>
            <a:ext cx="251698" cy="201335"/>
          </a:xfrm>
          <a:prstGeom prst="rect">
            <a:avLst/>
          </a:prstGeom>
        </p:spPr>
      </p:pic>
      <p:sp>
        <p:nvSpPr>
          <p:cNvPr id="13" name="Text 8"/>
          <p:cNvSpPr/>
          <p:nvPr/>
        </p:nvSpPr>
        <p:spPr>
          <a:xfrm>
            <a:off x="8222813" y="2189917"/>
            <a:ext cx="5332809" cy="580073"/>
          </a:xfrm>
          <a:prstGeom prst="rect">
            <a:avLst/>
          </a:prstGeom>
          <a:noFill/>
          <a:ln/>
        </p:spPr>
        <p:txBody>
          <a:bodyPr wrap="square" lIns="0" tIns="0" rIns="0" bIns="0" rtlCol="0" anchor="t"/>
          <a:lstStyle/>
          <a:p>
            <a:pPr marL="0" indent="0" algn="l">
              <a:lnSpc>
                <a:spcPts val="2250"/>
              </a:lnSpc>
              <a:buNone/>
            </a:pPr>
            <a:r>
              <a:rPr lang="en-US" sz="1550" dirty="0">
                <a:solidFill>
                  <a:srgbClr val="FFFFFF"/>
                </a:solidFill>
                <a:latin typeface="Barlow" pitchFamily="34" charset="0"/>
                <a:ea typeface="Barlow" pitchFamily="34" charset="-122"/>
                <a:cs typeface="Barlow" pitchFamily="34" charset="-120"/>
              </a:rPr>
              <a:t>Microsoft. (2024). Collections and Data Structures. docs.microsoft.com</a:t>
            </a:r>
            <a:endParaRPr lang="en-US" sz="1550" dirty="0"/>
          </a:p>
        </p:txBody>
      </p:sp>
      <p:sp>
        <p:nvSpPr>
          <p:cNvPr id="14" name="Shape 9"/>
          <p:cNvSpPr/>
          <p:nvPr/>
        </p:nvSpPr>
        <p:spPr>
          <a:xfrm>
            <a:off x="7568446" y="3196709"/>
            <a:ext cx="6188512" cy="1036915"/>
          </a:xfrm>
          <a:prstGeom prst="roundRect">
            <a:avLst>
              <a:gd name="adj" fmla="val 29136"/>
            </a:avLst>
          </a:prstGeom>
          <a:solidFill>
            <a:srgbClr val="004D36"/>
          </a:solidFill>
          <a:ln/>
        </p:spPr>
        <p:txBody>
          <a:bodyPr/>
          <a:lstStyle/>
          <a:p>
            <a:endParaRPr lang="es-PE"/>
          </a:p>
        </p:txBody>
      </p:sp>
      <p:pic>
        <p:nvPicPr>
          <p:cNvPr id="15" name="Image 3" descr="preencoded.png"/>
          <p:cNvPicPr>
            <a:picLocks noChangeAspect="1"/>
          </p:cNvPicPr>
          <p:nvPr/>
        </p:nvPicPr>
        <p:blipFill>
          <a:blip r:embed="rId3"/>
          <a:stretch>
            <a:fillRect/>
          </a:stretch>
        </p:blipFill>
        <p:spPr>
          <a:xfrm>
            <a:off x="7769781" y="3493056"/>
            <a:ext cx="251698" cy="201335"/>
          </a:xfrm>
          <a:prstGeom prst="rect">
            <a:avLst/>
          </a:prstGeom>
        </p:spPr>
      </p:pic>
      <p:sp>
        <p:nvSpPr>
          <p:cNvPr id="16" name="Text 10"/>
          <p:cNvSpPr/>
          <p:nvPr/>
        </p:nvSpPr>
        <p:spPr>
          <a:xfrm>
            <a:off x="8222813" y="3408045"/>
            <a:ext cx="5332809" cy="580073"/>
          </a:xfrm>
          <a:prstGeom prst="rect">
            <a:avLst/>
          </a:prstGeom>
          <a:noFill/>
          <a:ln/>
        </p:spPr>
        <p:txBody>
          <a:bodyPr wrap="square" lIns="0" tIns="0" rIns="0" bIns="0" rtlCol="0" anchor="t"/>
          <a:lstStyle/>
          <a:p>
            <a:pPr marL="0" indent="0" algn="l">
              <a:lnSpc>
                <a:spcPts val="2250"/>
              </a:lnSpc>
              <a:buNone/>
            </a:pPr>
            <a:r>
              <a:rPr lang="en-US" sz="1550" dirty="0">
                <a:solidFill>
                  <a:srgbClr val="FFFFFF"/>
                </a:solidFill>
                <a:latin typeface="Barlow" pitchFamily="34" charset="0"/>
                <a:ea typeface="Barlow" pitchFamily="34" charset="-122"/>
                <a:cs typeface="Barlow" pitchFamily="34" charset="-120"/>
              </a:rPr>
              <a:t>Cormen et al. (2022). Introduction to Algorithms, 4ta ed. MIT Press.</a:t>
            </a:r>
            <a:endParaRPr lang="en-US" sz="1550" dirty="0"/>
          </a:p>
        </p:txBody>
      </p:sp>
      <p:sp>
        <p:nvSpPr>
          <p:cNvPr id="17" name="Shape 11"/>
          <p:cNvSpPr/>
          <p:nvPr/>
        </p:nvSpPr>
        <p:spPr>
          <a:xfrm>
            <a:off x="7568446" y="4414838"/>
            <a:ext cx="6188512" cy="746879"/>
          </a:xfrm>
          <a:prstGeom prst="roundRect">
            <a:avLst>
              <a:gd name="adj" fmla="val 40451"/>
            </a:avLst>
          </a:prstGeom>
          <a:solidFill>
            <a:srgbClr val="004D36"/>
          </a:solidFill>
          <a:ln/>
        </p:spPr>
        <p:txBody>
          <a:bodyPr/>
          <a:lstStyle/>
          <a:p>
            <a:endParaRPr lang="es-PE"/>
          </a:p>
        </p:txBody>
      </p:sp>
      <p:pic>
        <p:nvPicPr>
          <p:cNvPr id="18" name="Image 4" descr="preencoded.png"/>
          <p:cNvPicPr>
            <a:picLocks noChangeAspect="1"/>
          </p:cNvPicPr>
          <p:nvPr/>
        </p:nvPicPr>
        <p:blipFill>
          <a:blip r:embed="rId3"/>
          <a:stretch>
            <a:fillRect/>
          </a:stretch>
        </p:blipFill>
        <p:spPr>
          <a:xfrm>
            <a:off x="7769781" y="4711184"/>
            <a:ext cx="251698" cy="201335"/>
          </a:xfrm>
          <a:prstGeom prst="rect">
            <a:avLst/>
          </a:prstGeom>
        </p:spPr>
      </p:pic>
      <p:sp>
        <p:nvSpPr>
          <p:cNvPr id="19" name="Text 12"/>
          <p:cNvSpPr/>
          <p:nvPr/>
        </p:nvSpPr>
        <p:spPr>
          <a:xfrm>
            <a:off x="8222813" y="4626173"/>
            <a:ext cx="5332809" cy="290036"/>
          </a:xfrm>
          <a:prstGeom prst="rect">
            <a:avLst/>
          </a:prstGeom>
          <a:noFill/>
          <a:ln/>
        </p:spPr>
        <p:txBody>
          <a:bodyPr wrap="none" lIns="0" tIns="0" rIns="0" bIns="0" rtlCol="0" anchor="t"/>
          <a:lstStyle/>
          <a:p>
            <a:pPr marL="0" indent="0" algn="l">
              <a:lnSpc>
                <a:spcPts val="2250"/>
              </a:lnSpc>
              <a:buNone/>
            </a:pPr>
            <a:r>
              <a:rPr lang="en-US" sz="1550" dirty="0">
                <a:solidFill>
                  <a:srgbClr val="FFFFFF"/>
                </a:solidFill>
                <a:latin typeface="Barlow" pitchFamily="34" charset="0"/>
                <a:ea typeface="Barlow" pitchFamily="34" charset="-122"/>
                <a:cs typeface="Barlow" pitchFamily="34" charset="-120"/>
              </a:rPr>
              <a:t>GeeksforGeeks. Dijkstra's Algorithm. geeksforgeeks.org</a:t>
            </a:r>
            <a:endParaRPr lang="en-US" sz="1550" dirty="0"/>
          </a:p>
        </p:txBody>
      </p:sp>
      <p:sp>
        <p:nvSpPr>
          <p:cNvPr id="20" name="Shape 13"/>
          <p:cNvSpPr/>
          <p:nvPr/>
        </p:nvSpPr>
        <p:spPr>
          <a:xfrm>
            <a:off x="7568446" y="5342930"/>
            <a:ext cx="6188512" cy="746879"/>
          </a:xfrm>
          <a:prstGeom prst="roundRect">
            <a:avLst>
              <a:gd name="adj" fmla="val 40451"/>
            </a:avLst>
          </a:prstGeom>
          <a:solidFill>
            <a:srgbClr val="004D36"/>
          </a:solidFill>
          <a:ln/>
        </p:spPr>
        <p:txBody>
          <a:bodyPr/>
          <a:lstStyle/>
          <a:p>
            <a:endParaRPr lang="es-PE"/>
          </a:p>
        </p:txBody>
      </p:sp>
      <p:pic>
        <p:nvPicPr>
          <p:cNvPr id="21" name="Image 5" descr="preencoded.png"/>
          <p:cNvPicPr>
            <a:picLocks noChangeAspect="1"/>
          </p:cNvPicPr>
          <p:nvPr/>
        </p:nvPicPr>
        <p:blipFill>
          <a:blip r:embed="rId3"/>
          <a:stretch>
            <a:fillRect/>
          </a:stretch>
        </p:blipFill>
        <p:spPr>
          <a:xfrm>
            <a:off x="7769781" y="5639276"/>
            <a:ext cx="251698" cy="201335"/>
          </a:xfrm>
          <a:prstGeom prst="rect">
            <a:avLst/>
          </a:prstGeom>
        </p:spPr>
      </p:pic>
      <p:sp>
        <p:nvSpPr>
          <p:cNvPr id="22" name="Text 14"/>
          <p:cNvSpPr/>
          <p:nvPr/>
        </p:nvSpPr>
        <p:spPr>
          <a:xfrm>
            <a:off x="8222813" y="5554266"/>
            <a:ext cx="5332809" cy="290036"/>
          </a:xfrm>
          <a:prstGeom prst="rect">
            <a:avLst/>
          </a:prstGeom>
          <a:noFill/>
          <a:ln/>
        </p:spPr>
        <p:txBody>
          <a:bodyPr wrap="none" lIns="0" tIns="0" rIns="0" bIns="0" rtlCol="0" anchor="t"/>
          <a:lstStyle/>
          <a:p>
            <a:pPr marL="0" indent="0" algn="l">
              <a:lnSpc>
                <a:spcPts val="2250"/>
              </a:lnSpc>
              <a:buNone/>
            </a:pPr>
            <a:r>
              <a:rPr lang="en-US" sz="1550" dirty="0">
                <a:solidFill>
                  <a:srgbClr val="FFFFFF"/>
                </a:solidFill>
                <a:latin typeface="Barlow" pitchFamily="34" charset="0"/>
                <a:ea typeface="Barlow" pitchFamily="34" charset="-122"/>
                <a:cs typeface="Barlow" pitchFamily="34" charset="-120"/>
              </a:rPr>
              <a:t>GeeksforGeeks. A* Search Algorithm. geeksforgeeks.org</a:t>
            </a:r>
            <a:endParaRPr lang="en-US" sz="1550" dirty="0"/>
          </a:p>
        </p:txBody>
      </p:sp>
      <p:sp>
        <p:nvSpPr>
          <p:cNvPr id="23" name="Shape 15"/>
          <p:cNvSpPr/>
          <p:nvPr/>
        </p:nvSpPr>
        <p:spPr>
          <a:xfrm>
            <a:off x="7568446" y="6271022"/>
            <a:ext cx="6188512" cy="1036915"/>
          </a:xfrm>
          <a:prstGeom prst="roundRect">
            <a:avLst>
              <a:gd name="adj" fmla="val 29136"/>
            </a:avLst>
          </a:prstGeom>
          <a:solidFill>
            <a:srgbClr val="004D36"/>
          </a:solidFill>
          <a:ln/>
        </p:spPr>
        <p:txBody>
          <a:bodyPr/>
          <a:lstStyle/>
          <a:p>
            <a:endParaRPr lang="es-PE"/>
          </a:p>
        </p:txBody>
      </p:sp>
      <p:pic>
        <p:nvPicPr>
          <p:cNvPr id="24" name="Image 6" descr="preencoded.png"/>
          <p:cNvPicPr>
            <a:picLocks noChangeAspect="1"/>
          </p:cNvPicPr>
          <p:nvPr/>
        </p:nvPicPr>
        <p:blipFill>
          <a:blip r:embed="rId3"/>
          <a:stretch>
            <a:fillRect/>
          </a:stretch>
        </p:blipFill>
        <p:spPr>
          <a:xfrm>
            <a:off x="7769781" y="6567368"/>
            <a:ext cx="251698" cy="201335"/>
          </a:xfrm>
          <a:prstGeom prst="rect">
            <a:avLst/>
          </a:prstGeom>
        </p:spPr>
      </p:pic>
      <p:sp>
        <p:nvSpPr>
          <p:cNvPr id="25" name="Text 16"/>
          <p:cNvSpPr/>
          <p:nvPr/>
        </p:nvSpPr>
        <p:spPr>
          <a:xfrm>
            <a:off x="8222813" y="6482358"/>
            <a:ext cx="5332809" cy="580073"/>
          </a:xfrm>
          <a:prstGeom prst="rect">
            <a:avLst/>
          </a:prstGeom>
          <a:noFill/>
          <a:ln/>
        </p:spPr>
        <p:txBody>
          <a:bodyPr wrap="square" lIns="0" tIns="0" rIns="0" bIns="0" rtlCol="0" anchor="t"/>
          <a:lstStyle/>
          <a:p>
            <a:pPr marL="0" indent="0" algn="l">
              <a:lnSpc>
                <a:spcPts val="2250"/>
              </a:lnSpc>
              <a:buNone/>
            </a:pPr>
            <a:r>
              <a:rPr lang="en-US" sz="1550" dirty="0">
                <a:solidFill>
                  <a:srgbClr val="FFFFFF"/>
                </a:solidFill>
                <a:latin typeface="Barlow" pitchFamily="34" charset="0"/>
                <a:ea typeface="Barlow" pitchFamily="34" charset="-122"/>
                <a:cs typeface="Barlow" pitchFamily="34" charset="-120"/>
              </a:rPr>
              <a:t>Sedgewick &amp; Wayne. (2011). Algorithms, 4ta ed. Addison-Wesley.</a:t>
            </a:r>
            <a:endParaRPr lang="en-US" sz="1550" dirty="0"/>
          </a:p>
        </p:txBody>
      </p:sp>
      <p:pic>
        <p:nvPicPr>
          <p:cNvPr id="27" name="Imagen 26">
            <a:extLst>
              <a:ext uri="{FF2B5EF4-FFF2-40B4-BE49-F238E27FC236}">
                <a16:creationId xmlns:a16="http://schemas.microsoft.com/office/drawing/2014/main" id="{1FBC3403-0705-64EA-FC38-510285D268B2}"/>
              </a:ext>
            </a:extLst>
          </p:cNvPr>
          <p:cNvPicPr>
            <a:picLocks noChangeAspect="1"/>
          </p:cNvPicPr>
          <p:nvPr/>
        </p:nvPicPr>
        <p:blipFill>
          <a:blip r:embed="rId4"/>
          <a:stretch>
            <a:fillRect/>
          </a:stretch>
        </p:blipFill>
        <p:spPr>
          <a:xfrm>
            <a:off x="12698858" y="7675079"/>
            <a:ext cx="1874507" cy="5048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1304</Words>
  <Application>Microsoft Office PowerPoint</Application>
  <PresentationFormat>Personalizado</PresentationFormat>
  <Paragraphs>138</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Spline Sans Bold</vt:lpstr>
      <vt:lpstr>Consolas</vt:lpstr>
      <vt:lpstr>Barlow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ミズノモーセ</dc:creator>
  <cp:lastModifiedBy>モーセ ミズノ</cp:lastModifiedBy>
  <cp:revision>2</cp:revision>
  <dcterms:created xsi:type="dcterms:W3CDTF">2026-04-26T03:36:04Z</dcterms:created>
  <dcterms:modified xsi:type="dcterms:W3CDTF">2026-04-28T19:31:01Z</dcterms:modified>
</cp:coreProperties>
</file>