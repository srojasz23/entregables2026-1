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34D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8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autenticac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49825" cy="6858000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5240020" y="2665095"/>
            <a:ext cx="6520180" cy="153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Caso </a:t>
            </a:r>
            <a:r>
              <a:rPr lang="es-ES" altLang="en-U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4</a:t>
            </a:r>
            <a:r>
              <a:rPr lang="en-US" altLang="es-E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</a:t>
            </a:r>
            <a:r>
              <a:rPr lang="es-ES" altLang="en-U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Microsoft Azure AD</a:t>
            </a:r>
            <a:endParaRPr lang="en-US" altLang="es-ES" sz="4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Wimmer Roman</a:t>
            </a:r>
            <a:r>
              <a:rPr lang="es-E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y Marco Alvarado</a:t>
            </a:r>
            <a:endParaRPr lang="es-ES" altLang="en-U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5358130" y="3378835"/>
            <a:ext cx="6219190" cy="1651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431800"/>
            <a:ext cx="9737090" cy="94805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Autenticación vs Autorización</a:t>
            </a:r>
            <a:endParaRPr lang="en-US" sz="3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Bahnschrift" panose="020B0502040204020203" charset="0"/>
                <a:ea typeface="Microsoft YaHei" panose="020B0503020204020204" charset="-122"/>
                <a:cs typeface="Bahnschrift" panose="020B0502040204020203" charset="0"/>
                <a:sym typeface="+mn-ea"/>
              </a:rPr>
              <a:t>¿Cómo las gestiona ASP.NET Core de forma independiente?</a:t>
            </a:r>
            <a:endParaRPr lang="en-U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endParaRPr lang="en-U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596265" y="1762125"/>
            <a:ext cx="4850130" cy="448881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sym typeface="+mn-ea"/>
              </a:rPr>
              <a:t>🔑</a:t>
            </a:r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6263640" y="1762125"/>
            <a:ext cx="4645660" cy="448881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2473325" y="1868805"/>
            <a:ext cx="901700" cy="919480"/>
          </a:xfrm>
          <a:prstGeom prst="ellipse">
            <a:avLst/>
          </a:prstGeom>
          <a:solidFill>
            <a:srgbClr val="0078D4"/>
          </a:solidFill>
        </p:spPr>
        <p:txBody>
          <a:bodyPr/>
          <a:p>
            <a:endParaRPr lang="es-ES" altLang="en-US"/>
          </a:p>
        </p:txBody>
      </p:sp>
      <p:sp>
        <p:nvSpPr>
          <p:cNvPr id="21" name="Shape 19"/>
          <p:cNvSpPr/>
          <p:nvPr/>
        </p:nvSpPr>
        <p:spPr>
          <a:xfrm>
            <a:off x="8129270" y="1877060"/>
            <a:ext cx="936625" cy="919480"/>
          </a:xfrm>
          <a:prstGeom prst="ellipse">
            <a:avLst/>
          </a:prstGeom>
          <a:solidFill>
            <a:srgbClr val="8764B8"/>
          </a:solidFill>
        </p:spPr>
        <p:txBody>
          <a:bodyPr/>
          <a:p>
            <a:endParaRPr lang="es-ES" altLang="en-US"/>
          </a:p>
        </p:txBody>
      </p:sp>
      <p:sp>
        <p:nvSpPr>
          <p:cNvPr id="15" name="Text 8"/>
          <p:cNvSpPr/>
          <p:nvPr/>
        </p:nvSpPr>
        <p:spPr>
          <a:xfrm>
            <a:off x="2472690" y="1877060"/>
            <a:ext cx="817245" cy="825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42935" y="1918335"/>
            <a:ext cx="70929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48" name="Cuadro de texto 47"/>
          <p:cNvSpPr txBox="1"/>
          <p:nvPr/>
        </p:nvSpPr>
        <p:spPr>
          <a:xfrm>
            <a:off x="808990" y="3276600"/>
            <a:ext cx="4443095" cy="265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Verifica la identidad del usuario</a:t>
            </a:r>
            <a:endParaRPr lang="es-ES" altLang="en-US" sz="1600">
              <a:solidFill>
                <a:schemeClr val="bg1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Procesa credenciales (user/pass,token, cert.)</a:t>
            </a:r>
            <a:endParaRPr lang="es-ES" altLang="en-US" sz="1600">
              <a:solidFill>
                <a:schemeClr val="bg1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Middleware:UseAuthentication()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Schemes:Cookie, Bearer, OpenIdConnect</a:t>
            </a:r>
            <a:endParaRPr lang="es-ES" altLang="en-US" sz="1600">
              <a:solidFill>
                <a:schemeClr val="bg1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Resultado:ClaimsPrincipal(HttpContext.User)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134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›  Si falla → 401 Unauthorized</a:t>
            </a:r>
            <a:endParaRPr lang="en-US" sz="1600" dirty="0"/>
          </a:p>
          <a:p>
            <a:pPr indent="0">
              <a:buFont typeface="Arial" panose="020B0604020202020204" pitchFamily="34" charset="0"/>
              <a:buNone/>
            </a:pPr>
            <a:r>
              <a:rPr lang="es-ES" altLang="en-US" sz="1600">
                <a:solidFill>
                  <a:schemeClr val="bg1"/>
                </a:solidFill>
              </a:rPr>
              <a:t> </a:t>
            </a:r>
            <a:endParaRPr lang="es-ES" altLang="en-US" sz="1600">
              <a:solidFill>
                <a:schemeClr val="bg1"/>
              </a:solidFill>
            </a:endParaRPr>
          </a:p>
        </p:txBody>
      </p:sp>
      <p:sp>
        <p:nvSpPr>
          <p:cNvPr id="16" name="Cuadro de texto 15"/>
          <p:cNvSpPr txBox="1"/>
          <p:nvPr/>
        </p:nvSpPr>
        <p:spPr>
          <a:xfrm>
            <a:off x="6428105" y="3188335"/>
            <a:ext cx="4316095" cy="27438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Verifica permisos sobre un recurso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 Ocurre DESPUES de autenticar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Middlare:UseAuthorization()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Mecanismos: Roles, Claims, Policies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n-US" sz="1600">
                <a:solidFill>
                  <a:schemeClr val="bg1"/>
                </a:solidFill>
              </a:rPr>
              <a:t>Atributo: [Authorize(Policy= “Admin”)]</a:t>
            </a: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alt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134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›  Si falla → 403 Forbidden</a:t>
            </a:r>
            <a:endParaRPr lang="en-US" sz="1600" dirty="0"/>
          </a:p>
          <a:p>
            <a:pPr indent="0">
              <a:buFont typeface="Arial" panose="020B0604020202020204" pitchFamily="34" charset="0"/>
              <a:buNone/>
            </a:pPr>
            <a:endParaRPr lang="es-ES" altLang="en-US" sz="160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958215" y="28950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¿Quién eres?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1940" y="288112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¿Qué puedes hacer?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431800"/>
            <a:ext cx="9737090" cy="114871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JWT — JSON Web Token</a:t>
            </a:r>
            <a:endParaRPr lang="en-US" sz="44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Estructura interna y validación con AddJwtBearer en C#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3380" y="1823720"/>
            <a:ext cx="3556000" cy="4783455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5" name="Text 13"/>
          <p:cNvSpPr/>
          <p:nvPr/>
        </p:nvSpPr>
        <p:spPr>
          <a:xfrm>
            <a:off x="551053" y="2032762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1343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HEADER</a:t>
            </a:r>
            <a:endParaRPr lang="en-US" b="1" dirty="0">
              <a:solidFill>
                <a:srgbClr val="D13438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9410" y="1768475"/>
            <a:ext cx="3527425" cy="76200"/>
          </a:xfrm>
          <a:prstGeom prst="rect">
            <a:avLst/>
          </a:prstGeom>
          <a:solidFill>
            <a:srgbClr val="D13438"/>
          </a:solidFill>
        </p:spPr>
      </p:sp>
      <p:sp>
        <p:nvSpPr>
          <p:cNvPr id="8" name="Shape 11"/>
          <p:cNvSpPr/>
          <p:nvPr/>
        </p:nvSpPr>
        <p:spPr>
          <a:xfrm>
            <a:off x="4262120" y="1769110"/>
            <a:ext cx="3671570" cy="4838065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2755" y="1767840"/>
            <a:ext cx="3670300" cy="76835"/>
          </a:xfrm>
          <a:prstGeom prst="rect">
            <a:avLst/>
          </a:prstGeom>
          <a:solidFill>
            <a:srgbClr val="8764B8"/>
          </a:solidFill>
        </p:spPr>
      </p:sp>
      <p:sp>
        <p:nvSpPr>
          <p:cNvPr id="24" name="Text 22"/>
          <p:cNvSpPr/>
          <p:nvPr/>
        </p:nvSpPr>
        <p:spPr>
          <a:xfrm>
            <a:off x="4513453" y="2032127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764B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PAYLOAD</a:t>
            </a:r>
            <a:endParaRPr lang="en-US" dirty="0"/>
          </a:p>
        </p:txBody>
      </p:sp>
      <p:sp>
        <p:nvSpPr>
          <p:cNvPr id="9" name="Shape 11"/>
          <p:cNvSpPr/>
          <p:nvPr/>
        </p:nvSpPr>
        <p:spPr>
          <a:xfrm>
            <a:off x="8266430" y="1769110"/>
            <a:ext cx="3504565" cy="4838065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66430" y="1768475"/>
            <a:ext cx="3520440" cy="76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33" name="Text 31"/>
          <p:cNvSpPr/>
          <p:nvPr/>
        </p:nvSpPr>
        <p:spPr>
          <a:xfrm>
            <a:off x="8475853" y="2032762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SIGNATURE</a:t>
            </a:r>
            <a:endParaRPr lang="en-US" b="1" dirty="0">
              <a:solidFill>
                <a:srgbClr val="0078D4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4065" y="3025775"/>
            <a:ext cx="2684780" cy="257810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15"/>
          <p:cNvSpPr/>
          <p:nvPr/>
        </p:nvSpPr>
        <p:spPr>
          <a:xfrm>
            <a:off x="4578350" y="3025140"/>
            <a:ext cx="2924175" cy="257873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1" name="Shape 15"/>
          <p:cNvSpPr/>
          <p:nvPr/>
        </p:nvSpPr>
        <p:spPr>
          <a:xfrm>
            <a:off x="8622030" y="2874645"/>
            <a:ext cx="2817495" cy="272351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1053" y="2437892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Algoritmo de firma y tipo de token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13453" y="2437892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Claims: identidad, roles, expiración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75853" y="2453767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Garantiza integridad — no repudio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3676" y="3318510"/>
            <a:ext cx="2304288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"alg": "HS256",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"typ": "JWT"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92726" y="3272155"/>
            <a:ext cx="2304288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"sub": "usuario123",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"name": "Wimmer",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"role": "Admin",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"iat": 1735689600,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"exp": 1735693200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812911" y="3322320"/>
            <a:ext cx="2304288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HMACSHA256(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base64(header)+"."+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base64(payload),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secretKey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730885" y="589838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34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eyJhbGciOiJIUzI1NiJ9</a:t>
            </a:r>
            <a:endParaRPr lang="en-US" sz="1000" dirty="0"/>
          </a:p>
        </p:txBody>
      </p:sp>
      <p:sp>
        <p:nvSpPr>
          <p:cNvPr id="18" name="Text 8"/>
          <p:cNvSpPr/>
          <p:nvPr/>
        </p:nvSpPr>
        <p:spPr>
          <a:xfrm>
            <a:off x="4513326" y="590600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764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eyJzdWIiOiJ1c3VhcmlvMTIz...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8813292" y="590600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SflKxwRJSMeKKF2QT4fwpMeJf...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97815"/>
            <a:ext cx="9152890" cy="56388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Validación JWT con AddJwtBearer en ASP.NET Core</a:t>
            </a:r>
            <a:endParaRPr lang="en-US" sz="2800" dirty="0"/>
          </a:p>
          <a:p>
            <a:pPr marL="0" indent="0">
              <a:buNone/>
            </a:pPr>
            <a:endParaRPr lang="en-US" altLang="en-US" sz="28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5"/>
          <p:cNvSpPr/>
          <p:nvPr/>
        </p:nvSpPr>
        <p:spPr>
          <a:xfrm>
            <a:off x="274320" y="1112520"/>
            <a:ext cx="6324600" cy="53708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Program.cs — configuración completa JWT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var jwtKey = builder.Configuration["Jwt:Key"]!;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builder.Services.AddAuthentication(JwtBearerDefaults.AuthenticationScheme)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.AddJwtBearer(opts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opts.TokenValidationParameters = new TokenValidationParameters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ValidateIssuer          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ValidateAudience        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ValidateLifetime        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ValidateIssuerSigningKey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ValidIssuer              = builder.Configuration["Jwt:Issuer"],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ValidAudience            = builder.Configuration["Jwt:Audience"],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IssuerSigningKey         = new SymmetricSecurityKey(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                             Encoding.UTF8.GetBytes(jwtKey)),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  ClockSkew                = TimeSpan.Zero  // sin tolerancia de tiempo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Generar 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string GenerarToken(Usuario u)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var claims = new[]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new Claim(ClaimTypes.NameIdentifier, u.Id.ToString()),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new Claim(ClaimTypes.Email, u.Email),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new Claim(ClaimTypes.Role,  u.Rol),   // "Admin" | "User"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var key   = new SymmetricSecurityKey(Encoding.UTF8.GetBytes(jwtKey));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var creds = new SigningCredentials(key, SecurityAlgorithms.HmacSha256);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var token = new JwtSecurityToken(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issuer:   "MiEmpresa",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audience: "MiApp",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claims:   claims,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expires:  DateTime.UtcNow.AddHours(1),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signingCredentials: creds);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return new JwtSecurityTokenHandler().WriteToken(token);</a:t>
            </a:r>
            <a:endParaRPr lang="es-ES" altLang="en-US" sz="1000"/>
          </a:p>
        </p:txBody>
      </p:sp>
      <p:sp>
        <p:nvSpPr>
          <p:cNvPr id="3" name="Shape 5"/>
          <p:cNvSpPr/>
          <p:nvPr/>
        </p:nvSpPr>
        <p:spPr>
          <a:xfrm>
            <a:off x="7235190" y="1112520"/>
            <a:ext cx="4602480" cy="53708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63155" y="1271270"/>
            <a:ext cx="4070350" cy="4051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Controlador protegido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[ApiController, Route("api/[controller]")]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RecursosController : ControllerBase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Cualquier usuario autenticado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[Authorize]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[HttpGet("perfil")]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IActionResult Perfil()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var userId = User.FindFirst(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ClaimTypes.NameIdentifier)?.Value;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Ok(new { userId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Solo rol Admin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[Authorize(Roles = "Admin")]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[HttpGet("admin")]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IActionResult SoloAdmin()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=&gt; Ok("Acceso exclusivo Admin");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Header HTTP requerido: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Authorization: Bearer eyJhbGci...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81305"/>
            <a:ext cx="9100820" cy="103187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OAuth 2.0 — Flujos de Autorización</a:t>
            </a:r>
            <a:endParaRPr lang="en-US" sz="36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Authorization Code Flow vs Client Credentials Flow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5"/>
          <p:cNvSpPr/>
          <p:nvPr/>
        </p:nvSpPr>
        <p:spPr>
          <a:xfrm>
            <a:off x="359410" y="1580515"/>
            <a:ext cx="5370830" cy="488696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3" name="Shape 5"/>
          <p:cNvSpPr/>
          <p:nvPr/>
        </p:nvSpPr>
        <p:spPr>
          <a:xfrm>
            <a:off x="6356985" y="1580515"/>
            <a:ext cx="5304155" cy="488696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flipV="1">
            <a:off x="359410" y="1568450"/>
            <a:ext cx="5370830" cy="76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30" name="Shape 28"/>
          <p:cNvSpPr/>
          <p:nvPr/>
        </p:nvSpPr>
        <p:spPr>
          <a:xfrm>
            <a:off x="6356985" y="1568450"/>
            <a:ext cx="5304155" cy="76200"/>
          </a:xfrm>
          <a:prstGeom prst="rect">
            <a:avLst/>
          </a:prstGeom>
          <a:solidFill>
            <a:srgbClr val="8764B8"/>
          </a:solidFill>
        </p:spPr>
      </p:sp>
      <p:sp>
        <p:nvSpPr>
          <p:cNvPr id="9" name="Text 7"/>
          <p:cNvSpPr/>
          <p:nvPr/>
        </p:nvSpPr>
        <p:spPr>
          <a:xfrm>
            <a:off x="411480" y="1787017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Authorization Code Flow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655435" y="1787017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764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 Credentials Flow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480" y="213436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 usuarios humanos (web app + browser)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55435" y="213436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5B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 servicios y daemons (machine-to-machine)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8650" y="260794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4" name="Shape 9"/>
          <p:cNvSpPr/>
          <p:nvPr/>
        </p:nvSpPr>
        <p:spPr>
          <a:xfrm>
            <a:off x="628650" y="319468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2" name="Shape 9"/>
          <p:cNvSpPr/>
          <p:nvPr/>
        </p:nvSpPr>
        <p:spPr>
          <a:xfrm>
            <a:off x="628650" y="3846830"/>
            <a:ext cx="4545330" cy="412115"/>
          </a:xfrm>
          <a:prstGeom prst="rect">
            <a:avLst/>
          </a:prstGeom>
          <a:solidFill>
            <a:schemeClr val="tx1"/>
          </a:solidFill>
        </p:spPr>
        <p:txBody>
          <a:bodyPr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③ Azure AD autentica al usuario</a:t>
            </a:r>
            <a:endParaRPr lang="es-ES" altLang="en-US" sz="1400"/>
          </a:p>
        </p:txBody>
      </p:sp>
      <p:sp>
        <p:nvSpPr>
          <p:cNvPr id="13" name="Shape 9"/>
          <p:cNvSpPr/>
          <p:nvPr/>
        </p:nvSpPr>
        <p:spPr>
          <a:xfrm>
            <a:off x="628650" y="4423410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4" name="Shape 9"/>
          <p:cNvSpPr/>
          <p:nvPr/>
        </p:nvSpPr>
        <p:spPr>
          <a:xfrm>
            <a:off x="628650" y="500824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5" name="Shape 9"/>
          <p:cNvSpPr/>
          <p:nvPr/>
        </p:nvSpPr>
        <p:spPr>
          <a:xfrm>
            <a:off x="628650" y="559371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6" name="Text 11"/>
          <p:cNvSpPr/>
          <p:nvPr/>
        </p:nvSpPr>
        <p:spPr>
          <a:xfrm>
            <a:off x="730377" y="2608072"/>
            <a:ext cx="3794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Usuario hace clic en 'Iniciar sesión'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0377" y="3193923"/>
            <a:ext cx="3794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App redirige a Azure AD /authorize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0377" y="4445000"/>
            <a:ext cx="3794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Azure AD devuelve código de autorización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0377" y="5007991"/>
            <a:ext cx="3794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⑤ App intercambia código por access_token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0377" y="5593207"/>
            <a:ext cx="3794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⑥ App usa access_token en cada request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6655435" y="260794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9" name="Shape 9"/>
          <p:cNvSpPr/>
          <p:nvPr/>
        </p:nvSpPr>
        <p:spPr>
          <a:xfrm>
            <a:off x="6655435" y="318579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20" name="Shape 9"/>
          <p:cNvSpPr/>
          <p:nvPr/>
        </p:nvSpPr>
        <p:spPr>
          <a:xfrm>
            <a:off x="6655435" y="3837940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21" name="Shape 9"/>
          <p:cNvSpPr/>
          <p:nvPr/>
        </p:nvSpPr>
        <p:spPr>
          <a:xfrm>
            <a:off x="6655435" y="4439285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23" name="Shape 9"/>
          <p:cNvSpPr/>
          <p:nvPr/>
        </p:nvSpPr>
        <p:spPr>
          <a:xfrm>
            <a:off x="6655435" y="5007610"/>
            <a:ext cx="4545330" cy="420370"/>
          </a:xfrm>
          <a:prstGeom prst="rect">
            <a:avLst/>
          </a:prstGeom>
          <a:solidFill>
            <a:schemeClr val="tx1"/>
          </a:solidFill>
        </p:spPr>
        <p:txBody>
          <a:bodyPr/>
          <a:p>
            <a:endParaRPr lang="es-ES" altLang="en-US"/>
          </a:p>
        </p:txBody>
      </p:sp>
      <p:sp>
        <p:nvSpPr>
          <p:cNvPr id="24" name="Shape 9"/>
          <p:cNvSpPr/>
          <p:nvPr/>
        </p:nvSpPr>
        <p:spPr>
          <a:xfrm>
            <a:off x="6655435" y="5626100"/>
            <a:ext cx="4545330" cy="42037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35" name="Text 33"/>
          <p:cNvSpPr/>
          <p:nvPr/>
        </p:nvSpPr>
        <p:spPr>
          <a:xfrm>
            <a:off x="6856857" y="2608072"/>
            <a:ext cx="3730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Servicio A necesita llamar al Servicio 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6857" y="3167253"/>
            <a:ext cx="3730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Envía client_id + client_secret a Azure AD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6857" y="3812794"/>
            <a:ext cx="3730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 Azure AD valida las credenciales del cliente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6857" y="4405630"/>
            <a:ext cx="3730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Devuelve access_token (sin usuario)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6857" y="4997831"/>
            <a:ext cx="3730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⑤ Servicio A llama a Servicio B con token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6857" y="5576062"/>
            <a:ext cx="3730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⑥ Servicio B valida el token y responde</a:t>
            </a:r>
            <a:endParaRPr lang="en-US" sz="1400" dirty="0"/>
          </a:p>
        </p:txBody>
      </p:sp>
      <p:sp>
        <p:nvSpPr>
          <p:cNvPr id="26" name="Shape 5"/>
          <p:cNvSpPr/>
          <p:nvPr/>
        </p:nvSpPr>
        <p:spPr>
          <a:xfrm>
            <a:off x="9659620" y="225425"/>
            <a:ext cx="2379980" cy="1200785"/>
          </a:xfrm>
          <a:prstGeom prst="rect">
            <a:avLst/>
          </a:prstGeom>
          <a:solidFill>
            <a:srgbClr val="0F1E35"/>
          </a:solidFill>
          <a:ln>
            <a:solidFill>
              <a:schemeClr val="bg1"/>
            </a:solidFill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52" name="Text 50"/>
          <p:cNvSpPr/>
          <p:nvPr/>
        </p:nvSpPr>
        <p:spPr>
          <a:xfrm>
            <a:off x="9839325" y="330835"/>
            <a:ext cx="182181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Diferencia clave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832213" y="68249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Code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832340" y="95681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764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 Credentials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164465"/>
            <a:ext cx="9668510" cy="103187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RBAC vs Claims-Based Authorization</a:t>
            </a:r>
            <a:endParaRPr lang="en-US" sz="36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Roles vs Reclamos — ¿Cuándo usar cada uno en ASP.NET Core?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5"/>
          <p:cNvSpPr/>
          <p:nvPr/>
        </p:nvSpPr>
        <p:spPr>
          <a:xfrm>
            <a:off x="359410" y="1313180"/>
            <a:ext cx="5473065" cy="53708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pPr marL="0" indent="0">
              <a:buNone/>
            </a:pPr>
            <a:endParaRPr lang="es-ES" altLang="en-US" sz="1000"/>
          </a:p>
        </p:txBody>
      </p:sp>
      <p:sp>
        <p:nvSpPr>
          <p:cNvPr id="3" name="Shape 5"/>
          <p:cNvSpPr/>
          <p:nvPr/>
        </p:nvSpPr>
        <p:spPr>
          <a:xfrm>
            <a:off x="6246495" y="1313180"/>
            <a:ext cx="5482590" cy="53708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</a:t>
            </a:r>
            <a:endParaRPr lang="es-ES" altLang="en-US" sz="1000"/>
          </a:p>
        </p:txBody>
      </p:sp>
      <p:sp>
        <p:nvSpPr>
          <p:cNvPr id="11" name="Text 9"/>
          <p:cNvSpPr/>
          <p:nvPr/>
        </p:nvSpPr>
        <p:spPr>
          <a:xfrm>
            <a:off x="534670" y="1463040"/>
            <a:ext cx="4934585" cy="483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RBAC: Autorización por Roles ──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Configuración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builder.Services.AddAuthorization(opt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opt.AddPolicy("SoloAdmin",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 =&gt; p.RequireRole("Admin"));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opt.AddPolicy("AdminOManager",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 =&gt; p.RequireRole("Admin","Manager"));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Controlador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[Authorize(Roles = "Admin,Manager")]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[HttpDelete("usuarios/{id}")]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IActionResult EliminarUsuario(int 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=&gt; Ok($"Usuario {id} eliminado");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Rol asignado en el token JWT: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"role": "Admin"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✅ Cuándo usar RBAC: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• Jerarquías claras (Admin &gt; Manager &gt; User)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• Permisos a nivel de departamento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• Sistemas ERP, RRHH, back-office empresarial</a:t>
            </a:r>
            <a:endParaRPr lang="en-US" sz="1400" dirty="0"/>
          </a:p>
        </p:txBody>
      </p:sp>
      <p:sp>
        <p:nvSpPr>
          <p:cNvPr id="4" name="Text 9"/>
          <p:cNvSpPr/>
          <p:nvPr/>
        </p:nvSpPr>
        <p:spPr>
          <a:xfrm>
            <a:off x="6516370" y="1463040"/>
            <a:ext cx="4850130" cy="483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── RBAC: Autorización por Roles ──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Configuración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builder.Services.AddAuthorization(opt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opt.AddPolicy("SoloAdmin",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 =&gt; p.RequireRole("Admin"));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opt.AddPolicy("AdminOManager",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 =&gt; p.RequireRole("Admin","Manager"));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Controlador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[Authorize(Roles = "Admin,Manager")]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[HttpDelete("usuarios/{id}")]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IActionResult EliminarUsuario(int 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=&gt; Ok($"Usuario {id} eliminado");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Rol asignado en el token JWT: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"role": "Admin"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✅ Cuándo usar RBAC: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• Jerarquías claras (Admin &gt; Manager &gt; User)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• Permisos a nivel de departamento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• Sistemas ERP, RRHH, back-office empresarial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164465"/>
            <a:ext cx="9668510" cy="12820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SQLi · XSS · CSRF</a:t>
            </a:r>
            <a:endParaRPr lang="en-US" sz="54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Ataques web críticos y mitigaciones en ASP.NET Core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9410" y="1647190"/>
            <a:ext cx="3423285" cy="481965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" name="Shape 16"/>
          <p:cNvSpPr/>
          <p:nvPr/>
        </p:nvSpPr>
        <p:spPr>
          <a:xfrm>
            <a:off x="4333875" y="1647190"/>
            <a:ext cx="3540125" cy="481965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" name="Shape 16"/>
          <p:cNvSpPr/>
          <p:nvPr/>
        </p:nvSpPr>
        <p:spPr>
          <a:xfrm>
            <a:off x="8408035" y="1647190"/>
            <a:ext cx="3423920" cy="481965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98058" y="1984375"/>
            <a:ext cx="594360" cy="594360"/>
          </a:xfrm>
          <a:prstGeom prst="ellipse">
            <a:avLst/>
          </a:prstGeom>
          <a:solidFill>
            <a:srgbClr val="FFB900"/>
          </a:solidFill>
        </p:spPr>
      </p:sp>
      <p:sp>
        <p:nvSpPr>
          <p:cNvPr id="9" name="Shape 7"/>
          <p:cNvSpPr/>
          <p:nvPr/>
        </p:nvSpPr>
        <p:spPr>
          <a:xfrm>
            <a:off x="1773555" y="1984375"/>
            <a:ext cx="594360" cy="594360"/>
          </a:xfrm>
          <a:prstGeom prst="ellipse">
            <a:avLst/>
          </a:prstGeom>
          <a:solidFill>
            <a:srgbClr val="D13438"/>
          </a:solidFill>
        </p:spPr>
      </p:sp>
      <p:sp>
        <p:nvSpPr>
          <p:cNvPr id="31" name="Shape 29"/>
          <p:cNvSpPr/>
          <p:nvPr/>
        </p:nvSpPr>
        <p:spPr>
          <a:xfrm>
            <a:off x="9839706" y="1984375"/>
            <a:ext cx="594360" cy="594360"/>
          </a:xfrm>
          <a:prstGeom prst="ellipse">
            <a:avLst/>
          </a:prstGeom>
          <a:solidFill>
            <a:srgbClr val="8764B8"/>
          </a:solidFill>
        </p:spPr>
      </p:sp>
      <p:sp>
        <p:nvSpPr>
          <p:cNvPr id="11" name="Text 9"/>
          <p:cNvSpPr/>
          <p:nvPr/>
        </p:nvSpPr>
        <p:spPr>
          <a:xfrm>
            <a:off x="1598295" y="2737485"/>
            <a:ext cx="1449705" cy="319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34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02911" y="2737485"/>
            <a:ext cx="25694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XSS — Cross-Site Scripting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29015" y="2737485"/>
            <a:ext cx="29698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764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CSRF — Cross-Site Request Forgery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89735" y="1984375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💉</a:t>
            </a:r>
            <a:endParaRPr lang="en-US" sz="1800" b="1" dirty="0">
              <a:solidFill>
                <a:srgbClr val="00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64733" y="1984375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⚡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16211" y="1984375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🎭</a:t>
            </a:r>
            <a:endParaRPr lang="en-US" sz="1800" b="1" dirty="0">
              <a:solidFill>
                <a:srgbClr val="0000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59410" y="1644015"/>
            <a:ext cx="3418840" cy="81280"/>
          </a:xfrm>
          <a:prstGeom prst="rect">
            <a:avLst/>
          </a:prstGeom>
          <a:solidFill>
            <a:srgbClr val="D13438"/>
          </a:solidFill>
        </p:spPr>
      </p:sp>
      <p:sp>
        <p:nvSpPr>
          <p:cNvPr id="19" name="Shape 17"/>
          <p:cNvSpPr/>
          <p:nvPr/>
        </p:nvSpPr>
        <p:spPr>
          <a:xfrm>
            <a:off x="4333875" y="1665605"/>
            <a:ext cx="3540125" cy="89535"/>
          </a:xfrm>
          <a:prstGeom prst="rect">
            <a:avLst/>
          </a:prstGeom>
          <a:solidFill>
            <a:srgbClr val="FFB900"/>
          </a:solidFill>
        </p:spPr>
      </p:sp>
      <p:sp>
        <p:nvSpPr>
          <p:cNvPr id="30" name="Shape 28"/>
          <p:cNvSpPr/>
          <p:nvPr/>
        </p:nvSpPr>
        <p:spPr>
          <a:xfrm>
            <a:off x="8429625" y="1665605"/>
            <a:ext cx="3386455" cy="85090"/>
          </a:xfrm>
          <a:prstGeom prst="rect">
            <a:avLst/>
          </a:prstGeom>
          <a:solidFill>
            <a:srgbClr val="8764B8"/>
          </a:solidFill>
        </p:spPr>
      </p:sp>
      <p:sp>
        <p:nvSpPr>
          <p:cNvPr id="12" name="Shape 10"/>
          <p:cNvSpPr/>
          <p:nvPr/>
        </p:nvSpPr>
        <p:spPr>
          <a:xfrm>
            <a:off x="577850" y="3058160"/>
            <a:ext cx="2924175" cy="30721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" name="Shape 10"/>
          <p:cNvSpPr/>
          <p:nvPr/>
        </p:nvSpPr>
        <p:spPr>
          <a:xfrm>
            <a:off x="4633595" y="3116580"/>
            <a:ext cx="2924175" cy="30721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41715" y="3117215"/>
            <a:ext cx="2988310" cy="317119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6" name="Text 14"/>
          <p:cNvSpPr/>
          <p:nvPr/>
        </p:nvSpPr>
        <p:spPr>
          <a:xfrm>
            <a:off x="811530" y="3215640"/>
            <a:ext cx="2350135" cy="2684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❌ VULNERABLE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q = "SELECT * FROM Users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$"WHERE user='{username}'";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username = "' OR '1'='1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→ SELECT * FROM Users WHERE user='' OR '1'='1'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✅ SEGURO con EF Core / Parámetros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user = await _db.Users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.Where(u =&gt; u.Username == username)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.FirstOrDefaultAsync();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 con Dapper: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u = await conn.QueryFirstOrDefaultAsync&lt;User&gt;(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"SELECT * FROM Users WHERE user=@u",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 { u = username });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7740" y="3216910"/>
            <a:ext cx="2652395" cy="2973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❌ VULNERABLE (Razor sin escapar)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@Html.Raw(Model.Comentario)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Si comentario = &lt;script&gt;stealCookies()&lt;/script&gt;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→ se ejecuta en el navegador del usuario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En API: devolver input del usuario sin sanitizar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✅ SEGURO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@Model.Comentario  // Razor escapa automáticamente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Headers CSP (Program.cs):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app.Use(async (ctx, next)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ctx.Response.Headers.Add(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"Content-Security-Policy",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"default-src 'self'; script-src 'self'");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next();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});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09355" y="3216275"/>
            <a:ext cx="2656205" cy="3086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❌ VULNERABLE: formulario sin token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Sitio malicioso hace POST a tu API: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&lt;form action="https://miapp.com/transferir"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method="POST"&gt;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&lt;input name="monto" value="10000"/&gt;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&lt;/form&gt;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Si usuario tiene cookie de sesión → ¡éxito!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✅ SEGURO en ASP.NET Core MVC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Automático con [ValidateAntiForgeryToken]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[HttpPost]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[ValidateAntiForgeryToken]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IActionResult Transferir(decimal monto){}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En la vista: @Html.AntiForgeryToken()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Para APIs REST: usar SameSite=Strict cookies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 Authorization: Bearer (inmune a CSRF)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164465"/>
            <a:ext cx="10798810" cy="113728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Módulo de Inicio de Sesión Empresarial</a:t>
            </a:r>
            <a:endParaRPr lang="en-US" sz="36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Capas de seguridad: desde el registro hasta el recurso protegido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5"/>
          <p:cNvSpPr/>
          <p:nvPr/>
        </p:nvSpPr>
        <p:spPr>
          <a:xfrm>
            <a:off x="520700" y="1626870"/>
            <a:ext cx="5158740" cy="229997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" name="Shape 5"/>
          <p:cNvSpPr/>
          <p:nvPr/>
        </p:nvSpPr>
        <p:spPr>
          <a:xfrm>
            <a:off x="6313805" y="1626870"/>
            <a:ext cx="5158740" cy="229997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" name="Shape 5"/>
          <p:cNvSpPr/>
          <p:nvPr/>
        </p:nvSpPr>
        <p:spPr>
          <a:xfrm>
            <a:off x="520700" y="4251960"/>
            <a:ext cx="5158740" cy="229997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13805" y="4251960"/>
            <a:ext cx="5158740" cy="229997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406" y="4496943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Middleware de autenticación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7771" y="1785493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Registro de usuario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0251" y="1785493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764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Inicio de sesión (Login)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9616" y="4400423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A1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Autorización y acceso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V="1">
            <a:off x="520700" y="1598295"/>
            <a:ext cx="5158740" cy="76200"/>
          </a:xfrm>
          <a:prstGeom prst="rect">
            <a:avLst/>
          </a:prstGeom>
          <a:solidFill>
            <a:srgbClr val="00B4F0"/>
          </a:solidFill>
        </p:spPr>
        <p:txBody>
          <a:bodyPr/>
          <a:p>
            <a:endParaRPr lang="es-ES" altLang="en-US"/>
          </a:p>
        </p:txBody>
      </p:sp>
      <p:sp>
        <p:nvSpPr>
          <p:cNvPr id="14" name="Shape 12"/>
          <p:cNvSpPr/>
          <p:nvPr/>
        </p:nvSpPr>
        <p:spPr>
          <a:xfrm>
            <a:off x="6313805" y="1598295"/>
            <a:ext cx="5158740" cy="76200"/>
          </a:xfrm>
          <a:prstGeom prst="rect">
            <a:avLst/>
          </a:prstGeom>
          <a:solidFill>
            <a:srgbClr val="8764B8"/>
          </a:solidFill>
        </p:spPr>
        <p:txBody>
          <a:bodyPr/>
          <a:p>
            <a:endParaRPr lang="es-ES" altLang="en-US"/>
          </a:p>
        </p:txBody>
      </p:sp>
      <p:sp>
        <p:nvSpPr>
          <p:cNvPr id="21" name="Shape 19"/>
          <p:cNvSpPr/>
          <p:nvPr/>
        </p:nvSpPr>
        <p:spPr>
          <a:xfrm>
            <a:off x="520700" y="4251960"/>
            <a:ext cx="5158740" cy="76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27" name="Shape 25"/>
          <p:cNvSpPr/>
          <p:nvPr/>
        </p:nvSpPr>
        <p:spPr>
          <a:xfrm>
            <a:off x="6313805" y="4251960"/>
            <a:ext cx="5158740" cy="76200"/>
          </a:xfrm>
          <a:prstGeom prst="rect">
            <a:avLst/>
          </a:prstGeom>
          <a:solidFill>
            <a:srgbClr val="13A10E"/>
          </a:solidFill>
        </p:spPr>
      </p:sp>
      <p:sp>
        <p:nvSpPr>
          <p:cNvPr id="12" name="Text 10"/>
          <p:cNvSpPr/>
          <p:nvPr/>
        </p:nvSpPr>
        <p:spPr>
          <a:xfrm>
            <a:off x="708025" y="2386330"/>
            <a:ext cx="4719955" cy="102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Validar email con regex + confirmación por correo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Hash de contraseña con BCrypt (workFactor 12)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Almacenar sólo el hash — nunca la contraseña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Rate limiting: máx 5 registros/IP/hor</a:t>
            </a: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79870" y="2268220"/>
            <a:ext cx="4852035" cy="139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Buscar usuario por email (Dictionary O(1) en cache)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BCrypt.Verify() — tiempo constante, anti timing-attack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Generar JWT (1h) + Refresh Token (7d) — HttpOnly cookie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Bloqueo tras 5 intentos fallidos (cuenta + IP)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" y="4862830"/>
            <a:ext cx="4718685" cy="139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UseAuthentication() valida JWT en cada request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Verifica firma, issuer, audience, expiración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Renueva token con Refresh Token transparentemente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Revocación: blacklist de JTI en Redis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81470" y="4838700"/>
            <a:ext cx="4477385" cy="139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UseAuthorization() aplica políticas RBAC / Claims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Auditoría: loguear cada acceso a recurso sensible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HTTPS obligatorio (UseHsts + UseHttpsRedirection)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CSP headers, X-Frame-Options, Referrer-Policy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374015"/>
            <a:ext cx="10798810" cy="57277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Implementación integrada — Program.cs configuración de seguridad</a:t>
            </a:r>
            <a:endParaRPr lang="en-US" sz="2400" dirty="0"/>
          </a:p>
          <a:p>
            <a:pPr marL="0" indent="0">
              <a:buNone/>
            </a:pPr>
            <a:endParaRPr lang="en-US" altLang="en-US" sz="24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5"/>
          <p:cNvSpPr/>
          <p:nvPr/>
        </p:nvSpPr>
        <p:spPr>
          <a:xfrm>
            <a:off x="274320" y="1078230"/>
            <a:ext cx="6626860" cy="557212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" name="Shape 5"/>
          <p:cNvSpPr/>
          <p:nvPr/>
        </p:nvSpPr>
        <p:spPr>
          <a:xfrm>
            <a:off x="7101205" y="1078865"/>
            <a:ext cx="4512310" cy="557149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1815" y="1078865"/>
            <a:ext cx="5968365" cy="5572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Program.cs — Configuración de seguridad completa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1. Autenticación JWT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builder.Services.AddAuthentication(JwtBearerDefaults.AuthenticationScheme)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.AddJwtBearer(o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o.TokenValidationParameters = new()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ValidateIssuerSigningKey =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IssuerSigningKey = new SymmetricSecurityKey(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Encoding.UTF8.GetBytes(config["Jwt:Key"]!)),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ValidIssuer   = config["Jwt:Issuer"],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ValidAudience = config["Jwt:Audience"],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ClockSkew     = TimeSpan.Zero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2. Autorización con políticas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builder.Services.AddAuthorization(o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o.AddPolicy("Admin",    p =&gt; p.RequireRole("Admin"));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o.AddPolicy("PuedeLeer",p =&gt; p.RequireClaim("permission","read"));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3. Rate Limiting (.NET 7+)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builder.Services.AddRateLimiter(o =&gt;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o.AddFixedWindowLimiter("login", opt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opt.PermitLimit    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opt.Window          = TimeSpan.FromMinutes(1);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opt.QueueLimit     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app = builder.Build();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4. Pipeline de seguridad (ORDEN IMPORTA)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app.UseHttpsRedirection();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app.UseHsts();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app.UseAuthentication();   // ← antes de Authorization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app.UseAuthorization();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app.UseRateLimiter();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app.MapControllers();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app.Run();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60285" y="1291590"/>
            <a:ext cx="3637280" cy="4766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Endpoint Login completo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[HttpPost("login")]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[EnableRateLimiting("login")]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async Task&lt;IActionResult&gt; Login(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[FromBody] LoginDto dto)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var user = await _repo.FindByEmailAsync(dto.Email);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(user is null || !BCrypt.Verify(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dto.Password, user.PasswordHash))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Unauthorized("Credenciales inválidas");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var token        = _jwt.Generar(user);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var refreshToken = _jwt.GenerarRefresh(user);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RefreshToken en HttpOnly cookie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Response.Cookies.Append("refresh_token",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refreshToken, new CookieOptions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HttpOnly =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Secure   =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SameSite = SameSiteMode.Strict,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Expires  = DateTimeOffset.UtcNow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  .AddDays(7)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Ok(new { token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-635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499745" y="302260"/>
            <a:ext cx="4132580" cy="66738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CONCLUSIONES</a:t>
            </a:r>
            <a:endParaRPr lang="es-ES" altLang="en-US" sz="36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4"/>
          <p:cNvSpPr/>
          <p:nvPr/>
        </p:nvSpPr>
        <p:spPr>
          <a:xfrm>
            <a:off x="727075" y="1149985"/>
            <a:ext cx="4966335" cy="159258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" name="Shape 4"/>
          <p:cNvSpPr/>
          <p:nvPr/>
        </p:nvSpPr>
        <p:spPr>
          <a:xfrm>
            <a:off x="727075" y="2994660"/>
            <a:ext cx="4966335" cy="159258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4" name="Shape 4"/>
          <p:cNvSpPr/>
          <p:nvPr/>
        </p:nvSpPr>
        <p:spPr>
          <a:xfrm>
            <a:off x="727075" y="4838700"/>
            <a:ext cx="4966335" cy="159258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355080" y="1097915"/>
            <a:ext cx="4966335" cy="159258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354445" y="3038475"/>
            <a:ext cx="4966335" cy="159258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6354445" y="4839335"/>
            <a:ext cx="4966335" cy="1592580"/>
          </a:xfrm>
          <a:prstGeom prst="rect">
            <a:avLst/>
          </a:prstGeom>
          <a:solidFill>
            <a:srgbClr val="0F1E35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727075" y="1085850"/>
            <a:ext cx="4966335" cy="76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13" name="Shape 11"/>
          <p:cNvSpPr/>
          <p:nvPr/>
        </p:nvSpPr>
        <p:spPr>
          <a:xfrm>
            <a:off x="6354445" y="1097915"/>
            <a:ext cx="4966335" cy="76200"/>
          </a:xfrm>
          <a:prstGeom prst="rect">
            <a:avLst/>
          </a:prstGeom>
          <a:solidFill>
            <a:srgbClr val="00B4F0"/>
          </a:solidFill>
        </p:spPr>
      </p:sp>
      <p:sp>
        <p:nvSpPr>
          <p:cNvPr id="25" name="Shape 23"/>
          <p:cNvSpPr/>
          <p:nvPr/>
        </p:nvSpPr>
        <p:spPr>
          <a:xfrm>
            <a:off x="6354445" y="2974975"/>
            <a:ext cx="4966335" cy="76200"/>
          </a:xfrm>
          <a:prstGeom prst="rect">
            <a:avLst/>
          </a:prstGeom>
          <a:solidFill>
            <a:srgbClr val="00BCF2"/>
          </a:solidFill>
        </p:spPr>
        <p:txBody>
          <a:bodyPr/>
          <a:p>
            <a:endParaRPr lang="es-ES" altLang="en-US"/>
          </a:p>
        </p:txBody>
      </p:sp>
      <p:sp>
        <p:nvSpPr>
          <p:cNvPr id="37" name="Shape 35"/>
          <p:cNvSpPr/>
          <p:nvPr/>
        </p:nvSpPr>
        <p:spPr>
          <a:xfrm>
            <a:off x="6354445" y="4852035"/>
            <a:ext cx="4966970" cy="76200"/>
          </a:xfrm>
          <a:prstGeom prst="rect">
            <a:avLst/>
          </a:prstGeom>
          <a:solidFill>
            <a:srgbClr val="FFB900"/>
          </a:solidFill>
        </p:spPr>
        <p:txBody>
          <a:bodyPr/>
          <a:p>
            <a:endParaRPr lang="es-ES" altLang="en-US"/>
          </a:p>
        </p:txBody>
      </p:sp>
      <p:sp>
        <p:nvSpPr>
          <p:cNvPr id="19" name="Shape 17"/>
          <p:cNvSpPr/>
          <p:nvPr/>
        </p:nvSpPr>
        <p:spPr>
          <a:xfrm>
            <a:off x="727075" y="2962275"/>
            <a:ext cx="4966335" cy="76200"/>
          </a:xfrm>
          <a:prstGeom prst="rect">
            <a:avLst/>
          </a:prstGeom>
          <a:solidFill>
            <a:srgbClr val="8764B8"/>
          </a:solidFill>
        </p:spPr>
        <p:txBody>
          <a:bodyPr/>
          <a:p>
            <a:endParaRPr lang="es-ES" altLang="en-US"/>
          </a:p>
        </p:txBody>
      </p:sp>
      <p:sp>
        <p:nvSpPr>
          <p:cNvPr id="31" name="Shape 29"/>
          <p:cNvSpPr/>
          <p:nvPr/>
        </p:nvSpPr>
        <p:spPr>
          <a:xfrm>
            <a:off x="727075" y="4839335"/>
            <a:ext cx="4966335" cy="76200"/>
          </a:xfrm>
          <a:prstGeom prst="rect">
            <a:avLst/>
          </a:prstGeom>
          <a:solidFill>
            <a:srgbClr val="13A10E"/>
          </a:solidFill>
        </p:spPr>
      </p:sp>
      <p:sp>
        <p:nvSpPr>
          <p:cNvPr id="12" name="Text 8"/>
          <p:cNvSpPr/>
          <p:nvPr/>
        </p:nvSpPr>
        <p:spPr>
          <a:xfrm>
            <a:off x="1130300" y="1230630"/>
            <a:ext cx="429196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Autenticación y autorización son independientes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30300" y="1610360"/>
            <a:ext cx="4080510" cy="903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ASP.NET Core separa ambos middlewares: UseAuthentication() establece identidad y UseAuthorization() aplica políticas. Esta separación permite reemplazar o extender cada capa sin afectar la otra.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0300" y="3154680"/>
            <a:ext cx="408114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OAuth 2.0 resuelve la delegación de acceso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0300" y="3563620"/>
            <a:ext cx="4080510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Authorization Code Flow para usuarios humanos; Client Credentials para machine-to-machine. Azure AD implementa ambos y añade PKCE para proteger el código de autorización en apps públicas.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0300" y="5031105"/>
            <a:ext cx="421830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Hash + Salt es innegociable para contraseñas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17905" y="5441315"/>
            <a:ext cx="4330065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BCrypt con workFactor 12 o PBKDF2 con 600k iteraciones hacen que un GPU tarde &gt;1s por intento. Esto hace inviables los ataques de fuerza bruta y rainbow tables a escala.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22440" y="1230630"/>
            <a:ext cx="397002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 es el estándar de facto para APIs REST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93840" y="1671320"/>
            <a:ext cx="4389755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 estructura stateless (Header.Payload.Signature) elimina sesiones en servidor. La firma HS256/RS256 garantiza integridad. Expiración corta (1h) + Refresh Token (7d) balancea seguridad y UX.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22440" y="3179445"/>
            <a:ext cx="409321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RBAC para jerarquías, Claims para granularidad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08140" y="3569970"/>
            <a:ext cx="4276090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Roles son simples y eficientes para acceso por departamento. Claims permiten autorización contextual (región, plan, feature flags), ideal para multi-tenant y SaaS empresarial.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22440" y="5031105"/>
            <a:ext cx="423418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Defensa en profundidad contra SQLi, XSS y CSRF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23075" y="5518150"/>
            <a:ext cx="4312285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 Core + consultas parametrizadas eliminan SQLi. Razor escapa por defecto el XSS. JWT Bearer con SameSite=Strict neutraliza CSRF. La seguridad debe aplicarse en todas las capas simultáneamente.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 descr="autenticacio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6" name="Rectángulos 5"/>
          <p:cNvSpPr/>
          <p:nvPr/>
        </p:nvSpPr>
        <p:spPr>
          <a:xfrm>
            <a:off x="0" y="-635"/>
            <a:ext cx="1219327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499745" y="302260"/>
            <a:ext cx="4132580" cy="66738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BIBLIOGRAFIA</a:t>
            </a:r>
            <a:endParaRPr lang="es-ES" altLang="en-US" sz="36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5"/>
          <p:cNvSpPr/>
          <p:nvPr/>
        </p:nvSpPr>
        <p:spPr>
          <a:xfrm>
            <a:off x="335915" y="1111885"/>
            <a:ext cx="10927715" cy="510540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" name="Text 5"/>
          <p:cNvSpPr/>
          <p:nvPr/>
        </p:nvSpPr>
        <p:spPr>
          <a:xfrm>
            <a:off x="929132" y="135280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Microsoft. (2024). Authentication and authorization in ASP.NET Core. Microsoft Docs.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29005" y="1882775"/>
            <a:ext cx="5166995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Microsoft. (2024). JSON Web Tokens in ASP.NET Core — AddJwtBearer. Microsoft Docs.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9132" y="241274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IETF. (2012). RFC 6749 — The OAuth 2.0 Authorization Framework.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9132" y="2942717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IETF. (2015). RFC 7519 — JSON Web Token (JWT).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9132" y="3472688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OWASP. (2024). OWASP Top Ten — Web Application Security Risks.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9132" y="4002659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NIST. (2023). SP 800-132 — Recommendation for Password-Based Key Derivation.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9132" y="453263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Microsoft. (2024). Microsoft identity platform and OAuth 2.0. Azure AD Docs.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9132" y="506196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BCrypt.Net-Next. (2024). BCrypt.Net-Next NuGet Package Documentation.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9132" y="5593207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Bishop, M. (2018). Computer Security: Art and Science, 2nd ed. Addison-Wesley.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67753" y="1352677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https://learn.microsoft.com/en-us/aspnet/core/security/authentication/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67753" y="18826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https://learn.microsoft.com/en-us/aspnet/core/security/authentication/jwt-authn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67753" y="241325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https://datatracker.ietf.org/doc/html/rfc6749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67753" y="2943225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https://datatracker.ietf.org/doc/html/rfc7519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67753" y="347319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https://owasp.org/www-project-top-ten/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67753" y="40736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https://csrc.nist.gov/publications/detail/sp/800-132/final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67753" y="4533773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https://learn.microsoft.com/en-us/azure/active-directory/develop/v2-oauth2-auth-code-flow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67753" y="506437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https://github.com/BcryptNet/bcrypt.net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167753" y="559435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https://www.pearson.com/en-us/subject-catalog/p/computer-security/P200000003498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12320</Words>
  <Application>WPS Presentation</Application>
  <PresentationFormat>宽屏</PresentationFormat>
  <Paragraphs>474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Bahnschrift</vt:lpstr>
      <vt:lpstr>Arial Rounded MT Bold</vt:lpstr>
      <vt:lpstr>Calibri</vt:lpstr>
      <vt:lpstr>Arial Black</vt:lpstr>
      <vt:lpstr>Arial Black</vt:lpstr>
      <vt:lpstr>Arial Black</vt:lpstr>
      <vt:lpstr>Arial</vt:lpstr>
      <vt:lpstr>Arial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Usuario</dc:creator>
  <cp:lastModifiedBy>Usuario</cp:lastModifiedBy>
  <cp:revision>4</cp:revision>
  <dcterms:created xsi:type="dcterms:W3CDTF">2025-07-23T00:59:00Z</dcterms:created>
  <dcterms:modified xsi:type="dcterms:W3CDTF">2026-05-03T23:07:18Z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3082-12.1.0.25862</vt:lpwstr>
  </property>
  <property fmtid="{D5CDD505-2E9C-101B-9397-08002B2CF9AE}" pid="3" name="ICV">
    <vt:lpwstr>0EAF5FD5FD9F4A0F823ADDC8617EDFA9_11</vt:lpwstr>
  </property>
</Properties>
</file>