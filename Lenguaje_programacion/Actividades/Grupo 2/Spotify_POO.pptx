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1914" y="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798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A5C2A"/>
          </a:solidFill>
          <a:ln w="12700">
            <a:solidFill>
              <a:srgbClr val="0A5C2A"/>
            </a:solidFill>
            <a:prstDash val="solid"/>
          </a:ln>
        </p:spPr>
        <p:txBody>
          <a:bodyPr/>
          <a:lstStyle/>
          <a:p>
            <a:endParaRPr lang="es-PE"/>
          </a:p>
        </p:txBody>
      </p:sp>
      <p:sp>
        <p:nvSpPr>
          <p:cNvPr id="3" name="Shape 1"/>
          <p:cNvSpPr/>
          <p:nvPr/>
        </p:nvSpPr>
        <p:spPr>
          <a:xfrm>
            <a:off x="0" y="0"/>
            <a:ext cx="3474720" cy="5143500"/>
          </a:xfrm>
          <a:prstGeom prst="rect">
            <a:avLst/>
          </a:prstGeom>
          <a:solidFill>
            <a:srgbClr val="158A3E"/>
          </a:solidFill>
          <a:ln w="12700">
            <a:solidFill>
              <a:srgbClr val="158A3E"/>
            </a:solidFill>
            <a:prstDash val="solid"/>
          </a:ln>
        </p:spPr>
        <p:txBody>
          <a:bodyPr/>
          <a:lstStyle/>
          <a:p>
            <a:endParaRPr lang="es-PE"/>
          </a:p>
        </p:txBody>
      </p:sp>
      <p:sp>
        <p:nvSpPr>
          <p:cNvPr id="4" name="Shape 2"/>
          <p:cNvSpPr/>
          <p:nvPr/>
        </p:nvSpPr>
        <p:spPr>
          <a:xfrm>
            <a:off x="3474720" y="0"/>
            <a:ext cx="109728" cy="5143500"/>
          </a:xfrm>
          <a:prstGeom prst="rect">
            <a:avLst/>
          </a:prstGeom>
          <a:solidFill>
            <a:srgbClr val="1DB954"/>
          </a:solidFill>
          <a:ln w="12700">
            <a:solidFill>
              <a:srgbClr val="1DB954"/>
            </a:solidFill>
            <a:prstDash val="solid"/>
          </a:ln>
        </p:spPr>
        <p:txBody>
          <a:bodyPr/>
          <a:lstStyle/>
          <a:p>
            <a:endParaRPr lang="es-PE"/>
          </a:p>
        </p:txBody>
      </p:sp>
      <p:sp>
        <p:nvSpPr>
          <p:cNvPr id="5" name="Shape 3"/>
          <p:cNvSpPr/>
          <p:nvPr/>
        </p:nvSpPr>
        <p:spPr>
          <a:xfrm>
            <a:off x="320040" y="384048"/>
            <a:ext cx="2560320" cy="621792"/>
          </a:xfrm>
          <a:prstGeom prst="rect">
            <a:avLst/>
          </a:prstGeom>
          <a:solidFill>
            <a:srgbClr val="1DB954"/>
          </a:solidFill>
          <a:ln w="12700">
            <a:solidFill>
              <a:srgbClr val="1DB954"/>
            </a:solidFill>
            <a:prstDash val="solid"/>
          </a:ln>
        </p:spPr>
        <p:txBody>
          <a:bodyPr/>
          <a:lstStyle/>
          <a:p>
            <a:endParaRPr lang="es-PE"/>
          </a:p>
        </p:txBody>
      </p:sp>
      <p:sp>
        <p:nvSpPr>
          <p:cNvPr id="6" name="Text 4"/>
          <p:cNvSpPr/>
          <p:nvPr/>
        </p:nvSpPr>
        <p:spPr>
          <a:xfrm>
            <a:off x="320040" y="384048"/>
            <a:ext cx="2560320" cy="621792"/>
          </a:xfrm>
          <a:prstGeom prst="rect">
            <a:avLst/>
          </a:prstGeom>
          <a:noFill/>
          <a:ln/>
        </p:spPr>
        <p:txBody>
          <a:bodyPr wrap="square" lIns="0" tIns="0" rIns="0" bIns="0" rtlCol="0" anchor="ctr"/>
          <a:lstStyle/>
          <a:p>
            <a:pPr marL="0" indent="0" algn="ctr">
              <a:buNone/>
            </a:pPr>
            <a:r>
              <a:rPr lang="en-US" sz="2200" b="1" dirty="0">
                <a:solidFill>
                  <a:srgbClr val="0D1117"/>
                </a:solidFill>
                <a:latin typeface="Trebuchet MS" pitchFamily="34" charset="0"/>
                <a:ea typeface="Trebuchet MS" pitchFamily="34" charset="-122"/>
                <a:cs typeface="Trebuchet MS" pitchFamily="34" charset="-120"/>
              </a:rPr>
              <a:t>Spotify</a:t>
            </a:r>
            <a:endParaRPr lang="en-US" sz="2200" dirty="0"/>
          </a:p>
        </p:txBody>
      </p:sp>
      <p:sp>
        <p:nvSpPr>
          <p:cNvPr id="7" name="Text 5"/>
          <p:cNvSpPr/>
          <p:nvPr/>
        </p:nvSpPr>
        <p:spPr>
          <a:xfrm>
            <a:off x="256032" y="1170432"/>
            <a:ext cx="3017520" cy="1645920"/>
          </a:xfrm>
          <a:prstGeom prst="rect">
            <a:avLst/>
          </a:prstGeom>
          <a:noFill/>
          <a:ln/>
        </p:spPr>
        <p:txBody>
          <a:bodyPr wrap="square" lIns="0" tIns="0" rIns="0" bIns="0" rtlCol="0" anchor="t"/>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POO y Patrones</a:t>
            </a:r>
            <a:endParaRPr lang="en-US" sz="2800" dirty="0"/>
          </a:p>
          <a:p>
            <a:pPr marL="0" indent="0" algn="l">
              <a:buNone/>
            </a:pPr>
            <a:r>
              <a:rPr lang="en-US" sz="2800" b="1" dirty="0">
                <a:solidFill>
                  <a:srgbClr val="FFFFFF"/>
                </a:solidFill>
                <a:latin typeface="Trebuchet MS" pitchFamily="34" charset="0"/>
                <a:ea typeface="Trebuchet MS" pitchFamily="34" charset="-122"/>
                <a:cs typeface="Trebuchet MS" pitchFamily="34" charset="-120"/>
              </a:rPr>
              <a:t>de Diseño</a:t>
            </a:r>
            <a:endParaRPr lang="en-US" sz="2800" dirty="0"/>
          </a:p>
        </p:txBody>
      </p:sp>
      <p:sp>
        <p:nvSpPr>
          <p:cNvPr id="8" name="Text 6"/>
          <p:cNvSpPr/>
          <p:nvPr/>
        </p:nvSpPr>
        <p:spPr>
          <a:xfrm>
            <a:off x="256032" y="2788920"/>
            <a:ext cx="3017520" cy="548640"/>
          </a:xfrm>
          <a:prstGeom prst="rect">
            <a:avLst/>
          </a:prstGeom>
          <a:noFill/>
          <a:ln/>
        </p:spPr>
        <p:txBody>
          <a:bodyPr wrap="square" lIns="0" tIns="0" rIns="0" bIns="0" rtlCol="0" anchor="t"/>
          <a:lstStyle/>
          <a:p>
            <a:pPr marL="0" indent="0" algn="l">
              <a:buNone/>
            </a:pPr>
            <a:r>
              <a:rPr lang="en-US" sz="2200" b="1" dirty="0">
                <a:solidFill>
                  <a:srgbClr val="1DB954"/>
                </a:solidFill>
                <a:latin typeface="Trebuchet MS" pitchFamily="34" charset="0"/>
                <a:ea typeface="Trebuchet MS" pitchFamily="34" charset="-122"/>
                <a:cs typeface="Trebuchet MS" pitchFamily="34" charset="-120"/>
              </a:rPr>
              <a:t>en C#</a:t>
            </a:r>
            <a:endParaRPr lang="en-US" sz="2200" dirty="0"/>
          </a:p>
        </p:txBody>
      </p:sp>
      <p:sp>
        <p:nvSpPr>
          <p:cNvPr id="9" name="Text 7"/>
          <p:cNvSpPr/>
          <p:nvPr/>
        </p:nvSpPr>
        <p:spPr>
          <a:xfrm>
            <a:off x="256032" y="3438144"/>
            <a:ext cx="3017520" cy="347472"/>
          </a:xfrm>
          <a:prstGeom prst="rect">
            <a:avLst/>
          </a:prstGeom>
          <a:noFill/>
          <a:ln/>
        </p:spPr>
        <p:txBody>
          <a:bodyPr wrap="square" lIns="0" tIns="0" rIns="0" bIns="0" rtlCol="0" anchor="t"/>
          <a:lstStyle/>
          <a:p>
            <a:pPr marL="0" indent="0" algn="l">
              <a:buNone/>
            </a:pPr>
            <a:r>
              <a:rPr lang="en-US" sz="1000" b="1" dirty="0">
                <a:solidFill>
                  <a:srgbClr val="0A5C2A"/>
                </a:solidFill>
                <a:latin typeface="Calibri" pitchFamily="34" charset="0"/>
                <a:ea typeface="Calibri" pitchFamily="34" charset="-122"/>
                <a:cs typeface="Calibri" pitchFamily="34" charset="-120"/>
              </a:rPr>
              <a:t>Caso 1 — Diseño Orientado a Objetos</a:t>
            </a:r>
            <a:endParaRPr lang="en-US" sz="1000" dirty="0"/>
          </a:p>
        </p:txBody>
      </p:sp>
      <p:sp>
        <p:nvSpPr>
          <p:cNvPr id="10" name="Text 8"/>
          <p:cNvSpPr/>
          <p:nvPr/>
        </p:nvSpPr>
        <p:spPr>
          <a:xfrm>
            <a:off x="3840480" y="182880"/>
            <a:ext cx="4846320" cy="274320"/>
          </a:xfrm>
          <a:prstGeom prst="rect">
            <a:avLst/>
          </a:prstGeom>
          <a:noFill/>
          <a:ln/>
        </p:spPr>
        <p:txBody>
          <a:bodyPr wrap="square" lIns="0" tIns="0" rIns="0" bIns="0" rtlCol="0" anchor="t"/>
          <a:lstStyle/>
          <a:p>
            <a:pPr marL="0" indent="0" algn="l">
              <a:buNone/>
            </a:pPr>
            <a:r>
              <a:rPr lang="en-US" sz="1000" b="1" dirty="0">
                <a:solidFill>
                  <a:srgbClr val="8B949E"/>
                </a:solidFill>
                <a:latin typeface="Calibri" pitchFamily="34" charset="0"/>
                <a:ea typeface="Calibri" pitchFamily="34" charset="-122"/>
                <a:cs typeface="Calibri" pitchFamily="34" charset="-120"/>
              </a:rPr>
              <a:t>Temas del caso</a:t>
            </a:r>
            <a:endParaRPr lang="en-US" sz="1000" dirty="0"/>
          </a:p>
        </p:txBody>
      </p:sp>
      <p:sp>
        <p:nvSpPr>
          <p:cNvPr id="11" name="Shape 9"/>
          <p:cNvSpPr/>
          <p:nvPr/>
        </p:nvSpPr>
        <p:spPr>
          <a:xfrm>
            <a:off x="3840480" y="475488"/>
            <a:ext cx="4846320" cy="27432"/>
          </a:xfrm>
          <a:prstGeom prst="rect">
            <a:avLst/>
          </a:prstGeom>
          <a:solidFill>
            <a:srgbClr val="30363D"/>
          </a:solidFill>
          <a:ln w="12700">
            <a:solidFill>
              <a:srgbClr val="30363D"/>
            </a:solidFill>
            <a:prstDash val="solid"/>
          </a:ln>
        </p:spPr>
        <p:txBody>
          <a:bodyPr/>
          <a:lstStyle/>
          <a:p>
            <a:endParaRPr lang="es-PE"/>
          </a:p>
        </p:txBody>
      </p:sp>
      <p:sp>
        <p:nvSpPr>
          <p:cNvPr id="12" name="Shape 10"/>
          <p:cNvSpPr/>
          <p:nvPr/>
        </p:nvSpPr>
        <p:spPr>
          <a:xfrm>
            <a:off x="3840480" y="566928"/>
            <a:ext cx="2423160" cy="731520"/>
          </a:xfrm>
          <a:prstGeom prst="rect">
            <a:avLst/>
          </a:prstGeom>
          <a:solidFill>
            <a:srgbClr val="161B22"/>
          </a:solidFill>
          <a:ln w="12700">
            <a:solidFill>
              <a:srgbClr val="30363D"/>
            </a:solidFill>
            <a:prstDash val="solid"/>
          </a:ln>
        </p:spPr>
        <p:txBody>
          <a:bodyPr/>
          <a:lstStyle/>
          <a:p>
            <a:endParaRPr lang="es-PE"/>
          </a:p>
        </p:txBody>
      </p:sp>
      <p:sp>
        <p:nvSpPr>
          <p:cNvPr id="13" name="Shape 11"/>
          <p:cNvSpPr/>
          <p:nvPr/>
        </p:nvSpPr>
        <p:spPr>
          <a:xfrm>
            <a:off x="3840480" y="566928"/>
            <a:ext cx="329184" cy="731520"/>
          </a:xfrm>
          <a:prstGeom prst="rect">
            <a:avLst/>
          </a:prstGeom>
          <a:solidFill>
            <a:srgbClr val="1DB954"/>
          </a:solidFill>
          <a:ln w="12700">
            <a:solidFill>
              <a:srgbClr val="1DB954"/>
            </a:solidFill>
            <a:prstDash val="solid"/>
          </a:ln>
        </p:spPr>
        <p:txBody>
          <a:bodyPr/>
          <a:lstStyle/>
          <a:p>
            <a:endParaRPr lang="es-PE"/>
          </a:p>
        </p:txBody>
      </p:sp>
      <p:sp>
        <p:nvSpPr>
          <p:cNvPr id="14" name="Text 12"/>
          <p:cNvSpPr/>
          <p:nvPr/>
        </p:nvSpPr>
        <p:spPr>
          <a:xfrm>
            <a:off x="3840480" y="566928"/>
            <a:ext cx="329184" cy="731520"/>
          </a:xfrm>
          <a:prstGeom prst="rect">
            <a:avLst/>
          </a:prstGeom>
          <a:noFill/>
          <a:ln/>
        </p:spPr>
        <p:txBody>
          <a:bodyPr wrap="square" lIns="0" tIns="0" rIns="0" bIns="0" rtlCol="0" anchor="ctr"/>
          <a:lstStyle/>
          <a:p>
            <a:pPr marL="0" indent="0" algn="ctr">
              <a:buNone/>
            </a:pPr>
            <a:r>
              <a:rPr lang="en-US" sz="1000" b="1" dirty="0">
                <a:solidFill>
                  <a:srgbClr val="0D1117"/>
                </a:solidFill>
                <a:latin typeface="Calibri" pitchFamily="34" charset="0"/>
                <a:ea typeface="Calibri" pitchFamily="34" charset="-122"/>
                <a:cs typeface="Calibri" pitchFamily="34" charset="-120"/>
              </a:rPr>
              <a:t>01</a:t>
            </a:r>
            <a:endParaRPr lang="en-US" sz="1000" dirty="0"/>
          </a:p>
        </p:txBody>
      </p:sp>
      <p:sp>
        <p:nvSpPr>
          <p:cNvPr id="15" name="Text 13"/>
          <p:cNvSpPr/>
          <p:nvPr/>
        </p:nvSpPr>
        <p:spPr>
          <a:xfrm>
            <a:off x="4261104" y="749808"/>
            <a:ext cx="1920240" cy="347472"/>
          </a:xfrm>
          <a:prstGeom prst="rect">
            <a:avLst/>
          </a:prstGeom>
          <a:noFill/>
          <a:ln/>
        </p:spPr>
        <p:txBody>
          <a:bodyPr wrap="square" lIns="0" tIns="0" rIns="0" bIns="0" rtlCol="0" anchor="ctr"/>
          <a:lstStyle/>
          <a:p>
            <a:pPr marL="0" indent="0" algn="l">
              <a:buNone/>
            </a:pPr>
            <a:r>
              <a:rPr lang="en-US" sz="1050" dirty="0">
                <a:solidFill>
                  <a:srgbClr val="CDD9E5"/>
                </a:solidFill>
                <a:latin typeface="Calibri" pitchFamily="34" charset="0"/>
                <a:ea typeface="Calibri" pitchFamily="34" charset="-122"/>
                <a:cs typeface="Calibri" pitchFamily="34" charset="-120"/>
              </a:rPr>
              <a:t>Principios SOLID</a:t>
            </a:r>
            <a:endParaRPr lang="en-US" sz="1050" dirty="0"/>
          </a:p>
        </p:txBody>
      </p:sp>
      <p:sp>
        <p:nvSpPr>
          <p:cNvPr id="16" name="Shape 14"/>
          <p:cNvSpPr/>
          <p:nvPr/>
        </p:nvSpPr>
        <p:spPr>
          <a:xfrm>
            <a:off x="3840480" y="1444752"/>
            <a:ext cx="2423160" cy="731520"/>
          </a:xfrm>
          <a:prstGeom prst="rect">
            <a:avLst/>
          </a:prstGeom>
          <a:solidFill>
            <a:srgbClr val="161B22"/>
          </a:solidFill>
          <a:ln w="12700">
            <a:solidFill>
              <a:srgbClr val="30363D"/>
            </a:solidFill>
            <a:prstDash val="solid"/>
          </a:ln>
        </p:spPr>
        <p:txBody>
          <a:bodyPr/>
          <a:lstStyle/>
          <a:p>
            <a:endParaRPr lang="es-PE"/>
          </a:p>
        </p:txBody>
      </p:sp>
      <p:sp>
        <p:nvSpPr>
          <p:cNvPr id="17" name="Shape 15"/>
          <p:cNvSpPr/>
          <p:nvPr/>
        </p:nvSpPr>
        <p:spPr>
          <a:xfrm>
            <a:off x="3840480" y="1444752"/>
            <a:ext cx="329184" cy="731520"/>
          </a:xfrm>
          <a:prstGeom prst="rect">
            <a:avLst/>
          </a:prstGeom>
          <a:solidFill>
            <a:srgbClr val="388BFD"/>
          </a:solidFill>
          <a:ln w="12700">
            <a:solidFill>
              <a:srgbClr val="388BFD"/>
            </a:solidFill>
            <a:prstDash val="solid"/>
          </a:ln>
        </p:spPr>
        <p:txBody>
          <a:bodyPr/>
          <a:lstStyle/>
          <a:p>
            <a:endParaRPr lang="es-PE"/>
          </a:p>
        </p:txBody>
      </p:sp>
      <p:sp>
        <p:nvSpPr>
          <p:cNvPr id="18" name="Text 16"/>
          <p:cNvSpPr/>
          <p:nvPr/>
        </p:nvSpPr>
        <p:spPr>
          <a:xfrm>
            <a:off x="3840480" y="1444752"/>
            <a:ext cx="329184" cy="731520"/>
          </a:xfrm>
          <a:prstGeom prst="rect">
            <a:avLst/>
          </a:prstGeom>
          <a:noFill/>
          <a:ln/>
        </p:spPr>
        <p:txBody>
          <a:bodyPr wrap="square" lIns="0" tIns="0" rIns="0" bIns="0" rtlCol="0" anchor="ctr"/>
          <a:lstStyle/>
          <a:p>
            <a:pPr marL="0" indent="0" algn="ctr">
              <a:buNone/>
            </a:pPr>
            <a:r>
              <a:rPr lang="en-US" sz="1000" b="1" dirty="0">
                <a:solidFill>
                  <a:srgbClr val="0D1117"/>
                </a:solidFill>
                <a:latin typeface="Calibri" pitchFamily="34" charset="0"/>
                <a:ea typeface="Calibri" pitchFamily="34" charset="-122"/>
                <a:cs typeface="Calibri" pitchFamily="34" charset="-120"/>
              </a:rPr>
              <a:t>02</a:t>
            </a:r>
            <a:endParaRPr lang="en-US" sz="1000" dirty="0"/>
          </a:p>
        </p:txBody>
      </p:sp>
      <p:sp>
        <p:nvSpPr>
          <p:cNvPr id="19" name="Text 17"/>
          <p:cNvSpPr/>
          <p:nvPr/>
        </p:nvSpPr>
        <p:spPr>
          <a:xfrm>
            <a:off x="4261104" y="1627632"/>
            <a:ext cx="1920240" cy="347472"/>
          </a:xfrm>
          <a:prstGeom prst="rect">
            <a:avLst/>
          </a:prstGeom>
          <a:noFill/>
          <a:ln/>
        </p:spPr>
        <p:txBody>
          <a:bodyPr wrap="square" lIns="0" tIns="0" rIns="0" bIns="0" rtlCol="0" anchor="ctr"/>
          <a:lstStyle/>
          <a:p>
            <a:pPr marL="0" indent="0" algn="l">
              <a:buNone/>
            </a:pPr>
            <a:r>
              <a:rPr lang="en-US" sz="1050" dirty="0">
                <a:solidFill>
                  <a:srgbClr val="CDD9E5"/>
                </a:solidFill>
                <a:latin typeface="Calibri" pitchFamily="34" charset="0"/>
                <a:ea typeface="Calibri" pitchFamily="34" charset="-122"/>
                <a:cs typeface="Calibri" pitchFamily="34" charset="-120"/>
              </a:rPr>
              <a:t>Jerarquía de Clases</a:t>
            </a:r>
            <a:endParaRPr lang="en-US" sz="1050" dirty="0"/>
          </a:p>
        </p:txBody>
      </p:sp>
      <p:sp>
        <p:nvSpPr>
          <p:cNvPr id="20" name="Shape 18"/>
          <p:cNvSpPr/>
          <p:nvPr/>
        </p:nvSpPr>
        <p:spPr>
          <a:xfrm>
            <a:off x="3840480" y="2322576"/>
            <a:ext cx="2423160" cy="731520"/>
          </a:xfrm>
          <a:prstGeom prst="rect">
            <a:avLst/>
          </a:prstGeom>
          <a:solidFill>
            <a:srgbClr val="161B22"/>
          </a:solidFill>
          <a:ln w="12700">
            <a:solidFill>
              <a:srgbClr val="30363D"/>
            </a:solidFill>
            <a:prstDash val="solid"/>
          </a:ln>
        </p:spPr>
        <p:txBody>
          <a:bodyPr/>
          <a:lstStyle/>
          <a:p>
            <a:endParaRPr lang="es-PE"/>
          </a:p>
        </p:txBody>
      </p:sp>
      <p:sp>
        <p:nvSpPr>
          <p:cNvPr id="21" name="Shape 19"/>
          <p:cNvSpPr/>
          <p:nvPr/>
        </p:nvSpPr>
        <p:spPr>
          <a:xfrm>
            <a:off x="3840480" y="2322576"/>
            <a:ext cx="329184" cy="731520"/>
          </a:xfrm>
          <a:prstGeom prst="rect">
            <a:avLst/>
          </a:prstGeom>
          <a:solidFill>
            <a:srgbClr val="D29922"/>
          </a:solidFill>
          <a:ln w="12700">
            <a:solidFill>
              <a:srgbClr val="D29922"/>
            </a:solidFill>
            <a:prstDash val="solid"/>
          </a:ln>
        </p:spPr>
        <p:txBody>
          <a:bodyPr/>
          <a:lstStyle/>
          <a:p>
            <a:endParaRPr lang="es-PE"/>
          </a:p>
        </p:txBody>
      </p:sp>
      <p:sp>
        <p:nvSpPr>
          <p:cNvPr id="22" name="Text 20"/>
          <p:cNvSpPr/>
          <p:nvPr/>
        </p:nvSpPr>
        <p:spPr>
          <a:xfrm>
            <a:off x="3840480" y="2322576"/>
            <a:ext cx="329184" cy="731520"/>
          </a:xfrm>
          <a:prstGeom prst="rect">
            <a:avLst/>
          </a:prstGeom>
          <a:noFill/>
          <a:ln/>
        </p:spPr>
        <p:txBody>
          <a:bodyPr wrap="square" lIns="0" tIns="0" rIns="0" bIns="0" rtlCol="0" anchor="ctr"/>
          <a:lstStyle/>
          <a:p>
            <a:pPr marL="0" indent="0" algn="ctr">
              <a:buNone/>
            </a:pPr>
            <a:r>
              <a:rPr lang="en-US" sz="1000" b="1" dirty="0">
                <a:solidFill>
                  <a:srgbClr val="0D1117"/>
                </a:solidFill>
                <a:latin typeface="Calibri" pitchFamily="34" charset="0"/>
                <a:ea typeface="Calibri" pitchFamily="34" charset="-122"/>
                <a:cs typeface="Calibri" pitchFamily="34" charset="-120"/>
              </a:rPr>
              <a:t>03</a:t>
            </a:r>
            <a:endParaRPr lang="en-US" sz="1000" dirty="0"/>
          </a:p>
        </p:txBody>
      </p:sp>
      <p:sp>
        <p:nvSpPr>
          <p:cNvPr id="23" name="Text 21"/>
          <p:cNvSpPr/>
          <p:nvPr/>
        </p:nvSpPr>
        <p:spPr>
          <a:xfrm>
            <a:off x="4261104" y="2505456"/>
            <a:ext cx="1920240" cy="347472"/>
          </a:xfrm>
          <a:prstGeom prst="rect">
            <a:avLst/>
          </a:prstGeom>
          <a:noFill/>
          <a:ln/>
        </p:spPr>
        <p:txBody>
          <a:bodyPr wrap="square" lIns="0" tIns="0" rIns="0" bIns="0" rtlCol="0" anchor="ctr"/>
          <a:lstStyle/>
          <a:p>
            <a:pPr marL="0" indent="0" algn="l">
              <a:buNone/>
            </a:pPr>
            <a:r>
              <a:rPr lang="en-US" sz="1050" dirty="0">
                <a:solidFill>
                  <a:srgbClr val="CDD9E5"/>
                </a:solidFill>
                <a:latin typeface="Calibri" pitchFamily="34" charset="0"/>
                <a:ea typeface="Calibri" pitchFamily="34" charset="-122"/>
                <a:cs typeface="Calibri" pitchFamily="34" charset="-120"/>
              </a:rPr>
              <a:t>Patrón Observer</a:t>
            </a:r>
            <a:endParaRPr lang="en-US" sz="1050" dirty="0"/>
          </a:p>
        </p:txBody>
      </p:sp>
      <p:sp>
        <p:nvSpPr>
          <p:cNvPr id="24" name="Shape 22"/>
          <p:cNvSpPr/>
          <p:nvPr/>
        </p:nvSpPr>
        <p:spPr>
          <a:xfrm>
            <a:off x="3840480" y="3200400"/>
            <a:ext cx="2423160" cy="731520"/>
          </a:xfrm>
          <a:prstGeom prst="rect">
            <a:avLst/>
          </a:prstGeom>
          <a:solidFill>
            <a:srgbClr val="161B22"/>
          </a:solidFill>
          <a:ln w="12700">
            <a:solidFill>
              <a:srgbClr val="30363D"/>
            </a:solidFill>
            <a:prstDash val="solid"/>
          </a:ln>
        </p:spPr>
        <p:txBody>
          <a:bodyPr/>
          <a:lstStyle/>
          <a:p>
            <a:endParaRPr lang="es-PE"/>
          </a:p>
        </p:txBody>
      </p:sp>
      <p:sp>
        <p:nvSpPr>
          <p:cNvPr id="25" name="Shape 23"/>
          <p:cNvSpPr/>
          <p:nvPr/>
        </p:nvSpPr>
        <p:spPr>
          <a:xfrm>
            <a:off x="3840480" y="3200400"/>
            <a:ext cx="329184" cy="731520"/>
          </a:xfrm>
          <a:prstGeom prst="rect">
            <a:avLst/>
          </a:prstGeom>
          <a:solidFill>
            <a:srgbClr val="8957E5"/>
          </a:solidFill>
          <a:ln w="12700">
            <a:solidFill>
              <a:srgbClr val="8957E5"/>
            </a:solidFill>
            <a:prstDash val="solid"/>
          </a:ln>
        </p:spPr>
        <p:txBody>
          <a:bodyPr/>
          <a:lstStyle/>
          <a:p>
            <a:endParaRPr lang="es-PE"/>
          </a:p>
        </p:txBody>
      </p:sp>
      <p:sp>
        <p:nvSpPr>
          <p:cNvPr id="26" name="Text 24"/>
          <p:cNvSpPr/>
          <p:nvPr/>
        </p:nvSpPr>
        <p:spPr>
          <a:xfrm>
            <a:off x="3840480" y="3200400"/>
            <a:ext cx="329184" cy="731520"/>
          </a:xfrm>
          <a:prstGeom prst="rect">
            <a:avLst/>
          </a:prstGeom>
          <a:noFill/>
          <a:ln/>
        </p:spPr>
        <p:txBody>
          <a:bodyPr wrap="square" lIns="0" tIns="0" rIns="0" bIns="0" rtlCol="0" anchor="ctr"/>
          <a:lstStyle/>
          <a:p>
            <a:pPr marL="0" indent="0" algn="ctr">
              <a:buNone/>
            </a:pPr>
            <a:r>
              <a:rPr lang="en-US" sz="1000" b="1" dirty="0">
                <a:solidFill>
                  <a:srgbClr val="0D1117"/>
                </a:solidFill>
                <a:latin typeface="Calibri" pitchFamily="34" charset="0"/>
                <a:ea typeface="Calibri" pitchFamily="34" charset="-122"/>
                <a:cs typeface="Calibri" pitchFamily="34" charset="-120"/>
              </a:rPr>
              <a:t>04</a:t>
            </a:r>
            <a:endParaRPr lang="en-US" sz="1000" dirty="0"/>
          </a:p>
        </p:txBody>
      </p:sp>
      <p:sp>
        <p:nvSpPr>
          <p:cNvPr id="27" name="Text 25"/>
          <p:cNvSpPr/>
          <p:nvPr/>
        </p:nvSpPr>
        <p:spPr>
          <a:xfrm>
            <a:off x="4261104" y="3383280"/>
            <a:ext cx="1920240" cy="347472"/>
          </a:xfrm>
          <a:prstGeom prst="rect">
            <a:avLst/>
          </a:prstGeom>
          <a:noFill/>
          <a:ln/>
        </p:spPr>
        <p:txBody>
          <a:bodyPr wrap="square" lIns="0" tIns="0" rIns="0" bIns="0" rtlCol="0" anchor="ctr"/>
          <a:lstStyle/>
          <a:p>
            <a:pPr marL="0" indent="0" algn="l">
              <a:buNone/>
            </a:pPr>
            <a:r>
              <a:rPr lang="en-US" sz="1050" dirty="0">
                <a:solidFill>
                  <a:srgbClr val="CDD9E5"/>
                </a:solidFill>
                <a:latin typeface="Calibri" pitchFamily="34" charset="0"/>
                <a:ea typeface="Calibri" pitchFamily="34" charset="-122"/>
                <a:cs typeface="Calibri" pitchFamily="34" charset="-120"/>
              </a:rPr>
              <a:t>Patrón Factory</a:t>
            </a:r>
            <a:endParaRPr lang="en-US" sz="1050" dirty="0"/>
          </a:p>
        </p:txBody>
      </p:sp>
      <p:sp>
        <p:nvSpPr>
          <p:cNvPr id="28" name="Shape 26"/>
          <p:cNvSpPr/>
          <p:nvPr/>
        </p:nvSpPr>
        <p:spPr>
          <a:xfrm>
            <a:off x="3840480" y="4078224"/>
            <a:ext cx="2423160" cy="731520"/>
          </a:xfrm>
          <a:prstGeom prst="rect">
            <a:avLst/>
          </a:prstGeom>
          <a:solidFill>
            <a:srgbClr val="161B22"/>
          </a:solidFill>
          <a:ln w="12700">
            <a:solidFill>
              <a:srgbClr val="30363D"/>
            </a:solidFill>
            <a:prstDash val="solid"/>
          </a:ln>
        </p:spPr>
        <p:txBody>
          <a:bodyPr/>
          <a:lstStyle/>
          <a:p>
            <a:endParaRPr lang="es-PE"/>
          </a:p>
        </p:txBody>
      </p:sp>
      <p:sp>
        <p:nvSpPr>
          <p:cNvPr id="29" name="Shape 27"/>
          <p:cNvSpPr/>
          <p:nvPr/>
        </p:nvSpPr>
        <p:spPr>
          <a:xfrm>
            <a:off x="3840480" y="4078224"/>
            <a:ext cx="329184" cy="731520"/>
          </a:xfrm>
          <a:prstGeom prst="rect">
            <a:avLst/>
          </a:prstGeom>
          <a:solidFill>
            <a:srgbClr val="2EA198"/>
          </a:solidFill>
          <a:ln w="12700">
            <a:solidFill>
              <a:srgbClr val="2EA198"/>
            </a:solidFill>
            <a:prstDash val="solid"/>
          </a:ln>
        </p:spPr>
        <p:txBody>
          <a:bodyPr/>
          <a:lstStyle/>
          <a:p>
            <a:endParaRPr lang="es-PE"/>
          </a:p>
        </p:txBody>
      </p:sp>
      <p:sp>
        <p:nvSpPr>
          <p:cNvPr id="30" name="Text 28"/>
          <p:cNvSpPr/>
          <p:nvPr/>
        </p:nvSpPr>
        <p:spPr>
          <a:xfrm>
            <a:off x="3840480" y="4078224"/>
            <a:ext cx="329184" cy="731520"/>
          </a:xfrm>
          <a:prstGeom prst="rect">
            <a:avLst/>
          </a:prstGeom>
          <a:noFill/>
          <a:ln/>
        </p:spPr>
        <p:txBody>
          <a:bodyPr wrap="square" lIns="0" tIns="0" rIns="0" bIns="0" rtlCol="0" anchor="ctr"/>
          <a:lstStyle/>
          <a:p>
            <a:pPr marL="0" indent="0" algn="ctr">
              <a:buNone/>
            </a:pPr>
            <a:r>
              <a:rPr lang="en-US" sz="1000" b="1" dirty="0">
                <a:solidFill>
                  <a:srgbClr val="0D1117"/>
                </a:solidFill>
                <a:latin typeface="Calibri" pitchFamily="34" charset="0"/>
                <a:ea typeface="Calibri" pitchFamily="34" charset="-122"/>
                <a:cs typeface="Calibri" pitchFamily="34" charset="-120"/>
              </a:rPr>
              <a:t>05</a:t>
            </a:r>
            <a:endParaRPr lang="en-US" sz="1000" dirty="0"/>
          </a:p>
        </p:txBody>
      </p:sp>
      <p:sp>
        <p:nvSpPr>
          <p:cNvPr id="31" name="Text 29"/>
          <p:cNvSpPr/>
          <p:nvPr/>
        </p:nvSpPr>
        <p:spPr>
          <a:xfrm>
            <a:off x="4261104" y="4261104"/>
            <a:ext cx="1920240" cy="347472"/>
          </a:xfrm>
          <a:prstGeom prst="rect">
            <a:avLst/>
          </a:prstGeom>
          <a:noFill/>
          <a:ln/>
        </p:spPr>
        <p:txBody>
          <a:bodyPr wrap="square" lIns="0" tIns="0" rIns="0" bIns="0" rtlCol="0" anchor="ctr"/>
          <a:lstStyle/>
          <a:p>
            <a:pPr marL="0" indent="0" algn="l">
              <a:buNone/>
            </a:pPr>
            <a:r>
              <a:rPr lang="en-US" sz="1050" dirty="0">
                <a:solidFill>
                  <a:srgbClr val="CDD9E5"/>
                </a:solidFill>
                <a:latin typeface="Calibri" pitchFamily="34" charset="0"/>
                <a:ea typeface="Calibri" pitchFamily="34" charset="-122"/>
                <a:cs typeface="Calibri" pitchFamily="34" charset="-120"/>
              </a:rPr>
              <a:t>Interfaces vs. Abstractas</a:t>
            </a:r>
            <a:endParaRPr lang="en-US" sz="1050" dirty="0"/>
          </a:p>
        </p:txBody>
      </p:sp>
      <p:sp>
        <p:nvSpPr>
          <p:cNvPr id="32" name="Shape 30"/>
          <p:cNvSpPr/>
          <p:nvPr/>
        </p:nvSpPr>
        <p:spPr>
          <a:xfrm>
            <a:off x="6473952" y="566928"/>
            <a:ext cx="2423160" cy="731520"/>
          </a:xfrm>
          <a:prstGeom prst="rect">
            <a:avLst/>
          </a:prstGeom>
          <a:solidFill>
            <a:srgbClr val="161B22"/>
          </a:solidFill>
          <a:ln w="12700">
            <a:solidFill>
              <a:srgbClr val="30363D"/>
            </a:solidFill>
            <a:prstDash val="solid"/>
          </a:ln>
        </p:spPr>
        <p:txBody>
          <a:bodyPr/>
          <a:lstStyle/>
          <a:p>
            <a:endParaRPr lang="es-PE"/>
          </a:p>
        </p:txBody>
      </p:sp>
      <p:sp>
        <p:nvSpPr>
          <p:cNvPr id="33" name="Shape 31"/>
          <p:cNvSpPr/>
          <p:nvPr/>
        </p:nvSpPr>
        <p:spPr>
          <a:xfrm>
            <a:off x="6473952" y="566928"/>
            <a:ext cx="329184" cy="731520"/>
          </a:xfrm>
          <a:prstGeom prst="rect">
            <a:avLst/>
          </a:prstGeom>
          <a:solidFill>
            <a:srgbClr val="F85149"/>
          </a:solidFill>
          <a:ln w="12700">
            <a:solidFill>
              <a:srgbClr val="F85149"/>
            </a:solidFill>
            <a:prstDash val="solid"/>
          </a:ln>
        </p:spPr>
        <p:txBody>
          <a:bodyPr/>
          <a:lstStyle/>
          <a:p>
            <a:endParaRPr lang="es-PE"/>
          </a:p>
        </p:txBody>
      </p:sp>
      <p:sp>
        <p:nvSpPr>
          <p:cNvPr id="34" name="Text 32"/>
          <p:cNvSpPr/>
          <p:nvPr/>
        </p:nvSpPr>
        <p:spPr>
          <a:xfrm>
            <a:off x="6473952" y="566928"/>
            <a:ext cx="329184" cy="731520"/>
          </a:xfrm>
          <a:prstGeom prst="rect">
            <a:avLst/>
          </a:prstGeom>
          <a:noFill/>
          <a:ln/>
        </p:spPr>
        <p:txBody>
          <a:bodyPr wrap="square" lIns="0" tIns="0" rIns="0" bIns="0" rtlCol="0" anchor="ctr"/>
          <a:lstStyle/>
          <a:p>
            <a:pPr marL="0" indent="0" algn="ctr">
              <a:buNone/>
            </a:pPr>
            <a:r>
              <a:rPr lang="en-US" sz="1000" b="1" dirty="0">
                <a:solidFill>
                  <a:srgbClr val="0D1117"/>
                </a:solidFill>
                <a:latin typeface="Calibri" pitchFamily="34" charset="0"/>
                <a:ea typeface="Calibri" pitchFamily="34" charset="-122"/>
                <a:cs typeface="Calibri" pitchFamily="34" charset="-120"/>
              </a:rPr>
              <a:t>06</a:t>
            </a:r>
            <a:endParaRPr lang="en-US" sz="1000" dirty="0"/>
          </a:p>
        </p:txBody>
      </p:sp>
      <p:sp>
        <p:nvSpPr>
          <p:cNvPr id="35" name="Text 33"/>
          <p:cNvSpPr/>
          <p:nvPr/>
        </p:nvSpPr>
        <p:spPr>
          <a:xfrm>
            <a:off x="6894576" y="749808"/>
            <a:ext cx="1920240" cy="347472"/>
          </a:xfrm>
          <a:prstGeom prst="rect">
            <a:avLst/>
          </a:prstGeom>
          <a:noFill/>
          <a:ln/>
        </p:spPr>
        <p:txBody>
          <a:bodyPr wrap="square" lIns="0" tIns="0" rIns="0" bIns="0" rtlCol="0" anchor="ctr"/>
          <a:lstStyle/>
          <a:p>
            <a:pPr marL="0" indent="0" algn="l">
              <a:buNone/>
            </a:pPr>
            <a:r>
              <a:rPr lang="en-US" sz="1050" dirty="0">
                <a:solidFill>
                  <a:srgbClr val="CDD9E5"/>
                </a:solidFill>
                <a:latin typeface="Calibri" pitchFamily="34" charset="0"/>
                <a:ea typeface="Calibri" pitchFamily="34" charset="-122"/>
                <a:cs typeface="Calibri" pitchFamily="34" charset="-120"/>
              </a:rPr>
              <a:t>Open/Closed Principle</a:t>
            </a:r>
            <a:endParaRPr lang="en-US" sz="1050" dirty="0"/>
          </a:p>
        </p:txBody>
      </p:sp>
      <p:sp>
        <p:nvSpPr>
          <p:cNvPr id="36" name="Shape 34"/>
          <p:cNvSpPr/>
          <p:nvPr/>
        </p:nvSpPr>
        <p:spPr>
          <a:xfrm>
            <a:off x="6473952" y="1444752"/>
            <a:ext cx="2423160" cy="731520"/>
          </a:xfrm>
          <a:prstGeom prst="rect">
            <a:avLst/>
          </a:prstGeom>
          <a:solidFill>
            <a:srgbClr val="161B22"/>
          </a:solidFill>
          <a:ln w="12700">
            <a:solidFill>
              <a:srgbClr val="30363D"/>
            </a:solidFill>
            <a:prstDash val="solid"/>
          </a:ln>
        </p:spPr>
        <p:txBody>
          <a:bodyPr/>
          <a:lstStyle/>
          <a:p>
            <a:endParaRPr lang="es-PE"/>
          </a:p>
        </p:txBody>
      </p:sp>
      <p:sp>
        <p:nvSpPr>
          <p:cNvPr id="37" name="Shape 35"/>
          <p:cNvSpPr/>
          <p:nvPr/>
        </p:nvSpPr>
        <p:spPr>
          <a:xfrm>
            <a:off x="6473952" y="1444752"/>
            <a:ext cx="329184" cy="731520"/>
          </a:xfrm>
          <a:prstGeom prst="rect">
            <a:avLst/>
          </a:prstGeom>
          <a:solidFill>
            <a:srgbClr val="1DB954"/>
          </a:solidFill>
          <a:ln w="12700">
            <a:solidFill>
              <a:srgbClr val="1DB954"/>
            </a:solidFill>
            <a:prstDash val="solid"/>
          </a:ln>
        </p:spPr>
        <p:txBody>
          <a:bodyPr/>
          <a:lstStyle/>
          <a:p>
            <a:endParaRPr lang="es-PE"/>
          </a:p>
        </p:txBody>
      </p:sp>
      <p:sp>
        <p:nvSpPr>
          <p:cNvPr id="38" name="Text 36"/>
          <p:cNvSpPr/>
          <p:nvPr/>
        </p:nvSpPr>
        <p:spPr>
          <a:xfrm>
            <a:off x="6473952" y="1444752"/>
            <a:ext cx="329184" cy="731520"/>
          </a:xfrm>
          <a:prstGeom prst="rect">
            <a:avLst/>
          </a:prstGeom>
          <a:noFill/>
          <a:ln/>
        </p:spPr>
        <p:txBody>
          <a:bodyPr wrap="square" lIns="0" tIns="0" rIns="0" bIns="0" rtlCol="0" anchor="ctr"/>
          <a:lstStyle/>
          <a:p>
            <a:pPr marL="0" indent="0" algn="ctr">
              <a:buNone/>
            </a:pPr>
            <a:r>
              <a:rPr lang="en-US" sz="1000" b="1" dirty="0">
                <a:solidFill>
                  <a:srgbClr val="0D1117"/>
                </a:solidFill>
                <a:latin typeface="Calibri" pitchFamily="34" charset="0"/>
                <a:ea typeface="Calibri" pitchFamily="34" charset="-122"/>
                <a:cs typeface="Calibri" pitchFamily="34" charset="-120"/>
              </a:rPr>
              <a:t>07</a:t>
            </a:r>
            <a:endParaRPr lang="en-US" sz="1000" dirty="0"/>
          </a:p>
        </p:txBody>
      </p:sp>
      <p:sp>
        <p:nvSpPr>
          <p:cNvPr id="39" name="Text 37"/>
          <p:cNvSpPr/>
          <p:nvPr/>
        </p:nvSpPr>
        <p:spPr>
          <a:xfrm>
            <a:off x="6894576" y="1627632"/>
            <a:ext cx="1920240" cy="347472"/>
          </a:xfrm>
          <a:prstGeom prst="rect">
            <a:avLst/>
          </a:prstGeom>
          <a:noFill/>
          <a:ln/>
        </p:spPr>
        <p:txBody>
          <a:bodyPr wrap="square" lIns="0" tIns="0" rIns="0" bIns="0" rtlCol="0" anchor="ctr"/>
          <a:lstStyle/>
          <a:p>
            <a:pPr marL="0" indent="0" algn="l">
              <a:buNone/>
            </a:pPr>
            <a:r>
              <a:rPr lang="en-US" sz="1050" dirty="0">
                <a:solidFill>
                  <a:srgbClr val="CDD9E5"/>
                </a:solidFill>
                <a:latin typeface="Calibri" pitchFamily="34" charset="0"/>
                <a:ea typeface="Calibri" pitchFamily="34" charset="-122"/>
                <a:cs typeface="Calibri" pitchFamily="34" charset="-120"/>
              </a:rPr>
              <a:t>Arquitectura por Capas</a:t>
            </a:r>
            <a:endParaRPr lang="en-US" sz="1050" dirty="0"/>
          </a:p>
        </p:txBody>
      </p:sp>
      <p:sp>
        <p:nvSpPr>
          <p:cNvPr id="40" name="Shape 38"/>
          <p:cNvSpPr/>
          <p:nvPr/>
        </p:nvSpPr>
        <p:spPr>
          <a:xfrm>
            <a:off x="6473952" y="2322576"/>
            <a:ext cx="2423160" cy="731520"/>
          </a:xfrm>
          <a:prstGeom prst="rect">
            <a:avLst/>
          </a:prstGeom>
          <a:solidFill>
            <a:srgbClr val="161B22"/>
          </a:solidFill>
          <a:ln w="12700">
            <a:solidFill>
              <a:srgbClr val="30363D"/>
            </a:solidFill>
            <a:prstDash val="solid"/>
          </a:ln>
        </p:spPr>
        <p:txBody>
          <a:bodyPr/>
          <a:lstStyle/>
          <a:p>
            <a:endParaRPr lang="es-PE"/>
          </a:p>
        </p:txBody>
      </p:sp>
      <p:sp>
        <p:nvSpPr>
          <p:cNvPr id="41" name="Shape 39"/>
          <p:cNvSpPr/>
          <p:nvPr/>
        </p:nvSpPr>
        <p:spPr>
          <a:xfrm>
            <a:off x="6473952" y="2322576"/>
            <a:ext cx="329184" cy="731520"/>
          </a:xfrm>
          <a:prstGeom prst="rect">
            <a:avLst/>
          </a:prstGeom>
          <a:solidFill>
            <a:srgbClr val="8B949E"/>
          </a:solidFill>
          <a:ln w="12700">
            <a:solidFill>
              <a:srgbClr val="8B949E"/>
            </a:solidFill>
            <a:prstDash val="solid"/>
          </a:ln>
        </p:spPr>
        <p:txBody>
          <a:bodyPr/>
          <a:lstStyle/>
          <a:p>
            <a:endParaRPr lang="es-PE"/>
          </a:p>
        </p:txBody>
      </p:sp>
      <p:sp>
        <p:nvSpPr>
          <p:cNvPr id="42" name="Text 40"/>
          <p:cNvSpPr/>
          <p:nvPr/>
        </p:nvSpPr>
        <p:spPr>
          <a:xfrm>
            <a:off x="6473952" y="2322576"/>
            <a:ext cx="329184" cy="731520"/>
          </a:xfrm>
          <a:prstGeom prst="rect">
            <a:avLst/>
          </a:prstGeom>
          <a:noFill/>
          <a:ln/>
        </p:spPr>
        <p:txBody>
          <a:bodyPr wrap="square" lIns="0" tIns="0" rIns="0" bIns="0" rtlCol="0" anchor="ctr"/>
          <a:lstStyle/>
          <a:p>
            <a:pPr marL="0" indent="0" algn="ctr">
              <a:buNone/>
            </a:pPr>
            <a:r>
              <a:rPr lang="en-US" sz="1000" b="1" dirty="0">
                <a:solidFill>
                  <a:srgbClr val="0D1117"/>
                </a:solidFill>
                <a:latin typeface="Calibri" pitchFamily="34" charset="0"/>
                <a:ea typeface="Calibri" pitchFamily="34" charset="-122"/>
                <a:cs typeface="Calibri" pitchFamily="34" charset="-120"/>
              </a:rPr>
              <a:t>08</a:t>
            </a:r>
            <a:endParaRPr lang="en-US" sz="1000" dirty="0"/>
          </a:p>
        </p:txBody>
      </p:sp>
      <p:sp>
        <p:nvSpPr>
          <p:cNvPr id="43" name="Text 41"/>
          <p:cNvSpPr/>
          <p:nvPr/>
        </p:nvSpPr>
        <p:spPr>
          <a:xfrm>
            <a:off x="6894576" y="2505456"/>
            <a:ext cx="1920240" cy="347472"/>
          </a:xfrm>
          <a:prstGeom prst="rect">
            <a:avLst/>
          </a:prstGeom>
          <a:noFill/>
          <a:ln/>
        </p:spPr>
        <p:txBody>
          <a:bodyPr wrap="square" lIns="0" tIns="0" rIns="0" bIns="0" rtlCol="0" anchor="ctr"/>
          <a:lstStyle/>
          <a:p>
            <a:pPr marL="0" indent="0" algn="l">
              <a:buNone/>
            </a:pPr>
            <a:r>
              <a:rPr lang="en-US" sz="1050" dirty="0">
                <a:solidFill>
                  <a:srgbClr val="CDD9E5"/>
                </a:solidFill>
                <a:latin typeface="Calibri" pitchFamily="34" charset="0"/>
                <a:ea typeface="Calibri" pitchFamily="34" charset="-122"/>
                <a:cs typeface="Calibri" pitchFamily="34" charset="-120"/>
              </a:rPr>
              <a:t>Conclusiones</a:t>
            </a:r>
            <a:endParaRPr lang="en-US" sz="1050" dirty="0"/>
          </a:p>
        </p:txBody>
      </p:sp>
      <p:sp>
        <p:nvSpPr>
          <p:cNvPr id="44" name="Shape 42"/>
          <p:cNvSpPr/>
          <p:nvPr/>
        </p:nvSpPr>
        <p:spPr>
          <a:xfrm>
            <a:off x="6473952" y="3200400"/>
            <a:ext cx="2423160" cy="731520"/>
          </a:xfrm>
          <a:prstGeom prst="rect">
            <a:avLst/>
          </a:prstGeom>
          <a:solidFill>
            <a:srgbClr val="161B22"/>
          </a:solidFill>
          <a:ln w="12700">
            <a:solidFill>
              <a:srgbClr val="30363D"/>
            </a:solidFill>
            <a:prstDash val="solid"/>
          </a:ln>
        </p:spPr>
        <p:txBody>
          <a:bodyPr/>
          <a:lstStyle/>
          <a:p>
            <a:endParaRPr lang="es-PE"/>
          </a:p>
        </p:txBody>
      </p:sp>
      <p:sp>
        <p:nvSpPr>
          <p:cNvPr id="45" name="Shape 43"/>
          <p:cNvSpPr/>
          <p:nvPr/>
        </p:nvSpPr>
        <p:spPr>
          <a:xfrm>
            <a:off x="6473952" y="3200400"/>
            <a:ext cx="329184" cy="731520"/>
          </a:xfrm>
          <a:prstGeom prst="rect">
            <a:avLst/>
          </a:prstGeom>
          <a:solidFill>
            <a:srgbClr val="8B949E"/>
          </a:solidFill>
          <a:ln w="12700">
            <a:solidFill>
              <a:srgbClr val="8B949E"/>
            </a:solidFill>
            <a:prstDash val="solid"/>
          </a:ln>
        </p:spPr>
        <p:txBody>
          <a:bodyPr/>
          <a:lstStyle/>
          <a:p>
            <a:endParaRPr lang="es-PE"/>
          </a:p>
        </p:txBody>
      </p:sp>
      <p:sp>
        <p:nvSpPr>
          <p:cNvPr id="46" name="Text 44"/>
          <p:cNvSpPr/>
          <p:nvPr/>
        </p:nvSpPr>
        <p:spPr>
          <a:xfrm>
            <a:off x="6473952" y="3200400"/>
            <a:ext cx="329184" cy="731520"/>
          </a:xfrm>
          <a:prstGeom prst="rect">
            <a:avLst/>
          </a:prstGeom>
          <a:noFill/>
          <a:ln/>
        </p:spPr>
        <p:txBody>
          <a:bodyPr wrap="square" lIns="0" tIns="0" rIns="0" bIns="0" rtlCol="0" anchor="ctr"/>
          <a:lstStyle/>
          <a:p>
            <a:pPr marL="0" indent="0" algn="ctr">
              <a:buNone/>
            </a:pPr>
            <a:r>
              <a:rPr lang="en-US" sz="1000" b="1" dirty="0">
                <a:solidFill>
                  <a:srgbClr val="0D1117"/>
                </a:solidFill>
                <a:latin typeface="Calibri" pitchFamily="34" charset="0"/>
                <a:ea typeface="Calibri" pitchFamily="34" charset="-122"/>
                <a:cs typeface="Calibri" pitchFamily="34" charset="-120"/>
              </a:rPr>
              <a:t>09</a:t>
            </a:r>
            <a:endParaRPr lang="en-US" sz="1000" dirty="0"/>
          </a:p>
        </p:txBody>
      </p:sp>
      <p:sp>
        <p:nvSpPr>
          <p:cNvPr id="47" name="Text 45"/>
          <p:cNvSpPr/>
          <p:nvPr/>
        </p:nvSpPr>
        <p:spPr>
          <a:xfrm>
            <a:off x="6894576" y="3383280"/>
            <a:ext cx="1920240" cy="347472"/>
          </a:xfrm>
          <a:prstGeom prst="rect">
            <a:avLst/>
          </a:prstGeom>
          <a:noFill/>
          <a:ln/>
        </p:spPr>
        <p:txBody>
          <a:bodyPr wrap="square" lIns="0" tIns="0" rIns="0" bIns="0" rtlCol="0" anchor="ctr"/>
          <a:lstStyle/>
          <a:p>
            <a:pPr marL="0" indent="0" algn="l">
              <a:buNone/>
            </a:pPr>
            <a:r>
              <a:rPr lang="en-US" sz="1050" dirty="0">
                <a:solidFill>
                  <a:srgbClr val="CDD9E5"/>
                </a:solidFill>
                <a:latin typeface="Calibri" pitchFamily="34" charset="0"/>
                <a:ea typeface="Calibri" pitchFamily="34" charset="-122"/>
                <a:cs typeface="Calibri" pitchFamily="34" charset="-120"/>
              </a:rPr>
              <a:t>Bibliografía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DB954"/>
          </a:solidFill>
          <a:ln w="12700">
            <a:solidFill>
              <a:srgbClr val="1DB954"/>
            </a:solidFill>
            <a:prstDash val="solid"/>
          </a:ln>
        </p:spPr>
        <p:txBody>
          <a:bodyPr/>
          <a:lstStyle/>
          <a:p>
            <a:endParaRPr lang="es-PE"/>
          </a:p>
        </p:txBody>
      </p:sp>
      <p:sp>
        <p:nvSpPr>
          <p:cNvPr id="3" name="Shape 1"/>
          <p:cNvSpPr/>
          <p:nvPr/>
        </p:nvSpPr>
        <p:spPr>
          <a:xfrm>
            <a:off x="109728" y="0"/>
            <a:ext cx="9034272" cy="749808"/>
          </a:xfrm>
          <a:prstGeom prst="rect">
            <a:avLst/>
          </a:prstGeom>
          <a:solidFill>
            <a:srgbClr val="161B22"/>
          </a:solidFill>
          <a:ln w="12700">
            <a:solidFill>
              <a:srgbClr val="161B22"/>
            </a:solidFill>
            <a:prstDash val="solid"/>
          </a:ln>
        </p:spPr>
        <p:txBody>
          <a:bodyPr/>
          <a:lstStyle/>
          <a:p>
            <a:endParaRPr lang="es-PE"/>
          </a:p>
        </p:txBody>
      </p:sp>
      <p:sp>
        <p:nvSpPr>
          <p:cNvPr id="4" name="Shape 2"/>
          <p:cNvSpPr/>
          <p:nvPr/>
        </p:nvSpPr>
        <p:spPr>
          <a:xfrm>
            <a:off x="109728" y="749808"/>
            <a:ext cx="9034272" cy="36576"/>
          </a:xfrm>
          <a:prstGeom prst="rect">
            <a:avLst/>
          </a:prstGeom>
          <a:solidFill>
            <a:srgbClr val="1DB954"/>
          </a:solidFill>
          <a:ln w="12700">
            <a:solidFill>
              <a:srgbClr val="1DB954"/>
            </a:solidFill>
            <a:prstDash val="solid"/>
          </a:ln>
        </p:spPr>
        <p:txBody>
          <a:bodyPr/>
          <a:lstStyle/>
          <a:p>
            <a:endParaRPr lang="es-PE"/>
          </a:p>
        </p:txBody>
      </p:sp>
      <p:sp>
        <p:nvSpPr>
          <p:cNvPr id="5" name="Text 3"/>
          <p:cNvSpPr/>
          <p:nvPr/>
        </p:nvSpPr>
        <p:spPr>
          <a:xfrm>
            <a:off x="320040" y="0"/>
            <a:ext cx="8686800" cy="749808"/>
          </a:xfrm>
          <a:prstGeom prst="rect">
            <a:avLst/>
          </a:prstGeom>
          <a:noFill/>
          <a:ln/>
        </p:spPr>
        <p:txBody>
          <a:bodyPr wrap="square" lIns="0" tIns="0" rIns="0" bIns="0" rtlCol="0" anchor="ctr"/>
          <a:lstStyle/>
          <a:p>
            <a:pPr marL="0" indent="0" algn="l">
              <a:buNone/>
            </a:pPr>
            <a:r>
              <a:rPr lang="en-US" sz="1700" b="1" dirty="0">
                <a:solidFill>
                  <a:srgbClr val="FFFFFF"/>
                </a:solidFill>
                <a:latin typeface="Trebuchet MS" pitchFamily="34" charset="0"/>
                <a:ea typeface="Trebuchet MS" pitchFamily="34" charset="-122"/>
                <a:cs typeface="Trebuchet MS" pitchFamily="34" charset="-120"/>
              </a:rPr>
              <a:t>Pregunta 1 — Principios SOLID aplicados a Spotify</a:t>
            </a:r>
            <a:endParaRPr lang="en-US" sz="1700" dirty="0"/>
          </a:p>
        </p:txBody>
      </p:sp>
      <p:sp>
        <p:nvSpPr>
          <p:cNvPr id="6" name="Text 4"/>
          <p:cNvSpPr/>
          <p:nvPr/>
        </p:nvSpPr>
        <p:spPr>
          <a:xfrm>
            <a:off x="320040" y="822960"/>
            <a:ext cx="8686800" cy="329184"/>
          </a:xfrm>
          <a:prstGeom prst="rect">
            <a:avLst/>
          </a:prstGeom>
          <a:noFill/>
          <a:ln/>
        </p:spPr>
        <p:txBody>
          <a:bodyPr wrap="square" lIns="0" tIns="0" rIns="0" bIns="0" rtlCol="0" anchor="t"/>
          <a:lstStyle/>
          <a:p>
            <a:pPr marL="0" indent="0" algn="l">
              <a:buNone/>
            </a:pPr>
            <a:r>
              <a:rPr lang="en-US" sz="1000" i="1" dirty="0">
                <a:solidFill>
                  <a:srgbClr val="8B949E"/>
                </a:solidFill>
                <a:latin typeface="Calibri" pitchFamily="34" charset="0"/>
                <a:ea typeface="Calibri" pitchFamily="34" charset="-122"/>
                <a:cs typeface="Calibri" pitchFamily="34" charset="-120"/>
              </a:rPr>
              <a:t>¿Qué relación existe entre SOLID y el diseño de clases en C#? Explica cada principio con ejemplo.</a:t>
            </a:r>
            <a:endParaRPr lang="en-US" sz="1000" dirty="0"/>
          </a:p>
        </p:txBody>
      </p:sp>
      <p:sp>
        <p:nvSpPr>
          <p:cNvPr id="7" name="Shape 5"/>
          <p:cNvSpPr/>
          <p:nvPr/>
        </p:nvSpPr>
        <p:spPr>
          <a:xfrm>
            <a:off x="256032" y="1261872"/>
            <a:ext cx="4160520" cy="676656"/>
          </a:xfrm>
          <a:prstGeom prst="rect">
            <a:avLst/>
          </a:prstGeom>
          <a:solidFill>
            <a:srgbClr val="161B22"/>
          </a:solidFill>
          <a:ln w="12700">
            <a:solidFill>
              <a:srgbClr val="30363D"/>
            </a:solidFill>
            <a:prstDash val="solid"/>
          </a:ln>
        </p:spPr>
        <p:txBody>
          <a:bodyPr/>
          <a:lstStyle/>
          <a:p>
            <a:endParaRPr lang="es-PE"/>
          </a:p>
        </p:txBody>
      </p:sp>
      <p:sp>
        <p:nvSpPr>
          <p:cNvPr id="8" name="Shape 6"/>
          <p:cNvSpPr/>
          <p:nvPr/>
        </p:nvSpPr>
        <p:spPr>
          <a:xfrm>
            <a:off x="256032" y="1261872"/>
            <a:ext cx="329184" cy="676656"/>
          </a:xfrm>
          <a:prstGeom prst="rect">
            <a:avLst/>
          </a:prstGeom>
          <a:solidFill>
            <a:srgbClr val="1DB954"/>
          </a:solidFill>
          <a:ln w="12700">
            <a:solidFill>
              <a:srgbClr val="1DB954"/>
            </a:solidFill>
            <a:prstDash val="solid"/>
          </a:ln>
        </p:spPr>
        <p:txBody>
          <a:bodyPr/>
          <a:lstStyle/>
          <a:p>
            <a:endParaRPr lang="es-PE"/>
          </a:p>
        </p:txBody>
      </p:sp>
      <p:sp>
        <p:nvSpPr>
          <p:cNvPr id="9" name="Text 7"/>
          <p:cNvSpPr/>
          <p:nvPr/>
        </p:nvSpPr>
        <p:spPr>
          <a:xfrm>
            <a:off x="256032" y="1261872"/>
            <a:ext cx="329184" cy="676656"/>
          </a:xfrm>
          <a:prstGeom prst="rect">
            <a:avLst/>
          </a:prstGeom>
          <a:noFill/>
          <a:ln/>
        </p:spPr>
        <p:txBody>
          <a:bodyPr wrap="square" lIns="0" tIns="0" rIns="0" bIns="0" rtlCol="0" anchor="ctr"/>
          <a:lstStyle/>
          <a:p>
            <a:pPr marL="0" indent="0" algn="ctr">
              <a:buNone/>
            </a:pPr>
            <a:r>
              <a:rPr lang="en-US" sz="2200" b="1" dirty="0">
                <a:solidFill>
                  <a:srgbClr val="0D1117"/>
                </a:solidFill>
                <a:latin typeface="Trebuchet MS" pitchFamily="34" charset="0"/>
                <a:ea typeface="Trebuchet MS" pitchFamily="34" charset="-122"/>
                <a:cs typeface="Trebuchet MS" pitchFamily="34" charset="-120"/>
              </a:rPr>
              <a:t>S</a:t>
            </a:r>
            <a:endParaRPr lang="en-US" sz="2200" dirty="0"/>
          </a:p>
        </p:txBody>
      </p:sp>
      <p:sp>
        <p:nvSpPr>
          <p:cNvPr id="10" name="Text 8"/>
          <p:cNvSpPr/>
          <p:nvPr/>
        </p:nvSpPr>
        <p:spPr>
          <a:xfrm>
            <a:off x="676656" y="1316736"/>
            <a:ext cx="3602736" cy="256032"/>
          </a:xfrm>
          <a:prstGeom prst="rect">
            <a:avLst/>
          </a:prstGeom>
          <a:noFill/>
          <a:ln/>
        </p:spPr>
        <p:txBody>
          <a:bodyPr wrap="square" lIns="0" tIns="0" rIns="0" bIns="0" rtlCol="0" anchor="t"/>
          <a:lstStyle/>
          <a:p>
            <a:pPr marL="0" indent="0" algn="l">
              <a:buNone/>
            </a:pPr>
            <a:r>
              <a:rPr lang="en-US" sz="1100" b="1" dirty="0">
                <a:solidFill>
                  <a:srgbClr val="1DB954"/>
                </a:solidFill>
                <a:latin typeface="Calibri" pitchFamily="34" charset="0"/>
                <a:ea typeface="Calibri" pitchFamily="34" charset="-122"/>
                <a:cs typeface="Calibri" pitchFamily="34" charset="-120"/>
              </a:rPr>
              <a:t>Single Responsibility</a:t>
            </a:r>
            <a:endParaRPr lang="en-US" sz="1100" dirty="0"/>
          </a:p>
        </p:txBody>
      </p:sp>
      <p:sp>
        <p:nvSpPr>
          <p:cNvPr id="11" name="Text 9"/>
          <p:cNvSpPr/>
          <p:nvPr/>
        </p:nvSpPr>
        <p:spPr>
          <a:xfrm>
            <a:off x="676656" y="1609344"/>
            <a:ext cx="3602736" cy="292608"/>
          </a:xfrm>
          <a:prstGeom prst="rect">
            <a:avLst/>
          </a:prstGeom>
          <a:noFill/>
          <a:ln/>
        </p:spPr>
        <p:txBody>
          <a:bodyPr wrap="square" lIns="0" tIns="0" rIns="0" bIns="0" rtlCol="0" anchor="t"/>
          <a:lstStyle/>
          <a:p>
            <a:pPr marL="0" indent="0" algn="l">
              <a:buNone/>
            </a:pPr>
            <a:r>
              <a:rPr lang="en-US" sz="950" dirty="0">
                <a:solidFill>
                  <a:srgbClr val="8B949E"/>
                </a:solidFill>
                <a:latin typeface="Calibri" pitchFamily="34" charset="0"/>
                <a:ea typeface="Calibri" pitchFamily="34" charset="-122"/>
                <a:cs typeface="Calibri" pitchFamily="34" charset="-120"/>
              </a:rPr>
              <a:t>Una clase, una razón para cambiar</a:t>
            </a:r>
            <a:endParaRPr lang="en-US" sz="950" dirty="0"/>
          </a:p>
        </p:txBody>
      </p:sp>
      <p:sp>
        <p:nvSpPr>
          <p:cNvPr id="12" name="Shape 10"/>
          <p:cNvSpPr/>
          <p:nvPr/>
        </p:nvSpPr>
        <p:spPr>
          <a:xfrm>
            <a:off x="256032" y="2029968"/>
            <a:ext cx="4160520" cy="676656"/>
          </a:xfrm>
          <a:prstGeom prst="rect">
            <a:avLst/>
          </a:prstGeom>
          <a:solidFill>
            <a:srgbClr val="161B22"/>
          </a:solidFill>
          <a:ln w="12700">
            <a:solidFill>
              <a:srgbClr val="30363D"/>
            </a:solidFill>
            <a:prstDash val="solid"/>
          </a:ln>
        </p:spPr>
        <p:txBody>
          <a:bodyPr/>
          <a:lstStyle/>
          <a:p>
            <a:endParaRPr lang="es-PE"/>
          </a:p>
        </p:txBody>
      </p:sp>
      <p:sp>
        <p:nvSpPr>
          <p:cNvPr id="13" name="Shape 11"/>
          <p:cNvSpPr/>
          <p:nvPr/>
        </p:nvSpPr>
        <p:spPr>
          <a:xfrm>
            <a:off x="256032" y="2029968"/>
            <a:ext cx="329184" cy="676656"/>
          </a:xfrm>
          <a:prstGeom prst="rect">
            <a:avLst/>
          </a:prstGeom>
          <a:solidFill>
            <a:srgbClr val="388BFD"/>
          </a:solidFill>
          <a:ln w="12700">
            <a:solidFill>
              <a:srgbClr val="388BFD"/>
            </a:solidFill>
            <a:prstDash val="solid"/>
          </a:ln>
        </p:spPr>
        <p:txBody>
          <a:bodyPr/>
          <a:lstStyle/>
          <a:p>
            <a:endParaRPr lang="es-PE"/>
          </a:p>
        </p:txBody>
      </p:sp>
      <p:sp>
        <p:nvSpPr>
          <p:cNvPr id="14" name="Text 12"/>
          <p:cNvSpPr/>
          <p:nvPr/>
        </p:nvSpPr>
        <p:spPr>
          <a:xfrm>
            <a:off x="256032" y="2029968"/>
            <a:ext cx="329184" cy="676656"/>
          </a:xfrm>
          <a:prstGeom prst="rect">
            <a:avLst/>
          </a:prstGeom>
          <a:noFill/>
          <a:ln/>
        </p:spPr>
        <p:txBody>
          <a:bodyPr wrap="square" lIns="0" tIns="0" rIns="0" bIns="0" rtlCol="0" anchor="ctr"/>
          <a:lstStyle/>
          <a:p>
            <a:pPr marL="0" indent="0" algn="ctr">
              <a:buNone/>
            </a:pPr>
            <a:r>
              <a:rPr lang="en-US" sz="2200" b="1" dirty="0">
                <a:solidFill>
                  <a:srgbClr val="0D1117"/>
                </a:solidFill>
                <a:latin typeface="Trebuchet MS" pitchFamily="34" charset="0"/>
                <a:ea typeface="Trebuchet MS" pitchFamily="34" charset="-122"/>
                <a:cs typeface="Trebuchet MS" pitchFamily="34" charset="-120"/>
              </a:rPr>
              <a:t>O</a:t>
            </a:r>
            <a:endParaRPr lang="en-US" sz="2200" dirty="0"/>
          </a:p>
        </p:txBody>
      </p:sp>
      <p:sp>
        <p:nvSpPr>
          <p:cNvPr id="15" name="Text 13"/>
          <p:cNvSpPr/>
          <p:nvPr/>
        </p:nvSpPr>
        <p:spPr>
          <a:xfrm>
            <a:off x="676656" y="2084832"/>
            <a:ext cx="3602736" cy="256032"/>
          </a:xfrm>
          <a:prstGeom prst="rect">
            <a:avLst/>
          </a:prstGeom>
          <a:noFill/>
          <a:ln/>
        </p:spPr>
        <p:txBody>
          <a:bodyPr wrap="square" lIns="0" tIns="0" rIns="0" bIns="0" rtlCol="0" anchor="t"/>
          <a:lstStyle/>
          <a:p>
            <a:pPr marL="0" indent="0" algn="l">
              <a:buNone/>
            </a:pPr>
            <a:r>
              <a:rPr lang="en-US" sz="1100" b="1" dirty="0">
                <a:solidFill>
                  <a:srgbClr val="388BFD"/>
                </a:solidFill>
                <a:latin typeface="Calibri" pitchFamily="34" charset="0"/>
                <a:ea typeface="Calibri" pitchFamily="34" charset="-122"/>
                <a:cs typeface="Calibri" pitchFamily="34" charset="-120"/>
              </a:rPr>
              <a:t>Open / Closed</a:t>
            </a:r>
            <a:endParaRPr lang="en-US" sz="1100" dirty="0"/>
          </a:p>
        </p:txBody>
      </p:sp>
      <p:sp>
        <p:nvSpPr>
          <p:cNvPr id="16" name="Text 14"/>
          <p:cNvSpPr/>
          <p:nvPr/>
        </p:nvSpPr>
        <p:spPr>
          <a:xfrm>
            <a:off x="676656" y="2377440"/>
            <a:ext cx="3602736" cy="292608"/>
          </a:xfrm>
          <a:prstGeom prst="rect">
            <a:avLst/>
          </a:prstGeom>
          <a:noFill/>
          <a:ln/>
        </p:spPr>
        <p:txBody>
          <a:bodyPr wrap="square" lIns="0" tIns="0" rIns="0" bIns="0" rtlCol="0" anchor="t"/>
          <a:lstStyle/>
          <a:p>
            <a:pPr marL="0" indent="0" algn="l">
              <a:buNone/>
            </a:pPr>
            <a:r>
              <a:rPr lang="en-US" sz="950" dirty="0">
                <a:solidFill>
                  <a:srgbClr val="8B949E"/>
                </a:solidFill>
                <a:latin typeface="Calibri" pitchFamily="34" charset="0"/>
                <a:ea typeface="Calibri" pitchFamily="34" charset="-122"/>
                <a:cs typeface="Calibri" pitchFamily="34" charset="-120"/>
              </a:rPr>
              <a:t>Abierto para extensión, cerrado para modificación</a:t>
            </a:r>
            <a:endParaRPr lang="en-US" sz="950" dirty="0"/>
          </a:p>
        </p:txBody>
      </p:sp>
      <p:sp>
        <p:nvSpPr>
          <p:cNvPr id="17" name="Shape 15"/>
          <p:cNvSpPr/>
          <p:nvPr/>
        </p:nvSpPr>
        <p:spPr>
          <a:xfrm>
            <a:off x="256032" y="2798064"/>
            <a:ext cx="4160520" cy="676656"/>
          </a:xfrm>
          <a:prstGeom prst="rect">
            <a:avLst/>
          </a:prstGeom>
          <a:solidFill>
            <a:srgbClr val="161B22"/>
          </a:solidFill>
          <a:ln w="12700">
            <a:solidFill>
              <a:srgbClr val="30363D"/>
            </a:solidFill>
            <a:prstDash val="solid"/>
          </a:ln>
        </p:spPr>
        <p:txBody>
          <a:bodyPr/>
          <a:lstStyle/>
          <a:p>
            <a:endParaRPr lang="es-PE"/>
          </a:p>
        </p:txBody>
      </p:sp>
      <p:sp>
        <p:nvSpPr>
          <p:cNvPr id="18" name="Shape 16"/>
          <p:cNvSpPr/>
          <p:nvPr/>
        </p:nvSpPr>
        <p:spPr>
          <a:xfrm>
            <a:off x="256032" y="2798064"/>
            <a:ext cx="329184" cy="676656"/>
          </a:xfrm>
          <a:prstGeom prst="rect">
            <a:avLst/>
          </a:prstGeom>
          <a:solidFill>
            <a:srgbClr val="D29922"/>
          </a:solidFill>
          <a:ln w="12700">
            <a:solidFill>
              <a:srgbClr val="D29922"/>
            </a:solidFill>
            <a:prstDash val="solid"/>
          </a:ln>
        </p:spPr>
        <p:txBody>
          <a:bodyPr/>
          <a:lstStyle/>
          <a:p>
            <a:endParaRPr lang="es-PE"/>
          </a:p>
        </p:txBody>
      </p:sp>
      <p:sp>
        <p:nvSpPr>
          <p:cNvPr id="19" name="Text 17"/>
          <p:cNvSpPr/>
          <p:nvPr/>
        </p:nvSpPr>
        <p:spPr>
          <a:xfrm>
            <a:off x="256032" y="2798064"/>
            <a:ext cx="329184" cy="676656"/>
          </a:xfrm>
          <a:prstGeom prst="rect">
            <a:avLst/>
          </a:prstGeom>
          <a:noFill/>
          <a:ln/>
        </p:spPr>
        <p:txBody>
          <a:bodyPr wrap="square" lIns="0" tIns="0" rIns="0" bIns="0" rtlCol="0" anchor="ctr"/>
          <a:lstStyle/>
          <a:p>
            <a:pPr marL="0" indent="0" algn="ctr">
              <a:buNone/>
            </a:pPr>
            <a:r>
              <a:rPr lang="en-US" sz="2200" b="1" dirty="0">
                <a:solidFill>
                  <a:srgbClr val="0D1117"/>
                </a:solidFill>
                <a:latin typeface="Trebuchet MS" pitchFamily="34" charset="0"/>
                <a:ea typeface="Trebuchet MS" pitchFamily="34" charset="-122"/>
                <a:cs typeface="Trebuchet MS" pitchFamily="34" charset="-120"/>
              </a:rPr>
              <a:t>L</a:t>
            </a:r>
            <a:endParaRPr lang="en-US" sz="2200" dirty="0"/>
          </a:p>
        </p:txBody>
      </p:sp>
      <p:sp>
        <p:nvSpPr>
          <p:cNvPr id="20" name="Text 18"/>
          <p:cNvSpPr/>
          <p:nvPr/>
        </p:nvSpPr>
        <p:spPr>
          <a:xfrm>
            <a:off x="676656" y="2852928"/>
            <a:ext cx="3602736" cy="256032"/>
          </a:xfrm>
          <a:prstGeom prst="rect">
            <a:avLst/>
          </a:prstGeom>
          <a:noFill/>
          <a:ln/>
        </p:spPr>
        <p:txBody>
          <a:bodyPr wrap="square" lIns="0" tIns="0" rIns="0" bIns="0" rtlCol="0" anchor="t"/>
          <a:lstStyle/>
          <a:p>
            <a:pPr marL="0" indent="0" algn="l">
              <a:buNone/>
            </a:pPr>
            <a:r>
              <a:rPr lang="en-US" sz="1100" b="1" dirty="0">
                <a:solidFill>
                  <a:srgbClr val="D29922"/>
                </a:solidFill>
                <a:latin typeface="Calibri" pitchFamily="34" charset="0"/>
                <a:ea typeface="Calibri" pitchFamily="34" charset="-122"/>
                <a:cs typeface="Calibri" pitchFamily="34" charset="-120"/>
              </a:rPr>
              <a:t>Liskov Substitution</a:t>
            </a:r>
            <a:endParaRPr lang="en-US" sz="1100" dirty="0"/>
          </a:p>
        </p:txBody>
      </p:sp>
      <p:sp>
        <p:nvSpPr>
          <p:cNvPr id="21" name="Text 19"/>
          <p:cNvSpPr/>
          <p:nvPr/>
        </p:nvSpPr>
        <p:spPr>
          <a:xfrm>
            <a:off x="676656" y="3145536"/>
            <a:ext cx="3602736" cy="292608"/>
          </a:xfrm>
          <a:prstGeom prst="rect">
            <a:avLst/>
          </a:prstGeom>
          <a:noFill/>
          <a:ln/>
        </p:spPr>
        <p:txBody>
          <a:bodyPr wrap="square" lIns="0" tIns="0" rIns="0" bIns="0" rtlCol="0" anchor="t"/>
          <a:lstStyle/>
          <a:p>
            <a:pPr marL="0" indent="0" algn="l">
              <a:buNone/>
            </a:pPr>
            <a:r>
              <a:rPr lang="en-US" sz="950" dirty="0">
                <a:solidFill>
                  <a:srgbClr val="8B949E"/>
                </a:solidFill>
                <a:latin typeface="Calibri" pitchFamily="34" charset="0"/>
                <a:ea typeface="Calibri" pitchFamily="34" charset="-122"/>
                <a:cs typeface="Calibri" pitchFamily="34" charset="-120"/>
              </a:rPr>
              <a:t>Derivadas sustituyen a la base sin romper</a:t>
            </a:r>
            <a:endParaRPr lang="en-US" sz="950" dirty="0"/>
          </a:p>
        </p:txBody>
      </p:sp>
      <p:sp>
        <p:nvSpPr>
          <p:cNvPr id="22" name="Shape 20"/>
          <p:cNvSpPr/>
          <p:nvPr/>
        </p:nvSpPr>
        <p:spPr>
          <a:xfrm>
            <a:off x="256032" y="3566160"/>
            <a:ext cx="4160520" cy="676656"/>
          </a:xfrm>
          <a:prstGeom prst="rect">
            <a:avLst/>
          </a:prstGeom>
          <a:solidFill>
            <a:srgbClr val="161B22"/>
          </a:solidFill>
          <a:ln w="12700">
            <a:solidFill>
              <a:srgbClr val="30363D"/>
            </a:solidFill>
            <a:prstDash val="solid"/>
          </a:ln>
        </p:spPr>
        <p:txBody>
          <a:bodyPr/>
          <a:lstStyle/>
          <a:p>
            <a:endParaRPr lang="es-PE"/>
          </a:p>
        </p:txBody>
      </p:sp>
      <p:sp>
        <p:nvSpPr>
          <p:cNvPr id="23" name="Shape 21"/>
          <p:cNvSpPr/>
          <p:nvPr/>
        </p:nvSpPr>
        <p:spPr>
          <a:xfrm>
            <a:off x="256032" y="3566160"/>
            <a:ext cx="329184" cy="676656"/>
          </a:xfrm>
          <a:prstGeom prst="rect">
            <a:avLst/>
          </a:prstGeom>
          <a:solidFill>
            <a:srgbClr val="8957E5"/>
          </a:solidFill>
          <a:ln w="12700">
            <a:solidFill>
              <a:srgbClr val="8957E5"/>
            </a:solidFill>
            <a:prstDash val="solid"/>
          </a:ln>
        </p:spPr>
        <p:txBody>
          <a:bodyPr/>
          <a:lstStyle/>
          <a:p>
            <a:endParaRPr lang="es-PE"/>
          </a:p>
        </p:txBody>
      </p:sp>
      <p:sp>
        <p:nvSpPr>
          <p:cNvPr id="24" name="Text 22"/>
          <p:cNvSpPr/>
          <p:nvPr/>
        </p:nvSpPr>
        <p:spPr>
          <a:xfrm>
            <a:off x="256032" y="3566160"/>
            <a:ext cx="329184" cy="676656"/>
          </a:xfrm>
          <a:prstGeom prst="rect">
            <a:avLst/>
          </a:prstGeom>
          <a:noFill/>
          <a:ln/>
        </p:spPr>
        <p:txBody>
          <a:bodyPr wrap="square" lIns="0" tIns="0" rIns="0" bIns="0" rtlCol="0" anchor="ctr"/>
          <a:lstStyle/>
          <a:p>
            <a:pPr marL="0" indent="0" algn="ctr">
              <a:buNone/>
            </a:pPr>
            <a:r>
              <a:rPr lang="en-US" sz="2200" b="1" dirty="0">
                <a:solidFill>
                  <a:srgbClr val="0D1117"/>
                </a:solidFill>
                <a:latin typeface="Trebuchet MS" pitchFamily="34" charset="0"/>
                <a:ea typeface="Trebuchet MS" pitchFamily="34" charset="-122"/>
                <a:cs typeface="Trebuchet MS" pitchFamily="34" charset="-120"/>
              </a:rPr>
              <a:t>I</a:t>
            </a:r>
            <a:endParaRPr lang="en-US" sz="2200" dirty="0"/>
          </a:p>
        </p:txBody>
      </p:sp>
      <p:sp>
        <p:nvSpPr>
          <p:cNvPr id="25" name="Text 23"/>
          <p:cNvSpPr/>
          <p:nvPr/>
        </p:nvSpPr>
        <p:spPr>
          <a:xfrm>
            <a:off x="676656" y="3621024"/>
            <a:ext cx="3602736" cy="256032"/>
          </a:xfrm>
          <a:prstGeom prst="rect">
            <a:avLst/>
          </a:prstGeom>
          <a:noFill/>
          <a:ln/>
        </p:spPr>
        <p:txBody>
          <a:bodyPr wrap="square" lIns="0" tIns="0" rIns="0" bIns="0" rtlCol="0" anchor="t"/>
          <a:lstStyle/>
          <a:p>
            <a:pPr marL="0" indent="0" algn="l">
              <a:buNone/>
            </a:pPr>
            <a:r>
              <a:rPr lang="en-US" sz="1100" b="1" dirty="0">
                <a:solidFill>
                  <a:srgbClr val="8957E5"/>
                </a:solidFill>
                <a:latin typeface="Calibri" pitchFamily="34" charset="0"/>
                <a:ea typeface="Calibri" pitchFamily="34" charset="-122"/>
                <a:cs typeface="Calibri" pitchFamily="34" charset="-120"/>
              </a:rPr>
              <a:t>Interface Segregation</a:t>
            </a:r>
            <a:endParaRPr lang="en-US" sz="1100" dirty="0"/>
          </a:p>
        </p:txBody>
      </p:sp>
      <p:sp>
        <p:nvSpPr>
          <p:cNvPr id="26" name="Text 24"/>
          <p:cNvSpPr/>
          <p:nvPr/>
        </p:nvSpPr>
        <p:spPr>
          <a:xfrm>
            <a:off x="676656" y="3913632"/>
            <a:ext cx="3602736" cy="292608"/>
          </a:xfrm>
          <a:prstGeom prst="rect">
            <a:avLst/>
          </a:prstGeom>
          <a:noFill/>
          <a:ln/>
        </p:spPr>
        <p:txBody>
          <a:bodyPr wrap="square" lIns="0" tIns="0" rIns="0" bIns="0" rtlCol="0" anchor="t"/>
          <a:lstStyle/>
          <a:p>
            <a:pPr marL="0" indent="0" algn="l">
              <a:buNone/>
            </a:pPr>
            <a:r>
              <a:rPr lang="en-US" sz="950" dirty="0">
                <a:solidFill>
                  <a:srgbClr val="8B949E"/>
                </a:solidFill>
                <a:latin typeface="Calibri" pitchFamily="34" charset="0"/>
                <a:ea typeface="Calibri" pitchFamily="34" charset="-122"/>
                <a:cs typeface="Calibri" pitchFamily="34" charset="-120"/>
              </a:rPr>
              <a:t>Interfaces pequeñas y específicas</a:t>
            </a:r>
            <a:endParaRPr lang="en-US" sz="950" dirty="0"/>
          </a:p>
        </p:txBody>
      </p:sp>
      <p:sp>
        <p:nvSpPr>
          <p:cNvPr id="27" name="Shape 25"/>
          <p:cNvSpPr/>
          <p:nvPr/>
        </p:nvSpPr>
        <p:spPr>
          <a:xfrm>
            <a:off x="256032" y="4334256"/>
            <a:ext cx="4160520" cy="676656"/>
          </a:xfrm>
          <a:prstGeom prst="rect">
            <a:avLst/>
          </a:prstGeom>
          <a:solidFill>
            <a:srgbClr val="161B22"/>
          </a:solidFill>
          <a:ln w="12700">
            <a:solidFill>
              <a:srgbClr val="30363D"/>
            </a:solidFill>
            <a:prstDash val="solid"/>
          </a:ln>
        </p:spPr>
        <p:txBody>
          <a:bodyPr/>
          <a:lstStyle/>
          <a:p>
            <a:endParaRPr lang="es-PE"/>
          </a:p>
        </p:txBody>
      </p:sp>
      <p:sp>
        <p:nvSpPr>
          <p:cNvPr id="28" name="Shape 26"/>
          <p:cNvSpPr/>
          <p:nvPr/>
        </p:nvSpPr>
        <p:spPr>
          <a:xfrm>
            <a:off x="256032" y="4334256"/>
            <a:ext cx="329184" cy="676656"/>
          </a:xfrm>
          <a:prstGeom prst="rect">
            <a:avLst/>
          </a:prstGeom>
          <a:solidFill>
            <a:srgbClr val="2EA198"/>
          </a:solidFill>
          <a:ln w="12700">
            <a:solidFill>
              <a:srgbClr val="2EA198"/>
            </a:solidFill>
            <a:prstDash val="solid"/>
          </a:ln>
        </p:spPr>
        <p:txBody>
          <a:bodyPr/>
          <a:lstStyle/>
          <a:p>
            <a:endParaRPr lang="es-PE"/>
          </a:p>
        </p:txBody>
      </p:sp>
      <p:sp>
        <p:nvSpPr>
          <p:cNvPr id="29" name="Text 27"/>
          <p:cNvSpPr/>
          <p:nvPr/>
        </p:nvSpPr>
        <p:spPr>
          <a:xfrm>
            <a:off x="256032" y="4334256"/>
            <a:ext cx="329184" cy="676656"/>
          </a:xfrm>
          <a:prstGeom prst="rect">
            <a:avLst/>
          </a:prstGeom>
          <a:noFill/>
          <a:ln/>
        </p:spPr>
        <p:txBody>
          <a:bodyPr wrap="square" lIns="0" tIns="0" rIns="0" bIns="0" rtlCol="0" anchor="ctr"/>
          <a:lstStyle/>
          <a:p>
            <a:pPr marL="0" indent="0" algn="ctr">
              <a:buNone/>
            </a:pPr>
            <a:r>
              <a:rPr lang="en-US" sz="2200" b="1" dirty="0">
                <a:solidFill>
                  <a:srgbClr val="0D1117"/>
                </a:solidFill>
                <a:latin typeface="Trebuchet MS" pitchFamily="34" charset="0"/>
                <a:ea typeface="Trebuchet MS" pitchFamily="34" charset="-122"/>
                <a:cs typeface="Trebuchet MS" pitchFamily="34" charset="-120"/>
              </a:rPr>
              <a:t>D</a:t>
            </a:r>
            <a:endParaRPr lang="en-US" sz="2200" dirty="0"/>
          </a:p>
        </p:txBody>
      </p:sp>
      <p:sp>
        <p:nvSpPr>
          <p:cNvPr id="30" name="Text 28"/>
          <p:cNvSpPr/>
          <p:nvPr/>
        </p:nvSpPr>
        <p:spPr>
          <a:xfrm>
            <a:off x="676656" y="4389120"/>
            <a:ext cx="3602736" cy="256032"/>
          </a:xfrm>
          <a:prstGeom prst="rect">
            <a:avLst/>
          </a:prstGeom>
          <a:noFill/>
          <a:ln/>
        </p:spPr>
        <p:txBody>
          <a:bodyPr wrap="square" lIns="0" tIns="0" rIns="0" bIns="0" rtlCol="0" anchor="t"/>
          <a:lstStyle/>
          <a:p>
            <a:pPr marL="0" indent="0" algn="l">
              <a:buNone/>
            </a:pPr>
            <a:r>
              <a:rPr lang="en-US" sz="1100" b="1" dirty="0">
                <a:solidFill>
                  <a:srgbClr val="2EA198"/>
                </a:solidFill>
                <a:latin typeface="Calibri" pitchFamily="34" charset="0"/>
                <a:ea typeface="Calibri" pitchFamily="34" charset="-122"/>
                <a:cs typeface="Calibri" pitchFamily="34" charset="-120"/>
              </a:rPr>
              <a:t>Dependency Inversion</a:t>
            </a:r>
            <a:endParaRPr lang="en-US" sz="1100" dirty="0"/>
          </a:p>
        </p:txBody>
      </p:sp>
      <p:sp>
        <p:nvSpPr>
          <p:cNvPr id="31" name="Text 29"/>
          <p:cNvSpPr/>
          <p:nvPr/>
        </p:nvSpPr>
        <p:spPr>
          <a:xfrm>
            <a:off x="676656" y="4681728"/>
            <a:ext cx="3602736" cy="292608"/>
          </a:xfrm>
          <a:prstGeom prst="rect">
            <a:avLst/>
          </a:prstGeom>
          <a:noFill/>
          <a:ln/>
        </p:spPr>
        <p:txBody>
          <a:bodyPr wrap="square" lIns="0" tIns="0" rIns="0" bIns="0" rtlCol="0" anchor="t"/>
          <a:lstStyle/>
          <a:p>
            <a:pPr marL="0" indent="0" algn="l">
              <a:buNone/>
            </a:pPr>
            <a:r>
              <a:rPr lang="en-US" sz="950" dirty="0">
                <a:solidFill>
                  <a:srgbClr val="8B949E"/>
                </a:solidFill>
                <a:latin typeface="Calibri" pitchFamily="34" charset="0"/>
                <a:ea typeface="Calibri" pitchFamily="34" charset="-122"/>
                <a:cs typeface="Calibri" pitchFamily="34" charset="-120"/>
              </a:rPr>
              <a:t>Depender de abstracciones, no concreciones</a:t>
            </a:r>
            <a:endParaRPr lang="en-US" sz="950" dirty="0"/>
          </a:p>
        </p:txBody>
      </p:sp>
      <p:sp>
        <p:nvSpPr>
          <p:cNvPr id="32" name="Shape 30"/>
          <p:cNvSpPr/>
          <p:nvPr/>
        </p:nvSpPr>
        <p:spPr>
          <a:xfrm>
            <a:off x="4617720" y="1261872"/>
            <a:ext cx="4251960" cy="1828800"/>
          </a:xfrm>
          <a:prstGeom prst="rect">
            <a:avLst/>
          </a:prstGeom>
          <a:solidFill>
            <a:srgbClr val="1C2330"/>
          </a:solidFill>
          <a:ln w="12700">
            <a:solidFill>
              <a:srgbClr val="1DB954"/>
            </a:solidFill>
            <a:prstDash val="solid"/>
          </a:ln>
        </p:spPr>
        <p:txBody>
          <a:bodyPr/>
          <a:lstStyle/>
          <a:p>
            <a:endParaRPr lang="es-PE"/>
          </a:p>
        </p:txBody>
      </p:sp>
      <p:sp>
        <p:nvSpPr>
          <p:cNvPr id="33" name="Shape 31"/>
          <p:cNvSpPr/>
          <p:nvPr/>
        </p:nvSpPr>
        <p:spPr>
          <a:xfrm>
            <a:off x="4617720" y="1261872"/>
            <a:ext cx="4251960" cy="237744"/>
          </a:xfrm>
          <a:prstGeom prst="rect">
            <a:avLst/>
          </a:prstGeom>
          <a:solidFill>
            <a:srgbClr val="080C12"/>
          </a:solidFill>
          <a:ln w="12700">
            <a:solidFill>
              <a:srgbClr val="080C12"/>
            </a:solidFill>
            <a:prstDash val="solid"/>
          </a:ln>
        </p:spPr>
        <p:txBody>
          <a:bodyPr/>
          <a:lstStyle/>
          <a:p>
            <a:endParaRPr lang="es-PE"/>
          </a:p>
        </p:txBody>
      </p:sp>
      <p:sp>
        <p:nvSpPr>
          <p:cNvPr id="34" name="Text 32"/>
          <p:cNvSpPr/>
          <p:nvPr/>
        </p:nvSpPr>
        <p:spPr>
          <a:xfrm>
            <a:off x="4709160" y="1261872"/>
            <a:ext cx="320040" cy="237744"/>
          </a:xfrm>
          <a:prstGeom prst="rect">
            <a:avLst/>
          </a:prstGeom>
          <a:noFill/>
          <a:ln/>
        </p:spPr>
        <p:txBody>
          <a:bodyPr wrap="square" lIns="0" tIns="0" rIns="0" bIns="0" rtlCol="0" anchor="ctr"/>
          <a:lstStyle/>
          <a:p>
            <a:pPr marL="0" indent="0" algn="l">
              <a:buNone/>
            </a:pPr>
            <a:r>
              <a:rPr lang="en-US" sz="900" b="1" dirty="0">
                <a:solidFill>
                  <a:srgbClr val="1DB954"/>
                </a:solidFill>
                <a:latin typeface="Calibri" pitchFamily="34" charset="0"/>
                <a:ea typeface="Calibri" pitchFamily="34" charset="-122"/>
                <a:cs typeface="Calibri" pitchFamily="34" charset="-120"/>
              </a:rPr>
              <a:t>C#</a:t>
            </a:r>
            <a:endParaRPr lang="en-US" sz="900" dirty="0"/>
          </a:p>
        </p:txBody>
      </p:sp>
      <p:sp>
        <p:nvSpPr>
          <p:cNvPr id="35" name="Shape 33"/>
          <p:cNvSpPr/>
          <p:nvPr/>
        </p:nvSpPr>
        <p:spPr>
          <a:xfrm>
            <a:off x="5029200" y="1344168"/>
            <a:ext cx="64008" cy="64008"/>
          </a:xfrm>
          <a:prstGeom prst="rect">
            <a:avLst/>
          </a:prstGeom>
          <a:solidFill>
            <a:srgbClr val="F85149"/>
          </a:solidFill>
          <a:ln w="12700">
            <a:solidFill>
              <a:srgbClr val="F85149"/>
            </a:solidFill>
            <a:prstDash val="solid"/>
          </a:ln>
        </p:spPr>
        <p:txBody>
          <a:bodyPr/>
          <a:lstStyle/>
          <a:p>
            <a:endParaRPr lang="es-PE"/>
          </a:p>
        </p:txBody>
      </p:sp>
      <p:sp>
        <p:nvSpPr>
          <p:cNvPr id="36" name="Shape 34"/>
          <p:cNvSpPr/>
          <p:nvPr/>
        </p:nvSpPr>
        <p:spPr>
          <a:xfrm>
            <a:off x="5148072" y="1344168"/>
            <a:ext cx="64008" cy="64008"/>
          </a:xfrm>
          <a:prstGeom prst="rect">
            <a:avLst/>
          </a:prstGeom>
          <a:solidFill>
            <a:srgbClr val="D29922"/>
          </a:solidFill>
          <a:ln w="12700">
            <a:solidFill>
              <a:srgbClr val="D29922"/>
            </a:solidFill>
            <a:prstDash val="solid"/>
          </a:ln>
        </p:spPr>
        <p:txBody>
          <a:bodyPr/>
          <a:lstStyle/>
          <a:p>
            <a:endParaRPr lang="es-PE"/>
          </a:p>
        </p:txBody>
      </p:sp>
      <p:sp>
        <p:nvSpPr>
          <p:cNvPr id="37" name="Shape 35"/>
          <p:cNvSpPr/>
          <p:nvPr/>
        </p:nvSpPr>
        <p:spPr>
          <a:xfrm>
            <a:off x="5266944" y="1344168"/>
            <a:ext cx="64008" cy="64008"/>
          </a:xfrm>
          <a:prstGeom prst="rect">
            <a:avLst/>
          </a:prstGeom>
          <a:solidFill>
            <a:srgbClr val="1DB954"/>
          </a:solidFill>
          <a:ln w="12700">
            <a:solidFill>
              <a:srgbClr val="1DB954"/>
            </a:solidFill>
            <a:prstDash val="solid"/>
          </a:ln>
        </p:spPr>
        <p:txBody>
          <a:bodyPr/>
          <a:lstStyle/>
          <a:p>
            <a:endParaRPr lang="es-PE"/>
          </a:p>
        </p:txBody>
      </p:sp>
      <p:sp>
        <p:nvSpPr>
          <p:cNvPr id="38" name="Text 36"/>
          <p:cNvSpPr/>
          <p:nvPr/>
        </p:nvSpPr>
        <p:spPr>
          <a:xfrm>
            <a:off x="4727448" y="1536192"/>
            <a:ext cx="4069080" cy="1463040"/>
          </a:xfrm>
          <a:prstGeom prst="rect">
            <a:avLst/>
          </a:prstGeom>
          <a:noFill/>
          <a:ln/>
        </p:spPr>
        <p:txBody>
          <a:bodyPr wrap="square" lIns="0" tIns="0" rIns="0" bIns="0" rtlCol="0" anchor="t"/>
          <a:lstStyle/>
          <a:p>
            <a:pPr marL="0" indent="0" algn="l">
              <a:buNone/>
            </a:pPr>
            <a:r>
              <a:rPr lang="en-US" sz="800" dirty="0">
                <a:solidFill>
                  <a:srgbClr val="CDD9E5"/>
                </a:solidFill>
                <a:latin typeface="Consolas" pitchFamily="34" charset="0"/>
                <a:ea typeface="Consolas" pitchFamily="34" charset="-122"/>
                <a:cs typeface="Consolas" pitchFamily="34" charset="-120"/>
              </a:rPr>
              <a:t>// ✅ SRP — cada clase una responsabilidad</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public class Cancion {</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  public string Titulo  { get; set; }</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  public string Artista { get; set; }</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  public TimeSpan Duracion { get; set; }</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public class CancionRepository {</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  public void Guardar(Cancion c) { }</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public class NotificacionService {</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  public void Notificar(string msg) { }</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a:t>
            </a:r>
            <a:endParaRPr lang="en-US" sz="800" dirty="0"/>
          </a:p>
        </p:txBody>
      </p:sp>
      <p:sp>
        <p:nvSpPr>
          <p:cNvPr id="39" name="Shape 37"/>
          <p:cNvSpPr/>
          <p:nvPr/>
        </p:nvSpPr>
        <p:spPr>
          <a:xfrm>
            <a:off x="4617720" y="3163824"/>
            <a:ext cx="4251960" cy="1956816"/>
          </a:xfrm>
          <a:prstGeom prst="rect">
            <a:avLst/>
          </a:prstGeom>
          <a:solidFill>
            <a:srgbClr val="1C2330"/>
          </a:solidFill>
          <a:ln w="12700">
            <a:solidFill>
              <a:srgbClr val="2EA198"/>
            </a:solidFill>
            <a:prstDash val="solid"/>
          </a:ln>
        </p:spPr>
        <p:txBody>
          <a:bodyPr/>
          <a:lstStyle/>
          <a:p>
            <a:endParaRPr lang="es-PE"/>
          </a:p>
        </p:txBody>
      </p:sp>
      <p:sp>
        <p:nvSpPr>
          <p:cNvPr id="40" name="Shape 38"/>
          <p:cNvSpPr/>
          <p:nvPr/>
        </p:nvSpPr>
        <p:spPr>
          <a:xfrm>
            <a:off x="4617720" y="3163824"/>
            <a:ext cx="4251960" cy="237744"/>
          </a:xfrm>
          <a:prstGeom prst="rect">
            <a:avLst/>
          </a:prstGeom>
          <a:solidFill>
            <a:srgbClr val="080C12"/>
          </a:solidFill>
          <a:ln w="12700">
            <a:solidFill>
              <a:srgbClr val="080C12"/>
            </a:solidFill>
            <a:prstDash val="solid"/>
          </a:ln>
        </p:spPr>
        <p:txBody>
          <a:bodyPr/>
          <a:lstStyle/>
          <a:p>
            <a:endParaRPr lang="es-PE"/>
          </a:p>
        </p:txBody>
      </p:sp>
      <p:sp>
        <p:nvSpPr>
          <p:cNvPr id="41" name="Text 39"/>
          <p:cNvSpPr/>
          <p:nvPr/>
        </p:nvSpPr>
        <p:spPr>
          <a:xfrm>
            <a:off x="4709160" y="3163824"/>
            <a:ext cx="320040" cy="237744"/>
          </a:xfrm>
          <a:prstGeom prst="rect">
            <a:avLst/>
          </a:prstGeom>
          <a:noFill/>
          <a:ln/>
        </p:spPr>
        <p:txBody>
          <a:bodyPr wrap="square" lIns="0" tIns="0" rIns="0" bIns="0" rtlCol="0" anchor="ctr"/>
          <a:lstStyle/>
          <a:p>
            <a:pPr marL="0" indent="0" algn="l">
              <a:buNone/>
            </a:pPr>
            <a:r>
              <a:rPr lang="en-US" sz="900" b="1" dirty="0">
                <a:solidFill>
                  <a:srgbClr val="2EA198"/>
                </a:solidFill>
                <a:latin typeface="Calibri" pitchFamily="34" charset="0"/>
                <a:ea typeface="Calibri" pitchFamily="34" charset="-122"/>
                <a:cs typeface="Calibri" pitchFamily="34" charset="-120"/>
              </a:rPr>
              <a:t>C#</a:t>
            </a:r>
            <a:endParaRPr lang="en-US" sz="900" dirty="0"/>
          </a:p>
        </p:txBody>
      </p:sp>
      <p:sp>
        <p:nvSpPr>
          <p:cNvPr id="42" name="Shape 40"/>
          <p:cNvSpPr/>
          <p:nvPr/>
        </p:nvSpPr>
        <p:spPr>
          <a:xfrm>
            <a:off x="5029200" y="3246120"/>
            <a:ext cx="64008" cy="64008"/>
          </a:xfrm>
          <a:prstGeom prst="rect">
            <a:avLst/>
          </a:prstGeom>
          <a:solidFill>
            <a:srgbClr val="F85149"/>
          </a:solidFill>
          <a:ln w="12700">
            <a:solidFill>
              <a:srgbClr val="F85149"/>
            </a:solidFill>
            <a:prstDash val="solid"/>
          </a:ln>
        </p:spPr>
        <p:txBody>
          <a:bodyPr/>
          <a:lstStyle/>
          <a:p>
            <a:endParaRPr lang="es-PE"/>
          </a:p>
        </p:txBody>
      </p:sp>
      <p:sp>
        <p:nvSpPr>
          <p:cNvPr id="43" name="Shape 41"/>
          <p:cNvSpPr/>
          <p:nvPr/>
        </p:nvSpPr>
        <p:spPr>
          <a:xfrm>
            <a:off x="5148072" y="3246120"/>
            <a:ext cx="64008" cy="64008"/>
          </a:xfrm>
          <a:prstGeom prst="rect">
            <a:avLst/>
          </a:prstGeom>
          <a:solidFill>
            <a:srgbClr val="D29922"/>
          </a:solidFill>
          <a:ln w="12700">
            <a:solidFill>
              <a:srgbClr val="D29922"/>
            </a:solidFill>
            <a:prstDash val="solid"/>
          </a:ln>
        </p:spPr>
        <p:txBody>
          <a:bodyPr/>
          <a:lstStyle/>
          <a:p>
            <a:endParaRPr lang="es-PE"/>
          </a:p>
        </p:txBody>
      </p:sp>
      <p:sp>
        <p:nvSpPr>
          <p:cNvPr id="44" name="Shape 42"/>
          <p:cNvSpPr/>
          <p:nvPr/>
        </p:nvSpPr>
        <p:spPr>
          <a:xfrm>
            <a:off x="5266944" y="3246120"/>
            <a:ext cx="64008" cy="64008"/>
          </a:xfrm>
          <a:prstGeom prst="rect">
            <a:avLst/>
          </a:prstGeom>
          <a:solidFill>
            <a:srgbClr val="1DB954"/>
          </a:solidFill>
          <a:ln w="12700">
            <a:solidFill>
              <a:srgbClr val="1DB954"/>
            </a:solidFill>
            <a:prstDash val="solid"/>
          </a:ln>
        </p:spPr>
        <p:txBody>
          <a:bodyPr/>
          <a:lstStyle/>
          <a:p>
            <a:endParaRPr lang="es-PE"/>
          </a:p>
        </p:txBody>
      </p:sp>
      <p:sp>
        <p:nvSpPr>
          <p:cNvPr id="45" name="Text 43"/>
          <p:cNvSpPr/>
          <p:nvPr/>
        </p:nvSpPr>
        <p:spPr>
          <a:xfrm>
            <a:off x="4727448" y="3438144"/>
            <a:ext cx="4069080" cy="1591056"/>
          </a:xfrm>
          <a:prstGeom prst="rect">
            <a:avLst/>
          </a:prstGeom>
          <a:noFill/>
          <a:ln/>
        </p:spPr>
        <p:txBody>
          <a:bodyPr wrap="square" lIns="0" tIns="0" rIns="0" bIns="0" rtlCol="0" anchor="t"/>
          <a:lstStyle/>
          <a:p>
            <a:pPr marL="0" indent="0" algn="l">
              <a:buNone/>
            </a:pPr>
            <a:r>
              <a:rPr lang="en-US" sz="800" dirty="0">
                <a:solidFill>
                  <a:srgbClr val="CDD9E5"/>
                </a:solidFill>
                <a:latin typeface="Consolas" pitchFamily="34" charset="0"/>
                <a:ea typeface="Consolas" pitchFamily="34" charset="-122"/>
                <a:cs typeface="Consolas" pitchFamily="34" charset="-120"/>
              </a:rPr>
              <a:t>// ✅ DIP — depender de abstracciones</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public interface IReproductorAudio {</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  void Reproducir(string url);</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public class ServicioMusica {</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  private readonly IReproductorAudio _r;</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  public ServicioMusica(IReproductorAudio r)</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    =&gt; _r = r;  // inyección de dependencia</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  public void Play(string url)</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    =&gt; _r.Reproducir(url);</a:t>
            </a:r>
            <a:endParaRPr lang="en-US" sz="800" dirty="0"/>
          </a:p>
          <a:p>
            <a:pPr marL="0" indent="0" algn="l">
              <a:buNone/>
            </a:pPr>
            <a:r>
              <a:rPr lang="en-US" sz="800" dirty="0">
                <a:solidFill>
                  <a:srgbClr val="CDD9E5"/>
                </a:solidFill>
                <a:latin typeface="Consolas" pitchFamily="34" charset="0"/>
                <a:ea typeface="Consolas" pitchFamily="34" charset="-122"/>
                <a:cs typeface="Consolas" pitchFamily="34" charset="-120"/>
              </a:rPr>
              <a: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8BFD"/>
          </a:solidFill>
          <a:ln w="12700">
            <a:solidFill>
              <a:srgbClr val="388BFD"/>
            </a:solidFill>
            <a:prstDash val="solid"/>
          </a:ln>
        </p:spPr>
        <p:txBody>
          <a:bodyPr/>
          <a:lstStyle/>
          <a:p>
            <a:endParaRPr lang="es-PE"/>
          </a:p>
        </p:txBody>
      </p:sp>
      <p:sp>
        <p:nvSpPr>
          <p:cNvPr id="3" name="Shape 1"/>
          <p:cNvSpPr/>
          <p:nvPr/>
        </p:nvSpPr>
        <p:spPr>
          <a:xfrm>
            <a:off x="109728" y="0"/>
            <a:ext cx="9034272" cy="749808"/>
          </a:xfrm>
          <a:prstGeom prst="rect">
            <a:avLst/>
          </a:prstGeom>
          <a:solidFill>
            <a:srgbClr val="161B22"/>
          </a:solidFill>
          <a:ln w="12700">
            <a:solidFill>
              <a:srgbClr val="161B22"/>
            </a:solidFill>
            <a:prstDash val="solid"/>
          </a:ln>
        </p:spPr>
        <p:txBody>
          <a:bodyPr/>
          <a:lstStyle/>
          <a:p>
            <a:endParaRPr lang="es-PE"/>
          </a:p>
        </p:txBody>
      </p:sp>
      <p:sp>
        <p:nvSpPr>
          <p:cNvPr id="4" name="Shape 2"/>
          <p:cNvSpPr/>
          <p:nvPr/>
        </p:nvSpPr>
        <p:spPr>
          <a:xfrm>
            <a:off x="109728" y="749808"/>
            <a:ext cx="9034272" cy="36576"/>
          </a:xfrm>
          <a:prstGeom prst="rect">
            <a:avLst/>
          </a:prstGeom>
          <a:solidFill>
            <a:srgbClr val="388BFD"/>
          </a:solidFill>
          <a:ln w="12700">
            <a:solidFill>
              <a:srgbClr val="388BFD"/>
            </a:solidFill>
            <a:prstDash val="solid"/>
          </a:ln>
        </p:spPr>
        <p:txBody>
          <a:bodyPr/>
          <a:lstStyle/>
          <a:p>
            <a:endParaRPr lang="es-PE"/>
          </a:p>
        </p:txBody>
      </p:sp>
      <p:sp>
        <p:nvSpPr>
          <p:cNvPr id="5" name="Text 3"/>
          <p:cNvSpPr/>
          <p:nvPr/>
        </p:nvSpPr>
        <p:spPr>
          <a:xfrm>
            <a:off x="320040" y="0"/>
            <a:ext cx="8686800" cy="749808"/>
          </a:xfrm>
          <a:prstGeom prst="rect">
            <a:avLst/>
          </a:prstGeom>
          <a:noFill/>
          <a:ln/>
        </p:spPr>
        <p:txBody>
          <a:bodyPr wrap="square" lIns="0" tIns="0" rIns="0" bIns="0" rtlCol="0" anchor="ctr"/>
          <a:lstStyle/>
          <a:p>
            <a:pPr marL="0" indent="0" algn="l">
              <a:buNone/>
            </a:pPr>
            <a:r>
              <a:rPr lang="en-US" sz="1700" b="1" dirty="0">
                <a:solidFill>
                  <a:srgbClr val="FFFFFF"/>
                </a:solidFill>
                <a:latin typeface="Trebuchet MS" pitchFamily="34" charset="0"/>
                <a:ea typeface="Trebuchet MS" pitchFamily="34" charset="-122"/>
                <a:cs typeface="Trebuchet MS" pitchFamily="34" charset="-120"/>
              </a:rPr>
              <a:t>Pregunta 2 — Jerarquía de Clases para Contenido Spotify</a:t>
            </a:r>
            <a:endParaRPr lang="en-US" sz="1700" dirty="0"/>
          </a:p>
        </p:txBody>
      </p:sp>
      <p:sp>
        <p:nvSpPr>
          <p:cNvPr id="6" name="Text 4"/>
          <p:cNvSpPr/>
          <p:nvPr/>
        </p:nvSpPr>
        <p:spPr>
          <a:xfrm>
            <a:off x="320040" y="822960"/>
            <a:ext cx="8686800" cy="329184"/>
          </a:xfrm>
          <a:prstGeom prst="rect">
            <a:avLst/>
          </a:prstGeom>
          <a:noFill/>
          <a:ln/>
        </p:spPr>
        <p:txBody>
          <a:bodyPr wrap="square" lIns="0" tIns="0" rIns="0" bIns="0" rtlCol="0" anchor="t"/>
          <a:lstStyle/>
          <a:p>
            <a:pPr marL="0" indent="0" algn="l">
              <a:buNone/>
            </a:pPr>
            <a:r>
              <a:rPr lang="en-US" sz="1000" i="1" dirty="0">
                <a:solidFill>
                  <a:srgbClr val="8B949E"/>
                </a:solidFill>
                <a:latin typeface="Calibri" pitchFamily="34" charset="0"/>
                <a:ea typeface="Calibri" pitchFamily="34" charset="-122"/>
                <a:cs typeface="Calibri" pitchFamily="34" charset="-120"/>
              </a:rPr>
              <a:t>¿Qué atributos y métodos compartiría la clase base? ¿Qué sobreescribirían las clases derivadas?</a:t>
            </a:r>
            <a:endParaRPr lang="en-US" sz="1000" dirty="0"/>
          </a:p>
        </p:txBody>
      </p:sp>
      <p:sp>
        <p:nvSpPr>
          <p:cNvPr id="7" name="Shape 5"/>
          <p:cNvSpPr/>
          <p:nvPr/>
        </p:nvSpPr>
        <p:spPr>
          <a:xfrm>
            <a:off x="256032" y="1261872"/>
            <a:ext cx="4160520" cy="950976"/>
          </a:xfrm>
          <a:prstGeom prst="rect">
            <a:avLst/>
          </a:prstGeom>
          <a:solidFill>
            <a:srgbClr val="161B22"/>
          </a:solidFill>
          <a:ln w="12700">
            <a:solidFill>
              <a:srgbClr val="0A2A5C"/>
            </a:solidFill>
            <a:prstDash val="solid"/>
          </a:ln>
        </p:spPr>
        <p:txBody>
          <a:bodyPr/>
          <a:lstStyle/>
          <a:p>
            <a:endParaRPr lang="es-PE"/>
          </a:p>
        </p:txBody>
      </p:sp>
      <p:sp>
        <p:nvSpPr>
          <p:cNvPr id="8" name="Shape 6"/>
          <p:cNvSpPr/>
          <p:nvPr/>
        </p:nvSpPr>
        <p:spPr>
          <a:xfrm>
            <a:off x="256032" y="1261872"/>
            <a:ext cx="4160520" cy="256032"/>
          </a:xfrm>
          <a:prstGeom prst="rect">
            <a:avLst/>
          </a:prstGeom>
          <a:solidFill>
            <a:srgbClr val="001A3A"/>
          </a:solidFill>
          <a:ln w="12700">
            <a:solidFill>
              <a:srgbClr val="001A3A"/>
            </a:solidFill>
            <a:prstDash val="solid"/>
          </a:ln>
        </p:spPr>
        <p:txBody>
          <a:bodyPr/>
          <a:lstStyle/>
          <a:p>
            <a:endParaRPr lang="es-PE"/>
          </a:p>
        </p:txBody>
      </p:sp>
      <p:sp>
        <p:nvSpPr>
          <p:cNvPr id="9" name="Text 7"/>
          <p:cNvSpPr/>
          <p:nvPr/>
        </p:nvSpPr>
        <p:spPr>
          <a:xfrm>
            <a:off x="384048" y="1261872"/>
            <a:ext cx="3931920" cy="256032"/>
          </a:xfrm>
          <a:prstGeom prst="rect">
            <a:avLst/>
          </a:prstGeom>
          <a:noFill/>
          <a:ln/>
        </p:spPr>
        <p:txBody>
          <a:bodyPr wrap="square" lIns="0" tIns="0" rIns="0" bIns="0" rtlCol="0" anchor="ctr"/>
          <a:lstStyle/>
          <a:p>
            <a:pPr marL="0" indent="0" algn="l">
              <a:buNone/>
            </a:pPr>
            <a:r>
              <a:rPr lang="en-US" sz="1100" b="1" dirty="0">
                <a:solidFill>
                  <a:srgbClr val="388BFD"/>
                </a:solidFill>
                <a:latin typeface="Trebuchet MS" pitchFamily="34" charset="0"/>
                <a:ea typeface="Trebuchet MS" pitchFamily="34" charset="-122"/>
                <a:cs typeface="Trebuchet MS" pitchFamily="34" charset="-120"/>
              </a:rPr>
              <a:t>ContenidoSpotify  (abstract class)</a:t>
            </a:r>
            <a:endParaRPr lang="en-US" sz="1100" dirty="0"/>
          </a:p>
        </p:txBody>
      </p:sp>
      <p:sp>
        <p:nvSpPr>
          <p:cNvPr id="10" name="Text 8"/>
          <p:cNvSpPr/>
          <p:nvPr/>
        </p:nvSpPr>
        <p:spPr>
          <a:xfrm>
            <a:off x="384048" y="1536192"/>
            <a:ext cx="3931920" cy="219456"/>
          </a:xfrm>
          <a:prstGeom prst="rect">
            <a:avLst/>
          </a:prstGeom>
          <a:noFill/>
          <a:ln/>
        </p:spPr>
        <p:txBody>
          <a:bodyPr wrap="square" lIns="0" tIns="0" rIns="0" bIns="0" rtlCol="0" anchor="ctr"/>
          <a:lstStyle/>
          <a:p>
            <a:pPr marL="0" indent="0" algn="l">
              <a:buNone/>
            </a:pPr>
            <a:r>
              <a:rPr lang="en-US" sz="900" dirty="0">
                <a:solidFill>
                  <a:srgbClr val="8B949E"/>
                </a:solidFill>
                <a:latin typeface="Calibri" pitchFamily="34" charset="0"/>
                <a:ea typeface="Calibri" pitchFamily="34" charset="-122"/>
                <a:cs typeface="Calibri" pitchFamily="34" charset="-120"/>
              </a:rPr>
              <a:t>Id · Titulo · Duracion · FechaPublicacion</a:t>
            </a:r>
            <a:endParaRPr lang="en-US" sz="900" dirty="0"/>
          </a:p>
        </p:txBody>
      </p:sp>
      <p:sp>
        <p:nvSpPr>
          <p:cNvPr id="11" name="Text 9"/>
          <p:cNvSpPr/>
          <p:nvPr/>
        </p:nvSpPr>
        <p:spPr>
          <a:xfrm>
            <a:off x="384048" y="1773936"/>
            <a:ext cx="3931920" cy="219456"/>
          </a:xfrm>
          <a:prstGeom prst="rect">
            <a:avLst/>
          </a:prstGeom>
          <a:noFill/>
          <a:ln/>
        </p:spPr>
        <p:txBody>
          <a:bodyPr wrap="square" lIns="0" tIns="0" rIns="0" bIns="0" rtlCol="0" anchor="ctr"/>
          <a:lstStyle/>
          <a:p>
            <a:pPr marL="0" indent="0" algn="l">
              <a:buNone/>
            </a:pPr>
            <a:r>
              <a:rPr lang="en-US" sz="850" dirty="0">
                <a:solidFill>
                  <a:srgbClr val="CDD9E5"/>
                </a:solidFill>
                <a:latin typeface="Calibri" pitchFamily="34" charset="0"/>
                <a:ea typeface="Calibri" pitchFamily="34" charset="-122"/>
                <a:cs typeface="Calibri" pitchFamily="34" charset="-120"/>
              </a:rPr>
              <a:t>Reproducir() abstracto  ·  ObtenerInfo() virtual  ·  ObtenerTipoContenido() abstracto</a:t>
            </a:r>
            <a:endParaRPr lang="en-US" sz="850" dirty="0"/>
          </a:p>
        </p:txBody>
      </p:sp>
      <p:sp>
        <p:nvSpPr>
          <p:cNvPr id="12" name="Shape 10"/>
          <p:cNvSpPr/>
          <p:nvPr/>
        </p:nvSpPr>
        <p:spPr>
          <a:xfrm>
            <a:off x="2331720" y="2212848"/>
            <a:ext cx="18288" cy="182880"/>
          </a:xfrm>
          <a:prstGeom prst="rect">
            <a:avLst/>
          </a:prstGeom>
          <a:solidFill>
            <a:srgbClr val="388BFD"/>
          </a:solidFill>
          <a:ln w="12700">
            <a:solidFill>
              <a:srgbClr val="388BFD"/>
            </a:solidFill>
            <a:prstDash val="solid"/>
          </a:ln>
        </p:spPr>
        <p:txBody>
          <a:bodyPr/>
          <a:lstStyle/>
          <a:p>
            <a:endParaRPr lang="es-PE"/>
          </a:p>
        </p:txBody>
      </p:sp>
      <p:sp>
        <p:nvSpPr>
          <p:cNvPr id="13" name="Shape 11"/>
          <p:cNvSpPr/>
          <p:nvPr/>
        </p:nvSpPr>
        <p:spPr>
          <a:xfrm>
            <a:off x="402336" y="2395728"/>
            <a:ext cx="3822192" cy="18288"/>
          </a:xfrm>
          <a:prstGeom prst="rect">
            <a:avLst/>
          </a:prstGeom>
          <a:solidFill>
            <a:srgbClr val="388BFD"/>
          </a:solidFill>
          <a:ln w="12700">
            <a:solidFill>
              <a:srgbClr val="388BFD"/>
            </a:solidFill>
            <a:prstDash val="solid"/>
          </a:ln>
        </p:spPr>
        <p:txBody>
          <a:bodyPr/>
          <a:lstStyle/>
          <a:p>
            <a:endParaRPr lang="es-PE"/>
          </a:p>
        </p:txBody>
      </p:sp>
      <p:sp>
        <p:nvSpPr>
          <p:cNvPr id="14" name="Shape 12"/>
          <p:cNvSpPr/>
          <p:nvPr/>
        </p:nvSpPr>
        <p:spPr>
          <a:xfrm>
            <a:off x="402336" y="2395728"/>
            <a:ext cx="18288" cy="182880"/>
          </a:xfrm>
          <a:prstGeom prst="rect">
            <a:avLst/>
          </a:prstGeom>
          <a:solidFill>
            <a:srgbClr val="388BFD"/>
          </a:solidFill>
          <a:ln w="12700">
            <a:solidFill>
              <a:srgbClr val="388BFD"/>
            </a:solidFill>
            <a:prstDash val="solid"/>
          </a:ln>
        </p:spPr>
        <p:txBody>
          <a:bodyPr/>
          <a:lstStyle/>
          <a:p>
            <a:endParaRPr lang="es-PE"/>
          </a:p>
        </p:txBody>
      </p:sp>
      <p:sp>
        <p:nvSpPr>
          <p:cNvPr id="15" name="Shape 13"/>
          <p:cNvSpPr/>
          <p:nvPr/>
        </p:nvSpPr>
        <p:spPr>
          <a:xfrm>
            <a:off x="2231136" y="2395728"/>
            <a:ext cx="18288" cy="182880"/>
          </a:xfrm>
          <a:prstGeom prst="rect">
            <a:avLst/>
          </a:prstGeom>
          <a:solidFill>
            <a:srgbClr val="388BFD"/>
          </a:solidFill>
          <a:ln w="12700">
            <a:solidFill>
              <a:srgbClr val="388BFD"/>
            </a:solidFill>
            <a:prstDash val="solid"/>
          </a:ln>
        </p:spPr>
        <p:txBody>
          <a:bodyPr/>
          <a:lstStyle/>
          <a:p>
            <a:endParaRPr lang="es-PE"/>
          </a:p>
        </p:txBody>
      </p:sp>
      <p:sp>
        <p:nvSpPr>
          <p:cNvPr id="16" name="Shape 14"/>
          <p:cNvSpPr/>
          <p:nvPr/>
        </p:nvSpPr>
        <p:spPr>
          <a:xfrm>
            <a:off x="3968496" y="2395728"/>
            <a:ext cx="18288" cy="182880"/>
          </a:xfrm>
          <a:prstGeom prst="rect">
            <a:avLst/>
          </a:prstGeom>
          <a:solidFill>
            <a:srgbClr val="388BFD"/>
          </a:solidFill>
          <a:ln w="12700">
            <a:solidFill>
              <a:srgbClr val="388BFD"/>
            </a:solidFill>
            <a:prstDash val="solid"/>
          </a:ln>
        </p:spPr>
        <p:txBody>
          <a:bodyPr/>
          <a:lstStyle/>
          <a:p>
            <a:endParaRPr lang="es-PE"/>
          </a:p>
        </p:txBody>
      </p:sp>
      <p:sp>
        <p:nvSpPr>
          <p:cNvPr id="17" name="Shape 15"/>
          <p:cNvSpPr/>
          <p:nvPr/>
        </p:nvSpPr>
        <p:spPr>
          <a:xfrm>
            <a:off x="256032" y="2578608"/>
            <a:ext cx="1554480" cy="2523744"/>
          </a:xfrm>
          <a:prstGeom prst="rect">
            <a:avLst/>
          </a:prstGeom>
          <a:solidFill>
            <a:srgbClr val="161B22"/>
          </a:solidFill>
          <a:ln w="12700">
            <a:solidFill>
              <a:srgbClr val="1DB954"/>
            </a:solidFill>
            <a:prstDash val="solid"/>
          </a:ln>
        </p:spPr>
        <p:txBody>
          <a:bodyPr/>
          <a:lstStyle/>
          <a:p>
            <a:endParaRPr lang="es-PE"/>
          </a:p>
        </p:txBody>
      </p:sp>
      <p:sp>
        <p:nvSpPr>
          <p:cNvPr id="18" name="Shape 16"/>
          <p:cNvSpPr/>
          <p:nvPr/>
        </p:nvSpPr>
        <p:spPr>
          <a:xfrm>
            <a:off x="256032" y="2578608"/>
            <a:ext cx="1554480" cy="237744"/>
          </a:xfrm>
          <a:prstGeom prst="rect">
            <a:avLst/>
          </a:prstGeom>
          <a:solidFill>
            <a:srgbClr val="1C2330"/>
          </a:solidFill>
          <a:ln w="12700">
            <a:solidFill>
              <a:srgbClr val="1C2330"/>
            </a:solidFill>
            <a:prstDash val="solid"/>
          </a:ln>
        </p:spPr>
        <p:txBody>
          <a:bodyPr/>
          <a:lstStyle/>
          <a:p>
            <a:endParaRPr lang="es-PE"/>
          </a:p>
        </p:txBody>
      </p:sp>
      <p:sp>
        <p:nvSpPr>
          <p:cNvPr id="19" name="Text 17"/>
          <p:cNvSpPr/>
          <p:nvPr/>
        </p:nvSpPr>
        <p:spPr>
          <a:xfrm>
            <a:off x="256032" y="2578608"/>
            <a:ext cx="1554480" cy="237744"/>
          </a:xfrm>
          <a:prstGeom prst="rect">
            <a:avLst/>
          </a:prstGeom>
          <a:noFill/>
          <a:ln/>
        </p:spPr>
        <p:txBody>
          <a:bodyPr wrap="square" lIns="0" tIns="0" rIns="0" bIns="0" rtlCol="0" anchor="ctr"/>
          <a:lstStyle/>
          <a:p>
            <a:pPr marL="0" indent="0" algn="ctr">
              <a:buNone/>
            </a:pPr>
            <a:r>
              <a:rPr lang="en-US" sz="1000" b="1" dirty="0">
                <a:solidFill>
                  <a:srgbClr val="1DB954"/>
                </a:solidFill>
                <a:latin typeface="Trebuchet MS" pitchFamily="34" charset="0"/>
                <a:ea typeface="Trebuchet MS" pitchFamily="34" charset="-122"/>
                <a:cs typeface="Trebuchet MS" pitchFamily="34" charset="-120"/>
              </a:rPr>
              <a:t>Cancion</a:t>
            </a:r>
            <a:endParaRPr lang="en-US" sz="1000" dirty="0"/>
          </a:p>
        </p:txBody>
      </p:sp>
      <p:sp>
        <p:nvSpPr>
          <p:cNvPr id="20" name="Shape 18"/>
          <p:cNvSpPr/>
          <p:nvPr/>
        </p:nvSpPr>
        <p:spPr>
          <a:xfrm>
            <a:off x="329184" y="2834640"/>
            <a:ext cx="1408176" cy="18288"/>
          </a:xfrm>
          <a:prstGeom prst="rect">
            <a:avLst/>
          </a:prstGeom>
          <a:solidFill>
            <a:srgbClr val="30363D"/>
          </a:solidFill>
          <a:ln w="12700">
            <a:solidFill>
              <a:srgbClr val="30363D"/>
            </a:solidFill>
            <a:prstDash val="solid"/>
          </a:ln>
        </p:spPr>
        <p:txBody>
          <a:bodyPr/>
          <a:lstStyle/>
          <a:p>
            <a:endParaRPr lang="es-PE"/>
          </a:p>
        </p:txBody>
      </p:sp>
      <p:sp>
        <p:nvSpPr>
          <p:cNvPr id="21" name="Text 19"/>
          <p:cNvSpPr/>
          <p:nvPr/>
        </p:nvSpPr>
        <p:spPr>
          <a:xfrm>
            <a:off x="347472" y="2871216"/>
            <a:ext cx="1389888" cy="475488"/>
          </a:xfrm>
          <a:prstGeom prst="rect">
            <a:avLst/>
          </a:prstGeom>
          <a:noFill/>
          <a:ln/>
        </p:spPr>
        <p:txBody>
          <a:bodyPr wrap="square" lIns="0" tIns="0" rIns="0" bIns="0" rtlCol="0" anchor="t"/>
          <a:lstStyle/>
          <a:p>
            <a:pPr marL="0" indent="0" algn="l">
              <a:buNone/>
            </a:pPr>
            <a:r>
              <a:rPr lang="en-US" sz="850" dirty="0">
                <a:solidFill>
                  <a:srgbClr val="8B949E"/>
                </a:solidFill>
                <a:latin typeface="Calibri" pitchFamily="34" charset="0"/>
                <a:ea typeface="Calibri" pitchFamily="34" charset="-122"/>
                <a:cs typeface="Calibri" pitchFamily="34" charset="-120"/>
              </a:rPr>
              <a:t>Artista · Album</a:t>
            </a:r>
            <a:endParaRPr lang="en-US" sz="850" dirty="0"/>
          </a:p>
          <a:p>
            <a:pPr marL="0" indent="0" algn="l">
              <a:buNone/>
            </a:pPr>
            <a:r>
              <a:rPr lang="en-US" sz="850" dirty="0">
                <a:solidFill>
                  <a:srgbClr val="8B949E"/>
                </a:solidFill>
                <a:latin typeface="Calibri" pitchFamily="34" charset="0"/>
                <a:ea typeface="Calibri" pitchFamily="34" charset="-122"/>
                <a:cs typeface="Calibri" pitchFamily="34" charset="-120"/>
              </a:rPr>
              <a:t>Letra · Genero</a:t>
            </a:r>
            <a:endParaRPr lang="en-US" sz="850" dirty="0"/>
          </a:p>
        </p:txBody>
      </p:sp>
      <p:sp>
        <p:nvSpPr>
          <p:cNvPr id="22" name="Shape 20"/>
          <p:cNvSpPr/>
          <p:nvPr/>
        </p:nvSpPr>
        <p:spPr>
          <a:xfrm>
            <a:off x="329184" y="3364992"/>
            <a:ext cx="1408176" cy="18288"/>
          </a:xfrm>
          <a:prstGeom prst="rect">
            <a:avLst/>
          </a:prstGeom>
          <a:solidFill>
            <a:srgbClr val="30363D"/>
          </a:solidFill>
          <a:ln w="12700">
            <a:solidFill>
              <a:srgbClr val="30363D"/>
            </a:solidFill>
            <a:prstDash val="solid"/>
          </a:ln>
        </p:spPr>
        <p:txBody>
          <a:bodyPr/>
          <a:lstStyle/>
          <a:p>
            <a:endParaRPr lang="es-PE"/>
          </a:p>
        </p:txBody>
      </p:sp>
      <p:sp>
        <p:nvSpPr>
          <p:cNvPr id="23" name="Text 21"/>
          <p:cNvSpPr/>
          <p:nvPr/>
        </p:nvSpPr>
        <p:spPr>
          <a:xfrm>
            <a:off x="347472" y="3401568"/>
            <a:ext cx="1389888" cy="749808"/>
          </a:xfrm>
          <a:prstGeom prst="rect">
            <a:avLst/>
          </a:prstGeom>
          <a:noFill/>
          <a:ln/>
        </p:spPr>
        <p:txBody>
          <a:bodyPr wrap="square" lIns="0" tIns="0" rIns="0" bIns="0" rtlCol="0" anchor="t"/>
          <a:lstStyle/>
          <a:p>
            <a:pPr marL="0" indent="0" algn="l">
              <a:buNone/>
            </a:pPr>
            <a:r>
              <a:rPr lang="en-US" sz="850" dirty="0">
                <a:solidFill>
                  <a:srgbClr val="1DB954"/>
                </a:solidFill>
                <a:latin typeface="Calibri" pitchFamily="34" charset="0"/>
                <a:ea typeface="Calibri" pitchFamily="34" charset="-122"/>
                <a:cs typeface="Calibri" pitchFamily="34" charset="-120"/>
              </a:rPr>
              <a:t>override Reproducir()</a:t>
            </a:r>
            <a:endParaRPr lang="en-US" sz="850" dirty="0"/>
          </a:p>
          <a:p>
            <a:pPr marL="0" indent="0" algn="l">
              <a:buNone/>
            </a:pPr>
            <a:r>
              <a:rPr lang="en-US" sz="850" dirty="0">
                <a:solidFill>
                  <a:srgbClr val="1DB954"/>
                </a:solidFill>
                <a:latin typeface="Calibri" pitchFamily="34" charset="0"/>
                <a:ea typeface="Calibri" pitchFamily="34" charset="-122"/>
                <a:cs typeface="Calibri" pitchFamily="34" charset="-120"/>
              </a:rPr>
              <a:t>override ObtenerInfo()</a:t>
            </a:r>
            <a:endParaRPr lang="en-US" sz="850" dirty="0"/>
          </a:p>
        </p:txBody>
      </p:sp>
      <p:sp>
        <p:nvSpPr>
          <p:cNvPr id="24" name="Shape 22"/>
          <p:cNvSpPr/>
          <p:nvPr/>
        </p:nvSpPr>
        <p:spPr>
          <a:xfrm>
            <a:off x="1901952" y="2578608"/>
            <a:ext cx="1554480" cy="2523744"/>
          </a:xfrm>
          <a:prstGeom prst="rect">
            <a:avLst/>
          </a:prstGeom>
          <a:solidFill>
            <a:srgbClr val="161B22"/>
          </a:solidFill>
          <a:ln w="12700">
            <a:solidFill>
              <a:srgbClr val="D29922"/>
            </a:solidFill>
            <a:prstDash val="solid"/>
          </a:ln>
        </p:spPr>
        <p:txBody>
          <a:bodyPr/>
          <a:lstStyle/>
          <a:p>
            <a:endParaRPr lang="es-PE"/>
          </a:p>
        </p:txBody>
      </p:sp>
      <p:sp>
        <p:nvSpPr>
          <p:cNvPr id="25" name="Shape 23"/>
          <p:cNvSpPr/>
          <p:nvPr/>
        </p:nvSpPr>
        <p:spPr>
          <a:xfrm>
            <a:off x="1901952" y="2578608"/>
            <a:ext cx="1554480" cy="237744"/>
          </a:xfrm>
          <a:prstGeom prst="rect">
            <a:avLst/>
          </a:prstGeom>
          <a:solidFill>
            <a:srgbClr val="1C2330"/>
          </a:solidFill>
          <a:ln w="12700">
            <a:solidFill>
              <a:srgbClr val="1C2330"/>
            </a:solidFill>
            <a:prstDash val="solid"/>
          </a:ln>
        </p:spPr>
        <p:txBody>
          <a:bodyPr/>
          <a:lstStyle/>
          <a:p>
            <a:endParaRPr lang="es-PE"/>
          </a:p>
        </p:txBody>
      </p:sp>
      <p:sp>
        <p:nvSpPr>
          <p:cNvPr id="26" name="Text 24"/>
          <p:cNvSpPr/>
          <p:nvPr/>
        </p:nvSpPr>
        <p:spPr>
          <a:xfrm>
            <a:off x="1901952" y="2578608"/>
            <a:ext cx="1554480" cy="237744"/>
          </a:xfrm>
          <a:prstGeom prst="rect">
            <a:avLst/>
          </a:prstGeom>
          <a:noFill/>
          <a:ln/>
        </p:spPr>
        <p:txBody>
          <a:bodyPr wrap="square" lIns="0" tIns="0" rIns="0" bIns="0" rtlCol="0" anchor="ctr"/>
          <a:lstStyle/>
          <a:p>
            <a:pPr marL="0" indent="0" algn="ctr">
              <a:buNone/>
            </a:pPr>
            <a:r>
              <a:rPr lang="en-US" sz="1000" b="1" dirty="0">
                <a:solidFill>
                  <a:srgbClr val="D29922"/>
                </a:solidFill>
                <a:latin typeface="Trebuchet MS" pitchFamily="34" charset="0"/>
                <a:ea typeface="Trebuchet MS" pitchFamily="34" charset="-122"/>
                <a:cs typeface="Trebuchet MS" pitchFamily="34" charset="-120"/>
              </a:rPr>
              <a:t>Podcast</a:t>
            </a:r>
            <a:endParaRPr lang="en-US" sz="1000" dirty="0"/>
          </a:p>
        </p:txBody>
      </p:sp>
      <p:sp>
        <p:nvSpPr>
          <p:cNvPr id="27" name="Shape 25"/>
          <p:cNvSpPr/>
          <p:nvPr/>
        </p:nvSpPr>
        <p:spPr>
          <a:xfrm>
            <a:off x="1975104" y="2834640"/>
            <a:ext cx="1408176" cy="18288"/>
          </a:xfrm>
          <a:prstGeom prst="rect">
            <a:avLst/>
          </a:prstGeom>
          <a:solidFill>
            <a:srgbClr val="30363D"/>
          </a:solidFill>
          <a:ln w="12700">
            <a:solidFill>
              <a:srgbClr val="30363D"/>
            </a:solidFill>
            <a:prstDash val="solid"/>
          </a:ln>
        </p:spPr>
        <p:txBody>
          <a:bodyPr/>
          <a:lstStyle/>
          <a:p>
            <a:endParaRPr lang="es-PE"/>
          </a:p>
        </p:txBody>
      </p:sp>
      <p:sp>
        <p:nvSpPr>
          <p:cNvPr id="28" name="Text 26"/>
          <p:cNvSpPr/>
          <p:nvPr/>
        </p:nvSpPr>
        <p:spPr>
          <a:xfrm>
            <a:off x="1993392" y="2871216"/>
            <a:ext cx="1389888" cy="475488"/>
          </a:xfrm>
          <a:prstGeom prst="rect">
            <a:avLst/>
          </a:prstGeom>
          <a:noFill/>
          <a:ln/>
        </p:spPr>
        <p:txBody>
          <a:bodyPr wrap="square" lIns="0" tIns="0" rIns="0" bIns="0" rtlCol="0" anchor="t"/>
          <a:lstStyle/>
          <a:p>
            <a:pPr marL="0" indent="0" algn="l">
              <a:buNone/>
            </a:pPr>
            <a:r>
              <a:rPr lang="en-US" sz="850" dirty="0">
                <a:solidFill>
                  <a:srgbClr val="8B949E"/>
                </a:solidFill>
                <a:latin typeface="Calibri" pitchFamily="34" charset="0"/>
                <a:ea typeface="Calibri" pitchFamily="34" charset="-122"/>
                <a:cs typeface="Calibri" pitchFamily="34" charset="-120"/>
              </a:rPr>
              <a:t>Presentador</a:t>
            </a:r>
            <a:endParaRPr lang="en-US" sz="850" dirty="0"/>
          </a:p>
          <a:p>
            <a:pPr marL="0" indent="0" algn="l">
              <a:buNone/>
            </a:pPr>
            <a:r>
              <a:rPr lang="en-US" sz="850" dirty="0">
                <a:solidFill>
                  <a:srgbClr val="8B949E"/>
                </a:solidFill>
                <a:latin typeface="Calibri" pitchFamily="34" charset="0"/>
                <a:ea typeface="Calibri" pitchFamily="34" charset="-122"/>
                <a:cs typeface="Calibri" pitchFamily="34" charset="-120"/>
              </a:rPr>
              <a:t>NumEpisodio</a:t>
            </a:r>
            <a:endParaRPr lang="en-US" sz="850" dirty="0"/>
          </a:p>
        </p:txBody>
      </p:sp>
      <p:sp>
        <p:nvSpPr>
          <p:cNvPr id="29" name="Shape 27"/>
          <p:cNvSpPr/>
          <p:nvPr/>
        </p:nvSpPr>
        <p:spPr>
          <a:xfrm>
            <a:off x="1975104" y="3364992"/>
            <a:ext cx="1408176" cy="18288"/>
          </a:xfrm>
          <a:prstGeom prst="rect">
            <a:avLst/>
          </a:prstGeom>
          <a:solidFill>
            <a:srgbClr val="30363D"/>
          </a:solidFill>
          <a:ln w="12700">
            <a:solidFill>
              <a:srgbClr val="30363D"/>
            </a:solidFill>
            <a:prstDash val="solid"/>
          </a:ln>
        </p:spPr>
        <p:txBody>
          <a:bodyPr/>
          <a:lstStyle/>
          <a:p>
            <a:endParaRPr lang="es-PE"/>
          </a:p>
        </p:txBody>
      </p:sp>
      <p:sp>
        <p:nvSpPr>
          <p:cNvPr id="30" name="Text 28"/>
          <p:cNvSpPr/>
          <p:nvPr/>
        </p:nvSpPr>
        <p:spPr>
          <a:xfrm>
            <a:off x="1993392" y="3401568"/>
            <a:ext cx="1389888" cy="749808"/>
          </a:xfrm>
          <a:prstGeom prst="rect">
            <a:avLst/>
          </a:prstGeom>
          <a:noFill/>
          <a:ln/>
        </p:spPr>
        <p:txBody>
          <a:bodyPr wrap="square" lIns="0" tIns="0" rIns="0" bIns="0" rtlCol="0" anchor="t"/>
          <a:lstStyle/>
          <a:p>
            <a:pPr marL="0" indent="0" algn="l">
              <a:buNone/>
            </a:pPr>
            <a:r>
              <a:rPr lang="en-US" sz="850" dirty="0">
                <a:solidFill>
                  <a:srgbClr val="D29922"/>
                </a:solidFill>
                <a:latin typeface="Calibri" pitchFamily="34" charset="0"/>
                <a:ea typeface="Calibri" pitchFamily="34" charset="-122"/>
                <a:cs typeface="Calibri" pitchFamily="34" charset="-120"/>
              </a:rPr>
              <a:t>override Reproducir()</a:t>
            </a:r>
            <a:endParaRPr lang="en-US" sz="850" dirty="0"/>
          </a:p>
          <a:p>
            <a:pPr marL="0" indent="0" algn="l">
              <a:buNone/>
            </a:pPr>
            <a:r>
              <a:rPr lang="en-US" sz="850" dirty="0">
                <a:solidFill>
                  <a:srgbClr val="D29922"/>
                </a:solidFill>
                <a:latin typeface="Calibri" pitchFamily="34" charset="0"/>
                <a:ea typeface="Calibri" pitchFamily="34" charset="-122"/>
                <a:cs typeface="Calibri" pitchFamily="34" charset="-120"/>
              </a:rPr>
              <a:t>+ MostrarNotas()</a:t>
            </a:r>
            <a:endParaRPr lang="en-US" sz="850" dirty="0"/>
          </a:p>
        </p:txBody>
      </p:sp>
      <p:sp>
        <p:nvSpPr>
          <p:cNvPr id="31" name="Shape 29"/>
          <p:cNvSpPr/>
          <p:nvPr/>
        </p:nvSpPr>
        <p:spPr>
          <a:xfrm>
            <a:off x="3547872" y="2578608"/>
            <a:ext cx="1554480" cy="2523744"/>
          </a:xfrm>
          <a:prstGeom prst="rect">
            <a:avLst/>
          </a:prstGeom>
          <a:solidFill>
            <a:srgbClr val="161B22"/>
          </a:solidFill>
          <a:ln w="12700">
            <a:solidFill>
              <a:srgbClr val="8957E5"/>
            </a:solidFill>
            <a:prstDash val="solid"/>
          </a:ln>
        </p:spPr>
        <p:txBody>
          <a:bodyPr/>
          <a:lstStyle/>
          <a:p>
            <a:endParaRPr lang="es-PE"/>
          </a:p>
        </p:txBody>
      </p:sp>
      <p:sp>
        <p:nvSpPr>
          <p:cNvPr id="32" name="Shape 30"/>
          <p:cNvSpPr/>
          <p:nvPr/>
        </p:nvSpPr>
        <p:spPr>
          <a:xfrm>
            <a:off x="3547872" y="2578608"/>
            <a:ext cx="1554480" cy="237744"/>
          </a:xfrm>
          <a:prstGeom prst="rect">
            <a:avLst/>
          </a:prstGeom>
          <a:solidFill>
            <a:srgbClr val="1C2330"/>
          </a:solidFill>
          <a:ln w="12700">
            <a:solidFill>
              <a:srgbClr val="1C2330"/>
            </a:solidFill>
            <a:prstDash val="solid"/>
          </a:ln>
        </p:spPr>
        <p:txBody>
          <a:bodyPr/>
          <a:lstStyle/>
          <a:p>
            <a:endParaRPr lang="es-PE"/>
          </a:p>
        </p:txBody>
      </p:sp>
      <p:sp>
        <p:nvSpPr>
          <p:cNvPr id="33" name="Text 31"/>
          <p:cNvSpPr/>
          <p:nvPr/>
        </p:nvSpPr>
        <p:spPr>
          <a:xfrm>
            <a:off x="3547872" y="2578608"/>
            <a:ext cx="1554480" cy="237744"/>
          </a:xfrm>
          <a:prstGeom prst="rect">
            <a:avLst/>
          </a:prstGeom>
          <a:noFill/>
          <a:ln/>
        </p:spPr>
        <p:txBody>
          <a:bodyPr wrap="square" lIns="0" tIns="0" rIns="0" bIns="0" rtlCol="0" anchor="ctr"/>
          <a:lstStyle/>
          <a:p>
            <a:pPr marL="0" indent="0" algn="ctr">
              <a:buNone/>
            </a:pPr>
            <a:r>
              <a:rPr lang="en-US" sz="1000" b="1" dirty="0">
                <a:solidFill>
                  <a:srgbClr val="8957E5"/>
                </a:solidFill>
                <a:latin typeface="Trebuchet MS" pitchFamily="34" charset="0"/>
                <a:ea typeface="Trebuchet MS" pitchFamily="34" charset="-122"/>
                <a:cs typeface="Trebuchet MS" pitchFamily="34" charset="-120"/>
              </a:rPr>
              <a:t>Audiolibro</a:t>
            </a:r>
            <a:endParaRPr lang="en-US" sz="1000" dirty="0"/>
          </a:p>
        </p:txBody>
      </p:sp>
      <p:sp>
        <p:nvSpPr>
          <p:cNvPr id="34" name="Shape 32"/>
          <p:cNvSpPr/>
          <p:nvPr/>
        </p:nvSpPr>
        <p:spPr>
          <a:xfrm>
            <a:off x="3621024" y="2834640"/>
            <a:ext cx="1408176" cy="18288"/>
          </a:xfrm>
          <a:prstGeom prst="rect">
            <a:avLst/>
          </a:prstGeom>
          <a:solidFill>
            <a:srgbClr val="30363D"/>
          </a:solidFill>
          <a:ln w="12700">
            <a:solidFill>
              <a:srgbClr val="30363D"/>
            </a:solidFill>
            <a:prstDash val="solid"/>
          </a:ln>
        </p:spPr>
        <p:txBody>
          <a:bodyPr/>
          <a:lstStyle/>
          <a:p>
            <a:endParaRPr lang="es-PE"/>
          </a:p>
        </p:txBody>
      </p:sp>
      <p:sp>
        <p:nvSpPr>
          <p:cNvPr id="35" name="Text 33"/>
          <p:cNvSpPr/>
          <p:nvPr/>
        </p:nvSpPr>
        <p:spPr>
          <a:xfrm>
            <a:off x="3639312" y="2871216"/>
            <a:ext cx="1389888" cy="475488"/>
          </a:xfrm>
          <a:prstGeom prst="rect">
            <a:avLst/>
          </a:prstGeom>
          <a:noFill/>
          <a:ln/>
        </p:spPr>
        <p:txBody>
          <a:bodyPr wrap="square" lIns="0" tIns="0" rIns="0" bIns="0" rtlCol="0" anchor="t"/>
          <a:lstStyle/>
          <a:p>
            <a:pPr marL="0" indent="0" algn="l">
              <a:buNone/>
            </a:pPr>
            <a:r>
              <a:rPr lang="en-US" sz="850" dirty="0">
                <a:solidFill>
                  <a:srgbClr val="8B949E"/>
                </a:solidFill>
                <a:latin typeface="Calibri" pitchFamily="34" charset="0"/>
                <a:ea typeface="Calibri" pitchFamily="34" charset="-122"/>
                <a:cs typeface="Calibri" pitchFamily="34" charset="-120"/>
              </a:rPr>
              <a:t>Autor · Narrador</a:t>
            </a:r>
            <a:endParaRPr lang="en-US" sz="850" dirty="0"/>
          </a:p>
          <a:p>
            <a:pPr marL="0" indent="0" algn="l">
              <a:buNone/>
            </a:pPr>
            <a:r>
              <a:rPr lang="en-US" sz="850" dirty="0">
                <a:solidFill>
                  <a:srgbClr val="8B949E"/>
                </a:solidFill>
                <a:latin typeface="Calibri" pitchFamily="34" charset="0"/>
                <a:ea typeface="Calibri" pitchFamily="34" charset="-122"/>
                <a:cs typeface="Calibri" pitchFamily="34" charset="-120"/>
              </a:rPr>
              <a:t>Capitulo</a:t>
            </a:r>
            <a:endParaRPr lang="en-US" sz="850" dirty="0"/>
          </a:p>
        </p:txBody>
      </p:sp>
      <p:sp>
        <p:nvSpPr>
          <p:cNvPr id="36" name="Shape 34"/>
          <p:cNvSpPr/>
          <p:nvPr/>
        </p:nvSpPr>
        <p:spPr>
          <a:xfrm>
            <a:off x="3621024" y="3364992"/>
            <a:ext cx="1408176" cy="18288"/>
          </a:xfrm>
          <a:prstGeom prst="rect">
            <a:avLst/>
          </a:prstGeom>
          <a:solidFill>
            <a:srgbClr val="30363D"/>
          </a:solidFill>
          <a:ln w="12700">
            <a:solidFill>
              <a:srgbClr val="30363D"/>
            </a:solidFill>
            <a:prstDash val="solid"/>
          </a:ln>
        </p:spPr>
        <p:txBody>
          <a:bodyPr/>
          <a:lstStyle/>
          <a:p>
            <a:endParaRPr lang="es-PE"/>
          </a:p>
        </p:txBody>
      </p:sp>
      <p:sp>
        <p:nvSpPr>
          <p:cNvPr id="37" name="Text 35"/>
          <p:cNvSpPr/>
          <p:nvPr/>
        </p:nvSpPr>
        <p:spPr>
          <a:xfrm>
            <a:off x="3639312" y="3401568"/>
            <a:ext cx="1389888" cy="749808"/>
          </a:xfrm>
          <a:prstGeom prst="rect">
            <a:avLst/>
          </a:prstGeom>
          <a:noFill/>
          <a:ln/>
        </p:spPr>
        <p:txBody>
          <a:bodyPr wrap="square" lIns="0" tIns="0" rIns="0" bIns="0" rtlCol="0" anchor="t"/>
          <a:lstStyle/>
          <a:p>
            <a:pPr marL="0" indent="0" algn="l">
              <a:buNone/>
            </a:pPr>
            <a:r>
              <a:rPr lang="en-US" sz="850" dirty="0">
                <a:solidFill>
                  <a:srgbClr val="8957E5"/>
                </a:solidFill>
                <a:latin typeface="Calibri" pitchFamily="34" charset="0"/>
                <a:ea typeface="Calibri" pitchFamily="34" charset="-122"/>
                <a:cs typeface="Calibri" pitchFamily="34" charset="-120"/>
              </a:rPr>
              <a:t>override Reproducir()</a:t>
            </a:r>
            <a:endParaRPr lang="en-US" sz="850" dirty="0"/>
          </a:p>
          <a:p>
            <a:pPr marL="0" indent="0" algn="l">
              <a:buNone/>
            </a:pPr>
            <a:r>
              <a:rPr lang="en-US" sz="850" dirty="0">
                <a:solidFill>
                  <a:srgbClr val="8957E5"/>
                </a:solidFill>
                <a:latin typeface="Calibri" pitchFamily="34" charset="0"/>
                <a:ea typeface="Calibri" pitchFamily="34" charset="-122"/>
                <a:cs typeface="Calibri" pitchFamily="34" charset="-120"/>
              </a:rPr>
              <a:t>+ IrACapitulo()</a:t>
            </a:r>
            <a:endParaRPr lang="en-US" sz="850" dirty="0"/>
          </a:p>
        </p:txBody>
      </p:sp>
      <p:sp>
        <p:nvSpPr>
          <p:cNvPr id="38" name="Shape 36"/>
          <p:cNvSpPr/>
          <p:nvPr/>
        </p:nvSpPr>
        <p:spPr>
          <a:xfrm>
            <a:off x="4617720" y="1261872"/>
            <a:ext cx="4251960" cy="3858768"/>
          </a:xfrm>
          <a:prstGeom prst="rect">
            <a:avLst/>
          </a:prstGeom>
          <a:solidFill>
            <a:srgbClr val="1C2330"/>
          </a:solidFill>
          <a:ln w="12700">
            <a:solidFill>
              <a:srgbClr val="388BFD"/>
            </a:solidFill>
            <a:prstDash val="solid"/>
          </a:ln>
        </p:spPr>
        <p:txBody>
          <a:bodyPr/>
          <a:lstStyle/>
          <a:p>
            <a:endParaRPr lang="es-PE"/>
          </a:p>
        </p:txBody>
      </p:sp>
      <p:sp>
        <p:nvSpPr>
          <p:cNvPr id="39" name="Shape 37"/>
          <p:cNvSpPr/>
          <p:nvPr/>
        </p:nvSpPr>
        <p:spPr>
          <a:xfrm>
            <a:off x="4617720" y="1261872"/>
            <a:ext cx="4251960" cy="237744"/>
          </a:xfrm>
          <a:prstGeom prst="rect">
            <a:avLst/>
          </a:prstGeom>
          <a:solidFill>
            <a:srgbClr val="080C12"/>
          </a:solidFill>
          <a:ln w="12700">
            <a:solidFill>
              <a:srgbClr val="080C12"/>
            </a:solidFill>
            <a:prstDash val="solid"/>
          </a:ln>
        </p:spPr>
        <p:txBody>
          <a:bodyPr/>
          <a:lstStyle/>
          <a:p>
            <a:endParaRPr lang="es-PE"/>
          </a:p>
        </p:txBody>
      </p:sp>
      <p:sp>
        <p:nvSpPr>
          <p:cNvPr id="40" name="Text 38"/>
          <p:cNvSpPr/>
          <p:nvPr/>
        </p:nvSpPr>
        <p:spPr>
          <a:xfrm>
            <a:off x="4709160" y="1261872"/>
            <a:ext cx="320040" cy="237744"/>
          </a:xfrm>
          <a:prstGeom prst="rect">
            <a:avLst/>
          </a:prstGeom>
          <a:noFill/>
          <a:ln/>
        </p:spPr>
        <p:txBody>
          <a:bodyPr wrap="square" lIns="0" tIns="0" rIns="0" bIns="0" rtlCol="0" anchor="ctr"/>
          <a:lstStyle/>
          <a:p>
            <a:pPr marL="0" indent="0" algn="l">
              <a:buNone/>
            </a:pPr>
            <a:r>
              <a:rPr lang="en-US" sz="900" b="1" dirty="0">
                <a:solidFill>
                  <a:srgbClr val="388BFD"/>
                </a:solidFill>
                <a:latin typeface="Calibri" pitchFamily="34" charset="0"/>
                <a:ea typeface="Calibri" pitchFamily="34" charset="-122"/>
                <a:cs typeface="Calibri" pitchFamily="34" charset="-120"/>
              </a:rPr>
              <a:t>C#</a:t>
            </a:r>
            <a:endParaRPr lang="en-US" sz="900" dirty="0"/>
          </a:p>
        </p:txBody>
      </p:sp>
      <p:sp>
        <p:nvSpPr>
          <p:cNvPr id="41" name="Shape 39"/>
          <p:cNvSpPr/>
          <p:nvPr/>
        </p:nvSpPr>
        <p:spPr>
          <a:xfrm>
            <a:off x="5029200" y="1344168"/>
            <a:ext cx="64008" cy="64008"/>
          </a:xfrm>
          <a:prstGeom prst="rect">
            <a:avLst/>
          </a:prstGeom>
          <a:solidFill>
            <a:srgbClr val="F85149"/>
          </a:solidFill>
          <a:ln w="12700">
            <a:solidFill>
              <a:srgbClr val="F85149"/>
            </a:solidFill>
            <a:prstDash val="solid"/>
          </a:ln>
        </p:spPr>
        <p:txBody>
          <a:bodyPr/>
          <a:lstStyle/>
          <a:p>
            <a:endParaRPr lang="es-PE"/>
          </a:p>
        </p:txBody>
      </p:sp>
      <p:sp>
        <p:nvSpPr>
          <p:cNvPr id="42" name="Shape 40"/>
          <p:cNvSpPr/>
          <p:nvPr/>
        </p:nvSpPr>
        <p:spPr>
          <a:xfrm>
            <a:off x="5148072" y="1344168"/>
            <a:ext cx="64008" cy="64008"/>
          </a:xfrm>
          <a:prstGeom prst="rect">
            <a:avLst/>
          </a:prstGeom>
          <a:solidFill>
            <a:srgbClr val="D29922"/>
          </a:solidFill>
          <a:ln w="12700">
            <a:solidFill>
              <a:srgbClr val="D29922"/>
            </a:solidFill>
            <a:prstDash val="solid"/>
          </a:ln>
        </p:spPr>
        <p:txBody>
          <a:bodyPr/>
          <a:lstStyle/>
          <a:p>
            <a:endParaRPr lang="es-PE"/>
          </a:p>
        </p:txBody>
      </p:sp>
      <p:sp>
        <p:nvSpPr>
          <p:cNvPr id="43" name="Shape 41"/>
          <p:cNvSpPr/>
          <p:nvPr/>
        </p:nvSpPr>
        <p:spPr>
          <a:xfrm>
            <a:off x="5266944" y="1344168"/>
            <a:ext cx="64008" cy="64008"/>
          </a:xfrm>
          <a:prstGeom prst="rect">
            <a:avLst/>
          </a:prstGeom>
          <a:solidFill>
            <a:srgbClr val="1DB954"/>
          </a:solidFill>
          <a:ln w="12700">
            <a:solidFill>
              <a:srgbClr val="1DB954"/>
            </a:solidFill>
            <a:prstDash val="solid"/>
          </a:ln>
        </p:spPr>
        <p:txBody>
          <a:bodyPr/>
          <a:lstStyle/>
          <a:p>
            <a:endParaRPr lang="es-PE"/>
          </a:p>
        </p:txBody>
      </p:sp>
      <p:sp>
        <p:nvSpPr>
          <p:cNvPr id="44" name="Text 42"/>
          <p:cNvSpPr/>
          <p:nvPr/>
        </p:nvSpPr>
        <p:spPr>
          <a:xfrm>
            <a:off x="4727448" y="1536192"/>
            <a:ext cx="4069080" cy="3493008"/>
          </a:xfrm>
          <a:prstGeom prst="rect">
            <a:avLst/>
          </a:prstGeom>
          <a:noFill/>
          <a:ln/>
        </p:spPr>
        <p:txBody>
          <a:bodyPr wrap="square" lIns="0" tIns="0" rIns="0" bIns="0" rtlCol="0" anchor="t"/>
          <a:lstStyle/>
          <a:p>
            <a:pPr marL="0" indent="0" algn="l">
              <a:buNone/>
            </a:pPr>
            <a:r>
              <a:rPr lang="en-US" sz="750" dirty="0">
                <a:solidFill>
                  <a:srgbClr val="CDD9E5"/>
                </a:solidFill>
                <a:latin typeface="Consolas" pitchFamily="34" charset="0"/>
                <a:ea typeface="Consolas" pitchFamily="34" charset="-122"/>
                <a:cs typeface="Consolas" pitchFamily="34" charset="-120"/>
              </a:rPr>
              <a:t>public abstract class ContenidoSpotify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string Id         { get; protected set;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string Titulo     { get; protected set;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TimeSpan Duracion { get; protected set;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DateTime FechaPublicacion</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get; protected set;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protected ContenidoSpotify(string id,</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string titulo, TimeSpan dur)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Id=id; Titulo=titulo; Duracion=dur; }</a:t>
            </a:r>
            <a:endParaRPr lang="en-US" sz="750" dirty="0"/>
          </a:p>
          <a:p>
            <a:pPr marL="0" indent="0" algn="l">
              <a:buNone/>
            </a:pP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virtual string ObtenerInfo()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=&gt; $"[{GetType().Name}] {Titulo}";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abstract void Reproducir();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abstract string ObtenerTipoContenido();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class Cancion : ContenidoSpotify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string Artista { get; private set;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string Album   { get; private set; }</a:t>
            </a:r>
            <a:endParaRPr lang="en-US" sz="750" dirty="0"/>
          </a:p>
          <a:p>
            <a:pPr marL="0" indent="0" algn="l">
              <a:buNone/>
            </a:pP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Cancion(string id, string titulo,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TimeSpan dur, string artista, string album)</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base(id, titulo, dur)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Artista=artista; Album=album; }</a:t>
            </a:r>
            <a:endParaRPr lang="en-US" sz="750" dirty="0"/>
          </a:p>
          <a:p>
            <a:pPr marL="0" indent="0" algn="l">
              <a:buNone/>
            </a:pP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override void Reproducir()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=&gt; Console.WriteLine($"🎵 {Titulo}—{Artista}");</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override string ObtenerTipoContenido()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=&gt; "Canción";</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override string ObtenerInfo()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=&gt; base.ObtenerInfo()+$" | {Artista} | {Album}";</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29922"/>
          </a:solidFill>
          <a:ln w="12700">
            <a:solidFill>
              <a:srgbClr val="D29922"/>
            </a:solidFill>
            <a:prstDash val="solid"/>
          </a:ln>
        </p:spPr>
        <p:txBody>
          <a:bodyPr/>
          <a:lstStyle/>
          <a:p>
            <a:endParaRPr lang="es-PE"/>
          </a:p>
        </p:txBody>
      </p:sp>
      <p:sp>
        <p:nvSpPr>
          <p:cNvPr id="3" name="Shape 1"/>
          <p:cNvSpPr/>
          <p:nvPr/>
        </p:nvSpPr>
        <p:spPr>
          <a:xfrm>
            <a:off x="109728" y="0"/>
            <a:ext cx="9034272" cy="749808"/>
          </a:xfrm>
          <a:prstGeom prst="rect">
            <a:avLst/>
          </a:prstGeom>
          <a:solidFill>
            <a:srgbClr val="161B22"/>
          </a:solidFill>
          <a:ln w="12700">
            <a:solidFill>
              <a:srgbClr val="161B22"/>
            </a:solidFill>
            <a:prstDash val="solid"/>
          </a:ln>
        </p:spPr>
        <p:txBody>
          <a:bodyPr/>
          <a:lstStyle/>
          <a:p>
            <a:endParaRPr lang="es-PE"/>
          </a:p>
        </p:txBody>
      </p:sp>
      <p:sp>
        <p:nvSpPr>
          <p:cNvPr id="4" name="Shape 2"/>
          <p:cNvSpPr/>
          <p:nvPr/>
        </p:nvSpPr>
        <p:spPr>
          <a:xfrm>
            <a:off x="109728" y="749808"/>
            <a:ext cx="9034272" cy="36576"/>
          </a:xfrm>
          <a:prstGeom prst="rect">
            <a:avLst/>
          </a:prstGeom>
          <a:solidFill>
            <a:srgbClr val="D29922"/>
          </a:solidFill>
          <a:ln w="12700">
            <a:solidFill>
              <a:srgbClr val="D29922"/>
            </a:solidFill>
            <a:prstDash val="solid"/>
          </a:ln>
        </p:spPr>
        <p:txBody>
          <a:bodyPr/>
          <a:lstStyle/>
          <a:p>
            <a:endParaRPr lang="es-PE"/>
          </a:p>
        </p:txBody>
      </p:sp>
      <p:sp>
        <p:nvSpPr>
          <p:cNvPr id="5" name="Text 3"/>
          <p:cNvSpPr/>
          <p:nvPr/>
        </p:nvSpPr>
        <p:spPr>
          <a:xfrm>
            <a:off x="320040" y="0"/>
            <a:ext cx="8686800" cy="749808"/>
          </a:xfrm>
          <a:prstGeom prst="rect">
            <a:avLst/>
          </a:prstGeom>
          <a:noFill/>
          <a:ln/>
        </p:spPr>
        <p:txBody>
          <a:bodyPr wrap="square" lIns="0" tIns="0" rIns="0" bIns="0" rtlCol="0" anchor="ctr"/>
          <a:lstStyle/>
          <a:p>
            <a:pPr marL="0" indent="0" algn="l">
              <a:buNone/>
            </a:pPr>
            <a:r>
              <a:rPr lang="en-US" sz="1700" b="1" dirty="0">
                <a:solidFill>
                  <a:srgbClr val="FFFFFF"/>
                </a:solidFill>
                <a:latin typeface="Trebuchet MS" pitchFamily="34" charset="0"/>
                <a:ea typeface="Trebuchet MS" pitchFamily="34" charset="-122"/>
                <a:cs typeface="Trebuchet MS" pitchFamily="34" charset="-120"/>
              </a:rPr>
              <a:t>Pregunta 3 — Patrón Observer: Notificar Seguidores</a:t>
            </a:r>
            <a:endParaRPr lang="en-US" sz="1700" dirty="0"/>
          </a:p>
        </p:txBody>
      </p:sp>
      <p:sp>
        <p:nvSpPr>
          <p:cNvPr id="6" name="Text 4"/>
          <p:cNvSpPr/>
          <p:nvPr/>
        </p:nvSpPr>
        <p:spPr>
          <a:xfrm>
            <a:off x="320040" y="822960"/>
            <a:ext cx="8686800" cy="329184"/>
          </a:xfrm>
          <a:prstGeom prst="rect">
            <a:avLst/>
          </a:prstGeom>
          <a:noFill/>
          <a:ln/>
        </p:spPr>
        <p:txBody>
          <a:bodyPr wrap="square" lIns="0" tIns="0" rIns="0" bIns="0" rtlCol="0" anchor="t"/>
          <a:lstStyle/>
          <a:p>
            <a:pPr marL="0" indent="0" algn="l">
              <a:buNone/>
            </a:pPr>
            <a:r>
              <a:rPr lang="en-US" sz="1000" i="1" dirty="0">
                <a:solidFill>
                  <a:srgbClr val="8B949E"/>
                </a:solidFill>
                <a:latin typeface="Calibri" pitchFamily="34" charset="0"/>
                <a:ea typeface="Calibri" pitchFamily="34" charset="-122"/>
                <a:cs typeface="Calibri" pitchFamily="34" charset="-120"/>
              </a:rPr>
              <a:t>¿Qué patrón usarías para notificar a los seguidores cuando un artista publica una nueva canción?</a:t>
            </a:r>
            <a:endParaRPr lang="en-US" sz="1000" dirty="0"/>
          </a:p>
        </p:txBody>
      </p:sp>
      <p:sp>
        <p:nvSpPr>
          <p:cNvPr id="7" name="Text 5"/>
          <p:cNvSpPr/>
          <p:nvPr/>
        </p:nvSpPr>
        <p:spPr>
          <a:xfrm>
            <a:off x="256032" y="1261872"/>
            <a:ext cx="4160520" cy="237744"/>
          </a:xfrm>
          <a:prstGeom prst="rect">
            <a:avLst/>
          </a:prstGeom>
          <a:noFill/>
          <a:ln/>
        </p:spPr>
        <p:txBody>
          <a:bodyPr wrap="square" lIns="0" tIns="0" rIns="0" bIns="0" rtlCol="0" anchor="t"/>
          <a:lstStyle/>
          <a:p>
            <a:pPr marL="0" indent="0" algn="l">
              <a:buNone/>
            </a:pPr>
            <a:r>
              <a:rPr lang="en-US" sz="1050" b="1" dirty="0">
                <a:solidFill>
                  <a:srgbClr val="D29922"/>
                </a:solidFill>
                <a:latin typeface="Calibri" pitchFamily="34" charset="0"/>
                <a:ea typeface="Calibri" pitchFamily="34" charset="-122"/>
                <a:cs typeface="Calibri" pitchFamily="34" charset="-120"/>
              </a:rPr>
              <a:t>¿Cómo funciona?</a:t>
            </a:r>
            <a:endParaRPr lang="en-US" sz="1050" dirty="0"/>
          </a:p>
        </p:txBody>
      </p:sp>
      <p:sp>
        <p:nvSpPr>
          <p:cNvPr id="8" name="Shape 6"/>
          <p:cNvSpPr/>
          <p:nvPr/>
        </p:nvSpPr>
        <p:spPr>
          <a:xfrm>
            <a:off x="256032" y="1536192"/>
            <a:ext cx="4160520" cy="804672"/>
          </a:xfrm>
          <a:prstGeom prst="rect">
            <a:avLst/>
          </a:prstGeom>
          <a:solidFill>
            <a:srgbClr val="161B22"/>
          </a:solidFill>
          <a:ln w="12700">
            <a:solidFill>
              <a:srgbClr val="30363D"/>
            </a:solidFill>
            <a:prstDash val="solid"/>
          </a:ln>
        </p:spPr>
        <p:txBody>
          <a:bodyPr/>
          <a:lstStyle/>
          <a:p>
            <a:endParaRPr lang="es-PE"/>
          </a:p>
        </p:txBody>
      </p:sp>
      <p:sp>
        <p:nvSpPr>
          <p:cNvPr id="9" name="Shape 7"/>
          <p:cNvSpPr/>
          <p:nvPr/>
        </p:nvSpPr>
        <p:spPr>
          <a:xfrm>
            <a:off x="256032" y="1536192"/>
            <a:ext cx="329184" cy="804672"/>
          </a:xfrm>
          <a:prstGeom prst="rect">
            <a:avLst/>
          </a:prstGeom>
          <a:solidFill>
            <a:srgbClr val="1DB954"/>
          </a:solidFill>
          <a:ln w="12700">
            <a:solidFill>
              <a:srgbClr val="1DB954"/>
            </a:solidFill>
            <a:prstDash val="solid"/>
          </a:ln>
        </p:spPr>
        <p:txBody>
          <a:bodyPr/>
          <a:lstStyle/>
          <a:p>
            <a:endParaRPr lang="es-PE"/>
          </a:p>
        </p:txBody>
      </p:sp>
      <p:sp>
        <p:nvSpPr>
          <p:cNvPr id="10" name="Text 8"/>
          <p:cNvSpPr/>
          <p:nvPr/>
        </p:nvSpPr>
        <p:spPr>
          <a:xfrm>
            <a:off x="256032" y="1536192"/>
            <a:ext cx="329184" cy="804672"/>
          </a:xfrm>
          <a:prstGeom prst="rect">
            <a:avLst/>
          </a:prstGeom>
          <a:noFill/>
          <a:ln/>
        </p:spPr>
        <p:txBody>
          <a:bodyPr wrap="square" lIns="0" tIns="0" rIns="0" bIns="0" rtlCol="0" anchor="ctr"/>
          <a:lstStyle/>
          <a:p>
            <a:pPr marL="0" indent="0" algn="ctr">
              <a:buNone/>
            </a:pPr>
            <a:r>
              <a:rPr lang="en-US" sz="1600" b="1" dirty="0">
                <a:solidFill>
                  <a:srgbClr val="0D1117"/>
                </a:solidFill>
                <a:latin typeface="Calibri" pitchFamily="34" charset="0"/>
                <a:ea typeface="Calibri" pitchFamily="34" charset="-122"/>
                <a:cs typeface="Calibri" pitchFamily="34" charset="-120"/>
              </a:rPr>
              <a:t>1</a:t>
            </a:r>
            <a:endParaRPr lang="en-US" sz="1600" dirty="0"/>
          </a:p>
        </p:txBody>
      </p:sp>
      <p:sp>
        <p:nvSpPr>
          <p:cNvPr id="11" name="Text 9"/>
          <p:cNvSpPr/>
          <p:nvPr/>
        </p:nvSpPr>
        <p:spPr>
          <a:xfrm>
            <a:off x="676656" y="1609344"/>
            <a:ext cx="3602736" cy="256032"/>
          </a:xfrm>
          <a:prstGeom prst="rect">
            <a:avLst/>
          </a:prstGeom>
          <a:noFill/>
          <a:ln/>
        </p:spPr>
        <p:txBody>
          <a:bodyPr wrap="square" lIns="0" tIns="0" rIns="0" bIns="0" rtlCol="0" anchor="t"/>
          <a:lstStyle/>
          <a:p>
            <a:pPr marL="0" indent="0" algn="l">
              <a:buNone/>
            </a:pPr>
            <a:r>
              <a:rPr lang="en-US" sz="1100" b="1" dirty="0">
                <a:solidFill>
                  <a:srgbClr val="FFFFFF"/>
                </a:solidFill>
                <a:latin typeface="Calibri" pitchFamily="34" charset="0"/>
                <a:ea typeface="Calibri" pitchFamily="34" charset="-122"/>
                <a:cs typeface="Calibri" pitchFamily="34" charset="-120"/>
              </a:rPr>
              <a:t>Artista publica</a:t>
            </a:r>
            <a:endParaRPr lang="en-US" sz="1100" dirty="0"/>
          </a:p>
        </p:txBody>
      </p:sp>
      <p:sp>
        <p:nvSpPr>
          <p:cNvPr id="12" name="Text 10"/>
          <p:cNvSpPr/>
          <p:nvPr/>
        </p:nvSpPr>
        <p:spPr>
          <a:xfrm>
            <a:off x="676656" y="1920240"/>
            <a:ext cx="3602736" cy="365760"/>
          </a:xfrm>
          <a:prstGeom prst="rect">
            <a:avLst/>
          </a:prstGeom>
          <a:noFill/>
          <a:ln/>
        </p:spPr>
        <p:txBody>
          <a:bodyPr wrap="square" lIns="0" tIns="0" rIns="0" bIns="0" rtlCol="0" anchor="t"/>
          <a:lstStyle/>
          <a:p>
            <a:pPr marL="0" indent="0" algn="l">
              <a:buNone/>
            </a:pPr>
            <a:r>
              <a:rPr lang="en-US" sz="950" dirty="0">
                <a:solidFill>
                  <a:srgbClr val="8B949E"/>
                </a:solidFill>
                <a:latin typeface="Calibri" pitchFamily="34" charset="0"/>
                <a:ea typeface="Calibri" pitchFamily="34" charset="-122"/>
                <a:cs typeface="Calibri" pitchFamily="34" charset="-120"/>
              </a:rPr>
              <a:t>Llama PublicarCancion() → actualiza estado y dispara NotificarObservadores()</a:t>
            </a:r>
            <a:endParaRPr lang="en-US" sz="950" dirty="0"/>
          </a:p>
        </p:txBody>
      </p:sp>
      <p:sp>
        <p:nvSpPr>
          <p:cNvPr id="13" name="Shape 11"/>
          <p:cNvSpPr/>
          <p:nvPr/>
        </p:nvSpPr>
        <p:spPr>
          <a:xfrm>
            <a:off x="256032" y="2450592"/>
            <a:ext cx="4160520" cy="804672"/>
          </a:xfrm>
          <a:prstGeom prst="rect">
            <a:avLst/>
          </a:prstGeom>
          <a:solidFill>
            <a:srgbClr val="161B22"/>
          </a:solidFill>
          <a:ln w="12700">
            <a:solidFill>
              <a:srgbClr val="30363D"/>
            </a:solidFill>
            <a:prstDash val="solid"/>
          </a:ln>
        </p:spPr>
        <p:txBody>
          <a:bodyPr/>
          <a:lstStyle/>
          <a:p>
            <a:endParaRPr lang="es-PE"/>
          </a:p>
        </p:txBody>
      </p:sp>
      <p:sp>
        <p:nvSpPr>
          <p:cNvPr id="14" name="Shape 12"/>
          <p:cNvSpPr/>
          <p:nvPr/>
        </p:nvSpPr>
        <p:spPr>
          <a:xfrm>
            <a:off x="256032" y="2450592"/>
            <a:ext cx="329184" cy="804672"/>
          </a:xfrm>
          <a:prstGeom prst="rect">
            <a:avLst/>
          </a:prstGeom>
          <a:solidFill>
            <a:srgbClr val="D29922"/>
          </a:solidFill>
          <a:ln w="12700">
            <a:solidFill>
              <a:srgbClr val="D29922"/>
            </a:solidFill>
            <a:prstDash val="solid"/>
          </a:ln>
        </p:spPr>
        <p:txBody>
          <a:bodyPr/>
          <a:lstStyle/>
          <a:p>
            <a:endParaRPr lang="es-PE"/>
          </a:p>
        </p:txBody>
      </p:sp>
      <p:sp>
        <p:nvSpPr>
          <p:cNvPr id="15" name="Text 13"/>
          <p:cNvSpPr/>
          <p:nvPr/>
        </p:nvSpPr>
        <p:spPr>
          <a:xfrm>
            <a:off x="256032" y="2450592"/>
            <a:ext cx="329184" cy="804672"/>
          </a:xfrm>
          <a:prstGeom prst="rect">
            <a:avLst/>
          </a:prstGeom>
          <a:noFill/>
          <a:ln/>
        </p:spPr>
        <p:txBody>
          <a:bodyPr wrap="square" lIns="0" tIns="0" rIns="0" bIns="0" rtlCol="0" anchor="ctr"/>
          <a:lstStyle/>
          <a:p>
            <a:pPr marL="0" indent="0" algn="ctr">
              <a:buNone/>
            </a:pPr>
            <a:r>
              <a:rPr lang="en-US" sz="1600" b="1" dirty="0">
                <a:solidFill>
                  <a:srgbClr val="0D1117"/>
                </a:solidFill>
                <a:latin typeface="Calibri" pitchFamily="34" charset="0"/>
                <a:ea typeface="Calibri" pitchFamily="34" charset="-122"/>
                <a:cs typeface="Calibri" pitchFamily="34" charset="-120"/>
              </a:rPr>
              <a:t>2</a:t>
            </a:r>
            <a:endParaRPr lang="en-US" sz="1600" dirty="0"/>
          </a:p>
        </p:txBody>
      </p:sp>
      <p:sp>
        <p:nvSpPr>
          <p:cNvPr id="16" name="Text 14"/>
          <p:cNvSpPr/>
          <p:nvPr/>
        </p:nvSpPr>
        <p:spPr>
          <a:xfrm>
            <a:off x="676656" y="2523744"/>
            <a:ext cx="3602736" cy="256032"/>
          </a:xfrm>
          <a:prstGeom prst="rect">
            <a:avLst/>
          </a:prstGeom>
          <a:noFill/>
          <a:ln/>
        </p:spPr>
        <p:txBody>
          <a:bodyPr wrap="square" lIns="0" tIns="0" rIns="0" bIns="0" rtlCol="0" anchor="t"/>
          <a:lstStyle/>
          <a:p>
            <a:pPr marL="0" indent="0" algn="l">
              <a:buNone/>
            </a:pPr>
            <a:r>
              <a:rPr lang="en-US" sz="1100" b="1" dirty="0">
                <a:solidFill>
                  <a:srgbClr val="FFFFFF"/>
                </a:solidFill>
                <a:latin typeface="Calibri" pitchFamily="34" charset="0"/>
                <a:ea typeface="Calibri" pitchFamily="34" charset="-122"/>
                <a:cs typeface="Calibri" pitchFamily="34" charset="-120"/>
              </a:rPr>
              <a:t>Notifica a todos</a:t>
            </a:r>
            <a:endParaRPr lang="en-US" sz="1100" dirty="0"/>
          </a:p>
        </p:txBody>
      </p:sp>
      <p:sp>
        <p:nvSpPr>
          <p:cNvPr id="17" name="Text 15"/>
          <p:cNvSpPr/>
          <p:nvPr/>
        </p:nvSpPr>
        <p:spPr>
          <a:xfrm>
            <a:off x="676656" y="2834640"/>
            <a:ext cx="3602736" cy="365760"/>
          </a:xfrm>
          <a:prstGeom prst="rect">
            <a:avLst/>
          </a:prstGeom>
          <a:noFill/>
          <a:ln/>
        </p:spPr>
        <p:txBody>
          <a:bodyPr wrap="square" lIns="0" tIns="0" rIns="0" bIns="0" rtlCol="0" anchor="t"/>
          <a:lstStyle/>
          <a:p>
            <a:pPr marL="0" indent="0" algn="l">
              <a:buNone/>
            </a:pPr>
            <a:r>
              <a:rPr lang="en-US" sz="950" dirty="0">
                <a:solidFill>
                  <a:srgbClr val="8B949E"/>
                </a:solidFill>
                <a:latin typeface="Calibri" pitchFamily="34" charset="0"/>
                <a:ea typeface="Calibri" pitchFamily="34" charset="-122"/>
                <a:cs typeface="Calibri" pitchFamily="34" charset="-120"/>
              </a:rPr>
              <a:t>Recorre List&lt;IObservador&gt; y llama Actualizar() en cada seguidor</a:t>
            </a:r>
            <a:endParaRPr lang="en-US" sz="950" dirty="0"/>
          </a:p>
        </p:txBody>
      </p:sp>
      <p:sp>
        <p:nvSpPr>
          <p:cNvPr id="18" name="Shape 16"/>
          <p:cNvSpPr/>
          <p:nvPr/>
        </p:nvSpPr>
        <p:spPr>
          <a:xfrm>
            <a:off x="256032" y="3364992"/>
            <a:ext cx="4160520" cy="804672"/>
          </a:xfrm>
          <a:prstGeom prst="rect">
            <a:avLst/>
          </a:prstGeom>
          <a:solidFill>
            <a:srgbClr val="161B22"/>
          </a:solidFill>
          <a:ln w="12700">
            <a:solidFill>
              <a:srgbClr val="30363D"/>
            </a:solidFill>
            <a:prstDash val="solid"/>
          </a:ln>
        </p:spPr>
        <p:txBody>
          <a:bodyPr/>
          <a:lstStyle/>
          <a:p>
            <a:endParaRPr lang="es-PE"/>
          </a:p>
        </p:txBody>
      </p:sp>
      <p:sp>
        <p:nvSpPr>
          <p:cNvPr id="19" name="Shape 17"/>
          <p:cNvSpPr/>
          <p:nvPr/>
        </p:nvSpPr>
        <p:spPr>
          <a:xfrm>
            <a:off x="256032" y="3364992"/>
            <a:ext cx="329184" cy="804672"/>
          </a:xfrm>
          <a:prstGeom prst="rect">
            <a:avLst/>
          </a:prstGeom>
          <a:solidFill>
            <a:srgbClr val="388BFD"/>
          </a:solidFill>
          <a:ln w="12700">
            <a:solidFill>
              <a:srgbClr val="388BFD"/>
            </a:solidFill>
            <a:prstDash val="solid"/>
          </a:ln>
        </p:spPr>
        <p:txBody>
          <a:bodyPr/>
          <a:lstStyle/>
          <a:p>
            <a:endParaRPr lang="es-PE"/>
          </a:p>
        </p:txBody>
      </p:sp>
      <p:sp>
        <p:nvSpPr>
          <p:cNvPr id="20" name="Text 18"/>
          <p:cNvSpPr/>
          <p:nvPr/>
        </p:nvSpPr>
        <p:spPr>
          <a:xfrm>
            <a:off x="256032" y="3364992"/>
            <a:ext cx="329184" cy="804672"/>
          </a:xfrm>
          <a:prstGeom prst="rect">
            <a:avLst/>
          </a:prstGeom>
          <a:noFill/>
          <a:ln/>
        </p:spPr>
        <p:txBody>
          <a:bodyPr wrap="square" lIns="0" tIns="0" rIns="0" bIns="0" rtlCol="0" anchor="ctr"/>
          <a:lstStyle/>
          <a:p>
            <a:pPr marL="0" indent="0" algn="ctr">
              <a:buNone/>
            </a:pPr>
            <a:r>
              <a:rPr lang="en-US" sz="1600" b="1" dirty="0">
                <a:solidFill>
                  <a:srgbClr val="0D1117"/>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676656" y="3438144"/>
            <a:ext cx="3602736" cy="256032"/>
          </a:xfrm>
          <a:prstGeom prst="rect">
            <a:avLst/>
          </a:prstGeom>
          <a:noFill/>
          <a:ln/>
        </p:spPr>
        <p:txBody>
          <a:bodyPr wrap="square" lIns="0" tIns="0" rIns="0" bIns="0" rtlCol="0" anchor="t"/>
          <a:lstStyle/>
          <a:p>
            <a:pPr marL="0" indent="0" algn="l">
              <a:buNone/>
            </a:pPr>
            <a:r>
              <a:rPr lang="en-US" sz="1100" b="1" dirty="0">
                <a:solidFill>
                  <a:srgbClr val="FFFFFF"/>
                </a:solidFill>
                <a:latin typeface="Calibri" pitchFamily="34" charset="0"/>
                <a:ea typeface="Calibri" pitchFamily="34" charset="-122"/>
                <a:cs typeface="Calibri" pitchFamily="34" charset="-120"/>
              </a:rPr>
              <a:t>Seguidor reacciona</a:t>
            </a:r>
            <a:endParaRPr lang="en-US" sz="1100" dirty="0"/>
          </a:p>
        </p:txBody>
      </p:sp>
      <p:sp>
        <p:nvSpPr>
          <p:cNvPr id="22" name="Text 20"/>
          <p:cNvSpPr/>
          <p:nvPr/>
        </p:nvSpPr>
        <p:spPr>
          <a:xfrm>
            <a:off x="676656" y="3749040"/>
            <a:ext cx="3602736" cy="365760"/>
          </a:xfrm>
          <a:prstGeom prst="rect">
            <a:avLst/>
          </a:prstGeom>
          <a:noFill/>
          <a:ln/>
        </p:spPr>
        <p:txBody>
          <a:bodyPr wrap="square" lIns="0" tIns="0" rIns="0" bIns="0" rtlCol="0" anchor="t"/>
          <a:lstStyle/>
          <a:p>
            <a:pPr marL="0" indent="0" algn="l">
              <a:buNone/>
            </a:pPr>
            <a:r>
              <a:rPr lang="en-US" sz="950" dirty="0">
                <a:solidFill>
                  <a:srgbClr val="8B949E"/>
                </a:solidFill>
                <a:latin typeface="Calibri" pitchFamily="34" charset="0"/>
                <a:ea typeface="Calibri" pitchFamily="34" charset="-122"/>
                <a:cs typeface="Calibri" pitchFamily="34" charset="-120"/>
              </a:rPr>
              <a:t>UsuarioSeguidor.Actualizar() muestra la notificación en pantalla</a:t>
            </a:r>
            <a:endParaRPr lang="en-US" sz="950" dirty="0"/>
          </a:p>
        </p:txBody>
      </p:sp>
      <p:sp>
        <p:nvSpPr>
          <p:cNvPr id="23" name="Shape 21"/>
          <p:cNvSpPr/>
          <p:nvPr/>
        </p:nvSpPr>
        <p:spPr>
          <a:xfrm>
            <a:off x="256032" y="4389120"/>
            <a:ext cx="4160520" cy="402336"/>
          </a:xfrm>
          <a:prstGeom prst="rect">
            <a:avLst/>
          </a:prstGeom>
          <a:solidFill>
            <a:srgbClr val="1C2330"/>
          </a:solidFill>
          <a:ln w="12700">
            <a:solidFill>
              <a:srgbClr val="1DB954"/>
            </a:solidFill>
            <a:prstDash val="solid"/>
          </a:ln>
        </p:spPr>
        <p:txBody>
          <a:bodyPr/>
          <a:lstStyle/>
          <a:p>
            <a:endParaRPr lang="es-PE"/>
          </a:p>
        </p:txBody>
      </p:sp>
      <p:sp>
        <p:nvSpPr>
          <p:cNvPr id="24" name="Text 22"/>
          <p:cNvSpPr/>
          <p:nvPr/>
        </p:nvSpPr>
        <p:spPr>
          <a:xfrm>
            <a:off x="384048" y="4389120"/>
            <a:ext cx="3913632" cy="402336"/>
          </a:xfrm>
          <a:prstGeom prst="rect">
            <a:avLst/>
          </a:prstGeom>
          <a:noFill/>
          <a:ln/>
        </p:spPr>
        <p:txBody>
          <a:bodyPr wrap="square" lIns="0" tIns="0" rIns="0" bIns="0" rtlCol="0" anchor="ctr"/>
          <a:lstStyle/>
          <a:p>
            <a:pPr marL="0" indent="0" algn="l">
              <a:buNone/>
            </a:pPr>
            <a:r>
              <a:rPr lang="en-US" sz="950" i="1" dirty="0">
                <a:solidFill>
                  <a:srgbClr val="CDD9E5"/>
                </a:solidFill>
                <a:latin typeface="Calibri" pitchFamily="34" charset="0"/>
                <a:ea typeface="Calibri" pitchFamily="34" charset="-122"/>
                <a:cs typeface="Calibri" pitchFamily="34" charset="-120"/>
              </a:rPr>
              <a:t>Resultado:  Bad Bunny publica "DtMF"  →  Carlos · María · Luis notificados automáticamente</a:t>
            </a:r>
            <a:endParaRPr lang="en-US" sz="950" dirty="0"/>
          </a:p>
        </p:txBody>
      </p:sp>
      <p:sp>
        <p:nvSpPr>
          <p:cNvPr id="25" name="Shape 23"/>
          <p:cNvSpPr/>
          <p:nvPr/>
        </p:nvSpPr>
        <p:spPr>
          <a:xfrm>
            <a:off x="4617720" y="1261872"/>
            <a:ext cx="4251960" cy="3858768"/>
          </a:xfrm>
          <a:prstGeom prst="rect">
            <a:avLst/>
          </a:prstGeom>
          <a:solidFill>
            <a:srgbClr val="1C2330"/>
          </a:solidFill>
          <a:ln w="12700">
            <a:solidFill>
              <a:srgbClr val="D29922"/>
            </a:solidFill>
            <a:prstDash val="solid"/>
          </a:ln>
        </p:spPr>
        <p:txBody>
          <a:bodyPr/>
          <a:lstStyle/>
          <a:p>
            <a:endParaRPr lang="es-PE"/>
          </a:p>
        </p:txBody>
      </p:sp>
      <p:sp>
        <p:nvSpPr>
          <p:cNvPr id="26" name="Shape 24"/>
          <p:cNvSpPr/>
          <p:nvPr/>
        </p:nvSpPr>
        <p:spPr>
          <a:xfrm>
            <a:off x="4617720" y="1261872"/>
            <a:ext cx="4251960" cy="237744"/>
          </a:xfrm>
          <a:prstGeom prst="rect">
            <a:avLst/>
          </a:prstGeom>
          <a:solidFill>
            <a:srgbClr val="080C12"/>
          </a:solidFill>
          <a:ln w="12700">
            <a:solidFill>
              <a:srgbClr val="080C12"/>
            </a:solidFill>
            <a:prstDash val="solid"/>
          </a:ln>
        </p:spPr>
        <p:txBody>
          <a:bodyPr/>
          <a:lstStyle/>
          <a:p>
            <a:endParaRPr lang="es-PE"/>
          </a:p>
        </p:txBody>
      </p:sp>
      <p:sp>
        <p:nvSpPr>
          <p:cNvPr id="27" name="Text 25"/>
          <p:cNvSpPr/>
          <p:nvPr/>
        </p:nvSpPr>
        <p:spPr>
          <a:xfrm>
            <a:off x="4709160" y="1261872"/>
            <a:ext cx="320040" cy="237744"/>
          </a:xfrm>
          <a:prstGeom prst="rect">
            <a:avLst/>
          </a:prstGeom>
          <a:noFill/>
          <a:ln/>
        </p:spPr>
        <p:txBody>
          <a:bodyPr wrap="square" lIns="0" tIns="0" rIns="0" bIns="0" rtlCol="0" anchor="ctr"/>
          <a:lstStyle/>
          <a:p>
            <a:pPr marL="0" indent="0" algn="l">
              <a:buNone/>
            </a:pPr>
            <a:r>
              <a:rPr lang="en-US" sz="900" b="1" dirty="0">
                <a:solidFill>
                  <a:srgbClr val="D29922"/>
                </a:solidFill>
                <a:latin typeface="Calibri" pitchFamily="34" charset="0"/>
                <a:ea typeface="Calibri" pitchFamily="34" charset="-122"/>
                <a:cs typeface="Calibri" pitchFamily="34" charset="-120"/>
              </a:rPr>
              <a:t>C#</a:t>
            </a:r>
            <a:endParaRPr lang="en-US" sz="900" dirty="0"/>
          </a:p>
        </p:txBody>
      </p:sp>
      <p:sp>
        <p:nvSpPr>
          <p:cNvPr id="28" name="Shape 26"/>
          <p:cNvSpPr/>
          <p:nvPr/>
        </p:nvSpPr>
        <p:spPr>
          <a:xfrm>
            <a:off x="5029200" y="1344168"/>
            <a:ext cx="64008" cy="64008"/>
          </a:xfrm>
          <a:prstGeom prst="rect">
            <a:avLst/>
          </a:prstGeom>
          <a:solidFill>
            <a:srgbClr val="F85149"/>
          </a:solidFill>
          <a:ln w="12700">
            <a:solidFill>
              <a:srgbClr val="F85149"/>
            </a:solidFill>
            <a:prstDash val="solid"/>
          </a:ln>
        </p:spPr>
        <p:txBody>
          <a:bodyPr/>
          <a:lstStyle/>
          <a:p>
            <a:endParaRPr lang="es-PE"/>
          </a:p>
        </p:txBody>
      </p:sp>
      <p:sp>
        <p:nvSpPr>
          <p:cNvPr id="29" name="Shape 27"/>
          <p:cNvSpPr/>
          <p:nvPr/>
        </p:nvSpPr>
        <p:spPr>
          <a:xfrm>
            <a:off x="5148072" y="1344168"/>
            <a:ext cx="64008" cy="64008"/>
          </a:xfrm>
          <a:prstGeom prst="rect">
            <a:avLst/>
          </a:prstGeom>
          <a:solidFill>
            <a:srgbClr val="D29922"/>
          </a:solidFill>
          <a:ln w="12700">
            <a:solidFill>
              <a:srgbClr val="D29922"/>
            </a:solidFill>
            <a:prstDash val="solid"/>
          </a:ln>
        </p:spPr>
        <p:txBody>
          <a:bodyPr/>
          <a:lstStyle/>
          <a:p>
            <a:endParaRPr lang="es-PE"/>
          </a:p>
        </p:txBody>
      </p:sp>
      <p:sp>
        <p:nvSpPr>
          <p:cNvPr id="30" name="Shape 28"/>
          <p:cNvSpPr/>
          <p:nvPr/>
        </p:nvSpPr>
        <p:spPr>
          <a:xfrm>
            <a:off x="5266944" y="1344168"/>
            <a:ext cx="64008" cy="64008"/>
          </a:xfrm>
          <a:prstGeom prst="rect">
            <a:avLst/>
          </a:prstGeom>
          <a:solidFill>
            <a:srgbClr val="1DB954"/>
          </a:solidFill>
          <a:ln w="12700">
            <a:solidFill>
              <a:srgbClr val="1DB954"/>
            </a:solidFill>
            <a:prstDash val="solid"/>
          </a:ln>
        </p:spPr>
        <p:txBody>
          <a:bodyPr/>
          <a:lstStyle/>
          <a:p>
            <a:endParaRPr lang="es-PE"/>
          </a:p>
        </p:txBody>
      </p:sp>
      <p:sp>
        <p:nvSpPr>
          <p:cNvPr id="31" name="Text 29"/>
          <p:cNvSpPr/>
          <p:nvPr/>
        </p:nvSpPr>
        <p:spPr>
          <a:xfrm>
            <a:off x="4727448" y="1536192"/>
            <a:ext cx="4069080" cy="3493008"/>
          </a:xfrm>
          <a:prstGeom prst="rect">
            <a:avLst/>
          </a:prstGeom>
          <a:noFill/>
          <a:ln/>
        </p:spPr>
        <p:txBody>
          <a:bodyPr wrap="square" lIns="0" tIns="0" rIns="0" bIns="0" rtlCol="0" anchor="t"/>
          <a:lstStyle/>
          <a:p>
            <a:pPr marL="0" indent="0" algn="l">
              <a:buNone/>
            </a:pPr>
            <a:r>
              <a:rPr lang="en-US" sz="750" dirty="0">
                <a:solidFill>
                  <a:srgbClr val="CDD9E5"/>
                </a:solidFill>
                <a:latin typeface="Consolas" pitchFamily="34" charset="0"/>
                <a:ea typeface="Consolas" pitchFamily="34" charset="-122"/>
                <a:cs typeface="Consolas" pitchFamily="34" charset="-120"/>
              </a:rPr>
              <a:t>public interface IObservador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Actualizar(string artista,</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string cancion);</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interface ISujeto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AgregarObservador(IObservador 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EliminarObservador(IObservador 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NotificarObservadores();</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class Artista : ISujeto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string Nombre { get;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private string _ultima;</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private readonly List&lt;IObservador&gt; _seg=new();</a:t>
            </a:r>
            <a:endParaRPr lang="en-US" sz="750" dirty="0"/>
          </a:p>
          <a:p>
            <a:pPr marL="0" indent="0" algn="l">
              <a:buNone/>
            </a:pP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Artista(string n) =&gt; Nombre=n;</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void AgregarObservador(IObservador 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=&gt; _seg.Add(o);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void EliminarObservador(IObservador 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=&gt; _seg.Remove(o);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void PublicarCancion(string 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_ultima=t;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Console.WriteLine(</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{Nombre} publicó: "{t}"");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NotificarObservadores();</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void NotificarObservadores()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foreach(var s in _seg)</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s.Actualizar(Nombre, _ultima);</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class UsuarioSeguidor : IObservador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string Nombre { get;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UsuarioSeguidor(string n) =&gt; Nombre=n;</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void Actualizar(string a, string c)</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=&gt; Console.WriteLine(</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[{Nombre}] {a}: "{c}"");</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957E5"/>
          </a:solidFill>
          <a:ln w="12700">
            <a:solidFill>
              <a:srgbClr val="8957E5"/>
            </a:solidFill>
            <a:prstDash val="solid"/>
          </a:ln>
        </p:spPr>
        <p:txBody>
          <a:bodyPr/>
          <a:lstStyle/>
          <a:p>
            <a:endParaRPr lang="es-PE"/>
          </a:p>
        </p:txBody>
      </p:sp>
      <p:sp>
        <p:nvSpPr>
          <p:cNvPr id="3" name="Shape 1"/>
          <p:cNvSpPr/>
          <p:nvPr/>
        </p:nvSpPr>
        <p:spPr>
          <a:xfrm>
            <a:off x="109728" y="0"/>
            <a:ext cx="9034272" cy="749808"/>
          </a:xfrm>
          <a:prstGeom prst="rect">
            <a:avLst/>
          </a:prstGeom>
          <a:solidFill>
            <a:srgbClr val="161B22"/>
          </a:solidFill>
          <a:ln w="12700">
            <a:solidFill>
              <a:srgbClr val="161B22"/>
            </a:solidFill>
            <a:prstDash val="solid"/>
          </a:ln>
        </p:spPr>
        <p:txBody>
          <a:bodyPr/>
          <a:lstStyle/>
          <a:p>
            <a:endParaRPr lang="es-PE"/>
          </a:p>
        </p:txBody>
      </p:sp>
      <p:sp>
        <p:nvSpPr>
          <p:cNvPr id="4" name="Shape 2"/>
          <p:cNvSpPr/>
          <p:nvPr/>
        </p:nvSpPr>
        <p:spPr>
          <a:xfrm>
            <a:off x="109728" y="749808"/>
            <a:ext cx="9034272" cy="36576"/>
          </a:xfrm>
          <a:prstGeom prst="rect">
            <a:avLst/>
          </a:prstGeom>
          <a:solidFill>
            <a:srgbClr val="8957E5"/>
          </a:solidFill>
          <a:ln w="12700">
            <a:solidFill>
              <a:srgbClr val="8957E5"/>
            </a:solidFill>
            <a:prstDash val="solid"/>
          </a:ln>
        </p:spPr>
        <p:txBody>
          <a:bodyPr/>
          <a:lstStyle/>
          <a:p>
            <a:endParaRPr lang="es-PE"/>
          </a:p>
        </p:txBody>
      </p:sp>
      <p:sp>
        <p:nvSpPr>
          <p:cNvPr id="5" name="Text 3"/>
          <p:cNvSpPr/>
          <p:nvPr/>
        </p:nvSpPr>
        <p:spPr>
          <a:xfrm>
            <a:off x="320040" y="0"/>
            <a:ext cx="8686800" cy="749808"/>
          </a:xfrm>
          <a:prstGeom prst="rect">
            <a:avLst/>
          </a:prstGeom>
          <a:noFill/>
          <a:ln/>
        </p:spPr>
        <p:txBody>
          <a:bodyPr wrap="square" lIns="0" tIns="0" rIns="0" bIns="0" rtlCol="0" anchor="ctr"/>
          <a:lstStyle/>
          <a:p>
            <a:pPr marL="0" indent="0" algn="l">
              <a:buNone/>
            </a:pPr>
            <a:r>
              <a:rPr lang="en-US" sz="1700" b="1" dirty="0">
                <a:solidFill>
                  <a:srgbClr val="FFFFFF"/>
                </a:solidFill>
                <a:latin typeface="Trebuchet MS" pitchFamily="34" charset="0"/>
                <a:ea typeface="Trebuchet MS" pitchFamily="34" charset="-122"/>
                <a:cs typeface="Trebuchet MS" pitchFamily="34" charset="-120"/>
              </a:rPr>
              <a:t>Pregunta 4 — Patrón Factory: Reproductores Free / Premium</a:t>
            </a:r>
            <a:endParaRPr lang="en-US" sz="1700" dirty="0"/>
          </a:p>
        </p:txBody>
      </p:sp>
      <p:sp>
        <p:nvSpPr>
          <p:cNvPr id="6" name="Text 4"/>
          <p:cNvSpPr/>
          <p:nvPr/>
        </p:nvSpPr>
        <p:spPr>
          <a:xfrm>
            <a:off x="320040" y="822960"/>
            <a:ext cx="8686800" cy="329184"/>
          </a:xfrm>
          <a:prstGeom prst="rect">
            <a:avLst/>
          </a:prstGeom>
          <a:noFill/>
          <a:ln/>
        </p:spPr>
        <p:txBody>
          <a:bodyPr wrap="square" lIns="0" tIns="0" rIns="0" bIns="0" rtlCol="0" anchor="t"/>
          <a:lstStyle/>
          <a:p>
            <a:pPr marL="0" indent="0" algn="l">
              <a:buNone/>
            </a:pPr>
            <a:r>
              <a:rPr lang="en-US" sz="1000" i="1" dirty="0">
                <a:solidFill>
                  <a:srgbClr val="8B949E"/>
                </a:solidFill>
                <a:latin typeface="Calibri" pitchFamily="34" charset="0"/>
                <a:ea typeface="Calibri" pitchFamily="34" charset="-122"/>
                <a:cs typeface="Calibri" pitchFamily="34" charset="-120"/>
              </a:rPr>
              <a:t>¿Cómo aplicarías el patrón Factory para crear instancias según tipo de contenido y plan del usuario?</a:t>
            </a:r>
            <a:endParaRPr lang="en-US" sz="1000" dirty="0"/>
          </a:p>
        </p:txBody>
      </p:sp>
      <p:sp>
        <p:nvSpPr>
          <p:cNvPr id="7" name="Text 5"/>
          <p:cNvSpPr/>
          <p:nvPr/>
        </p:nvSpPr>
        <p:spPr>
          <a:xfrm>
            <a:off x="256032" y="1261872"/>
            <a:ext cx="4160520" cy="237744"/>
          </a:xfrm>
          <a:prstGeom prst="rect">
            <a:avLst/>
          </a:prstGeom>
          <a:noFill/>
          <a:ln/>
        </p:spPr>
        <p:txBody>
          <a:bodyPr wrap="square" lIns="0" tIns="0" rIns="0" bIns="0" rtlCol="0" anchor="t"/>
          <a:lstStyle/>
          <a:p>
            <a:pPr marL="0" indent="0" algn="l">
              <a:buNone/>
            </a:pPr>
            <a:r>
              <a:rPr lang="en-US" sz="1050" b="1" dirty="0">
                <a:solidFill>
                  <a:srgbClr val="8957E5"/>
                </a:solidFill>
                <a:latin typeface="Calibri" pitchFamily="34" charset="0"/>
                <a:ea typeface="Calibri" pitchFamily="34" charset="-122"/>
                <a:cs typeface="Calibri" pitchFamily="34" charset="-120"/>
              </a:rPr>
              <a:t>Matriz de decisión</a:t>
            </a:r>
            <a:endParaRPr lang="en-US" sz="1050" dirty="0"/>
          </a:p>
        </p:txBody>
      </p:sp>
      <p:sp>
        <p:nvSpPr>
          <p:cNvPr id="8" name="Shape 6"/>
          <p:cNvSpPr/>
          <p:nvPr/>
        </p:nvSpPr>
        <p:spPr>
          <a:xfrm>
            <a:off x="256032" y="1536192"/>
            <a:ext cx="1280160" cy="420624"/>
          </a:xfrm>
          <a:prstGeom prst="rect">
            <a:avLst/>
          </a:prstGeom>
          <a:solidFill>
            <a:srgbClr val="2A1040"/>
          </a:solidFill>
          <a:ln w="12700">
            <a:solidFill>
              <a:srgbClr val="30363D"/>
            </a:solidFill>
            <a:prstDash val="solid"/>
          </a:ln>
        </p:spPr>
        <p:txBody>
          <a:bodyPr/>
          <a:lstStyle/>
          <a:p>
            <a:endParaRPr lang="es-PE"/>
          </a:p>
        </p:txBody>
      </p:sp>
      <p:sp>
        <p:nvSpPr>
          <p:cNvPr id="9" name="Text 7"/>
          <p:cNvSpPr/>
          <p:nvPr/>
        </p:nvSpPr>
        <p:spPr>
          <a:xfrm>
            <a:off x="329184" y="1536192"/>
            <a:ext cx="1188720" cy="420624"/>
          </a:xfrm>
          <a:prstGeom prst="rect">
            <a:avLst/>
          </a:prstGeom>
          <a:noFill/>
          <a:ln/>
        </p:spPr>
        <p:txBody>
          <a:bodyPr wrap="square" lIns="0" tIns="0" rIns="0" bIns="0" rtlCol="0" anchor="ctr"/>
          <a:lstStyle/>
          <a:p>
            <a:pPr marL="0" indent="0" algn="l">
              <a:buNone/>
            </a:pPr>
            <a:r>
              <a:rPr lang="en-US" sz="900" b="1" dirty="0">
                <a:solidFill>
                  <a:srgbClr val="CDD9E5"/>
                </a:solidFill>
                <a:latin typeface="Calibri" pitchFamily="34" charset="0"/>
                <a:ea typeface="Calibri" pitchFamily="34" charset="-122"/>
                <a:cs typeface="Calibri" pitchFamily="34" charset="-120"/>
              </a:rPr>
              <a:t>Tipo \ Plan</a:t>
            </a:r>
            <a:endParaRPr lang="en-US" sz="900" dirty="0"/>
          </a:p>
        </p:txBody>
      </p:sp>
      <p:sp>
        <p:nvSpPr>
          <p:cNvPr id="10" name="Shape 8"/>
          <p:cNvSpPr/>
          <p:nvPr/>
        </p:nvSpPr>
        <p:spPr>
          <a:xfrm>
            <a:off x="1536192" y="1536192"/>
            <a:ext cx="1371600" cy="420624"/>
          </a:xfrm>
          <a:prstGeom prst="rect">
            <a:avLst/>
          </a:prstGeom>
          <a:solidFill>
            <a:srgbClr val="2A1040"/>
          </a:solidFill>
          <a:ln w="12700">
            <a:solidFill>
              <a:srgbClr val="30363D"/>
            </a:solidFill>
            <a:prstDash val="solid"/>
          </a:ln>
        </p:spPr>
        <p:txBody>
          <a:bodyPr/>
          <a:lstStyle/>
          <a:p>
            <a:endParaRPr lang="es-PE"/>
          </a:p>
        </p:txBody>
      </p:sp>
      <p:sp>
        <p:nvSpPr>
          <p:cNvPr id="11" name="Text 9"/>
          <p:cNvSpPr/>
          <p:nvPr/>
        </p:nvSpPr>
        <p:spPr>
          <a:xfrm>
            <a:off x="1609344" y="1536192"/>
            <a:ext cx="1280160" cy="420624"/>
          </a:xfrm>
          <a:prstGeom prst="rect">
            <a:avLst/>
          </a:prstGeom>
          <a:noFill/>
          <a:ln/>
        </p:spPr>
        <p:txBody>
          <a:bodyPr wrap="square" lIns="0" tIns="0" rIns="0" bIns="0" rtlCol="0" anchor="ctr"/>
          <a:lstStyle/>
          <a:p>
            <a:pPr marL="0" indent="0" algn="l">
              <a:buNone/>
            </a:pPr>
            <a:r>
              <a:rPr lang="en-US" sz="900" b="1" dirty="0">
                <a:solidFill>
                  <a:srgbClr val="8957E5"/>
                </a:solidFill>
                <a:latin typeface="Calibri" pitchFamily="34" charset="0"/>
                <a:ea typeface="Calibri" pitchFamily="34" charset="-122"/>
                <a:cs typeface="Calibri" pitchFamily="34" charset="-120"/>
              </a:rPr>
              <a:t>FREE</a:t>
            </a:r>
            <a:endParaRPr lang="en-US" sz="900" dirty="0"/>
          </a:p>
        </p:txBody>
      </p:sp>
      <p:sp>
        <p:nvSpPr>
          <p:cNvPr id="12" name="Shape 10"/>
          <p:cNvSpPr/>
          <p:nvPr/>
        </p:nvSpPr>
        <p:spPr>
          <a:xfrm>
            <a:off x="2907792" y="1536192"/>
            <a:ext cx="1463040" cy="420624"/>
          </a:xfrm>
          <a:prstGeom prst="rect">
            <a:avLst/>
          </a:prstGeom>
          <a:solidFill>
            <a:srgbClr val="2A1040"/>
          </a:solidFill>
          <a:ln w="12700">
            <a:solidFill>
              <a:srgbClr val="30363D"/>
            </a:solidFill>
            <a:prstDash val="solid"/>
          </a:ln>
        </p:spPr>
        <p:txBody>
          <a:bodyPr/>
          <a:lstStyle/>
          <a:p>
            <a:endParaRPr lang="es-PE"/>
          </a:p>
        </p:txBody>
      </p:sp>
      <p:sp>
        <p:nvSpPr>
          <p:cNvPr id="13" name="Text 11"/>
          <p:cNvSpPr/>
          <p:nvPr/>
        </p:nvSpPr>
        <p:spPr>
          <a:xfrm>
            <a:off x="2980944" y="1536192"/>
            <a:ext cx="1371600" cy="420624"/>
          </a:xfrm>
          <a:prstGeom prst="rect">
            <a:avLst/>
          </a:prstGeom>
          <a:noFill/>
          <a:ln/>
        </p:spPr>
        <p:txBody>
          <a:bodyPr wrap="square" lIns="0" tIns="0" rIns="0" bIns="0" rtlCol="0" anchor="ctr"/>
          <a:lstStyle/>
          <a:p>
            <a:pPr marL="0" indent="0" algn="l">
              <a:buNone/>
            </a:pPr>
            <a:r>
              <a:rPr lang="en-US" sz="900" b="1" dirty="0">
                <a:solidFill>
                  <a:srgbClr val="8957E5"/>
                </a:solidFill>
                <a:latin typeface="Calibri" pitchFamily="34" charset="0"/>
                <a:ea typeface="Calibri" pitchFamily="34" charset="-122"/>
                <a:cs typeface="Calibri" pitchFamily="34" charset="-120"/>
              </a:rPr>
              <a:t>PREMIUM</a:t>
            </a:r>
            <a:endParaRPr lang="en-US" sz="900" dirty="0"/>
          </a:p>
        </p:txBody>
      </p:sp>
      <p:sp>
        <p:nvSpPr>
          <p:cNvPr id="14" name="Shape 12"/>
          <p:cNvSpPr/>
          <p:nvPr/>
        </p:nvSpPr>
        <p:spPr>
          <a:xfrm>
            <a:off x="256032" y="1956816"/>
            <a:ext cx="1280160" cy="420624"/>
          </a:xfrm>
          <a:prstGeom prst="rect">
            <a:avLst/>
          </a:prstGeom>
          <a:solidFill>
            <a:srgbClr val="1C2330"/>
          </a:solidFill>
          <a:ln w="12700">
            <a:solidFill>
              <a:srgbClr val="30363D"/>
            </a:solidFill>
            <a:prstDash val="solid"/>
          </a:ln>
        </p:spPr>
        <p:txBody>
          <a:bodyPr/>
          <a:lstStyle/>
          <a:p>
            <a:endParaRPr lang="es-PE"/>
          </a:p>
        </p:txBody>
      </p:sp>
      <p:sp>
        <p:nvSpPr>
          <p:cNvPr id="15" name="Text 13"/>
          <p:cNvSpPr/>
          <p:nvPr/>
        </p:nvSpPr>
        <p:spPr>
          <a:xfrm>
            <a:off x="329184" y="1956816"/>
            <a:ext cx="1188720" cy="420624"/>
          </a:xfrm>
          <a:prstGeom prst="rect">
            <a:avLst/>
          </a:prstGeom>
          <a:noFill/>
          <a:ln/>
        </p:spPr>
        <p:txBody>
          <a:bodyPr wrap="square" lIns="0" tIns="0" rIns="0" bIns="0" rtlCol="0" anchor="ctr"/>
          <a:lstStyle/>
          <a:p>
            <a:pPr marL="0" indent="0" algn="l">
              <a:buNone/>
            </a:pPr>
            <a:r>
              <a:rPr lang="en-US" sz="900" b="1" dirty="0">
                <a:solidFill>
                  <a:srgbClr val="8B949E"/>
                </a:solidFill>
                <a:latin typeface="Calibri" pitchFamily="34" charset="0"/>
                <a:ea typeface="Calibri" pitchFamily="34" charset="-122"/>
                <a:cs typeface="Calibri" pitchFamily="34" charset="-120"/>
              </a:rPr>
              <a:t>Música</a:t>
            </a:r>
            <a:endParaRPr lang="en-US" sz="900" dirty="0"/>
          </a:p>
        </p:txBody>
      </p:sp>
      <p:sp>
        <p:nvSpPr>
          <p:cNvPr id="16" name="Shape 14"/>
          <p:cNvSpPr/>
          <p:nvPr/>
        </p:nvSpPr>
        <p:spPr>
          <a:xfrm>
            <a:off x="1536192" y="1956816"/>
            <a:ext cx="1371600" cy="420624"/>
          </a:xfrm>
          <a:prstGeom prst="rect">
            <a:avLst/>
          </a:prstGeom>
          <a:solidFill>
            <a:srgbClr val="161B22"/>
          </a:solidFill>
          <a:ln w="12700">
            <a:solidFill>
              <a:srgbClr val="30363D"/>
            </a:solidFill>
            <a:prstDash val="solid"/>
          </a:ln>
        </p:spPr>
        <p:txBody>
          <a:bodyPr/>
          <a:lstStyle/>
          <a:p>
            <a:endParaRPr lang="es-PE"/>
          </a:p>
        </p:txBody>
      </p:sp>
      <p:sp>
        <p:nvSpPr>
          <p:cNvPr id="17" name="Text 15"/>
          <p:cNvSpPr/>
          <p:nvPr/>
        </p:nvSpPr>
        <p:spPr>
          <a:xfrm>
            <a:off x="1609344" y="1956816"/>
            <a:ext cx="1280160" cy="420624"/>
          </a:xfrm>
          <a:prstGeom prst="rect">
            <a:avLst/>
          </a:prstGeom>
          <a:noFill/>
          <a:ln/>
        </p:spPr>
        <p:txBody>
          <a:bodyPr wrap="square" lIns="0" tIns="0" rIns="0" bIns="0" rtlCol="0" anchor="ctr"/>
          <a:lstStyle/>
          <a:p>
            <a:pPr marL="0" indent="0" algn="l">
              <a:buNone/>
            </a:pPr>
            <a:r>
              <a:rPr lang="en-US" sz="900" dirty="0">
                <a:solidFill>
                  <a:srgbClr val="CDD9E5"/>
                </a:solidFill>
                <a:latin typeface="Calibri" pitchFamily="34" charset="0"/>
                <a:ea typeface="Calibri" pitchFamily="34" charset="-122"/>
                <a:cs typeface="Calibri" pitchFamily="34" charset="-120"/>
              </a:rPr>
              <a:t>MusicaFree</a:t>
            </a:r>
            <a:endParaRPr lang="en-US" sz="900" dirty="0"/>
          </a:p>
        </p:txBody>
      </p:sp>
      <p:sp>
        <p:nvSpPr>
          <p:cNvPr id="18" name="Shape 16"/>
          <p:cNvSpPr/>
          <p:nvPr/>
        </p:nvSpPr>
        <p:spPr>
          <a:xfrm>
            <a:off x="2907792" y="1956816"/>
            <a:ext cx="1463040" cy="420624"/>
          </a:xfrm>
          <a:prstGeom prst="rect">
            <a:avLst/>
          </a:prstGeom>
          <a:solidFill>
            <a:srgbClr val="161B22"/>
          </a:solidFill>
          <a:ln w="12700">
            <a:solidFill>
              <a:srgbClr val="30363D"/>
            </a:solidFill>
            <a:prstDash val="solid"/>
          </a:ln>
        </p:spPr>
        <p:txBody>
          <a:bodyPr/>
          <a:lstStyle/>
          <a:p>
            <a:endParaRPr lang="es-PE"/>
          </a:p>
        </p:txBody>
      </p:sp>
      <p:sp>
        <p:nvSpPr>
          <p:cNvPr id="19" name="Text 17"/>
          <p:cNvSpPr/>
          <p:nvPr/>
        </p:nvSpPr>
        <p:spPr>
          <a:xfrm>
            <a:off x="2980944" y="1956816"/>
            <a:ext cx="1371600" cy="420624"/>
          </a:xfrm>
          <a:prstGeom prst="rect">
            <a:avLst/>
          </a:prstGeom>
          <a:noFill/>
          <a:ln/>
        </p:spPr>
        <p:txBody>
          <a:bodyPr wrap="square" lIns="0" tIns="0" rIns="0" bIns="0" rtlCol="0" anchor="ctr"/>
          <a:lstStyle/>
          <a:p>
            <a:pPr marL="0" indent="0" algn="l">
              <a:buNone/>
            </a:pPr>
            <a:r>
              <a:rPr lang="en-US" sz="900" dirty="0">
                <a:solidFill>
                  <a:srgbClr val="CDD9E5"/>
                </a:solidFill>
                <a:latin typeface="Calibri" pitchFamily="34" charset="0"/>
                <a:ea typeface="Calibri" pitchFamily="34" charset="-122"/>
                <a:cs typeface="Calibri" pitchFamily="34" charset="-120"/>
              </a:rPr>
              <a:t>MusicaPremium</a:t>
            </a:r>
            <a:endParaRPr lang="en-US" sz="900" dirty="0"/>
          </a:p>
        </p:txBody>
      </p:sp>
      <p:sp>
        <p:nvSpPr>
          <p:cNvPr id="20" name="Shape 18"/>
          <p:cNvSpPr/>
          <p:nvPr/>
        </p:nvSpPr>
        <p:spPr>
          <a:xfrm>
            <a:off x="256032" y="2377440"/>
            <a:ext cx="1280160" cy="420624"/>
          </a:xfrm>
          <a:prstGeom prst="rect">
            <a:avLst/>
          </a:prstGeom>
          <a:solidFill>
            <a:srgbClr val="1C2330"/>
          </a:solidFill>
          <a:ln w="12700">
            <a:solidFill>
              <a:srgbClr val="30363D"/>
            </a:solidFill>
            <a:prstDash val="solid"/>
          </a:ln>
        </p:spPr>
        <p:txBody>
          <a:bodyPr/>
          <a:lstStyle/>
          <a:p>
            <a:endParaRPr lang="es-PE"/>
          </a:p>
        </p:txBody>
      </p:sp>
      <p:sp>
        <p:nvSpPr>
          <p:cNvPr id="21" name="Text 19"/>
          <p:cNvSpPr/>
          <p:nvPr/>
        </p:nvSpPr>
        <p:spPr>
          <a:xfrm>
            <a:off x="329184" y="2377440"/>
            <a:ext cx="1188720" cy="420624"/>
          </a:xfrm>
          <a:prstGeom prst="rect">
            <a:avLst/>
          </a:prstGeom>
          <a:noFill/>
          <a:ln/>
        </p:spPr>
        <p:txBody>
          <a:bodyPr wrap="square" lIns="0" tIns="0" rIns="0" bIns="0" rtlCol="0" anchor="ctr"/>
          <a:lstStyle/>
          <a:p>
            <a:pPr marL="0" indent="0" algn="l">
              <a:buNone/>
            </a:pPr>
            <a:r>
              <a:rPr lang="en-US" sz="900" b="1" dirty="0">
                <a:solidFill>
                  <a:srgbClr val="8B949E"/>
                </a:solidFill>
                <a:latin typeface="Calibri" pitchFamily="34" charset="0"/>
                <a:ea typeface="Calibri" pitchFamily="34" charset="-122"/>
                <a:cs typeface="Calibri" pitchFamily="34" charset="-120"/>
              </a:rPr>
              <a:t>Podcast</a:t>
            </a:r>
            <a:endParaRPr lang="en-US" sz="900" dirty="0"/>
          </a:p>
        </p:txBody>
      </p:sp>
      <p:sp>
        <p:nvSpPr>
          <p:cNvPr id="22" name="Shape 20"/>
          <p:cNvSpPr/>
          <p:nvPr/>
        </p:nvSpPr>
        <p:spPr>
          <a:xfrm>
            <a:off x="1536192" y="2377440"/>
            <a:ext cx="1371600" cy="420624"/>
          </a:xfrm>
          <a:prstGeom prst="rect">
            <a:avLst/>
          </a:prstGeom>
          <a:solidFill>
            <a:srgbClr val="161B22"/>
          </a:solidFill>
          <a:ln w="12700">
            <a:solidFill>
              <a:srgbClr val="30363D"/>
            </a:solidFill>
            <a:prstDash val="solid"/>
          </a:ln>
        </p:spPr>
        <p:txBody>
          <a:bodyPr/>
          <a:lstStyle/>
          <a:p>
            <a:endParaRPr lang="es-PE"/>
          </a:p>
        </p:txBody>
      </p:sp>
      <p:sp>
        <p:nvSpPr>
          <p:cNvPr id="23" name="Text 21"/>
          <p:cNvSpPr/>
          <p:nvPr/>
        </p:nvSpPr>
        <p:spPr>
          <a:xfrm>
            <a:off x="1609344" y="2377440"/>
            <a:ext cx="1280160" cy="420624"/>
          </a:xfrm>
          <a:prstGeom prst="rect">
            <a:avLst/>
          </a:prstGeom>
          <a:noFill/>
          <a:ln/>
        </p:spPr>
        <p:txBody>
          <a:bodyPr wrap="square" lIns="0" tIns="0" rIns="0" bIns="0" rtlCol="0" anchor="ctr"/>
          <a:lstStyle/>
          <a:p>
            <a:pPr marL="0" indent="0" algn="l">
              <a:buNone/>
            </a:pPr>
            <a:r>
              <a:rPr lang="en-US" sz="900" dirty="0">
                <a:solidFill>
                  <a:srgbClr val="CDD9E5"/>
                </a:solidFill>
                <a:latin typeface="Calibri" pitchFamily="34" charset="0"/>
                <a:ea typeface="Calibri" pitchFamily="34" charset="-122"/>
                <a:cs typeface="Calibri" pitchFamily="34" charset="-120"/>
              </a:rPr>
              <a:t>PodcastFree</a:t>
            </a:r>
            <a:endParaRPr lang="en-US" sz="900" dirty="0"/>
          </a:p>
        </p:txBody>
      </p:sp>
      <p:sp>
        <p:nvSpPr>
          <p:cNvPr id="24" name="Shape 22"/>
          <p:cNvSpPr/>
          <p:nvPr/>
        </p:nvSpPr>
        <p:spPr>
          <a:xfrm>
            <a:off x="2907792" y="2377440"/>
            <a:ext cx="1463040" cy="420624"/>
          </a:xfrm>
          <a:prstGeom prst="rect">
            <a:avLst/>
          </a:prstGeom>
          <a:solidFill>
            <a:srgbClr val="161B22"/>
          </a:solidFill>
          <a:ln w="12700">
            <a:solidFill>
              <a:srgbClr val="30363D"/>
            </a:solidFill>
            <a:prstDash val="solid"/>
          </a:ln>
        </p:spPr>
        <p:txBody>
          <a:bodyPr/>
          <a:lstStyle/>
          <a:p>
            <a:endParaRPr lang="es-PE"/>
          </a:p>
        </p:txBody>
      </p:sp>
      <p:sp>
        <p:nvSpPr>
          <p:cNvPr id="25" name="Text 23"/>
          <p:cNvSpPr/>
          <p:nvPr/>
        </p:nvSpPr>
        <p:spPr>
          <a:xfrm>
            <a:off x="2980944" y="2377440"/>
            <a:ext cx="1371600" cy="420624"/>
          </a:xfrm>
          <a:prstGeom prst="rect">
            <a:avLst/>
          </a:prstGeom>
          <a:noFill/>
          <a:ln/>
        </p:spPr>
        <p:txBody>
          <a:bodyPr wrap="square" lIns="0" tIns="0" rIns="0" bIns="0" rtlCol="0" anchor="ctr"/>
          <a:lstStyle/>
          <a:p>
            <a:pPr marL="0" indent="0" algn="l">
              <a:buNone/>
            </a:pPr>
            <a:r>
              <a:rPr lang="en-US" sz="900" dirty="0">
                <a:solidFill>
                  <a:srgbClr val="CDD9E5"/>
                </a:solidFill>
                <a:latin typeface="Calibri" pitchFamily="34" charset="0"/>
                <a:ea typeface="Calibri" pitchFamily="34" charset="-122"/>
                <a:cs typeface="Calibri" pitchFamily="34" charset="-120"/>
              </a:rPr>
              <a:t>MusicaPremium</a:t>
            </a:r>
            <a:endParaRPr lang="en-US" sz="900" dirty="0"/>
          </a:p>
        </p:txBody>
      </p:sp>
      <p:sp>
        <p:nvSpPr>
          <p:cNvPr id="26" name="Shape 24"/>
          <p:cNvSpPr/>
          <p:nvPr/>
        </p:nvSpPr>
        <p:spPr>
          <a:xfrm>
            <a:off x="256032" y="2798064"/>
            <a:ext cx="1280160" cy="420624"/>
          </a:xfrm>
          <a:prstGeom prst="rect">
            <a:avLst/>
          </a:prstGeom>
          <a:solidFill>
            <a:srgbClr val="1C2330"/>
          </a:solidFill>
          <a:ln w="12700">
            <a:solidFill>
              <a:srgbClr val="30363D"/>
            </a:solidFill>
            <a:prstDash val="solid"/>
          </a:ln>
        </p:spPr>
        <p:txBody>
          <a:bodyPr/>
          <a:lstStyle/>
          <a:p>
            <a:endParaRPr lang="es-PE"/>
          </a:p>
        </p:txBody>
      </p:sp>
      <p:sp>
        <p:nvSpPr>
          <p:cNvPr id="27" name="Text 25"/>
          <p:cNvSpPr/>
          <p:nvPr/>
        </p:nvSpPr>
        <p:spPr>
          <a:xfrm>
            <a:off x="329184" y="2798064"/>
            <a:ext cx="1188720" cy="420624"/>
          </a:xfrm>
          <a:prstGeom prst="rect">
            <a:avLst/>
          </a:prstGeom>
          <a:noFill/>
          <a:ln/>
        </p:spPr>
        <p:txBody>
          <a:bodyPr wrap="square" lIns="0" tIns="0" rIns="0" bIns="0" rtlCol="0" anchor="ctr"/>
          <a:lstStyle/>
          <a:p>
            <a:pPr marL="0" indent="0" algn="l">
              <a:buNone/>
            </a:pPr>
            <a:r>
              <a:rPr lang="en-US" sz="900" b="1" dirty="0">
                <a:solidFill>
                  <a:srgbClr val="8B949E"/>
                </a:solidFill>
                <a:latin typeface="Calibri" pitchFamily="34" charset="0"/>
                <a:ea typeface="Calibri" pitchFamily="34" charset="-122"/>
                <a:cs typeface="Calibri" pitchFamily="34" charset="-120"/>
              </a:rPr>
              <a:t>Audiolibro</a:t>
            </a:r>
            <a:endParaRPr lang="en-US" sz="900" dirty="0"/>
          </a:p>
        </p:txBody>
      </p:sp>
      <p:sp>
        <p:nvSpPr>
          <p:cNvPr id="28" name="Shape 26"/>
          <p:cNvSpPr/>
          <p:nvPr/>
        </p:nvSpPr>
        <p:spPr>
          <a:xfrm>
            <a:off x="1536192" y="2798064"/>
            <a:ext cx="1371600" cy="420624"/>
          </a:xfrm>
          <a:prstGeom prst="rect">
            <a:avLst/>
          </a:prstGeom>
          <a:solidFill>
            <a:srgbClr val="161B22"/>
          </a:solidFill>
          <a:ln w="12700">
            <a:solidFill>
              <a:srgbClr val="30363D"/>
            </a:solidFill>
            <a:prstDash val="solid"/>
          </a:ln>
        </p:spPr>
        <p:txBody>
          <a:bodyPr/>
          <a:lstStyle/>
          <a:p>
            <a:endParaRPr lang="es-PE"/>
          </a:p>
        </p:txBody>
      </p:sp>
      <p:sp>
        <p:nvSpPr>
          <p:cNvPr id="29" name="Text 27"/>
          <p:cNvSpPr/>
          <p:nvPr/>
        </p:nvSpPr>
        <p:spPr>
          <a:xfrm>
            <a:off x="1609344" y="2798064"/>
            <a:ext cx="1280160" cy="420624"/>
          </a:xfrm>
          <a:prstGeom prst="rect">
            <a:avLst/>
          </a:prstGeom>
          <a:noFill/>
          <a:ln/>
        </p:spPr>
        <p:txBody>
          <a:bodyPr wrap="square" lIns="0" tIns="0" rIns="0" bIns="0" rtlCol="0" anchor="ctr"/>
          <a:lstStyle/>
          <a:p>
            <a:pPr marL="0" indent="0" algn="l">
              <a:buNone/>
            </a:pPr>
            <a:r>
              <a:rPr lang="en-US" sz="900" dirty="0">
                <a:solidFill>
                  <a:srgbClr val="F85149"/>
                </a:solidFill>
                <a:latin typeface="Calibri" pitchFamily="34" charset="0"/>
                <a:ea typeface="Calibri" pitchFamily="34" charset="-122"/>
                <a:cs typeface="Calibri" pitchFamily="34" charset="-120"/>
              </a:rPr>
              <a:t>No disponible</a:t>
            </a:r>
            <a:endParaRPr lang="en-US" sz="900" dirty="0"/>
          </a:p>
        </p:txBody>
      </p:sp>
      <p:sp>
        <p:nvSpPr>
          <p:cNvPr id="30" name="Shape 28"/>
          <p:cNvSpPr/>
          <p:nvPr/>
        </p:nvSpPr>
        <p:spPr>
          <a:xfrm>
            <a:off x="2907792" y="2798064"/>
            <a:ext cx="1463040" cy="420624"/>
          </a:xfrm>
          <a:prstGeom prst="rect">
            <a:avLst/>
          </a:prstGeom>
          <a:solidFill>
            <a:srgbClr val="161B22"/>
          </a:solidFill>
          <a:ln w="12700">
            <a:solidFill>
              <a:srgbClr val="30363D"/>
            </a:solidFill>
            <a:prstDash val="solid"/>
          </a:ln>
        </p:spPr>
        <p:txBody>
          <a:bodyPr/>
          <a:lstStyle/>
          <a:p>
            <a:endParaRPr lang="es-PE"/>
          </a:p>
        </p:txBody>
      </p:sp>
      <p:sp>
        <p:nvSpPr>
          <p:cNvPr id="31" name="Text 29"/>
          <p:cNvSpPr/>
          <p:nvPr/>
        </p:nvSpPr>
        <p:spPr>
          <a:xfrm>
            <a:off x="2980944" y="2798064"/>
            <a:ext cx="1371600" cy="420624"/>
          </a:xfrm>
          <a:prstGeom prst="rect">
            <a:avLst/>
          </a:prstGeom>
          <a:noFill/>
          <a:ln/>
        </p:spPr>
        <p:txBody>
          <a:bodyPr wrap="square" lIns="0" tIns="0" rIns="0" bIns="0" rtlCol="0" anchor="ctr"/>
          <a:lstStyle/>
          <a:p>
            <a:pPr marL="0" indent="0" algn="l">
              <a:buNone/>
            </a:pPr>
            <a:r>
              <a:rPr lang="en-US" sz="900" dirty="0">
                <a:solidFill>
                  <a:srgbClr val="CDD9E5"/>
                </a:solidFill>
                <a:latin typeface="Calibri" pitchFamily="34" charset="0"/>
                <a:ea typeface="Calibri" pitchFamily="34" charset="-122"/>
                <a:cs typeface="Calibri" pitchFamily="34" charset="-120"/>
              </a:rPr>
              <a:t>AudiolibroPremium</a:t>
            </a:r>
            <a:endParaRPr lang="en-US" sz="900" dirty="0"/>
          </a:p>
        </p:txBody>
      </p:sp>
      <p:sp>
        <p:nvSpPr>
          <p:cNvPr id="32" name="Text 30"/>
          <p:cNvSpPr/>
          <p:nvPr/>
        </p:nvSpPr>
        <p:spPr>
          <a:xfrm>
            <a:off x="256032" y="3346704"/>
            <a:ext cx="1280160" cy="237744"/>
          </a:xfrm>
          <a:prstGeom prst="rect">
            <a:avLst/>
          </a:prstGeom>
          <a:noFill/>
          <a:ln/>
        </p:spPr>
        <p:txBody>
          <a:bodyPr wrap="square" lIns="0" tIns="0" rIns="0" bIns="0" rtlCol="0" anchor="t"/>
          <a:lstStyle/>
          <a:p>
            <a:pPr marL="0" indent="0" algn="l">
              <a:buNone/>
            </a:pPr>
            <a:r>
              <a:rPr lang="en-US" sz="950" b="1" dirty="0">
                <a:solidFill>
                  <a:srgbClr val="8B949E"/>
                </a:solidFill>
                <a:latin typeface="Calibri" pitchFamily="34" charset="0"/>
                <a:ea typeface="Calibri" pitchFamily="34" charset="-122"/>
                <a:cs typeface="Calibri" pitchFamily="34" charset="-120"/>
              </a:rPr>
              <a:t>Plan FREE</a:t>
            </a:r>
            <a:endParaRPr lang="en-US" sz="950" dirty="0"/>
          </a:p>
        </p:txBody>
      </p:sp>
      <p:sp>
        <p:nvSpPr>
          <p:cNvPr id="33" name="Shape 31"/>
          <p:cNvSpPr/>
          <p:nvPr/>
        </p:nvSpPr>
        <p:spPr>
          <a:xfrm>
            <a:off x="256032" y="3621024"/>
            <a:ext cx="1920240" cy="256032"/>
          </a:xfrm>
          <a:prstGeom prst="rect">
            <a:avLst/>
          </a:prstGeom>
          <a:solidFill>
            <a:srgbClr val="1C2330"/>
          </a:solidFill>
          <a:ln w="12700">
            <a:solidFill>
              <a:srgbClr val="30363D"/>
            </a:solidFill>
            <a:prstDash val="solid"/>
          </a:ln>
        </p:spPr>
        <p:txBody>
          <a:bodyPr/>
          <a:lstStyle/>
          <a:p>
            <a:endParaRPr lang="es-PE"/>
          </a:p>
        </p:txBody>
      </p:sp>
      <p:sp>
        <p:nvSpPr>
          <p:cNvPr id="34" name="Text 32"/>
          <p:cNvSpPr/>
          <p:nvPr/>
        </p:nvSpPr>
        <p:spPr>
          <a:xfrm>
            <a:off x="365760" y="3621024"/>
            <a:ext cx="1792224" cy="256032"/>
          </a:xfrm>
          <a:prstGeom prst="rect">
            <a:avLst/>
          </a:prstGeom>
          <a:noFill/>
          <a:ln/>
        </p:spPr>
        <p:txBody>
          <a:bodyPr wrap="square" lIns="0" tIns="0" rIns="0" bIns="0" rtlCol="0" anchor="ctr"/>
          <a:lstStyle/>
          <a:p>
            <a:pPr marL="0" indent="0" algn="l">
              <a:buNone/>
            </a:pPr>
            <a:r>
              <a:rPr lang="en-US" sz="900" dirty="0">
                <a:solidFill>
                  <a:srgbClr val="8B949E"/>
                </a:solidFill>
                <a:latin typeface="Calibri" pitchFamily="34" charset="0"/>
                <a:ea typeface="Calibri" pitchFamily="34" charset="-122"/>
                <a:cs typeface="Calibri" pitchFamily="34" charset="-120"/>
              </a:rPr>
              <a:t>Con anuncios</a:t>
            </a:r>
            <a:endParaRPr lang="en-US" sz="900" dirty="0"/>
          </a:p>
        </p:txBody>
      </p:sp>
      <p:sp>
        <p:nvSpPr>
          <p:cNvPr id="35" name="Shape 33"/>
          <p:cNvSpPr/>
          <p:nvPr/>
        </p:nvSpPr>
        <p:spPr>
          <a:xfrm>
            <a:off x="256032" y="3922776"/>
            <a:ext cx="1920240" cy="256032"/>
          </a:xfrm>
          <a:prstGeom prst="rect">
            <a:avLst/>
          </a:prstGeom>
          <a:solidFill>
            <a:srgbClr val="1C2330"/>
          </a:solidFill>
          <a:ln w="12700">
            <a:solidFill>
              <a:srgbClr val="30363D"/>
            </a:solidFill>
            <a:prstDash val="solid"/>
          </a:ln>
        </p:spPr>
        <p:txBody>
          <a:bodyPr/>
          <a:lstStyle/>
          <a:p>
            <a:endParaRPr lang="es-PE"/>
          </a:p>
        </p:txBody>
      </p:sp>
      <p:sp>
        <p:nvSpPr>
          <p:cNvPr id="36" name="Text 34"/>
          <p:cNvSpPr/>
          <p:nvPr/>
        </p:nvSpPr>
        <p:spPr>
          <a:xfrm>
            <a:off x="365760" y="3922776"/>
            <a:ext cx="1792224" cy="256032"/>
          </a:xfrm>
          <a:prstGeom prst="rect">
            <a:avLst/>
          </a:prstGeom>
          <a:noFill/>
          <a:ln/>
        </p:spPr>
        <p:txBody>
          <a:bodyPr wrap="square" lIns="0" tIns="0" rIns="0" bIns="0" rtlCol="0" anchor="ctr"/>
          <a:lstStyle/>
          <a:p>
            <a:pPr marL="0" indent="0" algn="l">
              <a:buNone/>
            </a:pPr>
            <a:r>
              <a:rPr lang="en-US" sz="900" dirty="0">
                <a:solidFill>
                  <a:srgbClr val="8B949E"/>
                </a:solidFill>
                <a:latin typeface="Calibri" pitchFamily="34" charset="0"/>
                <a:ea typeface="Calibri" pitchFamily="34" charset="-122"/>
                <a:cs typeface="Calibri" pitchFamily="34" charset="-120"/>
              </a:rPr>
              <a:t>Sin descarga</a:t>
            </a:r>
            <a:endParaRPr lang="en-US" sz="900" dirty="0"/>
          </a:p>
        </p:txBody>
      </p:sp>
      <p:sp>
        <p:nvSpPr>
          <p:cNvPr id="37" name="Shape 35"/>
          <p:cNvSpPr/>
          <p:nvPr/>
        </p:nvSpPr>
        <p:spPr>
          <a:xfrm>
            <a:off x="256032" y="4224528"/>
            <a:ext cx="1920240" cy="256032"/>
          </a:xfrm>
          <a:prstGeom prst="rect">
            <a:avLst/>
          </a:prstGeom>
          <a:solidFill>
            <a:srgbClr val="1C2330"/>
          </a:solidFill>
          <a:ln w="12700">
            <a:solidFill>
              <a:srgbClr val="30363D"/>
            </a:solidFill>
            <a:prstDash val="solid"/>
          </a:ln>
        </p:spPr>
        <p:txBody>
          <a:bodyPr/>
          <a:lstStyle/>
          <a:p>
            <a:endParaRPr lang="es-PE"/>
          </a:p>
        </p:txBody>
      </p:sp>
      <p:sp>
        <p:nvSpPr>
          <p:cNvPr id="38" name="Text 36"/>
          <p:cNvSpPr/>
          <p:nvPr/>
        </p:nvSpPr>
        <p:spPr>
          <a:xfrm>
            <a:off x="365760" y="4224528"/>
            <a:ext cx="1792224" cy="256032"/>
          </a:xfrm>
          <a:prstGeom prst="rect">
            <a:avLst/>
          </a:prstGeom>
          <a:noFill/>
          <a:ln/>
        </p:spPr>
        <p:txBody>
          <a:bodyPr wrap="square" lIns="0" tIns="0" rIns="0" bIns="0" rtlCol="0" anchor="ctr"/>
          <a:lstStyle/>
          <a:p>
            <a:pPr marL="0" indent="0" algn="l">
              <a:buNone/>
            </a:pPr>
            <a:r>
              <a:rPr lang="en-US" sz="900" dirty="0">
                <a:solidFill>
                  <a:srgbClr val="8B949E"/>
                </a:solidFill>
                <a:latin typeface="Calibri" pitchFamily="34" charset="0"/>
                <a:ea typeface="Calibri" pitchFamily="34" charset="-122"/>
                <a:cs typeface="Calibri" pitchFamily="34" charset="-120"/>
              </a:rPr>
              <a:t>Sin audiolibros</a:t>
            </a:r>
            <a:endParaRPr lang="en-US" sz="900" dirty="0"/>
          </a:p>
        </p:txBody>
      </p:sp>
      <p:sp>
        <p:nvSpPr>
          <p:cNvPr id="39" name="Text 37"/>
          <p:cNvSpPr/>
          <p:nvPr/>
        </p:nvSpPr>
        <p:spPr>
          <a:xfrm>
            <a:off x="2267712" y="3346704"/>
            <a:ext cx="2103120" cy="237744"/>
          </a:xfrm>
          <a:prstGeom prst="rect">
            <a:avLst/>
          </a:prstGeom>
          <a:noFill/>
          <a:ln/>
        </p:spPr>
        <p:txBody>
          <a:bodyPr wrap="square" lIns="0" tIns="0" rIns="0" bIns="0" rtlCol="0" anchor="t"/>
          <a:lstStyle/>
          <a:p>
            <a:pPr marL="0" indent="0" algn="l">
              <a:buNone/>
            </a:pPr>
            <a:r>
              <a:rPr lang="en-US" sz="950" b="1" dirty="0">
                <a:solidFill>
                  <a:srgbClr val="1DB954"/>
                </a:solidFill>
                <a:latin typeface="Calibri" pitchFamily="34" charset="0"/>
                <a:ea typeface="Calibri" pitchFamily="34" charset="-122"/>
                <a:cs typeface="Calibri" pitchFamily="34" charset="-120"/>
              </a:rPr>
              <a:t>Plan PREMIUM</a:t>
            </a:r>
            <a:endParaRPr lang="en-US" sz="950" dirty="0"/>
          </a:p>
        </p:txBody>
      </p:sp>
      <p:sp>
        <p:nvSpPr>
          <p:cNvPr id="40" name="Shape 38"/>
          <p:cNvSpPr/>
          <p:nvPr/>
        </p:nvSpPr>
        <p:spPr>
          <a:xfrm>
            <a:off x="2267712" y="3621024"/>
            <a:ext cx="2084832" cy="256032"/>
          </a:xfrm>
          <a:prstGeom prst="rect">
            <a:avLst/>
          </a:prstGeom>
          <a:solidFill>
            <a:srgbClr val="1C2330"/>
          </a:solidFill>
          <a:ln w="12700">
            <a:solidFill>
              <a:srgbClr val="1DB954"/>
            </a:solidFill>
            <a:prstDash val="solid"/>
          </a:ln>
        </p:spPr>
        <p:txBody>
          <a:bodyPr/>
          <a:lstStyle/>
          <a:p>
            <a:endParaRPr lang="es-PE"/>
          </a:p>
        </p:txBody>
      </p:sp>
      <p:sp>
        <p:nvSpPr>
          <p:cNvPr id="41" name="Text 39"/>
          <p:cNvSpPr/>
          <p:nvPr/>
        </p:nvSpPr>
        <p:spPr>
          <a:xfrm>
            <a:off x="2377440" y="3621024"/>
            <a:ext cx="1956816" cy="256032"/>
          </a:xfrm>
          <a:prstGeom prst="rect">
            <a:avLst/>
          </a:prstGeom>
          <a:noFill/>
          <a:ln/>
        </p:spPr>
        <p:txBody>
          <a:bodyPr wrap="square" lIns="0" tIns="0" rIns="0" bIns="0" rtlCol="0" anchor="ctr"/>
          <a:lstStyle/>
          <a:p>
            <a:pPr marL="0" indent="0" algn="l">
              <a:buNone/>
            </a:pPr>
            <a:r>
              <a:rPr lang="en-US" sz="900" dirty="0">
                <a:solidFill>
                  <a:srgbClr val="CDD9E5"/>
                </a:solidFill>
                <a:latin typeface="Calibri" pitchFamily="34" charset="0"/>
                <a:ea typeface="Calibri" pitchFamily="34" charset="-122"/>
                <a:cs typeface="Calibri" pitchFamily="34" charset="-120"/>
              </a:rPr>
              <a:t>Alta calidad · sin ads</a:t>
            </a:r>
            <a:endParaRPr lang="en-US" sz="900" dirty="0"/>
          </a:p>
        </p:txBody>
      </p:sp>
      <p:sp>
        <p:nvSpPr>
          <p:cNvPr id="42" name="Shape 40"/>
          <p:cNvSpPr/>
          <p:nvPr/>
        </p:nvSpPr>
        <p:spPr>
          <a:xfrm>
            <a:off x="2267712" y="3922776"/>
            <a:ext cx="2084832" cy="256032"/>
          </a:xfrm>
          <a:prstGeom prst="rect">
            <a:avLst/>
          </a:prstGeom>
          <a:solidFill>
            <a:srgbClr val="1C2330"/>
          </a:solidFill>
          <a:ln w="12700">
            <a:solidFill>
              <a:srgbClr val="1DB954"/>
            </a:solidFill>
            <a:prstDash val="solid"/>
          </a:ln>
        </p:spPr>
        <p:txBody>
          <a:bodyPr/>
          <a:lstStyle/>
          <a:p>
            <a:endParaRPr lang="es-PE"/>
          </a:p>
        </p:txBody>
      </p:sp>
      <p:sp>
        <p:nvSpPr>
          <p:cNvPr id="43" name="Text 41"/>
          <p:cNvSpPr/>
          <p:nvPr/>
        </p:nvSpPr>
        <p:spPr>
          <a:xfrm>
            <a:off x="2377440" y="3922776"/>
            <a:ext cx="1956816" cy="256032"/>
          </a:xfrm>
          <a:prstGeom prst="rect">
            <a:avLst/>
          </a:prstGeom>
          <a:noFill/>
          <a:ln/>
        </p:spPr>
        <p:txBody>
          <a:bodyPr wrap="square" lIns="0" tIns="0" rIns="0" bIns="0" rtlCol="0" anchor="ctr"/>
          <a:lstStyle/>
          <a:p>
            <a:pPr marL="0" indent="0" algn="l">
              <a:buNone/>
            </a:pPr>
            <a:r>
              <a:rPr lang="en-US" sz="900" dirty="0">
                <a:solidFill>
                  <a:srgbClr val="CDD9E5"/>
                </a:solidFill>
                <a:latin typeface="Calibri" pitchFamily="34" charset="0"/>
                <a:ea typeface="Calibri" pitchFamily="34" charset="-122"/>
                <a:cs typeface="Calibri" pitchFamily="34" charset="-120"/>
              </a:rPr>
              <a:t>Descarga offline</a:t>
            </a:r>
            <a:endParaRPr lang="en-US" sz="900" dirty="0"/>
          </a:p>
        </p:txBody>
      </p:sp>
      <p:sp>
        <p:nvSpPr>
          <p:cNvPr id="44" name="Shape 42"/>
          <p:cNvSpPr/>
          <p:nvPr/>
        </p:nvSpPr>
        <p:spPr>
          <a:xfrm>
            <a:off x="2267712" y="4224528"/>
            <a:ext cx="2084832" cy="256032"/>
          </a:xfrm>
          <a:prstGeom prst="rect">
            <a:avLst/>
          </a:prstGeom>
          <a:solidFill>
            <a:srgbClr val="1C2330"/>
          </a:solidFill>
          <a:ln w="12700">
            <a:solidFill>
              <a:srgbClr val="1DB954"/>
            </a:solidFill>
            <a:prstDash val="solid"/>
          </a:ln>
        </p:spPr>
        <p:txBody>
          <a:bodyPr/>
          <a:lstStyle/>
          <a:p>
            <a:endParaRPr lang="es-PE"/>
          </a:p>
        </p:txBody>
      </p:sp>
      <p:sp>
        <p:nvSpPr>
          <p:cNvPr id="45" name="Text 43"/>
          <p:cNvSpPr/>
          <p:nvPr/>
        </p:nvSpPr>
        <p:spPr>
          <a:xfrm>
            <a:off x="2377440" y="4224528"/>
            <a:ext cx="1956816" cy="256032"/>
          </a:xfrm>
          <a:prstGeom prst="rect">
            <a:avLst/>
          </a:prstGeom>
          <a:noFill/>
          <a:ln/>
        </p:spPr>
        <p:txBody>
          <a:bodyPr wrap="square" lIns="0" tIns="0" rIns="0" bIns="0" rtlCol="0" anchor="ctr"/>
          <a:lstStyle/>
          <a:p>
            <a:pPr marL="0" indent="0" algn="l">
              <a:buNone/>
            </a:pPr>
            <a:r>
              <a:rPr lang="en-US" sz="900" dirty="0">
                <a:solidFill>
                  <a:srgbClr val="CDD9E5"/>
                </a:solidFill>
                <a:latin typeface="Calibri" pitchFamily="34" charset="0"/>
                <a:ea typeface="Calibri" pitchFamily="34" charset="-122"/>
                <a:cs typeface="Calibri" pitchFamily="34" charset="-120"/>
              </a:rPr>
              <a:t>Audiolibros completos</a:t>
            </a:r>
            <a:endParaRPr lang="en-US" sz="900" dirty="0"/>
          </a:p>
        </p:txBody>
      </p:sp>
      <p:sp>
        <p:nvSpPr>
          <p:cNvPr id="46" name="Shape 44"/>
          <p:cNvSpPr/>
          <p:nvPr/>
        </p:nvSpPr>
        <p:spPr>
          <a:xfrm>
            <a:off x="256032" y="4590288"/>
            <a:ext cx="4160520" cy="347472"/>
          </a:xfrm>
          <a:prstGeom prst="rect">
            <a:avLst/>
          </a:prstGeom>
          <a:solidFill>
            <a:srgbClr val="1C2330"/>
          </a:solidFill>
          <a:ln w="12700">
            <a:solidFill>
              <a:srgbClr val="30363D"/>
            </a:solidFill>
            <a:prstDash val="solid"/>
          </a:ln>
        </p:spPr>
        <p:txBody>
          <a:bodyPr/>
          <a:lstStyle/>
          <a:p>
            <a:endParaRPr lang="es-PE"/>
          </a:p>
        </p:txBody>
      </p:sp>
      <p:sp>
        <p:nvSpPr>
          <p:cNvPr id="47" name="Text 45"/>
          <p:cNvSpPr/>
          <p:nvPr/>
        </p:nvSpPr>
        <p:spPr>
          <a:xfrm>
            <a:off x="365760" y="4590288"/>
            <a:ext cx="3950208" cy="347472"/>
          </a:xfrm>
          <a:prstGeom prst="rect">
            <a:avLst/>
          </a:prstGeom>
          <a:noFill/>
          <a:ln/>
        </p:spPr>
        <p:txBody>
          <a:bodyPr wrap="square" lIns="0" tIns="0" rIns="0" bIns="0" rtlCol="0" anchor="ctr"/>
          <a:lstStyle/>
          <a:p>
            <a:pPr marL="0" indent="0" algn="l">
              <a:buNone/>
            </a:pPr>
            <a:r>
              <a:rPr lang="en-US" sz="900" i="1" dirty="0">
                <a:solidFill>
                  <a:srgbClr val="8B949E"/>
                </a:solidFill>
                <a:latin typeface="Calibri" pitchFamily="34" charset="0"/>
                <a:ea typeface="Calibri" pitchFamily="34" charset="-122"/>
                <a:cs typeface="Calibri" pitchFamily="34" charset="-120"/>
              </a:rPr>
              <a:t>Ventaja: agregar nuevo tipo solo requiere extender la Factory sin tocar el código cliente.</a:t>
            </a:r>
            <a:endParaRPr lang="en-US" sz="900" dirty="0"/>
          </a:p>
        </p:txBody>
      </p:sp>
      <p:sp>
        <p:nvSpPr>
          <p:cNvPr id="48" name="Shape 46"/>
          <p:cNvSpPr/>
          <p:nvPr/>
        </p:nvSpPr>
        <p:spPr>
          <a:xfrm>
            <a:off x="4617720" y="1261872"/>
            <a:ext cx="4251960" cy="3858768"/>
          </a:xfrm>
          <a:prstGeom prst="rect">
            <a:avLst/>
          </a:prstGeom>
          <a:solidFill>
            <a:srgbClr val="1C2330"/>
          </a:solidFill>
          <a:ln w="12700">
            <a:solidFill>
              <a:srgbClr val="8957E5"/>
            </a:solidFill>
            <a:prstDash val="solid"/>
          </a:ln>
        </p:spPr>
        <p:txBody>
          <a:bodyPr/>
          <a:lstStyle/>
          <a:p>
            <a:endParaRPr lang="es-PE"/>
          </a:p>
        </p:txBody>
      </p:sp>
      <p:sp>
        <p:nvSpPr>
          <p:cNvPr id="49" name="Shape 47"/>
          <p:cNvSpPr/>
          <p:nvPr/>
        </p:nvSpPr>
        <p:spPr>
          <a:xfrm>
            <a:off x="4617720" y="1261872"/>
            <a:ext cx="4251960" cy="237744"/>
          </a:xfrm>
          <a:prstGeom prst="rect">
            <a:avLst/>
          </a:prstGeom>
          <a:solidFill>
            <a:srgbClr val="080C12"/>
          </a:solidFill>
          <a:ln w="12700">
            <a:solidFill>
              <a:srgbClr val="080C12"/>
            </a:solidFill>
            <a:prstDash val="solid"/>
          </a:ln>
        </p:spPr>
        <p:txBody>
          <a:bodyPr/>
          <a:lstStyle/>
          <a:p>
            <a:endParaRPr lang="es-PE"/>
          </a:p>
        </p:txBody>
      </p:sp>
      <p:sp>
        <p:nvSpPr>
          <p:cNvPr id="50" name="Text 48"/>
          <p:cNvSpPr/>
          <p:nvPr/>
        </p:nvSpPr>
        <p:spPr>
          <a:xfrm>
            <a:off x="4709160" y="1261872"/>
            <a:ext cx="320040" cy="237744"/>
          </a:xfrm>
          <a:prstGeom prst="rect">
            <a:avLst/>
          </a:prstGeom>
          <a:noFill/>
          <a:ln/>
        </p:spPr>
        <p:txBody>
          <a:bodyPr wrap="square" lIns="0" tIns="0" rIns="0" bIns="0" rtlCol="0" anchor="ctr"/>
          <a:lstStyle/>
          <a:p>
            <a:pPr marL="0" indent="0" algn="l">
              <a:buNone/>
            </a:pPr>
            <a:r>
              <a:rPr lang="en-US" sz="900" b="1" dirty="0">
                <a:solidFill>
                  <a:srgbClr val="8957E5"/>
                </a:solidFill>
                <a:latin typeface="Calibri" pitchFamily="34" charset="0"/>
                <a:ea typeface="Calibri" pitchFamily="34" charset="-122"/>
                <a:cs typeface="Calibri" pitchFamily="34" charset="-120"/>
              </a:rPr>
              <a:t>C#</a:t>
            </a:r>
            <a:endParaRPr lang="en-US" sz="900" dirty="0"/>
          </a:p>
        </p:txBody>
      </p:sp>
      <p:sp>
        <p:nvSpPr>
          <p:cNvPr id="51" name="Shape 49"/>
          <p:cNvSpPr/>
          <p:nvPr/>
        </p:nvSpPr>
        <p:spPr>
          <a:xfrm>
            <a:off x="5029200" y="1344168"/>
            <a:ext cx="64008" cy="64008"/>
          </a:xfrm>
          <a:prstGeom prst="rect">
            <a:avLst/>
          </a:prstGeom>
          <a:solidFill>
            <a:srgbClr val="F85149"/>
          </a:solidFill>
          <a:ln w="12700">
            <a:solidFill>
              <a:srgbClr val="F85149"/>
            </a:solidFill>
            <a:prstDash val="solid"/>
          </a:ln>
        </p:spPr>
        <p:txBody>
          <a:bodyPr/>
          <a:lstStyle/>
          <a:p>
            <a:endParaRPr lang="es-PE"/>
          </a:p>
        </p:txBody>
      </p:sp>
      <p:sp>
        <p:nvSpPr>
          <p:cNvPr id="52" name="Shape 50"/>
          <p:cNvSpPr/>
          <p:nvPr/>
        </p:nvSpPr>
        <p:spPr>
          <a:xfrm>
            <a:off x="5148072" y="1344168"/>
            <a:ext cx="64008" cy="64008"/>
          </a:xfrm>
          <a:prstGeom prst="rect">
            <a:avLst/>
          </a:prstGeom>
          <a:solidFill>
            <a:srgbClr val="D29922"/>
          </a:solidFill>
          <a:ln w="12700">
            <a:solidFill>
              <a:srgbClr val="D29922"/>
            </a:solidFill>
            <a:prstDash val="solid"/>
          </a:ln>
        </p:spPr>
        <p:txBody>
          <a:bodyPr/>
          <a:lstStyle/>
          <a:p>
            <a:endParaRPr lang="es-PE"/>
          </a:p>
        </p:txBody>
      </p:sp>
      <p:sp>
        <p:nvSpPr>
          <p:cNvPr id="53" name="Shape 51"/>
          <p:cNvSpPr/>
          <p:nvPr/>
        </p:nvSpPr>
        <p:spPr>
          <a:xfrm>
            <a:off x="5266944" y="1344168"/>
            <a:ext cx="64008" cy="64008"/>
          </a:xfrm>
          <a:prstGeom prst="rect">
            <a:avLst/>
          </a:prstGeom>
          <a:solidFill>
            <a:srgbClr val="1DB954"/>
          </a:solidFill>
          <a:ln w="12700">
            <a:solidFill>
              <a:srgbClr val="1DB954"/>
            </a:solidFill>
            <a:prstDash val="solid"/>
          </a:ln>
        </p:spPr>
        <p:txBody>
          <a:bodyPr/>
          <a:lstStyle/>
          <a:p>
            <a:endParaRPr lang="es-PE"/>
          </a:p>
        </p:txBody>
      </p:sp>
      <p:sp>
        <p:nvSpPr>
          <p:cNvPr id="54" name="Text 52"/>
          <p:cNvSpPr/>
          <p:nvPr/>
        </p:nvSpPr>
        <p:spPr>
          <a:xfrm>
            <a:off x="4727448" y="1536192"/>
            <a:ext cx="4069080" cy="3493008"/>
          </a:xfrm>
          <a:prstGeom prst="rect">
            <a:avLst/>
          </a:prstGeom>
          <a:noFill/>
          <a:ln/>
        </p:spPr>
        <p:txBody>
          <a:bodyPr wrap="square" lIns="0" tIns="0" rIns="0" bIns="0" rtlCol="0" anchor="t"/>
          <a:lstStyle/>
          <a:p>
            <a:pPr marL="0" indent="0" algn="l">
              <a:buNone/>
            </a:pPr>
            <a:r>
              <a:rPr lang="en-US" sz="750" dirty="0">
                <a:solidFill>
                  <a:srgbClr val="CDD9E5"/>
                </a:solidFill>
                <a:latin typeface="Consolas" pitchFamily="34" charset="0"/>
                <a:ea typeface="Consolas" pitchFamily="34" charset="-122"/>
                <a:cs typeface="Consolas" pitchFamily="34" charset="-120"/>
              </a:rPr>
              <a:t>public enum PlanUsuario  { Free, Premium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enum TipoContenido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Musica, Podcast, Audiolibro }</a:t>
            </a:r>
            <a:endParaRPr lang="en-US" sz="750" dirty="0"/>
          </a:p>
          <a:p>
            <a:pPr marL="0" indent="0" algn="l">
              <a:buNone/>
            </a:pP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interface IReproductor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Play(string contenido);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Pause();</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bool PuedeDescargar();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Reproductor Free: Play con anuncios,</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Pause normal, PuedeDescargar()=&gt;false</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Reproductor Premium: Play sin anuncios,</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Pause normal, PuedeDescargar()=&gt;true</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(misma interfaz IReproductor)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static class ReproductorFactory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static IReproductor Crear(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TipoContenido tipo, PlanUsuario plan)</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=&gt; (tipo, plan) switch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(Musica,    Free)   =&gt; new MusicaFree(),</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(Musica,    Premium)=&gt; new MusicaPremium(),</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(Podcast,   Free)   =&gt; new PodcastFree(),</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(Podcast,   Premium)=&gt; new MusicaPremium(),</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(Audiolibro,Premium)=&gt; new AudiolibroPremium(),</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(Audiolibro,Free)   =&gt; throw new</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InvalidOperationException(</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"Audiolibros solo en Premium"),</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_ =&gt; throw new NotSupportedException()</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EA198"/>
          </a:solidFill>
          <a:ln w="12700">
            <a:solidFill>
              <a:srgbClr val="2EA198"/>
            </a:solidFill>
            <a:prstDash val="solid"/>
          </a:ln>
        </p:spPr>
        <p:txBody>
          <a:bodyPr/>
          <a:lstStyle/>
          <a:p>
            <a:endParaRPr lang="es-PE"/>
          </a:p>
        </p:txBody>
      </p:sp>
      <p:sp>
        <p:nvSpPr>
          <p:cNvPr id="3" name="Shape 1"/>
          <p:cNvSpPr/>
          <p:nvPr/>
        </p:nvSpPr>
        <p:spPr>
          <a:xfrm>
            <a:off x="109728" y="0"/>
            <a:ext cx="9034272" cy="749808"/>
          </a:xfrm>
          <a:prstGeom prst="rect">
            <a:avLst/>
          </a:prstGeom>
          <a:solidFill>
            <a:srgbClr val="161B22"/>
          </a:solidFill>
          <a:ln w="12700">
            <a:solidFill>
              <a:srgbClr val="161B22"/>
            </a:solidFill>
            <a:prstDash val="solid"/>
          </a:ln>
        </p:spPr>
        <p:txBody>
          <a:bodyPr/>
          <a:lstStyle/>
          <a:p>
            <a:endParaRPr lang="es-PE"/>
          </a:p>
        </p:txBody>
      </p:sp>
      <p:sp>
        <p:nvSpPr>
          <p:cNvPr id="4" name="Shape 2"/>
          <p:cNvSpPr/>
          <p:nvPr/>
        </p:nvSpPr>
        <p:spPr>
          <a:xfrm>
            <a:off x="109728" y="749808"/>
            <a:ext cx="9034272" cy="36576"/>
          </a:xfrm>
          <a:prstGeom prst="rect">
            <a:avLst/>
          </a:prstGeom>
          <a:solidFill>
            <a:srgbClr val="2EA198"/>
          </a:solidFill>
          <a:ln w="12700">
            <a:solidFill>
              <a:srgbClr val="2EA198"/>
            </a:solidFill>
            <a:prstDash val="solid"/>
          </a:ln>
        </p:spPr>
        <p:txBody>
          <a:bodyPr/>
          <a:lstStyle/>
          <a:p>
            <a:endParaRPr lang="es-PE"/>
          </a:p>
        </p:txBody>
      </p:sp>
      <p:sp>
        <p:nvSpPr>
          <p:cNvPr id="5" name="Text 3"/>
          <p:cNvSpPr/>
          <p:nvPr/>
        </p:nvSpPr>
        <p:spPr>
          <a:xfrm>
            <a:off x="320040" y="0"/>
            <a:ext cx="8686800" cy="749808"/>
          </a:xfrm>
          <a:prstGeom prst="rect">
            <a:avLst/>
          </a:prstGeom>
          <a:noFill/>
          <a:ln/>
        </p:spPr>
        <p:txBody>
          <a:bodyPr wrap="square" lIns="0" tIns="0" rIns="0" bIns="0" rtlCol="0" anchor="ctr"/>
          <a:lstStyle/>
          <a:p>
            <a:pPr marL="0" indent="0" algn="l">
              <a:buNone/>
            </a:pPr>
            <a:r>
              <a:rPr lang="en-US" sz="1700" b="1" dirty="0">
                <a:solidFill>
                  <a:srgbClr val="FFFFFF"/>
                </a:solidFill>
                <a:latin typeface="Trebuchet MS" pitchFamily="34" charset="0"/>
                <a:ea typeface="Trebuchet MS" pitchFamily="34" charset="-122"/>
                <a:cs typeface="Trebuchet MS" pitchFamily="34" charset="-120"/>
              </a:rPr>
              <a:t>Pregunta 5 — Interfaces vs. Clases Abstractas</a:t>
            </a:r>
            <a:endParaRPr lang="en-US" sz="1700" dirty="0"/>
          </a:p>
        </p:txBody>
      </p:sp>
      <p:sp>
        <p:nvSpPr>
          <p:cNvPr id="6" name="Text 4"/>
          <p:cNvSpPr/>
          <p:nvPr/>
        </p:nvSpPr>
        <p:spPr>
          <a:xfrm>
            <a:off x="320040" y="822960"/>
            <a:ext cx="8686800" cy="329184"/>
          </a:xfrm>
          <a:prstGeom prst="rect">
            <a:avLst/>
          </a:prstGeom>
          <a:noFill/>
          <a:ln/>
        </p:spPr>
        <p:txBody>
          <a:bodyPr wrap="square" lIns="0" tIns="0" rIns="0" bIns="0" rtlCol="0" anchor="t"/>
          <a:lstStyle/>
          <a:p>
            <a:pPr marL="0" indent="0" algn="l">
              <a:buNone/>
            </a:pPr>
            <a:r>
              <a:rPr lang="en-US" sz="1000" i="1" dirty="0">
                <a:solidFill>
                  <a:srgbClr val="8B949E"/>
                </a:solidFill>
                <a:latin typeface="Calibri" pitchFamily="34" charset="0"/>
                <a:ea typeface="Calibri" pitchFamily="34" charset="-122"/>
                <a:cs typeface="Calibri" pitchFamily="34" charset="-120"/>
              </a:rPr>
              <a:t>¿Qué ventajas tiene usar interfaces en C#? ¿Cuándo usarías una u otra?</a:t>
            </a:r>
            <a:endParaRPr lang="en-US" sz="1000" dirty="0"/>
          </a:p>
        </p:txBody>
      </p:sp>
      <p:sp>
        <p:nvSpPr>
          <p:cNvPr id="7" name="Shape 5"/>
          <p:cNvSpPr/>
          <p:nvPr/>
        </p:nvSpPr>
        <p:spPr>
          <a:xfrm>
            <a:off x="256032" y="1261872"/>
            <a:ext cx="1920240" cy="402336"/>
          </a:xfrm>
          <a:prstGeom prst="rect">
            <a:avLst/>
          </a:prstGeom>
          <a:solidFill>
            <a:srgbClr val="0A2A2A"/>
          </a:solidFill>
          <a:ln w="12700">
            <a:solidFill>
              <a:srgbClr val="30363D"/>
            </a:solidFill>
            <a:prstDash val="solid"/>
          </a:ln>
        </p:spPr>
        <p:txBody>
          <a:bodyPr/>
          <a:lstStyle/>
          <a:p>
            <a:endParaRPr lang="es-PE"/>
          </a:p>
        </p:txBody>
      </p:sp>
      <p:sp>
        <p:nvSpPr>
          <p:cNvPr id="8" name="Text 6"/>
          <p:cNvSpPr/>
          <p:nvPr/>
        </p:nvSpPr>
        <p:spPr>
          <a:xfrm>
            <a:off x="329184" y="1261872"/>
            <a:ext cx="1828800" cy="402336"/>
          </a:xfrm>
          <a:prstGeom prst="rect">
            <a:avLst/>
          </a:prstGeom>
          <a:noFill/>
          <a:ln/>
        </p:spPr>
        <p:txBody>
          <a:bodyPr wrap="square" lIns="0" tIns="0" rIns="0" bIns="0" rtlCol="0" anchor="ctr"/>
          <a:lstStyle/>
          <a:p>
            <a:pPr marL="0" indent="0" algn="l">
              <a:buNone/>
            </a:pPr>
            <a:r>
              <a:rPr lang="en-US" sz="1000" b="1" dirty="0">
                <a:solidFill>
                  <a:srgbClr val="2EA198"/>
                </a:solidFill>
                <a:latin typeface="Calibri" pitchFamily="34" charset="0"/>
                <a:ea typeface="Calibri" pitchFamily="34" charset="-122"/>
                <a:cs typeface="Calibri" pitchFamily="34" charset="-120"/>
              </a:rPr>
              <a:t>Característica</a:t>
            </a:r>
            <a:endParaRPr lang="en-US" sz="1000" dirty="0"/>
          </a:p>
        </p:txBody>
      </p:sp>
      <p:sp>
        <p:nvSpPr>
          <p:cNvPr id="9" name="Shape 7"/>
          <p:cNvSpPr/>
          <p:nvPr/>
        </p:nvSpPr>
        <p:spPr>
          <a:xfrm>
            <a:off x="2176272" y="1261872"/>
            <a:ext cx="1188720" cy="402336"/>
          </a:xfrm>
          <a:prstGeom prst="rect">
            <a:avLst/>
          </a:prstGeom>
          <a:solidFill>
            <a:srgbClr val="0A2A2A"/>
          </a:solidFill>
          <a:ln w="12700">
            <a:solidFill>
              <a:srgbClr val="30363D"/>
            </a:solidFill>
            <a:prstDash val="solid"/>
          </a:ln>
        </p:spPr>
        <p:txBody>
          <a:bodyPr/>
          <a:lstStyle/>
          <a:p>
            <a:endParaRPr lang="es-PE"/>
          </a:p>
        </p:txBody>
      </p:sp>
      <p:sp>
        <p:nvSpPr>
          <p:cNvPr id="10" name="Text 8"/>
          <p:cNvSpPr/>
          <p:nvPr/>
        </p:nvSpPr>
        <p:spPr>
          <a:xfrm>
            <a:off x="2249424" y="1261872"/>
            <a:ext cx="1097280" cy="402336"/>
          </a:xfrm>
          <a:prstGeom prst="rect">
            <a:avLst/>
          </a:prstGeom>
          <a:noFill/>
          <a:ln/>
        </p:spPr>
        <p:txBody>
          <a:bodyPr wrap="square" lIns="0" tIns="0" rIns="0" bIns="0" rtlCol="0" anchor="ctr"/>
          <a:lstStyle/>
          <a:p>
            <a:pPr marL="0" indent="0" algn="l">
              <a:buNone/>
            </a:pPr>
            <a:r>
              <a:rPr lang="en-US" sz="1000" b="1" dirty="0">
                <a:solidFill>
                  <a:srgbClr val="2EA198"/>
                </a:solidFill>
                <a:latin typeface="Calibri" pitchFamily="34" charset="0"/>
                <a:ea typeface="Calibri" pitchFamily="34" charset="-122"/>
                <a:cs typeface="Calibri" pitchFamily="34" charset="-120"/>
              </a:rPr>
              <a:t>Interfaz</a:t>
            </a:r>
            <a:endParaRPr lang="en-US" sz="1000" dirty="0"/>
          </a:p>
        </p:txBody>
      </p:sp>
      <p:sp>
        <p:nvSpPr>
          <p:cNvPr id="11" name="Shape 9"/>
          <p:cNvSpPr/>
          <p:nvPr/>
        </p:nvSpPr>
        <p:spPr>
          <a:xfrm>
            <a:off x="3364992" y="1261872"/>
            <a:ext cx="1463040" cy="402336"/>
          </a:xfrm>
          <a:prstGeom prst="rect">
            <a:avLst/>
          </a:prstGeom>
          <a:solidFill>
            <a:srgbClr val="0A2A2A"/>
          </a:solidFill>
          <a:ln w="12700">
            <a:solidFill>
              <a:srgbClr val="30363D"/>
            </a:solidFill>
            <a:prstDash val="solid"/>
          </a:ln>
        </p:spPr>
        <p:txBody>
          <a:bodyPr/>
          <a:lstStyle/>
          <a:p>
            <a:endParaRPr lang="es-PE"/>
          </a:p>
        </p:txBody>
      </p:sp>
      <p:sp>
        <p:nvSpPr>
          <p:cNvPr id="12" name="Text 10"/>
          <p:cNvSpPr/>
          <p:nvPr/>
        </p:nvSpPr>
        <p:spPr>
          <a:xfrm>
            <a:off x="3438144" y="1261872"/>
            <a:ext cx="1371600" cy="402336"/>
          </a:xfrm>
          <a:prstGeom prst="rect">
            <a:avLst/>
          </a:prstGeom>
          <a:noFill/>
          <a:ln/>
        </p:spPr>
        <p:txBody>
          <a:bodyPr wrap="square" lIns="0" tIns="0" rIns="0" bIns="0" rtlCol="0" anchor="ctr"/>
          <a:lstStyle/>
          <a:p>
            <a:pPr marL="0" indent="0" algn="l">
              <a:buNone/>
            </a:pPr>
            <a:r>
              <a:rPr lang="en-US" sz="1000" b="1" dirty="0">
                <a:solidFill>
                  <a:srgbClr val="2EA198"/>
                </a:solidFill>
                <a:latin typeface="Calibri" pitchFamily="34" charset="0"/>
                <a:ea typeface="Calibri" pitchFamily="34" charset="-122"/>
                <a:cs typeface="Calibri" pitchFamily="34" charset="-120"/>
              </a:rPr>
              <a:t>Clase Abstracta</a:t>
            </a:r>
            <a:endParaRPr lang="en-US" sz="1000" dirty="0"/>
          </a:p>
        </p:txBody>
      </p:sp>
      <p:sp>
        <p:nvSpPr>
          <p:cNvPr id="13" name="Shape 11"/>
          <p:cNvSpPr/>
          <p:nvPr/>
        </p:nvSpPr>
        <p:spPr>
          <a:xfrm>
            <a:off x="256032" y="1664208"/>
            <a:ext cx="1920240" cy="402336"/>
          </a:xfrm>
          <a:prstGeom prst="rect">
            <a:avLst/>
          </a:prstGeom>
          <a:solidFill>
            <a:srgbClr val="1C2330"/>
          </a:solidFill>
          <a:ln w="12700">
            <a:solidFill>
              <a:srgbClr val="30363D"/>
            </a:solidFill>
            <a:prstDash val="solid"/>
          </a:ln>
        </p:spPr>
        <p:txBody>
          <a:bodyPr/>
          <a:lstStyle/>
          <a:p>
            <a:endParaRPr lang="es-PE"/>
          </a:p>
        </p:txBody>
      </p:sp>
      <p:sp>
        <p:nvSpPr>
          <p:cNvPr id="14" name="Text 12"/>
          <p:cNvSpPr/>
          <p:nvPr/>
        </p:nvSpPr>
        <p:spPr>
          <a:xfrm>
            <a:off x="329184" y="1664208"/>
            <a:ext cx="1828800" cy="402336"/>
          </a:xfrm>
          <a:prstGeom prst="rect">
            <a:avLst/>
          </a:prstGeom>
          <a:noFill/>
          <a:ln/>
        </p:spPr>
        <p:txBody>
          <a:bodyPr wrap="square" lIns="0" tIns="0" rIns="0" bIns="0" rtlCol="0" anchor="ctr"/>
          <a:lstStyle/>
          <a:p>
            <a:pPr marL="0" indent="0" algn="l">
              <a:buNone/>
            </a:pPr>
            <a:r>
              <a:rPr lang="en-US" sz="950" dirty="0">
                <a:solidFill>
                  <a:srgbClr val="CDD9E5"/>
                </a:solidFill>
                <a:latin typeface="Calibri" pitchFamily="34" charset="0"/>
                <a:ea typeface="Calibri" pitchFamily="34" charset="-122"/>
                <a:cs typeface="Calibri" pitchFamily="34" charset="-120"/>
              </a:rPr>
              <a:t>Herencia múltiple</a:t>
            </a:r>
            <a:endParaRPr lang="en-US" sz="950" dirty="0"/>
          </a:p>
        </p:txBody>
      </p:sp>
      <p:sp>
        <p:nvSpPr>
          <p:cNvPr id="15" name="Shape 13"/>
          <p:cNvSpPr/>
          <p:nvPr/>
        </p:nvSpPr>
        <p:spPr>
          <a:xfrm>
            <a:off x="2176272" y="1664208"/>
            <a:ext cx="1188720" cy="402336"/>
          </a:xfrm>
          <a:prstGeom prst="rect">
            <a:avLst/>
          </a:prstGeom>
          <a:solidFill>
            <a:srgbClr val="1C2330"/>
          </a:solidFill>
          <a:ln w="12700">
            <a:solidFill>
              <a:srgbClr val="30363D"/>
            </a:solidFill>
            <a:prstDash val="solid"/>
          </a:ln>
        </p:spPr>
        <p:txBody>
          <a:bodyPr/>
          <a:lstStyle/>
          <a:p>
            <a:endParaRPr lang="es-PE"/>
          </a:p>
        </p:txBody>
      </p:sp>
      <p:sp>
        <p:nvSpPr>
          <p:cNvPr id="16" name="Text 14"/>
          <p:cNvSpPr/>
          <p:nvPr/>
        </p:nvSpPr>
        <p:spPr>
          <a:xfrm>
            <a:off x="2249424" y="1664208"/>
            <a:ext cx="1097280" cy="402336"/>
          </a:xfrm>
          <a:prstGeom prst="rect">
            <a:avLst/>
          </a:prstGeom>
          <a:noFill/>
          <a:ln/>
        </p:spPr>
        <p:txBody>
          <a:bodyPr wrap="square" lIns="0" tIns="0" rIns="0" bIns="0" rtlCol="0" anchor="ctr"/>
          <a:lstStyle/>
          <a:p>
            <a:pPr marL="0" indent="0" algn="l">
              <a:buNone/>
            </a:pPr>
            <a:r>
              <a:rPr lang="en-US" sz="950" dirty="0">
                <a:solidFill>
                  <a:srgbClr val="1DB954"/>
                </a:solidFill>
                <a:latin typeface="Calibri" pitchFamily="34" charset="0"/>
                <a:ea typeface="Calibri" pitchFamily="34" charset="-122"/>
                <a:cs typeface="Calibri" pitchFamily="34" charset="-120"/>
              </a:rPr>
              <a:t>✅ Sí</a:t>
            </a:r>
            <a:endParaRPr lang="en-US" sz="950" dirty="0"/>
          </a:p>
        </p:txBody>
      </p:sp>
      <p:sp>
        <p:nvSpPr>
          <p:cNvPr id="17" name="Shape 15"/>
          <p:cNvSpPr/>
          <p:nvPr/>
        </p:nvSpPr>
        <p:spPr>
          <a:xfrm>
            <a:off x="3364992" y="1664208"/>
            <a:ext cx="1463040" cy="402336"/>
          </a:xfrm>
          <a:prstGeom prst="rect">
            <a:avLst/>
          </a:prstGeom>
          <a:solidFill>
            <a:srgbClr val="1C2330"/>
          </a:solidFill>
          <a:ln w="12700">
            <a:solidFill>
              <a:srgbClr val="30363D"/>
            </a:solidFill>
            <a:prstDash val="solid"/>
          </a:ln>
        </p:spPr>
        <p:txBody>
          <a:bodyPr/>
          <a:lstStyle/>
          <a:p>
            <a:endParaRPr lang="es-PE"/>
          </a:p>
        </p:txBody>
      </p:sp>
      <p:sp>
        <p:nvSpPr>
          <p:cNvPr id="18" name="Text 16"/>
          <p:cNvSpPr/>
          <p:nvPr/>
        </p:nvSpPr>
        <p:spPr>
          <a:xfrm>
            <a:off x="3438144" y="1664208"/>
            <a:ext cx="1371600" cy="402336"/>
          </a:xfrm>
          <a:prstGeom prst="rect">
            <a:avLst/>
          </a:prstGeom>
          <a:noFill/>
          <a:ln/>
        </p:spPr>
        <p:txBody>
          <a:bodyPr wrap="square" lIns="0" tIns="0" rIns="0" bIns="0" rtlCol="0" anchor="ctr"/>
          <a:lstStyle/>
          <a:p>
            <a:pPr marL="0" indent="0" algn="l">
              <a:buNone/>
            </a:pPr>
            <a:r>
              <a:rPr lang="en-US" sz="950" dirty="0">
                <a:solidFill>
                  <a:srgbClr val="F85149"/>
                </a:solidFill>
                <a:latin typeface="Calibri" pitchFamily="34" charset="0"/>
                <a:ea typeface="Calibri" pitchFamily="34" charset="-122"/>
                <a:cs typeface="Calibri" pitchFamily="34" charset="-120"/>
              </a:rPr>
              <a:t>❌ Solo una clase</a:t>
            </a:r>
            <a:endParaRPr lang="en-US" sz="950" dirty="0"/>
          </a:p>
        </p:txBody>
      </p:sp>
      <p:sp>
        <p:nvSpPr>
          <p:cNvPr id="19" name="Shape 17"/>
          <p:cNvSpPr/>
          <p:nvPr/>
        </p:nvSpPr>
        <p:spPr>
          <a:xfrm>
            <a:off x="256032" y="2066544"/>
            <a:ext cx="1920240" cy="402336"/>
          </a:xfrm>
          <a:prstGeom prst="rect">
            <a:avLst/>
          </a:prstGeom>
          <a:solidFill>
            <a:srgbClr val="161B22"/>
          </a:solidFill>
          <a:ln w="12700">
            <a:solidFill>
              <a:srgbClr val="30363D"/>
            </a:solidFill>
            <a:prstDash val="solid"/>
          </a:ln>
        </p:spPr>
        <p:txBody>
          <a:bodyPr/>
          <a:lstStyle/>
          <a:p>
            <a:endParaRPr lang="es-PE"/>
          </a:p>
        </p:txBody>
      </p:sp>
      <p:sp>
        <p:nvSpPr>
          <p:cNvPr id="20" name="Text 18"/>
          <p:cNvSpPr/>
          <p:nvPr/>
        </p:nvSpPr>
        <p:spPr>
          <a:xfrm>
            <a:off x="329184" y="2066544"/>
            <a:ext cx="1828800" cy="402336"/>
          </a:xfrm>
          <a:prstGeom prst="rect">
            <a:avLst/>
          </a:prstGeom>
          <a:noFill/>
          <a:ln/>
        </p:spPr>
        <p:txBody>
          <a:bodyPr wrap="square" lIns="0" tIns="0" rIns="0" bIns="0" rtlCol="0" anchor="ctr"/>
          <a:lstStyle/>
          <a:p>
            <a:pPr marL="0" indent="0" algn="l">
              <a:buNone/>
            </a:pPr>
            <a:r>
              <a:rPr lang="en-US" sz="950" dirty="0">
                <a:solidFill>
                  <a:srgbClr val="CDD9E5"/>
                </a:solidFill>
                <a:latin typeface="Calibri" pitchFamily="34" charset="0"/>
                <a:ea typeface="Calibri" pitchFamily="34" charset="-122"/>
                <a:cs typeface="Calibri" pitchFamily="34" charset="-120"/>
              </a:rPr>
              <a:t>Código implementado</a:t>
            </a:r>
            <a:endParaRPr lang="en-US" sz="950" dirty="0"/>
          </a:p>
        </p:txBody>
      </p:sp>
      <p:sp>
        <p:nvSpPr>
          <p:cNvPr id="21" name="Shape 19"/>
          <p:cNvSpPr/>
          <p:nvPr/>
        </p:nvSpPr>
        <p:spPr>
          <a:xfrm>
            <a:off x="2176272" y="2066544"/>
            <a:ext cx="1188720" cy="402336"/>
          </a:xfrm>
          <a:prstGeom prst="rect">
            <a:avLst/>
          </a:prstGeom>
          <a:solidFill>
            <a:srgbClr val="161B22"/>
          </a:solidFill>
          <a:ln w="12700">
            <a:solidFill>
              <a:srgbClr val="30363D"/>
            </a:solidFill>
            <a:prstDash val="solid"/>
          </a:ln>
        </p:spPr>
        <p:txBody>
          <a:bodyPr/>
          <a:lstStyle/>
          <a:p>
            <a:endParaRPr lang="es-PE"/>
          </a:p>
        </p:txBody>
      </p:sp>
      <p:sp>
        <p:nvSpPr>
          <p:cNvPr id="22" name="Text 20"/>
          <p:cNvSpPr/>
          <p:nvPr/>
        </p:nvSpPr>
        <p:spPr>
          <a:xfrm>
            <a:off x="2249424" y="2066544"/>
            <a:ext cx="1097280" cy="402336"/>
          </a:xfrm>
          <a:prstGeom prst="rect">
            <a:avLst/>
          </a:prstGeom>
          <a:noFill/>
          <a:ln/>
        </p:spPr>
        <p:txBody>
          <a:bodyPr wrap="square" lIns="0" tIns="0" rIns="0" bIns="0" rtlCol="0" anchor="ctr"/>
          <a:lstStyle/>
          <a:p>
            <a:pPr marL="0" indent="0" algn="l">
              <a:buNone/>
            </a:pPr>
            <a:r>
              <a:rPr lang="en-US" sz="950" dirty="0">
                <a:solidFill>
                  <a:srgbClr val="1DB954"/>
                </a:solidFill>
                <a:latin typeface="Calibri" pitchFamily="34" charset="0"/>
                <a:ea typeface="Calibri" pitchFamily="34" charset="-122"/>
                <a:cs typeface="Calibri" pitchFamily="34" charset="-120"/>
              </a:rPr>
              <a:t>✅ (default C# 8)</a:t>
            </a:r>
            <a:endParaRPr lang="en-US" sz="950" dirty="0"/>
          </a:p>
        </p:txBody>
      </p:sp>
      <p:sp>
        <p:nvSpPr>
          <p:cNvPr id="23" name="Shape 21"/>
          <p:cNvSpPr/>
          <p:nvPr/>
        </p:nvSpPr>
        <p:spPr>
          <a:xfrm>
            <a:off x="3364992" y="2066544"/>
            <a:ext cx="1463040" cy="402336"/>
          </a:xfrm>
          <a:prstGeom prst="rect">
            <a:avLst/>
          </a:prstGeom>
          <a:solidFill>
            <a:srgbClr val="161B22"/>
          </a:solidFill>
          <a:ln w="12700">
            <a:solidFill>
              <a:srgbClr val="30363D"/>
            </a:solidFill>
            <a:prstDash val="solid"/>
          </a:ln>
        </p:spPr>
        <p:txBody>
          <a:bodyPr/>
          <a:lstStyle/>
          <a:p>
            <a:endParaRPr lang="es-PE"/>
          </a:p>
        </p:txBody>
      </p:sp>
      <p:sp>
        <p:nvSpPr>
          <p:cNvPr id="24" name="Text 22"/>
          <p:cNvSpPr/>
          <p:nvPr/>
        </p:nvSpPr>
        <p:spPr>
          <a:xfrm>
            <a:off x="3438144" y="2066544"/>
            <a:ext cx="1371600" cy="402336"/>
          </a:xfrm>
          <a:prstGeom prst="rect">
            <a:avLst/>
          </a:prstGeom>
          <a:noFill/>
          <a:ln/>
        </p:spPr>
        <p:txBody>
          <a:bodyPr wrap="square" lIns="0" tIns="0" rIns="0" bIns="0" rtlCol="0" anchor="ctr"/>
          <a:lstStyle/>
          <a:p>
            <a:pPr marL="0" indent="0" algn="l">
              <a:buNone/>
            </a:pPr>
            <a:r>
              <a:rPr lang="en-US" sz="950" dirty="0">
                <a:solidFill>
                  <a:srgbClr val="1DB954"/>
                </a:solidFill>
                <a:latin typeface="Calibri" pitchFamily="34" charset="0"/>
                <a:ea typeface="Calibri" pitchFamily="34" charset="-122"/>
                <a:cs typeface="Calibri" pitchFamily="34" charset="-120"/>
              </a:rPr>
              <a:t>✅ Sí</a:t>
            </a:r>
            <a:endParaRPr lang="en-US" sz="950" dirty="0"/>
          </a:p>
        </p:txBody>
      </p:sp>
      <p:sp>
        <p:nvSpPr>
          <p:cNvPr id="25" name="Shape 23"/>
          <p:cNvSpPr/>
          <p:nvPr/>
        </p:nvSpPr>
        <p:spPr>
          <a:xfrm>
            <a:off x="256032" y="2468880"/>
            <a:ext cx="1920240" cy="402336"/>
          </a:xfrm>
          <a:prstGeom prst="rect">
            <a:avLst/>
          </a:prstGeom>
          <a:solidFill>
            <a:srgbClr val="1C2330"/>
          </a:solidFill>
          <a:ln w="12700">
            <a:solidFill>
              <a:srgbClr val="30363D"/>
            </a:solidFill>
            <a:prstDash val="solid"/>
          </a:ln>
        </p:spPr>
        <p:txBody>
          <a:bodyPr/>
          <a:lstStyle/>
          <a:p>
            <a:endParaRPr lang="es-PE"/>
          </a:p>
        </p:txBody>
      </p:sp>
      <p:sp>
        <p:nvSpPr>
          <p:cNvPr id="26" name="Text 24"/>
          <p:cNvSpPr/>
          <p:nvPr/>
        </p:nvSpPr>
        <p:spPr>
          <a:xfrm>
            <a:off x="329184" y="2468880"/>
            <a:ext cx="1828800" cy="402336"/>
          </a:xfrm>
          <a:prstGeom prst="rect">
            <a:avLst/>
          </a:prstGeom>
          <a:noFill/>
          <a:ln/>
        </p:spPr>
        <p:txBody>
          <a:bodyPr wrap="square" lIns="0" tIns="0" rIns="0" bIns="0" rtlCol="0" anchor="ctr"/>
          <a:lstStyle/>
          <a:p>
            <a:pPr marL="0" indent="0" algn="l">
              <a:buNone/>
            </a:pPr>
            <a:r>
              <a:rPr lang="en-US" sz="950" dirty="0">
                <a:solidFill>
                  <a:srgbClr val="CDD9E5"/>
                </a:solidFill>
                <a:latin typeface="Calibri" pitchFamily="34" charset="0"/>
                <a:ea typeface="Calibri" pitchFamily="34" charset="-122"/>
                <a:cs typeface="Calibri" pitchFamily="34" charset="-120"/>
              </a:rPr>
              <a:t>Campos / estado</a:t>
            </a:r>
            <a:endParaRPr lang="en-US" sz="950" dirty="0"/>
          </a:p>
        </p:txBody>
      </p:sp>
      <p:sp>
        <p:nvSpPr>
          <p:cNvPr id="27" name="Shape 25"/>
          <p:cNvSpPr/>
          <p:nvPr/>
        </p:nvSpPr>
        <p:spPr>
          <a:xfrm>
            <a:off x="2176272" y="2468880"/>
            <a:ext cx="1188720" cy="402336"/>
          </a:xfrm>
          <a:prstGeom prst="rect">
            <a:avLst/>
          </a:prstGeom>
          <a:solidFill>
            <a:srgbClr val="1C2330"/>
          </a:solidFill>
          <a:ln w="12700">
            <a:solidFill>
              <a:srgbClr val="30363D"/>
            </a:solidFill>
            <a:prstDash val="solid"/>
          </a:ln>
        </p:spPr>
        <p:txBody>
          <a:bodyPr/>
          <a:lstStyle/>
          <a:p>
            <a:endParaRPr lang="es-PE"/>
          </a:p>
        </p:txBody>
      </p:sp>
      <p:sp>
        <p:nvSpPr>
          <p:cNvPr id="28" name="Text 26"/>
          <p:cNvSpPr/>
          <p:nvPr/>
        </p:nvSpPr>
        <p:spPr>
          <a:xfrm>
            <a:off x="2249424" y="2468880"/>
            <a:ext cx="1097280" cy="402336"/>
          </a:xfrm>
          <a:prstGeom prst="rect">
            <a:avLst/>
          </a:prstGeom>
          <a:noFill/>
          <a:ln/>
        </p:spPr>
        <p:txBody>
          <a:bodyPr wrap="square" lIns="0" tIns="0" rIns="0" bIns="0" rtlCol="0" anchor="ctr"/>
          <a:lstStyle/>
          <a:p>
            <a:pPr marL="0" indent="0" algn="l">
              <a:buNone/>
            </a:pPr>
            <a:r>
              <a:rPr lang="en-US" sz="950" dirty="0">
                <a:solidFill>
                  <a:srgbClr val="F85149"/>
                </a:solidFill>
                <a:latin typeface="Calibri" pitchFamily="34" charset="0"/>
                <a:ea typeface="Calibri" pitchFamily="34" charset="-122"/>
                <a:cs typeface="Calibri" pitchFamily="34" charset="-120"/>
              </a:rPr>
              <a:t>❌ No</a:t>
            </a:r>
            <a:endParaRPr lang="en-US" sz="950" dirty="0"/>
          </a:p>
        </p:txBody>
      </p:sp>
      <p:sp>
        <p:nvSpPr>
          <p:cNvPr id="29" name="Shape 27"/>
          <p:cNvSpPr/>
          <p:nvPr/>
        </p:nvSpPr>
        <p:spPr>
          <a:xfrm>
            <a:off x="3364992" y="2468880"/>
            <a:ext cx="1463040" cy="402336"/>
          </a:xfrm>
          <a:prstGeom prst="rect">
            <a:avLst/>
          </a:prstGeom>
          <a:solidFill>
            <a:srgbClr val="1C2330"/>
          </a:solidFill>
          <a:ln w="12700">
            <a:solidFill>
              <a:srgbClr val="30363D"/>
            </a:solidFill>
            <a:prstDash val="solid"/>
          </a:ln>
        </p:spPr>
        <p:txBody>
          <a:bodyPr/>
          <a:lstStyle/>
          <a:p>
            <a:endParaRPr lang="es-PE"/>
          </a:p>
        </p:txBody>
      </p:sp>
      <p:sp>
        <p:nvSpPr>
          <p:cNvPr id="30" name="Text 28"/>
          <p:cNvSpPr/>
          <p:nvPr/>
        </p:nvSpPr>
        <p:spPr>
          <a:xfrm>
            <a:off x="3438144" y="2468880"/>
            <a:ext cx="1371600" cy="402336"/>
          </a:xfrm>
          <a:prstGeom prst="rect">
            <a:avLst/>
          </a:prstGeom>
          <a:noFill/>
          <a:ln/>
        </p:spPr>
        <p:txBody>
          <a:bodyPr wrap="square" lIns="0" tIns="0" rIns="0" bIns="0" rtlCol="0" anchor="ctr"/>
          <a:lstStyle/>
          <a:p>
            <a:pPr marL="0" indent="0" algn="l">
              <a:buNone/>
            </a:pPr>
            <a:r>
              <a:rPr lang="en-US" sz="950" dirty="0">
                <a:solidFill>
                  <a:srgbClr val="1DB954"/>
                </a:solidFill>
                <a:latin typeface="Calibri" pitchFamily="34" charset="0"/>
                <a:ea typeface="Calibri" pitchFamily="34" charset="-122"/>
                <a:cs typeface="Calibri" pitchFamily="34" charset="-120"/>
              </a:rPr>
              <a:t>✅ Sí</a:t>
            </a:r>
            <a:endParaRPr lang="en-US" sz="950" dirty="0"/>
          </a:p>
        </p:txBody>
      </p:sp>
      <p:sp>
        <p:nvSpPr>
          <p:cNvPr id="31" name="Shape 29"/>
          <p:cNvSpPr/>
          <p:nvPr/>
        </p:nvSpPr>
        <p:spPr>
          <a:xfrm>
            <a:off x="256032" y="2871216"/>
            <a:ext cx="1920240" cy="402336"/>
          </a:xfrm>
          <a:prstGeom prst="rect">
            <a:avLst/>
          </a:prstGeom>
          <a:solidFill>
            <a:srgbClr val="161B22"/>
          </a:solidFill>
          <a:ln w="12700">
            <a:solidFill>
              <a:srgbClr val="30363D"/>
            </a:solidFill>
            <a:prstDash val="solid"/>
          </a:ln>
        </p:spPr>
        <p:txBody>
          <a:bodyPr/>
          <a:lstStyle/>
          <a:p>
            <a:endParaRPr lang="es-PE"/>
          </a:p>
        </p:txBody>
      </p:sp>
      <p:sp>
        <p:nvSpPr>
          <p:cNvPr id="32" name="Text 30"/>
          <p:cNvSpPr/>
          <p:nvPr/>
        </p:nvSpPr>
        <p:spPr>
          <a:xfrm>
            <a:off x="329184" y="2871216"/>
            <a:ext cx="1828800" cy="402336"/>
          </a:xfrm>
          <a:prstGeom prst="rect">
            <a:avLst/>
          </a:prstGeom>
          <a:noFill/>
          <a:ln/>
        </p:spPr>
        <p:txBody>
          <a:bodyPr wrap="square" lIns="0" tIns="0" rIns="0" bIns="0" rtlCol="0" anchor="ctr"/>
          <a:lstStyle/>
          <a:p>
            <a:pPr marL="0" indent="0" algn="l">
              <a:buNone/>
            </a:pPr>
            <a:r>
              <a:rPr lang="en-US" sz="950" dirty="0">
                <a:solidFill>
                  <a:srgbClr val="CDD9E5"/>
                </a:solidFill>
                <a:latin typeface="Calibri" pitchFamily="34" charset="0"/>
                <a:ea typeface="Calibri" pitchFamily="34" charset="-122"/>
                <a:cs typeface="Calibri" pitchFamily="34" charset="-120"/>
              </a:rPr>
              <a:t>Constructor</a:t>
            </a:r>
            <a:endParaRPr lang="en-US" sz="950" dirty="0"/>
          </a:p>
        </p:txBody>
      </p:sp>
      <p:sp>
        <p:nvSpPr>
          <p:cNvPr id="33" name="Shape 31"/>
          <p:cNvSpPr/>
          <p:nvPr/>
        </p:nvSpPr>
        <p:spPr>
          <a:xfrm>
            <a:off x="2176272" y="2871216"/>
            <a:ext cx="1188720" cy="402336"/>
          </a:xfrm>
          <a:prstGeom prst="rect">
            <a:avLst/>
          </a:prstGeom>
          <a:solidFill>
            <a:srgbClr val="161B22"/>
          </a:solidFill>
          <a:ln w="12700">
            <a:solidFill>
              <a:srgbClr val="30363D"/>
            </a:solidFill>
            <a:prstDash val="solid"/>
          </a:ln>
        </p:spPr>
        <p:txBody>
          <a:bodyPr/>
          <a:lstStyle/>
          <a:p>
            <a:endParaRPr lang="es-PE"/>
          </a:p>
        </p:txBody>
      </p:sp>
      <p:sp>
        <p:nvSpPr>
          <p:cNvPr id="34" name="Text 32"/>
          <p:cNvSpPr/>
          <p:nvPr/>
        </p:nvSpPr>
        <p:spPr>
          <a:xfrm>
            <a:off x="2249424" y="2871216"/>
            <a:ext cx="1097280" cy="402336"/>
          </a:xfrm>
          <a:prstGeom prst="rect">
            <a:avLst/>
          </a:prstGeom>
          <a:noFill/>
          <a:ln/>
        </p:spPr>
        <p:txBody>
          <a:bodyPr wrap="square" lIns="0" tIns="0" rIns="0" bIns="0" rtlCol="0" anchor="ctr"/>
          <a:lstStyle/>
          <a:p>
            <a:pPr marL="0" indent="0" algn="l">
              <a:buNone/>
            </a:pPr>
            <a:r>
              <a:rPr lang="en-US" sz="950" dirty="0">
                <a:solidFill>
                  <a:srgbClr val="F85149"/>
                </a:solidFill>
                <a:latin typeface="Calibri" pitchFamily="34" charset="0"/>
                <a:ea typeface="Calibri" pitchFamily="34" charset="-122"/>
                <a:cs typeface="Calibri" pitchFamily="34" charset="-120"/>
              </a:rPr>
              <a:t>❌ No</a:t>
            </a:r>
            <a:endParaRPr lang="en-US" sz="950" dirty="0"/>
          </a:p>
        </p:txBody>
      </p:sp>
      <p:sp>
        <p:nvSpPr>
          <p:cNvPr id="35" name="Shape 33"/>
          <p:cNvSpPr/>
          <p:nvPr/>
        </p:nvSpPr>
        <p:spPr>
          <a:xfrm>
            <a:off x="3364992" y="2871216"/>
            <a:ext cx="1463040" cy="402336"/>
          </a:xfrm>
          <a:prstGeom prst="rect">
            <a:avLst/>
          </a:prstGeom>
          <a:solidFill>
            <a:srgbClr val="161B22"/>
          </a:solidFill>
          <a:ln w="12700">
            <a:solidFill>
              <a:srgbClr val="30363D"/>
            </a:solidFill>
            <a:prstDash val="solid"/>
          </a:ln>
        </p:spPr>
        <p:txBody>
          <a:bodyPr/>
          <a:lstStyle/>
          <a:p>
            <a:endParaRPr lang="es-PE"/>
          </a:p>
        </p:txBody>
      </p:sp>
      <p:sp>
        <p:nvSpPr>
          <p:cNvPr id="36" name="Text 34"/>
          <p:cNvSpPr/>
          <p:nvPr/>
        </p:nvSpPr>
        <p:spPr>
          <a:xfrm>
            <a:off x="3438144" y="2871216"/>
            <a:ext cx="1371600" cy="402336"/>
          </a:xfrm>
          <a:prstGeom prst="rect">
            <a:avLst/>
          </a:prstGeom>
          <a:noFill/>
          <a:ln/>
        </p:spPr>
        <p:txBody>
          <a:bodyPr wrap="square" lIns="0" tIns="0" rIns="0" bIns="0" rtlCol="0" anchor="ctr"/>
          <a:lstStyle/>
          <a:p>
            <a:pPr marL="0" indent="0" algn="l">
              <a:buNone/>
            </a:pPr>
            <a:r>
              <a:rPr lang="en-US" sz="950" dirty="0">
                <a:solidFill>
                  <a:srgbClr val="1DB954"/>
                </a:solidFill>
                <a:latin typeface="Calibri" pitchFamily="34" charset="0"/>
                <a:ea typeface="Calibri" pitchFamily="34" charset="-122"/>
                <a:cs typeface="Calibri" pitchFamily="34" charset="-120"/>
              </a:rPr>
              <a:t>✅ Sí</a:t>
            </a:r>
            <a:endParaRPr lang="en-US" sz="950" dirty="0"/>
          </a:p>
        </p:txBody>
      </p:sp>
      <p:sp>
        <p:nvSpPr>
          <p:cNvPr id="37" name="Shape 35"/>
          <p:cNvSpPr/>
          <p:nvPr/>
        </p:nvSpPr>
        <p:spPr>
          <a:xfrm>
            <a:off x="256032" y="3273552"/>
            <a:ext cx="1920240" cy="402336"/>
          </a:xfrm>
          <a:prstGeom prst="rect">
            <a:avLst/>
          </a:prstGeom>
          <a:solidFill>
            <a:srgbClr val="1C2330"/>
          </a:solidFill>
          <a:ln w="12700">
            <a:solidFill>
              <a:srgbClr val="30363D"/>
            </a:solidFill>
            <a:prstDash val="solid"/>
          </a:ln>
        </p:spPr>
        <p:txBody>
          <a:bodyPr/>
          <a:lstStyle/>
          <a:p>
            <a:endParaRPr lang="es-PE"/>
          </a:p>
        </p:txBody>
      </p:sp>
      <p:sp>
        <p:nvSpPr>
          <p:cNvPr id="38" name="Text 36"/>
          <p:cNvSpPr/>
          <p:nvPr/>
        </p:nvSpPr>
        <p:spPr>
          <a:xfrm>
            <a:off x="329184" y="3273552"/>
            <a:ext cx="1828800" cy="402336"/>
          </a:xfrm>
          <a:prstGeom prst="rect">
            <a:avLst/>
          </a:prstGeom>
          <a:noFill/>
          <a:ln/>
        </p:spPr>
        <p:txBody>
          <a:bodyPr wrap="square" lIns="0" tIns="0" rIns="0" bIns="0" rtlCol="0" anchor="ctr"/>
          <a:lstStyle/>
          <a:p>
            <a:pPr marL="0" indent="0" algn="l">
              <a:buNone/>
            </a:pPr>
            <a:r>
              <a:rPr lang="en-US" sz="950" dirty="0">
                <a:solidFill>
                  <a:srgbClr val="CDD9E5"/>
                </a:solidFill>
                <a:latin typeface="Calibri" pitchFamily="34" charset="0"/>
                <a:ea typeface="Calibri" pitchFamily="34" charset="-122"/>
                <a:cs typeface="Calibri" pitchFamily="34" charset="-120"/>
              </a:rPr>
              <a:t>Modificadores acceso</a:t>
            </a:r>
            <a:endParaRPr lang="en-US" sz="950" dirty="0"/>
          </a:p>
        </p:txBody>
      </p:sp>
      <p:sp>
        <p:nvSpPr>
          <p:cNvPr id="39" name="Shape 37"/>
          <p:cNvSpPr/>
          <p:nvPr/>
        </p:nvSpPr>
        <p:spPr>
          <a:xfrm>
            <a:off x="2176272" y="3273552"/>
            <a:ext cx="1188720" cy="402336"/>
          </a:xfrm>
          <a:prstGeom prst="rect">
            <a:avLst/>
          </a:prstGeom>
          <a:solidFill>
            <a:srgbClr val="1C2330"/>
          </a:solidFill>
          <a:ln w="12700">
            <a:solidFill>
              <a:srgbClr val="30363D"/>
            </a:solidFill>
            <a:prstDash val="solid"/>
          </a:ln>
        </p:spPr>
        <p:txBody>
          <a:bodyPr/>
          <a:lstStyle/>
          <a:p>
            <a:endParaRPr lang="es-PE"/>
          </a:p>
        </p:txBody>
      </p:sp>
      <p:sp>
        <p:nvSpPr>
          <p:cNvPr id="40" name="Text 38"/>
          <p:cNvSpPr/>
          <p:nvPr/>
        </p:nvSpPr>
        <p:spPr>
          <a:xfrm>
            <a:off x="2249424" y="3273552"/>
            <a:ext cx="1097280" cy="402336"/>
          </a:xfrm>
          <a:prstGeom prst="rect">
            <a:avLst/>
          </a:prstGeom>
          <a:noFill/>
          <a:ln/>
        </p:spPr>
        <p:txBody>
          <a:bodyPr wrap="square" lIns="0" tIns="0" rIns="0" bIns="0" rtlCol="0" anchor="ctr"/>
          <a:lstStyle/>
          <a:p>
            <a:pPr marL="0" indent="0" algn="l">
              <a:buNone/>
            </a:pPr>
            <a:r>
              <a:rPr lang="en-US" sz="950" dirty="0">
                <a:solidFill>
                  <a:srgbClr val="CDD9E5"/>
                </a:solidFill>
                <a:latin typeface="Calibri" pitchFamily="34" charset="0"/>
                <a:ea typeface="Calibri" pitchFamily="34" charset="-122"/>
                <a:cs typeface="Calibri" pitchFamily="34" charset="-120"/>
              </a:rPr>
              <a:t>Solo public</a:t>
            </a:r>
            <a:endParaRPr lang="en-US" sz="950" dirty="0"/>
          </a:p>
        </p:txBody>
      </p:sp>
      <p:sp>
        <p:nvSpPr>
          <p:cNvPr id="41" name="Shape 39"/>
          <p:cNvSpPr/>
          <p:nvPr/>
        </p:nvSpPr>
        <p:spPr>
          <a:xfrm>
            <a:off x="3364992" y="3273552"/>
            <a:ext cx="1463040" cy="402336"/>
          </a:xfrm>
          <a:prstGeom prst="rect">
            <a:avLst/>
          </a:prstGeom>
          <a:solidFill>
            <a:srgbClr val="1C2330"/>
          </a:solidFill>
          <a:ln w="12700">
            <a:solidFill>
              <a:srgbClr val="30363D"/>
            </a:solidFill>
            <a:prstDash val="solid"/>
          </a:ln>
        </p:spPr>
        <p:txBody>
          <a:bodyPr/>
          <a:lstStyle/>
          <a:p>
            <a:endParaRPr lang="es-PE"/>
          </a:p>
        </p:txBody>
      </p:sp>
      <p:sp>
        <p:nvSpPr>
          <p:cNvPr id="42" name="Text 40"/>
          <p:cNvSpPr/>
          <p:nvPr/>
        </p:nvSpPr>
        <p:spPr>
          <a:xfrm>
            <a:off x="3438144" y="3273552"/>
            <a:ext cx="1371600" cy="402336"/>
          </a:xfrm>
          <a:prstGeom prst="rect">
            <a:avLst/>
          </a:prstGeom>
          <a:noFill/>
          <a:ln/>
        </p:spPr>
        <p:txBody>
          <a:bodyPr wrap="square" lIns="0" tIns="0" rIns="0" bIns="0" rtlCol="0" anchor="ctr"/>
          <a:lstStyle/>
          <a:p>
            <a:pPr marL="0" indent="0" algn="l">
              <a:buNone/>
            </a:pPr>
            <a:r>
              <a:rPr lang="en-US" sz="950" dirty="0">
                <a:solidFill>
                  <a:srgbClr val="CDD9E5"/>
                </a:solidFill>
                <a:latin typeface="Calibri" pitchFamily="34" charset="0"/>
                <a:ea typeface="Calibri" pitchFamily="34" charset="-122"/>
                <a:cs typeface="Calibri" pitchFamily="34" charset="-120"/>
              </a:rPr>
              <a:t>Cualquiera</a:t>
            </a:r>
            <a:endParaRPr lang="en-US" sz="950" dirty="0"/>
          </a:p>
        </p:txBody>
      </p:sp>
      <p:sp>
        <p:nvSpPr>
          <p:cNvPr id="43" name="Shape 41"/>
          <p:cNvSpPr/>
          <p:nvPr/>
        </p:nvSpPr>
        <p:spPr>
          <a:xfrm>
            <a:off x="256032" y="3712464"/>
            <a:ext cx="4462272" cy="310896"/>
          </a:xfrm>
          <a:prstGeom prst="rect">
            <a:avLst/>
          </a:prstGeom>
          <a:solidFill>
            <a:srgbClr val="1C2330"/>
          </a:solidFill>
          <a:ln w="12700">
            <a:solidFill>
              <a:srgbClr val="2EA198"/>
            </a:solidFill>
            <a:prstDash val="solid"/>
          </a:ln>
        </p:spPr>
        <p:txBody>
          <a:bodyPr/>
          <a:lstStyle/>
          <a:p>
            <a:endParaRPr lang="es-PE"/>
          </a:p>
        </p:txBody>
      </p:sp>
      <p:sp>
        <p:nvSpPr>
          <p:cNvPr id="44" name="Text 42"/>
          <p:cNvSpPr/>
          <p:nvPr/>
        </p:nvSpPr>
        <p:spPr>
          <a:xfrm>
            <a:off x="365760" y="3712464"/>
            <a:ext cx="4297680" cy="310896"/>
          </a:xfrm>
          <a:prstGeom prst="rect">
            <a:avLst/>
          </a:prstGeom>
          <a:noFill/>
          <a:ln/>
        </p:spPr>
        <p:txBody>
          <a:bodyPr wrap="square" lIns="0" tIns="0" rIns="0" bIns="0" rtlCol="0" anchor="ctr"/>
          <a:lstStyle/>
          <a:p>
            <a:pPr marL="0" indent="0" algn="l">
              <a:buNone/>
            </a:pPr>
            <a:r>
              <a:rPr lang="en-US" sz="900" i="1" dirty="0">
                <a:solidFill>
                  <a:srgbClr val="CDD9E5"/>
                </a:solidFill>
                <a:latin typeface="Calibri" pitchFamily="34" charset="0"/>
                <a:ea typeface="Calibri" pitchFamily="34" charset="-122"/>
                <a:cs typeface="Calibri" pitchFamily="34" charset="-120"/>
              </a:rPr>
              <a:t>Regla: clase abstracta para jerarquía con estado compartido · interfaces para capacidades opcionales</a:t>
            </a:r>
            <a:endParaRPr lang="en-US" sz="900" dirty="0"/>
          </a:p>
        </p:txBody>
      </p:sp>
      <p:sp>
        <p:nvSpPr>
          <p:cNvPr id="45" name="Shape 43"/>
          <p:cNvSpPr/>
          <p:nvPr/>
        </p:nvSpPr>
        <p:spPr>
          <a:xfrm>
            <a:off x="256032" y="4096512"/>
            <a:ext cx="4462272" cy="475488"/>
          </a:xfrm>
          <a:prstGeom prst="rect">
            <a:avLst/>
          </a:prstGeom>
          <a:solidFill>
            <a:srgbClr val="161B22"/>
          </a:solidFill>
          <a:ln w="12700">
            <a:solidFill>
              <a:srgbClr val="388BFD"/>
            </a:solidFill>
            <a:prstDash val="solid"/>
          </a:ln>
        </p:spPr>
        <p:txBody>
          <a:bodyPr/>
          <a:lstStyle/>
          <a:p>
            <a:endParaRPr lang="es-PE"/>
          </a:p>
        </p:txBody>
      </p:sp>
      <p:sp>
        <p:nvSpPr>
          <p:cNvPr id="46" name="Shape 44"/>
          <p:cNvSpPr/>
          <p:nvPr/>
        </p:nvSpPr>
        <p:spPr>
          <a:xfrm>
            <a:off x="256032" y="4096512"/>
            <a:ext cx="109728" cy="475488"/>
          </a:xfrm>
          <a:prstGeom prst="rect">
            <a:avLst/>
          </a:prstGeom>
          <a:solidFill>
            <a:srgbClr val="388BFD"/>
          </a:solidFill>
          <a:ln w="12700">
            <a:solidFill>
              <a:srgbClr val="388BFD"/>
            </a:solidFill>
            <a:prstDash val="solid"/>
          </a:ln>
        </p:spPr>
        <p:txBody>
          <a:bodyPr/>
          <a:lstStyle/>
          <a:p>
            <a:endParaRPr lang="es-PE"/>
          </a:p>
        </p:txBody>
      </p:sp>
      <p:sp>
        <p:nvSpPr>
          <p:cNvPr id="47" name="Text 45"/>
          <p:cNvSpPr/>
          <p:nvPr/>
        </p:nvSpPr>
        <p:spPr>
          <a:xfrm>
            <a:off x="438912" y="4133088"/>
            <a:ext cx="4187952" cy="237744"/>
          </a:xfrm>
          <a:prstGeom prst="rect">
            <a:avLst/>
          </a:prstGeom>
          <a:noFill/>
          <a:ln/>
        </p:spPr>
        <p:txBody>
          <a:bodyPr wrap="square" lIns="0" tIns="0" rIns="0" bIns="0" rtlCol="0" anchor="t"/>
          <a:lstStyle/>
          <a:p>
            <a:pPr marL="0" indent="0" algn="l">
              <a:buNone/>
            </a:pPr>
            <a:r>
              <a:rPr lang="en-US" sz="1000" b="1" dirty="0">
                <a:solidFill>
                  <a:srgbClr val="388BFD"/>
                </a:solidFill>
                <a:latin typeface="Calibri" pitchFamily="34" charset="0"/>
                <a:ea typeface="Calibri" pitchFamily="34" charset="-122"/>
                <a:cs typeface="Calibri" pitchFamily="34" charset="-120"/>
              </a:rPr>
              <a:t>Usa Interfaz cuando…</a:t>
            </a:r>
            <a:endParaRPr lang="en-US" sz="1000" dirty="0"/>
          </a:p>
        </p:txBody>
      </p:sp>
      <p:sp>
        <p:nvSpPr>
          <p:cNvPr id="48" name="Text 46"/>
          <p:cNvSpPr/>
          <p:nvPr/>
        </p:nvSpPr>
        <p:spPr>
          <a:xfrm>
            <a:off x="438912" y="4278884"/>
            <a:ext cx="4187952" cy="274320"/>
          </a:xfrm>
          <a:prstGeom prst="rect">
            <a:avLst/>
          </a:prstGeom>
          <a:noFill/>
          <a:ln/>
        </p:spPr>
        <p:txBody>
          <a:bodyPr wrap="square" lIns="0" tIns="0" rIns="0" bIns="0" rtlCol="0" anchor="t"/>
          <a:lstStyle/>
          <a:p>
            <a:pPr marL="0" indent="0" algn="l">
              <a:buNone/>
            </a:pPr>
            <a:r>
              <a:rPr lang="en-US" sz="850" dirty="0">
                <a:solidFill>
                  <a:srgbClr val="8B949E"/>
                </a:solidFill>
                <a:latin typeface="Calibri" pitchFamily="34" charset="0"/>
                <a:ea typeface="Calibri" pitchFamily="34" charset="-122"/>
                <a:cs typeface="Calibri" pitchFamily="34" charset="-120"/>
              </a:rPr>
              <a:t>Definas un contrato compartido sin relación de herencia.</a:t>
            </a:r>
            <a:endParaRPr lang="en-US" sz="850" dirty="0"/>
          </a:p>
          <a:p>
            <a:pPr marL="0" indent="0" algn="l">
              <a:buNone/>
            </a:pPr>
            <a:r>
              <a:rPr lang="en-US" sz="850" dirty="0">
                <a:solidFill>
                  <a:srgbClr val="8B949E"/>
                </a:solidFill>
                <a:latin typeface="Calibri" pitchFamily="34" charset="0"/>
                <a:ea typeface="Calibri" pitchFamily="34" charset="-122"/>
                <a:cs typeface="Calibri" pitchFamily="34" charset="-120"/>
              </a:rPr>
              <a:t>Ej: IReproducible para Cancion, Podcast y futuros VideoClip.</a:t>
            </a:r>
            <a:endParaRPr lang="en-US" sz="850" dirty="0"/>
          </a:p>
        </p:txBody>
      </p:sp>
      <p:sp>
        <p:nvSpPr>
          <p:cNvPr id="49" name="Shape 47"/>
          <p:cNvSpPr/>
          <p:nvPr/>
        </p:nvSpPr>
        <p:spPr>
          <a:xfrm>
            <a:off x="256032" y="4620429"/>
            <a:ext cx="4462272" cy="445347"/>
          </a:xfrm>
          <a:prstGeom prst="rect">
            <a:avLst/>
          </a:prstGeom>
          <a:solidFill>
            <a:srgbClr val="161B22"/>
          </a:solidFill>
          <a:ln w="12700">
            <a:solidFill>
              <a:srgbClr val="8957E5"/>
            </a:solidFill>
            <a:prstDash val="solid"/>
          </a:ln>
        </p:spPr>
        <p:txBody>
          <a:bodyPr/>
          <a:lstStyle/>
          <a:p>
            <a:endParaRPr lang="es-PE"/>
          </a:p>
        </p:txBody>
      </p:sp>
      <p:sp>
        <p:nvSpPr>
          <p:cNvPr id="50" name="Shape 48"/>
          <p:cNvSpPr/>
          <p:nvPr/>
        </p:nvSpPr>
        <p:spPr>
          <a:xfrm>
            <a:off x="265176" y="4620429"/>
            <a:ext cx="100584" cy="445347"/>
          </a:xfrm>
          <a:prstGeom prst="rect">
            <a:avLst/>
          </a:prstGeom>
          <a:solidFill>
            <a:srgbClr val="8957E5"/>
          </a:solidFill>
          <a:ln w="12700">
            <a:solidFill>
              <a:srgbClr val="8957E5"/>
            </a:solidFill>
            <a:prstDash val="solid"/>
          </a:ln>
        </p:spPr>
        <p:txBody>
          <a:bodyPr/>
          <a:lstStyle/>
          <a:p>
            <a:endParaRPr lang="es-PE"/>
          </a:p>
        </p:txBody>
      </p:sp>
      <p:sp>
        <p:nvSpPr>
          <p:cNvPr id="51" name="Text 49"/>
          <p:cNvSpPr/>
          <p:nvPr/>
        </p:nvSpPr>
        <p:spPr>
          <a:xfrm>
            <a:off x="420624" y="4672584"/>
            <a:ext cx="4187952" cy="237744"/>
          </a:xfrm>
          <a:prstGeom prst="rect">
            <a:avLst/>
          </a:prstGeom>
          <a:noFill/>
          <a:ln/>
        </p:spPr>
        <p:txBody>
          <a:bodyPr wrap="square" lIns="0" tIns="0" rIns="0" bIns="0" rtlCol="0" anchor="t"/>
          <a:lstStyle/>
          <a:p>
            <a:pPr marL="0" indent="0" algn="l">
              <a:buNone/>
            </a:pPr>
            <a:r>
              <a:rPr lang="en-US" sz="1000" b="1" dirty="0">
                <a:solidFill>
                  <a:srgbClr val="8957E5"/>
                </a:solidFill>
                <a:latin typeface="Calibri" pitchFamily="34" charset="0"/>
                <a:ea typeface="Calibri" pitchFamily="34" charset="-122"/>
                <a:cs typeface="Calibri" pitchFamily="34" charset="-120"/>
              </a:rPr>
              <a:t>Usa Clase Abstracta cuando…</a:t>
            </a:r>
            <a:endParaRPr lang="en-US" sz="1000" dirty="0"/>
          </a:p>
        </p:txBody>
      </p:sp>
      <p:sp>
        <p:nvSpPr>
          <p:cNvPr id="52" name="Text 50"/>
          <p:cNvSpPr/>
          <p:nvPr/>
        </p:nvSpPr>
        <p:spPr>
          <a:xfrm>
            <a:off x="420624" y="4807035"/>
            <a:ext cx="4187952" cy="274320"/>
          </a:xfrm>
          <a:prstGeom prst="rect">
            <a:avLst/>
          </a:prstGeom>
          <a:noFill/>
          <a:ln/>
        </p:spPr>
        <p:txBody>
          <a:bodyPr wrap="square" lIns="0" tIns="0" rIns="0" bIns="0" rtlCol="0" anchor="t"/>
          <a:lstStyle/>
          <a:p>
            <a:pPr marL="0" indent="0" algn="l">
              <a:buNone/>
            </a:pPr>
            <a:r>
              <a:rPr lang="en-US" sz="850" dirty="0">
                <a:solidFill>
                  <a:srgbClr val="8B949E"/>
                </a:solidFill>
                <a:latin typeface="Calibri" pitchFamily="34" charset="0"/>
                <a:ea typeface="Calibri" pitchFamily="34" charset="-122"/>
                <a:cs typeface="Calibri" pitchFamily="34" charset="-120"/>
              </a:rPr>
              <a:t>Las clases derivadas comparten estado y lógica.</a:t>
            </a:r>
            <a:endParaRPr lang="en-US" sz="850" dirty="0"/>
          </a:p>
          <a:p>
            <a:pPr marL="0" indent="0" algn="l">
              <a:buNone/>
            </a:pPr>
            <a:r>
              <a:rPr lang="en-US" sz="850" dirty="0">
                <a:solidFill>
                  <a:srgbClr val="8B949E"/>
                </a:solidFill>
                <a:latin typeface="Calibri" pitchFamily="34" charset="0"/>
                <a:ea typeface="Calibri" pitchFamily="34" charset="-122"/>
                <a:cs typeface="Calibri" pitchFamily="34" charset="-120"/>
              </a:rPr>
              <a:t>Ej: ContenidoSpotify tiene Id, Titulo y ObtenerInfo().</a:t>
            </a:r>
            <a:endParaRPr lang="en-US" sz="850" dirty="0"/>
          </a:p>
        </p:txBody>
      </p:sp>
      <p:sp>
        <p:nvSpPr>
          <p:cNvPr id="53" name="Shape 51"/>
          <p:cNvSpPr/>
          <p:nvPr/>
        </p:nvSpPr>
        <p:spPr>
          <a:xfrm>
            <a:off x="4864608" y="1261872"/>
            <a:ext cx="4005072" cy="3858768"/>
          </a:xfrm>
          <a:prstGeom prst="rect">
            <a:avLst/>
          </a:prstGeom>
          <a:solidFill>
            <a:srgbClr val="1C2330"/>
          </a:solidFill>
          <a:ln w="12700">
            <a:solidFill>
              <a:srgbClr val="2EA198"/>
            </a:solidFill>
            <a:prstDash val="solid"/>
          </a:ln>
        </p:spPr>
        <p:txBody>
          <a:bodyPr/>
          <a:lstStyle/>
          <a:p>
            <a:endParaRPr lang="es-PE"/>
          </a:p>
        </p:txBody>
      </p:sp>
      <p:sp>
        <p:nvSpPr>
          <p:cNvPr id="54" name="Shape 52"/>
          <p:cNvSpPr/>
          <p:nvPr/>
        </p:nvSpPr>
        <p:spPr>
          <a:xfrm>
            <a:off x="4864608" y="1261872"/>
            <a:ext cx="4005072" cy="237744"/>
          </a:xfrm>
          <a:prstGeom prst="rect">
            <a:avLst/>
          </a:prstGeom>
          <a:solidFill>
            <a:srgbClr val="080C12"/>
          </a:solidFill>
          <a:ln w="12700">
            <a:solidFill>
              <a:srgbClr val="080C12"/>
            </a:solidFill>
            <a:prstDash val="solid"/>
          </a:ln>
        </p:spPr>
        <p:txBody>
          <a:bodyPr/>
          <a:lstStyle/>
          <a:p>
            <a:endParaRPr lang="es-PE"/>
          </a:p>
        </p:txBody>
      </p:sp>
      <p:sp>
        <p:nvSpPr>
          <p:cNvPr id="55" name="Text 53"/>
          <p:cNvSpPr/>
          <p:nvPr/>
        </p:nvSpPr>
        <p:spPr>
          <a:xfrm>
            <a:off x="4956048" y="1261872"/>
            <a:ext cx="320040" cy="237744"/>
          </a:xfrm>
          <a:prstGeom prst="rect">
            <a:avLst/>
          </a:prstGeom>
          <a:noFill/>
          <a:ln/>
        </p:spPr>
        <p:txBody>
          <a:bodyPr wrap="square" lIns="0" tIns="0" rIns="0" bIns="0" rtlCol="0" anchor="ctr"/>
          <a:lstStyle/>
          <a:p>
            <a:pPr marL="0" indent="0" algn="l">
              <a:buNone/>
            </a:pPr>
            <a:r>
              <a:rPr lang="en-US" sz="900" b="1" dirty="0">
                <a:solidFill>
                  <a:srgbClr val="2EA198"/>
                </a:solidFill>
                <a:latin typeface="Calibri" pitchFamily="34" charset="0"/>
                <a:ea typeface="Calibri" pitchFamily="34" charset="-122"/>
                <a:cs typeface="Calibri" pitchFamily="34" charset="-120"/>
              </a:rPr>
              <a:t>C#</a:t>
            </a:r>
            <a:endParaRPr lang="en-US" sz="900" dirty="0"/>
          </a:p>
        </p:txBody>
      </p:sp>
      <p:sp>
        <p:nvSpPr>
          <p:cNvPr id="56" name="Shape 54"/>
          <p:cNvSpPr/>
          <p:nvPr/>
        </p:nvSpPr>
        <p:spPr>
          <a:xfrm>
            <a:off x="5276088" y="1344168"/>
            <a:ext cx="64008" cy="64008"/>
          </a:xfrm>
          <a:prstGeom prst="rect">
            <a:avLst/>
          </a:prstGeom>
          <a:solidFill>
            <a:srgbClr val="F85149"/>
          </a:solidFill>
          <a:ln w="12700">
            <a:solidFill>
              <a:srgbClr val="F85149"/>
            </a:solidFill>
            <a:prstDash val="solid"/>
          </a:ln>
        </p:spPr>
        <p:txBody>
          <a:bodyPr/>
          <a:lstStyle/>
          <a:p>
            <a:endParaRPr lang="es-PE"/>
          </a:p>
        </p:txBody>
      </p:sp>
      <p:sp>
        <p:nvSpPr>
          <p:cNvPr id="57" name="Shape 55"/>
          <p:cNvSpPr/>
          <p:nvPr/>
        </p:nvSpPr>
        <p:spPr>
          <a:xfrm>
            <a:off x="5394960" y="1344168"/>
            <a:ext cx="64008" cy="64008"/>
          </a:xfrm>
          <a:prstGeom prst="rect">
            <a:avLst/>
          </a:prstGeom>
          <a:solidFill>
            <a:srgbClr val="D29922"/>
          </a:solidFill>
          <a:ln w="12700">
            <a:solidFill>
              <a:srgbClr val="D29922"/>
            </a:solidFill>
            <a:prstDash val="solid"/>
          </a:ln>
        </p:spPr>
        <p:txBody>
          <a:bodyPr/>
          <a:lstStyle/>
          <a:p>
            <a:endParaRPr lang="es-PE"/>
          </a:p>
        </p:txBody>
      </p:sp>
      <p:sp>
        <p:nvSpPr>
          <p:cNvPr id="58" name="Shape 56"/>
          <p:cNvSpPr/>
          <p:nvPr/>
        </p:nvSpPr>
        <p:spPr>
          <a:xfrm>
            <a:off x="5513832" y="1344168"/>
            <a:ext cx="64008" cy="64008"/>
          </a:xfrm>
          <a:prstGeom prst="rect">
            <a:avLst/>
          </a:prstGeom>
          <a:solidFill>
            <a:srgbClr val="1DB954"/>
          </a:solidFill>
          <a:ln w="12700">
            <a:solidFill>
              <a:srgbClr val="1DB954"/>
            </a:solidFill>
            <a:prstDash val="solid"/>
          </a:ln>
        </p:spPr>
        <p:txBody>
          <a:bodyPr/>
          <a:lstStyle/>
          <a:p>
            <a:endParaRPr lang="es-PE"/>
          </a:p>
        </p:txBody>
      </p:sp>
      <p:sp>
        <p:nvSpPr>
          <p:cNvPr id="59" name="Text 57"/>
          <p:cNvSpPr/>
          <p:nvPr/>
        </p:nvSpPr>
        <p:spPr>
          <a:xfrm>
            <a:off x="4974336" y="1536192"/>
            <a:ext cx="3822192" cy="3493008"/>
          </a:xfrm>
          <a:prstGeom prst="rect">
            <a:avLst/>
          </a:prstGeom>
          <a:noFill/>
          <a:ln/>
        </p:spPr>
        <p:txBody>
          <a:bodyPr wrap="square" lIns="0" tIns="0" rIns="0" bIns="0" rtlCol="0" anchor="t"/>
          <a:lstStyle/>
          <a:p>
            <a:pPr marL="0" indent="0" algn="l">
              <a:buNone/>
            </a:pPr>
            <a:r>
              <a:rPr lang="en-US" sz="750" dirty="0">
                <a:solidFill>
                  <a:srgbClr val="CDD9E5"/>
                </a:solidFill>
                <a:latin typeface="Consolas" pitchFamily="34" charset="0"/>
                <a:ea typeface="Consolas" pitchFamily="34" charset="-122"/>
                <a:cs typeface="Consolas" pitchFamily="34" charset="-120"/>
              </a:rPr>
              <a:t>// ✅ ISP — interfaces específicas</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interface IReproducible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Reproducir();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interface IDescargable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Descargar();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interface ITieneLetra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VerLetra();</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Cancion cumple tres contratos</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class Cancion : ContenidoSpotify,</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IReproducible, IDescargable, ITieneLetra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void Reproducir() {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void Descargar()  {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void VerLetra()   {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Podcast solo necesita reproducir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class Podcast : ContenidoSpotify,</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IReproducible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void Reproducir() {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Clase abstracta: estado + contrato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abstract class ContenidoSpotify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string Id     { get; protected set;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string Titulo { get; protected set; }</a:t>
            </a:r>
            <a:endParaRPr lang="en-US" sz="750" dirty="0"/>
          </a:p>
          <a:p>
            <a:pPr marL="0" indent="0" algn="l">
              <a:buNone/>
            </a:pP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lógica compartida (virtual)</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virtual string ObtenerInfo()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=&gt; $"{Titulo}";</a:t>
            </a:r>
            <a:endParaRPr lang="en-US" sz="750" dirty="0"/>
          </a:p>
          <a:p>
            <a:pPr marL="0" indent="0" algn="l">
              <a:buNone/>
            </a:pP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contrato obligatorio (abstract)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abstract void Reproducir();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85149"/>
          </a:solidFill>
          <a:ln w="12700">
            <a:solidFill>
              <a:srgbClr val="F85149"/>
            </a:solidFill>
            <a:prstDash val="solid"/>
          </a:ln>
        </p:spPr>
        <p:txBody>
          <a:bodyPr/>
          <a:lstStyle/>
          <a:p>
            <a:endParaRPr lang="es-PE"/>
          </a:p>
        </p:txBody>
      </p:sp>
      <p:sp>
        <p:nvSpPr>
          <p:cNvPr id="3" name="Shape 1"/>
          <p:cNvSpPr/>
          <p:nvPr/>
        </p:nvSpPr>
        <p:spPr>
          <a:xfrm>
            <a:off x="109728" y="0"/>
            <a:ext cx="9034272" cy="749808"/>
          </a:xfrm>
          <a:prstGeom prst="rect">
            <a:avLst/>
          </a:prstGeom>
          <a:solidFill>
            <a:srgbClr val="161B22"/>
          </a:solidFill>
          <a:ln w="12700">
            <a:solidFill>
              <a:srgbClr val="161B22"/>
            </a:solidFill>
            <a:prstDash val="solid"/>
          </a:ln>
        </p:spPr>
        <p:txBody>
          <a:bodyPr/>
          <a:lstStyle/>
          <a:p>
            <a:endParaRPr lang="es-PE"/>
          </a:p>
        </p:txBody>
      </p:sp>
      <p:sp>
        <p:nvSpPr>
          <p:cNvPr id="4" name="Shape 2"/>
          <p:cNvSpPr/>
          <p:nvPr/>
        </p:nvSpPr>
        <p:spPr>
          <a:xfrm>
            <a:off x="109728" y="749808"/>
            <a:ext cx="9034272" cy="36576"/>
          </a:xfrm>
          <a:prstGeom prst="rect">
            <a:avLst/>
          </a:prstGeom>
          <a:solidFill>
            <a:srgbClr val="F85149"/>
          </a:solidFill>
          <a:ln w="12700">
            <a:solidFill>
              <a:srgbClr val="F85149"/>
            </a:solidFill>
            <a:prstDash val="solid"/>
          </a:ln>
        </p:spPr>
        <p:txBody>
          <a:bodyPr/>
          <a:lstStyle/>
          <a:p>
            <a:endParaRPr lang="es-PE"/>
          </a:p>
        </p:txBody>
      </p:sp>
      <p:sp>
        <p:nvSpPr>
          <p:cNvPr id="5" name="Text 3"/>
          <p:cNvSpPr/>
          <p:nvPr/>
        </p:nvSpPr>
        <p:spPr>
          <a:xfrm>
            <a:off x="320040" y="0"/>
            <a:ext cx="8686800" cy="749808"/>
          </a:xfrm>
          <a:prstGeom prst="rect">
            <a:avLst/>
          </a:prstGeom>
          <a:noFill/>
          <a:ln/>
        </p:spPr>
        <p:txBody>
          <a:bodyPr wrap="square" lIns="0" tIns="0" rIns="0" bIns="0" rtlCol="0" anchor="ctr"/>
          <a:lstStyle/>
          <a:p>
            <a:pPr marL="0" indent="0" algn="l">
              <a:buNone/>
            </a:pPr>
            <a:r>
              <a:rPr lang="en-US" sz="1700" b="1" dirty="0">
                <a:solidFill>
                  <a:srgbClr val="FFFFFF"/>
                </a:solidFill>
                <a:latin typeface="Trebuchet MS" pitchFamily="34" charset="0"/>
                <a:ea typeface="Trebuchet MS" pitchFamily="34" charset="-122"/>
                <a:cs typeface="Trebuchet MS" pitchFamily="34" charset="-120"/>
              </a:rPr>
              <a:t>Pregunta 6 — OCP: Agregar AudiolibroInteractivo sin modificar código</a:t>
            </a:r>
            <a:endParaRPr lang="en-US" sz="1700" dirty="0"/>
          </a:p>
        </p:txBody>
      </p:sp>
      <p:sp>
        <p:nvSpPr>
          <p:cNvPr id="6" name="Text 4"/>
          <p:cNvSpPr/>
          <p:nvPr/>
        </p:nvSpPr>
        <p:spPr>
          <a:xfrm>
            <a:off x="320040" y="822960"/>
            <a:ext cx="8686800" cy="329184"/>
          </a:xfrm>
          <a:prstGeom prst="rect">
            <a:avLst/>
          </a:prstGeom>
          <a:noFill/>
          <a:ln/>
        </p:spPr>
        <p:txBody>
          <a:bodyPr wrap="square" lIns="0" tIns="0" rIns="0" bIns="0" rtlCol="0" anchor="t"/>
          <a:lstStyle/>
          <a:p>
            <a:pPr marL="0" indent="0" algn="l">
              <a:buNone/>
            </a:pPr>
            <a:r>
              <a:rPr lang="en-US" sz="1000" i="1" dirty="0">
                <a:solidFill>
                  <a:srgbClr val="8B949E"/>
                </a:solidFill>
                <a:latin typeface="Calibri" pitchFamily="34" charset="0"/>
                <a:ea typeface="Calibri" pitchFamily="34" charset="-122"/>
                <a:cs typeface="Calibri" pitchFamily="34" charset="-120"/>
              </a:rPr>
              <a:t>Si Spotify necesita audiolibros interactivos, ¿qué principio SOLID lo garantiza y cómo lo implementarías?</a:t>
            </a:r>
            <a:endParaRPr lang="en-US" sz="1000" dirty="0"/>
          </a:p>
        </p:txBody>
      </p:sp>
      <p:sp>
        <p:nvSpPr>
          <p:cNvPr id="7" name="Text 5"/>
          <p:cNvSpPr/>
          <p:nvPr/>
        </p:nvSpPr>
        <p:spPr>
          <a:xfrm>
            <a:off x="256032" y="1261872"/>
            <a:ext cx="4160520" cy="237744"/>
          </a:xfrm>
          <a:prstGeom prst="rect">
            <a:avLst/>
          </a:prstGeom>
          <a:noFill/>
          <a:ln/>
        </p:spPr>
        <p:txBody>
          <a:bodyPr wrap="square" lIns="0" tIns="0" rIns="0" bIns="0" rtlCol="0" anchor="t"/>
          <a:lstStyle/>
          <a:p>
            <a:pPr marL="0" indent="0" algn="l">
              <a:buNone/>
            </a:pPr>
            <a:r>
              <a:rPr lang="en-US" sz="1050" b="1" dirty="0">
                <a:solidFill>
                  <a:srgbClr val="F85149"/>
                </a:solidFill>
                <a:latin typeface="Calibri" pitchFamily="34" charset="0"/>
                <a:ea typeface="Calibri" pitchFamily="34" charset="-122"/>
                <a:cs typeface="Calibri" pitchFamily="34" charset="-120"/>
              </a:rPr>
              <a:t>Open / Closed Principle</a:t>
            </a:r>
            <a:endParaRPr lang="en-US" sz="1050" dirty="0"/>
          </a:p>
        </p:txBody>
      </p:sp>
      <p:sp>
        <p:nvSpPr>
          <p:cNvPr id="8" name="Shape 6"/>
          <p:cNvSpPr/>
          <p:nvPr/>
        </p:nvSpPr>
        <p:spPr>
          <a:xfrm>
            <a:off x="256032" y="1536192"/>
            <a:ext cx="4160520" cy="749808"/>
          </a:xfrm>
          <a:prstGeom prst="rect">
            <a:avLst/>
          </a:prstGeom>
          <a:solidFill>
            <a:srgbClr val="161B22"/>
          </a:solidFill>
          <a:ln w="12700">
            <a:solidFill>
              <a:srgbClr val="30363D"/>
            </a:solidFill>
            <a:prstDash val="solid"/>
          </a:ln>
        </p:spPr>
        <p:txBody>
          <a:bodyPr/>
          <a:lstStyle/>
          <a:p>
            <a:endParaRPr lang="es-PE"/>
          </a:p>
        </p:txBody>
      </p:sp>
      <p:sp>
        <p:nvSpPr>
          <p:cNvPr id="9" name="Text 7"/>
          <p:cNvSpPr/>
          <p:nvPr/>
        </p:nvSpPr>
        <p:spPr>
          <a:xfrm>
            <a:off x="384048" y="1591056"/>
            <a:ext cx="3913632" cy="640080"/>
          </a:xfrm>
          <a:prstGeom prst="rect">
            <a:avLst/>
          </a:prstGeom>
          <a:noFill/>
          <a:ln/>
        </p:spPr>
        <p:txBody>
          <a:bodyPr wrap="square" lIns="0" tIns="0" rIns="0" bIns="0" rtlCol="0" anchor="t"/>
          <a:lstStyle/>
          <a:p>
            <a:pPr marL="0" indent="0" algn="l">
              <a:buNone/>
            </a:pPr>
            <a:r>
              <a:rPr lang="en-US" sz="1000" dirty="0">
                <a:solidFill>
                  <a:srgbClr val="CDD9E5"/>
                </a:solidFill>
                <a:latin typeface="Calibri" pitchFamily="34" charset="0"/>
                <a:ea typeface="Calibri" pitchFamily="34" charset="-122"/>
                <a:cs typeface="Calibri" pitchFamily="34" charset="-120"/>
              </a:rPr>
              <a:t>El sistema está abierto para extensión y cerrado para modificación. Agregar AudiolibroInteractivo no toca ninguna clase existente.</a:t>
            </a:r>
            <a:endParaRPr lang="en-US" sz="1000" dirty="0"/>
          </a:p>
        </p:txBody>
      </p:sp>
      <p:sp>
        <p:nvSpPr>
          <p:cNvPr id="10" name="Shape 8"/>
          <p:cNvSpPr/>
          <p:nvPr/>
        </p:nvSpPr>
        <p:spPr>
          <a:xfrm>
            <a:off x="256032" y="2414016"/>
            <a:ext cx="4160520" cy="786384"/>
          </a:xfrm>
          <a:prstGeom prst="rect">
            <a:avLst/>
          </a:prstGeom>
          <a:solidFill>
            <a:srgbClr val="161B22"/>
          </a:solidFill>
          <a:ln w="12700">
            <a:solidFill>
              <a:srgbClr val="484F58"/>
            </a:solidFill>
            <a:prstDash val="solid"/>
          </a:ln>
        </p:spPr>
        <p:txBody>
          <a:bodyPr/>
          <a:lstStyle/>
          <a:p>
            <a:endParaRPr lang="es-PE"/>
          </a:p>
        </p:txBody>
      </p:sp>
      <p:sp>
        <p:nvSpPr>
          <p:cNvPr id="11" name="Shape 9"/>
          <p:cNvSpPr/>
          <p:nvPr/>
        </p:nvSpPr>
        <p:spPr>
          <a:xfrm>
            <a:off x="256032" y="2414016"/>
            <a:ext cx="329184" cy="786384"/>
          </a:xfrm>
          <a:prstGeom prst="rect">
            <a:avLst/>
          </a:prstGeom>
          <a:solidFill>
            <a:srgbClr val="484F58"/>
          </a:solidFill>
          <a:ln w="12700">
            <a:solidFill>
              <a:srgbClr val="484F58"/>
            </a:solidFill>
            <a:prstDash val="solid"/>
          </a:ln>
        </p:spPr>
        <p:txBody>
          <a:bodyPr/>
          <a:lstStyle/>
          <a:p>
            <a:endParaRPr lang="es-PE"/>
          </a:p>
        </p:txBody>
      </p:sp>
      <p:sp>
        <p:nvSpPr>
          <p:cNvPr id="12" name="Text 10"/>
          <p:cNvSpPr/>
          <p:nvPr/>
        </p:nvSpPr>
        <p:spPr>
          <a:xfrm>
            <a:off x="256032" y="2414016"/>
            <a:ext cx="329184" cy="786384"/>
          </a:xfrm>
          <a:prstGeom prst="rect">
            <a:avLst/>
          </a:prstGeom>
          <a:noFill/>
          <a:ln/>
        </p:spPr>
        <p:txBody>
          <a:bodyPr wrap="square" lIns="0" tIns="0" rIns="0" bIns="0" rtlCol="0" anchor="ctr"/>
          <a:lstStyle/>
          <a:p>
            <a:pPr marL="0" indent="0" algn="ctr">
              <a:buNone/>
            </a:pPr>
            <a:r>
              <a:rPr lang="en-US" sz="1400" dirty="0">
                <a:solidFill>
                  <a:srgbClr val="0D1117"/>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676656" y="2487168"/>
            <a:ext cx="3383280" cy="256032"/>
          </a:xfrm>
          <a:prstGeom prst="rect">
            <a:avLst/>
          </a:prstGeom>
          <a:noFill/>
          <a:ln/>
        </p:spPr>
        <p:txBody>
          <a:bodyPr wrap="square" lIns="0" tIns="0" rIns="0" bIns="0" rtlCol="0" anchor="t"/>
          <a:lstStyle/>
          <a:p>
            <a:pPr marL="0" indent="0" algn="l">
              <a:buNone/>
            </a:pPr>
            <a:r>
              <a:rPr lang="en-US" sz="1050" b="1" dirty="0">
                <a:solidFill>
                  <a:srgbClr val="8B949E"/>
                </a:solidFill>
                <a:latin typeface="Calibri" pitchFamily="34" charset="0"/>
                <a:ea typeface="Calibri" pitchFamily="34" charset="-122"/>
                <a:cs typeface="Calibri" pitchFamily="34" charset="-120"/>
              </a:rPr>
              <a:t>Código existente — NO se toca</a:t>
            </a:r>
            <a:endParaRPr lang="en-US" sz="1050" dirty="0"/>
          </a:p>
        </p:txBody>
      </p:sp>
      <p:sp>
        <p:nvSpPr>
          <p:cNvPr id="14" name="Text 12"/>
          <p:cNvSpPr/>
          <p:nvPr/>
        </p:nvSpPr>
        <p:spPr>
          <a:xfrm>
            <a:off x="676656" y="2798064"/>
            <a:ext cx="3383280" cy="347472"/>
          </a:xfrm>
          <a:prstGeom prst="rect">
            <a:avLst/>
          </a:prstGeom>
          <a:noFill/>
          <a:ln/>
        </p:spPr>
        <p:txBody>
          <a:bodyPr wrap="square" lIns="0" tIns="0" rIns="0" bIns="0" rtlCol="0" anchor="t"/>
          <a:lstStyle/>
          <a:p>
            <a:pPr marL="0" indent="0" algn="l">
              <a:buNone/>
            </a:pPr>
            <a:r>
              <a:rPr lang="en-US" sz="950" dirty="0">
                <a:solidFill>
                  <a:srgbClr val="8B949E"/>
                </a:solidFill>
                <a:latin typeface="Calibri" pitchFamily="34" charset="0"/>
                <a:ea typeface="Calibri" pitchFamily="34" charset="-122"/>
                <a:cs typeface="Calibri" pitchFamily="34" charset="-120"/>
              </a:rPr>
              <a:t>ContenidoSpotify · Cancion · Podcast · Audiolibro</a:t>
            </a:r>
            <a:endParaRPr lang="en-US" sz="950" dirty="0"/>
          </a:p>
        </p:txBody>
      </p:sp>
      <p:sp>
        <p:nvSpPr>
          <p:cNvPr id="15" name="Shape 13"/>
          <p:cNvSpPr/>
          <p:nvPr/>
        </p:nvSpPr>
        <p:spPr>
          <a:xfrm>
            <a:off x="256032" y="3346704"/>
            <a:ext cx="4160520" cy="786384"/>
          </a:xfrm>
          <a:prstGeom prst="rect">
            <a:avLst/>
          </a:prstGeom>
          <a:solidFill>
            <a:srgbClr val="161B22"/>
          </a:solidFill>
          <a:ln w="12700">
            <a:solidFill>
              <a:srgbClr val="1DB954"/>
            </a:solidFill>
            <a:prstDash val="solid"/>
          </a:ln>
        </p:spPr>
        <p:txBody>
          <a:bodyPr/>
          <a:lstStyle/>
          <a:p>
            <a:endParaRPr lang="es-PE"/>
          </a:p>
        </p:txBody>
      </p:sp>
      <p:sp>
        <p:nvSpPr>
          <p:cNvPr id="16" name="Shape 14"/>
          <p:cNvSpPr/>
          <p:nvPr/>
        </p:nvSpPr>
        <p:spPr>
          <a:xfrm>
            <a:off x="256032" y="3346704"/>
            <a:ext cx="329184" cy="786384"/>
          </a:xfrm>
          <a:prstGeom prst="rect">
            <a:avLst/>
          </a:prstGeom>
          <a:solidFill>
            <a:srgbClr val="1DB954"/>
          </a:solidFill>
          <a:ln w="12700">
            <a:solidFill>
              <a:srgbClr val="1DB954"/>
            </a:solidFill>
            <a:prstDash val="solid"/>
          </a:ln>
        </p:spPr>
        <p:txBody>
          <a:bodyPr/>
          <a:lstStyle/>
          <a:p>
            <a:endParaRPr lang="es-PE"/>
          </a:p>
        </p:txBody>
      </p:sp>
      <p:sp>
        <p:nvSpPr>
          <p:cNvPr id="17" name="Text 15"/>
          <p:cNvSpPr/>
          <p:nvPr/>
        </p:nvSpPr>
        <p:spPr>
          <a:xfrm>
            <a:off x="256032" y="3346704"/>
            <a:ext cx="329184" cy="786384"/>
          </a:xfrm>
          <a:prstGeom prst="rect">
            <a:avLst/>
          </a:prstGeom>
          <a:noFill/>
          <a:ln/>
        </p:spPr>
        <p:txBody>
          <a:bodyPr wrap="square" lIns="0" tIns="0" rIns="0" bIns="0" rtlCol="0" anchor="ctr"/>
          <a:lstStyle/>
          <a:p>
            <a:pPr marL="0" indent="0" algn="ctr">
              <a:buNone/>
            </a:pPr>
            <a:r>
              <a:rPr lang="en-US" sz="1400" dirty="0">
                <a:solidFill>
                  <a:srgbClr val="0D1117"/>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676656" y="3419856"/>
            <a:ext cx="3383280" cy="256032"/>
          </a:xfrm>
          <a:prstGeom prst="rect">
            <a:avLst/>
          </a:prstGeom>
          <a:noFill/>
          <a:ln/>
        </p:spPr>
        <p:txBody>
          <a:bodyPr wrap="square" lIns="0" tIns="0" rIns="0" bIns="0" rtlCol="0" anchor="t"/>
          <a:lstStyle/>
          <a:p>
            <a:pPr marL="0" indent="0" algn="l">
              <a:buNone/>
            </a:pPr>
            <a:r>
              <a:rPr lang="en-US" sz="1050" b="1" dirty="0">
                <a:solidFill>
                  <a:srgbClr val="1DB954"/>
                </a:solidFill>
                <a:latin typeface="Calibri" pitchFamily="34" charset="0"/>
                <a:ea typeface="Calibri" pitchFamily="34" charset="-122"/>
                <a:cs typeface="Calibri" pitchFamily="34" charset="-120"/>
              </a:rPr>
              <a:t>Nueva clase — solo se agrega</a:t>
            </a:r>
            <a:endParaRPr lang="en-US" sz="1050" dirty="0"/>
          </a:p>
        </p:txBody>
      </p:sp>
      <p:sp>
        <p:nvSpPr>
          <p:cNvPr id="19" name="Text 17"/>
          <p:cNvSpPr/>
          <p:nvPr/>
        </p:nvSpPr>
        <p:spPr>
          <a:xfrm>
            <a:off x="676656" y="3730752"/>
            <a:ext cx="3383280" cy="347472"/>
          </a:xfrm>
          <a:prstGeom prst="rect">
            <a:avLst/>
          </a:prstGeom>
          <a:noFill/>
          <a:ln/>
        </p:spPr>
        <p:txBody>
          <a:bodyPr wrap="square" lIns="0" tIns="0" rIns="0" bIns="0" rtlCol="0" anchor="t"/>
          <a:lstStyle/>
          <a:p>
            <a:pPr marL="0" indent="0" algn="l">
              <a:buNone/>
            </a:pPr>
            <a:r>
              <a:rPr lang="en-US" sz="950" dirty="0">
                <a:solidFill>
                  <a:srgbClr val="8B949E"/>
                </a:solidFill>
                <a:latin typeface="Calibri" pitchFamily="34" charset="0"/>
                <a:ea typeface="Calibri" pitchFamily="34" charset="-122"/>
                <a:cs typeface="Calibri" pitchFamily="34" charset="-120"/>
              </a:rPr>
              <a:t>AudiolibroInteractivo extends ContenidoSpotify</a:t>
            </a:r>
            <a:endParaRPr lang="en-US" sz="950" dirty="0"/>
          </a:p>
        </p:txBody>
      </p:sp>
      <p:sp>
        <p:nvSpPr>
          <p:cNvPr id="20" name="Shape 18"/>
          <p:cNvSpPr/>
          <p:nvPr/>
        </p:nvSpPr>
        <p:spPr>
          <a:xfrm>
            <a:off x="256032" y="4334256"/>
            <a:ext cx="4160520" cy="420624"/>
          </a:xfrm>
          <a:prstGeom prst="rect">
            <a:avLst/>
          </a:prstGeom>
          <a:solidFill>
            <a:srgbClr val="1C2330"/>
          </a:solidFill>
          <a:ln w="12700">
            <a:solidFill>
              <a:srgbClr val="F85149"/>
            </a:solidFill>
            <a:prstDash val="solid"/>
          </a:ln>
        </p:spPr>
        <p:txBody>
          <a:bodyPr/>
          <a:lstStyle/>
          <a:p>
            <a:endParaRPr lang="es-PE"/>
          </a:p>
        </p:txBody>
      </p:sp>
      <p:sp>
        <p:nvSpPr>
          <p:cNvPr id="21" name="Text 19"/>
          <p:cNvSpPr/>
          <p:nvPr/>
        </p:nvSpPr>
        <p:spPr>
          <a:xfrm>
            <a:off x="365760" y="4334256"/>
            <a:ext cx="3950208" cy="420624"/>
          </a:xfrm>
          <a:prstGeom prst="rect">
            <a:avLst/>
          </a:prstGeom>
          <a:noFill/>
          <a:ln/>
        </p:spPr>
        <p:txBody>
          <a:bodyPr wrap="square" lIns="0" tIns="0" rIns="0" bIns="0" rtlCol="0" anchor="ctr"/>
          <a:lstStyle/>
          <a:p>
            <a:pPr marL="0" indent="0" algn="l">
              <a:buNone/>
            </a:pPr>
            <a:r>
              <a:rPr lang="en-US" sz="900" i="1" dirty="0">
                <a:solidFill>
                  <a:srgbClr val="CDD9E5"/>
                </a:solidFill>
                <a:latin typeface="Calibri" pitchFamily="34" charset="0"/>
                <a:ea typeface="Calibri" pitchFamily="34" charset="-122"/>
                <a:cs typeface="Calibri" pitchFamily="34" charset="-120"/>
              </a:rPr>
              <a:t>La Factory también aplica OCP: se extiende el switch con el nuevo tipo sin reescribir los casos existentes.</a:t>
            </a:r>
            <a:endParaRPr lang="en-US" sz="900" dirty="0"/>
          </a:p>
        </p:txBody>
      </p:sp>
      <p:sp>
        <p:nvSpPr>
          <p:cNvPr id="22" name="Shape 20"/>
          <p:cNvSpPr/>
          <p:nvPr/>
        </p:nvSpPr>
        <p:spPr>
          <a:xfrm>
            <a:off x="4617720" y="1261872"/>
            <a:ext cx="4251960" cy="3858768"/>
          </a:xfrm>
          <a:prstGeom prst="rect">
            <a:avLst/>
          </a:prstGeom>
          <a:solidFill>
            <a:srgbClr val="1C2330"/>
          </a:solidFill>
          <a:ln w="12700">
            <a:solidFill>
              <a:srgbClr val="1DB954"/>
            </a:solidFill>
            <a:prstDash val="solid"/>
          </a:ln>
        </p:spPr>
        <p:txBody>
          <a:bodyPr/>
          <a:lstStyle/>
          <a:p>
            <a:endParaRPr lang="es-PE"/>
          </a:p>
        </p:txBody>
      </p:sp>
      <p:sp>
        <p:nvSpPr>
          <p:cNvPr id="23" name="Shape 21"/>
          <p:cNvSpPr/>
          <p:nvPr/>
        </p:nvSpPr>
        <p:spPr>
          <a:xfrm>
            <a:off x="4617720" y="1261872"/>
            <a:ext cx="4251960" cy="237744"/>
          </a:xfrm>
          <a:prstGeom prst="rect">
            <a:avLst/>
          </a:prstGeom>
          <a:solidFill>
            <a:srgbClr val="080C12"/>
          </a:solidFill>
          <a:ln w="12700">
            <a:solidFill>
              <a:srgbClr val="080C12"/>
            </a:solidFill>
            <a:prstDash val="solid"/>
          </a:ln>
        </p:spPr>
        <p:txBody>
          <a:bodyPr/>
          <a:lstStyle/>
          <a:p>
            <a:endParaRPr lang="es-PE"/>
          </a:p>
        </p:txBody>
      </p:sp>
      <p:sp>
        <p:nvSpPr>
          <p:cNvPr id="24" name="Text 22"/>
          <p:cNvSpPr/>
          <p:nvPr/>
        </p:nvSpPr>
        <p:spPr>
          <a:xfrm>
            <a:off x="4709160" y="1261872"/>
            <a:ext cx="320040" cy="237744"/>
          </a:xfrm>
          <a:prstGeom prst="rect">
            <a:avLst/>
          </a:prstGeom>
          <a:noFill/>
          <a:ln/>
        </p:spPr>
        <p:txBody>
          <a:bodyPr wrap="square" lIns="0" tIns="0" rIns="0" bIns="0" rtlCol="0" anchor="ctr"/>
          <a:lstStyle/>
          <a:p>
            <a:pPr marL="0" indent="0" algn="l">
              <a:buNone/>
            </a:pPr>
            <a:r>
              <a:rPr lang="en-US" sz="900" b="1" dirty="0">
                <a:solidFill>
                  <a:srgbClr val="1DB954"/>
                </a:solidFill>
                <a:latin typeface="Calibri" pitchFamily="34" charset="0"/>
                <a:ea typeface="Calibri" pitchFamily="34" charset="-122"/>
                <a:cs typeface="Calibri" pitchFamily="34" charset="-120"/>
              </a:rPr>
              <a:t>C#</a:t>
            </a:r>
            <a:endParaRPr lang="en-US" sz="900" dirty="0"/>
          </a:p>
        </p:txBody>
      </p:sp>
      <p:sp>
        <p:nvSpPr>
          <p:cNvPr id="25" name="Shape 23"/>
          <p:cNvSpPr/>
          <p:nvPr/>
        </p:nvSpPr>
        <p:spPr>
          <a:xfrm>
            <a:off x="5029200" y="1344168"/>
            <a:ext cx="64008" cy="64008"/>
          </a:xfrm>
          <a:prstGeom prst="rect">
            <a:avLst/>
          </a:prstGeom>
          <a:solidFill>
            <a:srgbClr val="F85149"/>
          </a:solidFill>
          <a:ln w="12700">
            <a:solidFill>
              <a:srgbClr val="F85149"/>
            </a:solidFill>
            <a:prstDash val="solid"/>
          </a:ln>
        </p:spPr>
        <p:txBody>
          <a:bodyPr/>
          <a:lstStyle/>
          <a:p>
            <a:endParaRPr lang="es-PE"/>
          </a:p>
        </p:txBody>
      </p:sp>
      <p:sp>
        <p:nvSpPr>
          <p:cNvPr id="26" name="Shape 24"/>
          <p:cNvSpPr/>
          <p:nvPr/>
        </p:nvSpPr>
        <p:spPr>
          <a:xfrm>
            <a:off x="5148072" y="1344168"/>
            <a:ext cx="64008" cy="64008"/>
          </a:xfrm>
          <a:prstGeom prst="rect">
            <a:avLst/>
          </a:prstGeom>
          <a:solidFill>
            <a:srgbClr val="D29922"/>
          </a:solidFill>
          <a:ln w="12700">
            <a:solidFill>
              <a:srgbClr val="D29922"/>
            </a:solidFill>
            <a:prstDash val="solid"/>
          </a:ln>
        </p:spPr>
        <p:txBody>
          <a:bodyPr/>
          <a:lstStyle/>
          <a:p>
            <a:endParaRPr lang="es-PE"/>
          </a:p>
        </p:txBody>
      </p:sp>
      <p:sp>
        <p:nvSpPr>
          <p:cNvPr id="27" name="Shape 25"/>
          <p:cNvSpPr/>
          <p:nvPr/>
        </p:nvSpPr>
        <p:spPr>
          <a:xfrm>
            <a:off x="5266944" y="1344168"/>
            <a:ext cx="64008" cy="64008"/>
          </a:xfrm>
          <a:prstGeom prst="rect">
            <a:avLst/>
          </a:prstGeom>
          <a:solidFill>
            <a:srgbClr val="1DB954"/>
          </a:solidFill>
          <a:ln w="12700">
            <a:solidFill>
              <a:srgbClr val="1DB954"/>
            </a:solidFill>
            <a:prstDash val="solid"/>
          </a:ln>
        </p:spPr>
        <p:txBody>
          <a:bodyPr/>
          <a:lstStyle/>
          <a:p>
            <a:endParaRPr lang="es-PE"/>
          </a:p>
        </p:txBody>
      </p:sp>
      <p:sp>
        <p:nvSpPr>
          <p:cNvPr id="28" name="Text 26"/>
          <p:cNvSpPr/>
          <p:nvPr/>
        </p:nvSpPr>
        <p:spPr>
          <a:xfrm>
            <a:off x="4727448" y="1536192"/>
            <a:ext cx="4069080" cy="3493008"/>
          </a:xfrm>
          <a:prstGeom prst="rect">
            <a:avLst/>
          </a:prstGeom>
          <a:noFill/>
          <a:ln/>
        </p:spPr>
        <p:txBody>
          <a:bodyPr wrap="square" lIns="0" tIns="0" rIns="0" bIns="0" rtlCol="0" anchor="t"/>
          <a:lstStyle/>
          <a:p>
            <a:pPr marL="0" indent="0" algn="l">
              <a:buNone/>
            </a:pPr>
            <a:r>
              <a:rPr lang="en-US" sz="750" dirty="0">
                <a:solidFill>
                  <a:srgbClr val="CDD9E5"/>
                </a:solidFill>
                <a:latin typeface="Consolas" pitchFamily="34" charset="0"/>
                <a:ea typeface="Consolas" pitchFamily="34" charset="-122"/>
                <a:cs typeface="Consolas" pitchFamily="34" charset="-120"/>
              </a:rPr>
              <a:t>// 🔒 YA EXISTE — no se modifica</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abstract class ContenidoSpotify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abstract void Reproducir();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abstract string ObtenerTipoContenido();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class Cancion   : ContenidoSpotify</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 sin cambios */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class Podcast   : ContenidoSpotify</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 sin cambios */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class Audiolibro: ContenidoSpotify</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 sin cambios */ }</a:t>
            </a:r>
            <a:endParaRPr lang="en-US" sz="750" dirty="0"/>
          </a:p>
          <a:p>
            <a:pPr marL="0" indent="0" algn="l">
              <a:buNone/>
            </a:pP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NUEVO — solo se agrega</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class AudiolibroInteractivo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ContenidoSpotify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string Autor { get;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List&lt;string&gt; Opciones { get; }=new();</a:t>
            </a:r>
            <a:endParaRPr lang="en-US" sz="750" dirty="0"/>
          </a:p>
          <a:p>
            <a:pPr marL="0" indent="0" algn="l">
              <a:buNone/>
            </a:pP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AudiolibroInteractivo(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string id, string titulo,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TimeSpan dur, string autor)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base(id, titulo, dur)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Autor=autor; }</a:t>
            </a:r>
            <a:endParaRPr lang="en-US" sz="750" dirty="0"/>
          </a:p>
          <a:p>
            <a:pPr marL="0" indent="0" algn="l">
              <a:buNone/>
            </a:pP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override void Reproducir()</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=&gt; Console.WriteLine(</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Interactivo: {Titulo}");</a:t>
            </a:r>
            <a:endParaRPr lang="en-US" sz="750" dirty="0"/>
          </a:p>
          <a:p>
            <a:pPr marL="0" indent="0" algn="l">
              <a:buNone/>
            </a:pP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override string ObtenerTipoContenido()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=&gt; "Audiolibro Interactivo";</a:t>
            </a:r>
            <a:endParaRPr lang="en-US" sz="750" dirty="0"/>
          </a:p>
          <a:p>
            <a:pPr marL="0" indent="0" algn="l">
              <a:buNone/>
            </a:pP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Comportamiento exclusivo del nuevo tipo</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public void ElegirOpcion(int i)</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=&gt; Console.WriteLine(</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 Elegiste: {Opciones[i]}");</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Factory extendida (no reescrita):</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(AudiolibroInteractivo, Premium)</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=&gt; new ReproductorInteractivoPremium()</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EA198"/>
          </a:solidFill>
          <a:ln w="12700">
            <a:solidFill>
              <a:srgbClr val="2EA198"/>
            </a:solidFill>
            <a:prstDash val="solid"/>
          </a:ln>
        </p:spPr>
        <p:txBody>
          <a:bodyPr/>
          <a:lstStyle/>
          <a:p>
            <a:endParaRPr lang="es-PE"/>
          </a:p>
        </p:txBody>
      </p:sp>
      <p:sp>
        <p:nvSpPr>
          <p:cNvPr id="3" name="Shape 1"/>
          <p:cNvSpPr/>
          <p:nvPr/>
        </p:nvSpPr>
        <p:spPr>
          <a:xfrm>
            <a:off x="109728" y="0"/>
            <a:ext cx="9034272" cy="749808"/>
          </a:xfrm>
          <a:prstGeom prst="rect">
            <a:avLst/>
          </a:prstGeom>
          <a:solidFill>
            <a:srgbClr val="161B22"/>
          </a:solidFill>
          <a:ln w="12700">
            <a:solidFill>
              <a:srgbClr val="161B22"/>
            </a:solidFill>
            <a:prstDash val="solid"/>
          </a:ln>
        </p:spPr>
        <p:txBody>
          <a:bodyPr/>
          <a:lstStyle/>
          <a:p>
            <a:endParaRPr lang="es-PE"/>
          </a:p>
        </p:txBody>
      </p:sp>
      <p:sp>
        <p:nvSpPr>
          <p:cNvPr id="4" name="Shape 2"/>
          <p:cNvSpPr/>
          <p:nvPr/>
        </p:nvSpPr>
        <p:spPr>
          <a:xfrm>
            <a:off x="109728" y="749808"/>
            <a:ext cx="9034272" cy="36576"/>
          </a:xfrm>
          <a:prstGeom prst="rect">
            <a:avLst/>
          </a:prstGeom>
          <a:solidFill>
            <a:srgbClr val="2EA198"/>
          </a:solidFill>
          <a:ln w="12700">
            <a:solidFill>
              <a:srgbClr val="2EA198"/>
            </a:solidFill>
            <a:prstDash val="solid"/>
          </a:ln>
        </p:spPr>
        <p:txBody>
          <a:bodyPr/>
          <a:lstStyle/>
          <a:p>
            <a:endParaRPr lang="es-PE"/>
          </a:p>
        </p:txBody>
      </p:sp>
      <p:sp>
        <p:nvSpPr>
          <p:cNvPr id="5" name="Text 3"/>
          <p:cNvSpPr/>
          <p:nvPr/>
        </p:nvSpPr>
        <p:spPr>
          <a:xfrm>
            <a:off x="320040" y="0"/>
            <a:ext cx="8686800" cy="749808"/>
          </a:xfrm>
          <a:prstGeom prst="rect">
            <a:avLst/>
          </a:prstGeom>
          <a:noFill/>
          <a:ln/>
        </p:spPr>
        <p:txBody>
          <a:bodyPr wrap="square" lIns="0" tIns="0" rIns="0" bIns="0" rtlCol="0" anchor="ctr"/>
          <a:lstStyle/>
          <a:p>
            <a:pPr marL="0" indent="0" algn="l">
              <a:buNone/>
            </a:pPr>
            <a:r>
              <a:rPr lang="en-US" sz="1700" b="1" dirty="0">
                <a:solidFill>
                  <a:srgbClr val="FFFFFF"/>
                </a:solidFill>
                <a:latin typeface="Trebuchet MS" pitchFamily="34" charset="0"/>
                <a:ea typeface="Trebuchet MS" pitchFamily="34" charset="-122"/>
                <a:cs typeface="Trebuchet MS" pitchFamily="34" charset="-120"/>
              </a:rPr>
              <a:t>Pregunta 7 — Arquitectura: Capas + Inyección de Dependencias</a:t>
            </a:r>
            <a:endParaRPr lang="en-US" sz="1700" dirty="0"/>
          </a:p>
        </p:txBody>
      </p:sp>
      <p:sp>
        <p:nvSpPr>
          <p:cNvPr id="6" name="Text 4"/>
          <p:cNvSpPr/>
          <p:nvPr/>
        </p:nvSpPr>
        <p:spPr>
          <a:xfrm>
            <a:off x="320040" y="822960"/>
            <a:ext cx="8686800" cy="329184"/>
          </a:xfrm>
          <a:prstGeom prst="rect">
            <a:avLst/>
          </a:prstGeom>
          <a:noFill/>
          <a:ln/>
        </p:spPr>
        <p:txBody>
          <a:bodyPr wrap="square" lIns="0" tIns="0" rIns="0" bIns="0" rtlCol="0" anchor="t"/>
          <a:lstStyle/>
          <a:p>
            <a:pPr marL="0" indent="0" algn="l">
              <a:buNone/>
            </a:pPr>
            <a:r>
              <a:rPr lang="en-US" sz="1000" i="1" dirty="0">
                <a:solidFill>
                  <a:srgbClr val="8B949E"/>
                </a:solidFill>
                <a:latin typeface="Calibri" pitchFamily="34" charset="0"/>
                <a:ea typeface="Calibri" pitchFamily="34" charset="-122"/>
                <a:cs typeface="Calibri" pitchFamily="34" charset="-120"/>
              </a:rPr>
              <a:t>Propón una mejora considerando escalabilidad y mantenibilidad a largo plazo.</a:t>
            </a:r>
            <a:endParaRPr lang="en-US" sz="1000" dirty="0"/>
          </a:p>
        </p:txBody>
      </p:sp>
      <p:sp>
        <p:nvSpPr>
          <p:cNvPr id="7" name="Shape 5"/>
          <p:cNvSpPr/>
          <p:nvPr/>
        </p:nvSpPr>
        <p:spPr>
          <a:xfrm>
            <a:off x="256032" y="1261872"/>
            <a:ext cx="4160520" cy="822960"/>
          </a:xfrm>
          <a:prstGeom prst="rect">
            <a:avLst/>
          </a:prstGeom>
          <a:solidFill>
            <a:srgbClr val="161B22"/>
          </a:solidFill>
          <a:ln w="12700">
            <a:solidFill>
              <a:srgbClr val="1DB954"/>
            </a:solidFill>
            <a:prstDash val="solid"/>
          </a:ln>
        </p:spPr>
        <p:txBody>
          <a:bodyPr/>
          <a:lstStyle/>
          <a:p>
            <a:endParaRPr lang="es-PE"/>
          </a:p>
        </p:txBody>
      </p:sp>
      <p:sp>
        <p:nvSpPr>
          <p:cNvPr id="8" name="Shape 6"/>
          <p:cNvSpPr/>
          <p:nvPr/>
        </p:nvSpPr>
        <p:spPr>
          <a:xfrm>
            <a:off x="256032" y="1261872"/>
            <a:ext cx="4160520" cy="237744"/>
          </a:xfrm>
          <a:prstGeom prst="rect">
            <a:avLst/>
          </a:prstGeom>
          <a:solidFill>
            <a:srgbClr val="1C2330"/>
          </a:solidFill>
          <a:ln w="12700">
            <a:solidFill>
              <a:srgbClr val="1C2330"/>
            </a:solidFill>
            <a:prstDash val="solid"/>
          </a:ln>
        </p:spPr>
        <p:txBody>
          <a:bodyPr/>
          <a:lstStyle/>
          <a:p>
            <a:endParaRPr lang="es-PE"/>
          </a:p>
        </p:txBody>
      </p:sp>
      <p:sp>
        <p:nvSpPr>
          <p:cNvPr id="9" name="Shape 7"/>
          <p:cNvSpPr/>
          <p:nvPr/>
        </p:nvSpPr>
        <p:spPr>
          <a:xfrm>
            <a:off x="256032" y="1261872"/>
            <a:ext cx="914400" cy="822960"/>
          </a:xfrm>
          <a:prstGeom prst="rect">
            <a:avLst/>
          </a:prstGeom>
          <a:solidFill>
            <a:srgbClr val="1C2330"/>
          </a:solidFill>
          <a:ln w="12700">
            <a:solidFill>
              <a:srgbClr val="1C2330"/>
            </a:solidFill>
            <a:prstDash val="solid"/>
          </a:ln>
        </p:spPr>
        <p:txBody>
          <a:bodyPr/>
          <a:lstStyle/>
          <a:p>
            <a:endParaRPr lang="es-PE"/>
          </a:p>
        </p:txBody>
      </p:sp>
      <p:sp>
        <p:nvSpPr>
          <p:cNvPr id="10" name="Text 8"/>
          <p:cNvSpPr/>
          <p:nvPr/>
        </p:nvSpPr>
        <p:spPr>
          <a:xfrm>
            <a:off x="274320" y="1261872"/>
            <a:ext cx="896112" cy="822960"/>
          </a:xfrm>
          <a:prstGeom prst="rect">
            <a:avLst/>
          </a:prstGeom>
          <a:noFill/>
          <a:ln/>
        </p:spPr>
        <p:txBody>
          <a:bodyPr wrap="square" lIns="0" tIns="0" rIns="0" bIns="0" rtlCol="0" anchor="ctr"/>
          <a:lstStyle/>
          <a:p>
            <a:pPr marL="0" indent="0" algn="ctr">
              <a:buNone/>
            </a:pPr>
            <a:r>
              <a:rPr lang="en-US" sz="850" b="1" dirty="0">
                <a:solidFill>
                  <a:srgbClr val="1DB954"/>
                </a:solidFill>
                <a:latin typeface="Calibri" pitchFamily="34" charset="0"/>
                <a:ea typeface="Calibri" pitchFamily="34" charset="-122"/>
                <a:cs typeface="Calibri" pitchFamily="34" charset="-120"/>
              </a:rPr>
              <a:t>DOMINIO</a:t>
            </a:r>
            <a:endParaRPr lang="en-US" sz="850" dirty="0"/>
          </a:p>
        </p:txBody>
      </p:sp>
      <p:sp>
        <p:nvSpPr>
          <p:cNvPr id="11" name="Shape 9"/>
          <p:cNvSpPr/>
          <p:nvPr/>
        </p:nvSpPr>
        <p:spPr>
          <a:xfrm>
            <a:off x="1170432" y="1261872"/>
            <a:ext cx="27432" cy="822960"/>
          </a:xfrm>
          <a:prstGeom prst="rect">
            <a:avLst/>
          </a:prstGeom>
          <a:solidFill>
            <a:srgbClr val="1DB954"/>
          </a:solidFill>
          <a:ln w="12700">
            <a:solidFill>
              <a:srgbClr val="1DB954"/>
            </a:solidFill>
            <a:prstDash val="solid"/>
          </a:ln>
        </p:spPr>
        <p:txBody>
          <a:bodyPr/>
          <a:lstStyle/>
          <a:p>
            <a:endParaRPr lang="es-PE"/>
          </a:p>
        </p:txBody>
      </p:sp>
      <p:sp>
        <p:nvSpPr>
          <p:cNvPr id="12" name="Text 10"/>
          <p:cNvSpPr/>
          <p:nvPr/>
        </p:nvSpPr>
        <p:spPr>
          <a:xfrm>
            <a:off x="1280160" y="1298448"/>
            <a:ext cx="2999232" cy="237744"/>
          </a:xfrm>
          <a:prstGeom prst="rect">
            <a:avLst/>
          </a:prstGeom>
          <a:noFill/>
          <a:ln/>
        </p:spPr>
        <p:txBody>
          <a:bodyPr wrap="square" lIns="0" tIns="0" rIns="0" bIns="0" rtlCol="0" anchor="ctr"/>
          <a:lstStyle/>
          <a:p>
            <a:pPr marL="0" indent="0" algn="l">
              <a:buNone/>
            </a:pPr>
            <a:r>
              <a:rPr lang="en-US" sz="900" b="1" dirty="0">
                <a:solidFill>
                  <a:srgbClr val="1DB954"/>
                </a:solidFill>
                <a:latin typeface="Calibri" pitchFamily="34" charset="0"/>
                <a:ea typeface="Calibri" pitchFamily="34" charset="-122"/>
                <a:cs typeface="Calibri" pitchFamily="34" charset="-120"/>
              </a:rPr>
              <a:t>ContenidoSpotify · Cancion · Podcast · Audiolibro</a:t>
            </a:r>
            <a:endParaRPr lang="en-US" sz="900" dirty="0"/>
          </a:p>
        </p:txBody>
      </p:sp>
      <p:sp>
        <p:nvSpPr>
          <p:cNvPr id="13" name="Text 11"/>
          <p:cNvSpPr/>
          <p:nvPr/>
        </p:nvSpPr>
        <p:spPr>
          <a:xfrm>
            <a:off x="1280160" y="1572768"/>
            <a:ext cx="2999232" cy="475488"/>
          </a:xfrm>
          <a:prstGeom prst="rect">
            <a:avLst/>
          </a:prstGeom>
          <a:noFill/>
          <a:ln/>
        </p:spPr>
        <p:txBody>
          <a:bodyPr wrap="square" lIns="0" tIns="0" rIns="0" bIns="0" rtlCol="0" anchor="t"/>
          <a:lstStyle/>
          <a:p>
            <a:pPr marL="0" indent="0" algn="l">
              <a:buNone/>
            </a:pPr>
            <a:r>
              <a:rPr lang="en-US" sz="900" dirty="0">
                <a:solidFill>
                  <a:srgbClr val="8B949E"/>
                </a:solidFill>
                <a:latin typeface="Calibri" pitchFamily="34" charset="0"/>
                <a:ea typeface="Calibri" pitchFamily="34" charset="-122"/>
                <a:cs typeface="Calibri" pitchFamily="34" charset="-120"/>
              </a:rPr>
              <a:t>Entidades puras, sin dependencias externas</a:t>
            </a:r>
            <a:endParaRPr lang="en-US" sz="900" dirty="0"/>
          </a:p>
        </p:txBody>
      </p:sp>
      <p:sp>
        <p:nvSpPr>
          <p:cNvPr id="14" name="Shape 12"/>
          <p:cNvSpPr/>
          <p:nvPr/>
        </p:nvSpPr>
        <p:spPr>
          <a:xfrm>
            <a:off x="2505456" y="2084832"/>
            <a:ext cx="36576" cy="91440"/>
          </a:xfrm>
          <a:prstGeom prst="rect">
            <a:avLst/>
          </a:prstGeom>
          <a:solidFill>
            <a:srgbClr val="30363D"/>
          </a:solidFill>
          <a:ln w="12700">
            <a:solidFill>
              <a:srgbClr val="30363D"/>
            </a:solidFill>
            <a:prstDash val="solid"/>
          </a:ln>
        </p:spPr>
        <p:txBody>
          <a:bodyPr/>
          <a:lstStyle/>
          <a:p>
            <a:endParaRPr lang="es-PE"/>
          </a:p>
        </p:txBody>
      </p:sp>
      <p:sp>
        <p:nvSpPr>
          <p:cNvPr id="15" name="Shape 13"/>
          <p:cNvSpPr/>
          <p:nvPr/>
        </p:nvSpPr>
        <p:spPr>
          <a:xfrm>
            <a:off x="256032" y="2176272"/>
            <a:ext cx="4160520" cy="822960"/>
          </a:xfrm>
          <a:prstGeom prst="rect">
            <a:avLst/>
          </a:prstGeom>
          <a:solidFill>
            <a:srgbClr val="161B22"/>
          </a:solidFill>
          <a:ln w="12700">
            <a:solidFill>
              <a:srgbClr val="388BFD"/>
            </a:solidFill>
            <a:prstDash val="solid"/>
          </a:ln>
        </p:spPr>
        <p:txBody>
          <a:bodyPr/>
          <a:lstStyle/>
          <a:p>
            <a:endParaRPr lang="es-PE"/>
          </a:p>
        </p:txBody>
      </p:sp>
      <p:sp>
        <p:nvSpPr>
          <p:cNvPr id="16" name="Shape 14"/>
          <p:cNvSpPr/>
          <p:nvPr/>
        </p:nvSpPr>
        <p:spPr>
          <a:xfrm>
            <a:off x="256032" y="2176272"/>
            <a:ext cx="4160520" cy="237744"/>
          </a:xfrm>
          <a:prstGeom prst="rect">
            <a:avLst/>
          </a:prstGeom>
          <a:solidFill>
            <a:srgbClr val="1C2330"/>
          </a:solidFill>
          <a:ln w="12700">
            <a:solidFill>
              <a:srgbClr val="1C2330"/>
            </a:solidFill>
            <a:prstDash val="solid"/>
          </a:ln>
        </p:spPr>
        <p:txBody>
          <a:bodyPr/>
          <a:lstStyle/>
          <a:p>
            <a:endParaRPr lang="es-PE"/>
          </a:p>
        </p:txBody>
      </p:sp>
      <p:sp>
        <p:nvSpPr>
          <p:cNvPr id="17" name="Shape 15"/>
          <p:cNvSpPr/>
          <p:nvPr/>
        </p:nvSpPr>
        <p:spPr>
          <a:xfrm>
            <a:off x="256032" y="2176272"/>
            <a:ext cx="914400" cy="822960"/>
          </a:xfrm>
          <a:prstGeom prst="rect">
            <a:avLst/>
          </a:prstGeom>
          <a:solidFill>
            <a:srgbClr val="1C2330"/>
          </a:solidFill>
          <a:ln w="12700">
            <a:solidFill>
              <a:srgbClr val="1C2330"/>
            </a:solidFill>
            <a:prstDash val="solid"/>
          </a:ln>
        </p:spPr>
        <p:txBody>
          <a:bodyPr/>
          <a:lstStyle/>
          <a:p>
            <a:endParaRPr lang="es-PE"/>
          </a:p>
        </p:txBody>
      </p:sp>
      <p:sp>
        <p:nvSpPr>
          <p:cNvPr id="18" name="Text 16"/>
          <p:cNvSpPr/>
          <p:nvPr/>
        </p:nvSpPr>
        <p:spPr>
          <a:xfrm>
            <a:off x="274320" y="2176272"/>
            <a:ext cx="896112" cy="822960"/>
          </a:xfrm>
          <a:prstGeom prst="rect">
            <a:avLst/>
          </a:prstGeom>
          <a:noFill/>
          <a:ln/>
        </p:spPr>
        <p:txBody>
          <a:bodyPr wrap="square" lIns="0" tIns="0" rIns="0" bIns="0" rtlCol="0" anchor="ctr"/>
          <a:lstStyle/>
          <a:p>
            <a:pPr marL="0" indent="0" algn="ctr">
              <a:buNone/>
            </a:pPr>
            <a:r>
              <a:rPr lang="en-US" sz="850" b="1" dirty="0">
                <a:solidFill>
                  <a:srgbClr val="388BFD"/>
                </a:solidFill>
                <a:latin typeface="Calibri" pitchFamily="34" charset="0"/>
                <a:ea typeface="Calibri" pitchFamily="34" charset="-122"/>
                <a:cs typeface="Calibri" pitchFamily="34" charset="-120"/>
              </a:rPr>
              <a:t>SERVICIOS</a:t>
            </a:r>
            <a:endParaRPr lang="en-US" sz="850" dirty="0"/>
          </a:p>
        </p:txBody>
      </p:sp>
      <p:sp>
        <p:nvSpPr>
          <p:cNvPr id="19" name="Shape 17"/>
          <p:cNvSpPr/>
          <p:nvPr/>
        </p:nvSpPr>
        <p:spPr>
          <a:xfrm>
            <a:off x="1170432" y="2176272"/>
            <a:ext cx="27432" cy="822960"/>
          </a:xfrm>
          <a:prstGeom prst="rect">
            <a:avLst/>
          </a:prstGeom>
          <a:solidFill>
            <a:srgbClr val="388BFD"/>
          </a:solidFill>
          <a:ln w="12700">
            <a:solidFill>
              <a:srgbClr val="388BFD"/>
            </a:solidFill>
            <a:prstDash val="solid"/>
          </a:ln>
        </p:spPr>
        <p:txBody>
          <a:bodyPr/>
          <a:lstStyle/>
          <a:p>
            <a:endParaRPr lang="es-PE"/>
          </a:p>
        </p:txBody>
      </p:sp>
      <p:sp>
        <p:nvSpPr>
          <p:cNvPr id="20" name="Text 18"/>
          <p:cNvSpPr/>
          <p:nvPr/>
        </p:nvSpPr>
        <p:spPr>
          <a:xfrm>
            <a:off x="1280160" y="2212848"/>
            <a:ext cx="2999232" cy="237744"/>
          </a:xfrm>
          <a:prstGeom prst="rect">
            <a:avLst/>
          </a:prstGeom>
          <a:noFill/>
          <a:ln/>
        </p:spPr>
        <p:txBody>
          <a:bodyPr wrap="square" lIns="0" tIns="0" rIns="0" bIns="0" rtlCol="0" anchor="ctr"/>
          <a:lstStyle/>
          <a:p>
            <a:pPr marL="0" indent="0" algn="l">
              <a:buNone/>
            </a:pPr>
            <a:r>
              <a:rPr lang="en-US" sz="900" b="1" dirty="0">
                <a:solidFill>
                  <a:srgbClr val="388BFD"/>
                </a:solidFill>
                <a:latin typeface="Calibri" pitchFamily="34" charset="0"/>
                <a:ea typeface="Calibri" pitchFamily="34" charset="-122"/>
                <a:cs typeface="Calibri" pitchFamily="34" charset="-120"/>
              </a:rPr>
              <a:t>ICatalogService · IReproduccionService · INotificacionService</a:t>
            </a:r>
            <a:endParaRPr lang="en-US" sz="900" dirty="0"/>
          </a:p>
        </p:txBody>
      </p:sp>
      <p:sp>
        <p:nvSpPr>
          <p:cNvPr id="21" name="Text 19"/>
          <p:cNvSpPr/>
          <p:nvPr/>
        </p:nvSpPr>
        <p:spPr>
          <a:xfrm>
            <a:off x="1280160" y="2487168"/>
            <a:ext cx="2999232" cy="475488"/>
          </a:xfrm>
          <a:prstGeom prst="rect">
            <a:avLst/>
          </a:prstGeom>
          <a:noFill/>
          <a:ln/>
        </p:spPr>
        <p:txBody>
          <a:bodyPr wrap="square" lIns="0" tIns="0" rIns="0" bIns="0" rtlCol="0" anchor="t"/>
          <a:lstStyle/>
          <a:p>
            <a:pPr marL="0" indent="0" algn="l">
              <a:buNone/>
            </a:pPr>
            <a:r>
              <a:rPr lang="en-US" sz="900" dirty="0">
                <a:solidFill>
                  <a:srgbClr val="8B949E"/>
                </a:solidFill>
                <a:latin typeface="Calibri" pitchFamily="34" charset="0"/>
                <a:ea typeface="Calibri" pitchFamily="34" charset="-122"/>
                <a:cs typeface="Calibri" pitchFamily="34" charset="-120"/>
              </a:rPr>
              <a:t>Lógica de negocio desacoplada</a:t>
            </a:r>
            <a:endParaRPr lang="en-US" sz="900" dirty="0"/>
          </a:p>
        </p:txBody>
      </p:sp>
      <p:sp>
        <p:nvSpPr>
          <p:cNvPr id="22" name="Shape 20"/>
          <p:cNvSpPr/>
          <p:nvPr/>
        </p:nvSpPr>
        <p:spPr>
          <a:xfrm>
            <a:off x="2505456" y="2999232"/>
            <a:ext cx="36576" cy="91440"/>
          </a:xfrm>
          <a:prstGeom prst="rect">
            <a:avLst/>
          </a:prstGeom>
          <a:solidFill>
            <a:srgbClr val="30363D"/>
          </a:solidFill>
          <a:ln w="12700">
            <a:solidFill>
              <a:srgbClr val="30363D"/>
            </a:solidFill>
            <a:prstDash val="solid"/>
          </a:ln>
        </p:spPr>
        <p:txBody>
          <a:bodyPr/>
          <a:lstStyle/>
          <a:p>
            <a:endParaRPr lang="es-PE"/>
          </a:p>
        </p:txBody>
      </p:sp>
      <p:sp>
        <p:nvSpPr>
          <p:cNvPr id="23" name="Shape 21"/>
          <p:cNvSpPr/>
          <p:nvPr/>
        </p:nvSpPr>
        <p:spPr>
          <a:xfrm>
            <a:off x="256032" y="3090672"/>
            <a:ext cx="4160520" cy="822960"/>
          </a:xfrm>
          <a:prstGeom prst="rect">
            <a:avLst/>
          </a:prstGeom>
          <a:solidFill>
            <a:srgbClr val="161B22"/>
          </a:solidFill>
          <a:ln w="12700">
            <a:solidFill>
              <a:srgbClr val="8957E5"/>
            </a:solidFill>
            <a:prstDash val="solid"/>
          </a:ln>
        </p:spPr>
        <p:txBody>
          <a:bodyPr/>
          <a:lstStyle/>
          <a:p>
            <a:endParaRPr lang="es-PE"/>
          </a:p>
        </p:txBody>
      </p:sp>
      <p:sp>
        <p:nvSpPr>
          <p:cNvPr id="24" name="Shape 22"/>
          <p:cNvSpPr/>
          <p:nvPr/>
        </p:nvSpPr>
        <p:spPr>
          <a:xfrm>
            <a:off x="256032" y="3090672"/>
            <a:ext cx="4160520" cy="237744"/>
          </a:xfrm>
          <a:prstGeom prst="rect">
            <a:avLst/>
          </a:prstGeom>
          <a:solidFill>
            <a:srgbClr val="1C2330"/>
          </a:solidFill>
          <a:ln w="12700">
            <a:solidFill>
              <a:srgbClr val="1C2330"/>
            </a:solidFill>
            <a:prstDash val="solid"/>
          </a:ln>
        </p:spPr>
        <p:txBody>
          <a:bodyPr/>
          <a:lstStyle/>
          <a:p>
            <a:endParaRPr lang="es-PE"/>
          </a:p>
        </p:txBody>
      </p:sp>
      <p:sp>
        <p:nvSpPr>
          <p:cNvPr id="25" name="Shape 23"/>
          <p:cNvSpPr/>
          <p:nvPr/>
        </p:nvSpPr>
        <p:spPr>
          <a:xfrm>
            <a:off x="256032" y="3090672"/>
            <a:ext cx="914400" cy="822960"/>
          </a:xfrm>
          <a:prstGeom prst="rect">
            <a:avLst/>
          </a:prstGeom>
          <a:solidFill>
            <a:srgbClr val="1C2330"/>
          </a:solidFill>
          <a:ln w="12700">
            <a:solidFill>
              <a:srgbClr val="1C2330"/>
            </a:solidFill>
            <a:prstDash val="solid"/>
          </a:ln>
        </p:spPr>
        <p:txBody>
          <a:bodyPr/>
          <a:lstStyle/>
          <a:p>
            <a:endParaRPr lang="es-PE"/>
          </a:p>
        </p:txBody>
      </p:sp>
      <p:sp>
        <p:nvSpPr>
          <p:cNvPr id="26" name="Text 24"/>
          <p:cNvSpPr/>
          <p:nvPr/>
        </p:nvSpPr>
        <p:spPr>
          <a:xfrm>
            <a:off x="274320" y="3090672"/>
            <a:ext cx="896112" cy="822960"/>
          </a:xfrm>
          <a:prstGeom prst="rect">
            <a:avLst/>
          </a:prstGeom>
          <a:noFill/>
          <a:ln/>
        </p:spPr>
        <p:txBody>
          <a:bodyPr wrap="square" lIns="0" tIns="0" rIns="0" bIns="0" rtlCol="0" anchor="ctr"/>
          <a:lstStyle/>
          <a:p>
            <a:pPr marL="0" indent="0" algn="ctr">
              <a:buNone/>
            </a:pPr>
            <a:r>
              <a:rPr lang="en-US" sz="850" b="1" dirty="0">
                <a:solidFill>
                  <a:srgbClr val="8957E5"/>
                </a:solidFill>
                <a:latin typeface="Calibri" pitchFamily="34" charset="0"/>
                <a:ea typeface="Calibri" pitchFamily="34" charset="-122"/>
                <a:cs typeface="Calibri" pitchFamily="34" charset="-120"/>
              </a:rPr>
              <a:t>REPOSITORIOS</a:t>
            </a:r>
            <a:endParaRPr lang="en-US" sz="850" dirty="0"/>
          </a:p>
        </p:txBody>
      </p:sp>
      <p:sp>
        <p:nvSpPr>
          <p:cNvPr id="27" name="Shape 25"/>
          <p:cNvSpPr/>
          <p:nvPr/>
        </p:nvSpPr>
        <p:spPr>
          <a:xfrm>
            <a:off x="1170432" y="3090672"/>
            <a:ext cx="27432" cy="822960"/>
          </a:xfrm>
          <a:prstGeom prst="rect">
            <a:avLst/>
          </a:prstGeom>
          <a:solidFill>
            <a:srgbClr val="8957E5"/>
          </a:solidFill>
          <a:ln w="12700">
            <a:solidFill>
              <a:srgbClr val="8957E5"/>
            </a:solidFill>
            <a:prstDash val="solid"/>
          </a:ln>
        </p:spPr>
        <p:txBody>
          <a:bodyPr/>
          <a:lstStyle/>
          <a:p>
            <a:endParaRPr lang="es-PE"/>
          </a:p>
        </p:txBody>
      </p:sp>
      <p:sp>
        <p:nvSpPr>
          <p:cNvPr id="28" name="Text 26"/>
          <p:cNvSpPr/>
          <p:nvPr/>
        </p:nvSpPr>
        <p:spPr>
          <a:xfrm>
            <a:off x="1280160" y="3127248"/>
            <a:ext cx="2999232" cy="237744"/>
          </a:xfrm>
          <a:prstGeom prst="rect">
            <a:avLst/>
          </a:prstGeom>
          <a:noFill/>
          <a:ln/>
        </p:spPr>
        <p:txBody>
          <a:bodyPr wrap="square" lIns="0" tIns="0" rIns="0" bIns="0" rtlCol="0" anchor="ctr"/>
          <a:lstStyle/>
          <a:p>
            <a:pPr marL="0" indent="0" algn="l">
              <a:buNone/>
            </a:pPr>
            <a:r>
              <a:rPr lang="en-US" sz="900" b="1" dirty="0">
                <a:solidFill>
                  <a:srgbClr val="8957E5"/>
                </a:solidFill>
                <a:latin typeface="Calibri" pitchFamily="34" charset="0"/>
                <a:ea typeface="Calibri" pitchFamily="34" charset="-122"/>
                <a:cs typeface="Calibri" pitchFamily="34" charset="-120"/>
              </a:rPr>
              <a:t>IContenidoRepository → InMemory / SQL / MongoDB</a:t>
            </a:r>
            <a:endParaRPr lang="en-US" sz="900" dirty="0"/>
          </a:p>
        </p:txBody>
      </p:sp>
      <p:sp>
        <p:nvSpPr>
          <p:cNvPr id="29" name="Text 27"/>
          <p:cNvSpPr/>
          <p:nvPr/>
        </p:nvSpPr>
        <p:spPr>
          <a:xfrm>
            <a:off x="1280160" y="3401568"/>
            <a:ext cx="2999232" cy="475488"/>
          </a:xfrm>
          <a:prstGeom prst="rect">
            <a:avLst/>
          </a:prstGeom>
          <a:noFill/>
          <a:ln/>
        </p:spPr>
        <p:txBody>
          <a:bodyPr wrap="square" lIns="0" tIns="0" rIns="0" bIns="0" rtlCol="0" anchor="t"/>
          <a:lstStyle/>
          <a:p>
            <a:pPr marL="0" indent="0" algn="l">
              <a:buNone/>
            </a:pPr>
            <a:r>
              <a:rPr lang="en-US" sz="900" dirty="0">
                <a:solidFill>
                  <a:srgbClr val="8B949E"/>
                </a:solidFill>
                <a:latin typeface="Calibri" pitchFamily="34" charset="0"/>
                <a:ea typeface="Calibri" pitchFamily="34" charset="-122"/>
                <a:cs typeface="Calibri" pitchFamily="34" charset="-120"/>
              </a:rPr>
              <a:t>Acceso a datos, fácil de testear con mocks</a:t>
            </a:r>
            <a:endParaRPr lang="en-US" sz="900" dirty="0"/>
          </a:p>
        </p:txBody>
      </p:sp>
      <p:sp>
        <p:nvSpPr>
          <p:cNvPr id="30" name="Shape 28"/>
          <p:cNvSpPr/>
          <p:nvPr/>
        </p:nvSpPr>
        <p:spPr>
          <a:xfrm>
            <a:off x="2505456" y="3913632"/>
            <a:ext cx="36576" cy="91440"/>
          </a:xfrm>
          <a:prstGeom prst="rect">
            <a:avLst/>
          </a:prstGeom>
          <a:solidFill>
            <a:srgbClr val="30363D"/>
          </a:solidFill>
          <a:ln w="12700">
            <a:solidFill>
              <a:srgbClr val="30363D"/>
            </a:solidFill>
            <a:prstDash val="solid"/>
          </a:ln>
        </p:spPr>
        <p:txBody>
          <a:bodyPr/>
          <a:lstStyle/>
          <a:p>
            <a:endParaRPr lang="es-PE"/>
          </a:p>
        </p:txBody>
      </p:sp>
      <p:sp>
        <p:nvSpPr>
          <p:cNvPr id="31" name="Shape 29"/>
          <p:cNvSpPr/>
          <p:nvPr/>
        </p:nvSpPr>
        <p:spPr>
          <a:xfrm>
            <a:off x="256032" y="4005072"/>
            <a:ext cx="4160520" cy="822960"/>
          </a:xfrm>
          <a:prstGeom prst="rect">
            <a:avLst/>
          </a:prstGeom>
          <a:solidFill>
            <a:srgbClr val="161B22"/>
          </a:solidFill>
          <a:ln w="12700">
            <a:solidFill>
              <a:srgbClr val="D29922"/>
            </a:solidFill>
            <a:prstDash val="solid"/>
          </a:ln>
        </p:spPr>
        <p:txBody>
          <a:bodyPr/>
          <a:lstStyle/>
          <a:p>
            <a:endParaRPr lang="es-PE"/>
          </a:p>
        </p:txBody>
      </p:sp>
      <p:sp>
        <p:nvSpPr>
          <p:cNvPr id="32" name="Shape 30"/>
          <p:cNvSpPr/>
          <p:nvPr/>
        </p:nvSpPr>
        <p:spPr>
          <a:xfrm>
            <a:off x="256032" y="4005072"/>
            <a:ext cx="4160520" cy="237744"/>
          </a:xfrm>
          <a:prstGeom prst="rect">
            <a:avLst/>
          </a:prstGeom>
          <a:solidFill>
            <a:srgbClr val="1C2330"/>
          </a:solidFill>
          <a:ln w="12700">
            <a:solidFill>
              <a:srgbClr val="1C2330"/>
            </a:solidFill>
            <a:prstDash val="solid"/>
          </a:ln>
        </p:spPr>
        <p:txBody>
          <a:bodyPr/>
          <a:lstStyle/>
          <a:p>
            <a:endParaRPr lang="es-PE"/>
          </a:p>
        </p:txBody>
      </p:sp>
      <p:sp>
        <p:nvSpPr>
          <p:cNvPr id="33" name="Shape 31"/>
          <p:cNvSpPr/>
          <p:nvPr/>
        </p:nvSpPr>
        <p:spPr>
          <a:xfrm>
            <a:off x="256032" y="4005072"/>
            <a:ext cx="914400" cy="822960"/>
          </a:xfrm>
          <a:prstGeom prst="rect">
            <a:avLst/>
          </a:prstGeom>
          <a:solidFill>
            <a:srgbClr val="1C2330"/>
          </a:solidFill>
          <a:ln w="12700">
            <a:solidFill>
              <a:srgbClr val="1C2330"/>
            </a:solidFill>
            <a:prstDash val="solid"/>
          </a:ln>
        </p:spPr>
        <p:txBody>
          <a:bodyPr/>
          <a:lstStyle/>
          <a:p>
            <a:endParaRPr lang="es-PE"/>
          </a:p>
        </p:txBody>
      </p:sp>
      <p:sp>
        <p:nvSpPr>
          <p:cNvPr id="34" name="Text 32"/>
          <p:cNvSpPr/>
          <p:nvPr/>
        </p:nvSpPr>
        <p:spPr>
          <a:xfrm>
            <a:off x="274320" y="4005072"/>
            <a:ext cx="896112" cy="822960"/>
          </a:xfrm>
          <a:prstGeom prst="rect">
            <a:avLst/>
          </a:prstGeom>
          <a:noFill/>
          <a:ln/>
        </p:spPr>
        <p:txBody>
          <a:bodyPr wrap="square" lIns="0" tIns="0" rIns="0" bIns="0" rtlCol="0" anchor="ctr"/>
          <a:lstStyle/>
          <a:p>
            <a:pPr marL="0" indent="0" algn="ctr">
              <a:buNone/>
            </a:pPr>
            <a:r>
              <a:rPr lang="en-US" sz="850" b="1" dirty="0">
                <a:solidFill>
                  <a:srgbClr val="D29922"/>
                </a:solidFill>
                <a:latin typeface="Calibri" pitchFamily="34" charset="0"/>
                <a:ea typeface="Calibri" pitchFamily="34" charset="-122"/>
                <a:cs typeface="Calibri" pitchFamily="34" charset="-120"/>
              </a:rPr>
              <a:t>DI CONTAINER</a:t>
            </a:r>
            <a:endParaRPr lang="en-US" sz="850" dirty="0"/>
          </a:p>
        </p:txBody>
      </p:sp>
      <p:sp>
        <p:nvSpPr>
          <p:cNvPr id="35" name="Shape 33"/>
          <p:cNvSpPr/>
          <p:nvPr/>
        </p:nvSpPr>
        <p:spPr>
          <a:xfrm>
            <a:off x="1170432" y="4005072"/>
            <a:ext cx="27432" cy="822960"/>
          </a:xfrm>
          <a:prstGeom prst="rect">
            <a:avLst/>
          </a:prstGeom>
          <a:solidFill>
            <a:srgbClr val="D29922"/>
          </a:solidFill>
          <a:ln w="12700">
            <a:solidFill>
              <a:srgbClr val="D29922"/>
            </a:solidFill>
            <a:prstDash val="solid"/>
          </a:ln>
        </p:spPr>
        <p:txBody>
          <a:bodyPr/>
          <a:lstStyle/>
          <a:p>
            <a:endParaRPr lang="es-PE"/>
          </a:p>
        </p:txBody>
      </p:sp>
      <p:sp>
        <p:nvSpPr>
          <p:cNvPr id="36" name="Text 34"/>
          <p:cNvSpPr/>
          <p:nvPr/>
        </p:nvSpPr>
        <p:spPr>
          <a:xfrm>
            <a:off x="1280160" y="4041648"/>
            <a:ext cx="2999232" cy="237744"/>
          </a:xfrm>
          <a:prstGeom prst="rect">
            <a:avLst/>
          </a:prstGeom>
          <a:noFill/>
          <a:ln/>
        </p:spPr>
        <p:txBody>
          <a:bodyPr wrap="square" lIns="0" tIns="0" rIns="0" bIns="0" rtlCol="0" anchor="ctr"/>
          <a:lstStyle/>
          <a:p>
            <a:pPr marL="0" indent="0" algn="l">
              <a:buNone/>
            </a:pPr>
            <a:r>
              <a:rPr lang="en-US" sz="900" b="1" dirty="0">
                <a:solidFill>
                  <a:srgbClr val="D29922"/>
                </a:solidFill>
                <a:latin typeface="Calibri" pitchFamily="34" charset="0"/>
                <a:ea typeface="Calibri" pitchFamily="34" charset="-122"/>
                <a:cs typeface="Calibri" pitchFamily="34" charset="-120"/>
              </a:rPr>
              <a:t>AddSingleton&lt;&gt; · AddScoped&lt;&gt; — Program.cs</a:t>
            </a:r>
            <a:endParaRPr lang="en-US" sz="900" dirty="0"/>
          </a:p>
        </p:txBody>
      </p:sp>
      <p:sp>
        <p:nvSpPr>
          <p:cNvPr id="37" name="Text 35"/>
          <p:cNvSpPr/>
          <p:nvPr/>
        </p:nvSpPr>
        <p:spPr>
          <a:xfrm>
            <a:off x="1280160" y="4315968"/>
            <a:ext cx="2999232" cy="475488"/>
          </a:xfrm>
          <a:prstGeom prst="rect">
            <a:avLst/>
          </a:prstGeom>
          <a:noFill/>
          <a:ln/>
        </p:spPr>
        <p:txBody>
          <a:bodyPr wrap="square" lIns="0" tIns="0" rIns="0" bIns="0" rtlCol="0" anchor="t"/>
          <a:lstStyle/>
          <a:p>
            <a:pPr marL="0" indent="0" algn="l">
              <a:buNone/>
            </a:pPr>
            <a:r>
              <a:rPr lang="en-US" sz="900" dirty="0">
                <a:solidFill>
                  <a:srgbClr val="8B949E"/>
                </a:solidFill>
                <a:latin typeface="Calibri" pitchFamily="34" charset="0"/>
                <a:ea typeface="Calibri" pitchFamily="34" charset="-122"/>
                <a:cs typeface="Calibri" pitchFamily="34" charset="-120"/>
              </a:rPr>
              <a:t>Sin dependencias duras entre módulos</a:t>
            </a:r>
            <a:endParaRPr lang="en-US" sz="900" dirty="0"/>
          </a:p>
        </p:txBody>
      </p:sp>
      <p:sp>
        <p:nvSpPr>
          <p:cNvPr id="38" name="Shape 36"/>
          <p:cNvSpPr/>
          <p:nvPr/>
        </p:nvSpPr>
        <p:spPr>
          <a:xfrm>
            <a:off x="4617720" y="1261872"/>
            <a:ext cx="4251960" cy="3858768"/>
          </a:xfrm>
          <a:prstGeom prst="rect">
            <a:avLst/>
          </a:prstGeom>
          <a:solidFill>
            <a:srgbClr val="1C2330"/>
          </a:solidFill>
          <a:ln w="12700">
            <a:solidFill>
              <a:srgbClr val="2EA198"/>
            </a:solidFill>
            <a:prstDash val="solid"/>
          </a:ln>
        </p:spPr>
        <p:txBody>
          <a:bodyPr/>
          <a:lstStyle/>
          <a:p>
            <a:endParaRPr lang="es-PE"/>
          </a:p>
        </p:txBody>
      </p:sp>
      <p:sp>
        <p:nvSpPr>
          <p:cNvPr id="39" name="Shape 37"/>
          <p:cNvSpPr/>
          <p:nvPr/>
        </p:nvSpPr>
        <p:spPr>
          <a:xfrm>
            <a:off x="4617720" y="1261872"/>
            <a:ext cx="4251960" cy="237744"/>
          </a:xfrm>
          <a:prstGeom prst="rect">
            <a:avLst/>
          </a:prstGeom>
          <a:solidFill>
            <a:srgbClr val="080C12"/>
          </a:solidFill>
          <a:ln w="12700">
            <a:solidFill>
              <a:srgbClr val="080C12"/>
            </a:solidFill>
            <a:prstDash val="solid"/>
          </a:ln>
        </p:spPr>
        <p:txBody>
          <a:bodyPr/>
          <a:lstStyle/>
          <a:p>
            <a:endParaRPr lang="es-PE"/>
          </a:p>
        </p:txBody>
      </p:sp>
      <p:sp>
        <p:nvSpPr>
          <p:cNvPr id="40" name="Text 38"/>
          <p:cNvSpPr/>
          <p:nvPr/>
        </p:nvSpPr>
        <p:spPr>
          <a:xfrm>
            <a:off x="4709160" y="1261872"/>
            <a:ext cx="320040" cy="237744"/>
          </a:xfrm>
          <a:prstGeom prst="rect">
            <a:avLst/>
          </a:prstGeom>
          <a:noFill/>
          <a:ln/>
        </p:spPr>
        <p:txBody>
          <a:bodyPr wrap="square" lIns="0" tIns="0" rIns="0" bIns="0" rtlCol="0" anchor="ctr"/>
          <a:lstStyle/>
          <a:p>
            <a:pPr marL="0" indent="0" algn="l">
              <a:buNone/>
            </a:pPr>
            <a:r>
              <a:rPr lang="en-US" sz="900" b="1" dirty="0">
                <a:solidFill>
                  <a:srgbClr val="2EA198"/>
                </a:solidFill>
                <a:latin typeface="Calibri" pitchFamily="34" charset="0"/>
                <a:ea typeface="Calibri" pitchFamily="34" charset="-122"/>
                <a:cs typeface="Calibri" pitchFamily="34" charset="-120"/>
              </a:rPr>
              <a:t>C#</a:t>
            </a:r>
            <a:endParaRPr lang="en-US" sz="900" dirty="0"/>
          </a:p>
        </p:txBody>
      </p:sp>
      <p:sp>
        <p:nvSpPr>
          <p:cNvPr id="41" name="Shape 39"/>
          <p:cNvSpPr/>
          <p:nvPr/>
        </p:nvSpPr>
        <p:spPr>
          <a:xfrm>
            <a:off x="5029200" y="1344168"/>
            <a:ext cx="64008" cy="64008"/>
          </a:xfrm>
          <a:prstGeom prst="rect">
            <a:avLst/>
          </a:prstGeom>
          <a:solidFill>
            <a:srgbClr val="F85149"/>
          </a:solidFill>
          <a:ln w="12700">
            <a:solidFill>
              <a:srgbClr val="F85149"/>
            </a:solidFill>
            <a:prstDash val="solid"/>
          </a:ln>
        </p:spPr>
        <p:txBody>
          <a:bodyPr/>
          <a:lstStyle/>
          <a:p>
            <a:endParaRPr lang="es-PE"/>
          </a:p>
        </p:txBody>
      </p:sp>
      <p:sp>
        <p:nvSpPr>
          <p:cNvPr id="42" name="Shape 40"/>
          <p:cNvSpPr/>
          <p:nvPr/>
        </p:nvSpPr>
        <p:spPr>
          <a:xfrm>
            <a:off x="5148072" y="1344168"/>
            <a:ext cx="64008" cy="64008"/>
          </a:xfrm>
          <a:prstGeom prst="rect">
            <a:avLst/>
          </a:prstGeom>
          <a:solidFill>
            <a:srgbClr val="D29922"/>
          </a:solidFill>
          <a:ln w="12700">
            <a:solidFill>
              <a:srgbClr val="D29922"/>
            </a:solidFill>
            <a:prstDash val="solid"/>
          </a:ln>
        </p:spPr>
        <p:txBody>
          <a:bodyPr/>
          <a:lstStyle/>
          <a:p>
            <a:endParaRPr lang="es-PE"/>
          </a:p>
        </p:txBody>
      </p:sp>
      <p:sp>
        <p:nvSpPr>
          <p:cNvPr id="43" name="Shape 41"/>
          <p:cNvSpPr/>
          <p:nvPr/>
        </p:nvSpPr>
        <p:spPr>
          <a:xfrm>
            <a:off x="5266944" y="1344168"/>
            <a:ext cx="64008" cy="64008"/>
          </a:xfrm>
          <a:prstGeom prst="rect">
            <a:avLst/>
          </a:prstGeom>
          <a:solidFill>
            <a:srgbClr val="1DB954"/>
          </a:solidFill>
          <a:ln w="12700">
            <a:solidFill>
              <a:srgbClr val="1DB954"/>
            </a:solidFill>
            <a:prstDash val="solid"/>
          </a:ln>
        </p:spPr>
        <p:txBody>
          <a:bodyPr/>
          <a:lstStyle/>
          <a:p>
            <a:endParaRPr lang="es-PE"/>
          </a:p>
        </p:txBody>
      </p:sp>
      <p:sp>
        <p:nvSpPr>
          <p:cNvPr id="44" name="Text 42"/>
          <p:cNvSpPr/>
          <p:nvPr/>
        </p:nvSpPr>
        <p:spPr>
          <a:xfrm>
            <a:off x="4727448" y="1536192"/>
            <a:ext cx="4069080" cy="3493008"/>
          </a:xfrm>
          <a:prstGeom prst="rect">
            <a:avLst/>
          </a:prstGeom>
          <a:noFill/>
          <a:ln/>
        </p:spPr>
        <p:txBody>
          <a:bodyPr wrap="square" lIns="0" tIns="0" rIns="0" bIns="0" rtlCol="0" anchor="t"/>
          <a:lstStyle/>
          <a:p>
            <a:pPr marL="0" indent="0" algn="l">
              <a:buNone/>
            </a:pPr>
            <a:r>
              <a:rPr lang="en-US" sz="750" dirty="0">
                <a:solidFill>
                  <a:srgbClr val="CDD9E5"/>
                </a:solidFill>
                <a:latin typeface="Consolas" pitchFamily="34" charset="0"/>
                <a:ea typeface="Consolas" pitchFamily="34" charset="-122"/>
                <a:cs typeface="Consolas" pitchFamily="34" charset="-120"/>
              </a:rPr>
              <a:t>// CAPA DE SERVICIOS</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interface ICatalogService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ContenidoSpotify BuscarPorId(string id);</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IEnumerable&lt;ContenidoSpotify&gt;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BuscarPorTipo&lt;T&gt;() where T:ContenidoSpotify;</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interface IReproduccionService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Iniciar(string contId,string usuarioId);</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Pausar(string usuarioId);</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interface INotificacionService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Suscribir(string usuId,string artistaId);</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Notificar(string artistaId, string msg);</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CAPA DE REPOSITORIOS</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public interface IContenidoRepository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ContenidoSpotify ObtenerPorId(string id);</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void Guardar(ContenidoSpotify c);</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IEnumerable&lt;ContenidoSpotify&gt; ObtenerTodos();</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Impl. InMemory/SQL/MongoDB se intercambia</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sin modificar el dominio (OCP + DIP)</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DI CONTAINER — Program.cs</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builder.Services</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.AddSingleton&lt;IContenidoRepository,</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ContenidoRepositoryInMemory&gt;()</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.AddScoped&lt;IReproduccionService,</a:t>
            </a:r>
            <a:endParaRPr lang="en-US" sz="750" dirty="0"/>
          </a:p>
          <a:p>
            <a:pPr marL="0" indent="0" algn="l">
              <a:buNone/>
            </a:pPr>
            <a:r>
              <a:rPr lang="en-US" sz="750" dirty="0">
                <a:solidFill>
                  <a:srgbClr val="CDD9E5"/>
                </a:solidFill>
                <a:latin typeface="Consolas" pitchFamily="34" charset="0"/>
                <a:ea typeface="Consolas" pitchFamily="34" charset="-122"/>
                <a:cs typeface="Consolas" pitchFamily="34" charset="-120"/>
              </a:rPr>
              <a:t>//      ReproduccionService&gt;();</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DB954"/>
          </a:solidFill>
          <a:ln w="12700">
            <a:solidFill>
              <a:srgbClr val="1DB954"/>
            </a:solidFill>
            <a:prstDash val="solid"/>
          </a:ln>
        </p:spPr>
        <p:txBody>
          <a:bodyPr/>
          <a:lstStyle/>
          <a:p>
            <a:endParaRPr lang="es-PE"/>
          </a:p>
        </p:txBody>
      </p:sp>
      <p:sp>
        <p:nvSpPr>
          <p:cNvPr id="3" name="Shape 1"/>
          <p:cNvSpPr/>
          <p:nvPr/>
        </p:nvSpPr>
        <p:spPr>
          <a:xfrm>
            <a:off x="109728" y="0"/>
            <a:ext cx="9034272" cy="749808"/>
          </a:xfrm>
          <a:prstGeom prst="rect">
            <a:avLst/>
          </a:prstGeom>
          <a:solidFill>
            <a:srgbClr val="161B22"/>
          </a:solidFill>
          <a:ln w="12700">
            <a:solidFill>
              <a:srgbClr val="161B22"/>
            </a:solidFill>
            <a:prstDash val="solid"/>
          </a:ln>
        </p:spPr>
        <p:txBody>
          <a:bodyPr/>
          <a:lstStyle/>
          <a:p>
            <a:endParaRPr lang="es-PE"/>
          </a:p>
        </p:txBody>
      </p:sp>
      <p:sp>
        <p:nvSpPr>
          <p:cNvPr id="4" name="Shape 2"/>
          <p:cNvSpPr/>
          <p:nvPr/>
        </p:nvSpPr>
        <p:spPr>
          <a:xfrm>
            <a:off x="109728" y="749808"/>
            <a:ext cx="9034272" cy="36576"/>
          </a:xfrm>
          <a:prstGeom prst="rect">
            <a:avLst/>
          </a:prstGeom>
          <a:solidFill>
            <a:srgbClr val="1DB954"/>
          </a:solidFill>
          <a:ln w="12700">
            <a:solidFill>
              <a:srgbClr val="1DB954"/>
            </a:solidFill>
            <a:prstDash val="solid"/>
          </a:ln>
        </p:spPr>
        <p:txBody>
          <a:bodyPr/>
          <a:lstStyle/>
          <a:p>
            <a:endParaRPr lang="es-PE"/>
          </a:p>
        </p:txBody>
      </p:sp>
      <p:sp>
        <p:nvSpPr>
          <p:cNvPr id="5" name="Text 3"/>
          <p:cNvSpPr/>
          <p:nvPr/>
        </p:nvSpPr>
        <p:spPr>
          <a:xfrm>
            <a:off x="320040" y="0"/>
            <a:ext cx="8686800" cy="749808"/>
          </a:xfrm>
          <a:prstGeom prst="rect">
            <a:avLst/>
          </a:prstGeom>
          <a:noFill/>
          <a:ln/>
        </p:spPr>
        <p:txBody>
          <a:bodyPr wrap="square" lIns="0" tIns="0" rIns="0" bIns="0" rtlCol="0" anchor="ctr"/>
          <a:lstStyle/>
          <a:p>
            <a:pPr marL="0" indent="0" algn="l">
              <a:buNone/>
            </a:pPr>
            <a:r>
              <a:rPr lang="en-US" sz="1700" b="1" dirty="0">
                <a:solidFill>
                  <a:srgbClr val="FFFFFF"/>
                </a:solidFill>
                <a:latin typeface="Trebuchet MS" pitchFamily="34" charset="0"/>
                <a:ea typeface="Trebuchet MS" pitchFamily="34" charset="-122"/>
                <a:cs typeface="Trebuchet MS" pitchFamily="34" charset="-120"/>
              </a:rPr>
              <a:t>Pregunta 8 — Conclusiones Individuales</a:t>
            </a:r>
            <a:endParaRPr lang="en-US" sz="1700" dirty="0"/>
          </a:p>
        </p:txBody>
      </p:sp>
      <p:sp>
        <p:nvSpPr>
          <p:cNvPr id="6" name="Shape 4"/>
          <p:cNvSpPr/>
          <p:nvPr/>
        </p:nvSpPr>
        <p:spPr>
          <a:xfrm>
            <a:off x="256032" y="932688"/>
            <a:ext cx="8686800" cy="1828800"/>
          </a:xfrm>
          <a:prstGeom prst="rect">
            <a:avLst/>
          </a:prstGeom>
          <a:solidFill>
            <a:srgbClr val="161B22"/>
          </a:solidFill>
          <a:ln w="12700">
            <a:solidFill>
              <a:srgbClr val="30363D"/>
            </a:solidFill>
            <a:prstDash val="solid"/>
          </a:ln>
        </p:spPr>
        <p:txBody>
          <a:bodyPr/>
          <a:lstStyle/>
          <a:p>
            <a:endParaRPr lang="es-PE"/>
          </a:p>
        </p:txBody>
      </p:sp>
      <p:sp>
        <p:nvSpPr>
          <p:cNvPr id="7" name="Shape 5"/>
          <p:cNvSpPr/>
          <p:nvPr/>
        </p:nvSpPr>
        <p:spPr>
          <a:xfrm>
            <a:off x="256032" y="932688"/>
            <a:ext cx="91440" cy="1828800"/>
          </a:xfrm>
          <a:prstGeom prst="rect">
            <a:avLst/>
          </a:prstGeom>
          <a:solidFill>
            <a:srgbClr val="1DB954"/>
          </a:solidFill>
          <a:ln w="12700">
            <a:solidFill>
              <a:srgbClr val="1DB954"/>
            </a:solidFill>
            <a:prstDash val="solid"/>
          </a:ln>
        </p:spPr>
        <p:txBody>
          <a:bodyPr/>
          <a:lstStyle/>
          <a:p>
            <a:endParaRPr lang="es-PE"/>
          </a:p>
        </p:txBody>
      </p:sp>
      <p:sp>
        <p:nvSpPr>
          <p:cNvPr id="8" name="Text 6"/>
          <p:cNvSpPr/>
          <p:nvPr/>
        </p:nvSpPr>
        <p:spPr>
          <a:xfrm>
            <a:off x="438912" y="1024128"/>
            <a:ext cx="8321040" cy="256032"/>
          </a:xfrm>
          <a:prstGeom prst="rect">
            <a:avLst/>
          </a:prstGeom>
          <a:noFill/>
          <a:ln/>
        </p:spPr>
        <p:txBody>
          <a:bodyPr wrap="square" lIns="0" tIns="0" rIns="0" bIns="0" rtlCol="0" anchor="t"/>
          <a:lstStyle/>
          <a:p>
            <a:pPr marL="0" indent="0" algn="l">
              <a:buNone/>
            </a:pPr>
            <a:r>
              <a:rPr lang="en-US" sz="1200" b="1" dirty="0">
                <a:solidFill>
                  <a:srgbClr val="1DB954"/>
                </a:solidFill>
                <a:latin typeface="Trebuchet MS" pitchFamily="34" charset="0"/>
                <a:ea typeface="Trebuchet MS" pitchFamily="34" charset="-122"/>
                <a:cs typeface="Trebuchet MS" pitchFamily="34" charset="-120"/>
              </a:rPr>
              <a:t>Conclusión 1</a:t>
            </a:r>
            <a:endParaRPr lang="en-US" sz="1200" dirty="0"/>
          </a:p>
        </p:txBody>
      </p:sp>
      <p:sp>
        <p:nvSpPr>
          <p:cNvPr id="9" name="Text 7"/>
          <p:cNvSpPr/>
          <p:nvPr/>
        </p:nvSpPr>
        <p:spPr>
          <a:xfrm>
            <a:off x="438912" y="1335024"/>
            <a:ext cx="8302752" cy="1078992"/>
          </a:xfrm>
          <a:prstGeom prst="rect">
            <a:avLst/>
          </a:prstGeom>
          <a:noFill/>
          <a:ln/>
        </p:spPr>
        <p:txBody>
          <a:bodyPr wrap="square" lIns="0" tIns="0" rIns="0" bIns="0" rtlCol="0" anchor="t"/>
          <a:lstStyle/>
          <a:p>
            <a:pPr marL="0" indent="0" algn="l">
              <a:buNone/>
            </a:pPr>
            <a:r>
              <a:rPr lang="en-US" sz="1050" dirty="0">
                <a:solidFill>
                  <a:srgbClr val="CDD9E5"/>
                </a:solidFill>
                <a:latin typeface="Calibri" pitchFamily="34" charset="0"/>
                <a:ea typeface="Calibri" pitchFamily="34" charset="-122"/>
                <a:cs typeface="Calibri" pitchFamily="34" charset="-120"/>
              </a:rPr>
              <a:t>A través de este trabajo comprendí que los principios SOLID no son reglas aisladas, sino que se complementan entre sí. Aplicarlos en Spotify me permitió ver cómo separar responsabilidades (SRP) evita refactorizaciones costosas. El patrón Observer resultó especialmente revelador: modelar la relación artista-seguidor así es mucho más limpio y escalable que usar listas acopladas. El diseño OO bien aplicado reduce la deuda técnica y facilita el trabajo en equipo.</a:t>
            </a:r>
            <a:endParaRPr lang="en-US" sz="1050" dirty="0"/>
          </a:p>
        </p:txBody>
      </p:sp>
      <p:sp>
        <p:nvSpPr>
          <p:cNvPr id="10" name="Shape 8"/>
          <p:cNvSpPr/>
          <p:nvPr/>
        </p:nvSpPr>
        <p:spPr>
          <a:xfrm>
            <a:off x="438912" y="2487168"/>
            <a:ext cx="621792" cy="219456"/>
          </a:xfrm>
          <a:prstGeom prst="rect">
            <a:avLst/>
          </a:prstGeom>
          <a:solidFill>
            <a:srgbClr val="1C2330"/>
          </a:solidFill>
          <a:ln w="12700">
            <a:solidFill>
              <a:srgbClr val="1DB954"/>
            </a:solidFill>
            <a:prstDash val="solid"/>
          </a:ln>
        </p:spPr>
        <p:txBody>
          <a:bodyPr/>
          <a:lstStyle/>
          <a:p>
            <a:endParaRPr lang="es-PE"/>
          </a:p>
        </p:txBody>
      </p:sp>
      <p:sp>
        <p:nvSpPr>
          <p:cNvPr id="11" name="Text 9"/>
          <p:cNvSpPr/>
          <p:nvPr/>
        </p:nvSpPr>
        <p:spPr>
          <a:xfrm>
            <a:off x="530352" y="2487168"/>
            <a:ext cx="512064" cy="219456"/>
          </a:xfrm>
          <a:prstGeom prst="rect">
            <a:avLst/>
          </a:prstGeom>
          <a:noFill/>
          <a:ln/>
        </p:spPr>
        <p:txBody>
          <a:bodyPr wrap="square" lIns="0" tIns="0" rIns="0" bIns="0" rtlCol="0" anchor="ctr"/>
          <a:lstStyle/>
          <a:p>
            <a:pPr marL="0" indent="0" algn="l">
              <a:buNone/>
            </a:pPr>
            <a:r>
              <a:rPr lang="en-US" sz="850" b="1" dirty="0">
                <a:solidFill>
                  <a:srgbClr val="1DB954"/>
                </a:solidFill>
                <a:latin typeface="Calibri" pitchFamily="34" charset="0"/>
                <a:ea typeface="Calibri" pitchFamily="34" charset="-122"/>
                <a:cs typeface="Calibri" pitchFamily="34" charset="-120"/>
              </a:rPr>
              <a:t>SOLID</a:t>
            </a:r>
            <a:endParaRPr lang="en-US" sz="850" dirty="0"/>
          </a:p>
        </p:txBody>
      </p:sp>
      <p:sp>
        <p:nvSpPr>
          <p:cNvPr id="12" name="Shape 10"/>
          <p:cNvSpPr/>
          <p:nvPr/>
        </p:nvSpPr>
        <p:spPr>
          <a:xfrm>
            <a:off x="1152144" y="2487168"/>
            <a:ext cx="841248" cy="219456"/>
          </a:xfrm>
          <a:prstGeom prst="rect">
            <a:avLst/>
          </a:prstGeom>
          <a:solidFill>
            <a:srgbClr val="1C2330"/>
          </a:solidFill>
          <a:ln w="12700">
            <a:solidFill>
              <a:srgbClr val="1DB954"/>
            </a:solidFill>
            <a:prstDash val="solid"/>
          </a:ln>
        </p:spPr>
        <p:txBody>
          <a:bodyPr/>
          <a:lstStyle/>
          <a:p>
            <a:endParaRPr lang="es-PE"/>
          </a:p>
        </p:txBody>
      </p:sp>
      <p:sp>
        <p:nvSpPr>
          <p:cNvPr id="13" name="Text 11"/>
          <p:cNvSpPr/>
          <p:nvPr/>
        </p:nvSpPr>
        <p:spPr>
          <a:xfrm>
            <a:off x="1243584" y="2487168"/>
            <a:ext cx="731520" cy="219456"/>
          </a:xfrm>
          <a:prstGeom prst="rect">
            <a:avLst/>
          </a:prstGeom>
          <a:noFill/>
          <a:ln/>
        </p:spPr>
        <p:txBody>
          <a:bodyPr wrap="square" lIns="0" tIns="0" rIns="0" bIns="0" rtlCol="0" anchor="ctr"/>
          <a:lstStyle/>
          <a:p>
            <a:pPr marL="0" indent="0" algn="l">
              <a:buNone/>
            </a:pPr>
            <a:r>
              <a:rPr lang="en-US" sz="850" b="1" dirty="0">
                <a:solidFill>
                  <a:srgbClr val="1DB954"/>
                </a:solidFill>
                <a:latin typeface="Calibri" pitchFamily="34" charset="0"/>
                <a:ea typeface="Calibri" pitchFamily="34" charset="-122"/>
                <a:cs typeface="Calibri" pitchFamily="34" charset="-120"/>
              </a:rPr>
              <a:t>Observer</a:t>
            </a:r>
            <a:endParaRPr lang="en-US" sz="850" dirty="0"/>
          </a:p>
        </p:txBody>
      </p:sp>
      <p:sp>
        <p:nvSpPr>
          <p:cNvPr id="14" name="Shape 12"/>
          <p:cNvSpPr/>
          <p:nvPr/>
        </p:nvSpPr>
        <p:spPr>
          <a:xfrm>
            <a:off x="2084832" y="2487168"/>
            <a:ext cx="475488" cy="219456"/>
          </a:xfrm>
          <a:prstGeom prst="rect">
            <a:avLst/>
          </a:prstGeom>
          <a:solidFill>
            <a:srgbClr val="1C2330"/>
          </a:solidFill>
          <a:ln w="12700">
            <a:solidFill>
              <a:srgbClr val="1DB954"/>
            </a:solidFill>
            <a:prstDash val="solid"/>
          </a:ln>
        </p:spPr>
        <p:txBody>
          <a:bodyPr/>
          <a:lstStyle/>
          <a:p>
            <a:endParaRPr lang="es-PE"/>
          </a:p>
        </p:txBody>
      </p:sp>
      <p:sp>
        <p:nvSpPr>
          <p:cNvPr id="15" name="Text 13"/>
          <p:cNvSpPr/>
          <p:nvPr/>
        </p:nvSpPr>
        <p:spPr>
          <a:xfrm>
            <a:off x="2176272" y="2487168"/>
            <a:ext cx="365760" cy="219456"/>
          </a:xfrm>
          <a:prstGeom prst="rect">
            <a:avLst/>
          </a:prstGeom>
          <a:noFill/>
          <a:ln/>
        </p:spPr>
        <p:txBody>
          <a:bodyPr wrap="square" lIns="0" tIns="0" rIns="0" bIns="0" rtlCol="0" anchor="ctr"/>
          <a:lstStyle/>
          <a:p>
            <a:pPr marL="0" indent="0" algn="l">
              <a:buNone/>
            </a:pPr>
            <a:r>
              <a:rPr lang="en-US" sz="850" b="1" dirty="0">
                <a:solidFill>
                  <a:srgbClr val="1DB954"/>
                </a:solidFill>
                <a:latin typeface="Calibri" pitchFamily="34" charset="0"/>
                <a:ea typeface="Calibri" pitchFamily="34" charset="-122"/>
                <a:cs typeface="Calibri" pitchFamily="34" charset="-120"/>
              </a:rPr>
              <a:t>SRP</a:t>
            </a:r>
            <a:endParaRPr lang="en-US" sz="850" dirty="0"/>
          </a:p>
        </p:txBody>
      </p:sp>
      <p:sp>
        <p:nvSpPr>
          <p:cNvPr id="16" name="Shape 14"/>
          <p:cNvSpPr/>
          <p:nvPr/>
        </p:nvSpPr>
        <p:spPr>
          <a:xfrm>
            <a:off x="2651760" y="2487168"/>
            <a:ext cx="1207008" cy="219456"/>
          </a:xfrm>
          <a:prstGeom prst="rect">
            <a:avLst/>
          </a:prstGeom>
          <a:solidFill>
            <a:srgbClr val="1C2330"/>
          </a:solidFill>
          <a:ln w="12700">
            <a:solidFill>
              <a:srgbClr val="1DB954"/>
            </a:solidFill>
            <a:prstDash val="solid"/>
          </a:ln>
        </p:spPr>
        <p:txBody>
          <a:bodyPr/>
          <a:lstStyle/>
          <a:p>
            <a:endParaRPr lang="es-PE"/>
          </a:p>
        </p:txBody>
      </p:sp>
      <p:sp>
        <p:nvSpPr>
          <p:cNvPr id="17" name="Text 15"/>
          <p:cNvSpPr/>
          <p:nvPr/>
        </p:nvSpPr>
        <p:spPr>
          <a:xfrm>
            <a:off x="2743200" y="2487168"/>
            <a:ext cx="1097280" cy="219456"/>
          </a:xfrm>
          <a:prstGeom prst="rect">
            <a:avLst/>
          </a:prstGeom>
          <a:noFill/>
          <a:ln/>
        </p:spPr>
        <p:txBody>
          <a:bodyPr wrap="square" lIns="0" tIns="0" rIns="0" bIns="0" rtlCol="0" anchor="ctr"/>
          <a:lstStyle/>
          <a:p>
            <a:pPr marL="0" indent="0" algn="l">
              <a:buNone/>
            </a:pPr>
            <a:r>
              <a:rPr lang="en-US" sz="850" b="1" dirty="0">
                <a:solidFill>
                  <a:srgbClr val="1DB954"/>
                </a:solidFill>
                <a:latin typeface="Calibri" pitchFamily="34" charset="0"/>
                <a:ea typeface="Calibri" pitchFamily="34" charset="-122"/>
                <a:cs typeface="Calibri" pitchFamily="34" charset="-120"/>
              </a:rPr>
              <a:t>Deuda técnica</a:t>
            </a:r>
            <a:endParaRPr lang="en-US" sz="850" dirty="0"/>
          </a:p>
        </p:txBody>
      </p:sp>
      <p:sp>
        <p:nvSpPr>
          <p:cNvPr id="18" name="Shape 16"/>
          <p:cNvSpPr/>
          <p:nvPr/>
        </p:nvSpPr>
        <p:spPr>
          <a:xfrm>
            <a:off x="256032" y="2907792"/>
            <a:ext cx="8686800" cy="1828800"/>
          </a:xfrm>
          <a:prstGeom prst="rect">
            <a:avLst/>
          </a:prstGeom>
          <a:solidFill>
            <a:srgbClr val="161B22"/>
          </a:solidFill>
          <a:ln w="12700">
            <a:solidFill>
              <a:srgbClr val="30363D"/>
            </a:solidFill>
            <a:prstDash val="solid"/>
          </a:ln>
        </p:spPr>
        <p:txBody>
          <a:bodyPr/>
          <a:lstStyle/>
          <a:p>
            <a:endParaRPr lang="es-PE"/>
          </a:p>
        </p:txBody>
      </p:sp>
      <p:sp>
        <p:nvSpPr>
          <p:cNvPr id="19" name="Shape 17"/>
          <p:cNvSpPr/>
          <p:nvPr/>
        </p:nvSpPr>
        <p:spPr>
          <a:xfrm>
            <a:off x="256032" y="2907792"/>
            <a:ext cx="91440" cy="1828800"/>
          </a:xfrm>
          <a:prstGeom prst="rect">
            <a:avLst/>
          </a:prstGeom>
          <a:solidFill>
            <a:srgbClr val="388BFD"/>
          </a:solidFill>
          <a:ln w="12700">
            <a:solidFill>
              <a:srgbClr val="388BFD"/>
            </a:solidFill>
            <a:prstDash val="solid"/>
          </a:ln>
        </p:spPr>
        <p:txBody>
          <a:bodyPr/>
          <a:lstStyle/>
          <a:p>
            <a:endParaRPr lang="es-PE"/>
          </a:p>
        </p:txBody>
      </p:sp>
      <p:sp>
        <p:nvSpPr>
          <p:cNvPr id="20" name="Text 18"/>
          <p:cNvSpPr/>
          <p:nvPr/>
        </p:nvSpPr>
        <p:spPr>
          <a:xfrm>
            <a:off x="438912" y="2999232"/>
            <a:ext cx="8321040" cy="256032"/>
          </a:xfrm>
          <a:prstGeom prst="rect">
            <a:avLst/>
          </a:prstGeom>
          <a:noFill/>
          <a:ln/>
        </p:spPr>
        <p:txBody>
          <a:bodyPr wrap="square" lIns="0" tIns="0" rIns="0" bIns="0" rtlCol="0" anchor="t"/>
          <a:lstStyle/>
          <a:p>
            <a:pPr marL="0" indent="0" algn="l">
              <a:buNone/>
            </a:pPr>
            <a:r>
              <a:rPr lang="en-US" sz="1200" b="1" dirty="0">
                <a:solidFill>
                  <a:srgbClr val="388BFD"/>
                </a:solidFill>
                <a:latin typeface="Trebuchet MS" pitchFamily="34" charset="0"/>
                <a:ea typeface="Trebuchet MS" pitchFamily="34" charset="-122"/>
                <a:cs typeface="Trebuchet MS" pitchFamily="34" charset="-120"/>
              </a:rPr>
              <a:t>Conclusión 2</a:t>
            </a:r>
            <a:endParaRPr lang="en-US" sz="1200" dirty="0"/>
          </a:p>
        </p:txBody>
      </p:sp>
      <p:sp>
        <p:nvSpPr>
          <p:cNvPr id="21" name="Text 19"/>
          <p:cNvSpPr/>
          <p:nvPr/>
        </p:nvSpPr>
        <p:spPr>
          <a:xfrm>
            <a:off x="438912" y="3310128"/>
            <a:ext cx="8302752" cy="1078992"/>
          </a:xfrm>
          <a:prstGeom prst="rect">
            <a:avLst/>
          </a:prstGeom>
          <a:noFill/>
          <a:ln/>
        </p:spPr>
        <p:txBody>
          <a:bodyPr wrap="square" lIns="0" tIns="0" rIns="0" bIns="0" rtlCol="0" anchor="t"/>
          <a:lstStyle/>
          <a:p>
            <a:pPr marL="0" indent="0" algn="l">
              <a:buNone/>
            </a:pPr>
            <a:r>
              <a:rPr lang="en-US" sz="1050" dirty="0">
                <a:solidFill>
                  <a:srgbClr val="CDD9E5"/>
                </a:solidFill>
                <a:latin typeface="Calibri" pitchFamily="34" charset="0"/>
                <a:ea typeface="Calibri" pitchFamily="34" charset="-122"/>
                <a:cs typeface="Calibri" pitchFamily="34" charset="-120"/>
              </a:rPr>
              <a:t>En este trabajo entendí que aplicar los principios SOLID no es solo teoría, sino algo clave para hacer un código más ordenado y mantenible. Al relacionarlo con Spotify, vi que usar Observer y Factory hace el sistema más flexible sin rehacer todo. También quedó claro que interfaces y clases abstractas usadas correctamente permiten que el programa crezca sin volverse complicado.</a:t>
            </a:r>
            <a:endParaRPr lang="en-US" sz="1050" dirty="0"/>
          </a:p>
        </p:txBody>
      </p:sp>
      <p:sp>
        <p:nvSpPr>
          <p:cNvPr id="22" name="Shape 20"/>
          <p:cNvSpPr/>
          <p:nvPr/>
        </p:nvSpPr>
        <p:spPr>
          <a:xfrm>
            <a:off x="438912" y="4462272"/>
            <a:ext cx="841248" cy="219456"/>
          </a:xfrm>
          <a:prstGeom prst="rect">
            <a:avLst/>
          </a:prstGeom>
          <a:solidFill>
            <a:srgbClr val="1C2330"/>
          </a:solidFill>
          <a:ln w="12700">
            <a:solidFill>
              <a:srgbClr val="388BFD"/>
            </a:solidFill>
            <a:prstDash val="solid"/>
          </a:ln>
        </p:spPr>
        <p:txBody>
          <a:bodyPr/>
          <a:lstStyle/>
          <a:p>
            <a:endParaRPr lang="es-PE"/>
          </a:p>
        </p:txBody>
      </p:sp>
      <p:sp>
        <p:nvSpPr>
          <p:cNvPr id="23" name="Text 21"/>
          <p:cNvSpPr/>
          <p:nvPr/>
        </p:nvSpPr>
        <p:spPr>
          <a:xfrm>
            <a:off x="530352" y="4462272"/>
            <a:ext cx="731520" cy="219456"/>
          </a:xfrm>
          <a:prstGeom prst="rect">
            <a:avLst/>
          </a:prstGeom>
          <a:noFill/>
          <a:ln/>
        </p:spPr>
        <p:txBody>
          <a:bodyPr wrap="square" lIns="0" tIns="0" rIns="0" bIns="0" rtlCol="0" anchor="ctr"/>
          <a:lstStyle/>
          <a:p>
            <a:pPr marL="0" indent="0" algn="l">
              <a:buNone/>
            </a:pPr>
            <a:r>
              <a:rPr lang="en-US" sz="850" b="1" dirty="0">
                <a:solidFill>
                  <a:srgbClr val="388BFD"/>
                </a:solidFill>
                <a:latin typeface="Calibri" pitchFamily="34" charset="0"/>
                <a:ea typeface="Calibri" pitchFamily="34" charset="-122"/>
                <a:cs typeface="Calibri" pitchFamily="34" charset="-120"/>
              </a:rPr>
              <a:t>Observer</a:t>
            </a:r>
            <a:endParaRPr lang="en-US" sz="850" dirty="0"/>
          </a:p>
        </p:txBody>
      </p:sp>
      <p:sp>
        <p:nvSpPr>
          <p:cNvPr id="24" name="Shape 22"/>
          <p:cNvSpPr/>
          <p:nvPr/>
        </p:nvSpPr>
        <p:spPr>
          <a:xfrm>
            <a:off x="1371600" y="4462272"/>
            <a:ext cx="768096" cy="219456"/>
          </a:xfrm>
          <a:prstGeom prst="rect">
            <a:avLst/>
          </a:prstGeom>
          <a:solidFill>
            <a:srgbClr val="1C2330"/>
          </a:solidFill>
          <a:ln w="12700">
            <a:solidFill>
              <a:srgbClr val="388BFD"/>
            </a:solidFill>
            <a:prstDash val="solid"/>
          </a:ln>
        </p:spPr>
        <p:txBody>
          <a:bodyPr/>
          <a:lstStyle/>
          <a:p>
            <a:endParaRPr lang="es-PE"/>
          </a:p>
        </p:txBody>
      </p:sp>
      <p:sp>
        <p:nvSpPr>
          <p:cNvPr id="25" name="Text 23"/>
          <p:cNvSpPr/>
          <p:nvPr/>
        </p:nvSpPr>
        <p:spPr>
          <a:xfrm>
            <a:off x="1463040" y="4462272"/>
            <a:ext cx="658368" cy="219456"/>
          </a:xfrm>
          <a:prstGeom prst="rect">
            <a:avLst/>
          </a:prstGeom>
          <a:noFill/>
          <a:ln/>
        </p:spPr>
        <p:txBody>
          <a:bodyPr wrap="square" lIns="0" tIns="0" rIns="0" bIns="0" rtlCol="0" anchor="ctr"/>
          <a:lstStyle/>
          <a:p>
            <a:pPr marL="0" indent="0" algn="l">
              <a:buNone/>
            </a:pPr>
            <a:r>
              <a:rPr lang="en-US" sz="850" b="1" dirty="0">
                <a:solidFill>
                  <a:srgbClr val="388BFD"/>
                </a:solidFill>
                <a:latin typeface="Calibri" pitchFamily="34" charset="0"/>
                <a:ea typeface="Calibri" pitchFamily="34" charset="-122"/>
                <a:cs typeface="Calibri" pitchFamily="34" charset="-120"/>
              </a:rPr>
              <a:t>Factory</a:t>
            </a:r>
            <a:endParaRPr lang="en-US" sz="850" dirty="0"/>
          </a:p>
        </p:txBody>
      </p:sp>
      <p:sp>
        <p:nvSpPr>
          <p:cNvPr id="26" name="Shape 24"/>
          <p:cNvSpPr/>
          <p:nvPr/>
        </p:nvSpPr>
        <p:spPr>
          <a:xfrm>
            <a:off x="2231136" y="4462272"/>
            <a:ext cx="987552" cy="219456"/>
          </a:xfrm>
          <a:prstGeom prst="rect">
            <a:avLst/>
          </a:prstGeom>
          <a:solidFill>
            <a:srgbClr val="1C2330"/>
          </a:solidFill>
          <a:ln w="12700">
            <a:solidFill>
              <a:srgbClr val="388BFD"/>
            </a:solidFill>
            <a:prstDash val="solid"/>
          </a:ln>
        </p:spPr>
        <p:txBody>
          <a:bodyPr/>
          <a:lstStyle/>
          <a:p>
            <a:endParaRPr lang="es-PE"/>
          </a:p>
        </p:txBody>
      </p:sp>
      <p:sp>
        <p:nvSpPr>
          <p:cNvPr id="27" name="Text 25"/>
          <p:cNvSpPr/>
          <p:nvPr/>
        </p:nvSpPr>
        <p:spPr>
          <a:xfrm>
            <a:off x="2322576" y="4462272"/>
            <a:ext cx="877824" cy="219456"/>
          </a:xfrm>
          <a:prstGeom prst="rect">
            <a:avLst/>
          </a:prstGeom>
          <a:noFill/>
          <a:ln/>
        </p:spPr>
        <p:txBody>
          <a:bodyPr wrap="square" lIns="0" tIns="0" rIns="0" bIns="0" rtlCol="0" anchor="ctr"/>
          <a:lstStyle/>
          <a:p>
            <a:pPr marL="0" indent="0" algn="l">
              <a:buNone/>
            </a:pPr>
            <a:r>
              <a:rPr lang="en-US" sz="850" b="1" dirty="0">
                <a:solidFill>
                  <a:srgbClr val="388BFD"/>
                </a:solidFill>
                <a:latin typeface="Calibri" pitchFamily="34" charset="0"/>
                <a:ea typeface="Calibri" pitchFamily="34" charset="-122"/>
                <a:cs typeface="Calibri" pitchFamily="34" charset="-120"/>
              </a:rPr>
              <a:t>Interfaces</a:t>
            </a:r>
            <a:endParaRPr lang="en-US" sz="850" dirty="0"/>
          </a:p>
        </p:txBody>
      </p:sp>
      <p:sp>
        <p:nvSpPr>
          <p:cNvPr id="28" name="Shape 26"/>
          <p:cNvSpPr/>
          <p:nvPr/>
        </p:nvSpPr>
        <p:spPr>
          <a:xfrm>
            <a:off x="3310128" y="4462272"/>
            <a:ext cx="1207008" cy="219456"/>
          </a:xfrm>
          <a:prstGeom prst="rect">
            <a:avLst/>
          </a:prstGeom>
          <a:solidFill>
            <a:srgbClr val="1C2330"/>
          </a:solidFill>
          <a:ln w="12700">
            <a:solidFill>
              <a:srgbClr val="388BFD"/>
            </a:solidFill>
            <a:prstDash val="solid"/>
          </a:ln>
        </p:spPr>
        <p:txBody>
          <a:bodyPr/>
          <a:lstStyle/>
          <a:p>
            <a:endParaRPr lang="es-PE"/>
          </a:p>
        </p:txBody>
      </p:sp>
      <p:sp>
        <p:nvSpPr>
          <p:cNvPr id="29" name="Text 27"/>
          <p:cNvSpPr/>
          <p:nvPr/>
        </p:nvSpPr>
        <p:spPr>
          <a:xfrm>
            <a:off x="3401568" y="4462272"/>
            <a:ext cx="1097280" cy="219456"/>
          </a:xfrm>
          <a:prstGeom prst="rect">
            <a:avLst/>
          </a:prstGeom>
          <a:noFill/>
          <a:ln/>
        </p:spPr>
        <p:txBody>
          <a:bodyPr wrap="square" lIns="0" tIns="0" rIns="0" bIns="0" rtlCol="0" anchor="ctr"/>
          <a:lstStyle/>
          <a:p>
            <a:pPr marL="0" indent="0" algn="l">
              <a:buNone/>
            </a:pPr>
            <a:r>
              <a:rPr lang="en-US" sz="850" b="1" dirty="0">
                <a:solidFill>
                  <a:srgbClr val="388BFD"/>
                </a:solidFill>
                <a:latin typeface="Calibri" pitchFamily="34" charset="0"/>
                <a:ea typeface="Calibri" pitchFamily="34" charset="-122"/>
                <a:cs typeface="Calibri" pitchFamily="34" charset="-120"/>
              </a:rPr>
              <a:t>Escalabilidad</a:t>
            </a:r>
            <a:endParaRPr lang="en-US" sz="850" dirty="0"/>
          </a:p>
        </p:txBody>
      </p:sp>
      <p:sp>
        <p:nvSpPr>
          <p:cNvPr id="30" name="Shape 28"/>
          <p:cNvSpPr/>
          <p:nvPr/>
        </p:nvSpPr>
        <p:spPr>
          <a:xfrm>
            <a:off x="247650" y="4791456"/>
            <a:ext cx="8686800" cy="274320"/>
          </a:xfrm>
          <a:prstGeom prst="rect">
            <a:avLst/>
          </a:prstGeom>
          <a:solidFill>
            <a:srgbClr val="0A5C2A"/>
          </a:solidFill>
          <a:ln w="12700">
            <a:solidFill>
              <a:srgbClr val="1DB954"/>
            </a:solidFill>
            <a:prstDash val="solid"/>
          </a:ln>
        </p:spPr>
        <p:txBody>
          <a:bodyPr/>
          <a:lstStyle/>
          <a:p>
            <a:endParaRPr lang="es-PE"/>
          </a:p>
        </p:txBody>
      </p:sp>
      <p:sp>
        <p:nvSpPr>
          <p:cNvPr id="31" name="Text 29"/>
          <p:cNvSpPr/>
          <p:nvPr/>
        </p:nvSpPr>
        <p:spPr>
          <a:xfrm>
            <a:off x="335661" y="4791456"/>
            <a:ext cx="8412480" cy="274320"/>
          </a:xfrm>
          <a:prstGeom prst="rect">
            <a:avLst/>
          </a:prstGeom>
          <a:noFill/>
          <a:ln/>
        </p:spPr>
        <p:txBody>
          <a:bodyPr wrap="square" lIns="0" tIns="0" rIns="0" bIns="0" rtlCol="0" anchor="ctr"/>
          <a:lstStyle/>
          <a:p>
            <a:pPr marL="0" indent="0" algn="l">
              <a:buNone/>
            </a:pPr>
            <a:r>
              <a:rPr lang="en-US" sz="1000" i="1" dirty="0">
                <a:solidFill>
                  <a:srgbClr val="CDD9E5"/>
                </a:solidFill>
                <a:latin typeface="Calibri" pitchFamily="34" charset="0"/>
                <a:ea typeface="Calibri" pitchFamily="34" charset="-122"/>
                <a:cs typeface="Calibri" pitchFamily="34" charset="-120"/>
              </a:rPr>
              <a:t>Aprendizaje compartido:  El buen diseño permite que el sistema crezca sin deuda técnica.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949E"/>
          </a:solidFill>
          <a:ln w="12700">
            <a:solidFill>
              <a:srgbClr val="8B949E"/>
            </a:solidFill>
            <a:prstDash val="solid"/>
          </a:ln>
        </p:spPr>
        <p:txBody>
          <a:bodyPr/>
          <a:lstStyle/>
          <a:p>
            <a:endParaRPr lang="es-PE"/>
          </a:p>
        </p:txBody>
      </p:sp>
      <p:sp>
        <p:nvSpPr>
          <p:cNvPr id="3" name="Shape 1"/>
          <p:cNvSpPr/>
          <p:nvPr/>
        </p:nvSpPr>
        <p:spPr>
          <a:xfrm>
            <a:off x="109728" y="0"/>
            <a:ext cx="9034272" cy="749808"/>
          </a:xfrm>
          <a:prstGeom prst="rect">
            <a:avLst/>
          </a:prstGeom>
          <a:solidFill>
            <a:srgbClr val="161B22"/>
          </a:solidFill>
          <a:ln w="12700">
            <a:solidFill>
              <a:srgbClr val="161B22"/>
            </a:solidFill>
            <a:prstDash val="solid"/>
          </a:ln>
        </p:spPr>
        <p:txBody>
          <a:bodyPr/>
          <a:lstStyle/>
          <a:p>
            <a:endParaRPr lang="es-PE"/>
          </a:p>
        </p:txBody>
      </p:sp>
      <p:sp>
        <p:nvSpPr>
          <p:cNvPr id="4" name="Shape 2"/>
          <p:cNvSpPr/>
          <p:nvPr/>
        </p:nvSpPr>
        <p:spPr>
          <a:xfrm>
            <a:off x="109728" y="749808"/>
            <a:ext cx="9034272" cy="36576"/>
          </a:xfrm>
          <a:prstGeom prst="rect">
            <a:avLst/>
          </a:prstGeom>
          <a:solidFill>
            <a:srgbClr val="8B949E"/>
          </a:solidFill>
          <a:ln w="12700">
            <a:solidFill>
              <a:srgbClr val="8B949E"/>
            </a:solidFill>
            <a:prstDash val="solid"/>
          </a:ln>
        </p:spPr>
        <p:txBody>
          <a:bodyPr/>
          <a:lstStyle/>
          <a:p>
            <a:endParaRPr lang="es-PE"/>
          </a:p>
        </p:txBody>
      </p:sp>
      <p:sp>
        <p:nvSpPr>
          <p:cNvPr id="5" name="Text 3"/>
          <p:cNvSpPr/>
          <p:nvPr/>
        </p:nvSpPr>
        <p:spPr>
          <a:xfrm>
            <a:off x="320040" y="0"/>
            <a:ext cx="8686800" cy="749808"/>
          </a:xfrm>
          <a:prstGeom prst="rect">
            <a:avLst/>
          </a:prstGeom>
          <a:noFill/>
          <a:ln/>
        </p:spPr>
        <p:txBody>
          <a:bodyPr wrap="square" lIns="0" tIns="0" rIns="0" bIns="0" rtlCol="0" anchor="ctr"/>
          <a:lstStyle/>
          <a:p>
            <a:pPr marL="0" indent="0" algn="l">
              <a:buNone/>
            </a:pPr>
            <a:r>
              <a:rPr lang="en-US" sz="1700" b="1" dirty="0">
                <a:solidFill>
                  <a:srgbClr val="FFFFFF"/>
                </a:solidFill>
                <a:latin typeface="Trebuchet MS" pitchFamily="34" charset="0"/>
                <a:ea typeface="Trebuchet MS" pitchFamily="34" charset="-122"/>
                <a:cs typeface="Trebuchet MS" pitchFamily="34" charset="-120"/>
              </a:rPr>
              <a:t>Pregunta 9 — Bibliografía</a:t>
            </a:r>
            <a:endParaRPr lang="en-US" sz="1700" dirty="0"/>
          </a:p>
        </p:txBody>
      </p:sp>
      <p:sp>
        <p:nvSpPr>
          <p:cNvPr id="6" name="Shape 4"/>
          <p:cNvSpPr/>
          <p:nvPr/>
        </p:nvSpPr>
        <p:spPr>
          <a:xfrm>
            <a:off x="256032" y="932688"/>
            <a:ext cx="4251960" cy="1883664"/>
          </a:xfrm>
          <a:prstGeom prst="rect">
            <a:avLst/>
          </a:prstGeom>
          <a:solidFill>
            <a:srgbClr val="161B22"/>
          </a:solidFill>
          <a:ln w="12700">
            <a:solidFill>
              <a:srgbClr val="1DB954"/>
            </a:solidFill>
            <a:prstDash val="solid"/>
          </a:ln>
        </p:spPr>
        <p:txBody>
          <a:bodyPr/>
          <a:lstStyle/>
          <a:p>
            <a:endParaRPr lang="es-PE"/>
          </a:p>
        </p:txBody>
      </p:sp>
      <p:sp>
        <p:nvSpPr>
          <p:cNvPr id="7" name="Shape 5"/>
          <p:cNvSpPr/>
          <p:nvPr/>
        </p:nvSpPr>
        <p:spPr>
          <a:xfrm>
            <a:off x="256032" y="932688"/>
            <a:ext cx="4251960" cy="274320"/>
          </a:xfrm>
          <a:prstGeom prst="rect">
            <a:avLst/>
          </a:prstGeom>
          <a:solidFill>
            <a:srgbClr val="1C2330"/>
          </a:solidFill>
          <a:ln w="12700">
            <a:solidFill>
              <a:srgbClr val="1C2330"/>
            </a:solidFill>
            <a:prstDash val="solid"/>
          </a:ln>
        </p:spPr>
        <p:txBody>
          <a:bodyPr/>
          <a:lstStyle/>
          <a:p>
            <a:endParaRPr lang="es-PE"/>
          </a:p>
        </p:txBody>
      </p:sp>
      <p:sp>
        <p:nvSpPr>
          <p:cNvPr id="8" name="Shape 6"/>
          <p:cNvSpPr/>
          <p:nvPr/>
        </p:nvSpPr>
        <p:spPr>
          <a:xfrm>
            <a:off x="256032" y="932688"/>
            <a:ext cx="91440" cy="1883664"/>
          </a:xfrm>
          <a:prstGeom prst="rect">
            <a:avLst/>
          </a:prstGeom>
          <a:solidFill>
            <a:srgbClr val="1DB954"/>
          </a:solidFill>
          <a:ln w="12700">
            <a:solidFill>
              <a:srgbClr val="1DB954"/>
            </a:solidFill>
            <a:prstDash val="solid"/>
          </a:ln>
        </p:spPr>
        <p:txBody>
          <a:bodyPr/>
          <a:lstStyle/>
          <a:p>
            <a:endParaRPr lang="es-PE"/>
          </a:p>
        </p:txBody>
      </p:sp>
      <p:sp>
        <p:nvSpPr>
          <p:cNvPr id="9" name="Text 7"/>
          <p:cNvSpPr/>
          <p:nvPr/>
        </p:nvSpPr>
        <p:spPr>
          <a:xfrm>
            <a:off x="438912" y="932688"/>
            <a:ext cx="3986784" cy="274320"/>
          </a:xfrm>
          <a:prstGeom prst="rect">
            <a:avLst/>
          </a:prstGeom>
          <a:noFill/>
          <a:ln/>
        </p:spPr>
        <p:txBody>
          <a:bodyPr wrap="square" lIns="0" tIns="0" rIns="0" bIns="0" rtlCol="0" anchor="ctr"/>
          <a:lstStyle/>
          <a:p>
            <a:pPr marL="0" indent="0" algn="l">
              <a:buNone/>
            </a:pPr>
            <a:r>
              <a:rPr lang="en-US" sz="1000" b="1" dirty="0">
                <a:solidFill>
                  <a:srgbClr val="1DB954"/>
                </a:solidFill>
                <a:latin typeface="Calibri" pitchFamily="34" charset="0"/>
                <a:ea typeface="Calibri" pitchFamily="34" charset="-122"/>
                <a:cs typeface="Calibri" pitchFamily="34" charset="-120"/>
              </a:rPr>
              <a:t>Principios SOLID  (P1, P6)</a:t>
            </a:r>
            <a:endParaRPr lang="en-US" sz="1000" dirty="0"/>
          </a:p>
        </p:txBody>
      </p:sp>
      <p:sp>
        <p:nvSpPr>
          <p:cNvPr id="10" name="Shape 8"/>
          <p:cNvSpPr/>
          <p:nvPr/>
        </p:nvSpPr>
        <p:spPr>
          <a:xfrm>
            <a:off x="438912" y="1280160"/>
            <a:ext cx="3913632" cy="694944"/>
          </a:xfrm>
          <a:prstGeom prst="rect">
            <a:avLst/>
          </a:prstGeom>
          <a:solidFill>
            <a:srgbClr val="1C2330"/>
          </a:solidFill>
          <a:ln w="12700">
            <a:solidFill>
              <a:srgbClr val="30363D"/>
            </a:solidFill>
            <a:prstDash val="solid"/>
          </a:ln>
        </p:spPr>
        <p:txBody>
          <a:bodyPr/>
          <a:lstStyle/>
          <a:p>
            <a:endParaRPr lang="es-PE"/>
          </a:p>
        </p:txBody>
      </p:sp>
      <p:sp>
        <p:nvSpPr>
          <p:cNvPr id="11" name="Text 9"/>
          <p:cNvSpPr/>
          <p:nvPr/>
        </p:nvSpPr>
        <p:spPr>
          <a:xfrm>
            <a:off x="530352" y="1335024"/>
            <a:ext cx="3749040" cy="585216"/>
          </a:xfrm>
          <a:prstGeom prst="rect">
            <a:avLst/>
          </a:prstGeom>
          <a:noFill/>
          <a:ln/>
        </p:spPr>
        <p:txBody>
          <a:bodyPr wrap="square" lIns="0" tIns="0" rIns="0" bIns="0" rtlCol="0" anchor="t"/>
          <a:lstStyle/>
          <a:p>
            <a:pPr marL="0" indent="0" algn="l">
              <a:buNone/>
            </a:pPr>
            <a:r>
              <a:rPr lang="en-US" sz="850" dirty="0">
                <a:solidFill>
                  <a:srgbClr val="CDD9E5"/>
                </a:solidFill>
                <a:latin typeface="Calibri" pitchFamily="34" charset="0"/>
                <a:ea typeface="Calibri" pitchFamily="34" charset="-122"/>
                <a:cs typeface="Calibri" pitchFamily="34" charset="-120"/>
              </a:rPr>
              <a:t>Microsoft Docs — Principios arquitecturales ASP.NET Core</a:t>
            </a:r>
            <a:endParaRPr lang="en-US" sz="850" dirty="0"/>
          </a:p>
          <a:p>
            <a:pPr marL="0" indent="0" algn="l">
              <a:buNone/>
            </a:pPr>
            <a:r>
              <a:rPr lang="en-US" sz="850" dirty="0">
                <a:solidFill>
                  <a:srgbClr val="CDD9E5"/>
                </a:solidFill>
                <a:latin typeface="Calibri" pitchFamily="34" charset="0"/>
                <a:ea typeface="Calibri" pitchFamily="34" charset="-122"/>
                <a:cs typeface="Calibri" pitchFamily="34" charset="-120"/>
              </a:rPr>
              <a:t>learn.microsoft.com/es-es/dotnet/architecture/modern-web-apps-azure/architectural-principles</a:t>
            </a:r>
            <a:endParaRPr lang="en-US" sz="850" dirty="0"/>
          </a:p>
        </p:txBody>
      </p:sp>
      <p:sp>
        <p:nvSpPr>
          <p:cNvPr id="12" name="Shape 10"/>
          <p:cNvSpPr/>
          <p:nvPr/>
        </p:nvSpPr>
        <p:spPr>
          <a:xfrm>
            <a:off x="438912" y="2048256"/>
            <a:ext cx="3913632" cy="694944"/>
          </a:xfrm>
          <a:prstGeom prst="rect">
            <a:avLst/>
          </a:prstGeom>
          <a:solidFill>
            <a:srgbClr val="1C2330"/>
          </a:solidFill>
          <a:ln w="12700">
            <a:solidFill>
              <a:srgbClr val="30363D"/>
            </a:solidFill>
            <a:prstDash val="solid"/>
          </a:ln>
        </p:spPr>
        <p:txBody>
          <a:bodyPr/>
          <a:lstStyle/>
          <a:p>
            <a:endParaRPr lang="es-PE"/>
          </a:p>
        </p:txBody>
      </p:sp>
      <p:sp>
        <p:nvSpPr>
          <p:cNvPr id="13" name="Text 11"/>
          <p:cNvSpPr/>
          <p:nvPr/>
        </p:nvSpPr>
        <p:spPr>
          <a:xfrm>
            <a:off x="530352" y="2103120"/>
            <a:ext cx="3749040" cy="585216"/>
          </a:xfrm>
          <a:prstGeom prst="rect">
            <a:avLst/>
          </a:prstGeom>
          <a:noFill/>
          <a:ln/>
        </p:spPr>
        <p:txBody>
          <a:bodyPr wrap="square" lIns="0" tIns="0" rIns="0" bIns="0" rtlCol="0" anchor="t"/>
          <a:lstStyle/>
          <a:p>
            <a:pPr marL="0" indent="0" algn="l">
              <a:buNone/>
            </a:pPr>
            <a:r>
              <a:rPr lang="en-US" sz="850" dirty="0">
                <a:solidFill>
                  <a:srgbClr val="CDD9E5"/>
                </a:solidFill>
                <a:latin typeface="Calibri" pitchFamily="34" charset="0"/>
                <a:ea typeface="Calibri" pitchFamily="34" charset="-122"/>
                <a:cs typeface="Calibri" pitchFamily="34" charset="-120"/>
              </a:rPr>
              <a:t>Digital Ocean — S.O.L.I.D. The First Five Principles</a:t>
            </a:r>
            <a:endParaRPr lang="en-US" sz="850" dirty="0"/>
          </a:p>
          <a:p>
            <a:pPr marL="0" indent="0" algn="l">
              <a:buNone/>
            </a:pPr>
            <a:r>
              <a:rPr lang="en-US" sz="850" dirty="0">
                <a:solidFill>
                  <a:srgbClr val="CDD9E5"/>
                </a:solidFill>
                <a:latin typeface="Calibri" pitchFamily="34" charset="0"/>
                <a:ea typeface="Calibri" pitchFamily="34" charset="-122"/>
                <a:cs typeface="Calibri" pitchFamily="34" charset="-120"/>
              </a:rPr>
              <a:t>digitalocean.com/community/conceptual-articles/s-o-l-i-d-the-first-five-principles</a:t>
            </a:r>
            <a:endParaRPr lang="en-US" sz="850" dirty="0"/>
          </a:p>
        </p:txBody>
      </p:sp>
      <p:sp>
        <p:nvSpPr>
          <p:cNvPr id="14" name="Shape 12"/>
          <p:cNvSpPr/>
          <p:nvPr/>
        </p:nvSpPr>
        <p:spPr>
          <a:xfrm>
            <a:off x="4736592" y="932688"/>
            <a:ext cx="4251960" cy="1883664"/>
          </a:xfrm>
          <a:prstGeom prst="rect">
            <a:avLst/>
          </a:prstGeom>
          <a:solidFill>
            <a:srgbClr val="161B22"/>
          </a:solidFill>
          <a:ln w="12700">
            <a:solidFill>
              <a:srgbClr val="D29922"/>
            </a:solidFill>
            <a:prstDash val="solid"/>
          </a:ln>
        </p:spPr>
        <p:txBody>
          <a:bodyPr/>
          <a:lstStyle/>
          <a:p>
            <a:endParaRPr lang="es-PE"/>
          </a:p>
        </p:txBody>
      </p:sp>
      <p:sp>
        <p:nvSpPr>
          <p:cNvPr id="15" name="Shape 13"/>
          <p:cNvSpPr/>
          <p:nvPr/>
        </p:nvSpPr>
        <p:spPr>
          <a:xfrm>
            <a:off x="4736592" y="932688"/>
            <a:ext cx="4251960" cy="274320"/>
          </a:xfrm>
          <a:prstGeom prst="rect">
            <a:avLst/>
          </a:prstGeom>
          <a:solidFill>
            <a:srgbClr val="1C2330"/>
          </a:solidFill>
          <a:ln w="12700">
            <a:solidFill>
              <a:srgbClr val="1C2330"/>
            </a:solidFill>
            <a:prstDash val="solid"/>
          </a:ln>
        </p:spPr>
        <p:txBody>
          <a:bodyPr/>
          <a:lstStyle/>
          <a:p>
            <a:endParaRPr lang="es-PE"/>
          </a:p>
        </p:txBody>
      </p:sp>
      <p:sp>
        <p:nvSpPr>
          <p:cNvPr id="16" name="Shape 14"/>
          <p:cNvSpPr/>
          <p:nvPr/>
        </p:nvSpPr>
        <p:spPr>
          <a:xfrm>
            <a:off x="4736592" y="932688"/>
            <a:ext cx="91440" cy="1883664"/>
          </a:xfrm>
          <a:prstGeom prst="rect">
            <a:avLst/>
          </a:prstGeom>
          <a:solidFill>
            <a:srgbClr val="D29922"/>
          </a:solidFill>
          <a:ln w="12700">
            <a:solidFill>
              <a:srgbClr val="D29922"/>
            </a:solidFill>
            <a:prstDash val="solid"/>
          </a:ln>
        </p:spPr>
        <p:txBody>
          <a:bodyPr/>
          <a:lstStyle/>
          <a:p>
            <a:endParaRPr lang="es-PE"/>
          </a:p>
        </p:txBody>
      </p:sp>
      <p:sp>
        <p:nvSpPr>
          <p:cNvPr id="17" name="Text 15"/>
          <p:cNvSpPr/>
          <p:nvPr/>
        </p:nvSpPr>
        <p:spPr>
          <a:xfrm>
            <a:off x="4919472" y="932688"/>
            <a:ext cx="3986784" cy="274320"/>
          </a:xfrm>
          <a:prstGeom prst="rect">
            <a:avLst/>
          </a:prstGeom>
          <a:noFill/>
          <a:ln/>
        </p:spPr>
        <p:txBody>
          <a:bodyPr wrap="square" lIns="0" tIns="0" rIns="0" bIns="0" rtlCol="0" anchor="ctr"/>
          <a:lstStyle/>
          <a:p>
            <a:pPr marL="0" indent="0" algn="l">
              <a:buNone/>
            </a:pPr>
            <a:r>
              <a:rPr lang="en-US" sz="1000" b="1" dirty="0">
                <a:solidFill>
                  <a:srgbClr val="D29922"/>
                </a:solidFill>
                <a:latin typeface="Calibri" pitchFamily="34" charset="0"/>
                <a:ea typeface="Calibri" pitchFamily="34" charset="-122"/>
                <a:cs typeface="Calibri" pitchFamily="34" charset="-120"/>
              </a:rPr>
              <a:t>Patrones Observer y Factory  (P3, P4)</a:t>
            </a:r>
            <a:endParaRPr lang="en-US" sz="1000" dirty="0"/>
          </a:p>
        </p:txBody>
      </p:sp>
      <p:sp>
        <p:nvSpPr>
          <p:cNvPr id="18" name="Shape 16"/>
          <p:cNvSpPr/>
          <p:nvPr/>
        </p:nvSpPr>
        <p:spPr>
          <a:xfrm>
            <a:off x="4919472" y="1280160"/>
            <a:ext cx="3913632" cy="694944"/>
          </a:xfrm>
          <a:prstGeom prst="rect">
            <a:avLst/>
          </a:prstGeom>
          <a:solidFill>
            <a:srgbClr val="1C2330"/>
          </a:solidFill>
          <a:ln w="12700">
            <a:solidFill>
              <a:srgbClr val="30363D"/>
            </a:solidFill>
            <a:prstDash val="solid"/>
          </a:ln>
        </p:spPr>
        <p:txBody>
          <a:bodyPr/>
          <a:lstStyle/>
          <a:p>
            <a:endParaRPr lang="es-PE"/>
          </a:p>
        </p:txBody>
      </p:sp>
      <p:sp>
        <p:nvSpPr>
          <p:cNvPr id="19" name="Text 17"/>
          <p:cNvSpPr/>
          <p:nvPr/>
        </p:nvSpPr>
        <p:spPr>
          <a:xfrm>
            <a:off x="5010912" y="1335024"/>
            <a:ext cx="3749040" cy="585216"/>
          </a:xfrm>
          <a:prstGeom prst="rect">
            <a:avLst/>
          </a:prstGeom>
          <a:noFill/>
          <a:ln/>
        </p:spPr>
        <p:txBody>
          <a:bodyPr wrap="square" lIns="0" tIns="0" rIns="0" bIns="0" rtlCol="0" anchor="t"/>
          <a:lstStyle/>
          <a:p>
            <a:pPr marL="0" indent="0" algn="l">
              <a:buNone/>
            </a:pPr>
            <a:r>
              <a:rPr lang="en-US" sz="850" dirty="0">
                <a:solidFill>
                  <a:srgbClr val="CDD9E5"/>
                </a:solidFill>
                <a:latin typeface="Calibri" pitchFamily="34" charset="0"/>
                <a:ea typeface="Calibri" pitchFamily="34" charset="-122"/>
                <a:cs typeface="Calibri" pitchFamily="34" charset="-120"/>
              </a:rPr>
              <a:t>Refactoring.Guru — Patrón Observer</a:t>
            </a:r>
            <a:endParaRPr lang="en-US" sz="850" dirty="0"/>
          </a:p>
          <a:p>
            <a:pPr marL="0" indent="0" algn="l">
              <a:buNone/>
            </a:pPr>
            <a:r>
              <a:rPr lang="en-US" sz="850" dirty="0">
                <a:solidFill>
                  <a:srgbClr val="CDD9E5"/>
                </a:solidFill>
                <a:latin typeface="Calibri" pitchFamily="34" charset="0"/>
                <a:ea typeface="Calibri" pitchFamily="34" charset="-122"/>
                <a:cs typeface="Calibri" pitchFamily="34" charset="-120"/>
              </a:rPr>
              <a:t>refactoring.guru/es/design-patterns/observer</a:t>
            </a:r>
            <a:endParaRPr lang="en-US" sz="850" dirty="0"/>
          </a:p>
        </p:txBody>
      </p:sp>
      <p:sp>
        <p:nvSpPr>
          <p:cNvPr id="20" name="Shape 18"/>
          <p:cNvSpPr/>
          <p:nvPr/>
        </p:nvSpPr>
        <p:spPr>
          <a:xfrm>
            <a:off x="4919472" y="2048256"/>
            <a:ext cx="3913632" cy="694944"/>
          </a:xfrm>
          <a:prstGeom prst="rect">
            <a:avLst/>
          </a:prstGeom>
          <a:solidFill>
            <a:srgbClr val="1C2330"/>
          </a:solidFill>
          <a:ln w="12700">
            <a:solidFill>
              <a:srgbClr val="30363D"/>
            </a:solidFill>
            <a:prstDash val="solid"/>
          </a:ln>
        </p:spPr>
        <p:txBody>
          <a:bodyPr/>
          <a:lstStyle/>
          <a:p>
            <a:endParaRPr lang="es-PE"/>
          </a:p>
        </p:txBody>
      </p:sp>
      <p:sp>
        <p:nvSpPr>
          <p:cNvPr id="21" name="Text 19"/>
          <p:cNvSpPr/>
          <p:nvPr/>
        </p:nvSpPr>
        <p:spPr>
          <a:xfrm>
            <a:off x="5010912" y="2103120"/>
            <a:ext cx="3749040" cy="585216"/>
          </a:xfrm>
          <a:prstGeom prst="rect">
            <a:avLst/>
          </a:prstGeom>
          <a:noFill/>
          <a:ln/>
        </p:spPr>
        <p:txBody>
          <a:bodyPr wrap="square" lIns="0" tIns="0" rIns="0" bIns="0" rtlCol="0" anchor="t"/>
          <a:lstStyle/>
          <a:p>
            <a:pPr marL="0" indent="0" algn="l">
              <a:buNone/>
            </a:pPr>
            <a:r>
              <a:rPr lang="en-US" sz="850" dirty="0">
                <a:solidFill>
                  <a:srgbClr val="CDD9E5"/>
                </a:solidFill>
                <a:latin typeface="Calibri" pitchFamily="34" charset="0"/>
                <a:ea typeface="Calibri" pitchFamily="34" charset="-122"/>
                <a:cs typeface="Calibri" pitchFamily="34" charset="-120"/>
              </a:rPr>
              <a:t>Refactoring.Guru — Patrón Factory Method</a:t>
            </a:r>
            <a:endParaRPr lang="en-US" sz="850" dirty="0"/>
          </a:p>
          <a:p>
            <a:pPr marL="0" indent="0" algn="l">
              <a:buNone/>
            </a:pPr>
            <a:r>
              <a:rPr lang="en-US" sz="850" dirty="0">
                <a:solidFill>
                  <a:srgbClr val="CDD9E5"/>
                </a:solidFill>
                <a:latin typeface="Calibri" pitchFamily="34" charset="0"/>
                <a:ea typeface="Calibri" pitchFamily="34" charset="-122"/>
                <a:cs typeface="Calibri" pitchFamily="34" charset="-120"/>
              </a:rPr>
              <a:t>refactoring.guru/es/design-patterns/factory-method</a:t>
            </a:r>
            <a:endParaRPr lang="en-US" sz="850" dirty="0"/>
          </a:p>
        </p:txBody>
      </p:sp>
      <p:sp>
        <p:nvSpPr>
          <p:cNvPr id="22" name="Shape 20"/>
          <p:cNvSpPr/>
          <p:nvPr/>
        </p:nvSpPr>
        <p:spPr>
          <a:xfrm>
            <a:off x="256032" y="2962656"/>
            <a:ext cx="4251960" cy="1883664"/>
          </a:xfrm>
          <a:prstGeom prst="rect">
            <a:avLst/>
          </a:prstGeom>
          <a:solidFill>
            <a:srgbClr val="161B22"/>
          </a:solidFill>
          <a:ln w="12700">
            <a:solidFill>
              <a:srgbClr val="388BFD"/>
            </a:solidFill>
            <a:prstDash val="solid"/>
          </a:ln>
        </p:spPr>
        <p:txBody>
          <a:bodyPr/>
          <a:lstStyle/>
          <a:p>
            <a:endParaRPr lang="es-PE"/>
          </a:p>
        </p:txBody>
      </p:sp>
      <p:sp>
        <p:nvSpPr>
          <p:cNvPr id="23" name="Shape 21"/>
          <p:cNvSpPr/>
          <p:nvPr/>
        </p:nvSpPr>
        <p:spPr>
          <a:xfrm>
            <a:off x="256032" y="2962656"/>
            <a:ext cx="4251960" cy="274320"/>
          </a:xfrm>
          <a:prstGeom prst="rect">
            <a:avLst/>
          </a:prstGeom>
          <a:solidFill>
            <a:srgbClr val="1C2330"/>
          </a:solidFill>
          <a:ln w="12700">
            <a:solidFill>
              <a:srgbClr val="1C2330"/>
            </a:solidFill>
            <a:prstDash val="solid"/>
          </a:ln>
        </p:spPr>
        <p:txBody>
          <a:bodyPr/>
          <a:lstStyle/>
          <a:p>
            <a:endParaRPr lang="es-PE"/>
          </a:p>
        </p:txBody>
      </p:sp>
      <p:sp>
        <p:nvSpPr>
          <p:cNvPr id="24" name="Shape 22"/>
          <p:cNvSpPr/>
          <p:nvPr/>
        </p:nvSpPr>
        <p:spPr>
          <a:xfrm>
            <a:off x="256032" y="2962656"/>
            <a:ext cx="91440" cy="1883664"/>
          </a:xfrm>
          <a:prstGeom prst="rect">
            <a:avLst/>
          </a:prstGeom>
          <a:solidFill>
            <a:srgbClr val="388BFD"/>
          </a:solidFill>
          <a:ln w="12700">
            <a:solidFill>
              <a:srgbClr val="388BFD"/>
            </a:solidFill>
            <a:prstDash val="solid"/>
          </a:ln>
        </p:spPr>
        <p:txBody>
          <a:bodyPr/>
          <a:lstStyle/>
          <a:p>
            <a:endParaRPr lang="es-PE"/>
          </a:p>
        </p:txBody>
      </p:sp>
      <p:sp>
        <p:nvSpPr>
          <p:cNvPr id="25" name="Text 23"/>
          <p:cNvSpPr/>
          <p:nvPr/>
        </p:nvSpPr>
        <p:spPr>
          <a:xfrm>
            <a:off x="438912" y="2962656"/>
            <a:ext cx="3986784" cy="274320"/>
          </a:xfrm>
          <a:prstGeom prst="rect">
            <a:avLst/>
          </a:prstGeom>
          <a:noFill/>
          <a:ln/>
        </p:spPr>
        <p:txBody>
          <a:bodyPr wrap="square" lIns="0" tIns="0" rIns="0" bIns="0" rtlCol="0" anchor="ctr"/>
          <a:lstStyle/>
          <a:p>
            <a:pPr marL="0" indent="0" algn="l">
              <a:buNone/>
            </a:pPr>
            <a:r>
              <a:rPr lang="en-US" sz="1000" b="1" dirty="0">
                <a:solidFill>
                  <a:srgbClr val="388BFD"/>
                </a:solidFill>
                <a:latin typeface="Calibri" pitchFamily="34" charset="0"/>
                <a:ea typeface="Calibri" pitchFamily="34" charset="-122"/>
                <a:cs typeface="Calibri" pitchFamily="34" charset="-120"/>
              </a:rPr>
              <a:t>C# — Interfaces, Herencia, Abstractas  (P2, P5)</a:t>
            </a:r>
            <a:endParaRPr lang="en-US" sz="1000" dirty="0"/>
          </a:p>
        </p:txBody>
      </p:sp>
      <p:sp>
        <p:nvSpPr>
          <p:cNvPr id="26" name="Shape 24"/>
          <p:cNvSpPr/>
          <p:nvPr/>
        </p:nvSpPr>
        <p:spPr>
          <a:xfrm>
            <a:off x="438912" y="3310128"/>
            <a:ext cx="3913632" cy="694944"/>
          </a:xfrm>
          <a:prstGeom prst="rect">
            <a:avLst/>
          </a:prstGeom>
          <a:solidFill>
            <a:srgbClr val="1C2330"/>
          </a:solidFill>
          <a:ln w="12700">
            <a:solidFill>
              <a:srgbClr val="30363D"/>
            </a:solidFill>
            <a:prstDash val="solid"/>
          </a:ln>
        </p:spPr>
        <p:txBody>
          <a:bodyPr/>
          <a:lstStyle/>
          <a:p>
            <a:endParaRPr lang="es-PE"/>
          </a:p>
        </p:txBody>
      </p:sp>
      <p:sp>
        <p:nvSpPr>
          <p:cNvPr id="27" name="Text 25"/>
          <p:cNvSpPr/>
          <p:nvPr/>
        </p:nvSpPr>
        <p:spPr>
          <a:xfrm>
            <a:off x="530352" y="3364992"/>
            <a:ext cx="3749040" cy="585216"/>
          </a:xfrm>
          <a:prstGeom prst="rect">
            <a:avLst/>
          </a:prstGeom>
          <a:noFill/>
          <a:ln/>
        </p:spPr>
        <p:txBody>
          <a:bodyPr wrap="square" lIns="0" tIns="0" rIns="0" bIns="0" rtlCol="0" anchor="t"/>
          <a:lstStyle/>
          <a:p>
            <a:pPr marL="0" indent="0" algn="l">
              <a:buNone/>
            </a:pPr>
            <a:r>
              <a:rPr lang="en-US" sz="850" dirty="0">
                <a:solidFill>
                  <a:srgbClr val="CDD9E5"/>
                </a:solidFill>
                <a:latin typeface="Calibri" pitchFamily="34" charset="0"/>
                <a:ea typeface="Calibri" pitchFamily="34" charset="-122"/>
                <a:cs typeface="Calibri" pitchFamily="34" charset="-120"/>
              </a:rPr>
              <a:t>Microsoft Docs — POO en C#</a:t>
            </a:r>
            <a:endParaRPr lang="en-US" sz="850" dirty="0"/>
          </a:p>
          <a:p>
            <a:pPr marL="0" indent="0" algn="l">
              <a:buNone/>
            </a:pPr>
            <a:r>
              <a:rPr lang="en-US" sz="850" dirty="0">
                <a:solidFill>
                  <a:srgbClr val="CDD9E5"/>
                </a:solidFill>
                <a:latin typeface="Calibri" pitchFamily="34" charset="0"/>
                <a:ea typeface="Calibri" pitchFamily="34" charset="-122"/>
                <a:cs typeface="Calibri" pitchFamily="34" charset="-120"/>
              </a:rPr>
              <a:t>learn.microsoft.com/es-es/dotnet/csharp/fundamentals/object-oriented/</a:t>
            </a:r>
            <a:endParaRPr lang="en-US" sz="850" dirty="0"/>
          </a:p>
        </p:txBody>
      </p:sp>
      <p:sp>
        <p:nvSpPr>
          <p:cNvPr id="28" name="Shape 26"/>
          <p:cNvSpPr/>
          <p:nvPr/>
        </p:nvSpPr>
        <p:spPr>
          <a:xfrm>
            <a:off x="438912" y="4078224"/>
            <a:ext cx="3913632" cy="694944"/>
          </a:xfrm>
          <a:prstGeom prst="rect">
            <a:avLst/>
          </a:prstGeom>
          <a:solidFill>
            <a:srgbClr val="1C2330"/>
          </a:solidFill>
          <a:ln w="12700">
            <a:solidFill>
              <a:srgbClr val="30363D"/>
            </a:solidFill>
            <a:prstDash val="solid"/>
          </a:ln>
        </p:spPr>
        <p:txBody>
          <a:bodyPr/>
          <a:lstStyle/>
          <a:p>
            <a:endParaRPr lang="es-PE"/>
          </a:p>
        </p:txBody>
      </p:sp>
      <p:sp>
        <p:nvSpPr>
          <p:cNvPr id="29" name="Text 27"/>
          <p:cNvSpPr/>
          <p:nvPr/>
        </p:nvSpPr>
        <p:spPr>
          <a:xfrm>
            <a:off x="530352" y="4133088"/>
            <a:ext cx="3749040" cy="585216"/>
          </a:xfrm>
          <a:prstGeom prst="rect">
            <a:avLst/>
          </a:prstGeom>
          <a:noFill/>
          <a:ln/>
        </p:spPr>
        <p:txBody>
          <a:bodyPr wrap="square" lIns="0" tIns="0" rIns="0" bIns="0" rtlCol="0" anchor="t"/>
          <a:lstStyle/>
          <a:p>
            <a:pPr marL="0" indent="0" algn="l">
              <a:buNone/>
            </a:pPr>
            <a:r>
              <a:rPr lang="en-US" sz="850" dirty="0">
                <a:solidFill>
                  <a:srgbClr val="CDD9E5"/>
                </a:solidFill>
                <a:latin typeface="Calibri" pitchFamily="34" charset="0"/>
                <a:ea typeface="Calibri" pitchFamily="34" charset="-122"/>
                <a:cs typeface="Calibri" pitchFamily="34" charset="-120"/>
              </a:rPr>
              <a:t>Microsoft Docs — abstract keyword</a:t>
            </a:r>
            <a:endParaRPr lang="en-US" sz="850" dirty="0"/>
          </a:p>
          <a:p>
            <a:pPr marL="0" indent="0" algn="l">
              <a:buNone/>
            </a:pPr>
            <a:r>
              <a:rPr lang="en-US" sz="850" dirty="0">
                <a:solidFill>
                  <a:srgbClr val="CDD9E5"/>
                </a:solidFill>
                <a:latin typeface="Calibri" pitchFamily="34" charset="0"/>
                <a:ea typeface="Calibri" pitchFamily="34" charset="-122"/>
                <a:cs typeface="Calibri" pitchFamily="34" charset="-120"/>
              </a:rPr>
              <a:t>learn.microsoft.com/es-es/dotnet/csharp/language-reference/keywords/abstract</a:t>
            </a:r>
            <a:endParaRPr lang="en-US" sz="850" dirty="0"/>
          </a:p>
        </p:txBody>
      </p:sp>
      <p:sp>
        <p:nvSpPr>
          <p:cNvPr id="30" name="Shape 28"/>
          <p:cNvSpPr/>
          <p:nvPr/>
        </p:nvSpPr>
        <p:spPr>
          <a:xfrm>
            <a:off x="4736592" y="2962656"/>
            <a:ext cx="4251960" cy="1883664"/>
          </a:xfrm>
          <a:prstGeom prst="rect">
            <a:avLst/>
          </a:prstGeom>
          <a:solidFill>
            <a:srgbClr val="161B22"/>
          </a:solidFill>
          <a:ln w="12700">
            <a:solidFill>
              <a:srgbClr val="8957E5"/>
            </a:solidFill>
            <a:prstDash val="solid"/>
          </a:ln>
        </p:spPr>
        <p:txBody>
          <a:bodyPr/>
          <a:lstStyle/>
          <a:p>
            <a:endParaRPr lang="es-PE"/>
          </a:p>
        </p:txBody>
      </p:sp>
      <p:sp>
        <p:nvSpPr>
          <p:cNvPr id="31" name="Shape 29"/>
          <p:cNvSpPr/>
          <p:nvPr/>
        </p:nvSpPr>
        <p:spPr>
          <a:xfrm>
            <a:off x="4736592" y="2962656"/>
            <a:ext cx="4251960" cy="274320"/>
          </a:xfrm>
          <a:prstGeom prst="rect">
            <a:avLst/>
          </a:prstGeom>
          <a:solidFill>
            <a:srgbClr val="1C2330"/>
          </a:solidFill>
          <a:ln w="12700">
            <a:solidFill>
              <a:srgbClr val="1C2330"/>
            </a:solidFill>
            <a:prstDash val="solid"/>
          </a:ln>
        </p:spPr>
        <p:txBody>
          <a:bodyPr/>
          <a:lstStyle/>
          <a:p>
            <a:endParaRPr lang="es-PE"/>
          </a:p>
        </p:txBody>
      </p:sp>
      <p:sp>
        <p:nvSpPr>
          <p:cNvPr id="32" name="Shape 30"/>
          <p:cNvSpPr/>
          <p:nvPr/>
        </p:nvSpPr>
        <p:spPr>
          <a:xfrm>
            <a:off x="4736592" y="2962656"/>
            <a:ext cx="91440" cy="1883664"/>
          </a:xfrm>
          <a:prstGeom prst="rect">
            <a:avLst/>
          </a:prstGeom>
          <a:solidFill>
            <a:srgbClr val="8957E5"/>
          </a:solidFill>
          <a:ln w="12700">
            <a:solidFill>
              <a:srgbClr val="8957E5"/>
            </a:solidFill>
            <a:prstDash val="solid"/>
          </a:ln>
        </p:spPr>
        <p:txBody>
          <a:bodyPr/>
          <a:lstStyle/>
          <a:p>
            <a:endParaRPr lang="es-PE"/>
          </a:p>
        </p:txBody>
      </p:sp>
      <p:sp>
        <p:nvSpPr>
          <p:cNvPr id="33" name="Text 31"/>
          <p:cNvSpPr/>
          <p:nvPr/>
        </p:nvSpPr>
        <p:spPr>
          <a:xfrm>
            <a:off x="4919472" y="2962656"/>
            <a:ext cx="3986784" cy="274320"/>
          </a:xfrm>
          <a:prstGeom prst="rect">
            <a:avLst/>
          </a:prstGeom>
          <a:noFill/>
          <a:ln/>
        </p:spPr>
        <p:txBody>
          <a:bodyPr wrap="square" lIns="0" tIns="0" rIns="0" bIns="0" rtlCol="0" anchor="ctr"/>
          <a:lstStyle/>
          <a:p>
            <a:pPr marL="0" indent="0" algn="l">
              <a:buNone/>
            </a:pPr>
            <a:r>
              <a:rPr lang="en-US" sz="1000" b="1" dirty="0">
                <a:solidFill>
                  <a:srgbClr val="8957E5"/>
                </a:solidFill>
                <a:latin typeface="Calibri" pitchFamily="34" charset="0"/>
                <a:ea typeface="Calibri" pitchFamily="34" charset="-122"/>
                <a:cs typeface="Calibri" pitchFamily="34" charset="-120"/>
              </a:rPr>
              <a:t>Arquitectura en Capas / DDD  (P7)</a:t>
            </a:r>
            <a:endParaRPr lang="en-US" sz="1000" dirty="0"/>
          </a:p>
        </p:txBody>
      </p:sp>
      <p:sp>
        <p:nvSpPr>
          <p:cNvPr id="34" name="Shape 32"/>
          <p:cNvSpPr/>
          <p:nvPr/>
        </p:nvSpPr>
        <p:spPr>
          <a:xfrm>
            <a:off x="4919472" y="3310128"/>
            <a:ext cx="3913632" cy="694944"/>
          </a:xfrm>
          <a:prstGeom prst="rect">
            <a:avLst/>
          </a:prstGeom>
          <a:solidFill>
            <a:srgbClr val="1C2330"/>
          </a:solidFill>
          <a:ln w="12700">
            <a:solidFill>
              <a:srgbClr val="30363D"/>
            </a:solidFill>
            <a:prstDash val="solid"/>
          </a:ln>
        </p:spPr>
        <p:txBody>
          <a:bodyPr/>
          <a:lstStyle/>
          <a:p>
            <a:endParaRPr lang="es-PE"/>
          </a:p>
        </p:txBody>
      </p:sp>
      <p:sp>
        <p:nvSpPr>
          <p:cNvPr id="35" name="Text 33"/>
          <p:cNvSpPr/>
          <p:nvPr/>
        </p:nvSpPr>
        <p:spPr>
          <a:xfrm>
            <a:off x="5010912" y="3364992"/>
            <a:ext cx="3749040" cy="585216"/>
          </a:xfrm>
          <a:prstGeom prst="rect">
            <a:avLst/>
          </a:prstGeom>
          <a:noFill/>
          <a:ln/>
        </p:spPr>
        <p:txBody>
          <a:bodyPr wrap="square" lIns="0" tIns="0" rIns="0" bIns="0" rtlCol="0" anchor="t"/>
          <a:lstStyle/>
          <a:p>
            <a:pPr marL="0" indent="0" algn="l">
              <a:buNone/>
            </a:pPr>
            <a:r>
              <a:rPr lang="en-US" sz="850" dirty="0">
                <a:solidFill>
                  <a:srgbClr val="CDD9E5"/>
                </a:solidFill>
                <a:latin typeface="Calibri" pitchFamily="34" charset="0"/>
                <a:ea typeface="Calibri" pitchFamily="34" charset="-122"/>
                <a:cs typeface="Calibri" pitchFamily="34" charset="-120"/>
              </a:rPr>
              <a:t>Microsoft Docs — Microservices DDD CQRS</a:t>
            </a:r>
            <a:endParaRPr lang="en-US" sz="850" dirty="0"/>
          </a:p>
          <a:p>
            <a:pPr marL="0" indent="0" algn="l">
              <a:buNone/>
            </a:pPr>
            <a:r>
              <a:rPr lang="en-US" sz="850" dirty="0">
                <a:solidFill>
                  <a:srgbClr val="CDD9E5"/>
                </a:solidFill>
                <a:latin typeface="Calibri" pitchFamily="34" charset="0"/>
                <a:ea typeface="Calibri" pitchFamily="34" charset="-122"/>
                <a:cs typeface="Calibri" pitchFamily="34" charset="-120"/>
              </a:rPr>
              <a:t>learn.microsoft.com/es-es/dotnet/architecture/microservices/microservice-ddd-cqrs-patterns/</a:t>
            </a:r>
            <a:endParaRPr lang="en-US" sz="850" dirty="0"/>
          </a:p>
        </p:txBody>
      </p:sp>
      <p:sp>
        <p:nvSpPr>
          <p:cNvPr id="36" name="Shape 34"/>
          <p:cNvSpPr/>
          <p:nvPr/>
        </p:nvSpPr>
        <p:spPr>
          <a:xfrm>
            <a:off x="4919472" y="4078224"/>
            <a:ext cx="3913632" cy="694944"/>
          </a:xfrm>
          <a:prstGeom prst="rect">
            <a:avLst/>
          </a:prstGeom>
          <a:solidFill>
            <a:srgbClr val="1C2330"/>
          </a:solidFill>
          <a:ln w="12700">
            <a:solidFill>
              <a:srgbClr val="30363D"/>
            </a:solidFill>
            <a:prstDash val="solid"/>
          </a:ln>
        </p:spPr>
        <p:txBody>
          <a:bodyPr/>
          <a:lstStyle/>
          <a:p>
            <a:endParaRPr lang="es-PE"/>
          </a:p>
        </p:txBody>
      </p:sp>
      <p:sp>
        <p:nvSpPr>
          <p:cNvPr id="37" name="Text 35"/>
          <p:cNvSpPr/>
          <p:nvPr/>
        </p:nvSpPr>
        <p:spPr>
          <a:xfrm>
            <a:off x="5010912" y="4133088"/>
            <a:ext cx="3749040" cy="585216"/>
          </a:xfrm>
          <a:prstGeom prst="rect">
            <a:avLst/>
          </a:prstGeom>
          <a:noFill/>
          <a:ln/>
        </p:spPr>
        <p:txBody>
          <a:bodyPr wrap="square" lIns="0" tIns="0" rIns="0" bIns="0" rtlCol="0" anchor="t"/>
          <a:lstStyle/>
          <a:p>
            <a:pPr marL="0" indent="0" algn="l">
              <a:buNone/>
            </a:pPr>
            <a:r>
              <a:rPr lang="en-US" sz="850" dirty="0">
                <a:solidFill>
                  <a:srgbClr val="CDD9E5"/>
                </a:solidFill>
                <a:latin typeface="Calibri" pitchFamily="34" charset="0"/>
                <a:ea typeface="Calibri" pitchFamily="34" charset="-122"/>
                <a:cs typeface="Calibri" pitchFamily="34" charset="-120"/>
              </a:rPr>
              <a:t>Gamma et al. — Design Patterns: GoF (1994)</a:t>
            </a:r>
            <a:endParaRPr lang="en-US" sz="850" dirty="0"/>
          </a:p>
          <a:p>
            <a:pPr marL="0" indent="0" algn="l">
              <a:buNone/>
            </a:pPr>
            <a:r>
              <a:rPr lang="en-US" sz="850" dirty="0">
                <a:solidFill>
                  <a:srgbClr val="CDD9E5"/>
                </a:solidFill>
                <a:latin typeface="Calibri" pitchFamily="34" charset="0"/>
                <a:ea typeface="Calibri" pitchFamily="34" charset="-122"/>
                <a:cs typeface="Calibri" pitchFamily="34" charset="-120"/>
              </a:rPr>
              <a:t>refactoring.guru/es/design-patterns/book</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2409</Words>
  <Application>Microsoft Office PowerPoint</Application>
  <PresentationFormat>Presentación en pantalla (16:9)</PresentationFormat>
  <Paragraphs>431</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Consolas</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PALOMINO SANCHEZ, MOISÉS RODOLFO</cp:lastModifiedBy>
  <cp:revision>2</cp:revision>
  <dcterms:created xsi:type="dcterms:W3CDTF">2026-04-15T18:49:21Z</dcterms:created>
  <dcterms:modified xsi:type="dcterms:W3CDTF">2026-04-15T18:52:19Z</dcterms:modified>
</cp:coreProperties>
</file>