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5660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UBER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457200" y="2240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276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57860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de Datos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Algoritmos en C# / .NET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3520440"/>
            <a:ext cx="274320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5204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Wimmer Roman Q 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Alvarado..</a:t>
            </a:r>
            <a:endParaRPr lang="en-US" sz="1600" dirty="0">
              <a:solidFill>
                <a:schemeClr val="accent6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0" y="960120"/>
            <a:ext cx="3291840" cy="457200"/>
          </a:xfrm>
          <a:prstGeom prst="rect">
            <a:avLst/>
          </a:prstGeom>
          <a:solidFill>
            <a:srgbClr val="111111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960120"/>
            <a:ext cx="45720" cy="457200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960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 O / Complejidad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0" y="1581912"/>
            <a:ext cx="3291840" cy="457200"/>
          </a:xfrm>
          <a:prstGeom prst="rect">
            <a:avLst/>
          </a:prstGeom>
          <a:solidFill>
            <a:srgbClr val="111111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1581912"/>
            <a:ext cx="45720" cy="457200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3560" y="158191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PriorityQueue&lt;T,P&gt;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0" y="2203704"/>
            <a:ext cx="3291840" cy="457200"/>
          </a:xfrm>
          <a:prstGeom prst="rect">
            <a:avLst/>
          </a:prstGeom>
          <a:solidFill>
            <a:srgbClr val="111111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2203704"/>
            <a:ext cx="45720" cy="457200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220370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Dictionary&lt;K,V&gt;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0" y="2825496"/>
            <a:ext cx="3291840" cy="457200"/>
          </a:xfrm>
          <a:prstGeom prst="rect">
            <a:avLst/>
          </a:prstGeom>
          <a:solidFill>
            <a:srgbClr val="111111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2825496"/>
            <a:ext cx="45720" cy="457200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282549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Dijkstra  /  A*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0" y="3447288"/>
            <a:ext cx="3291840" cy="457200"/>
          </a:xfrm>
          <a:prstGeom prst="rect">
            <a:avLst/>
          </a:prstGeom>
          <a:solidFill>
            <a:srgbClr val="111111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0" y="3447288"/>
            <a:ext cx="45720" cy="457200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3560" y="34472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Queue&lt;T&gt;  ·  SortedDict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0" y="4069080"/>
            <a:ext cx="3291840" cy="457200"/>
          </a:xfrm>
          <a:prstGeom prst="rect">
            <a:avLst/>
          </a:prstGeom>
          <a:solidFill>
            <a:srgbClr val="111111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0" y="4069080"/>
            <a:ext cx="45720" cy="457200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23560" y="4069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ModuloAsignacion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38404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1016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15568"/>
            <a:ext cx="347472" cy="32918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1556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115214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O — Complejidad algorítmica a escala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591056"/>
            <a:ext cx="347472" cy="32918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9105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16276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PriorityQueue — Asignación conductor más cercano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066544"/>
            <a:ext cx="347472" cy="32918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6654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21031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— Índice de conductores por zona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542032"/>
            <a:ext cx="347472" cy="32918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4203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" y="25786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&amp; A* — Ruta más corta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937760" y="1115568"/>
            <a:ext cx="347472" cy="329184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11556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76672" y="11521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viajes — Búsqueda por fecha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937760" y="1591056"/>
            <a:ext cx="347472" cy="329184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59105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76672" y="16276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List&lt;T&gt; vs LinkedList&lt;T&gt; vs Queue&lt;T&gt;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937760" y="2066544"/>
            <a:ext cx="347472" cy="329184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06654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76672" y="21031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asignación — Arquitectura óptima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937760" y="2542032"/>
            <a:ext cx="347472" cy="329184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54203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76672" y="25786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Bibliografía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Algorítmica (Big O)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 crítica con millones de usuarios simultáneos?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93392"/>
            <a:ext cx="1097280" cy="0"/>
          </a:xfrm>
          <a:prstGeom prst="line">
            <a:avLst/>
          </a:prstGeom>
          <a:noFill/>
          <a:ln w="31750">
            <a:solidFill>
              <a:srgbClr val="276EF1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800" dirty="0">
                <a:solidFill>
                  <a:srgbClr val="54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 ·  COMPLEJIDAD ALGORÍTMICA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O — Impacto real en Uber a escala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10160">
            <a:solidFill>
              <a:srgbClr val="E2E2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millones de usuarios simultáneos, la diferencia entre O(log n) y O(n²) puede ser la diferencia entre 1 ms y varios minutos de respuesta.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444752"/>
            <a:ext cx="100584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444752"/>
            <a:ext cx="859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Notación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371600" y="1444752"/>
            <a:ext cx="128016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44752" y="1444752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51760" y="1444752"/>
            <a:ext cx="320040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24912" y="1444752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Uber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852160" y="1444752"/>
            <a:ext cx="1691640" cy="274320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25312" y="1444752"/>
            <a:ext cx="1545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1719072"/>
            <a:ext cx="100584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1719072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76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371600" y="1719072"/>
            <a:ext cx="12801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44752" y="1719072"/>
            <a:ext cx="1170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51760" y="1719072"/>
            <a:ext cx="32004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24912" y="171907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Dictionary&lt;zona, conductores&gt; → lookup instantáneo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52160" y="1719072"/>
            <a:ext cx="169164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25312" y="1719072"/>
            <a:ext cx="1581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Ideal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066544"/>
            <a:ext cx="1005840" cy="310896"/>
          </a:xfrm>
          <a:prstGeom prst="rect">
            <a:avLst/>
          </a:prstGeom>
          <a:solidFill>
            <a:srgbClr val="F6F6F6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066544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76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0" y="2066544"/>
            <a:ext cx="1280160" cy="310896"/>
          </a:xfrm>
          <a:prstGeom prst="rect">
            <a:avLst/>
          </a:prstGeom>
          <a:solidFill>
            <a:srgbClr val="F6F6F6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44752" y="2066544"/>
            <a:ext cx="1170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Logarítmica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651760" y="2066544"/>
            <a:ext cx="3200400" cy="310896"/>
          </a:xfrm>
          <a:prstGeom prst="rect">
            <a:avLst/>
          </a:prstGeom>
          <a:solidFill>
            <a:srgbClr val="F6F6F6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24912" y="2066544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PriorityQueue.Dequeue() — siempre el mínimo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852160" y="2066544"/>
            <a:ext cx="1691640" cy="310896"/>
          </a:xfrm>
          <a:prstGeom prst="rect">
            <a:avLst/>
          </a:prstGeom>
          <a:solidFill>
            <a:srgbClr val="F6F6F6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25312" y="2066544"/>
            <a:ext cx="1581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Óptimo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2414016"/>
            <a:ext cx="100584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241401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76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371600" y="2414016"/>
            <a:ext cx="12801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44752" y="2414016"/>
            <a:ext cx="1170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651760" y="2414016"/>
            <a:ext cx="32004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24912" y="2414016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lista de conductores por disponibilidad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52160" y="2414016"/>
            <a:ext cx="169164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25312" y="2414016"/>
            <a:ext cx="1581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76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Aceptable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2761488"/>
            <a:ext cx="1005840" cy="310896"/>
          </a:xfrm>
          <a:prstGeom prst="rect">
            <a:avLst/>
          </a:prstGeom>
          <a:solidFill>
            <a:srgbClr val="F6F6F6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" y="2761488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76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371600" y="2761488"/>
            <a:ext cx="1280160" cy="310896"/>
          </a:xfrm>
          <a:prstGeom prst="rect">
            <a:avLst/>
          </a:prstGeom>
          <a:solidFill>
            <a:srgbClr val="F6F6F6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444752" y="2761488"/>
            <a:ext cx="1170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Linealítmica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651760" y="2761488"/>
            <a:ext cx="3200400" cy="310896"/>
          </a:xfrm>
          <a:prstGeom prst="rect">
            <a:avLst/>
          </a:prstGeom>
          <a:solidFill>
            <a:srgbClr val="F6F6F6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24912" y="2761488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sort / Merge sort de resultados de rutas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852160" y="2761488"/>
            <a:ext cx="1691640" cy="310896"/>
          </a:xfrm>
          <a:prstGeom prst="rect">
            <a:avLst/>
          </a:prstGeom>
          <a:solidFill>
            <a:srgbClr val="F6F6F6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25312" y="2761488"/>
            <a:ext cx="1581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C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Límite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3108960"/>
            <a:ext cx="100584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8912" y="3108960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76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371600" y="3108960"/>
            <a:ext cx="12801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44752" y="3108960"/>
            <a:ext cx="1170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Cuadrática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651760" y="3108960"/>
            <a:ext cx="32004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24912" y="3108960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for anidado de conductores — INACEPTABLE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852160" y="3108960"/>
            <a:ext cx="169164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25312" y="3108960"/>
            <a:ext cx="1581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Evitar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65760" y="3547872"/>
            <a:ext cx="8412480" cy="530352"/>
          </a:xfrm>
          <a:prstGeom prst="rect">
            <a:avLst/>
          </a:prstGeom>
          <a:solidFill>
            <a:srgbClr val="EBF2FF"/>
          </a:solidFill>
          <a:ln w="10160">
            <a:solidFill>
              <a:srgbClr val="276E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35844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76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Uber procesa ~18 millones de viajes/día. Un algoritmo O(n²) con 50,000 conductores activos ejecuta 2,500,000,000 operaciones por solicitud — físicamente imposible en tiempo real.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PriorityQueue&lt;Conductor, int&gt;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del conductor más cercano al pasajero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93392"/>
            <a:ext cx="1097280" cy="0"/>
          </a:xfrm>
          <a:prstGeom prst="line">
            <a:avLst/>
          </a:prstGeom>
          <a:noFill/>
          <a:ln w="31750">
            <a:solidFill>
              <a:srgbClr val="276EF1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34747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PriorityQueue vs Lista ordenada — O(log n) vs O(n log n)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0"/>
          </a:xfrm>
          <a:prstGeom prst="line">
            <a:avLst/>
          </a:prstGeom>
          <a:noFill/>
          <a:ln w="1016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9263"/>
            <a:ext cx="5372100" cy="3204972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9264"/>
            <a:ext cx="274320" cy="23408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60704"/>
            <a:ext cx="4937760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MODELO ────────────────────────────────────────────────────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record Conductor(int Id, string Nombre, double Lat, double Lon);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int Distancia(Conductor c, double pLat, double pLon)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=&gt; (int)(Math.Abs(c.Lat - pLat) + Math.Abs(c.Lon - pLon) * 1000);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ASIGNACIÓN CON PRIORITYQUEUE (Min-Heap) ───────────────────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cola = new PriorityQueue&lt;Conductor, int&gt;();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conductores = new[] {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Conductor(1,"Carlos", -12.046, -77.043),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Conductor(2,"María",  -12.051, -77.038),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Conductor(3,"Pedro",  -12.040, -77.050),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pasLat = -12.048, pasLon = -77.041;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(var c in conductores)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cola.Enqueue(c, Distancia(c, pasLat, pasLon)); // O(log n) c/u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asignado = cola.Dequeue(); // O(log n) — siempre el mínimo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Console.WriteLine($"Conductor asignado: {asignado.Nombre}");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5806440" y="969264"/>
            <a:ext cx="3108960" cy="3278124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06440" y="969264"/>
            <a:ext cx="274320" cy="23408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060704"/>
            <a:ext cx="2560320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POR QUÉ NO LISTA ORDENADA ────────────────────────────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Lista: inserción O(n log n), lectura O(1)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lista.Add((c, dist));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lista.Sort((a,b) =&gt; a.Item2 - b.Item2); // O(n log n) ❌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PriorityQueue (Min-Heap):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• Enqueue : O(log n)  ✓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• Dequeue : O(log n)  ✓ siempre el mínimo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• Peek    : O(1)      ✓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 50,000 conductores en Lima: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List.Sort  → ~800,000 comparaciones  ❌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Heap.Enqueue →     ~16 comparaciones  ✓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 diferencia: 50,000× más operaciones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 lista vs heap en worst-case.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6812280" y="398678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Dictionary&lt;string, List&lt;Conductor&gt;&gt;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Indexación de conductores disponibles por zona geográfica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93392"/>
            <a:ext cx="1097280" cy="0"/>
          </a:xfrm>
          <a:prstGeom prst="line">
            <a:avLst/>
          </a:prstGeom>
          <a:noFill/>
          <a:ln w="31750">
            <a:solidFill>
              <a:srgbClr val="276EF1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800" dirty="0">
                <a:solidFill>
                  <a:srgbClr val="54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 ·  DICTIONARY — ÍNDICE POR ZONA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— O(1) lookup por geohash de zona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1016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62990"/>
            <a:ext cx="5486400" cy="350901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78992"/>
            <a:ext cx="274320" cy="30175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70432"/>
            <a:ext cx="5074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ÍNDICE: zona → conductores disponibles ───────────────────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indice = new Dictionary&lt;string, List&lt;Conductor&gt;&gt;();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RegistrarConductor(Conductor c, string zona) {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(!indice.ContainsKey(zona))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indice[zona] = new List&lt;Conductor&gt;();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indice[zona].Add(c);                        // O(1) amortizado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Geohash simplificado — grilla de ~1 km²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CalcZona(double lat, double lon)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=&gt; $"{(int)(lat * 10)},{(int)(lon * 10)}";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Obtener conductores por zona → O(1) amortizado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List&lt;Conductor&gt; ObtenerZona(string zona)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=&gt; indice.TryGetValue(zona, out var lista)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? lista : new List&lt;Conductor&gt;();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USO REAL ─────────────────────────────────────────────────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RegistrarConductor(new Conductor(1,"Ana",-12.046,-77.043),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CalcZona(-12.046,-77.043));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cercanos = ObtenerZona("-120,-770");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O(1): hash directo al bucket, sin recorrer nada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5989320" y="1078992"/>
            <a:ext cx="2788920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078992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Dictionary&lt;K,V&gt; — Complejidades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989320" y="1371600"/>
            <a:ext cx="187452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62472" y="1371600"/>
            <a:ext cx="1801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/ Búsqueda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863840" y="1371600"/>
            <a:ext cx="9144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13716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O(1)*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755648"/>
            <a:ext cx="1874520" cy="347472"/>
          </a:xfrm>
          <a:prstGeom prst="rect">
            <a:avLst/>
          </a:prstGeom>
          <a:solidFill>
            <a:srgbClr val="F6F6F6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62472" y="1755648"/>
            <a:ext cx="1801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Inserción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863840" y="1755648"/>
            <a:ext cx="914400" cy="347472"/>
          </a:xfrm>
          <a:prstGeom prst="rect">
            <a:avLst/>
          </a:prstGeom>
          <a:solidFill>
            <a:srgbClr val="F6F6F6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175564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O(1)*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89320" y="2139696"/>
            <a:ext cx="187452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62472" y="2139696"/>
            <a:ext cx="1801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863840" y="2139696"/>
            <a:ext cx="9144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0" y="213969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O(1)*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89320" y="2523744"/>
            <a:ext cx="1874520" cy="347472"/>
          </a:xfrm>
          <a:prstGeom prst="rect">
            <a:avLst/>
          </a:prstGeom>
          <a:solidFill>
            <a:srgbClr val="F6F6F6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62472" y="2523744"/>
            <a:ext cx="1801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Colisión worst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863840" y="2523744"/>
            <a:ext cx="914400" cy="347472"/>
          </a:xfrm>
          <a:prstGeom prst="rect">
            <a:avLst/>
          </a:prstGeom>
          <a:solidFill>
            <a:srgbClr val="F6F6F6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0" y="252374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9320" y="2907792"/>
            <a:ext cx="187452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62472" y="2907792"/>
            <a:ext cx="1801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Iteración total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863840" y="2907792"/>
            <a:ext cx="9144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0" y="290779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C0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989320" y="3291840"/>
            <a:ext cx="2788920" cy="457200"/>
          </a:xfrm>
          <a:prstGeom prst="rect">
            <a:avLst/>
          </a:prstGeom>
          <a:solidFill>
            <a:srgbClr val="EBF2FF"/>
          </a:solidFill>
          <a:ln w="6350">
            <a:solidFill>
              <a:srgbClr val="276E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62472" y="332841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276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Amortizado. .NET usa tabla hash con factor de carga 0.72. GetHashCode() de string es O(k) donde k = longitud de la clave.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&amp; A* — Ruta más corta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de camino mínimo en el grafo de calles de Uber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93392"/>
            <a:ext cx="1097280" cy="0"/>
          </a:xfrm>
          <a:prstGeom prst="line">
            <a:avLst/>
          </a:prstGeom>
          <a:noFill/>
          <a:ln w="31750">
            <a:solidFill>
              <a:srgbClr val="276EF1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Dijkstra y A* en C#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784860"/>
            <a:ext cx="8412480" cy="0"/>
          </a:xfrm>
          <a:prstGeom prst="line">
            <a:avLst/>
          </a:prstGeom>
          <a:noFill/>
          <a:ln w="1016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57428"/>
            <a:ext cx="4251960" cy="2516124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78992"/>
            <a:ext cx="274320" cy="21945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729996"/>
            <a:ext cx="3931920" cy="24521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DIJKSTRA — O((V+E) log V) ────────────────────────────────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grafo = new Dictionary&lt;int, List&lt;(int vecino, int peso)&gt;&gt;();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Dijkstra(int origen, int nodos) {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dist = new int[nodos];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Array.Fill(dist, int.MaxValue);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dist[origen] = 0;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pq = new PriorityQueue&lt;int, int&gt;();  // min-heap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pq.Enqueue(origen, 0);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(pq.Count &gt; 0) {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u = pq.Dequeue();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(!grafo.ContainsKey(u)) continue;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foreach (var (v, w) in grafo[u]) {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nd = dist[u] + w;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(nd &lt; dist[v]) { dist[v] = nd; pq.Enqueue(v, nd); }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dist;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4846320" y="693421"/>
            <a:ext cx="4005072" cy="4335779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078992"/>
            <a:ext cx="274320" cy="21945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66360" y="839725"/>
            <a:ext cx="3520440" cy="40050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A* — O(E log V) con buena heurística ─────────────────────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Heuristica(Nodo a, Nodo b)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=&gt; Math.Sqrt(Math.Pow(a.Lat-b.Lat,2)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+ Math.Pow(a.Lon-b.Lon,2));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AStar(int origen, int destino) {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gScore = new Dictionary&lt;int,double&gt;();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fScore = new Dictionary&lt;int,double&gt;();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gScore[origen] = 0;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fScore[origen] = Heuristica(nodos[origen],nodos[destino]);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abierta = new PriorityQueue&lt;int,double&gt;();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abierta.Enqueue(origen, fScore[origen]);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(abierta.Count &gt; 0) {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u = abierta.Dequeue();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(u == destino) break;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foreach (var (v, w) in grafo[u]) {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double tentG = gScore[u] + w;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(tentG &lt; gScore.GetValueOrDefault(v,double.MaxValue)) {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gScore[v] = tentG;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fScore[v] = tentG + Heuristica(nodos[v],nodos[destino]);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abierta.Enqueue(v, fScore[v]);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ReconstruirRuta(origen, destino);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365760" y="3364991"/>
            <a:ext cx="1363980" cy="310897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3401568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737360" y="3382518"/>
            <a:ext cx="1356360" cy="329184"/>
          </a:xfrm>
          <a:prstGeom prst="rect">
            <a:avLst/>
          </a:prstGeom>
          <a:solidFill>
            <a:srgbClr val="545454"/>
          </a:solidFill>
          <a:ln w="12700">
            <a:solidFill>
              <a:srgbClr val="545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02892" y="3401568"/>
            <a:ext cx="3518916" cy="236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01340" y="3401568"/>
            <a:ext cx="1722120" cy="310134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9252" y="3401568"/>
            <a:ext cx="1458468" cy="2827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(A-Star)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675888"/>
            <a:ext cx="1363980" cy="2362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675888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729740" y="3684270"/>
            <a:ext cx="1356360" cy="2362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37360" y="3684270"/>
            <a:ext cx="1363980" cy="2552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— todos los vecinos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01340" y="3675888"/>
            <a:ext cx="1722120" cy="280416"/>
          </a:xfrm>
          <a:prstGeom prst="rect">
            <a:avLst/>
          </a:prstGeom>
          <a:solidFill>
            <a:srgbClr val="FFFFFF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93720" y="3675888"/>
            <a:ext cx="1882140" cy="291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76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f(n) = g(n) + h(n) con dist. al destino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912108"/>
            <a:ext cx="1363980" cy="339852"/>
          </a:xfrm>
          <a:prstGeom prst="rect">
            <a:avLst/>
          </a:prstGeom>
          <a:solidFill>
            <a:srgbClr val="F6F6F6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97764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Nodos visitados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37360" y="3920490"/>
            <a:ext cx="1348740" cy="312420"/>
          </a:xfrm>
          <a:prstGeom prst="rect">
            <a:avLst/>
          </a:prstGeom>
          <a:solidFill>
            <a:srgbClr val="F6F6F6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s-PE" dirty="0"/>
          </a:p>
        </p:txBody>
      </p:sp>
      <p:sp>
        <p:nvSpPr>
          <p:cNvPr id="26" name="Text 24"/>
          <p:cNvSpPr/>
          <p:nvPr/>
        </p:nvSpPr>
        <p:spPr>
          <a:xfrm>
            <a:off x="1729740" y="3977640"/>
            <a:ext cx="1371600" cy="170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desde origen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24200" y="3977640"/>
            <a:ext cx="1699260" cy="329184"/>
          </a:xfrm>
          <a:prstGeom prst="rect">
            <a:avLst/>
          </a:prstGeom>
          <a:solidFill>
            <a:srgbClr val="F6F6F6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0" y="3977640"/>
            <a:ext cx="1766316" cy="2636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76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los que se acercan al destino (~5-15%)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4279392"/>
            <a:ext cx="1363980" cy="2636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427939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737360" y="4260342"/>
            <a:ext cx="1363980" cy="2362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s-PE" dirty="0"/>
          </a:p>
        </p:txBody>
      </p:sp>
      <p:sp>
        <p:nvSpPr>
          <p:cNvPr id="32" name="Text 30"/>
          <p:cNvSpPr/>
          <p:nvPr/>
        </p:nvSpPr>
        <p:spPr>
          <a:xfrm>
            <a:off x="1729740" y="4279392"/>
            <a:ext cx="1371600" cy="189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lento en grafos grandes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116580" y="4279392"/>
            <a:ext cx="1684020" cy="217170"/>
          </a:xfrm>
          <a:prstGeom prst="rect">
            <a:avLst/>
          </a:prstGeom>
          <a:solidFill>
            <a:srgbClr val="FFFFFF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86100" y="4279392"/>
            <a:ext cx="1706880" cy="3185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76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rápido con destino conocido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4581144"/>
            <a:ext cx="1363980" cy="263652"/>
          </a:xfrm>
          <a:prstGeom prst="rect">
            <a:avLst/>
          </a:prstGeom>
          <a:solidFill>
            <a:srgbClr val="F6F6F6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4581144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Uber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729740" y="4526280"/>
            <a:ext cx="1371600" cy="282702"/>
          </a:xfrm>
          <a:prstGeom prst="rect">
            <a:avLst/>
          </a:prstGeom>
          <a:solidFill>
            <a:srgbClr val="F6F6F6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s-PE" dirty="0"/>
          </a:p>
        </p:txBody>
      </p:sp>
      <p:sp>
        <p:nvSpPr>
          <p:cNvPr id="38" name="Text 36"/>
          <p:cNvSpPr/>
          <p:nvPr/>
        </p:nvSpPr>
        <p:spPr>
          <a:xfrm>
            <a:off x="1729740" y="4581144"/>
            <a:ext cx="1371600" cy="1203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Isócronas / zonas de precio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108960" y="4597908"/>
            <a:ext cx="1737360" cy="236220"/>
          </a:xfrm>
          <a:prstGeom prst="rect">
            <a:avLst/>
          </a:prstGeom>
          <a:solidFill>
            <a:srgbClr val="F6F6F6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59252" y="4581144"/>
            <a:ext cx="1716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76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P2P en tiempo real ✓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Viajes — Búsqueda por Fecha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estructura de datos elegir y por qué?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93392"/>
            <a:ext cx="1097280" cy="0"/>
          </a:xfrm>
          <a:prstGeom prst="line">
            <a:avLst/>
          </a:prstGeom>
          <a:noFill/>
          <a:ln w="31750">
            <a:solidFill>
              <a:srgbClr val="276EF1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-26517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800" dirty="0">
                <a:solidFill>
                  <a:srgbClr val="54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 ·  HISTORIAL DE VIAJES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4028"/>
            <a:ext cx="8412480" cy="8183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SortedDictionary&lt;DateTime, List&lt;Viaje&gt;&gt; — Elección óptima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1016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78992"/>
            <a:ext cx="2651760" cy="1188720"/>
          </a:xfrm>
          <a:prstGeom prst="rect">
            <a:avLst/>
          </a:prstGeom>
          <a:solidFill>
            <a:srgbClr val="F6F6F6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78992"/>
            <a:ext cx="2743200" cy="36576"/>
          </a:xfrm>
          <a:prstGeom prst="rect">
            <a:avLst/>
          </a:prstGeom>
          <a:solidFill>
            <a:srgbClr val="545454"/>
          </a:solidFill>
          <a:ln w="12700">
            <a:solidFill>
              <a:srgbClr val="545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List&lt;Viaje&gt; ordenada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454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Búsqueda: O(n)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5454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Inserción: O(n)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84708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59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Simple de implementar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20848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Inserción O(n) por re-orden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46120" y="1078992"/>
            <a:ext cx="2651760" cy="1188720"/>
          </a:xfrm>
          <a:prstGeom prst="rect">
            <a:avLst/>
          </a:prstGeom>
          <a:solidFill>
            <a:srgbClr val="F6F6F6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078992"/>
            <a:ext cx="2743200" cy="36576"/>
          </a:xfrm>
          <a:prstGeom prst="rect">
            <a:avLst/>
          </a:prstGeom>
          <a:solidFill>
            <a:srgbClr val="545454"/>
          </a:solidFill>
          <a:ln w="12700">
            <a:solidFill>
              <a:srgbClr val="5454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11556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SortedList&lt;DateTime,Viaje&gt;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37560" y="14447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454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Búsqueda: O(log n)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5454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Inserción: O(n)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184708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59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Acceso por índice + binario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37560" y="20848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Inserción O(n) — mala si hay muchos viajes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26480" y="1078992"/>
            <a:ext cx="2651760" cy="1188719"/>
          </a:xfrm>
          <a:prstGeom prst="rect">
            <a:avLst/>
          </a:prstGeom>
          <a:solidFill>
            <a:srgbClr val="EBF2FF"/>
          </a:solidFill>
          <a:ln w="15240">
            <a:solidFill>
              <a:srgbClr val="276E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078992"/>
            <a:ext cx="2743200" cy="36576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11556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SortedDictionary&lt;DateTime,Viaje&gt;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17920" y="14447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6E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Búsqueda: O(log n)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76E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Inserción: O(log n)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0" y="184708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59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Búsqueda por rango nativa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217920" y="20848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76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Inserción O(log n)  ← ELEGIDA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2304287"/>
            <a:ext cx="8412480" cy="2706625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633472"/>
            <a:ext cx="274320" cy="23774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2304286"/>
            <a:ext cx="8001000" cy="27066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IMPLEMENTACIÓN ELEGIDA ────────────────────────────────────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historial = new SortedDictionary&lt;DateTime, List&lt;Viaje&gt;&gt;();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AgregarViaje(Viaje v) {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fecha = v.Fecha.Date;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(!historial.ContainsKey(fecha))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historial[fecha] = new List&lt;Viaje&gt;();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historial[fecha].Add(v);              // O(log n)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Búsqueda por rango de fechas → O(log n + k)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 inicio = DateTime.Today.AddDays(-7);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 fin    = DateTime.Today;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rango = historial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.Where(kv =&gt; kv.Key &gt;= inicio &amp;&amp; kv.Key &lt;= fin)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.SelectMany(kv =&gt; kv.Value)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820" dirty="0" err="1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</a:t>
            </a: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Por qué NO List&lt;Viaje&gt;: Insert en orden = O(n) por desplazamiento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Por qué NO SortedList: Insert O(n) — igual de lento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SortedDictionary usa Red-Black Tree internamente → O(log n) siempre</a:t>
            </a:r>
            <a:endParaRPr lang="en-US" sz="8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List&lt;T&gt; vs LinkedList&lt;T&gt; vs Queue&lt;T&gt;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comparativo para cola de viajes Uber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93392"/>
            <a:ext cx="1097280" cy="0"/>
          </a:xfrm>
          <a:prstGeom prst="line">
            <a:avLst/>
          </a:prstGeom>
          <a:noFill/>
          <a:ln w="31750">
            <a:solidFill>
              <a:srgbClr val="276EF1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800" dirty="0">
                <a:solidFill>
                  <a:srgbClr val="54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  ·  COMPARATIVA DE ESTRUCTURAS PARA COLA FIFO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List&lt;T&gt; vs LinkedList&lt;T&gt; vs Queue&lt;T&gt;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1016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78992"/>
            <a:ext cx="2743200" cy="502920"/>
          </a:xfrm>
          <a:prstGeom prst="rect">
            <a:avLst/>
          </a:prstGeom>
          <a:solidFill>
            <a:srgbClr val="F6F6F6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97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List&lt;T&gt;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3533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dinámico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581912"/>
            <a:ext cx="27432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58191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al final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57400" y="1581912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O(1)*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929384"/>
            <a:ext cx="2743200" cy="310896"/>
          </a:xfrm>
          <a:prstGeom prst="rect">
            <a:avLst/>
          </a:prstGeom>
          <a:solidFill>
            <a:srgbClr val="F6F6F6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92938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al inicio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57400" y="1929384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276856"/>
            <a:ext cx="27432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27685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Remove(0)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57400" y="2276856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624328"/>
            <a:ext cx="2743200" cy="310896"/>
          </a:xfrm>
          <a:prstGeom prst="rect">
            <a:avLst/>
          </a:prstGeom>
          <a:solidFill>
            <a:srgbClr val="F6F6F6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62432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Acceso [i]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57400" y="262432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990088"/>
            <a:ext cx="2743200" cy="329184"/>
          </a:xfrm>
          <a:prstGeom prst="rect">
            <a:avLst/>
          </a:prstGeom>
          <a:solidFill>
            <a:srgbClr val="F6F6F6"/>
          </a:solidFill>
          <a:ln w="10160">
            <a:solidFill>
              <a:srgbClr val="C810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9923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Mala para FIFO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3558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Remove(0) desplaza todos los elementos.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46120" y="1078992"/>
            <a:ext cx="2743200" cy="502920"/>
          </a:xfrm>
          <a:prstGeom prst="rect">
            <a:avLst/>
          </a:prstGeom>
          <a:solidFill>
            <a:srgbClr val="F6F6F6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55848" y="1097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LinkedList&lt;T&gt;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55848" y="13533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Nodos doblemente enlazados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46120" y="1581912"/>
            <a:ext cx="27432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158191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AddFirst/Last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0" y="1581912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46120" y="1929384"/>
            <a:ext cx="2743200" cy="310896"/>
          </a:xfrm>
          <a:prstGeom prst="rect">
            <a:avLst/>
          </a:prstGeom>
          <a:solidFill>
            <a:srgbClr val="F6F6F6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55848" y="192938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RemoveFirst/Last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37760" y="1929384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46120" y="2276856"/>
            <a:ext cx="27432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55848" y="227685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Acceso [i]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37760" y="2276856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46120" y="2624328"/>
            <a:ext cx="2743200" cy="310896"/>
          </a:xfrm>
          <a:prstGeom prst="rect">
            <a:avLst/>
          </a:prstGeom>
          <a:solidFill>
            <a:srgbClr val="F6F6F6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55848" y="262432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37760" y="262432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C0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46120" y="2990088"/>
            <a:ext cx="2743200" cy="329184"/>
          </a:xfrm>
          <a:prstGeom prst="rect">
            <a:avLst/>
          </a:prstGeom>
          <a:solidFill>
            <a:srgbClr val="F6F6F6"/>
          </a:solidFill>
          <a:ln w="10160">
            <a:solidFill>
              <a:srgbClr val="FFC04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299923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C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Cache misses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337560" y="33558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Pobre localidad de caché. Más lenta en práctica.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126480" y="1078992"/>
            <a:ext cx="2743200" cy="5029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36208" y="1097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Queue&lt;T&gt;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236208" y="13533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buffer interno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126480" y="1581912"/>
            <a:ext cx="27432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36208" y="158191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Enqueue (cola)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818120" y="1581912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O(1)*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126480" y="1929384"/>
            <a:ext cx="2743200" cy="310896"/>
          </a:xfrm>
          <a:prstGeom prst="rect">
            <a:avLst/>
          </a:prstGeom>
          <a:solidFill>
            <a:srgbClr val="F6F6F6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36208" y="192938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Dequeue (frente)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818120" y="1929384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26480" y="2276856"/>
            <a:ext cx="27432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36208" y="227685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Peek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818120" y="2276856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126480" y="2624328"/>
            <a:ext cx="2743200" cy="310896"/>
          </a:xfrm>
          <a:prstGeom prst="rect">
            <a:avLst/>
          </a:prstGeom>
          <a:solidFill>
            <a:srgbClr val="F6F6F6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36208" y="262432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Acceso [i]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818120" y="262432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454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N/A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126480" y="2990088"/>
            <a:ext cx="2743200" cy="329184"/>
          </a:xfrm>
          <a:prstGeom prst="rect">
            <a:avLst/>
          </a:prstGeom>
          <a:solidFill>
            <a:srgbClr val="EBF2FF"/>
          </a:solidFill>
          <a:ln w="10160">
            <a:solidFill>
              <a:srgbClr val="05944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17920" y="299923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IDEAL para FIFO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217920" y="33558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Diseñada exactamente para este patrón.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65760" y="3730752"/>
            <a:ext cx="8412480" cy="1261872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5760" y="3730752"/>
            <a:ext cx="274320" cy="12618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5800" y="3822192"/>
            <a:ext cx="80010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Queue&lt;T&gt; — uso correcto para cola de solicitudes Uber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colaSolicitudes = new Queue&lt;SolicitudViaje&gt;();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colaSolicitudes.Enqueue(solicitud);    // O(1) — buffer circular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sig = colaSolicitudes.Dequeue();   // O(1) — sin desplazamiento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prox = colaSolicitudes.Peek();     // O(1) — solo lectura</a:t>
            </a:r>
            <a:endParaRPr lang="en-US" sz="8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Asignación de Viajes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Combinación de estructuras para mínimo tiempo de respuesta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93392"/>
            <a:ext cx="1097280" cy="0"/>
          </a:xfrm>
          <a:prstGeom prst="line">
            <a:avLst/>
          </a:prstGeom>
          <a:noFill/>
          <a:ln w="31750">
            <a:solidFill>
              <a:srgbClr val="276EF1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800" dirty="0">
                <a:solidFill>
                  <a:srgbClr val="54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  ·  ARQUITECTURA DEL MÓDULO DE ASIGNACIÓN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asignación — Combinación óptima de estructuras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1016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78992"/>
            <a:ext cx="384048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789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078992"/>
            <a:ext cx="67208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13385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de solicitud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380744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6E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Queue&lt;SolicitudViaje&gt;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0" y="1133856"/>
            <a:ext cx="31546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4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garantiza equidad. Enqueue/Dequeue O(1). Buffer circular evita allocations.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607808" y="1243584"/>
            <a:ext cx="1170432" cy="329184"/>
          </a:xfrm>
          <a:prstGeom prst="rect">
            <a:avLst/>
          </a:prstGeom>
          <a:solidFill>
            <a:schemeClr val="accent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07808" y="1243584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1737360"/>
            <a:ext cx="38404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947672"/>
            <a:ext cx="384048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94767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1947672"/>
            <a:ext cx="6720840" cy="658368"/>
          </a:xfrm>
          <a:prstGeom prst="rect">
            <a:avLst/>
          </a:prstGeom>
          <a:solidFill>
            <a:srgbClr val="F6F6F6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200253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por zona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249424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6E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Dictionary&lt;string, PriorityQueue&lt;Conductor,int&gt;&gt;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97680" y="2002536"/>
            <a:ext cx="31546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4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lookup de zona + O(log n) para el conductor más cercano en esa zona.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607808" y="2112264"/>
            <a:ext cx="1170432" cy="329184"/>
          </a:xfrm>
          <a:prstGeom prst="rect">
            <a:avLst/>
          </a:prstGeom>
          <a:solidFill>
            <a:srgbClr val="276EF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07808" y="2112264"/>
            <a:ext cx="1170432" cy="32918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O(log n)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2606040"/>
            <a:ext cx="38404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816352"/>
            <a:ext cx="384048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8163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22960" y="2816352"/>
            <a:ext cx="67208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287121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ruta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3118104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6E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Grafo + A* con PriorityQueue&lt;Nodo, double&gt;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97680" y="2871216"/>
            <a:ext cx="31546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4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con heurística geoespacial reduce nodos explorados en ~85% vs Dijkstra puro.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607808" y="2980944"/>
            <a:ext cx="1170432" cy="329184"/>
          </a:xfrm>
          <a:prstGeom prst="rect">
            <a:avLst/>
          </a:prstGeom>
          <a:solidFill>
            <a:srgbClr val="FFC04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07808" y="2980944"/>
            <a:ext cx="1170432" cy="329184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O(E log V)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" y="3474720"/>
            <a:ext cx="38404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685032"/>
            <a:ext cx="384048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6850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22960" y="3685032"/>
            <a:ext cx="6720840" cy="658368"/>
          </a:xfrm>
          <a:prstGeom prst="rect">
            <a:avLst/>
          </a:prstGeom>
          <a:solidFill>
            <a:srgbClr val="F6F6F6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0120" y="37398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y auditoría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60120" y="3986784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6E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SortedDictionary&lt;DateTime, List&lt;Viaje&gt;&gt;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297680" y="3739896"/>
            <a:ext cx="31546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4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por fecha en O(log n). Fácil extracción de rangos para facturación.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607808" y="3849624"/>
            <a:ext cx="1170432" cy="329184"/>
          </a:xfrm>
          <a:prstGeom prst="rect">
            <a:avLst/>
          </a:prstGeom>
          <a:solidFill>
            <a:schemeClr val="accent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07808" y="3849624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O(log n)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800" dirty="0">
                <a:solidFill>
                  <a:srgbClr val="54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  ·  IMPLEMENTACIÓN INTEGRADA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ModuloAsignacion — Código completo integrado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1016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78992"/>
            <a:ext cx="5943600" cy="39319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78992"/>
            <a:ext cx="274320" cy="3931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70432"/>
            <a:ext cx="55321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ModuloAsignacion {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① Cola FIFO de solicitudes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readonly Queue&lt;SolicitudViaje&gt; _cola = new();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② Índice zona → conductores (min-heap por distancia)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readonly Dictionary&lt;string,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PriorityQueue&lt;Conductor, int&gt;&gt; _indice = new();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③ Historial por fecha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readonly SortedDictionary&lt;DateTime,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List&lt;Viaje&gt;&gt; _historial = new();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Conductor? AsignarConductor(SolicitudViaje sol) {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zona = CalcZona(sol.Lat, sol.Lon);        // O(1)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(!_indice.TryGetValue(zona, out var heap)) // O(1)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null;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conductor = heap.Dequeue();               // O(log n)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ruta = _astar.Calcular(                   // O(E log V)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sol.Origen, sol.Destino);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viaje = new Viaje(sol, conductor, ruta);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RegistrarHistorial(viaje);                    // O(log n)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conductor;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void RegistrarHistorial(Viaje v) {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d = v.Fecha.Date;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(!_historial.ContainsKey(d))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_historial[d] = new List&lt;Viaje&gt;();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_historial[d].Add(v);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6446520" y="1078992"/>
            <a:ext cx="2331720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07899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total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46520" y="1371600"/>
            <a:ext cx="233172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137160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Recibir solicitud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863840" y="13716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46520" y="1755648"/>
            <a:ext cx="2331720" cy="347472"/>
          </a:xfrm>
          <a:prstGeom prst="rect">
            <a:avLst/>
          </a:prstGeom>
          <a:solidFill>
            <a:srgbClr val="F6F6F6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175564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zona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863840" y="175564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46520" y="2139696"/>
            <a:ext cx="233172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2139696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 cercano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863840" y="213969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76E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O(log n)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46520" y="2523744"/>
            <a:ext cx="2331720" cy="347472"/>
          </a:xfrm>
          <a:prstGeom prst="rect">
            <a:avLst/>
          </a:prstGeom>
          <a:solidFill>
            <a:srgbClr val="F6F6F6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9672" y="252374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ruta A*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863840" y="252374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C0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O(E log V)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46520" y="2907792"/>
            <a:ext cx="233172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290779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historial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863840" y="290779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76E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O(log n)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46520" y="3291840"/>
            <a:ext cx="2331720" cy="347472"/>
          </a:xfrm>
          <a:prstGeom prst="rect">
            <a:avLst/>
          </a:prstGeom>
          <a:solidFill>
            <a:srgbClr val="FFC043"/>
          </a:solidFill>
          <a:ln w="12700">
            <a:solidFill>
              <a:srgbClr val="FFC0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32918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43800" y="329184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O(E log V)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46520" y="3675888"/>
            <a:ext cx="2331720" cy="822960"/>
          </a:xfrm>
          <a:prstGeom prst="rect">
            <a:avLst/>
          </a:prstGeom>
          <a:solidFill>
            <a:srgbClr val="EBF2FF"/>
          </a:solidFill>
          <a:ln w="6350">
            <a:solidFill>
              <a:srgbClr val="276E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9672" y="3712464"/>
            <a:ext cx="21945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76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El cuello de botella es A*. Por eso Uber pre-calcula rutas frecuentes y usa Redis cache para reducir latencia a &lt;50ms.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800" dirty="0">
                <a:solidFill>
                  <a:srgbClr val="54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 ·  CASO 3  ·  UBER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87552"/>
            <a:ext cx="4206240" cy="1097280"/>
          </a:xfrm>
          <a:prstGeom prst="rect">
            <a:avLst/>
          </a:prstGeom>
          <a:solidFill>
            <a:srgbClr val="111111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87552"/>
            <a:ext cx="36576" cy="1097280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607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6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06070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O determina la viabilidad del sistema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" y="1371600"/>
            <a:ext cx="398678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escala de Uber, un algoritmo O(n²) con 50k conductores hace inviable el servicio. Big O es la herramienta esencial para decisiones de diseño a producción.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65760" y="2249424"/>
            <a:ext cx="4206240" cy="1097280"/>
          </a:xfrm>
          <a:prstGeom prst="rect">
            <a:avLst/>
          </a:prstGeom>
          <a:solidFill>
            <a:srgbClr val="111111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249424"/>
            <a:ext cx="36576" cy="1097280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32257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6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232257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PriorityQueue supera a la lista ordenada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" y="2633472"/>
            <a:ext cx="398678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heap garantiza Enqueue/Dequeue en O(log n). Con 50k conductores: ~16 comparaciones vs ~800,000 de List.Sort() — diferencia de 50,000×.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365760" y="3511296"/>
            <a:ext cx="4206240" cy="1097280"/>
          </a:xfrm>
          <a:prstGeom prst="rect">
            <a:avLst/>
          </a:prstGeom>
          <a:solidFill>
            <a:srgbClr val="111111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511296"/>
            <a:ext cx="36576" cy="1097280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58444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6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" y="35844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es la clave de la geolocalización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" y="3895344"/>
            <a:ext cx="398678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O(1) amortizado por zona geohash permite escalar zonas sin impacto en el tiempo de respuesta — imposible con listas lineales.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800600" y="987552"/>
            <a:ext cx="4206240" cy="1097280"/>
          </a:xfrm>
          <a:prstGeom prst="rect">
            <a:avLst/>
          </a:prstGeom>
          <a:solidFill>
            <a:srgbClr val="111111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987552"/>
            <a:ext cx="36576" cy="1097280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10607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6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10328" y="106070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es superior a Dijkstra para navegación P2P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10328" y="1371600"/>
            <a:ext cx="398678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heurística geoespacial reduce nodos explorados en ~85%, haciendo viable el cálculo de rutas en tiempo real para millones de viajes.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4800600" y="2249424"/>
            <a:ext cx="4206240" cy="1097280"/>
          </a:xfrm>
          <a:prstGeom prst="rect">
            <a:avLst/>
          </a:prstGeom>
          <a:solidFill>
            <a:srgbClr val="111111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2249424"/>
            <a:ext cx="36576" cy="1097280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232257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6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10328" y="232257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Queue&lt;T&gt; es el contenedor FIFO ideal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10328" y="2633472"/>
            <a:ext cx="398678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circular garantiza Enqueue/Dequeue O(1) sin penalizaciones de LinkedList (cache miss) o List (desplazamiento O(n)).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4800600" y="3511296"/>
            <a:ext cx="4206240" cy="1097280"/>
          </a:xfrm>
          <a:prstGeom prst="rect">
            <a:avLst/>
          </a:prstGeom>
          <a:solidFill>
            <a:srgbClr val="111111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3511296"/>
            <a:ext cx="36576" cy="1097280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358444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6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10328" y="35844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combinación correcta de estructuras es clave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10328" y="3895344"/>
            <a:ext cx="398678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estructura lo hace todo bien. Queue + Dictionary + PriorityQueue + SortedDictionary — cada responsabilidad a su estructura.</a:t>
            </a:r>
            <a:endParaRPr lang="en-US" sz="8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800" dirty="0">
                <a:solidFill>
                  <a:srgbClr val="54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BIBLIOGRAFÍA  ·  CASO 3  ·  UBER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Bibliografía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1016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8620" y="1033272"/>
            <a:ext cx="274320" cy="310896"/>
          </a:xfrm>
          <a:prstGeom prst="rect">
            <a:avLst/>
          </a:prstGeom>
          <a:solidFill>
            <a:srgbClr val="F6F6F6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1556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4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1338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Microsoft. (2024).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88920" y="11338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PriorityQueue&lt;TElement,TPriority&gt; Class.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577840" y="113385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76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https://learn.microsoft.com/en-us/dotnet/api/system.collections.generic.priorityqueue-2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65760" y="1536192"/>
            <a:ext cx="274320" cy="310896"/>
          </a:xfrm>
          <a:prstGeom prst="rect">
            <a:avLst/>
          </a:prstGeom>
          <a:solidFill>
            <a:srgbClr val="F6F6F6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53619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4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5544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Microsoft. (2024).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88920" y="1554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Dictionary&lt;TKey,TValue&gt; Class.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77840" y="15544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76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https://learn.microsoft.com/en-us/dotnet/api/system.collections.generic.dictionary-2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65760" y="1956816"/>
            <a:ext cx="274320" cy="310896"/>
          </a:xfrm>
          <a:prstGeom prst="rect">
            <a:avLst/>
          </a:prstGeom>
          <a:solidFill>
            <a:srgbClr val="F6F6F6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5681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4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197510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Cormen, T. H., et al. (2022).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88920" y="19751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Algorithms, 4th ed.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77840" y="197510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76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Press — https://mitpress.mit.edu/9780262046305/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5760" y="2377440"/>
            <a:ext cx="274320" cy="310896"/>
          </a:xfrm>
          <a:prstGeom prst="rect">
            <a:avLst/>
          </a:prstGeom>
          <a:solidFill>
            <a:srgbClr val="F6F6F6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37744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4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23957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Sedgewick, R. &amp; Wayne, K. (2011).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88920" y="23957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Algorithms, 4th ed.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77840" y="23957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76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Addison-Wesley — https://algs4.cs.princeton.edu/home/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65760" y="2798064"/>
            <a:ext cx="274320" cy="310896"/>
          </a:xfrm>
          <a:prstGeom prst="rect">
            <a:avLst/>
          </a:prstGeom>
          <a:solidFill>
            <a:srgbClr val="F6F6F6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79806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4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28163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Hart, P., Nilsson, N., Raphael, B. (1968).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88920" y="28163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 Basis for A* Heuristic Determination.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77840" y="28163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76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— https://doi.org/10.1109/TSSC.1968.300136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65760" y="3218688"/>
            <a:ext cx="274320" cy="310896"/>
          </a:xfrm>
          <a:prstGeom prst="rect">
            <a:avLst/>
          </a:prstGeom>
          <a:solidFill>
            <a:srgbClr val="F6F6F6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1868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4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1520" y="32369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Microsoft. (2024).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88920" y="323697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and Data Structures in .NET.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77840" y="323697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76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https://learn.microsoft.com/en-us/dotnet/standard/collections/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65760" y="3639312"/>
            <a:ext cx="274320" cy="310896"/>
          </a:xfrm>
          <a:prstGeom prst="rect">
            <a:avLst/>
          </a:prstGeom>
          <a:solidFill>
            <a:srgbClr val="F6F6F6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63931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4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520" y="36576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Engineering. (2023).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788920" y="36576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H3: Uber's Hexagonal Hierarchical Spatial Index.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577840" y="36576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76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https://github.com/uber/h3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65760" y="4059936"/>
            <a:ext cx="274320" cy="310896"/>
          </a:xfrm>
          <a:prstGeom prst="rect">
            <a:avLst/>
          </a:prstGeom>
          <a:solidFill>
            <a:srgbClr val="F6F6F6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05993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4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31520" y="407822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Skiena, S. S. (2020).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788920" y="4078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Design Manual, 3rd ed.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577840" y="40782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76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 — https://link.springer.com/book/10.1007/978-3-030-54256-6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65760" y="4480560"/>
            <a:ext cx="274320" cy="310896"/>
          </a:xfrm>
          <a:prstGeom prst="rect">
            <a:avLst/>
          </a:prstGeom>
          <a:solidFill>
            <a:srgbClr val="F6F6F6"/>
          </a:solidFill>
          <a:ln w="5080">
            <a:solidFill>
              <a:srgbClr val="E2E2E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48056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4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31520" y="44988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 Cheat Sheet. (2024).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788920" y="44988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 Algorithm Complexity Cheat Sheet.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77840" y="44988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76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https://www.bigocheatsheet.com/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5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Wimmer Roman Q.  ·  Lenguaje de Programación C# / .NET  ·  Caso 3 — Uber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3106</Words>
  <Application>Microsoft Office PowerPoint</Application>
  <PresentationFormat>Presentación en pantalla (16:9)</PresentationFormat>
  <Paragraphs>440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Arial</vt:lpstr>
      <vt:lpstr>Arial Black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Wimmer Roman Quispe</cp:lastModifiedBy>
  <cp:revision>3</cp:revision>
  <dcterms:created xsi:type="dcterms:W3CDTF">2026-04-29T03:05:45Z</dcterms:created>
  <dcterms:modified xsi:type="dcterms:W3CDTF">2026-04-29T03:34:36Z</dcterms:modified>
</cp:coreProperties>
</file>