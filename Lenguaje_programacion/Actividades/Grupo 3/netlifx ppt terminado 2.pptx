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E0E7"/>
    <a:srgbClr val="FF3300"/>
    <a:srgbClr val="A375D1"/>
    <a:srgbClr val="3F1F5D"/>
    <a:srgbClr val="B2B2B2"/>
    <a:srgbClr val="202020"/>
    <a:srgbClr val="323232"/>
    <a:srgbClr val="CC3300"/>
    <a:srgbClr val="CC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netfl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71415" cy="685800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4594225" y="13970"/>
            <a:ext cx="7597775" cy="6829425"/>
          </a:xfrm>
          <a:prstGeom prst="rect">
            <a:avLst/>
          </a:prstGeom>
          <a:gradFill>
            <a:gsLst>
              <a:gs pos="83000">
                <a:schemeClr val="tx1"/>
              </a:gs>
              <a:gs pos="37000">
                <a:schemeClr val="tx1">
                  <a:alpha val="40000"/>
                </a:schemeClr>
              </a:gs>
            </a:gsLst>
            <a:lin ang="109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Cuadro de texto 3"/>
          <p:cNvSpPr txBox="1"/>
          <p:nvPr/>
        </p:nvSpPr>
        <p:spPr>
          <a:xfrm>
            <a:off x="5370830" y="2222500"/>
            <a:ext cx="5306695" cy="212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sz="5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Caso 2: Netflix</a:t>
            </a:r>
            <a:endParaRPr lang="en-US" altLang="es-ES" sz="4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Desarrollo de APIs REST con ASP.NET Core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Wimmer Roman</a:t>
            </a:r>
            <a:r>
              <a:rPr lang="es-E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y Marco Alvarado</a:t>
            </a:r>
            <a:endParaRPr lang="es-ES" altLang="en-U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5528310" y="3460115"/>
            <a:ext cx="4441825" cy="317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0" y="0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513715" y="517525"/>
            <a:ext cx="8507730" cy="84328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s-E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Arquitectura MVC en ASP.NET Core</a:t>
            </a:r>
            <a:endParaRPr lang="es-ES" altLang="en-U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288290" y="1460500"/>
            <a:ext cx="3859530" cy="178435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400">
                <a:solidFill>
                  <a:srgbClr val="FF3300"/>
                </a:solidFill>
                <a:latin typeface="Bahnschrift" panose="020B0502040204020203" charset="0"/>
                <a:cs typeface="Bahnschrift" panose="020B0502040204020203" charset="0"/>
              </a:rPr>
              <a:t>Model</a:t>
            </a:r>
            <a:endParaRPr lang="en-US" altLang="es-ES" sz="2400">
              <a:solidFill>
                <a:srgbClr val="FF3300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Gestiona los datos y la l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gica de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negocio. Define entidades como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Pel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cula, Usuario o G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é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nero con sus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propiedades y validaciones.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4493895" y="1460500"/>
            <a:ext cx="3747135" cy="178371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bg1"/>
            </a:solidFill>
            <a:prstDash val="dashDot"/>
          </a:ln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FF3300"/>
                </a:solidFill>
                <a:latin typeface="Bahnschrift" panose="020B0502040204020203" charset="0"/>
                <a:cs typeface="Bahnschrift" panose="020B0502040204020203" charset="0"/>
              </a:rPr>
              <a:t>View</a:t>
            </a:r>
            <a:endParaRPr lang="en-US" altLang="es-ES" sz="2000">
              <a:solidFill>
                <a:srgbClr val="FF3300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Renderiza la interfaz de usuario.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Genera HTML din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mico desde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plantillas Razor, recibiendo datos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del controlador para mostrar al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cliente.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8587105" y="1460500"/>
            <a:ext cx="3456940" cy="1783080"/>
          </a:xfrm>
          <a:prstGeom prst="rect">
            <a:avLst/>
          </a:prstGeom>
          <a:solidFill>
            <a:schemeClr val="tx1">
              <a:alpha val="92000"/>
            </a:schemeClr>
          </a:solidFill>
          <a:ln w="28575" cmpd="sng">
            <a:solidFill>
              <a:schemeClr val="bg1"/>
            </a:solidFill>
            <a:prstDash val="dashDot"/>
          </a:ln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rgbClr val="FF3300"/>
                </a:solidFill>
                <a:latin typeface="Bahnschrift" panose="020B0502040204020203" charset="0"/>
                <a:cs typeface="Bahnschrift" panose="020B0502040204020203" charset="0"/>
              </a:rPr>
              <a:t>Controller</a:t>
            </a:r>
            <a:endParaRPr lang="en-US" altLang="es-ES" sz="2000">
              <a:solidFill>
                <a:srgbClr val="FF3300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Orquesta la comunicaci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n. Recibe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solicitudes HTTP, procesa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par</a:t>
            </a:r>
            <a:r>
              <a:rPr lang="en-U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metros, invoca al modelo y 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selecciona la vista apropiada..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0" y="3805555"/>
            <a:ext cx="9679940" cy="2764790"/>
          </a:xfrm>
          <a:prstGeom prst="rect">
            <a:avLst/>
          </a:prstGeom>
          <a:ln w="28575" cmpd="sng">
            <a:noFill/>
            <a:prstDash val="lgDashDotDot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0" y="0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Cuadro de texto 1"/>
          <p:cNvSpPr txBox="1"/>
          <p:nvPr/>
        </p:nvSpPr>
        <p:spPr>
          <a:xfrm>
            <a:off x="384810" y="180340"/>
            <a:ext cx="7014210" cy="73025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s-E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Implementacion REST en C#</a:t>
            </a:r>
            <a:endParaRPr lang="es-ES" altLang="en-U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13715" y="910590"/>
            <a:ext cx="5902960" cy="5754370"/>
          </a:xfrm>
          <a:prstGeom prst="rect">
            <a:avLst/>
          </a:prstGeom>
          <a:solidFill>
            <a:schemeClr val="bg2">
              <a:lumMod val="25000"/>
              <a:alpha val="92000"/>
            </a:schemeClr>
          </a:solidFill>
        </p:spPr>
        <p:txBody>
          <a:bodyPr wrap="square" rtlCol="0">
            <a:spAutoFit/>
          </a:bodyPr>
          <a:p>
            <a:r>
              <a:rPr lang="en-US" altLang="es-ES" sz="1600">
                <a:solidFill>
                  <a:schemeClr val="bg1"/>
                </a:solidFill>
              </a:rPr>
              <a:t>PeliculasController.cs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accent1"/>
                </a:solidFill>
              </a:rPr>
              <a:t>[ApiController]</a:t>
            </a:r>
            <a:endParaRPr lang="en-US" altLang="es-ES" sz="1600">
              <a:solidFill>
                <a:schemeClr val="accent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[</a:t>
            </a:r>
            <a:r>
              <a:rPr lang="en-US" altLang="es-ES" sz="1600">
                <a:solidFill>
                  <a:schemeClr val="accent1"/>
                </a:solidFill>
              </a:rPr>
              <a:t>Route</a:t>
            </a:r>
            <a:r>
              <a:rPr lang="en-US" altLang="es-ES" sz="1600">
                <a:solidFill>
                  <a:schemeClr val="bg1"/>
                </a:solidFill>
              </a:rPr>
              <a:t>("api/peliculas")]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rgbClr val="FF0000"/>
                </a:solidFill>
              </a:rPr>
              <a:t>public class</a:t>
            </a:r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A375D1"/>
                </a:solidFill>
              </a:rPr>
              <a:t>PeliculasController </a:t>
            </a:r>
            <a:r>
              <a:rPr lang="en-US" altLang="es-ES" sz="1600">
                <a:solidFill>
                  <a:schemeClr val="bg1"/>
                </a:solidFill>
              </a:rPr>
              <a:t>: </a:t>
            </a:r>
            <a:r>
              <a:rPr lang="en-US" altLang="es-ES" sz="1600">
                <a:solidFill>
                  <a:srgbClr val="A375D1"/>
                </a:solidFill>
              </a:rPr>
              <a:t>ControllerBase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private readonly</a:t>
            </a:r>
            <a:r>
              <a:rPr lang="en-US" altLang="es-ES" sz="1600">
                <a:solidFill>
                  <a:schemeClr val="bg1"/>
                </a:solidFill>
              </a:rPr>
              <a:t> IPeliculaService _servicio;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public</a:t>
            </a:r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A375D1"/>
                </a:solidFill>
              </a:rPr>
              <a:t>PeliculasController</a:t>
            </a:r>
            <a:r>
              <a:rPr lang="en-US" altLang="es-ES" sz="1600">
                <a:solidFill>
                  <a:schemeClr val="bg1"/>
                </a:solidFill>
              </a:rPr>
              <a:t>(IPeliculaService servicio)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_servicio = servicio;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[</a:t>
            </a:r>
            <a:r>
              <a:rPr lang="en-US" altLang="es-ES" sz="1600">
                <a:solidFill>
                  <a:schemeClr val="accent1"/>
                </a:solidFill>
              </a:rPr>
              <a:t>HttpGet</a:t>
            </a:r>
            <a:r>
              <a:rPr lang="en-US" altLang="es-ES" sz="1600">
                <a:solidFill>
                  <a:schemeClr val="bg1"/>
                </a:solidFill>
              </a:rPr>
              <a:t>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public async</a:t>
            </a:r>
            <a:r>
              <a:rPr lang="en-US" altLang="es-ES" sz="1600">
                <a:solidFill>
                  <a:schemeClr val="bg1"/>
                </a:solidFill>
              </a:rPr>
              <a:t> Task&gt;&gt; Get()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var </a:t>
            </a:r>
            <a:r>
              <a:rPr lang="en-US" altLang="es-ES" sz="1600">
                <a:solidFill>
                  <a:schemeClr val="bg1"/>
                </a:solidFill>
              </a:rPr>
              <a:t>peliculas = </a:t>
            </a:r>
            <a:r>
              <a:rPr lang="en-US" altLang="es-ES" sz="1600">
                <a:solidFill>
                  <a:srgbClr val="FF0000"/>
                </a:solidFill>
              </a:rPr>
              <a:t>await </a:t>
            </a:r>
            <a:r>
              <a:rPr lang="en-US" altLang="es-ES" sz="1600">
                <a:solidFill>
                  <a:schemeClr val="bg1"/>
                </a:solidFill>
              </a:rPr>
              <a:t>_servicio.ObtenerTodas();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return </a:t>
            </a:r>
            <a:r>
              <a:rPr lang="en-US" altLang="es-ES" sz="1600">
                <a:solidFill>
                  <a:schemeClr val="bg1"/>
                </a:solidFill>
              </a:rPr>
              <a:t>Ok(peliculas); // 200 OK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[</a:t>
            </a:r>
            <a:r>
              <a:rPr lang="en-US" altLang="es-ES" sz="1600">
                <a:solidFill>
                  <a:schemeClr val="accent1"/>
                </a:solidFill>
              </a:rPr>
              <a:t>HttpGet</a:t>
            </a:r>
            <a:r>
              <a:rPr lang="en-US" altLang="es-ES" sz="1600">
                <a:solidFill>
                  <a:schemeClr val="bg1"/>
                </a:solidFill>
              </a:rPr>
              <a:t>("{id}")]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</a:t>
            </a:r>
            <a:r>
              <a:rPr lang="en-US" altLang="es-ES" sz="1600">
                <a:solidFill>
                  <a:srgbClr val="FF0000"/>
                </a:solidFill>
              </a:rPr>
              <a:t>public async</a:t>
            </a:r>
            <a:r>
              <a:rPr lang="en-US" altLang="es-ES" sz="1600">
                <a:solidFill>
                  <a:schemeClr val="bg1"/>
                </a:solidFill>
              </a:rPr>
              <a:t> Task&gt; Get(</a:t>
            </a:r>
            <a:r>
              <a:rPr lang="en-US" altLang="es-ES" sz="1600">
                <a:solidFill>
                  <a:schemeClr val="accent4">
                    <a:lumMod val="60000"/>
                    <a:lumOff val="40000"/>
                  </a:schemeClr>
                </a:solidFill>
              </a:rPr>
              <a:t>int </a:t>
            </a:r>
            <a:r>
              <a:rPr lang="en-US" altLang="es-ES" sz="1600">
                <a:solidFill>
                  <a:schemeClr val="bg1"/>
                </a:solidFill>
              </a:rPr>
              <a:t>id)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var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pelicula =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await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_servicio.ObtenerPorId(id);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return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pelicula != </a:t>
            </a:r>
            <a:r>
              <a:rPr lang="en-US" altLang="es-ES" sz="1600">
                <a:solidFill>
                  <a:schemeClr val="accent1"/>
                </a:solidFill>
                <a:sym typeface="+mn-ea"/>
              </a:rPr>
              <a:t>null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? Ok(pelicula) : NotFound(); // 200 o 404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endParaRPr lang="en-US" altLang="es-ES" sz="1600">
              <a:solidFill>
                <a:schemeClr val="bg1"/>
              </a:solidFill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6546850" y="910590"/>
            <a:ext cx="5178425" cy="5722620"/>
          </a:xfrm>
          <a:prstGeom prst="rect">
            <a:avLst/>
          </a:prstGeom>
          <a:solidFill>
            <a:srgbClr val="323232"/>
          </a:solidFill>
        </p:spPr>
        <p:txBody>
          <a:bodyPr wrap="square" rtlCol="0">
            <a:noAutofit/>
          </a:bodyPr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[</a:t>
            </a:r>
            <a:r>
              <a:rPr lang="en-US" altLang="es-ES" sz="1600">
                <a:solidFill>
                  <a:schemeClr val="accent1"/>
                </a:solidFill>
                <a:sym typeface="+mn-ea"/>
              </a:rPr>
              <a:t>HttpPost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public async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 Task&gt; Post([FromBody] Pelicula pelicula)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var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nuevaPelicula =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await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_servicio.Crear(pelicula);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return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CreatedAtAction(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nameof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(Get),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new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{ id = nuevaPelicula.Id }, nuevaPelicula); // 201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Created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[</a:t>
            </a:r>
            <a:r>
              <a:rPr lang="en-US" altLang="es-ES" sz="1600">
                <a:solidFill>
                  <a:schemeClr val="accent1"/>
                </a:solidFill>
                <a:sym typeface="+mn-ea"/>
              </a:rPr>
              <a:t>HttpPut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("{id}")]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public async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 Task </a:t>
            </a:r>
            <a:r>
              <a:rPr lang="en-US" altLang="es-ES" sz="1600">
                <a:solidFill>
                  <a:srgbClr val="A375D1"/>
                </a:solidFill>
                <a:sym typeface="+mn-ea"/>
              </a:rPr>
              <a:t>Put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es-ES" sz="160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int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id, [FromBody] Pelicula pelicula)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if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(id != pelicula.Id)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return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BadRequest(); // 400 Bad Request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await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_servicio.Actualizar(pelicula);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return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NoContent(); // 204 No Content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[</a:t>
            </a:r>
            <a:r>
              <a:rPr lang="en-US" altLang="es-ES" sz="1600">
                <a:solidFill>
                  <a:schemeClr val="accent1"/>
                </a:solidFill>
                <a:sym typeface="+mn-ea"/>
              </a:rPr>
              <a:t>HttpDelete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("{id}")]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public async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 Task </a:t>
            </a:r>
            <a:r>
              <a:rPr lang="en-US" altLang="es-ES" sz="1600">
                <a:solidFill>
                  <a:srgbClr val="A375D1"/>
                </a:solidFill>
                <a:sym typeface="+mn-ea"/>
              </a:rPr>
              <a:t>Delete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es-ES" sz="1600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int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id)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{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await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_servicio.Eliminar(id);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s-ES" sz="1600">
                <a:solidFill>
                  <a:srgbClr val="FF0000"/>
                </a:solidFill>
                <a:sym typeface="+mn-ea"/>
              </a:rPr>
              <a:t>return </a:t>
            </a:r>
            <a:r>
              <a:rPr lang="en-US" altLang="es-ES" sz="1600">
                <a:solidFill>
                  <a:schemeClr val="bg1"/>
                </a:solidFill>
                <a:sym typeface="+mn-ea"/>
              </a:rPr>
              <a:t>NoContent(); // 204 No Content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 }</a:t>
            </a:r>
            <a:endParaRPr lang="en-US" altLang="es-ES" sz="1600">
              <a:solidFill>
                <a:schemeClr val="bg1"/>
              </a:solidFill>
            </a:endParaRPr>
          </a:p>
          <a:p>
            <a:r>
              <a:rPr lang="en-US" altLang="es-ES" sz="1600">
                <a:solidFill>
                  <a:schemeClr val="bg1"/>
                </a:solidFill>
                <a:sym typeface="+mn-ea"/>
              </a:rPr>
              <a:t>}</a:t>
            </a:r>
            <a:endParaRPr lang="en-US" altLang="es-ES" sz="1600">
              <a:solidFill>
                <a:schemeClr val="bg1"/>
              </a:solidFill>
            </a:endParaRPr>
          </a:p>
          <a:p>
            <a:endParaRPr lang="es-ES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288290" y="130175"/>
            <a:ext cx="6061710" cy="84328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n-US" altLang="es-E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Web API vs MVC Cl</a:t>
            </a:r>
            <a:r>
              <a:rPr lang="en-U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sico</a:t>
            </a:r>
            <a:endParaRPr lang="en-US" altLang="es-E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400050" y="1135380"/>
            <a:ext cx="4996815" cy="31369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Web API</a:t>
            </a:r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Prop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sito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Exponer datos y funcionalidad mediante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JSON/XML para consumo por clientes distintos.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Caracter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sticas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Atributos [ApiController], respuestas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autom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ticamente formateadas, convenciones REST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incorporadas, rutas por convenci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s-ES" altLang="en-U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Uso t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pico: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Aplicaciones SPA,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viles, microservicios,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integraciones externas.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6224270" y="1135380"/>
            <a:ext cx="4829810" cy="313753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MVC Cl</a:t>
            </a:r>
            <a:r>
              <a:rPr lang="en-US" altLang="en-U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sico</a:t>
            </a:r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Prop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sito: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Renderizar vistas HTML din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micas en el servidor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 l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gica de presentaci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integrada.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Caracter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sticas: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Plantillas Razor, motor de vistas, estado de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sesi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n, formularios tradicionales, redirecciones.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Uso t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pico: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Aplicaciones web tradicionales con renderizado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server-side, contenido din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mico HTML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400050" y="4822825"/>
            <a:ext cx="10309860" cy="9823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Recomendaci</a:t>
            </a:r>
            <a:r>
              <a:rPr lang="en-US" altLang="en-U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n: </a:t>
            </a:r>
            <a:endParaRPr lang="en-US" altLang="es-ES" sz="16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Usar Web API cuando el cliente es separado (Angular, React,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vil) y MVC cuando el servidor genera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HTML directamente.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0" y="0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288290" y="292100"/>
            <a:ext cx="6883400" cy="84328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s-ES" altLang="en-US" sz="4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Serializacion JSON en .NET</a:t>
            </a:r>
            <a:endParaRPr lang="es-ES" altLang="en-US" sz="4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Cuadro de texto 2"/>
          <p:cNvSpPr txBox="1"/>
          <p:nvPr>
            <p:custDataLst>
              <p:tags r:id="rId2"/>
            </p:custDataLst>
          </p:nvPr>
        </p:nvSpPr>
        <p:spPr>
          <a:xfrm>
            <a:off x="1773555" y="1258570"/>
            <a:ext cx="5650230" cy="1188720"/>
          </a:xfrm>
          <a:prstGeom prst="rect">
            <a:avLst/>
          </a:prstGeom>
          <a:solidFill>
            <a:schemeClr val="tx1"/>
          </a:solidFill>
          <a:ln w="34925" cmpd="sng">
            <a:solidFill>
              <a:schemeClr val="bg1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System.Text.Json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Incluido en .NET 5+, sin dependencias externas.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Rendimiento superior en escenarios t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í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picos, integraci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nativa con ASP.NET Core, soporte para tipos record de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C#.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8" name="Cuadro de texto 7"/>
          <p:cNvSpPr txBox="1"/>
          <p:nvPr>
            <p:custDataLst>
              <p:tags r:id="rId3"/>
            </p:custDataLst>
          </p:nvPr>
        </p:nvSpPr>
        <p:spPr>
          <a:xfrm>
            <a:off x="1773555" y="2749550"/>
            <a:ext cx="5650230" cy="1188720"/>
          </a:xfrm>
          <a:prstGeom prst="rect">
            <a:avLst/>
          </a:prstGeom>
          <a:solidFill>
            <a:schemeClr val="tx1"/>
          </a:solidFill>
          <a:ln w="34925" cmpd="sng">
            <a:solidFill>
              <a:schemeClr val="bg1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Newtonsoft.Json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Biblioteca de terceros con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 flexibilidad. Mayor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cantidad de atributos de configuraci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n, compatibilidad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 .NET Framework, extensiones para casos complejos</a:t>
            </a:r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9" name="Rectángulo 8"/>
          <p:cNvSpPr/>
          <p:nvPr>
            <p:custDataLst>
              <p:tags r:id="rId4"/>
            </p:custDataLst>
          </p:nvPr>
        </p:nvSpPr>
        <p:spPr>
          <a:xfrm>
            <a:off x="840105" y="1257935"/>
            <a:ext cx="933450" cy="1189355"/>
          </a:xfrm>
          <a:prstGeom prst="rect">
            <a:avLst/>
          </a:prstGeom>
          <a:solidFill>
            <a:schemeClr val="tx1">
              <a:alpha val="69000"/>
            </a:schemeClr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0" name="Rectángulo 9"/>
          <p:cNvSpPr/>
          <p:nvPr>
            <p:custDataLst>
              <p:tags r:id="rId5"/>
            </p:custDataLst>
          </p:nvPr>
        </p:nvSpPr>
        <p:spPr>
          <a:xfrm>
            <a:off x="840105" y="2749550"/>
            <a:ext cx="933450" cy="1189355"/>
          </a:xfrm>
          <a:prstGeom prst="rect">
            <a:avLst/>
          </a:prstGeom>
          <a:solidFill>
            <a:schemeClr val="tx1">
              <a:alpha val="69000"/>
            </a:schemeClr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1" name="Cuadro de texto 10"/>
          <p:cNvSpPr txBox="1"/>
          <p:nvPr>
            <p:custDataLst>
              <p:tags r:id="rId6"/>
            </p:custDataLst>
          </p:nvPr>
        </p:nvSpPr>
        <p:spPr>
          <a:xfrm>
            <a:off x="991870" y="1257935"/>
            <a:ext cx="781685" cy="1019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ES" altLang="en-US" sz="6600" b="1">
                <a:solidFill>
                  <a:schemeClr val="bg1"/>
                </a:solidFill>
              </a:rPr>
              <a:t>1</a:t>
            </a:r>
            <a:endParaRPr lang="es-ES" altLang="en-US" sz="6600" b="1">
              <a:solidFill>
                <a:schemeClr val="bg1"/>
              </a:solidFill>
            </a:endParaRPr>
          </a:p>
        </p:txBody>
      </p:sp>
      <p:sp>
        <p:nvSpPr>
          <p:cNvPr id="12" name="Cuadro de texto 11"/>
          <p:cNvSpPr txBox="1"/>
          <p:nvPr>
            <p:custDataLst>
              <p:tags r:id="rId7"/>
            </p:custDataLst>
          </p:nvPr>
        </p:nvSpPr>
        <p:spPr>
          <a:xfrm>
            <a:off x="991870" y="2832735"/>
            <a:ext cx="781685" cy="1019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ES" altLang="en-US" sz="6600" b="1">
                <a:solidFill>
                  <a:schemeClr val="bg1"/>
                </a:solidFill>
              </a:rPr>
              <a:t>2</a:t>
            </a:r>
            <a:endParaRPr lang="es-ES" altLang="en-US" sz="6600" b="1">
              <a:solidFill>
                <a:schemeClr val="bg1"/>
              </a:solidFill>
            </a:endParaRPr>
          </a:p>
        </p:txBody>
      </p:sp>
      <p:sp>
        <p:nvSpPr>
          <p:cNvPr id="13" name="Cuadro de texto 12"/>
          <p:cNvSpPr txBox="1"/>
          <p:nvPr/>
        </p:nvSpPr>
        <p:spPr>
          <a:xfrm>
            <a:off x="840105" y="4416425"/>
            <a:ext cx="6583045" cy="203073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Comparaci</a:t>
            </a:r>
            <a:r>
              <a:rPr lang="en-US" altLang="en-US" sz="16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es-ES" sz="16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n pr</a:t>
            </a:r>
            <a:r>
              <a:rPr lang="en-US" altLang="en-US" sz="16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es-ES" sz="1600" b="1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ctica</a:t>
            </a:r>
            <a:endParaRPr lang="en-US" altLang="es-ES" sz="1600" b="1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Rendimiento: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System.Text.Json generalmente 20-30%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 r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pido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Flexibilidad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Newtonsoft ofrece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 opciones de configuraci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Mantenimiento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System.Text.Json tiene mejor soporte oficial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2" name="Imagen 1" descr="Gemini_Generated_Image_92hekj92hekj92he"/>
          <p:cNvPicPr>
            <a:picLocks noChangeAspect="1"/>
          </p:cNvPicPr>
          <p:nvPr/>
        </p:nvPicPr>
        <p:blipFill>
          <a:blip r:embed="rId8"/>
          <a:srcRect b="16841"/>
          <a:stretch>
            <a:fillRect/>
          </a:stretch>
        </p:blipFill>
        <p:spPr>
          <a:xfrm>
            <a:off x="7653655" y="292100"/>
            <a:ext cx="4143375" cy="6264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524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526415" y="270510"/>
            <a:ext cx="5411470" cy="127571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n-US" altLang="es-ES" sz="48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Versionado de API</a:t>
            </a:r>
            <a:endParaRPr lang="en-US" altLang="es-ES" sz="48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¿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Por qu</a:t>
            </a:r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é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Netflix lo necesita?</a:t>
            </a:r>
            <a:endParaRPr lang="en-US" altLang="es-E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3" name="Cuadro de texto 12"/>
          <p:cNvSpPr txBox="1"/>
          <p:nvPr/>
        </p:nvSpPr>
        <p:spPr>
          <a:xfrm>
            <a:off x="526415" y="2157730"/>
            <a:ext cx="5568950" cy="40176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Netflix gestiona millones de usuarios con diferentes dispositivos (TV, m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vil, navegador) que no se actualizan simult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neamente.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El versionado permite: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Mantener compatibilidad con clientes antiguos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Introducir cambios sin romper integraciones existentes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Deprecar funcionalidades gradualmente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Soportar m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ú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ltiples versiones simult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neamente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6697345" y="2157730"/>
            <a:ext cx="5178425" cy="4369435"/>
          </a:xfrm>
          <a:prstGeom prst="rect">
            <a:avLst/>
          </a:prstGeom>
          <a:solidFill>
            <a:srgbClr val="323232"/>
          </a:solidFill>
        </p:spPr>
        <p:txBody>
          <a:bodyPr wrap="square" rtlCol="0">
            <a:noAutofit/>
          </a:bodyPr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ApiController</a:t>
            </a:r>
            <a:r>
              <a:rPr lang="en-US" altLang="es-ES">
                <a:solidFill>
                  <a:schemeClr val="bg1"/>
                </a:solidFill>
              </a:rPr>
              <a:t>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Route</a:t>
            </a:r>
            <a:r>
              <a:rPr lang="en-US" altLang="es-ES">
                <a:solidFill>
                  <a:schemeClr val="bg1"/>
                </a:solidFill>
              </a:rPr>
              <a:t>("api/v{version:apiVersion}/peliculas")]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ApiVersion</a:t>
            </a:r>
            <a:r>
              <a:rPr lang="en-US" altLang="es-ES">
                <a:solidFill>
                  <a:schemeClr val="bg1"/>
                </a:solidFill>
              </a:rPr>
              <a:t>("1.0")]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ApiVersion</a:t>
            </a:r>
            <a:r>
              <a:rPr lang="en-US" altLang="es-ES">
                <a:solidFill>
                  <a:schemeClr val="bg1"/>
                </a:solidFill>
              </a:rPr>
              <a:t>("2.0")]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rgbClr val="FF3300"/>
                </a:solidFill>
              </a:rPr>
              <a:t>public class</a:t>
            </a:r>
            <a:r>
              <a:rPr lang="en-US" altLang="es-ES">
                <a:solidFill>
                  <a:schemeClr val="bg1"/>
                </a:solidFill>
              </a:rPr>
              <a:t> </a:t>
            </a:r>
            <a:r>
              <a:rPr lang="en-US" altLang="es-ES">
                <a:solidFill>
                  <a:srgbClr val="A375D1"/>
                </a:solidFill>
              </a:rPr>
              <a:t>PeliculasController </a:t>
            </a:r>
            <a:r>
              <a:rPr lang="en-US" altLang="es-ES">
                <a:solidFill>
                  <a:schemeClr val="bg1"/>
                </a:solidFill>
              </a:rPr>
              <a:t>: </a:t>
            </a:r>
            <a:r>
              <a:rPr lang="en-US" altLang="es-ES">
                <a:solidFill>
                  <a:srgbClr val="A375D1"/>
                </a:solidFill>
              </a:rPr>
              <a:t>ControllerBase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{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// Endpoints para versi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 1.0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}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ApiController</a:t>
            </a:r>
            <a:r>
              <a:rPr lang="en-US" altLang="es-ES">
                <a:solidFill>
                  <a:schemeClr val="bg1"/>
                </a:solidFill>
              </a:rPr>
              <a:t>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Route</a:t>
            </a:r>
            <a:r>
              <a:rPr lang="en-US" altLang="es-ES">
                <a:solidFill>
                  <a:schemeClr val="bg1"/>
                </a:solidFill>
              </a:rPr>
              <a:t>("api/v{version:apiVersion}/peliculas")]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[</a:t>
            </a:r>
            <a:r>
              <a:rPr lang="en-US" altLang="es-ES">
                <a:solidFill>
                  <a:schemeClr val="accent1"/>
                </a:solidFill>
              </a:rPr>
              <a:t>ApiVersion</a:t>
            </a:r>
            <a:r>
              <a:rPr lang="en-US" altLang="es-ES">
                <a:solidFill>
                  <a:schemeClr val="bg1"/>
                </a:solidFill>
              </a:rPr>
              <a:t>("3.0")]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rgbClr val="FF3300"/>
                </a:solidFill>
              </a:rPr>
              <a:t>public class</a:t>
            </a:r>
            <a:r>
              <a:rPr lang="en-US" altLang="es-ES">
                <a:solidFill>
                  <a:schemeClr val="bg1"/>
                </a:solidFill>
              </a:rPr>
              <a:t> </a:t>
            </a:r>
            <a:r>
              <a:rPr lang="en-US" altLang="es-ES">
                <a:solidFill>
                  <a:srgbClr val="A375D1"/>
                </a:solidFill>
              </a:rPr>
              <a:t>PeliculasV3Controller </a:t>
            </a:r>
            <a:r>
              <a:rPr lang="en-US" altLang="es-ES">
                <a:solidFill>
                  <a:schemeClr val="bg1"/>
                </a:solidFill>
              </a:rPr>
              <a:t>: </a:t>
            </a:r>
            <a:r>
              <a:rPr lang="en-US" altLang="es-ES">
                <a:solidFill>
                  <a:srgbClr val="A375D1"/>
                </a:solidFill>
              </a:rPr>
              <a:t>ControllerBase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{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// Nuevos endpoints para versi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 3.0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}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7173595" y="1546225"/>
            <a:ext cx="4025265" cy="52514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Implementaci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en ASP.NET Core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524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418465" y="270510"/>
            <a:ext cx="7351395" cy="91694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Documentaci</a:t>
            </a:r>
            <a:r>
              <a:rPr lang="en-US" altLang="en-U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con</a:t>
            </a:r>
            <a:r>
              <a:rPr lang="es-ES" altLang="en-U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Swagger/OpenAPI</a:t>
            </a:r>
            <a:endParaRPr lang="en-US" altLang="es-ES" sz="32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¿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Por qu</a:t>
            </a:r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é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Netflix lo necesita?</a:t>
            </a:r>
            <a:endParaRPr lang="en-US" altLang="es-E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44195" y="1424940"/>
            <a:ext cx="4967605" cy="15906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Instalaci</a:t>
            </a:r>
            <a:r>
              <a:rPr lang="en-US" altLang="en-US" sz="2000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n de paquetes</a:t>
            </a:r>
            <a:endParaRPr lang="en-US" altLang="es-ES" sz="2000">
              <a:solidFill>
                <a:schemeClr val="bg1"/>
              </a:solidFill>
              <a:highlight>
                <a:srgbClr val="800080"/>
              </a:highlight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Agregar Swashbuckle.AspNetCore y configurar servicios 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en Program.cs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543560" y="3253105"/>
            <a:ext cx="4968240" cy="14833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Anotaciones XML</a:t>
            </a:r>
            <a:endParaRPr lang="en-US" altLang="es-ES" sz="2000" b="1">
              <a:solidFill>
                <a:schemeClr val="bg1"/>
              </a:solidFill>
              <a:highlight>
                <a:srgbClr val="800080"/>
              </a:highlight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Agregar comentarios XML en 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é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todos para 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documentaci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detallada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6116320" y="1424940"/>
            <a:ext cx="4223385" cy="15906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Configuraci</a:t>
            </a:r>
            <a:r>
              <a:rPr lang="en-US" altLang="en-U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n de endpoints</a:t>
            </a:r>
            <a:endParaRPr lang="en-US" altLang="es-ES" sz="2000" b="1">
              <a:solidFill>
                <a:schemeClr val="bg1"/>
              </a:solidFill>
              <a:highlight>
                <a:srgbClr val="800080"/>
              </a:highlight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Definir middleware para servir la UI de Swagger en 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desarrollo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6116320" y="3253105"/>
            <a:ext cx="4348480" cy="14833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Generaci</a:t>
            </a:r>
            <a:r>
              <a:rPr lang="en-US" altLang="en-U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n autom</a:t>
            </a:r>
            <a:r>
              <a:rPr lang="en-US" altLang="en-U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2000" b="1">
                <a:solidFill>
                  <a:schemeClr val="bg1"/>
                </a:solidFill>
                <a:highlight>
                  <a:srgbClr val="800080"/>
                </a:highlight>
                <a:latin typeface="Bahnschrift" panose="020B0502040204020203" charset="0"/>
                <a:cs typeface="Bahnschrift" panose="020B0502040204020203" charset="0"/>
              </a:rPr>
              <a:t>tica</a:t>
            </a:r>
            <a:endParaRPr lang="en-US" altLang="es-ES" sz="2000">
              <a:solidFill>
                <a:schemeClr val="bg1"/>
              </a:solidFill>
              <a:highlight>
                <a:srgbClr val="800080"/>
              </a:highlight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Acceder a /swagger para ver</a:t>
            </a:r>
            <a:r>
              <a:rPr lang="es-E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documentaci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interactiva 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generada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543560" y="5074920"/>
            <a:ext cx="9920605" cy="14833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Beneficios para el equipo</a:t>
            </a:r>
            <a:endParaRPr lang="en-US" altLang="es-ES" sz="16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Documentaci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siempre actualizada con el c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digo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Pruebas interactivas de endpoints sin herramientas externas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Generaci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autom</a:t>
            </a:r>
            <a:r>
              <a:rPr lang="en-US" altLang="en-U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tica de clientes SDK para diferentes lenguajes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Claridad en contratos API para consumidores internos y externos</a:t>
            </a:r>
            <a:endParaRPr lang="en-US" altLang="es-ES" sz="16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524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418465" y="270510"/>
            <a:ext cx="7351395" cy="91694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Documentaci</a:t>
            </a:r>
            <a:r>
              <a:rPr lang="en-US" altLang="en-U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con</a:t>
            </a:r>
            <a:r>
              <a:rPr lang="es-ES" altLang="en-U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</a:t>
            </a:r>
            <a:r>
              <a:rPr lang="en-US" alt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Swagger/OpenAPI</a:t>
            </a:r>
            <a:endParaRPr lang="en-US" altLang="es-ES" sz="32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¿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Por qu</a:t>
            </a:r>
            <a:r>
              <a:rPr lang="en-US" alt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é</a:t>
            </a:r>
            <a:r>
              <a:rPr lang="en-US" altLang="es-E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Netflix lo necesita?</a:t>
            </a:r>
            <a:endParaRPr lang="en-US" altLang="es-E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562610" y="1517650"/>
            <a:ext cx="4082415" cy="1198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01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GET /api/peliculas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Listar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culas con filtros por g</a:t>
            </a:r>
            <a:r>
              <a:rPr lang="en-US" altLang="en-US">
                <a:solidFill>
                  <a:schemeClr val="bg1"/>
                </a:solidFill>
              </a:rPr>
              <a:t>é</a:t>
            </a:r>
            <a:r>
              <a:rPr lang="en-US" altLang="es-ES">
                <a:solidFill>
                  <a:schemeClr val="bg1"/>
                </a:solidFill>
              </a:rPr>
              <a:t>nero, a</a:t>
            </a:r>
            <a:r>
              <a:rPr lang="en-US" altLang="en-US">
                <a:solidFill>
                  <a:schemeClr val="bg1"/>
                </a:solidFill>
              </a:rPr>
              <a:t>ñ</a:t>
            </a:r>
            <a:r>
              <a:rPr lang="en-US" altLang="es-ES">
                <a:solidFill>
                  <a:schemeClr val="bg1"/>
                </a:solidFill>
              </a:rPr>
              <a:t>o, rating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6140450" y="1517650"/>
            <a:ext cx="4082415" cy="1198880"/>
          </a:xfrm>
          <a:prstGeom prst="rect">
            <a:avLst/>
          </a:prstGeom>
          <a:solidFill>
            <a:schemeClr val="tx1"/>
          </a:solidFill>
          <a:ln w="22225">
            <a:solidFill>
              <a:schemeClr val="bg1">
                <a:alpha val="91000"/>
              </a:schemeClr>
            </a:solidFill>
            <a:round/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02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GET /api/peliculas/{id}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Obtener detalles completos de una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 espec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fica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12" name="Cuadro de texto 11"/>
          <p:cNvSpPr txBox="1"/>
          <p:nvPr/>
        </p:nvSpPr>
        <p:spPr>
          <a:xfrm>
            <a:off x="562610" y="2843530"/>
            <a:ext cx="4082415" cy="1198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03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POST /api/peliculas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Agregar nueva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 al cat</a:t>
            </a:r>
            <a:r>
              <a:rPr lang="en-US" altLang="en-US">
                <a:solidFill>
                  <a:schemeClr val="bg1"/>
                </a:solidFill>
              </a:rPr>
              <a:t>á</a:t>
            </a:r>
            <a:r>
              <a:rPr lang="en-US" altLang="es-ES">
                <a:solidFill>
                  <a:schemeClr val="bg1"/>
                </a:solidFill>
              </a:rPr>
              <a:t>logo (administraci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n)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13" name="Cuadro de texto 12"/>
          <p:cNvSpPr txBox="1"/>
          <p:nvPr/>
        </p:nvSpPr>
        <p:spPr>
          <a:xfrm>
            <a:off x="6140450" y="2843530"/>
            <a:ext cx="4082415" cy="1198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04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PUT /api/peliculas/{id}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Actualizar informaci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 de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 existente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562610" y="4169410"/>
            <a:ext cx="4082415" cy="1198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05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DELETE /api/peliculas/{id}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Eliminar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 del cat</a:t>
            </a:r>
            <a:r>
              <a:rPr lang="en-US" altLang="en-US">
                <a:solidFill>
                  <a:schemeClr val="bg1"/>
                </a:solidFill>
              </a:rPr>
              <a:t>á</a:t>
            </a:r>
            <a:r>
              <a:rPr lang="en-US" altLang="es-ES">
                <a:solidFill>
                  <a:schemeClr val="bg1"/>
                </a:solidFill>
              </a:rPr>
              <a:t>logo (administraci</a:t>
            </a:r>
            <a:r>
              <a:rPr lang="en-US" altLang="en-US">
                <a:solidFill>
                  <a:schemeClr val="bg1"/>
                </a:solidFill>
              </a:rPr>
              <a:t>ó</a:t>
            </a:r>
            <a:r>
              <a:rPr lang="en-US" altLang="es-ES">
                <a:solidFill>
                  <a:schemeClr val="bg1"/>
                </a:solidFill>
              </a:rPr>
              <a:t>n)</a:t>
            </a:r>
            <a:endParaRPr lang="en-US" altLang="es-ES">
              <a:solidFill>
                <a:schemeClr val="bg1"/>
              </a:solidFill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6140450" y="4169410"/>
            <a:ext cx="4082415" cy="1198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s-ES">
                <a:solidFill>
                  <a:schemeClr val="bg1"/>
                </a:solidFill>
              </a:rPr>
              <a:t>06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POST /api/usuarios/{id}/favoritos</a:t>
            </a:r>
            <a:endParaRPr lang="en-US" altLang="es-ES">
              <a:solidFill>
                <a:schemeClr val="bg1"/>
              </a:solidFill>
            </a:endParaRPr>
          </a:p>
          <a:p>
            <a:r>
              <a:rPr lang="en-US" altLang="es-ES">
                <a:solidFill>
                  <a:schemeClr val="bg1"/>
                </a:solidFill>
              </a:rPr>
              <a:t>A</a:t>
            </a:r>
            <a:r>
              <a:rPr lang="en-US" altLang="en-US">
                <a:solidFill>
                  <a:schemeClr val="bg1"/>
                </a:solidFill>
              </a:rPr>
              <a:t>ñ</a:t>
            </a:r>
            <a:r>
              <a:rPr lang="en-US" altLang="es-ES">
                <a:solidFill>
                  <a:schemeClr val="bg1"/>
                </a:solidFill>
              </a:rPr>
              <a:t>adir pel</a:t>
            </a:r>
            <a:r>
              <a:rPr lang="en-US" altLang="en-US">
                <a:solidFill>
                  <a:schemeClr val="bg1"/>
                </a:solidFill>
              </a:rPr>
              <a:t>í</a:t>
            </a:r>
            <a:r>
              <a:rPr lang="en-US" altLang="es-ES">
                <a:solidFill>
                  <a:schemeClr val="bg1"/>
                </a:solidFill>
              </a:rPr>
              <a:t>cula a lista de favoritos del usuario</a:t>
            </a:r>
            <a:endParaRPr lang="en-US" altLang="es-ES">
              <a:solidFill>
                <a:schemeClr val="bg1"/>
              </a:solidFill>
            </a:endParaRPr>
          </a:p>
        </p:txBody>
      </p:sp>
      <p:cxnSp>
        <p:nvCxnSpPr>
          <p:cNvPr id="16" name="Conector recto 15"/>
          <p:cNvCxnSpPr/>
          <p:nvPr/>
        </p:nvCxnSpPr>
        <p:spPr>
          <a:xfrm>
            <a:off x="619125" y="1826260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619125" y="3162935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>
            <a:off x="665480" y="4499610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Conector recto 18"/>
          <p:cNvCxnSpPr/>
          <p:nvPr/>
        </p:nvCxnSpPr>
        <p:spPr>
          <a:xfrm>
            <a:off x="6243320" y="1826260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6243320" y="3162935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243320" y="4499610"/>
            <a:ext cx="387667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524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418465" y="270510"/>
            <a:ext cx="3295650" cy="5962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CONCLUSIONES</a:t>
            </a:r>
            <a:endParaRPr lang="es-E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418465" y="1419860"/>
            <a:ext cx="5568950" cy="34334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Conclusi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1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La arquitectura REST con ASP.NET Core proporciona una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base s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lida y escalable para construir APIs modernas. La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separaci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clara de responsabilidades entre Model, View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y Controller, junto con las convenciones REST, facilita el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mantenimiento y la evoluci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del sistema.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6358255" y="1419860"/>
            <a:ext cx="5568950" cy="34334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Conclusi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2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El versionado de API y la documentaci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ó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 autom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tica con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Swagger son pr</a:t>
            </a:r>
            <a:r>
              <a:rPr lang="en-US" alt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á</a:t>
            </a:r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cticas esenciales en entornos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productivos como Netflix. Permiten mantener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compatibilidad mientras se introduce nueva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funcionalidad, reduciendo el riesgo de romper clientes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existentes.</a:t>
            </a:r>
            <a:endParaRPr lang="en-US" altLang="es-E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15240" y="635"/>
            <a:ext cx="12176760" cy="6857365"/>
          </a:xfrm>
          <a:prstGeom prst="rect">
            <a:avLst/>
          </a:prstGeom>
          <a:solidFill>
            <a:schemeClr val="tx1">
              <a:alpha val="67000"/>
            </a:schemeClr>
          </a:solidFill>
          <a:ln w="6350" cap="sq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Cuadro de texto 4"/>
          <p:cNvSpPr txBox="1"/>
          <p:nvPr/>
        </p:nvSpPr>
        <p:spPr>
          <a:xfrm>
            <a:off x="418465" y="270510"/>
            <a:ext cx="3295650" cy="5962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r>
              <a:rPr lang="es-ES" sz="32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BIBLIOGRAFIA</a:t>
            </a:r>
            <a:endParaRPr lang="es-E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418465" y="1419860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 Documentation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ASP.NET Core Documentation -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Controllers and Actions.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 Learn, 2024. Disponible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en: learn.microsoft.com/en_x0002_us/aspnet/core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4347210" y="1419860"/>
            <a:ext cx="3496945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Swagger/OpenAPI Specification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OpenAPI Initiative. Specification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3.0. OpenAPI, 2024. Disponible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en: swagger.io/specification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8291830" y="1419860"/>
            <a:ext cx="3496945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REST API Design Guidelines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 REST API Guidelines.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Microsoft, 2024. Disponible en: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github.com/microsoft/api_x0002_guidelines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402590" y="4043680"/>
            <a:ext cx="3496945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JSON Serialization in .NET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Microsoft Documentation -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System.Text.Json. Microsoft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Learn, 2024. Disponible en: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learn.microsoft.com/en_x0002_us/dotnet/standard/serialization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/system-text-json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347210" y="4043680"/>
            <a:ext cx="3496945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Web API Best Practices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Richardson, L. et al. RESTful Web 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 sz="17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APIs. O'Reilly Media, 2013.</a:t>
            </a:r>
            <a:endParaRPr lang="en-US" altLang="es-ES" sz="17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ags/tag2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ags/tag3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ags/tag4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ags/tag5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ags/tag6.xml><?xml version="1.0" encoding="utf-8"?>
<p:tagLst xmlns:p="http://schemas.openxmlformats.org/presentationml/2006/main">
  <p:tag name="KSO_WM_DIAGRAM_VIRTUALLY_FRAME" val="{&quot;height&quot;:211.1,&quot;left&quot;:66.15,&quot;top&quot;:99.05,&quot;width&quot;:51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6133</Words>
  <Application>WPS Presentation</Application>
  <PresentationFormat>宽屏</PresentationFormat>
  <Paragraphs>252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Bahnschrift</vt:lpstr>
      <vt:lpstr>Arial Black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Marco Alvarado</cp:lastModifiedBy>
  <cp:revision>6</cp:revision>
  <dcterms:created xsi:type="dcterms:W3CDTF">2025-07-23T00:59:00Z</dcterms:created>
  <dcterms:modified xsi:type="dcterms:W3CDTF">2026-04-22T05:53:11Z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3082-12.2.0.23196</vt:lpwstr>
  </property>
  <property fmtid="{D5CDD505-2E9C-101B-9397-08002B2CF9AE}" pid="3" name="ICV">
    <vt:lpwstr>B8D00610D14845E9B80A7434F5457C30_13</vt:lpwstr>
  </property>
</Properties>
</file>