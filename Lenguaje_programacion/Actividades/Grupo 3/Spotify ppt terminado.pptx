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0E3F"/>
    <a:srgbClr val="16D058"/>
    <a:srgbClr val="B2B2B2"/>
    <a:srgbClr val="202020"/>
    <a:srgbClr val="323232"/>
    <a:srgbClr val="CC3300"/>
    <a:srgbClr val="CC0000"/>
    <a:srgbClr val="FF3300"/>
    <a:srgbClr val="990000"/>
    <a:srgbClr val="FF8D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spotify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99660" cy="6858000"/>
          </a:xfrm>
          <a:prstGeom prst="rect">
            <a:avLst/>
          </a:prstGeom>
        </p:spPr>
      </p:pic>
      <p:sp>
        <p:nvSpPr>
          <p:cNvPr id="4" name="Cuadro de texto 3"/>
          <p:cNvSpPr txBox="1"/>
          <p:nvPr/>
        </p:nvSpPr>
        <p:spPr>
          <a:xfrm>
            <a:off x="5600700" y="2222500"/>
            <a:ext cx="5306695" cy="2129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s-ES" sz="5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Caso </a:t>
            </a:r>
            <a:r>
              <a:rPr lang="es-ES" altLang="en-US" sz="5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1</a:t>
            </a:r>
            <a:r>
              <a:rPr lang="en-US" altLang="es-ES" sz="5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: </a:t>
            </a:r>
            <a:r>
              <a:rPr lang="es-ES" altLang="en-US" sz="5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Spotify</a:t>
            </a:r>
            <a:endParaRPr lang="en-US" altLang="es-ES" sz="4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dirty="0">
                <a:solidFill>
                  <a:srgbClr val="B3B3B3"/>
                </a:solidFill>
                <a:latin typeface="Arial Rounded MT Bold" panose="020F0704030504030204" charset="0"/>
                <a:ea typeface="Calibri" panose="020F0502020204030204" pitchFamily="34" charset="-122"/>
                <a:cs typeface="Arial Rounded MT Bold" panose="020F0704030504030204" charset="0"/>
                <a:sym typeface="+mn-ea"/>
              </a:rPr>
              <a:t>Principios SOLID y Diseño de Clases en C#</a:t>
            </a:r>
            <a:endParaRPr lang="en-US" dirty="0">
              <a:latin typeface="Arial Rounded MT Bold" panose="020F0704030504030204" charset="0"/>
              <a:cs typeface="Arial Rounded MT Bold" panose="020F0704030504030204" charset="0"/>
            </a:endParaRPr>
          </a:p>
          <a:p>
            <a:endParaRPr lang="en-US" altLang="es-E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s-E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Wimmer Roman</a:t>
            </a:r>
            <a:r>
              <a:rPr lang="es-ES" altLang="en-US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y Marco Alvarado</a:t>
            </a:r>
            <a:endParaRPr lang="es-ES" altLang="en-US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cxnSp>
        <p:nvCxnSpPr>
          <p:cNvPr id="6" name="Conector recto 5"/>
          <p:cNvCxnSpPr/>
          <p:nvPr/>
        </p:nvCxnSpPr>
        <p:spPr>
          <a:xfrm>
            <a:off x="5742305" y="3460750"/>
            <a:ext cx="4709795" cy="16510"/>
          </a:xfrm>
          <a:prstGeom prst="line">
            <a:avLst/>
          </a:prstGeom>
          <a:ln w="28575" cmpd="sng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n 3" descr="spotify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5" name="Rectángulos 4"/>
          <p:cNvSpPr/>
          <p:nvPr/>
        </p:nvSpPr>
        <p:spPr>
          <a:xfrm>
            <a:off x="0" y="-635"/>
            <a:ext cx="12191365" cy="6884035"/>
          </a:xfrm>
          <a:prstGeom prst="rect">
            <a:avLst/>
          </a:prstGeom>
          <a:solidFill>
            <a:schemeClr val="tx1"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6" name="Cuadro de texto 5"/>
          <p:cNvSpPr txBox="1"/>
          <p:nvPr/>
        </p:nvSpPr>
        <p:spPr>
          <a:xfrm>
            <a:off x="187960" y="431800"/>
            <a:ext cx="9737090" cy="672465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Arial Rounded MT Bold" panose="020F0704030504030204" charset="0"/>
                <a:ea typeface="Calibri" panose="020F0502020204030204" pitchFamily="34" charset="-122"/>
                <a:cs typeface="Arial Rounded MT Bold" panose="020F0704030504030204" charset="0"/>
                <a:sym typeface="+mn-ea"/>
              </a:rPr>
              <a:t> Principios SOLID en C# aplicados a</a:t>
            </a:r>
            <a:r>
              <a:rPr lang="en-US" sz="3200" b="1" dirty="0">
                <a:solidFill>
                  <a:srgbClr val="191414"/>
                </a:solidFill>
                <a:latin typeface="Arial Rounded MT Bold" panose="020F0704030504030204" charset="0"/>
                <a:ea typeface="Calibri" panose="020F0502020204030204" pitchFamily="34" charset="-122"/>
                <a:cs typeface="Arial Rounded MT Bold" panose="020F0704030504030204" charset="0"/>
                <a:sym typeface="+mn-ea"/>
              </a:rPr>
              <a:t> </a:t>
            </a:r>
            <a:r>
              <a:rPr lang="en-US" sz="3200" b="1" dirty="0">
                <a:solidFill>
                  <a:schemeClr val="bg1"/>
                </a:solidFill>
                <a:latin typeface="Arial Rounded MT Bold" panose="020F0704030504030204" charset="0"/>
                <a:ea typeface="Calibri" panose="020F0502020204030204" pitchFamily="34" charset="-122"/>
                <a:cs typeface="Arial Rounded MT Bold" panose="020F0704030504030204" charset="0"/>
                <a:sym typeface="+mn-ea"/>
              </a:rPr>
              <a:t>Spotify</a:t>
            </a:r>
            <a:endParaRPr lang="en-US" altLang="en-US" sz="3200" b="1" dirty="0">
              <a:solidFill>
                <a:schemeClr val="bg1"/>
              </a:solidFill>
              <a:latin typeface="Arial Rounded MT Bold" panose="020F0704030504030204" charset="0"/>
              <a:ea typeface="Calibri" panose="020F0502020204030204" pitchFamily="34" charset="-122"/>
              <a:cs typeface="Arial Rounded MT Bold" panose="020F0704030504030204" charset="0"/>
              <a:sym typeface="+mn-ea"/>
            </a:endParaRPr>
          </a:p>
        </p:txBody>
      </p:sp>
      <p:sp>
        <p:nvSpPr>
          <p:cNvPr id="7" name="Cuadro de texto 6"/>
          <p:cNvSpPr txBox="1"/>
          <p:nvPr/>
        </p:nvSpPr>
        <p:spPr>
          <a:xfrm>
            <a:off x="476250" y="1460500"/>
            <a:ext cx="3551555" cy="166687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b="1" dirty="0">
                <a:solidFill>
                  <a:srgbClr val="191414"/>
                </a:solidFill>
                <a:highlight>
                  <a:srgbClr val="00FF00"/>
                </a:highlight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  <a:sym typeface="+mn-ea"/>
              </a:rPr>
              <a:t>Single Responsibility</a:t>
            </a:r>
            <a:endParaRPr lang="en-US" b="1" dirty="0">
              <a:solidFill>
                <a:srgbClr val="191414"/>
              </a:solidFill>
              <a:highlight>
                <a:srgbClr val="00FF00"/>
              </a:highlight>
              <a:latin typeface="Arial Black" panose="020B0A04020102020204" charset="0"/>
              <a:ea typeface="Calibri" panose="020F0502020204030204" pitchFamily="34" charset="-122"/>
              <a:cs typeface="Arial Black" panose="020B0A04020102020204" charset="0"/>
              <a:sym typeface="+mn-ea"/>
            </a:endParaRPr>
          </a:p>
          <a:p>
            <a:endParaRPr lang="en-US" altLang="es-ES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Bahnschrift" panose="020B0502040204020203" charset="0"/>
                <a:ea typeface="Calibri" panose="020F0502020204030204" pitchFamily="34" charset="-122"/>
                <a:cs typeface="Bahnschrift" panose="020B0502040204020203" charset="0"/>
                <a:sym typeface="+mn-ea"/>
              </a:rPr>
              <a:t>Cada clase tiene una sola razón para cambiar. Ej: ReproductorAudio solo reproduce; no gestiona playlists ni usuarios.</a:t>
            </a:r>
            <a:endParaRPr lang="en-US" altLang="es-ES" sz="1600" dirty="0">
              <a:solidFill>
                <a:schemeClr val="bg1"/>
              </a:solidFill>
              <a:latin typeface="Bahnschrift" panose="020B0502040204020203" charset="0"/>
              <a:ea typeface="Calibri" panose="020F0502020204030204" pitchFamily="34" charset="-122"/>
              <a:cs typeface="Bahnschrift" panose="020B0502040204020203" charset="0"/>
              <a:sym typeface="+mn-ea"/>
            </a:endParaRPr>
          </a:p>
        </p:txBody>
      </p:sp>
      <p:sp>
        <p:nvSpPr>
          <p:cNvPr id="8" name="Cuadro de texto 7"/>
          <p:cNvSpPr txBox="1"/>
          <p:nvPr/>
        </p:nvSpPr>
        <p:spPr>
          <a:xfrm>
            <a:off x="476250" y="3483610"/>
            <a:ext cx="3551555" cy="166687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b="1" dirty="0">
                <a:solidFill>
                  <a:srgbClr val="191414"/>
                </a:solidFill>
                <a:highlight>
                  <a:srgbClr val="00FF00"/>
                </a:highlight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  <a:sym typeface="+mn-ea"/>
              </a:rPr>
              <a:t>Liskov Substitution</a:t>
            </a:r>
            <a:endParaRPr lang="en-US" dirty="0">
              <a:highlight>
                <a:srgbClr val="00FF00"/>
              </a:highlight>
              <a:latin typeface="Arial Black" panose="020B0A04020102020204" charset="0"/>
              <a:cs typeface="Arial Black" panose="020B0A04020102020204" charset="0"/>
            </a:endParaRPr>
          </a:p>
          <a:p>
            <a:endParaRPr lang="en-US" altLang="es-ES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Bahnschrift" panose="020B0502040204020203" charset="0"/>
                <a:ea typeface="Calibri" panose="020F0502020204030204" pitchFamily="34" charset="-122"/>
                <a:cs typeface="Bahnschrift" panose="020B0502040204020203" charset="0"/>
                <a:sym typeface="+mn-ea"/>
              </a:rPr>
              <a:t>Las subclases deben sustituir a su clase base. Ej: CancionPremium puede usarse donde se espera Contenido.</a:t>
            </a:r>
            <a:endParaRPr lang="en-US" altLang="es-ES" sz="1600" dirty="0">
              <a:solidFill>
                <a:schemeClr val="bg1"/>
              </a:solidFill>
              <a:latin typeface="Bahnschrift" panose="020B0502040204020203" charset="0"/>
              <a:ea typeface="Calibri" panose="020F0502020204030204" pitchFamily="34" charset="-122"/>
              <a:cs typeface="Bahnschrift" panose="020B0502040204020203" charset="0"/>
              <a:sym typeface="+mn-ea"/>
            </a:endParaRPr>
          </a:p>
        </p:txBody>
      </p:sp>
      <p:sp>
        <p:nvSpPr>
          <p:cNvPr id="9" name="Cuadro de texto 8"/>
          <p:cNvSpPr txBox="1"/>
          <p:nvPr/>
        </p:nvSpPr>
        <p:spPr>
          <a:xfrm>
            <a:off x="4490085" y="1460500"/>
            <a:ext cx="3551555" cy="166687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b="1" dirty="0">
                <a:solidFill>
                  <a:srgbClr val="191414"/>
                </a:solidFill>
                <a:highlight>
                  <a:srgbClr val="00FF00"/>
                </a:highlight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  <a:sym typeface="+mn-ea"/>
              </a:rPr>
              <a:t>Dependency Inversion</a:t>
            </a:r>
            <a:endParaRPr lang="en-US" dirty="0">
              <a:highlight>
                <a:srgbClr val="00FF00"/>
              </a:highlight>
              <a:latin typeface="Arial Black" panose="020B0A04020102020204" charset="0"/>
              <a:cs typeface="Arial Black" panose="020B0A04020102020204" charset="0"/>
            </a:endParaRPr>
          </a:p>
          <a:p>
            <a:endParaRPr lang="en-US" altLang="es-ES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Bahnschrift" panose="020B0502040204020203" charset="0"/>
                <a:ea typeface="Calibri" panose="020F0502020204030204" pitchFamily="34" charset="-122"/>
                <a:cs typeface="Bahnschrift" panose="020B0502040204020203" charset="0"/>
                <a:sym typeface="+mn-ea"/>
              </a:rPr>
              <a:t>Depender de abstracciones, no de implementaciones. Ej: ServicioMusica depende de IRepositorioCancion.</a:t>
            </a:r>
            <a:endParaRPr lang="en-US" altLang="es-ES" sz="1600" dirty="0">
              <a:solidFill>
                <a:schemeClr val="bg1"/>
              </a:solidFill>
              <a:latin typeface="Bahnschrift" panose="020B0502040204020203" charset="0"/>
              <a:ea typeface="Calibri" panose="020F0502020204030204" pitchFamily="34" charset="-122"/>
              <a:cs typeface="Bahnschrift" panose="020B0502040204020203" charset="0"/>
              <a:sym typeface="+mn-ea"/>
            </a:endParaRPr>
          </a:p>
        </p:txBody>
      </p:sp>
      <p:sp>
        <p:nvSpPr>
          <p:cNvPr id="10" name="Cuadro de texto 9"/>
          <p:cNvSpPr txBox="1"/>
          <p:nvPr/>
        </p:nvSpPr>
        <p:spPr>
          <a:xfrm>
            <a:off x="4490085" y="3483610"/>
            <a:ext cx="3551555" cy="166687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b="1" dirty="0">
                <a:solidFill>
                  <a:srgbClr val="191414"/>
                </a:solidFill>
                <a:highlight>
                  <a:srgbClr val="00FF00"/>
                </a:highlight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  <a:sym typeface="+mn-ea"/>
              </a:rPr>
              <a:t>Open/Closed</a:t>
            </a:r>
            <a:endParaRPr lang="en-US" dirty="0">
              <a:highlight>
                <a:srgbClr val="00FF00"/>
              </a:highlight>
              <a:latin typeface="Arial Black" panose="020B0A04020102020204" charset="0"/>
              <a:cs typeface="Arial Black" panose="020B0A04020102020204" charset="0"/>
            </a:endParaRPr>
          </a:p>
          <a:p>
            <a:endParaRPr lang="en-US" altLang="es-ES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Bahnschrift" panose="020B0502040204020203" charset="0"/>
                <a:ea typeface="Calibri" panose="020F0502020204030204" pitchFamily="34" charset="-122"/>
                <a:cs typeface="Bahnschrift" panose="020B0502040204020203" charset="0"/>
                <a:sym typeface="+mn-ea"/>
              </a:rPr>
              <a:t>Abierto para extensión, cerrado para modificación. Ej: agregar PodcastPlayer sin tocar la clase base Reproductor.</a:t>
            </a:r>
            <a:endParaRPr lang="en-US" altLang="es-ES" sz="1600" dirty="0">
              <a:solidFill>
                <a:schemeClr val="bg1"/>
              </a:solidFill>
              <a:latin typeface="Bahnschrift" panose="020B0502040204020203" charset="0"/>
              <a:ea typeface="Calibri" panose="020F0502020204030204" pitchFamily="34" charset="-122"/>
              <a:cs typeface="Bahnschrift" panose="020B0502040204020203" charset="0"/>
              <a:sym typeface="+mn-ea"/>
            </a:endParaRPr>
          </a:p>
        </p:txBody>
      </p:sp>
      <p:sp>
        <p:nvSpPr>
          <p:cNvPr id="11" name="Cuadro de texto 10"/>
          <p:cNvSpPr txBox="1"/>
          <p:nvPr/>
        </p:nvSpPr>
        <p:spPr>
          <a:xfrm>
            <a:off x="8400415" y="1460500"/>
            <a:ext cx="3551555" cy="166687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b="1" dirty="0">
                <a:solidFill>
                  <a:srgbClr val="191414"/>
                </a:solidFill>
                <a:highlight>
                  <a:srgbClr val="00FF00"/>
                </a:highlight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  <a:sym typeface="+mn-ea"/>
              </a:rPr>
              <a:t>Interface Segregation</a:t>
            </a:r>
            <a:endParaRPr lang="en-US" dirty="0">
              <a:highlight>
                <a:srgbClr val="00FF00"/>
              </a:highlight>
              <a:latin typeface="Arial Black" panose="020B0A04020102020204" charset="0"/>
              <a:cs typeface="Arial Black" panose="020B0A04020102020204" charset="0"/>
            </a:endParaRPr>
          </a:p>
          <a:p>
            <a:endParaRPr lang="en-US" altLang="es-ES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Bahnschrift" panose="020B0502040204020203" charset="0"/>
                <a:ea typeface="Calibri" panose="020F0502020204030204" pitchFamily="34" charset="-122"/>
                <a:cs typeface="Bahnschrift" panose="020B0502040204020203" charset="0"/>
                <a:sym typeface="+mn-ea"/>
              </a:rPr>
              <a:t>Interfaces específicas en vez de una general. Ej: IReproducible, IDescargable, ICompartible separadas.</a:t>
            </a:r>
            <a:endParaRPr lang="en-US" altLang="es-ES" sz="1600" dirty="0">
              <a:solidFill>
                <a:schemeClr val="bg1"/>
              </a:solidFill>
              <a:latin typeface="Bahnschrift" panose="020B0502040204020203" charset="0"/>
              <a:ea typeface="Calibri" panose="020F0502020204030204" pitchFamily="34" charset="-122"/>
              <a:cs typeface="Bahnschrift" panose="020B0502040204020203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n 3" descr="spotify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5" name="Rectángulos 4"/>
          <p:cNvSpPr/>
          <p:nvPr/>
        </p:nvSpPr>
        <p:spPr>
          <a:xfrm>
            <a:off x="0" y="-635"/>
            <a:ext cx="12191365" cy="6884035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6" name="Cuadro de texto 5"/>
          <p:cNvSpPr txBox="1"/>
          <p:nvPr/>
        </p:nvSpPr>
        <p:spPr>
          <a:xfrm>
            <a:off x="187960" y="278130"/>
            <a:ext cx="9737090" cy="672465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Arial Rounded MT Bold" panose="020F0704030504030204" charset="0"/>
                <a:ea typeface="Calibri" panose="020F0502020204030204" pitchFamily="34" charset="-122"/>
                <a:cs typeface="Arial Rounded MT Bold" panose="020F0704030504030204" charset="0"/>
                <a:sym typeface="+mn-ea"/>
              </a:rPr>
              <a:t> </a:t>
            </a:r>
            <a:r>
              <a:rPr lang="en-US" sz="3200" b="1" dirty="0">
                <a:solidFill>
                  <a:schemeClr val="bg1"/>
                </a:solidFill>
                <a:latin typeface="Arial Rounded MT Bold" panose="020F0704030504030204" charset="0"/>
                <a:ea typeface="Calibri" panose="020F0502020204030204" pitchFamily="34" charset="-122"/>
                <a:cs typeface="Arial Rounded MT Bold" panose="020F0704030504030204" charset="0"/>
                <a:sym typeface="+mn-ea"/>
              </a:rPr>
              <a:t>Jerarquía de Clases para Contenido de Spotify</a:t>
            </a:r>
            <a:endParaRPr lang="en-US" altLang="en-US" sz="3200" b="1" dirty="0">
              <a:solidFill>
                <a:schemeClr val="bg1"/>
              </a:solidFill>
              <a:latin typeface="Arial Rounded MT Bold" panose="020F0704030504030204" charset="0"/>
              <a:ea typeface="Calibri" panose="020F0502020204030204" pitchFamily="34" charset="-122"/>
              <a:cs typeface="Arial Rounded MT Bold" panose="020F0704030504030204" charset="0"/>
              <a:sym typeface="+mn-ea"/>
            </a:endParaRPr>
          </a:p>
        </p:txBody>
      </p:sp>
      <p:sp>
        <p:nvSpPr>
          <p:cNvPr id="3" name="Cuadro de texto 2"/>
          <p:cNvSpPr txBox="1"/>
          <p:nvPr/>
        </p:nvSpPr>
        <p:spPr>
          <a:xfrm>
            <a:off x="650875" y="1053465"/>
            <a:ext cx="5457825" cy="5643880"/>
          </a:xfrm>
          <a:prstGeom prst="rect">
            <a:avLst/>
          </a:prstGeom>
          <a:solidFill>
            <a:schemeClr val="bg2">
              <a:lumMod val="25000"/>
              <a:alpha val="92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1200" i="1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// Clase base abstracta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public abstract class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ContenidoSpotify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{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public string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Titulo </a:t>
            </a:r>
            <a:r>
              <a:rPr lang="en-US" sz="120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{ get; set;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public string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Artista </a:t>
            </a:r>
            <a:r>
              <a:rPr lang="en-US" sz="120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{ get; set;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public TimeSpan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Duracion </a:t>
            </a:r>
            <a:r>
              <a:rPr lang="en-US" sz="120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{ get; set;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CDC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public abstract void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Reproducir();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CDC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public virtual string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ObtenerInfo()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E917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=&gt; $"{Titulo} - {Duracion}";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public class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Cancion 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: ContenidoSpotify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{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public string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Album </a:t>
            </a:r>
            <a:r>
              <a:rPr lang="en-US" sz="120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{ get; set;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CDC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public override void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Reproducir()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=&gt; Console.WriteLine(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E917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$"🎵 {Titulo}"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);</a:t>
            </a:r>
            <a:endParaRPr lang="en-US" sz="1200" dirty="0"/>
          </a:p>
          <a:p>
            <a:endParaRPr lang="en-US" altLang="es-ES" sz="1200">
              <a:solidFill>
                <a:schemeClr val="bg1"/>
              </a:solidFill>
            </a:endParaRPr>
          </a:p>
        </p:txBody>
      </p:sp>
      <p:sp>
        <p:nvSpPr>
          <p:cNvPr id="8" name="Cuadro de texto 7"/>
          <p:cNvSpPr txBox="1"/>
          <p:nvPr/>
        </p:nvSpPr>
        <p:spPr>
          <a:xfrm>
            <a:off x="8368030" y="1376045"/>
            <a:ext cx="3300730" cy="727075"/>
          </a:xfrm>
          <a:prstGeom prst="rect">
            <a:avLst/>
          </a:prstGeom>
          <a:solidFill>
            <a:srgbClr val="16D058"/>
          </a:solidFill>
          <a:ln w="12700" cmpd="sng">
            <a:solidFill>
              <a:schemeClr val="bg1"/>
            </a:solidFill>
            <a:prstDash val="lgDash"/>
          </a:ln>
        </p:spPr>
        <p:txBody>
          <a:bodyPr wrap="square" rtlCol="0">
            <a:noAutofit/>
          </a:bodyPr>
          <a:p>
            <a:r>
              <a:rPr lang="en-US" b="1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ContenidoSpotify</a:t>
            </a:r>
            <a:endParaRPr lang="en-US" b="1" dirty="0">
              <a:solidFill>
                <a:schemeClr val="tx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r>
              <a:rPr lang="en-US" i="1" dirty="0">
                <a:solidFill>
                  <a:srgbClr val="E8F5E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(abstract)</a:t>
            </a:r>
            <a:endParaRPr lang="en-US" dirty="0"/>
          </a:p>
          <a:p>
            <a:endParaRPr lang="en-US" altLang="en-US" b="1" dirty="0">
              <a:solidFill>
                <a:schemeClr val="tx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9" name="Cuadro de texto 8"/>
          <p:cNvSpPr txBox="1"/>
          <p:nvPr/>
        </p:nvSpPr>
        <p:spPr>
          <a:xfrm>
            <a:off x="7071360" y="2527935"/>
            <a:ext cx="3300730" cy="727075"/>
          </a:xfrm>
          <a:prstGeom prst="rect">
            <a:avLst/>
          </a:prstGeom>
          <a:solidFill>
            <a:srgbClr val="16D058"/>
          </a:solidFill>
          <a:ln w="12700" cmpd="sng">
            <a:solidFill>
              <a:schemeClr val="bg1"/>
            </a:solidFill>
            <a:prstDash val="lgDash"/>
          </a:ln>
        </p:spPr>
        <p:txBody>
          <a:bodyPr wrap="square" rtlCol="0">
            <a:noAutofit/>
          </a:bodyPr>
          <a:p>
            <a:r>
              <a:rPr lang="en-US" b="1" dirty="0">
                <a:solidFill>
                  <a:srgbClr val="191414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Cancion</a:t>
            </a:r>
            <a:endParaRPr lang="en-US" b="1" dirty="0">
              <a:solidFill>
                <a:schemeClr val="tx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r>
              <a:rPr lang="en-US" i="1" dirty="0">
                <a:solidFill>
                  <a:srgbClr val="E8F5E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(</a:t>
            </a:r>
            <a:r>
              <a:rPr lang="en-US" i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Album, override Reproducir()</a:t>
            </a:r>
            <a:r>
              <a:rPr lang="en-US" i="1" dirty="0">
                <a:solidFill>
                  <a:srgbClr val="E8F5E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)</a:t>
            </a:r>
            <a:endParaRPr lang="en-US" dirty="0"/>
          </a:p>
          <a:p>
            <a:endParaRPr lang="en-US" altLang="en-US" b="1" dirty="0">
              <a:solidFill>
                <a:schemeClr val="tx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10" name="Cuadro de texto 9"/>
          <p:cNvSpPr txBox="1"/>
          <p:nvPr/>
        </p:nvSpPr>
        <p:spPr>
          <a:xfrm>
            <a:off x="8368030" y="3728720"/>
            <a:ext cx="3300730" cy="727075"/>
          </a:xfrm>
          <a:prstGeom prst="rect">
            <a:avLst/>
          </a:prstGeom>
          <a:solidFill>
            <a:srgbClr val="16D058"/>
          </a:solidFill>
          <a:ln w="12700" cmpd="sng">
            <a:solidFill>
              <a:schemeClr val="bg1"/>
            </a:solidFill>
            <a:prstDash val="lgDash"/>
          </a:ln>
        </p:spPr>
        <p:txBody>
          <a:bodyPr wrap="square" rtlCol="0">
            <a:noAutofit/>
          </a:bodyPr>
          <a:p>
            <a:r>
              <a:rPr lang="en-US" b="1" dirty="0">
                <a:solidFill>
                  <a:srgbClr val="191414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Podcast</a:t>
            </a:r>
            <a:endParaRPr lang="en-US" b="1" dirty="0">
              <a:solidFill>
                <a:srgbClr val="191414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r>
              <a:rPr lang="en-US" i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(</a:t>
            </a:r>
            <a:r>
              <a:rPr lang="en-US" i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Episodio, Presentador</a:t>
            </a:r>
            <a:r>
              <a:rPr lang="en-US" i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)</a:t>
            </a:r>
            <a:endParaRPr lang="en-US" dirty="0">
              <a:solidFill>
                <a:schemeClr val="bg1"/>
              </a:solidFill>
            </a:endParaRPr>
          </a:p>
          <a:p>
            <a:endParaRPr lang="en-US" altLang="en-US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11" name="Cuadro de texto 10"/>
          <p:cNvSpPr txBox="1"/>
          <p:nvPr/>
        </p:nvSpPr>
        <p:spPr>
          <a:xfrm>
            <a:off x="7174230" y="4929505"/>
            <a:ext cx="3300730" cy="727075"/>
          </a:xfrm>
          <a:prstGeom prst="rect">
            <a:avLst/>
          </a:prstGeom>
          <a:solidFill>
            <a:srgbClr val="16D058"/>
          </a:solidFill>
          <a:ln w="12700" cmpd="sng">
            <a:solidFill>
              <a:schemeClr val="bg1"/>
            </a:solidFill>
            <a:prstDash val="lgDash"/>
          </a:ln>
        </p:spPr>
        <p:txBody>
          <a:bodyPr wrap="square" rtlCol="0">
            <a:noAutofit/>
          </a:bodyPr>
          <a:p>
            <a:r>
              <a:rPr lang="en-US" b="1" dirty="0">
                <a:solidFill>
                  <a:srgbClr val="191414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Audiolibro</a:t>
            </a:r>
            <a:endParaRPr lang="en-US" b="1" dirty="0">
              <a:solidFill>
                <a:srgbClr val="191414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r>
              <a:rPr lang="en-US" i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(</a:t>
            </a:r>
            <a:r>
              <a:rPr lang="en-US" i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Capitulo, Narrador</a:t>
            </a:r>
            <a:r>
              <a:rPr lang="en-US" i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)</a:t>
            </a:r>
            <a:endParaRPr lang="en-US" dirty="0">
              <a:solidFill>
                <a:schemeClr val="bg1"/>
              </a:solidFill>
            </a:endParaRPr>
          </a:p>
          <a:p>
            <a:endParaRPr lang="en-US" altLang="en-US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n 3" descr="spotify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5" name="Rectángulos 4"/>
          <p:cNvSpPr/>
          <p:nvPr/>
        </p:nvSpPr>
        <p:spPr>
          <a:xfrm>
            <a:off x="0" y="-635"/>
            <a:ext cx="12191365" cy="6884035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3" name="Cuadro de texto 2"/>
          <p:cNvSpPr txBox="1"/>
          <p:nvPr/>
        </p:nvSpPr>
        <p:spPr>
          <a:xfrm>
            <a:off x="531495" y="1214120"/>
            <a:ext cx="5457825" cy="5166360"/>
          </a:xfrm>
          <a:prstGeom prst="rect">
            <a:avLst/>
          </a:prstGeom>
          <a:solidFill>
            <a:schemeClr val="bg2">
              <a:lumMod val="25000"/>
              <a:alpha val="92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1200" i="1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// Clase base abstracta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public abstract class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public interface </a:t>
            </a:r>
            <a:r>
              <a:rPr lang="en-US" sz="1200" b="1" dirty="0">
                <a:solidFill>
                  <a:srgbClr val="4EC9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IObservador 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{ void </a:t>
            </a:r>
            <a:r>
              <a:rPr lang="en-US" sz="1200" dirty="0">
                <a:solidFill>
                  <a:srgbClr val="DCDC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Actualizar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(string cancion); }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public class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Artista 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// Sujeto Observable
{
  private List&lt;IObservador&gt; _seguidores = new();
</a:t>
            </a:r>
            <a:r>
              <a:rPr lang="en-US" sz="1200" dirty="0">
                <a:solidFill>
                  <a:srgbClr val="DCDC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public void 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Suscribir(IObservador s) =&gt; _seguidores.Add(s);
</a:t>
            </a:r>
            <a:r>
              <a:rPr lang="en-US" sz="1200" dirty="0">
                <a:solidFill>
                  <a:srgbClr val="DCDC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public void 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PublicarCancion(string titulo)
  {
</a:t>
            </a:r>
            <a:r>
              <a:rPr lang="en-US" sz="1200" dirty="0">
                <a:solidFill>
                  <a:srgbClr val="C586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foreach 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(var s in _seguidores) s.Actualizar(titulo);
  }
}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public class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Seguidor 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: IObservador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private string _nombre;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public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EC9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Seguidor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(string n) =&gt; _nombre = n;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public void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CDC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Actualizar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(string c)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=&gt; Console.WriteLine(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E917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$"{_nombre} recibió: 🎵 {c}"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}</a:t>
            </a:r>
            <a:endParaRPr lang="en-US" sz="1200" dirty="0"/>
          </a:p>
          <a:p>
            <a:endParaRPr lang="en-US" altLang="es-ES" sz="1200">
              <a:solidFill>
                <a:schemeClr val="bg1"/>
              </a:solidFill>
            </a:endParaRPr>
          </a:p>
        </p:txBody>
      </p:sp>
      <p:sp>
        <p:nvSpPr>
          <p:cNvPr id="6" name="Cuadro de texto 5"/>
          <p:cNvSpPr txBox="1"/>
          <p:nvPr/>
        </p:nvSpPr>
        <p:spPr>
          <a:xfrm>
            <a:off x="187960" y="278130"/>
            <a:ext cx="9737090" cy="672465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Arial Rounded MT Bold" panose="020F0704030504030204" charset="0"/>
                <a:ea typeface="Calibri" panose="020F0502020204030204" pitchFamily="34" charset="-122"/>
                <a:cs typeface="Arial Rounded MT Bold" panose="020F0704030504030204" charset="0"/>
                <a:sym typeface="+mn-ea"/>
              </a:rPr>
              <a:t> Patrón Observer para Notificaciones de Artistas</a:t>
            </a:r>
            <a:endParaRPr lang="en-US" altLang="en-US" sz="3000" b="1" dirty="0">
              <a:solidFill>
                <a:schemeClr val="bg1"/>
              </a:solidFill>
              <a:latin typeface="Arial Rounded MT Bold" panose="020F0704030504030204" charset="0"/>
              <a:ea typeface="Calibri" panose="020F0502020204030204" pitchFamily="34" charset="-122"/>
              <a:cs typeface="Arial Rounded MT Bold" panose="020F0704030504030204" charset="0"/>
              <a:sym typeface="+mn-ea"/>
            </a:endParaRPr>
          </a:p>
        </p:txBody>
      </p:sp>
      <p:sp>
        <p:nvSpPr>
          <p:cNvPr id="7" name="Text 2"/>
          <p:cNvSpPr/>
          <p:nvPr/>
        </p:nvSpPr>
        <p:spPr>
          <a:xfrm>
            <a:off x="6983095" y="2663190"/>
            <a:ext cx="4481195" cy="1223010"/>
          </a:xfrm>
          <a:prstGeom prst="rect">
            <a:avLst/>
          </a:prstGeom>
          <a:solidFill>
            <a:srgbClr val="16D058"/>
          </a:solidFill>
          <a:ln w="12700" cmpd="sng">
            <a:solidFill>
              <a:schemeClr val="bg1"/>
            </a:solidFill>
            <a:prstDash val="lgDash"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Cuando un artista publica una nueva canción, todos sus seguidores deben ser notificados automáticamente.</a:t>
            </a:r>
            <a:endParaRPr lang="en-US" sz="2000" i="1" dirty="0">
              <a:solidFill>
                <a:schemeClr val="tx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n 3" descr="spotify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5" name="Rectángulos 4"/>
          <p:cNvSpPr/>
          <p:nvPr/>
        </p:nvSpPr>
        <p:spPr>
          <a:xfrm>
            <a:off x="0" y="-635"/>
            <a:ext cx="12191365" cy="6884035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6" name="Cuadro de texto 5"/>
          <p:cNvSpPr txBox="1"/>
          <p:nvPr/>
        </p:nvSpPr>
        <p:spPr>
          <a:xfrm>
            <a:off x="427355" y="260985"/>
            <a:ext cx="9737090" cy="672465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rial Rounded MT Bold" panose="020F0704030504030204" charset="0"/>
                <a:ea typeface="Calibri" panose="020F0502020204030204" pitchFamily="34" charset="-122"/>
                <a:cs typeface="Arial Rounded MT Bold" panose="020F0704030504030204" charset="0"/>
                <a:sym typeface="+mn-ea"/>
              </a:rPr>
              <a:t> Patrón Factory para Reproductores según Plan del Usuar</a:t>
            </a:r>
            <a:r>
              <a:rPr lang="en-US" sz="2400" b="1" dirty="0">
                <a:solidFill>
                  <a:srgbClr val="191414"/>
                </a:solidFill>
                <a:latin typeface="Arial Rounded MT Bold" panose="020F0704030504030204" charset="0"/>
                <a:ea typeface="Calibri" panose="020F0502020204030204" pitchFamily="34" charset="-122"/>
                <a:cs typeface="Arial Rounded MT Bold" panose="020F0704030504030204" charset="0"/>
                <a:sym typeface="+mn-ea"/>
              </a:rPr>
              <a:t>i</a:t>
            </a:r>
            <a:r>
              <a:rPr lang="en-US" sz="3000" b="1" dirty="0">
                <a:solidFill>
                  <a:srgbClr val="191414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o</a:t>
            </a:r>
            <a:endParaRPr lang="en-US" altLang="en-US" sz="3000" b="1" dirty="0">
              <a:solidFill>
                <a:schemeClr val="bg1"/>
              </a:solidFill>
              <a:latin typeface="Arial Rounded MT Bold" panose="020F0704030504030204" charset="0"/>
              <a:ea typeface="Calibri" panose="020F0502020204030204" pitchFamily="34" charset="-122"/>
              <a:cs typeface="Arial Rounded MT Bold" panose="020F0704030504030204" charset="0"/>
              <a:sym typeface="+mn-ea"/>
            </a:endParaRPr>
          </a:p>
        </p:txBody>
      </p:sp>
      <p:sp>
        <p:nvSpPr>
          <p:cNvPr id="3" name="Cuadro de texto 2"/>
          <p:cNvSpPr txBox="1"/>
          <p:nvPr/>
        </p:nvSpPr>
        <p:spPr>
          <a:xfrm>
            <a:off x="531495" y="1069975"/>
            <a:ext cx="5457825" cy="5560060"/>
          </a:xfrm>
          <a:prstGeom prst="rect">
            <a:avLst/>
          </a:prstGeom>
          <a:solidFill>
            <a:schemeClr val="bg2">
              <a:lumMod val="25000"/>
              <a:alpha val="92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public interface </a:t>
            </a:r>
            <a:r>
              <a:rPr lang="en-US" sz="1200" b="1" dirty="0">
                <a:solidFill>
                  <a:srgbClr val="4EC9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IReproductor
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{ void </a:t>
            </a:r>
            <a:r>
              <a:rPr lang="en-US" sz="1200" dirty="0">
                <a:solidFill>
                  <a:srgbClr val="DCDC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Reproducir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(string titulo); }
</a:t>
            </a:r>
            <a:r>
              <a:rPr lang="en-US" sz="120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public class </a:t>
            </a:r>
            <a:r>
              <a:rPr lang="en-US" sz="1200" b="1" dirty="0">
                <a:solidFill>
                  <a:srgbClr val="4EC9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ReproductorFree 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: IReproductor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public void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CDC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Reproducir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(string 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=&gt; Console.Write(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E917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$"{t} [con anuncios]"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);
}
</a:t>
            </a:r>
            <a:r>
              <a:rPr lang="en-US" sz="120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public class </a:t>
            </a:r>
            <a:r>
              <a:rPr lang="en-US" sz="1200" b="1" dirty="0">
                <a:solidFill>
                  <a:srgbClr val="4EC9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ReproductorPremium 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: IReproductor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public void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CDC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Reproducir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(string 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=&gt; Console.Write(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E917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$"{t} [HD, sin anuncios]"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);
}
</a:t>
            </a:r>
            <a:r>
              <a:rPr lang="en-US" sz="120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public static class </a:t>
            </a:r>
            <a:r>
              <a:rPr lang="en-US" sz="1200" b="1" dirty="0">
                <a:solidFill>
                  <a:srgbClr val="4EC9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ReproductorFactory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public static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EC9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IReproductor </a:t>
            </a:r>
            <a:r>
              <a:rPr lang="en-US" sz="1200" dirty="0">
                <a:solidFill>
                  <a:srgbClr val="DCDC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Crear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(string plan)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=&gt; plan ==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E917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"Premium"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? new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EC9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ReproductorPremium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: new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EC9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ReproductorFree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}</a:t>
            </a:r>
            <a:endParaRPr lang="en-US" sz="1200" dirty="0"/>
          </a:p>
          <a:p>
            <a:endParaRPr lang="en-US" altLang="es-ES" sz="1200">
              <a:solidFill>
                <a:schemeClr val="bg1"/>
              </a:solidFill>
            </a:endParaRPr>
          </a:p>
        </p:txBody>
      </p:sp>
      <p:sp>
        <p:nvSpPr>
          <p:cNvPr id="2" name="Text 4"/>
          <p:cNvSpPr/>
          <p:nvPr/>
        </p:nvSpPr>
        <p:spPr>
          <a:xfrm>
            <a:off x="7247890" y="1222375"/>
            <a:ext cx="3383280" cy="621792"/>
          </a:xfrm>
          <a:prstGeom prst="rect">
            <a:avLst/>
          </a:prstGeom>
          <a:solidFill>
            <a:schemeClr val="tx1"/>
          </a:solidFill>
          <a:ln>
            <a:solidFill>
              <a:srgbClr val="16D05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B954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ReproductorFactory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39710" y="2301240"/>
            <a:ext cx="1697355" cy="1005840"/>
          </a:xfrm>
          <a:prstGeom prst="rect">
            <a:avLst/>
          </a:prstGeom>
          <a:solidFill>
            <a:srgbClr val="535353"/>
          </a:solidFill>
          <a:ln w="381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839075" y="3764280"/>
            <a:ext cx="1698625" cy="1005840"/>
          </a:xfrm>
          <a:prstGeom prst="rect">
            <a:avLst/>
          </a:prstGeom>
          <a:solidFill>
            <a:srgbClr val="1DB954"/>
          </a:solidFill>
          <a:ln w="28575" cmpd="sng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6240" y="3815715"/>
            <a:ext cx="1344295" cy="3257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Plan Premium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0" y="2364105"/>
            <a:ext cx="1010285" cy="2679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Plan Free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2633980"/>
            <a:ext cx="14909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3B3B3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Con anuncios</a:t>
            </a:r>
            <a:endParaRPr lang="en-US" sz="900" b="1" dirty="0"/>
          </a:p>
          <a:p>
            <a:pPr marL="0" indent="0">
              <a:buNone/>
            </a:pPr>
            <a:r>
              <a:rPr lang="en-US" sz="900" b="1" dirty="0">
                <a:solidFill>
                  <a:srgbClr val="B3B3B3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Calidad estándar</a:t>
            </a:r>
            <a:endParaRPr lang="en-US" sz="900" b="1" dirty="0"/>
          </a:p>
          <a:p>
            <a:pPr marL="0" indent="0">
              <a:buNone/>
            </a:pPr>
            <a:r>
              <a:rPr lang="en-US" sz="900" b="1" dirty="0">
                <a:solidFill>
                  <a:srgbClr val="B3B3B3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Sin descarga offline</a:t>
            </a:r>
            <a:endParaRPr lang="en-US" sz="900" b="1" dirty="0"/>
          </a:p>
        </p:txBody>
      </p:sp>
      <p:sp>
        <p:nvSpPr>
          <p:cNvPr id="16" name="Text 14"/>
          <p:cNvSpPr/>
          <p:nvPr/>
        </p:nvSpPr>
        <p:spPr>
          <a:xfrm>
            <a:off x="8016240" y="4063365"/>
            <a:ext cx="124650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Sin anuncios</a:t>
            </a:r>
            <a:endParaRPr lang="en-US" sz="900" b="1" dirty="0"/>
          </a:p>
          <a:p>
            <a:pPr marL="0" indent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Calidad HD</a:t>
            </a:r>
            <a:endParaRPr lang="en-US" sz="900" b="1" dirty="0"/>
          </a:p>
          <a:p>
            <a:pPr marL="0" indent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Descarga offline</a:t>
            </a:r>
            <a:endParaRPr lang="en-US" sz="900" b="1" dirty="0"/>
          </a:p>
        </p:txBody>
      </p:sp>
      <p:cxnSp>
        <p:nvCxnSpPr>
          <p:cNvPr id="7" name="Conector recto 6"/>
          <p:cNvCxnSpPr/>
          <p:nvPr/>
        </p:nvCxnSpPr>
        <p:spPr>
          <a:xfrm>
            <a:off x="10094595" y="1837055"/>
            <a:ext cx="17145" cy="2439670"/>
          </a:xfrm>
          <a:prstGeom prst="line">
            <a:avLst/>
          </a:prstGeom>
          <a:ln w="25400">
            <a:solidFill>
              <a:srgbClr val="16D058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Conector recto 7"/>
          <p:cNvCxnSpPr>
            <a:stCxn id="14" idx="3"/>
          </p:cNvCxnSpPr>
          <p:nvPr/>
        </p:nvCxnSpPr>
        <p:spPr>
          <a:xfrm flipV="1">
            <a:off x="9537700" y="4256405"/>
            <a:ext cx="570865" cy="10795"/>
          </a:xfrm>
          <a:prstGeom prst="line">
            <a:avLst/>
          </a:prstGeom>
          <a:ln w="25400">
            <a:solidFill>
              <a:srgbClr val="16D058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Conector recto 8"/>
          <p:cNvCxnSpPr/>
          <p:nvPr/>
        </p:nvCxnSpPr>
        <p:spPr>
          <a:xfrm flipV="1">
            <a:off x="9523730" y="2798445"/>
            <a:ext cx="570865" cy="10795"/>
          </a:xfrm>
          <a:prstGeom prst="line">
            <a:avLst/>
          </a:prstGeom>
          <a:ln w="25400">
            <a:solidFill>
              <a:srgbClr val="16D058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Shape 15"/>
          <p:cNvSpPr/>
          <p:nvPr/>
        </p:nvSpPr>
        <p:spPr>
          <a:xfrm>
            <a:off x="7202170" y="497459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E8F5E9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85050" y="5013960"/>
            <a:ext cx="3246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3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Beneficios del Factory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247890" y="5249418"/>
            <a:ext cx="32461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7D3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• Desacopla creación del uso
</a:t>
            </a:r>
            <a:r>
              <a:rPr lang="en-US" sz="1400" dirty="0">
                <a:solidFill>
                  <a:srgbClr val="2E7D3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• Fácil agregar nuevos planes
• Código cliente no cambia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n 3" descr="spotify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5" name="Rectángulos 4"/>
          <p:cNvSpPr/>
          <p:nvPr/>
        </p:nvSpPr>
        <p:spPr>
          <a:xfrm>
            <a:off x="0" y="-635"/>
            <a:ext cx="12191365" cy="6884035"/>
          </a:xfrm>
          <a:prstGeom prst="rect">
            <a:avLst/>
          </a:prstGeom>
          <a:solidFill>
            <a:schemeClr val="tx1"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6" name="Cuadro de texto 5"/>
          <p:cNvSpPr txBox="1"/>
          <p:nvPr/>
        </p:nvSpPr>
        <p:spPr>
          <a:xfrm>
            <a:off x="574040" y="479425"/>
            <a:ext cx="9737090" cy="750570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Interfaces vs Clases Abstractas en C#</a:t>
            </a:r>
            <a:endParaRPr lang="en-US" altLang="en-US" sz="440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" name="Cuadro de texto 1"/>
          <p:cNvSpPr txBox="1"/>
          <p:nvPr/>
        </p:nvSpPr>
        <p:spPr>
          <a:xfrm>
            <a:off x="574040" y="1588770"/>
            <a:ext cx="4277995" cy="52197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p>
            <a:pPr algn="ctr"/>
            <a:r>
              <a:rPr lang="es-E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interfaz</a:t>
            </a:r>
            <a:endParaRPr lang="es-ES" altLang="en-US" sz="28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uadro de texto 2"/>
          <p:cNvSpPr txBox="1"/>
          <p:nvPr/>
        </p:nvSpPr>
        <p:spPr>
          <a:xfrm>
            <a:off x="5713095" y="1588770"/>
            <a:ext cx="4419600" cy="52197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p>
            <a:pPr algn="ctr"/>
            <a:r>
              <a:rPr lang="es-ES" altLang="en-US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Clases Abstractas</a:t>
            </a:r>
            <a:endParaRPr lang="es-ES" altLang="en-US" sz="28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7" name="Rectángulos 6"/>
          <p:cNvSpPr/>
          <p:nvPr/>
        </p:nvSpPr>
        <p:spPr>
          <a:xfrm>
            <a:off x="5704840" y="1588770"/>
            <a:ext cx="249555" cy="521970"/>
          </a:xfrm>
          <a:prstGeom prst="rect">
            <a:avLst/>
          </a:prstGeom>
          <a:solidFill>
            <a:srgbClr val="BC0E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8" name="Rectángulos 7"/>
          <p:cNvSpPr/>
          <p:nvPr/>
        </p:nvSpPr>
        <p:spPr>
          <a:xfrm>
            <a:off x="574040" y="1588770"/>
            <a:ext cx="249555" cy="521970"/>
          </a:xfrm>
          <a:prstGeom prst="rect">
            <a:avLst/>
          </a:prstGeom>
          <a:solidFill>
            <a:srgbClr val="16D05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9" name="Cuadro de texto 8"/>
          <p:cNvSpPr txBox="1"/>
          <p:nvPr/>
        </p:nvSpPr>
        <p:spPr>
          <a:xfrm>
            <a:off x="451485" y="2656205"/>
            <a:ext cx="4380230" cy="521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en-US" sz="1400" dirty="0">
                <a:solidFill>
                  <a:srgbClr val="191414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  <a:sym typeface="+mn-ea"/>
              </a:rPr>
              <a:t>Define contratos sin implementación.</a:t>
            </a:r>
            <a:endParaRPr lang="en-US" sz="1400" dirty="0">
              <a:latin typeface="Arial Black" panose="020B0A04020102020204" charset="0"/>
              <a:cs typeface="Arial Black" panose="020B0A04020102020204" charset="0"/>
            </a:endParaRPr>
          </a:p>
          <a:p>
            <a:pPr algn="ctr"/>
            <a:endParaRPr lang="es-ES" altLang="en-US" sz="140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0" name="Cuadro de texto 9"/>
          <p:cNvSpPr txBox="1"/>
          <p:nvPr/>
        </p:nvSpPr>
        <p:spPr>
          <a:xfrm>
            <a:off x="594360" y="3567430"/>
            <a:ext cx="4257675" cy="521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en-US" sz="1400" dirty="0">
                <a:solidFill>
                  <a:srgbClr val="191414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  <a:sym typeface="+mn-ea"/>
              </a:rPr>
              <a:t>Una clase puede implementar múltiples interfaces.</a:t>
            </a:r>
            <a:endParaRPr lang="en-US" sz="1400" dirty="0">
              <a:latin typeface="Arial Black" panose="020B0A04020102020204" charset="0"/>
              <a:cs typeface="Arial Black" panose="020B0A04020102020204" charset="0"/>
            </a:endParaRPr>
          </a:p>
          <a:p>
            <a:pPr algn="ctr"/>
            <a:endParaRPr lang="es-ES" altLang="en-US" sz="140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1" name="Cuadro de texto 10"/>
          <p:cNvSpPr txBox="1"/>
          <p:nvPr/>
        </p:nvSpPr>
        <p:spPr>
          <a:xfrm>
            <a:off x="574040" y="4351655"/>
            <a:ext cx="4257675" cy="502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en-US" sz="1400" dirty="0">
                <a:solidFill>
                  <a:srgbClr val="191414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  <a:sym typeface="+mn-ea"/>
              </a:rPr>
              <a:t>Usar cuando distintos tipos comparten comportamiento sin relación.</a:t>
            </a:r>
            <a:endParaRPr lang="en-US" sz="1400" dirty="0">
              <a:latin typeface="Arial Black" panose="020B0A04020102020204" charset="0"/>
              <a:cs typeface="Arial Black" panose="020B0A04020102020204" charset="0"/>
            </a:endParaRPr>
          </a:p>
          <a:p>
            <a:pPr algn="ctr"/>
            <a:endParaRPr lang="es-ES" altLang="en-US" sz="140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2" name="Cuadro de texto 11"/>
          <p:cNvSpPr txBox="1"/>
          <p:nvPr/>
        </p:nvSpPr>
        <p:spPr>
          <a:xfrm>
            <a:off x="451485" y="5267325"/>
            <a:ext cx="4380230" cy="521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en-US" sz="1400" dirty="0">
                <a:solidFill>
                  <a:srgbClr val="191414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  <a:sym typeface="+mn-ea"/>
              </a:rPr>
              <a:t>Ej: IReproducible, IDescargable, ICompartible en Spotify.</a:t>
            </a:r>
            <a:endParaRPr lang="en-US" sz="1400" dirty="0">
              <a:latin typeface="Arial Black" panose="020B0A04020102020204" charset="0"/>
              <a:cs typeface="Arial Black" panose="020B0A04020102020204" charset="0"/>
            </a:endParaRPr>
          </a:p>
          <a:p>
            <a:pPr algn="ctr"/>
            <a:endParaRPr lang="es-ES" altLang="en-US" sz="140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3" name="Cuadro de texto 12"/>
          <p:cNvSpPr txBox="1"/>
          <p:nvPr/>
        </p:nvSpPr>
        <p:spPr>
          <a:xfrm>
            <a:off x="5704840" y="2656205"/>
            <a:ext cx="4427220" cy="502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en-US" sz="1400" dirty="0">
                <a:solidFill>
                  <a:srgbClr val="191414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  <a:sym typeface="+mn-ea"/>
              </a:rPr>
              <a:t>Puede tener métodos concretos y abstractos.</a:t>
            </a:r>
            <a:endParaRPr lang="en-US" sz="1400" dirty="0">
              <a:latin typeface="Arial Black" panose="020B0A04020102020204" charset="0"/>
              <a:cs typeface="Arial Black" panose="020B0A04020102020204" charset="0"/>
            </a:endParaRPr>
          </a:p>
          <a:p>
            <a:pPr algn="ctr"/>
            <a:endParaRPr lang="es-ES" altLang="en-US" sz="140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4" name="Cuadro de texto 13"/>
          <p:cNvSpPr txBox="1"/>
          <p:nvPr/>
        </p:nvSpPr>
        <p:spPr>
          <a:xfrm>
            <a:off x="5704840" y="3567430"/>
            <a:ext cx="4427220" cy="521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en-US" sz="1400" dirty="0">
                <a:solidFill>
                  <a:srgbClr val="191414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  <a:sym typeface="+mn-ea"/>
              </a:rPr>
              <a:t>Solo permite herencia simple.</a:t>
            </a:r>
            <a:endParaRPr lang="en-US" sz="1400" dirty="0">
              <a:latin typeface="Arial Black" panose="020B0A04020102020204" charset="0"/>
              <a:cs typeface="Arial Black" panose="020B0A04020102020204" charset="0"/>
            </a:endParaRPr>
          </a:p>
          <a:p>
            <a:pPr algn="ctr"/>
            <a:endParaRPr lang="es-ES" altLang="en-US" sz="140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5" name="Cuadro de texto 14"/>
          <p:cNvSpPr txBox="1"/>
          <p:nvPr/>
        </p:nvSpPr>
        <p:spPr>
          <a:xfrm>
            <a:off x="5713095" y="4351655"/>
            <a:ext cx="4427220" cy="502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es-ES" altLang="en-US" sz="1400" dirty="0">
                <a:solidFill>
                  <a:srgbClr val="191414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  <a:sym typeface="+mn-ea"/>
              </a:rPr>
              <a:t>   </a:t>
            </a:r>
            <a:r>
              <a:rPr lang="en-US" sz="1400" dirty="0">
                <a:solidFill>
                  <a:srgbClr val="191414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  <a:sym typeface="+mn-ea"/>
              </a:rPr>
              <a:t>Usar cuando hay lógica común reutilizable entre subclases.</a:t>
            </a:r>
            <a:endParaRPr lang="en-US" sz="1400" dirty="0">
              <a:latin typeface="Arial Black" panose="020B0A04020102020204" charset="0"/>
              <a:cs typeface="Arial Black" panose="020B0A04020102020204" charset="0"/>
            </a:endParaRPr>
          </a:p>
          <a:p>
            <a:pPr algn="ctr"/>
            <a:endParaRPr lang="es-ES" altLang="en-US" sz="140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6" name="Cuadro de texto 15"/>
          <p:cNvSpPr txBox="1"/>
          <p:nvPr/>
        </p:nvSpPr>
        <p:spPr>
          <a:xfrm>
            <a:off x="5704840" y="5229860"/>
            <a:ext cx="4427220" cy="502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en-US" sz="1400" dirty="0">
                <a:solidFill>
                  <a:srgbClr val="191414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  <a:sym typeface="+mn-ea"/>
              </a:rPr>
              <a:t>Ej: ContenidoSpotify con ObtenerInfo() implementado.</a:t>
            </a:r>
            <a:endParaRPr lang="en-US" sz="1400" dirty="0">
              <a:latin typeface="Arial Black" panose="020B0A04020102020204" charset="0"/>
              <a:cs typeface="Arial Black" panose="020B0A04020102020204" charset="0"/>
            </a:endParaRPr>
          </a:p>
          <a:p>
            <a:pPr algn="ctr"/>
            <a:endParaRPr lang="es-ES" altLang="en-US" sz="140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7" name="Rectángulos 16"/>
          <p:cNvSpPr/>
          <p:nvPr/>
        </p:nvSpPr>
        <p:spPr>
          <a:xfrm>
            <a:off x="451485" y="2656205"/>
            <a:ext cx="249555" cy="521970"/>
          </a:xfrm>
          <a:prstGeom prst="rect">
            <a:avLst/>
          </a:prstGeom>
          <a:solidFill>
            <a:srgbClr val="16D05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8" name="Rectángulos 17"/>
          <p:cNvSpPr/>
          <p:nvPr/>
        </p:nvSpPr>
        <p:spPr>
          <a:xfrm>
            <a:off x="451485" y="3567430"/>
            <a:ext cx="249555" cy="521970"/>
          </a:xfrm>
          <a:prstGeom prst="rect">
            <a:avLst/>
          </a:prstGeom>
          <a:solidFill>
            <a:srgbClr val="16D05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9" name="Rectángulos 18"/>
          <p:cNvSpPr/>
          <p:nvPr/>
        </p:nvSpPr>
        <p:spPr>
          <a:xfrm>
            <a:off x="451485" y="4351655"/>
            <a:ext cx="248920" cy="502920"/>
          </a:xfrm>
          <a:prstGeom prst="rect">
            <a:avLst/>
          </a:prstGeom>
          <a:solidFill>
            <a:srgbClr val="16D05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20" name="Rectángulos 19"/>
          <p:cNvSpPr/>
          <p:nvPr/>
        </p:nvSpPr>
        <p:spPr>
          <a:xfrm>
            <a:off x="451485" y="5267325"/>
            <a:ext cx="249555" cy="521970"/>
          </a:xfrm>
          <a:prstGeom prst="rect">
            <a:avLst/>
          </a:prstGeom>
          <a:solidFill>
            <a:srgbClr val="16D05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21" name="Rectángulos 20"/>
          <p:cNvSpPr/>
          <p:nvPr/>
        </p:nvSpPr>
        <p:spPr>
          <a:xfrm>
            <a:off x="5704840" y="2656205"/>
            <a:ext cx="249555" cy="521970"/>
          </a:xfrm>
          <a:prstGeom prst="rect">
            <a:avLst/>
          </a:prstGeom>
          <a:solidFill>
            <a:srgbClr val="BC0E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22" name="Rectángulos 21"/>
          <p:cNvSpPr/>
          <p:nvPr/>
        </p:nvSpPr>
        <p:spPr>
          <a:xfrm>
            <a:off x="5704840" y="3567430"/>
            <a:ext cx="249555" cy="521970"/>
          </a:xfrm>
          <a:prstGeom prst="rect">
            <a:avLst/>
          </a:prstGeom>
          <a:solidFill>
            <a:srgbClr val="BC0E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23" name="Rectángulos 22"/>
          <p:cNvSpPr/>
          <p:nvPr/>
        </p:nvSpPr>
        <p:spPr>
          <a:xfrm>
            <a:off x="5713095" y="4351020"/>
            <a:ext cx="249555" cy="503555"/>
          </a:xfrm>
          <a:prstGeom prst="rect">
            <a:avLst/>
          </a:prstGeom>
          <a:solidFill>
            <a:srgbClr val="BC0E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24" name="Rectángulos 23"/>
          <p:cNvSpPr/>
          <p:nvPr/>
        </p:nvSpPr>
        <p:spPr>
          <a:xfrm>
            <a:off x="5704840" y="5229860"/>
            <a:ext cx="249555" cy="502920"/>
          </a:xfrm>
          <a:prstGeom prst="rect">
            <a:avLst/>
          </a:prstGeom>
          <a:solidFill>
            <a:srgbClr val="BC0E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n 3" descr="spotify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5" name="Rectángulos 4"/>
          <p:cNvSpPr/>
          <p:nvPr/>
        </p:nvSpPr>
        <p:spPr>
          <a:xfrm>
            <a:off x="0" y="0"/>
            <a:ext cx="12191365" cy="6884035"/>
          </a:xfrm>
          <a:prstGeom prst="rect">
            <a:avLst/>
          </a:prstGeom>
          <a:solidFill>
            <a:schemeClr val="tx1"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2" name="Cuadro de texto 1"/>
          <p:cNvSpPr txBox="1"/>
          <p:nvPr/>
        </p:nvSpPr>
        <p:spPr>
          <a:xfrm>
            <a:off x="574040" y="479425"/>
            <a:ext cx="8687435" cy="750570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Propuesta de Mejora Arquitectónica</a:t>
            </a:r>
            <a:endParaRPr lang="en-US" altLang="en-US" sz="440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" name="Cuadro de texto 2"/>
          <p:cNvSpPr txBox="1"/>
          <p:nvPr/>
        </p:nvSpPr>
        <p:spPr>
          <a:xfrm>
            <a:off x="574040" y="1539240"/>
            <a:ext cx="4384040" cy="208788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1600" b="1" dirty="0">
                <a:solidFill>
                  <a:srgbClr val="191414"/>
                </a:solidFill>
                <a:highlight>
                  <a:srgbClr val="00FF00"/>
                </a:highlight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  <a:sym typeface="+mn-ea"/>
              </a:rPr>
              <a:t>Repository Pattern</a:t>
            </a:r>
            <a:endParaRPr lang="en-US" altLang="es-ES" sz="16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8" name="Cuadro de texto 7"/>
          <p:cNvSpPr txBox="1"/>
          <p:nvPr/>
        </p:nvSpPr>
        <p:spPr>
          <a:xfrm>
            <a:off x="5787390" y="1539240"/>
            <a:ext cx="4173220" cy="208788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sz="1600" b="1" dirty="0">
                <a:solidFill>
                  <a:srgbClr val="191414"/>
                </a:solidFill>
                <a:highlight>
                  <a:srgbClr val="00FF00"/>
                </a:highlight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  <a:sym typeface="+mn-ea"/>
              </a:rPr>
              <a:t>Inyección de Dependencias</a:t>
            </a:r>
            <a:endParaRPr lang="en-US" sz="1600" dirty="0">
              <a:highlight>
                <a:srgbClr val="00FF00"/>
              </a:highlight>
              <a:latin typeface="Arial Black" panose="020B0A04020102020204" charset="0"/>
              <a:cs typeface="Arial Black" panose="020B0A04020102020204" charset="0"/>
            </a:endParaRPr>
          </a:p>
          <a:p>
            <a:endParaRPr lang="en-US" altLang="es-ES" sz="16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9" name="Cuadro de texto 8"/>
          <p:cNvSpPr txBox="1"/>
          <p:nvPr/>
        </p:nvSpPr>
        <p:spPr>
          <a:xfrm>
            <a:off x="574040" y="3936365"/>
            <a:ext cx="4383405" cy="199199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sz="1600" b="1" dirty="0">
                <a:solidFill>
                  <a:srgbClr val="191414"/>
                </a:solidFill>
                <a:highlight>
                  <a:srgbClr val="00FF00"/>
                </a:highlight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  <a:sym typeface="+mn-ea"/>
              </a:rPr>
              <a:t>CQRS (Command/Query)</a:t>
            </a:r>
            <a:endParaRPr lang="en-US" sz="1600" dirty="0">
              <a:highlight>
                <a:srgbClr val="00FF00"/>
              </a:highlight>
              <a:latin typeface="Arial Black" panose="020B0A04020102020204" charset="0"/>
              <a:cs typeface="Arial Black" panose="020B0A04020102020204" charset="0"/>
            </a:endParaRPr>
          </a:p>
          <a:p>
            <a:endParaRPr lang="en-US" altLang="es-ES" sz="16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0" name="Cuadro de texto 9"/>
          <p:cNvSpPr txBox="1"/>
          <p:nvPr/>
        </p:nvSpPr>
        <p:spPr>
          <a:xfrm>
            <a:off x="5787390" y="3936365"/>
            <a:ext cx="4173220" cy="200723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r>
              <a:rPr lang="en-US" sz="1600" b="1" dirty="0">
                <a:solidFill>
                  <a:srgbClr val="191414"/>
                </a:solidFill>
                <a:highlight>
                  <a:srgbClr val="00FF00"/>
                </a:highlight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  <a:sym typeface="+mn-ea"/>
              </a:rPr>
              <a:t>Mediator Pattern</a:t>
            </a:r>
            <a:endParaRPr lang="en-US" sz="1600" dirty="0">
              <a:highlight>
                <a:srgbClr val="00FF00"/>
              </a:highlight>
              <a:latin typeface="Arial Black" panose="020B0A04020102020204" charset="0"/>
              <a:cs typeface="Arial Black" panose="020B0A04020102020204" charset="0"/>
            </a:endParaRPr>
          </a:p>
          <a:p>
            <a:endParaRPr lang="en-US" altLang="es-ES" sz="16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99592" y="2148967"/>
            <a:ext cx="3931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Abstraer el acceso a datos con IRepositorioCancion&lt;T&gt;. Facilita testing con mocks y permite cambiar la fuente de datos sin impacto en la lógica de negocio.</a:t>
            </a:r>
            <a:endParaRPr lang="en-US" sz="160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28817" y="2148967"/>
            <a:ext cx="3931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Registrar servicios en el contenedor DI de .NET. Reduce acoplamiento, mejora testabilidad y permite configuración por entorno (dev/prod).</a:t>
            </a:r>
            <a:endParaRPr lang="en-US" sz="160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99592" y="4506214"/>
            <a:ext cx="3931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Separar operaciones de lectura y escritura. Permite escalar independientemente ambos lados y optimizar consultas de catálogo de millones de canciones.</a:t>
            </a:r>
            <a:endParaRPr lang="en-US" sz="1600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908167" y="4616704"/>
            <a:ext cx="3931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Centralizar comunicación entre componentes con MediatR. Reduce dependencias directas y facilita agregar cross-cutting concerns (logging, caching).</a:t>
            </a:r>
            <a:endParaRPr lang="en-US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n 3" descr="spotify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5" name="Rectángulos 4"/>
          <p:cNvSpPr/>
          <p:nvPr/>
        </p:nvSpPr>
        <p:spPr>
          <a:xfrm>
            <a:off x="0" y="-635"/>
            <a:ext cx="12191365" cy="6884035"/>
          </a:xfrm>
          <a:prstGeom prst="rect">
            <a:avLst/>
          </a:prstGeom>
          <a:solidFill>
            <a:schemeClr val="tx1"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2" name="Cuadro de texto 1"/>
          <p:cNvSpPr txBox="1"/>
          <p:nvPr/>
        </p:nvSpPr>
        <p:spPr>
          <a:xfrm>
            <a:off x="574040" y="479425"/>
            <a:ext cx="8687435" cy="750570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Conclusiones Individuales</a:t>
            </a:r>
            <a:endParaRPr lang="en-US" altLang="en-US" sz="440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7" name="Cuadro de texto 6"/>
          <p:cNvSpPr txBox="1"/>
          <p:nvPr/>
        </p:nvSpPr>
        <p:spPr>
          <a:xfrm>
            <a:off x="662940" y="1512570"/>
            <a:ext cx="9749790" cy="14725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dirty="0">
                <a:solidFill>
                  <a:srgbClr val="B3B3B3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  <a:sym typeface="+mn-ea"/>
              </a:rPr>
              <a:t>Los principios SOLID brindan una base sólida para diseñar sistemas complejos como Spotify. Aplicarlos en C# permite construir código extensible, mantenible y fácil de testear, incluso ante cambios frecuentes de requisitos.</a:t>
            </a:r>
            <a:endParaRPr lang="es-ES" altLang="en-US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8" name="Cuadro de texto 7"/>
          <p:cNvSpPr txBox="1"/>
          <p:nvPr/>
        </p:nvSpPr>
        <p:spPr>
          <a:xfrm>
            <a:off x="662940" y="3250565"/>
            <a:ext cx="9749790" cy="136842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dirty="0">
                <a:solidFill>
                  <a:srgbClr val="B3B3B3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  <a:sym typeface="+mn-ea"/>
              </a:rPr>
              <a:t>Los patrones de diseño (Observer, Factory) complementan SOLID resolviendo problemas recurrentes de forma elegante. En Spotify, permiten notificar millones de usuarios y gestionar distintos tipos de contenido sin duplicar lógica.</a:t>
            </a:r>
            <a:endParaRPr lang="es-ES" altLang="en-US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9" name="Cuadro de texto 8"/>
          <p:cNvSpPr txBox="1"/>
          <p:nvPr/>
        </p:nvSpPr>
        <p:spPr>
          <a:xfrm>
            <a:off x="662305" y="4884420"/>
            <a:ext cx="9749790" cy="125285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dirty="0">
                <a:solidFill>
                  <a:srgbClr val="B3B3B3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  <a:sym typeface="+mn-ea"/>
              </a:rPr>
              <a:t>La elección entre interfaces y clases abstractas no es trivial: depende de la relación semántica entre los tipos. Dominar esta decisión es clave para arquitecturas que escalen con el tiempo y el tamaño del equipo.</a:t>
            </a:r>
            <a:endParaRPr lang="es-ES" altLang="en-US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7" name="Rectángulos 16"/>
          <p:cNvSpPr/>
          <p:nvPr/>
        </p:nvSpPr>
        <p:spPr>
          <a:xfrm>
            <a:off x="324485" y="1512570"/>
            <a:ext cx="337820" cy="1471930"/>
          </a:xfrm>
          <a:prstGeom prst="rect">
            <a:avLst/>
          </a:prstGeom>
          <a:solidFill>
            <a:srgbClr val="16D05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0" name="Rectángulos 9"/>
          <p:cNvSpPr/>
          <p:nvPr/>
        </p:nvSpPr>
        <p:spPr>
          <a:xfrm>
            <a:off x="325120" y="3261995"/>
            <a:ext cx="338455" cy="1357630"/>
          </a:xfrm>
          <a:prstGeom prst="rect">
            <a:avLst/>
          </a:prstGeom>
          <a:solidFill>
            <a:srgbClr val="16D05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1" name="Rectángulos 10"/>
          <p:cNvSpPr/>
          <p:nvPr/>
        </p:nvSpPr>
        <p:spPr>
          <a:xfrm>
            <a:off x="325120" y="4897120"/>
            <a:ext cx="338455" cy="1179830"/>
          </a:xfrm>
          <a:prstGeom prst="rect">
            <a:avLst/>
          </a:prstGeom>
          <a:solidFill>
            <a:srgbClr val="16D05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n 3" descr="spotify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5" name="Rectángulos 4"/>
          <p:cNvSpPr/>
          <p:nvPr/>
        </p:nvSpPr>
        <p:spPr>
          <a:xfrm>
            <a:off x="0" y="-635"/>
            <a:ext cx="12191365" cy="6884035"/>
          </a:xfrm>
          <a:prstGeom prst="rect">
            <a:avLst/>
          </a:prstGeom>
          <a:solidFill>
            <a:schemeClr val="tx1">
              <a:alpha val="6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0" indent="0">
              <a:buNone/>
            </a:pPr>
            <a:r>
              <a:rPr lang="en-US" i="1" dirty="0">
                <a:solidFill>
                  <a:srgbClr val="535353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O'Reilly Media, 2013.</a:t>
            </a:r>
            <a:endParaRPr lang="es-ES" altLang="en-US"/>
          </a:p>
        </p:txBody>
      </p:sp>
      <p:sp>
        <p:nvSpPr>
          <p:cNvPr id="2" name="Cuadro de texto 1"/>
          <p:cNvSpPr txBox="1"/>
          <p:nvPr/>
        </p:nvSpPr>
        <p:spPr>
          <a:xfrm>
            <a:off x="574040" y="479425"/>
            <a:ext cx="3940810" cy="750570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s-ES" altLang="en-US" sz="44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BIBLIOGRAFIA</a:t>
            </a:r>
            <a:endParaRPr lang="es-ES" altLang="en-US" sz="4400" b="1" dirty="0">
              <a:solidFill>
                <a:srgbClr val="FFFFFF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" name="Cuadro de texto 2"/>
          <p:cNvSpPr txBox="1"/>
          <p:nvPr/>
        </p:nvSpPr>
        <p:spPr>
          <a:xfrm>
            <a:off x="574040" y="1419860"/>
            <a:ext cx="3481070" cy="224726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Microsoft Documentation</a:t>
            </a:r>
            <a:endParaRPr lang="en-US" altLang="es-ES" sz="200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6" name="Cuadro de texto 5"/>
          <p:cNvSpPr txBox="1"/>
          <p:nvPr/>
        </p:nvSpPr>
        <p:spPr>
          <a:xfrm>
            <a:off x="4680585" y="1419860"/>
            <a:ext cx="3481070" cy="224726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  <a:sym typeface="+mn-ea"/>
              </a:rPr>
              <a:t>Design Patterns</a:t>
            </a:r>
            <a:endParaRPr lang="en-US" altLang="es-ES" sz="1700" b="1" dirty="0">
              <a:solidFill>
                <a:schemeClr val="bg1"/>
              </a:solidFill>
              <a:latin typeface="Arial Black" panose="020B0A04020102020204" charset="0"/>
              <a:ea typeface="Calibri" panose="020F0502020204030204" pitchFamily="34" charset="-122"/>
              <a:cs typeface="Arial Black" panose="020B0A04020102020204" charset="0"/>
              <a:sym typeface="+mn-ea"/>
            </a:endParaRPr>
          </a:p>
        </p:txBody>
      </p:sp>
      <p:sp>
        <p:nvSpPr>
          <p:cNvPr id="7" name="Cuadro de texto 6"/>
          <p:cNvSpPr txBox="1"/>
          <p:nvPr/>
        </p:nvSpPr>
        <p:spPr>
          <a:xfrm>
            <a:off x="574040" y="4035425"/>
            <a:ext cx="3481070" cy="224726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  <a:sym typeface="+mn-ea"/>
              </a:rPr>
              <a:t>.NET Dependency Injection</a:t>
            </a:r>
            <a:endParaRPr lang="en-US" altLang="es-ES" sz="1700" b="1" dirty="0">
              <a:solidFill>
                <a:schemeClr val="bg1"/>
              </a:solidFill>
              <a:latin typeface="Arial Black" panose="020B0A04020102020204" charset="0"/>
              <a:ea typeface="Calibri" panose="020F0502020204030204" pitchFamily="34" charset="-122"/>
              <a:cs typeface="Arial Black" panose="020B0A04020102020204" charset="0"/>
              <a:sym typeface="+mn-ea"/>
            </a:endParaRPr>
          </a:p>
        </p:txBody>
      </p:sp>
      <p:sp>
        <p:nvSpPr>
          <p:cNvPr id="8" name="Cuadro de texto 7"/>
          <p:cNvSpPr txBox="1"/>
          <p:nvPr/>
        </p:nvSpPr>
        <p:spPr>
          <a:xfrm>
            <a:off x="4680585" y="4035425"/>
            <a:ext cx="3481070" cy="224726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  <a:sym typeface="+mn-ea"/>
              </a:rPr>
              <a:t>RESTful Web APIs</a:t>
            </a:r>
            <a:endParaRPr lang="en-US" altLang="es-ES" sz="1700" b="1" dirty="0">
              <a:solidFill>
                <a:schemeClr val="bg1"/>
              </a:solidFill>
              <a:latin typeface="Arial Black" panose="020B0A04020102020204" charset="0"/>
              <a:ea typeface="Calibri" panose="020F0502020204030204" pitchFamily="34" charset="-122"/>
              <a:cs typeface="Arial Black" panose="020B0A04020102020204" charset="0"/>
              <a:sym typeface="+mn-ea"/>
            </a:endParaRPr>
          </a:p>
        </p:txBody>
      </p:sp>
      <p:sp>
        <p:nvSpPr>
          <p:cNvPr id="9" name="Cuadro de texto 8"/>
          <p:cNvSpPr txBox="1"/>
          <p:nvPr/>
        </p:nvSpPr>
        <p:spPr>
          <a:xfrm>
            <a:off x="8555355" y="1419860"/>
            <a:ext cx="3481070" cy="224726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  <a:prstDash val="lgDashDot"/>
          </a:ln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  <a:sym typeface="+mn-ea"/>
              </a:rPr>
              <a:t>SOLID Principles</a:t>
            </a:r>
            <a:endParaRPr lang="en-US" altLang="es-ES" sz="1700" b="1" dirty="0">
              <a:solidFill>
                <a:schemeClr val="bg1"/>
              </a:solidFill>
              <a:latin typeface="Arial Black" panose="020B0A04020102020204" charset="0"/>
              <a:ea typeface="Calibri" panose="020F0502020204030204" pitchFamily="34" charset="-122"/>
              <a:cs typeface="Arial Black" panose="020B0A04020102020204" charset="0"/>
              <a:sym typeface="+mn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7235" y="4596003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Dependency injection in ASP.NET Core. Official docs.</a:t>
            </a:r>
            <a:endParaRPr lang="en-US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4"/>
          <p:cNvSpPr/>
          <p:nvPr/>
        </p:nvSpPr>
        <p:spPr>
          <a:xfrm>
            <a:off x="737235" y="2223643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Bahnschrift" panose="020B0502040204020203" charset="0"/>
                <a:ea typeface="Microsoft YaHei" panose="020B0503020204020204" charset="-122"/>
                <a:cs typeface="Bahnschrift" panose="020B0502040204020203" charset="0"/>
              </a:rPr>
              <a:t>C# Programming Guide — Interfaces, Abstract Classes, Inheritance.</a:t>
            </a:r>
            <a:endParaRPr lang="en-US" b="1" dirty="0">
              <a:solidFill>
                <a:schemeClr val="bg1"/>
              </a:solidFill>
              <a:latin typeface="Bahnschrift" panose="020B0502040204020203" charset="0"/>
              <a:ea typeface="Microsoft YaHei" panose="020B0503020204020204" charset="-122"/>
              <a:cs typeface="Bahnschrift" panose="020B0502040204020203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15840" y="1876933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Gang of Four — Observer, Factory Method, Strategy.</a:t>
            </a:r>
            <a:endParaRPr lang="en-US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894445" y="1984248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Robert C. Martin — Agile Software Development, Principles, Patterns.</a:t>
            </a:r>
            <a:endParaRPr lang="en-US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019675" y="4579493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Richardson, L. et al. RESTful Web APIs.</a:t>
            </a:r>
            <a:endParaRPr lang="en-US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5122</Words>
  <Application>WPS Presentation</Application>
  <PresentationFormat>宽屏</PresentationFormat>
  <Paragraphs>225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6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Bahnschrift</vt:lpstr>
      <vt:lpstr>Calibri</vt:lpstr>
      <vt:lpstr>Calibri</vt:lpstr>
      <vt:lpstr>Arial Black</vt:lpstr>
      <vt:lpstr>Broadway</vt:lpstr>
      <vt:lpstr>Arial Rounded MT Bold</vt:lpstr>
      <vt:lpstr>Consolas</vt:lpstr>
      <vt:lpstr>Consolas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Usuario</dc:creator>
  <cp:lastModifiedBy>Marco Alvarado</cp:lastModifiedBy>
  <cp:revision>4</cp:revision>
  <dcterms:created xsi:type="dcterms:W3CDTF">2025-07-23T00:59:00Z</dcterms:created>
  <dcterms:modified xsi:type="dcterms:W3CDTF">2026-04-26T03:31:37Z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3082-12.1.0.25862</vt:lpwstr>
  </property>
  <property fmtid="{D5CDD505-2E9C-101B-9397-08002B2CF9AE}" pid="3" name="ICV">
    <vt:lpwstr>4C90559088F1487C9A31F3290209EA31_11</vt:lpwstr>
  </property>
</Properties>
</file>