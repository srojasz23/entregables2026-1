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2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674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662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14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0655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9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3116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2398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510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529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746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2749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555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14505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092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5239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6907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55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4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ltra.content.blackboardcdn.com/ultra/uiv4000.12.0-rel.25_8e41261" TargetMode="Externa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42048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43216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2048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43216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44384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2048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43216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44384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4384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44384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1280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SOLUTIONS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57200" y="1874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de Gestión Empresarial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2377440"/>
            <a:ext cx="5029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14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desarrollada en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+ SQL Server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2377440" cy="384048"/>
          </a:xfrm>
          <a:prstGeom prst="rect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71800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✓  Arquitectura N-Capas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2971800"/>
            <a:ext cx="2377440" cy="384048"/>
          </a:xfrm>
          <a:prstGeom prst="rect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971800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✓  Patrón Singleton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2377440" cy="384048"/>
          </a:xfrm>
          <a:prstGeom prst="rect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✓  Transacciones SQL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474720"/>
            <a:ext cx="2377440" cy="384048"/>
          </a:xfrm>
          <a:prstGeom prst="rect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✓  Reportes &amp; LINQ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</a:rPr>
              <a:t>Visual Studio 2022   |   SQL Server 2022   |   Windows Forms   |   .NET 8</a:t>
            </a:r>
            <a:endParaRPr lang="en-US" sz="1000" dirty="0"/>
          </a:p>
        </p:txBody>
      </p:sp>
      <p:pic>
        <p:nvPicPr>
          <p:cNvPr id="39" name="Imagen 3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CA776ECD-C87E-3FEE-6D2A-6242AF1F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6" y="4836133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A92271-EF2B-EF60-A14E-018408E8B8AD}"/>
              </a:ext>
            </a:extLst>
          </p:cNvPr>
          <p:cNvSpPr txBox="1"/>
          <p:nvPr/>
        </p:nvSpPr>
        <p:spPr>
          <a:xfrm>
            <a:off x="6605954" y="604822"/>
            <a:ext cx="241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u="sng" dirty="0"/>
              <a:t>GRUPO : 04 </a:t>
            </a:r>
            <a:endParaRPr lang="es-PE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BF1EAF-29ED-3FFB-4C2A-CE0D731C364F}"/>
              </a:ext>
            </a:extLst>
          </p:cNvPr>
          <p:cNvSpPr txBox="1"/>
          <p:nvPr/>
        </p:nvSpPr>
        <p:spPr>
          <a:xfrm>
            <a:off x="1247460" y="3345766"/>
            <a:ext cx="632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Integrantes: Pedro , Jean , BECKAM 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3A95E7-1831-F360-7909-401A4223B1BE}"/>
              </a:ext>
            </a:extLst>
          </p:cNvPr>
          <p:cNvSpPr txBox="1"/>
          <p:nvPr/>
        </p:nvSpPr>
        <p:spPr>
          <a:xfrm>
            <a:off x="1289538" y="4032738"/>
            <a:ext cx="5216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Docente: </a:t>
            </a:r>
            <a:r>
              <a:rPr lang="es-PE" b="1" u="sng" dirty="0">
                <a:hlinkClick r:id="rId2"/>
              </a:rPr>
              <a:t>STEFANI YULIANA ROJAS ZUÑIGA</a:t>
            </a:r>
          </a:p>
          <a:p>
            <a:br>
              <a:rPr lang="es-PE" dirty="0"/>
            </a:b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63C490-8BD4-6495-630F-729FD9E9EB5D}"/>
              </a:ext>
            </a:extLst>
          </p:cNvPr>
          <p:cNvSpPr txBox="1"/>
          <p:nvPr/>
        </p:nvSpPr>
        <p:spPr>
          <a:xfrm>
            <a:off x="1247460" y="2810511"/>
            <a:ext cx="632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Curso: Lenguaje de programación I 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BC5344-3FD7-BB6F-D1D2-787A224979F1}"/>
              </a:ext>
            </a:extLst>
          </p:cNvPr>
          <p:cNvSpPr txBox="1"/>
          <p:nvPr/>
        </p:nvSpPr>
        <p:spPr>
          <a:xfrm>
            <a:off x="2811383" y="1680188"/>
            <a:ext cx="632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Escuela: Tecnología Informática</a:t>
            </a:r>
            <a:endParaRPr lang="es-P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Imagen 10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5C8B533-DE71-EF73-585A-B7DF644A3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68" y="77940"/>
            <a:ext cx="1902022" cy="1423096"/>
          </a:xfrm>
          <a:prstGeom prst="rect">
            <a:avLst/>
          </a:prstGeom>
        </p:spPr>
      </p:pic>
      <p:pic>
        <p:nvPicPr>
          <p:cNvPr id="12" name="Imagen 1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A1B11D9A-5479-5352-7CCC-821D0C594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003" y="4824001"/>
            <a:ext cx="1019554" cy="26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5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DESCRIPCIÓN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TechSolutions es una aplicación empresarial completa para gestión de ventas, clientes, productos y usuarios, construida con principios de arquitectura de software profesional.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</a:rPr>
              <a:t>Gestión de Usuarios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CRUD completo con roles, autenticación segura y control de sesión mediante Singleton.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691640"/>
            <a:ext cx="64008" cy="1325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</a:rPr>
              <a:t>Gestión de Clientes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Registro y búsqueda por DNI, datos de contacto y estado activo/inactivo.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00400"/>
            <a:ext cx="64008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</a:rPr>
              <a:t>Gestión de Productos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611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Catálogo con código, stock mínimo, categorías y filtros de búsqueda.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20040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</a:rPr>
              <a:t>Ventas &amp; Reportes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611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Registro de ventas con IGV, detalle de productos, anulación y exportación CSV.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Stack tecnológico: C# .NET 8  •  Windows Forms  •  ADO.NET  •  SQL Server  •  LINQ</a:t>
            </a:r>
            <a:endParaRPr lang="en-US" sz="1000" dirty="0"/>
          </a:p>
        </p:txBody>
      </p:sp>
      <p:pic>
        <p:nvPicPr>
          <p:cNvPr id="22" name="Imagen 2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0E61E646-EF42-2E0C-C834-FC1B9FB9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803" y="4782833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ARQUITECTURA N-CAPAS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194560" cy="685800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1E3A5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 UI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ADCFC"/>
                </a:solidFill>
              </a:rPr>
              <a:t>TechSolutions.UI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005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frmLogin · frmDashboard · frmClientes · frmProductos · frmNuevaVenta · frmReporteVentas · frmUsuarios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27432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19072"/>
            <a:ext cx="2194560" cy="685800"/>
          </a:xfrm>
          <a:prstGeom prst="rect">
            <a:avLst/>
          </a:prstGeom>
          <a:solidFill>
            <a:srgbClr val="0369A1">
              <a:alpha val="90000"/>
            </a:srgbClr>
          </a:solidFill>
          <a:ln w="12700">
            <a:solidFill>
              <a:srgbClr val="0369A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Business Logic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ADCFC"/>
                </a:solidFill>
              </a:rPr>
              <a:t>TechSolutions.BusinessLogic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181051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AuthService · ProductoService · ClienteService · VentaService · Sesion (Singleton)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404872"/>
            <a:ext cx="27432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23744"/>
            <a:ext cx="2194560" cy="685800"/>
          </a:xfrm>
          <a:prstGeom prst="rect">
            <a:avLst/>
          </a:prstGeom>
          <a:solidFill>
            <a:srgbClr val="047857">
              <a:alpha val="90000"/>
            </a:srgbClr>
          </a:solidFill>
          <a:ln w="12700">
            <a:solidFill>
              <a:srgbClr val="047857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9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 Data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ADCFC"/>
                </a:solidFill>
              </a:rPr>
              <a:t>TechSolutions.DataAccess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261518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UsuarioRepository · ProductoRepository · ClienteRepository · VentaRepository · Conexion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209544"/>
            <a:ext cx="27432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28416"/>
            <a:ext cx="2194560" cy="68580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741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Models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ADCFC"/>
                </a:solidFill>
              </a:rPr>
              <a:t>TechSolutions.Models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341985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Usuario · Producto · Cliente · Venta · DetalleVenta · Rol · Categoria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014216"/>
            <a:ext cx="27432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33088"/>
            <a:ext cx="2194560" cy="685800"/>
          </a:xfrm>
          <a:prstGeom prst="rect">
            <a:avLst/>
          </a:prstGeom>
          <a:solidFill>
            <a:srgbClr val="B45309">
              <a:alpha val="90000"/>
            </a:srgbClr>
          </a:solidFill>
          <a:ln w="12700">
            <a:solidFill>
              <a:srgbClr val="B45309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78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ADCFC"/>
                </a:solidFill>
              </a:rPr>
              <a:t>SQL Server 2022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97480" y="42245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Tablas: Usuarios · Roles · Productos · Categorías · Clientes · Ventas · DetalleVentas</a:t>
            </a:r>
            <a:endParaRPr lang="en-US" sz="1000" dirty="0"/>
          </a:p>
        </p:txBody>
      </p:sp>
      <p:pic>
        <p:nvPicPr>
          <p:cNvPr id="33" name="Imagen 3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93E451E0-3DF7-3DC4-5E2E-649FD2A8E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773" y="4818888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PATRÓN SINGLETON — Sesión de Usuario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Entidades.cs — TechSolutions.Models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79"/>
            <a:ext cx="4937760" cy="3520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</a:t>
            </a: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_instancia;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readonly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_lock = new();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UsuarioActual { </a:t>
            </a: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private set; }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EstaAutenticado =&gt; UsuarioActual != null;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</a:t>
            </a: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   // ctor privado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Instancia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 {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lock (_lock)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_instancia ??= new Sesion();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IniciarSesion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(Usuario u) =&gt; UsuarioActual = u;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CerrarSesion</a:t>
            </a: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=&gt; UsuarioActual = null;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960120"/>
            <a:ext cx="54864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1014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🔒 Constructor privado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79008" y="1307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Nadie puede crear instancias externas de Sesion.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89280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892808"/>
            <a:ext cx="54864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1947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🔁 Thread-safe con lock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9008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 bloqueo garantiza una sola instancia aunque se llame desde múltiples hilos.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825496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825496"/>
            <a:ext cx="54864" cy="8046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👤 UsuarioActual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79008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Guarda el usuario autenticado y es accesible desde cualquier capa.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758184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758184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813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✅ TienePermiso()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79008" y="41056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Verifica el rol del usuario antes de ejecutar operaciones sensibles.</a:t>
            </a:r>
            <a:endParaRPr lang="en-US" sz="1000" dirty="0"/>
          </a:p>
        </p:txBody>
      </p:sp>
      <p:pic>
        <p:nvPicPr>
          <p:cNvPr id="23" name="Imagen 2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D78BA1AA-0533-5D31-052C-EEA824394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942" y="4723228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MÓDULO DE AUTENTICACIÓN — Login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657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 SOLUTIONS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Sistema de Gestión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Correo electrónico: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2004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665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admin@techsolutions.com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Contraseña: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2004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066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●●●●●●●●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INGRESAR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1024128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024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Validación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252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AuthService verifica campos no vacíos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25696" y="1408176"/>
            <a:ext cx="3657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1792224"/>
            <a:ext cx="384048" cy="38404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792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72821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773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Consulta BD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UsuarioRepository.Autenticar(email, pwd)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25696" y="2176272"/>
            <a:ext cx="3657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2560320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496312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Hash + Activo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Verifica contraseña y estado del usuario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25696" y="2944368"/>
            <a:ext cx="3657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33284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26440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310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Singleton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557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Sesion.Instancia.IniciarSesion(usuario)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25696" y="3712464"/>
            <a:ext cx="3657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1960" y="409651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03250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4078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4325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Carga KPIs y menú según rol del usuario</a:t>
            </a:r>
            <a:endParaRPr lang="en-US" sz="1000" dirty="0"/>
          </a:p>
        </p:txBody>
      </p:sp>
      <p:pic>
        <p:nvPicPr>
          <p:cNvPr id="45" name="Imagen 44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4D6C4A0D-0857-77A0-0491-9B872D0D0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556" y="4769117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MÓDULO DE VENTAS — Transacciones 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926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9260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Nueva Venta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Cliente (DNI):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389888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12345678  [Buscar]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739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Producto: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773936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▼ Laptop HP Pavilion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1579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Cantidad: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157984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2157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42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Subtotal: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2542032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S/ 3,400.00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IGV 18%: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37360" y="2926080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S/ 612.00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TOTAL: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3310128"/>
            <a:ext cx="1417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</a:rPr>
              <a:t>S/ 4,012.00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767328"/>
            <a:ext cx="265176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673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REGISTRAR VENTA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9144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Flujo de Transacción SQL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74720" y="1371600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1371600"/>
            <a:ext cx="54864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4081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166420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VentaRepository abre la transacción ADO.NET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2048256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0" y="2048256"/>
            <a:ext cx="54864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20848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Ventas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23408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Registra cabecera: cliente, fecha, totales, estado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2724912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0" y="2724912"/>
            <a:ext cx="54864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27614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DetalleVentas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1880" y="301752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Inserta cada línea con ProductoID, cantidad, precio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3401568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0" y="3401568"/>
            <a:ext cx="54864" cy="5669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34381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Productos (stock)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11880" y="369417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Descuenta el stock de cada producto vendido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4078224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74720" y="4078224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4114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/ ROLLBACK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11880" y="437083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Commit si todo ok · Rollback si ocurre excepción</a:t>
            </a:r>
            <a:endParaRPr lang="en-US" sz="1000" dirty="0"/>
          </a:p>
        </p:txBody>
      </p:sp>
      <p:pic>
        <p:nvPicPr>
          <p:cNvPr id="48" name="Imagen 47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5AE8D36-F510-DC2B-E2E1-E88ABCFCA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249" y="4754880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kern="0" spc="100" dirty="0">
                <a:solidFill>
                  <a:srgbClr val="FFFFFF"/>
                </a:solidFill>
              </a:rPr>
              <a:t>CAPA DE ACCESO A DATOS — Repositorios &amp; LINQ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UsuarioRepository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Autenticar(email, pwd)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ObtenerTodos()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Guardar(usuario, esNuevo)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411480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ProductoRepository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72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ObtenerTodos(soloActivos)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Buscar(texto) — LINQ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2037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Guardar(producto, esNuevo)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4114800" cy="4389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ClienteRepository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ObtenerTodos()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BuscarPorDNI(dni)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69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Guardar(cliente, esNuevo)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92608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260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VentaRepository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RegistrarVenta(venta) — TX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AnularVenta(id, usuarioID)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169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ObtenerPorFiltro(desde, hasta)</a:t>
            </a:r>
            <a:endParaRPr lang="en-US" sz="1000" dirty="0"/>
          </a:p>
        </p:txBody>
      </p:sp>
      <p:pic>
        <p:nvPicPr>
          <p:cNvPr id="30" name="Imagen 29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802D3B8C-AECB-67FC-7519-10B63225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440" y="4794527"/>
            <a:ext cx="905840" cy="234673"/>
          </a:xfrm>
          <a:prstGeom prst="rect">
            <a:avLst/>
          </a:prstGeom>
        </p:spPr>
      </p:pic>
      <p:sp>
        <p:nvSpPr>
          <p:cNvPr id="28" name="Shape 26"/>
          <p:cNvSpPr/>
          <p:nvPr/>
        </p:nvSpPr>
        <p:spPr>
          <a:xfrm>
            <a:off x="169576" y="4663440"/>
            <a:ext cx="7878316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576" y="4663440"/>
            <a:ext cx="8517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LINQ — Ejemplo:  var resultado = productos.Where(p =&gt; p.Nombre.Contains(texto) || p.Codigo.Contains(texto)).ToList();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REPORTES DE VENTAS — Filtros &amp; Exportación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Reporte de Ventas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5661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Desde: 01/01/2025   Hasta: 31/12/2025   [Buscar]  [Exportar CSV]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6400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N° Venta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5568" y="18745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874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Cliente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1874520"/>
            <a:ext cx="6858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8745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Fecha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52344" y="1874520"/>
            <a:ext cx="6858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18745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56432" y="1874520"/>
            <a:ext cx="5486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Estado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176272"/>
            <a:ext cx="6400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7627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V-001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15568" y="2176272"/>
            <a:ext cx="9144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217627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García, J.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48256" y="2176272"/>
            <a:ext cx="685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217627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05/01/25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52344" y="2176272"/>
            <a:ext cx="685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52344" y="217627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S/412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56432" y="2176272"/>
            <a:ext cx="548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17627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450592"/>
            <a:ext cx="64008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45059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V-002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15568" y="2450592"/>
            <a:ext cx="91440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245059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López, M.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48256" y="2450592"/>
            <a:ext cx="68580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8256" y="245059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05/01/25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52344" y="2450592"/>
            <a:ext cx="68580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52344" y="245059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S/890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56432" y="2450592"/>
            <a:ext cx="54864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245059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✅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2724912"/>
            <a:ext cx="6400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2491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V-003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15568" y="2724912"/>
            <a:ext cx="9144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5568" y="272491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Ruiz, A.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48256" y="2724912"/>
            <a:ext cx="685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8256" y="272491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06/01/25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52344" y="2724912"/>
            <a:ext cx="685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52344" y="272491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S/245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56432" y="2724912"/>
            <a:ext cx="548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272491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❌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017520"/>
            <a:ext cx="35661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período:  S/ 1,547.00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4840" y="914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Características del Módulo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434840" y="1371600"/>
            <a:ext cx="4389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34840" y="1371600"/>
            <a:ext cx="54864" cy="5760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📅 Filtro por fechas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0" y="16733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DateTimePicker para seleccionar rango Desde–Hasta.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34840" y="2066544"/>
            <a:ext cx="4389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434840" y="2066544"/>
            <a:ext cx="54864" cy="5760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211226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LINQ en servicios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0" y="23682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VentaService.ObtenerReporte() filtra y ordena resultados.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34840" y="2761488"/>
            <a:ext cx="4389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434840" y="2761488"/>
            <a:ext cx="54864" cy="5760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28072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💾 Exportar CSV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0" y="30632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btnExportar genera archivo descargable del período.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434840" y="3456432"/>
            <a:ext cx="4389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434840" y="3456432"/>
            <a:ext cx="54864" cy="576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3502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🖱 Doble clic en fila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0" y="3758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CellDoubleClick muestra el detalle completo de la venta.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434840" y="4151376"/>
            <a:ext cx="4389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434840" y="4151376"/>
            <a:ext cx="54864" cy="5760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0" y="419709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🔐 Anulación con rol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572000" y="445312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Solo Administradores pueden anular ventas (TienePermiso).</a:t>
            </a:r>
            <a:endParaRPr lang="en-US" sz="1000" dirty="0"/>
          </a:p>
        </p:txBody>
      </p:sp>
      <p:pic>
        <p:nvPicPr>
          <p:cNvPr id="72" name="Imagen 7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2D584536-D9D2-A2A9-882E-C994AF458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111" y="4815735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DASHBOARD — Panel Principal &amp; KPIs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Gestión 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Ventas 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Reportes 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Sesión 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25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👤 Bienvenido, </a:t>
            </a:r>
            <a:r>
              <a:rPr lang="en-US" sz="1000" dirty="0" err="1">
                <a:solidFill>
                  <a:srgbClr val="FFFFFF"/>
                </a:solidFill>
              </a:rPr>
              <a:t>Administrador</a:t>
            </a:r>
            <a:r>
              <a:rPr lang="en-US" sz="1000" dirty="0">
                <a:solidFill>
                  <a:srgbClr val="FFFFFF"/>
                </a:solidFill>
              </a:rPr>
              <a:t>  |  Rol: Administrador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28800"/>
            <a:ext cx="20116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0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Ventas Hoy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↑ 12% vs 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828800"/>
            <a:ext cx="20116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7857"/>
                </a:solidFill>
              </a:rPr>
              <a:t>S/0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Monto Hoy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↑ 8% vs ayer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828800"/>
            <a:ext cx="20116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69A1"/>
                </a:solidFill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63440" y="2423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Clientes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Total registrados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828800"/>
            <a:ext cx="20116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5309"/>
                </a:solidFill>
              </a:rPr>
              <a:t>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12280" y="2423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Bajo Stock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Productos críticos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0120" y="3155407"/>
            <a:ext cx="3108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143000" y="3155407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</a:rPr>
              <a:t>Navegación por Menú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0120" y="34350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Gestión → Clientes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60120" y="36310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Gestión → Productos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" y="38404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Gestión → Usuarios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0120" y="4051519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Ventas → Nueva Venta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4225195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Ventas → Anular Venta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" y="44714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→ Reportes → Reporte de Ventas</a:t>
            </a:r>
            <a:endParaRPr lang="en-US" sz="1000" dirty="0"/>
          </a:p>
        </p:txBody>
      </p:sp>
      <p:pic>
        <p:nvPicPr>
          <p:cNvPr id="53" name="Imagen 5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C366E912-2979-C241-3D9A-5C5581B2D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6" y="4572000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BASE DE DATOS — Esquema SQL 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UsuarioID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Nombre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Password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RolID (FK)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Activo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FechaCreacion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2743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24912"/>
            <a:ext cx="27432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49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RolID (PK)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Nombre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Descripcion</a:t>
            </a:r>
            <a:endParaRPr lang="en-US" sz="850" dirty="0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16A6F2C-A72E-3872-8FC3-AAD70224E6DB}"/>
              </a:ext>
            </a:extLst>
          </p:cNvPr>
          <p:cNvGrpSpPr/>
          <p:nvPr/>
        </p:nvGrpSpPr>
        <p:grpSpPr>
          <a:xfrm>
            <a:off x="3310128" y="914400"/>
            <a:ext cx="2560320" cy="1828284"/>
            <a:chOff x="3310128" y="914400"/>
            <a:chExt cx="2743200" cy="2103120"/>
          </a:xfrm>
        </p:grpSpPr>
        <p:sp>
          <p:nvSpPr>
            <p:cNvPr id="20" name="Shape 18"/>
            <p:cNvSpPr/>
            <p:nvPr/>
          </p:nvSpPr>
          <p:spPr>
            <a:xfrm>
              <a:off x="3310128" y="914400"/>
              <a:ext cx="2743200" cy="2103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A29EA5A4-8677-3951-D364-37876C995FC2}"/>
                </a:ext>
              </a:extLst>
            </p:cNvPr>
            <p:cNvGrpSpPr/>
            <p:nvPr/>
          </p:nvGrpSpPr>
          <p:grpSpPr>
            <a:xfrm>
              <a:off x="3310128" y="914400"/>
              <a:ext cx="2743200" cy="1901952"/>
              <a:chOff x="3310128" y="914400"/>
              <a:chExt cx="2743200" cy="1901952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3310128" y="914400"/>
                <a:ext cx="2743200" cy="292608"/>
              </a:xfrm>
              <a:prstGeom prst="rect">
                <a:avLst/>
              </a:prstGeom>
              <a:solidFill>
                <a:srgbClr val="047857"/>
              </a:solidFill>
              <a:ln w="12700">
                <a:solidFill>
                  <a:srgbClr val="047857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3401568" y="914400"/>
                <a:ext cx="256032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Productos</a:t>
                </a:r>
                <a:endParaRPr lang="en-US" sz="11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3401568" y="1225296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1E3A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🔑 ProductoID (PK)</a:t>
                </a:r>
                <a:endParaRPr lang="en-US" sz="85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401568" y="1426464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Codigo</a:t>
                </a:r>
                <a:endParaRPr lang="en-US" sz="85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3401568" y="1627632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Nombre</a:t>
                </a:r>
                <a:endParaRPr lang="en-US" sz="85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401568" y="1828800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Descripcion</a:t>
                </a:r>
                <a:endParaRPr lang="en-US" sz="85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3401568" y="2029968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Precio</a:t>
                </a:r>
                <a:endParaRPr lang="en-US" sz="85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3401568" y="2231136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Stock</a:t>
                </a:r>
                <a:endParaRPr lang="en-US" sz="85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3401568" y="2432304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StockMinimo</a:t>
                </a:r>
                <a:endParaRPr lang="en-US" sz="85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3401568" y="2633472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7C3AED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🔗 CategoriaID (FK)</a:t>
                </a:r>
                <a:endParaRPr lang="en-US" sz="850" dirty="0"/>
              </a:p>
            </p:txBody>
          </p:sp>
        </p:grpSp>
        <p:sp>
          <p:nvSpPr>
            <p:cNvPr id="31" name="Text 29"/>
            <p:cNvSpPr/>
            <p:nvPr/>
          </p:nvSpPr>
          <p:spPr>
            <a:xfrm>
              <a:off x="3401568" y="283464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Activo</a:t>
              </a:r>
              <a:endParaRPr lang="en-US" sz="850" dirty="0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30DE159C-A00C-9C3E-3F63-7AAA91AE5083}"/>
              </a:ext>
            </a:extLst>
          </p:cNvPr>
          <p:cNvGrpSpPr/>
          <p:nvPr/>
        </p:nvGrpSpPr>
        <p:grpSpPr>
          <a:xfrm>
            <a:off x="3310128" y="2880360"/>
            <a:ext cx="2743200" cy="896112"/>
            <a:chOff x="3310128" y="3127248"/>
            <a:chExt cx="2743200" cy="896112"/>
          </a:xfrm>
        </p:grpSpPr>
        <p:sp>
          <p:nvSpPr>
            <p:cNvPr id="32" name="Shape 30"/>
            <p:cNvSpPr/>
            <p:nvPr/>
          </p:nvSpPr>
          <p:spPr>
            <a:xfrm>
              <a:off x="3310128" y="3127248"/>
              <a:ext cx="2743200" cy="896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3310128" y="3127248"/>
              <a:ext cx="2743200" cy="292608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3401568" y="312724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Categorias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401568" y="3438144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🔑 CategoriaID (PK)</a:t>
              </a:r>
              <a:endParaRPr lang="en-US" sz="8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401568" y="3639312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Nombre</a:t>
              </a:r>
              <a:endParaRPr lang="en-US" sz="8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401568" y="384048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Descripcion</a:t>
              </a:r>
              <a:endParaRPr lang="en-US" sz="850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6254496" y="914400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54496" y="914400"/>
            <a:ext cx="27432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914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45936" y="12252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ClienteID (PK)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45936" y="14264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DNI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45936" y="16276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Nombre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45936" y="1828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Apellido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45936" y="20299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Email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45936" y="2231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Telefono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45936" y="24323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Direccion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45936" y="2633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Activo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54496" y="29260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54496" y="29260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45936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VentaID (PK)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45936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NumeroVenta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45936" y="36393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ClienteID (FK)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45936" y="3840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UsuarioID (FK)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45936" y="4041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FechaVenta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45936" y="42428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Subtotal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45936" y="4443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IGV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45936" y="46451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Total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45936" y="48463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Estado</a:t>
            </a:r>
            <a:endParaRPr lang="en-US" sz="850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05FDD97B-98C6-59F5-8ECC-229C655BFA86}"/>
              </a:ext>
            </a:extLst>
          </p:cNvPr>
          <p:cNvGrpSpPr/>
          <p:nvPr/>
        </p:nvGrpSpPr>
        <p:grpSpPr>
          <a:xfrm>
            <a:off x="3452899" y="3914148"/>
            <a:ext cx="2223164" cy="1097280"/>
            <a:chOff x="6254496" y="5138928"/>
            <a:chExt cx="2743200" cy="1298448"/>
          </a:xfrm>
        </p:grpSpPr>
        <p:sp>
          <p:nvSpPr>
            <p:cNvPr id="61" name="Shape 59"/>
            <p:cNvSpPr/>
            <p:nvPr/>
          </p:nvSpPr>
          <p:spPr>
            <a:xfrm>
              <a:off x="6254496" y="5138928"/>
              <a:ext cx="274320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2" name="Shape 60"/>
            <p:cNvSpPr/>
            <p:nvPr/>
          </p:nvSpPr>
          <p:spPr>
            <a:xfrm>
              <a:off x="6254496" y="5138928"/>
              <a:ext cx="2743200" cy="292608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6345936" y="513892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DetalleVentas</a:t>
              </a:r>
              <a:endParaRPr lang="en-US" sz="1100" dirty="0"/>
            </a:p>
          </p:txBody>
        </p: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5FF2FCCA-DAA1-9015-F480-B189DED41E9F}"/>
                </a:ext>
              </a:extLst>
            </p:cNvPr>
            <p:cNvGrpSpPr/>
            <p:nvPr/>
          </p:nvGrpSpPr>
          <p:grpSpPr>
            <a:xfrm>
              <a:off x="6345936" y="5449824"/>
              <a:ext cx="2560320" cy="987552"/>
              <a:chOff x="6345936" y="5449824"/>
              <a:chExt cx="2560320" cy="987552"/>
            </a:xfrm>
          </p:grpSpPr>
          <p:sp>
            <p:nvSpPr>
              <p:cNvPr id="64" name="Text 62"/>
              <p:cNvSpPr/>
              <p:nvPr/>
            </p:nvSpPr>
            <p:spPr>
              <a:xfrm>
                <a:off x="6345936" y="5449824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1E3A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🔑 DetalleID (PK)</a:t>
                </a:r>
                <a:endParaRPr lang="en-US" sz="850" dirty="0"/>
              </a:p>
            </p:txBody>
          </p:sp>
          <p:sp>
            <p:nvSpPr>
              <p:cNvPr id="65" name="Text 63"/>
              <p:cNvSpPr/>
              <p:nvPr/>
            </p:nvSpPr>
            <p:spPr>
              <a:xfrm>
                <a:off x="6345936" y="5650992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7C3AED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🔗 VentaID (FK)</a:t>
                </a:r>
                <a:endParaRPr lang="en-US" sz="850" dirty="0"/>
              </a:p>
            </p:txBody>
          </p:sp>
          <p:sp>
            <p:nvSpPr>
              <p:cNvPr id="66" name="Text 64"/>
              <p:cNvSpPr/>
              <p:nvPr/>
            </p:nvSpPr>
            <p:spPr>
              <a:xfrm>
                <a:off x="6345936" y="5852160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7C3AED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🔗 ProductoID (FK)</a:t>
                </a:r>
                <a:endParaRPr lang="en-US" sz="850" dirty="0"/>
              </a:p>
            </p:txBody>
          </p:sp>
          <p:sp>
            <p:nvSpPr>
              <p:cNvPr id="67" name="Text 65"/>
              <p:cNvSpPr/>
              <p:nvPr/>
            </p:nvSpPr>
            <p:spPr>
              <a:xfrm>
                <a:off x="6345936" y="6053328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Cantidad</a:t>
                </a:r>
                <a:endParaRPr lang="en-US" sz="850" dirty="0"/>
              </a:p>
            </p:txBody>
          </p:sp>
          <p:sp>
            <p:nvSpPr>
              <p:cNvPr id="68" name="Text 66"/>
              <p:cNvSpPr/>
              <p:nvPr/>
            </p:nvSpPr>
            <p:spPr>
              <a:xfrm>
                <a:off x="6345936" y="6254496"/>
                <a:ext cx="25603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850" dirty="0">
                    <a:solidFill>
                      <a:srgbClr val="64748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PrecioUnit</a:t>
                </a:r>
                <a:endParaRPr lang="en-US" sz="850" dirty="0"/>
              </a:p>
            </p:txBody>
          </p:sp>
        </p:grpSp>
      </p:grpSp>
      <p:pic>
        <p:nvPicPr>
          <p:cNvPr id="69" name="Imagen 6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7819F278-2621-C8FB-286C-E0E097AC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4846320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kern="0" spc="100" dirty="0">
                <a:solidFill>
                  <a:srgbClr val="FFFFFF"/>
                </a:solidFill>
              </a:rPr>
              <a:t>ESTRUCTURA DE LA SOLUCIÓN VISUAL STUDIO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Solución TechSolutions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20724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BusinessLogic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Servicios.cs — AuthService · ProductoService · ClienteService · VentaService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41932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02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Repositorios.cs — UsuarioRepo · ProductoRepo · ClienteRepo · VentaRepo · Conexion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63140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Entidades.cs — Usuario · Producto · Cliente · Venta · DetalleVenta · Sesion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84348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0449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Formularios.cs — Lógica de: frmLogin · frmDashboard · frmClientes · frmProductos...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30555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frmLogin.Designer.cs — Diseño visual: Panel superior + campos email/password + botón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frmDashboard.Designer.cs — MDI Container · MenuStrip · KPIs · Panel usuario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82676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frmNuevaVenta.Designer.cs — Cliente · Producto · Detalle grid · Totales IGV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0873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frmReporteVentas.Designer.cs — DatePicker filtros · DataGridView · Exportar CSV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3479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frmProductos / frmClientes / frmUsuarios — CRUD completo con panel izq. de datos + DataGrid derecho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608576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Program.cs — Punto de entrada · Verifica Conexion.Probar() · Lanza frmLogin</a:t>
            </a:r>
            <a:endParaRPr lang="en-US" sz="1100" dirty="0"/>
          </a:p>
        </p:txBody>
      </p:sp>
      <p:pic>
        <p:nvPicPr>
          <p:cNvPr id="19" name="Imagen 1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E7B99B52-0AE6-0F9D-0E58-B78DCCB03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972" y="4836133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42048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43216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2048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43216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44384" y="56692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2048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43216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44384" y="76809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4384" y="969264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44384" y="1170432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005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60A5FA"/>
                </a:solidFill>
              </a:rPr>
              <a:t>RESUMEN TÉCNICO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14630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Solutions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Empresarial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5029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24912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Arquitectura N-Capas  (Models · DataAccess · BusinessLogic · UI)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072384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Singleton Thread-safe  (clase Sesion — control de autenticación)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419856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Transacciones SQL  (BEGIN / COMMIT / ROLLBACK en VentaRepository)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767328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LINQ  (filtros en servicios: Buscar, ObtenerReporte, ResumenDashboard)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Windows Forms MDI  (Dashboard con menú, KPIs y formularios hijo)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✅  Roles &amp; Autorización  (TienePermiso() verifica acceso por módulo)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C# .NET 8  •  SQL Server 2022  •  Visual Studio 2022</a:t>
            </a:r>
            <a:endParaRPr lang="en-US" sz="1000" dirty="0"/>
          </a:p>
        </p:txBody>
      </p:sp>
      <p:pic>
        <p:nvPicPr>
          <p:cNvPr id="34" name="Imagen 33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48F8EAC7-4BB6-0EDE-169B-0A7E44229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003" y="4805693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DIAGRAMA DE CLASES — UML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0116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2354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37160" y="1069848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Usuario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243584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" y="12618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UsuarioID : int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2024" y="1444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 : string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" y="1627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Email : string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" y="1810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RolID : int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" y="1993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Activo : bool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" y="2249424"/>
            <a:ext cx="20116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" y="22677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Login() : bool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" y="24505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CerrarSesion() : void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7160" y="3337560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33467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" y="3493008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Sesion  «Singleton»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" y="3666744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" y="36850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_instancia : Sesion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2024" y="38679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UsuarioActual : Usuario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" y="40507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EstaAutenticado : bool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7160" y="4306824"/>
            <a:ext cx="2011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" y="43251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Instancia : Sesion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024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IniciarSesion(u)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" y="46908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CerrarSesion()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" y="4873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TienePermiso(rol)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23160" y="914400"/>
            <a:ext cx="214884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92354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423160" y="1069848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1243584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78024" y="12618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ProductoID : int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78024" y="144475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Codigo : string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78024" y="162763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 : string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78024" y="18105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Precio : decimal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78024" y="19933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Stock : int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78024" y="21762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CategoriaID : int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23160" y="2432304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24505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BajoStock : bool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23160" y="3291840"/>
            <a:ext cx="214884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330098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423160" y="3447288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23160" y="3621024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78024" y="36393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ClienteID : int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78024" y="38221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DNI : string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78024" y="40050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 : string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78024" y="418795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Apellido : string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478024" y="437083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Email : string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23160" y="4626864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78024" y="464515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NombreCompleto : string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914400"/>
            <a:ext cx="22860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92354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46320" y="1069848"/>
            <a:ext cx="2286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Venta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1243584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01184" y="12618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VentaID : int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01184" y="14447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NumeroVenta : string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01184" y="16276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ClienteID : int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901184" y="18105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UsuarioID : int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01184" y="19933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Total : decimal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01184" y="21762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Estado : string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46320" y="2432304"/>
            <a:ext cx="2286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01184" y="2450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Detalles : List&lt;DetalleVenta&gt;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3246120"/>
            <a:ext cx="228600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325526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846320" y="3401568"/>
            <a:ext cx="2286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DetalleVenta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46320" y="3575304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01184" y="3593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DetalleID : int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01184" y="37764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VentaID : int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01184" y="39593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ProductoID : int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901184" y="41422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Cantidad : int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01184" y="43251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PrecioUnit : decimal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846320" y="4581144"/>
            <a:ext cx="2286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01184" y="45994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Subtotal : decimal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60920" y="914400"/>
            <a:ext cx="1691640" cy="329184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60920" y="92354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360920" y="1069848"/>
            <a:ext cx="1691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360920" y="1243584"/>
            <a:ext cx="1691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15784" y="1261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RolID : int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415784" y="14447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 : string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415784" y="16276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Descripcion : string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360920" y="1883664"/>
            <a:ext cx="16916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60920" y="2423160"/>
            <a:ext cx="1691640" cy="329184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60920" y="243230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«class»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360920" y="2578608"/>
            <a:ext cx="1691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Categoria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360920" y="2752344"/>
            <a:ext cx="1691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15784" y="27706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CategoriaID : int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415784" y="29535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Nombre : string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415784" y="313639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Descripcion : string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360920" y="3392424"/>
            <a:ext cx="16916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48840" y="1417320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011680" y="12801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usa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657600" y="1417320"/>
            <a:ext cx="11887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03320" y="12984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663440" y="12984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493008" y="2560320"/>
            <a:ext cx="0" cy="7315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47872" y="28803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N:1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846320" y="2377440"/>
            <a:ext cx="0" cy="9144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1417320"/>
            <a:ext cx="2286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78040" y="12984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rol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526280" y="2331720"/>
            <a:ext cx="0" cy="9144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51960" y="2651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1:N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989320" y="2377440"/>
            <a:ext cx="0" cy="8686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15000" y="26746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1:N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526280" y="1417320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" y="3337560"/>
            <a:ext cx="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05840" y="28346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usa</a:t>
            </a:r>
            <a:endParaRPr lang="en-US" sz="750" dirty="0"/>
          </a:p>
        </p:txBody>
      </p:sp>
      <p:pic>
        <p:nvPicPr>
          <p:cNvPr id="107" name="Imagen 106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BCEBE595-1F76-114F-BB6E-0C45902C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583" y="4811386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DIAGRAMA ENTIDAD–RELACIÓN — Base de Datos SQL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828800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225296"/>
            <a:ext cx="1828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4358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RolID int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144475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varchar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" y="164592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Descripcion varchar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" y="2468880"/>
            <a:ext cx="21945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24688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2779776"/>
            <a:ext cx="2194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79806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UsuarioID 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" y="299923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varchar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" y="3200400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 varchar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2880" y="3401568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Password varchar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2880" y="3602736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RolID int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" y="380390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Activo bit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" y="400507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FechaCreacion datetime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914400"/>
            <a:ext cx="201168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914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1225296"/>
            <a:ext cx="2011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24358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CategoriaID 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144475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varchar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88920" y="1645920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Descripcion varchar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0" y="2468880"/>
            <a:ext cx="2194560" cy="310896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4688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2779776"/>
            <a:ext cx="21945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279806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ProductoID int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88920" y="299923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Codigo varchar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88920" y="3200400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varchar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88920" y="3401568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Precio decimal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88920" y="3602736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Stock int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88920" y="380390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StockMinimo int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88920" y="400507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CategoriaID int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88920" y="4206240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Activo bit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94960" y="914400"/>
            <a:ext cx="201168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914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1225296"/>
            <a:ext cx="2011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124358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ClienteID int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40680" y="144475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DNI varchar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40680" y="1645920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varchar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0680" y="184708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Apellido varchar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40680" y="204825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 varchar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40680" y="224942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Telefono varchar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40680" y="245059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Activo bit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394960" y="3017520"/>
            <a:ext cx="219456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3017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94960" y="3328416"/>
            <a:ext cx="2194560" cy="18150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334670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VentaID int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0680" y="354787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NumeroVenta varchar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40680" y="3749040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ClienteID int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40680" y="3950208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UsuarioID int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40680" y="4151376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FechaVenta datetime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40680" y="4352544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Subtotal decimal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440680" y="455371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IGV decimal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40680" y="4754880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decimal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40680" y="4956048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Estado varchar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18120" y="3017520"/>
            <a:ext cx="118872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18120" y="30175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DetalleVentas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818120" y="3328416"/>
            <a:ext cx="1188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334670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DetalleID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863840" y="354787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VentaID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63840" y="374904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ProductoID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863840" y="3950208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Cantidad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863840" y="41513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PrecioUnit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965960" y="114300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1920240" y="97840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65960" y="123444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1920240" y="105156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286000" y="105156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331720" y="1143000"/>
            <a:ext cx="0" cy="1508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749040" y="246888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3703320" y="230428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703320" y="113385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937760" y="35661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4892040" y="340156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49240" y="340156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937760" y="35661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4937760" y="12801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7589520" y="38404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7543800" y="367588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772400" y="367588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937760" y="44805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4937760" y="4434840"/>
            <a:ext cx="31363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8074152" y="4434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7772400" y="420624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331720" y="3657600"/>
            <a:ext cx="3063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2240280" y="354787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321808" y="354787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</a:t>
            </a:r>
            <a:endParaRPr lang="en-US" sz="900" dirty="0"/>
          </a:p>
        </p:txBody>
      </p:sp>
      <p:pic>
        <p:nvPicPr>
          <p:cNvPr id="91" name="Imagen 90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B93F4C1-9587-48AF-2CE3-47F4B256E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30" y="4805693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DIAGRAMA DE SECUENCIA — Proceso de Login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0584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Usuario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(Actor)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6012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03120" y="914400"/>
            <a:ext cx="100584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frmLogin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(UI)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0604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840480" y="914400"/>
            <a:ext cx="100584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AuthService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(BL)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577840" y="914400"/>
            <a:ext cx="100584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UsuarioRepo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(DAL)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315200" y="914400"/>
            <a:ext cx="10058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(Singleton)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0120" y="160020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" y="14356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</a:rPr>
              <a:t>btnIngresar_Click(email, pwd)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06040" y="1920240"/>
            <a:ext cx="17373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828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51760" y="17556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</a:rPr>
              <a:t>Login(email, password)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25112" y="2130552"/>
            <a:ext cx="77724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1488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</a:rPr>
              <a:t>Validar campos no vacíos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43400" y="2423160"/>
            <a:ext cx="17373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89120" y="22585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</a:rPr>
              <a:t>Autenticar(email, pwd)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62471" y="2633472"/>
            <a:ext cx="1680555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651760"/>
            <a:ext cx="1854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</a:rPr>
              <a:t>SELECT + verificar hash + Activo=1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2926080"/>
            <a:ext cx="1737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361688" y="2834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389120" y="27614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return Usuario | null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43400" y="3200400"/>
            <a:ext cx="34747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89120" y="303580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</a:rPr>
              <a:t>IniciarSesion(usuario)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18118" y="3408623"/>
            <a:ext cx="1005839" cy="301753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3027" y="3406413"/>
            <a:ext cx="1182500" cy="301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</a:rPr>
              <a:t>_instancia.UsuarioActual = usuario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3703320"/>
            <a:ext cx="3474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361688" y="36118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89120" y="35387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OK (Singleton actualizado)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06040" y="3977640"/>
            <a:ext cx="1737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624328" y="3886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51760" y="38130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(true, "Bienvenido, ...")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60120" y="4251960"/>
            <a:ext cx="1645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78408" y="4160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05840" y="4087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Abrir frmDashboard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36054" y="2956569"/>
            <a:ext cx="2743200" cy="323070"/>
          </a:xfrm>
          <a:prstGeom prst="rect">
            <a:avLst/>
          </a:prstGeom>
          <a:solidFill>
            <a:srgbClr val="FEE2E2">
              <a:alpha val="60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0360" y="2968769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C2626"/>
                </a:solidFill>
              </a:rPr>
              <a:t>alt [usuario null]  →  return (false, "Credenciales incorrectas")</a:t>
            </a:r>
            <a:endParaRPr lang="en-US" sz="800" dirty="0"/>
          </a:p>
        </p:txBody>
      </p:sp>
      <p:pic>
        <p:nvPicPr>
          <p:cNvPr id="51" name="Imagen 50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7E9C9356-70E7-D8F6-C5CB-6D52444DE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801" y="4741685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DIAGRAMA DE SECUENCIA — Registrar Venta (con Transacción)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1440" y="914400"/>
            <a:ext cx="100584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Vendedor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(Actor)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45920" y="914400"/>
            <a:ext cx="100584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frmNuevaVenta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(UI)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4884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91840" y="914400"/>
            <a:ext cx="100584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VentaService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(BL)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9476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937760" y="914400"/>
            <a:ext cx="100584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VentaRepo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(DAL)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4068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583680" y="914400"/>
            <a:ext cx="100584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SQL Server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(DB)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8660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229600" y="914400"/>
            <a:ext cx="10058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ProductoRepo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(DAL)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732520" y="1389888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1600200"/>
            <a:ext cx="155448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1444752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btnRegistrar_Click()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48840" y="187452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1783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94560" y="171907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RegistrarVenta(venta)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76472" y="2066544"/>
            <a:ext cx="1618488" cy="237744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0848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2400E"/>
                </a:solidFill>
              </a:rPr>
              <a:t>Validar: ClienteID, Detalles &gt; 0, Cantidades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94760" y="2359152"/>
            <a:ext cx="49377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2267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0" y="220370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ObtenerTodos() — verificar stock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94760" y="2587752"/>
            <a:ext cx="4937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813048" y="24963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43230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List&lt;Producto&gt;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94760" y="28346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2743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0" y="26791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RegistrarVenta(venta)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30632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86400" y="29077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BEGIN TRANSACTION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40680" y="32918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200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0" y="31363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INSERT INTO Ventas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40680" y="35204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3429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0" y="33649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INSERT INTO DetalleVentas (x N filas)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40680" y="37490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86400" y="35935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UPDATE Productos (stock -= cant)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3977640"/>
            <a:ext cx="1645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3886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</a:rPr>
              <a:t>▶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486400" y="38221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</a:rPr>
              <a:t>COMMIT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94760" y="4206240"/>
            <a:ext cx="1645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813048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840480" y="40507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ventaID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148840" y="4462272"/>
            <a:ext cx="1645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2167128" y="43708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◁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194560" y="4306824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(true, "Venta registrada", id)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53712" y="2924686"/>
            <a:ext cx="2468880" cy="1188720"/>
          </a:xfrm>
          <a:prstGeom prst="rect">
            <a:avLst/>
          </a:prstGeom>
          <a:solidFill>
            <a:srgbClr val="FEE2E2">
              <a:alpha val="50000"/>
            </a:srgbClr>
          </a:solidFill>
          <a:ln w="12700">
            <a:solidFill>
              <a:srgbClr val="FCA5A5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590288" y="2990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</a:rPr>
              <a:t>alt [Exception]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17720" y="3200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C2626"/>
                </a:solidFill>
              </a:rPr>
              <a:t>ROLLBACK →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2626"/>
                </a:solidFill>
              </a:rPr>
              <a:t>return (false, ex.Message)</a:t>
            </a:r>
            <a:endParaRPr lang="en-US" sz="800" dirty="0"/>
          </a:p>
        </p:txBody>
      </p:sp>
      <p:pic>
        <p:nvPicPr>
          <p:cNvPr id="63" name="Imagen 6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376D465-61D1-31A3-8226-1A53693D2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6" y="4778261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DIAGRAMA DE ACTIVIDAD — Generación de Reportes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" y="914400"/>
            <a:ext cx="3017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914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Usuario / UI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914400"/>
            <a:ext cx="301752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14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VentaService (BL)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914400"/>
            <a:ext cx="301752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914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VentaRepository (DAL)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1261872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3078" y="1271017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3896" y="1527049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2456" y="1673351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" y="1830629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1658" y="18561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</a:rPr>
              <a:t>Seleccionar rango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</a:rPr>
              <a:t>Desde–Hasta (DateTimePicker)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53896" y="2258568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23957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487168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2487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</a:rPr>
              <a:t>Click [Buscar]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2724913" y="2487168"/>
            <a:ext cx="676656" cy="24407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2201418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10713" y="222885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369A1"/>
                </a:solidFill>
              </a:rPr>
              <a:t>ObtenerReporte(desde, hasta)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 rot="13711335">
            <a:off x="3318035" y="2385691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32037" y="2898648"/>
            <a:ext cx="153619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4225" y="293293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400E"/>
                </a:solidFill>
              </a:rPr>
              <a:t>¿Tiene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2400E"/>
                </a:solidFill>
              </a:rPr>
              <a:t>Permiso?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8359" y="3098937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No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3364992"/>
            <a:ext cx="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1" y="2980065"/>
            <a:ext cx="201168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1" y="297595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</a:rPr>
              <a:t>⛔ Mostrar error de permisos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35049" y="308838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857"/>
                </a:solidFill>
              </a:rPr>
              <a:t>Sí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V="1">
            <a:off x="5468228" y="3070098"/>
            <a:ext cx="1206883" cy="261659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768053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20840" y="2802049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47857"/>
                </a:solidFill>
              </a:rPr>
              <a:t>ObtenerPorFiltro(desde, hasta)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47857"/>
                </a:solidFill>
              </a:rPr>
              <a:t>SELECT con JOIN + WHERE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84590" y="3170132"/>
            <a:ext cx="0" cy="5760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41" name="Text 39"/>
          <p:cNvSpPr/>
          <p:nvPr/>
        </p:nvSpPr>
        <p:spPr>
          <a:xfrm>
            <a:off x="7893150" y="370285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47687" y="3838371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94108" y="38496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47857"/>
                </a:solidFill>
              </a:rPr>
              <a:t>return List&lt;Venta&gt;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4076817"/>
            <a:ext cx="518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24400" y="3404382"/>
            <a:ext cx="0" cy="46634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34131" y="380343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3954955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55847" y="396782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369A1"/>
                </a:solidFill>
              </a:rPr>
              <a:t>LINQ: calcular Total período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14245" y="3934136"/>
            <a:ext cx="695882" cy="201167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 rot="7911109">
            <a:off x="2513015" y="38125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3549112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6201" y="35729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</a:rPr>
              <a:t>Mostrar datos en DataGridView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</a:rPr>
              <a:t>+ lblTotalGeneral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362456" y="3908942"/>
            <a:ext cx="0" cy="1828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71016" y="40412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" y="4187038"/>
            <a:ext cx="1728216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" y="4272316"/>
            <a:ext cx="246888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400E"/>
                </a:solidFill>
              </a:rPr>
              <a:t>¿Click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2400E"/>
                </a:solidFill>
              </a:rPr>
              <a:t>Exportar CSV?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537870" y="4265001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857"/>
                </a:solidFill>
              </a:rPr>
              <a:t>Sí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21992" y="4272316"/>
            <a:ext cx="1188721" cy="43090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15284" y="4590288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506724" y="4580413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369A1"/>
                </a:solidFill>
              </a:rPr>
              <a:t>Generar archivo 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369A1"/>
                </a:solidFill>
              </a:rPr>
              <a:t>y guardar en disco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574071" y="4838478"/>
            <a:ext cx="201168" cy="201168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17505" y="4882896"/>
            <a:ext cx="109728" cy="1097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64" name="Shape 43">
            <a:extLst>
              <a:ext uri="{FF2B5EF4-FFF2-40B4-BE49-F238E27FC236}">
                <a16:creationId xmlns:a16="http://schemas.microsoft.com/office/drawing/2014/main" id="{3E215EBA-E14E-62F9-00AC-2FC387216964}"/>
              </a:ext>
            </a:extLst>
          </p:cNvPr>
          <p:cNvSpPr/>
          <p:nvPr/>
        </p:nvSpPr>
        <p:spPr>
          <a:xfrm flipH="1">
            <a:off x="4754880" y="2548890"/>
            <a:ext cx="9144" cy="34518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5" name="Shape 57">
            <a:extLst>
              <a:ext uri="{FF2B5EF4-FFF2-40B4-BE49-F238E27FC236}">
                <a16:creationId xmlns:a16="http://schemas.microsoft.com/office/drawing/2014/main" id="{D1B9160B-0CA2-E3BD-93B6-06D9FDF1DF05}"/>
              </a:ext>
            </a:extLst>
          </p:cNvPr>
          <p:cNvSpPr/>
          <p:nvPr/>
        </p:nvSpPr>
        <p:spPr>
          <a:xfrm flipV="1">
            <a:off x="1856232" y="4922106"/>
            <a:ext cx="1545336" cy="26625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31BE77A-B433-1377-7431-F8610F946993}"/>
              </a:ext>
            </a:extLst>
          </p:cNvPr>
          <p:cNvSpPr txBox="1"/>
          <p:nvPr/>
        </p:nvSpPr>
        <p:spPr>
          <a:xfrm>
            <a:off x="808387" y="4677156"/>
            <a:ext cx="3795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b="1" dirty="0">
                <a:solidFill>
                  <a:srgbClr val="EE0000"/>
                </a:solidFill>
              </a:rPr>
              <a:t>NO</a:t>
            </a:r>
            <a:endParaRPr lang="es-PE" sz="800" b="1" dirty="0">
              <a:solidFill>
                <a:srgbClr val="EE0000"/>
              </a:solidFill>
            </a:endParaRPr>
          </a:p>
        </p:txBody>
      </p:sp>
      <p:sp>
        <p:nvSpPr>
          <p:cNvPr id="69" name="Text 53">
            <a:extLst>
              <a:ext uri="{FF2B5EF4-FFF2-40B4-BE49-F238E27FC236}">
                <a16:creationId xmlns:a16="http://schemas.microsoft.com/office/drawing/2014/main" id="{18FE3F8B-D922-DFB1-9B73-52966CA01218}"/>
              </a:ext>
            </a:extLst>
          </p:cNvPr>
          <p:cNvSpPr/>
          <p:nvPr/>
        </p:nvSpPr>
        <p:spPr>
          <a:xfrm rot="5193430">
            <a:off x="1732848" y="483717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90FE5B00-F866-83D1-A305-24D9D6D599D1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830498" y="4625950"/>
            <a:ext cx="743573" cy="31311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9" name="Imagen 7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CB49126D-4EFA-D6D2-18A1-67B17178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6" y="4806995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DIAGRAMA DE COMPONENTES / PAQUETES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37744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3774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1014984"/>
            <a:ext cx="20116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04288" y="1060704"/>
            <a:ext cx="16459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1170432"/>
            <a:ext cx="16459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7840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«component»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11155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TechSolutions.UI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371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frmLogin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15910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frmDashboard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frmClientes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0299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frmProductos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224942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frmNuevaVenta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frmReporteVentas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7432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6128" y="1014984"/>
            <a:ext cx="20116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1060704"/>
            <a:ext cx="16459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1170432"/>
            <a:ext cx="16459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978408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«component»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73552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TechSolutions.BusinessLogic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1371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AuthService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15910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ProductoService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ClienteService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• VentaService</a:t>
            </a:r>
            <a:endParaRPr lang="en-US" sz="950" dirty="0"/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EAC74E50-18EA-C919-8765-41137AD72AE4}"/>
              </a:ext>
            </a:extLst>
          </p:cNvPr>
          <p:cNvGrpSpPr/>
          <p:nvPr/>
        </p:nvGrpSpPr>
        <p:grpSpPr>
          <a:xfrm>
            <a:off x="3218688" y="2950230"/>
            <a:ext cx="2743200" cy="1318612"/>
            <a:chOff x="3200400" y="2377440"/>
            <a:chExt cx="2743200" cy="1318612"/>
          </a:xfrm>
        </p:grpSpPr>
        <p:sp>
          <p:nvSpPr>
            <p:cNvPr id="28" name="Shape 26"/>
            <p:cNvSpPr/>
            <p:nvPr/>
          </p:nvSpPr>
          <p:spPr>
            <a:xfrm>
              <a:off x="3200400" y="2377440"/>
              <a:ext cx="2743200" cy="13186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3200400" y="2377440"/>
              <a:ext cx="2743200" cy="347472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5596128" y="2432304"/>
              <a:ext cx="201168" cy="256032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687568" y="2478024"/>
              <a:ext cx="164592" cy="731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687568" y="2587752"/>
              <a:ext cx="164592" cy="731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273552" y="2395728"/>
              <a:ext cx="228600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ADCFC"/>
                  </a:solidFill>
                </a:rPr>
                <a:t>«component»</a:t>
              </a:r>
              <a:endParaRPr lang="en-US" sz="7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273552" y="253288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TechSolutions.Models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310128" y="2788920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4155"/>
                  </a:solidFill>
                </a:rPr>
                <a:t>• Usuario · Rol · Producto</a:t>
              </a:r>
              <a:endParaRPr lang="en-US" sz="9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310128" y="3008376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4155"/>
                  </a:solidFill>
                </a:rPr>
                <a:t>• Cliente · Venta</a:t>
              </a:r>
              <a:endParaRPr lang="en-US" sz="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310128" y="3227832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4155"/>
                  </a:solidFill>
                </a:rPr>
                <a:t>• DetalleVenta · Categoria</a:t>
              </a:r>
              <a:endParaRPr lang="en-US" sz="9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3310128" y="3447288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4155"/>
                  </a:solidFill>
                </a:rPr>
                <a:t>• Sesion (Singleton)</a:t>
              </a:r>
              <a:endParaRPr lang="en-US" sz="950" dirty="0"/>
            </a:p>
          </p:txBody>
        </p: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F2DB1BED-FFDF-A279-E734-8377FC4C9CE1}"/>
              </a:ext>
            </a:extLst>
          </p:cNvPr>
          <p:cNvGrpSpPr/>
          <p:nvPr/>
        </p:nvGrpSpPr>
        <p:grpSpPr>
          <a:xfrm>
            <a:off x="6400800" y="960120"/>
            <a:ext cx="2606040" cy="1490472"/>
            <a:chOff x="6400800" y="960120"/>
            <a:chExt cx="2606040" cy="1490472"/>
          </a:xfrm>
        </p:grpSpPr>
        <p:sp>
          <p:nvSpPr>
            <p:cNvPr id="39" name="Shape 37"/>
            <p:cNvSpPr/>
            <p:nvPr/>
          </p:nvSpPr>
          <p:spPr>
            <a:xfrm>
              <a:off x="6400800" y="960120"/>
              <a:ext cx="2606040" cy="14904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47857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6400800" y="960120"/>
              <a:ext cx="2606040" cy="347472"/>
            </a:xfrm>
            <a:prstGeom prst="rect">
              <a:avLst/>
            </a:prstGeom>
            <a:solidFill>
              <a:srgbClr val="047857"/>
            </a:solidFill>
            <a:ln w="12700">
              <a:solidFill>
                <a:srgbClr val="047857"/>
              </a:solidFill>
              <a:prstDash val="solid"/>
            </a:ln>
          </p:spPr>
        </p:sp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C2A6085A-AF04-6573-6617-B6C25E426BF7}"/>
                </a:ext>
              </a:extLst>
            </p:cNvPr>
            <p:cNvGrpSpPr/>
            <p:nvPr/>
          </p:nvGrpSpPr>
          <p:grpSpPr>
            <a:xfrm>
              <a:off x="6473952" y="978408"/>
              <a:ext cx="2459736" cy="1252728"/>
              <a:chOff x="6473952" y="978408"/>
              <a:chExt cx="2459736" cy="1252728"/>
            </a:xfrm>
          </p:grpSpPr>
          <p:sp>
            <p:nvSpPr>
              <p:cNvPr id="41" name="Shape 39"/>
              <p:cNvSpPr/>
              <p:nvPr/>
            </p:nvSpPr>
            <p:spPr>
              <a:xfrm>
                <a:off x="8659368" y="1014984"/>
                <a:ext cx="201168" cy="256032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w="12700">
                <a:solidFill>
                  <a:srgbClr val="FFFFFF">
                    <a:alpha val="70000"/>
                  </a:srgbClr>
                </a:solidFill>
                <a:prstDash val="solid"/>
              </a:ln>
            </p:spPr>
          </p:sp>
          <p:sp>
            <p:nvSpPr>
              <p:cNvPr id="42" name="Shape 40"/>
              <p:cNvSpPr/>
              <p:nvPr/>
            </p:nvSpPr>
            <p:spPr>
              <a:xfrm>
                <a:off x="8750808" y="1060704"/>
                <a:ext cx="164592" cy="7315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43" name="Shape 41"/>
              <p:cNvSpPr/>
              <p:nvPr/>
            </p:nvSpPr>
            <p:spPr>
              <a:xfrm>
                <a:off x="8750808" y="1170432"/>
                <a:ext cx="164592" cy="7315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44" name="Text 42"/>
              <p:cNvSpPr/>
              <p:nvPr/>
            </p:nvSpPr>
            <p:spPr>
              <a:xfrm>
                <a:off x="6473952" y="978408"/>
                <a:ext cx="2148840" cy="1463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CADCFC"/>
                    </a:solidFill>
                  </a:rPr>
                  <a:t>«component»</a:t>
                </a:r>
                <a:endParaRPr lang="en-US" sz="750" dirty="0"/>
              </a:p>
            </p:txBody>
          </p:sp>
          <p:sp>
            <p:nvSpPr>
              <p:cNvPr id="45" name="Text 43"/>
              <p:cNvSpPr/>
              <p:nvPr/>
            </p:nvSpPr>
            <p:spPr>
              <a:xfrm>
                <a:off x="6473952" y="1115568"/>
                <a:ext cx="21488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TechSolutions.DataAccess</a:t>
                </a:r>
                <a:endParaRPr lang="en-US" sz="1100" dirty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6510528" y="1371600"/>
                <a:ext cx="24231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Conexion (ADO.NET)</a:t>
                </a:r>
                <a:endParaRPr lang="en-US" sz="950" dirty="0"/>
              </a:p>
            </p:txBody>
          </p:sp>
          <p:sp>
            <p:nvSpPr>
              <p:cNvPr id="47" name="Text 45"/>
              <p:cNvSpPr/>
              <p:nvPr/>
            </p:nvSpPr>
            <p:spPr>
              <a:xfrm>
                <a:off x="6510528" y="1591056"/>
                <a:ext cx="24231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UsuarioRepository</a:t>
                </a:r>
                <a:endParaRPr lang="en-US" sz="950" dirty="0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6510528" y="1810512"/>
                <a:ext cx="24231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ProductoRepository</a:t>
                </a:r>
                <a:endParaRPr lang="en-US" sz="950" dirty="0"/>
              </a:p>
            </p:txBody>
          </p:sp>
          <p:sp>
            <p:nvSpPr>
              <p:cNvPr id="49" name="Text 47"/>
              <p:cNvSpPr/>
              <p:nvPr/>
            </p:nvSpPr>
            <p:spPr>
              <a:xfrm>
                <a:off x="6510528" y="2029968"/>
                <a:ext cx="24231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ClienteRepository</a:t>
                </a:r>
                <a:endParaRPr lang="en-US" sz="950" dirty="0"/>
              </a:p>
            </p:txBody>
          </p:sp>
        </p:grpSp>
        <p:sp>
          <p:nvSpPr>
            <p:cNvPr id="50" name="Text 48"/>
            <p:cNvSpPr/>
            <p:nvPr/>
          </p:nvSpPr>
          <p:spPr>
            <a:xfrm>
              <a:off x="6510528" y="2249424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4155"/>
                  </a:solidFill>
                </a:rPr>
                <a:t>• VentaRepository</a:t>
              </a:r>
              <a:endParaRPr lang="en-US" sz="950" dirty="0"/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4B9BEE42-C930-0A53-4A47-458B02CD88E8}"/>
              </a:ext>
            </a:extLst>
          </p:cNvPr>
          <p:cNvGrpSpPr/>
          <p:nvPr/>
        </p:nvGrpSpPr>
        <p:grpSpPr>
          <a:xfrm>
            <a:off x="6446520" y="2818462"/>
            <a:ext cx="2606040" cy="1396335"/>
            <a:chOff x="6447106" y="2572161"/>
            <a:chExt cx="2606040" cy="1396335"/>
          </a:xfrm>
        </p:grpSpPr>
        <p:sp>
          <p:nvSpPr>
            <p:cNvPr id="51" name="Shape 49"/>
            <p:cNvSpPr/>
            <p:nvPr/>
          </p:nvSpPr>
          <p:spPr>
            <a:xfrm>
              <a:off x="6447106" y="2871216"/>
              <a:ext cx="2606040" cy="1097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4530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6447106" y="2606040"/>
              <a:ext cx="2606040" cy="347472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601968" y="2572161"/>
              <a:ext cx="214884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ADCFC"/>
                  </a:solidFill>
                </a:rPr>
                <a:t>«component»</a:t>
              </a:r>
              <a:endParaRPr lang="en-US" sz="750" dirty="0"/>
            </a:p>
          </p:txBody>
        </p: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6AAEF62B-E63B-7EFF-ABCE-60B1FE97163C}"/>
                </a:ext>
              </a:extLst>
            </p:cNvPr>
            <p:cNvGrpSpPr/>
            <p:nvPr/>
          </p:nvGrpSpPr>
          <p:grpSpPr>
            <a:xfrm>
              <a:off x="6473952" y="2615184"/>
              <a:ext cx="2523744" cy="1117444"/>
              <a:chOff x="6473952" y="2615184"/>
              <a:chExt cx="2523744" cy="1117444"/>
            </a:xfrm>
          </p:grpSpPr>
          <p:sp>
            <p:nvSpPr>
              <p:cNvPr id="53" name="Shape 51"/>
              <p:cNvSpPr/>
              <p:nvPr/>
            </p:nvSpPr>
            <p:spPr>
              <a:xfrm>
                <a:off x="8759952" y="2615184"/>
                <a:ext cx="201168" cy="256032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w="12700">
                <a:solidFill>
                  <a:srgbClr val="FFFFFF">
                    <a:alpha val="70000"/>
                  </a:srgbClr>
                </a:solidFill>
                <a:prstDash val="solid"/>
              </a:ln>
            </p:spPr>
          </p:sp>
          <p:grpSp>
            <p:nvGrpSpPr>
              <p:cNvPr id="87" name="Grupo 86">
                <a:extLst>
                  <a:ext uri="{FF2B5EF4-FFF2-40B4-BE49-F238E27FC236}">
                    <a16:creationId xmlns:a16="http://schemas.microsoft.com/office/drawing/2014/main" id="{6DD15D2F-F908-3DC5-7A2F-B5B43EDA9339}"/>
                  </a:ext>
                </a:extLst>
              </p:cNvPr>
              <p:cNvGrpSpPr/>
              <p:nvPr/>
            </p:nvGrpSpPr>
            <p:grpSpPr>
              <a:xfrm>
                <a:off x="6473952" y="2630893"/>
                <a:ext cx="2523744" cy="1101735"/>
                <a:chOff x="6473952" y="2630893"/>
                <a:chExt cx="2523744" cy="1101735"/>
              </a:xfrm>
            </p:grpSpPr>
            <p:sp>
              <p:nvSpPr>
                <p:cNvPr id="54" name="Shape 52"/>
                <p:cNvSpPr/>
                <p:nvPr/>
              </p:nvSpPr>
              <p:spPr>
                <a:xfrm>
                  <a:off x="8833104" y="2630893"/>
                  <a:ext cx="164592" cy="7315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</p:sp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31511D54-EF9C-9ED8-F86B-F20A6C8DE99C}"/>
                    </a:ext>
                  </a:extLst>
                </p:cNvPr>
                <p:cNvGrpSpPr/>
                <p:nvPr/>
              </p:nvGrpSpPr>
              <p:grpSpPr>
                <a:xfrm>
                  <a:off x="6473952" y="2654721"/>
                  <a:ext cx="2509676" cy="1077907"/>
                  <a:chOff x="6473952" y="2654721"/>
                  <a:chExt cx="2509676" cy="1077907"/>
                </a:xfrm>
              </p:grpSpPr>
              <p:sp>
                <p:nvSpPr>
                  <p:cNvPr id="55" name="Shape 53"/>
                  <p:cNvSpPr/>
                  <p:nvPr/>
                </p:nvSpPr>
                <p:spPr>
                  <a:xfrm>
                    <a:off x="8819036" y="2729484"/>
                    <a:ext cx="164592" cy="73152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FFFFFF"/>
                    </a:solidFill>
                    <a:prstDash val="solid"/>
                  </a:ln>
                </p:spPr>
              </p:sp>
              <p:sp>
                <p:nvSpPr>
                  <p:cNvPr id="57" name="Text 55"/>
                  <p:cNvSpPr/>
                  <p:nvPr/>
                </p:nvSpPr>
                <p:spPr>
                  <a:xfrm>
                    <a:off x="6473952" y="2654721"/>
                    <a:ext cx="214884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100" b="1" dirty="0">
                        <a:solidFill>
                          <a:srgbClr val="FFFFFF"/>
                        </a:solidFill>
                      </a:rPr>
                      <a:t>SQL Server 2022</a:t>
                    </a:r>
                    <a:endParaRPr lang="en-US" sz="1100" dirty="0"/>
                  </a:p>
                </p:txBody>
              </p:sp>
              <p:sp>
                <p:nvSpPr>
                  <p:cNvPr id="58" name="Text 56"/>
                  <p:cNvSpPr/>
                  <p:nvPr/>
                </p:nvSpPr>
                <p:spPr>
                  <a:xfrm>
                    <a:off x="6473952" y="3030826"/>
                    <a:ext cx="242316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l">
                      <a:buNone/>
                    </a:pPr>
                    <a:r>
                      <a:rPr lang="en-US" sz="950" dirty="0">
                        <a:solidFill>
                          <a:srgbClr val="334155"/>
                        </a:solidFill>
                      </a:rPr>
                      <a:t>• Tablas (7)</a:t>
                    </a:r>
                    <a:endParaRPr lang="en-US" sz="950" dirty="0"/>
                  </a:p>
                </p:txBody>
              </p:sp>
              <p:sp>
                <p:nvSpPr>
                  <p:cNvPr id="59" name="Text 57"/>
                  <p:cNvSpPr/>
                  <p:nvPr/>
                </p:nvSpPr>
                <p:spPr>
                  <a:xfrm>
                    <a:off x="6473952" y="3276131"/>
                    <a:ext cx="242316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l">
                      <a:buNone/>
                    </a:pPr>
                    <a:r>
                      <a:rPr lang="en-US" sz="950" dirty="0">
                        <a:solidFill>
                          <a:srgbClr val="334155"/>
                        </a:solidFill>
                      </a:rPr>
                      <a:t>• Stored Procedures</a:t>
                    </a:r>
                    <a:endParaRPr lang="en-US" sz="950" dirty="0"/>
                  </a:p>
                </p:txBody>
              </p:sp>
              <p:sp>
                <p:nvSpPr>
                  <p:cNvPr id="60" name="Text 58"/>
                  <p:cNvSpPr/>
                  <p:nvPr/>
                </p:nvSpPr>
                <p:spPr>
                  <a:xfrm>
                    <a:off x="6473952" y="3531460"/>
                    <a:ext cx="242316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l">
                      <a:buNone/>
                    </a:pPr>
                    <a:r>
                      <a:rPr lang="en-US" sz="950" dirty="0">
                        <a:solidFill>
                          <a:srgbClr val="334155"/>
                        </a:solidFill>
                      </a:rPr>
                      <a:t>• Transacciones</a:t>
                    </a:r>
                    <a:endParaRPr lang="en-US" sz="950" dirty="0"/>
                  </a:p>
                </p:txBody>
              </p:sp>
            </p:grpSp>
          </p:grpSp>
        </p:grp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26167BAD-B16B-B97E-87D4-0E7D44D34FCA}"/>
              </a:ext>
            </a:extLst>
          </p:cNvPr>
          <p:cNvGrpSpPr/>
          <p:nvPr/>
        </p:nvGrpSpPr>
        <p:grpSpPr>
          <a:xfrm>
            <a:off x="182880" y="3474720"/>
            <a:ext cx="2377440" cy="1062580"/>
            <a:chOff x="182880" y="2869340"/>
            <a:chExt cx="2377440" cy="1062580"/>
          </a:xfrm>
        </p:grpSpPr>
        <p:sp>
          <p:nvSpPr>
            <p:cNvPr id="61" name="Shape 59"/>
            <p:cNvSpPr/>
            <p:nvPr/>
          </p:nvSpPr>
          <p:spPr>
            <a:xfrm>
              <a:off x="182880" y="2880360"/>
              <a:ext cx="2377440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7556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2" name="Shape 60"/>
            <p:cNvSpPr/>
            <p:nvPr/>
          </p:nvSpPr>
          <p:spPr>
            <a:xfrm>
              <a:off x="182880" y="2869340"/>
              <a:ext cx="2377440" cy="347472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475569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256032" y="2898648"/>
              <a:ext cx="192024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ADCFC"/>
                  </a:solidFill>
                </a:rPr>
                <a:t>«component»</a:t>
              </a:r>
              <a:endParaRPr lang="en-US" sz="750" dirty="0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C59A0336-EF51-E480-1CFB-F3C0EE8CF17C}"/>
                </a:ext>
              </a:extLst>
            </p:cNvPr>
            <p:cNvGrpSpPr/>
            <p:nvPr/>
          </p:nvGrpSpPr>
          <p:grpSpPr>
            <a:xfrm>
              <a:off x="256032" y="2935224"/>
              <a:ext cx="2231136" cy="996696"/>
              <a:chOff x="256032" y="2935224"/>
              <a:chExt cx="2231136" cy="996696"/>
            </a:xfrm>
          </p:grpSpPr>
          <p:sp>
            <p:nvSpPr>
              <p:cNvPr id="63" name="Shape 61"/>
              <p:cNvSpPr/>
              <p:nvPr/>
            </p:nvSpPr>
            <p:spPr>
              <a:xfrm>
                <a:off x="2212848" y="2935224"/>
                <a:ext cx="201168" cy="256032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w="12700">
                <a:solidFill>
                  <a:srgbClr val="FFFFFF">
                    <a:alpha val="70000"/>
                  </a:srgbClr>
                </a:solidFill>
                <a:prstDash val="solid"/>
              </a:ln>
            </p:spPr>
          </p:sp>
          <p:sp>
            <p:nvSpPr>
              <p:cNvPr id="64" name="Shape 62"/>
              <p:cNvSpPr/>
              <p:nvPr/>
            </p:nvSpPr>
            <p:spPr>
              <a:xfrm>
                <a:off x="2304288" y="2980944"/>
                <a:ext cx="164592" cy="7315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65" name="Shape 63"/>
              <p:cNvSpPr/>
              <p:nvPr/>
            </p:nvSpPr>
            <p:spPr>
              <a:xfrm>
                <a:off x="2304288" y="3090672"/>
                <a:ext cx="164592" cy="7315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67" name="Text 65"/>
              <p:cNvSpPr/>
              <p:nvPr/>
            </p:nvSpPr>
            <p:spPr>
              <a:xfrm>
                <a:off x="256032" y="3035808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Program.cs</a:t>
                </a:r>
                <a:endParaRPr lang="en-US" sz="1100" dirty="0"/>
              </a:p>
            </p:txBody>
          </p:sp>
          <p:sp>
            <p:nvSpPr>
              <p:cNvPr id="68" name="Text 66"/>
              <p:cNvSpPr/>
              <p:nvPr/>
            </p:nvSpPr>
            <p:spPr>
              <a:xfrm>
                <a:off x="292608" y="3291840"/>
                <a:ext cx="21945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Punto de entrada</a:t>
                </a:r>
                <a:endParaRPr lang="en-US" sz="950" dirty="0"/>
              </a:p>
            </p:txBody>
          </p:sp>
          <p:sp>
            <p:nvSpPr>
              <p:cNvPr id="69" name="Text 67"/>
              <p:cNvSpPr/>
              <p:nvPr/>
            </p:nvSpPr>
            <p:spPr>
              <a:xfrm>
                <a:off x="292608" y="3511296"/>
                <a:ext cx="21945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Conexion.Probar()</a:t>
                </a:r>
                <a:endParaRPr lang="en-US" sz="950" dirty="0"/>
              </a:p>
            </p:txBody>
          </p:sp>
          <p:sp>
            <p:nvSpPr>
              <p:cNvPr id="70" name="Text 68"/>
              <p:cNvSpPr/>
              <p:nvPr/>
            </p:nvSpPr>
            <p:spPr>
              <a:xfrm>
                <a:off x="292608" y="3730752"/>
                <a:ext cx="219456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334155"/>
                    </a:solidFill>
                  </a:rPr>
                  <a:t>• Application.Run(frmLogin)</a:t>
                </a:r>
                <a:endParaRPr lang="en-US" sz="950" dirty="0"/>
              </a:p>
            </p:txBody>
          </p:sp>
        </p:grpSp>
      </p:grpSp>
      <p:sp>
        <p:nvSpPr>
          <p:cNvPr id="71" name="Shape 69"/>
          <p:cNvSpPr/>
          <p:nvPr/>
        </p:nvSpPr>
        <p:spPr>
          <a:xfrm>
            <a:off x="2560320" y="1417320"/>
            <a:ext cx="640080" cy="914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2514600" y="1280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usa ▶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943600" y="1417320"/>
            <a:ext cx="457200" cy="914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5806440" y="1280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usa ▶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0" y="2236998"/>
            <a:ext cx="22860" cy="67079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4087368" y="2468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usa ▶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936699" y="2519758"/>
            <a:ext cx="9144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7807686" y="257479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usa ▶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560320" y="2331720"/>
            <a:ext cx="64008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2514600" y="26517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usa ▶</a:t>
            </a:r>
            <a:endParaRPr lang="en-US" sz="800" dirty="0"/>
          </a:p>
        </p:txBody>
      </p:sp>
      <p:pic>
        <p:nvPicPr>
          <p:cNvPr id="92" name="Imagen 9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85B97AA-FE9A-C75C-1418-94DEB95A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6" y="4572000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DIAGRAMA DE DESPLIEGUE — Infraestructura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0312" y="1033272"/>
            <a:ext cx="2743200" cy="2926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96012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960120"/>
            <a:ext cx="27432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784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«node»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" y="1124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PC del Vendedor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3624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Windows 10/11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8191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TechSolutions.exe (.NET 8)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7452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UI Layer  (Windows Forms)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671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BusinessLogic.dll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459736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59736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DataAccess.dll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752344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5234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Models.dll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044952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4495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App.config (conn. string)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375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Setup Installer (.msi)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24871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301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Impresora (opcional)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47872" y="1033272"/>
            <a:ext cx="3017520" cy="2926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960120"/>
            <a:ext cx="3017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960120"/>
            <a:ext cx="301752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97840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«node»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566160" y="112471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Servidor de 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136245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SQL Server 2022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11880" y="1581912"/>
            <a:ext cx="276148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1581912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Instancia: TECHSOLUTIONS_DB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11880" y="1874520"/>
            <a:ext cx="276148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1874520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Tablas (7 entidades)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11880" y="2167128"/>
            <a:ext cx="276148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2167128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Stored Procedures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11880" y="2459736"/>
            <a:ext cx="276148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459736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Transacciones ACID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11880" y="2752344"/>
            <a:ext cx="276148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752344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Backup programado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26080" y="1920240"/>
            <a:ext cx="594360" cy="5943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51760" y="2542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369A1"/>
                </a:solidFill>
              </a:rPr>
              <a:t>LAN / TCP-IP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880360" y="2212848"/>
            <a:ext cx="640080" cy="9144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97480" y="20848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</a:rPr>
              <a:t>ADO.NET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</a:rPr>
              <a:t>TCP 1433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93992" y="1033272"/>
            <a:ext cx="2286000" cy="1417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96012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20840" y="960120"/>
            <a:ext cx="2286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978408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«node»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812280" y="11247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Instalador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12280" y="13624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Setup Project (.msi)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1581912"/>
            <a:ext cx="20299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158191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TechSolutions_Setup.msi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58000" y="1874520"/>
            <a:ext cx="20299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03720" y="1874520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.NET 8 Runtime prereq.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58000" y="2167128"/>
            <a:ext cx="20299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2167128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App.config configuración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93992" y="2679192"/>
            <a:ext cx="2286000" cy="1234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0840" y="2606040"/>
            <a:ext cx="2286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720840" y="2606040"/>
            <a:ext cx="22860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2624328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«node»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812280" y="277063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Impresora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12280" y="30083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Periférico (opcional)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58000" y="3227832"/>
            <a:ext cx="20299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322783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Reportes en PDF/papel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58000" y="3520440"/>
            <a:ext cx="2029968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03720" y="3520440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</a:rPr>
              <a:t>Comprobantes de venta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880360" y="3657600"/>
            <a:ext cx="385876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4572000" y="3520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</a:rPr>
              <a:t>deploy →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880360" y="3200400"/>
            <a:ext cx="385876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4572000" y="3063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5309"/>
                </a:solidFill>
              </a:rPr>
              <a:t>imprime →</a:t>
            </a:r>
            <a:endParaRPr lang="en-US" sz="850" dirty="0"/>
          </a:p>
        </p:txBody>
      </p:sp>
      <p:pic>
        <p:nvPicPr>
          <p:cNvPr id="76" name="Imagen 75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A333ABA2-396D-DBC3-883D-C3E9241F1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6" y="4572000"/>
            <a:ext cx="1019554" cy="2641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3EF9177-8BC9-05A1-7925-A814C77656B3}"/>
              </a:ext>
            </a:extLst>
          </p:cNvPr>
          <p:cNvSpPr txBox="1"/>
          <p:nvPr/>
        </p:nvSpPr>
        <p:spPr>
          <a:xfrm>
            <a:off x="1271682" y="2125520"/>
            <a:ext cx="7194088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0" b="1" i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onsolas" panose="020B0609020204030204" pitchFamily="49" charset="0"/>
              </a:rPr>
              <a:t>GRACIAS</a:t>
            </a:r>
            <a:r>
              <a:rPr lang="es-MX" dirty="0">
                <a:latin typeface="Consolas" panose="020B0609020204030204" pitchFamily="49" charset="0"/>
              </a:rPr>
              <a:t> </a:t>
            </a:r>
            <a:endParaRPr lang="es-PE" dirty="0">
              <a:latin typeface="Consolas" panose="020B0609020204030204" pitchFamily="49" charset="0"/>
            </a:endParaRPr>
          </a:p>
        </p:txBody>
      </p:sp>
      <p:pic>
        <p:nvPicPr>
          <p:cNvPr id="3" name="Imagen 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B2677E22-C078-3EF1-86AD-DFA520C6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126" y="4572000"/>
            <a:ext cx="1019554" cy="26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9101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</TotalTime>
  <Words>2370</Words>
  <Application>Microsoft Office PowerPoint</Application>
  <PresentationFormat>Presentación en pantalla (16:9)</PresentationFormat>
  <Paragraphs>626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Consolas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TechSolutions - Sistema de Gestión Empresarial</dc:title>
  <dc:subject>PptxGenJS Presentation</dc:subject>
  <dc:creator>PptxGenJS</dc:creator>
  <cp:lastModifiedBy>SUAREZ RUBINA, BECKAM SMITH</cp:lastModifiedBy>
  <cp:revision>3</cp:revision>
  <dcterms:created xsi:type="dcterms:W3CDTF">2026-05-06T05:02:50Z</dcterms:created>
  <dcterms:modified xsi:type="dcterms:W3CDTF">2026-05-07T03:02:51Z</dcterms:modified>
</cp:coreProperties>
</file>