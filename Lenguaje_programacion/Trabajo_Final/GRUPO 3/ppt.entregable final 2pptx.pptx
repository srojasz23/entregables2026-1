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2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D22A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5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empresari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43830" cy="6858000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5410835" y="2237105"/>
            <a:ext cx="6520180" cy="215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TECH</a:t>
            </a:r>
            <a:r>
              <a:rPr lang="es-ES" alt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.</a:t>
            </a:r>
            <a:endParaRPr lang="en-US" sz="40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  <a:sym typeface="+mn-ea"/>
            </a:endParaRPr>
          </a:p>
          <a:p>
            <a:endParaRPr lang="en-US" altLang="es-ES" sz="4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Wimmer Roman</a:t>
            </a:r>
            <a:r>
              <a:rPr lang="es-E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y Marco Alvarado</a:t>
            </a:r>
            <a:endParaRPr lang="es-ES" altLang="en-U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205980" y="230378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800" dirty="0">
                <a:solidFill>
                  <a:srgbClr val="85B7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SOLUTIONS</a:t>
            </a:r>
            <a:endParaRPr lang="en-US" sz="3000" dirty="0"/>
          </a:p>
        </p:txBody>
      </p:sp>
      <p:sp>
        <p:nvSpPr>
          <p:cNvPr id="3" name="Shape 5"/>
          <p:cNvSpPr/>
          <p:nvPr/>
        </p:nvSpPr>
        <p:spPr>
          <a:xfrm flipV="1">
            <a:off x="5410835" y="2943860"/>
            <a:ext cx="5268595" cy="109855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p>
            <a:endParaRPr lang="es-ES" altLang="en-US"/>
          </a:p>
        </p:txBody>
      </p:sp>
      <p:sp>
        <p:nvSpPr>
          <p:cNvPr id="8" name="Text 6"/>
          <p:cNvSpPr/>
          <p:nvPr/>
        </p:nvSpPr>
        <p:spPr>
          <a:xfrm>
            <a:off x="5410835" y="3112135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Informe Técnico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10835" y="36474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5D4F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Sistema de Gestión Empresarial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635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431800"/>
            <a:ext cx="973709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DESCRIPCIÓN GENERAL DEL PROYECTO</a:t>
            </a:r>
            <a:endParaRPr lang="en-US" sz="3200" dirty="0"/>
          </a:p>
          <a:p>
            <a:pPr marL="0" indent="0">
              <a:buNone/>
            </a:pPr>
            <a:endParaRPr lang="en-U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7995" y="1324610"/>
            <a:ext cx="6859270" cy="122809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sysDash"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 Solutions es una aplicación empresarial desarrollada en C# / .NET Framework 4.8 con Windows Forms, que implementa gestión completa de ventas, clientes, productos, inventario y reportes para una empresa comercial.</a:t>
            </a: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24535" y="3000375"/>
            <a:ext cx="3404870" cy="158623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9" name="Shape 5"/>
          <p:cNvSpPr/>
          <p:nvPr/>
        </p:nvSpPr>
        <p:spPr>
          <a:xfrm>
            <a:off x="724535" y="4906010"/>
            <a:ext cx="3404870" cy="158623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0" name="Shape 5"/>
          <p:cNvSpPr/>
          <p:nvPr/>
        </p:nvSpPr>
        <p:spPr>
          <a:xfrm>
            <a:off x="4682490" y="3000375"/>
            <a:ext cx="3355340" cy="158623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1" name="Shape 5"/>
          <p:cNvSpPr/>
          <p:nvPr/>
        </p:nvSpPr>
        <p:spPr>
          <a:xfrm>
            <a:off x="4683125" y="4906010"/>
            <a:ext cx="3354705" cy="158623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2" name="Shape 5"/>
          <p:cNvSpPr/>
          <p:nvPr/>
        </p:nvSpPr>
        <p:spPr>
          <a:xfrm>
            <a:off x="8468995" y="3000375"/>
            <a:ext cx="3355340" cy="158623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3" name="Shape 5"/>
          <p:cNvSpPr/>
          <p:nvPr/>
        </p:nvSpPr>
        <p:spPr>
          <a:xfrm>
            <a:off x="8468995" y="4906010"/>
            <a:ext cx="3355340" cy="158623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5" name="Text 8"/>
          <p:cNvSpPr/>
          <p:nvPr/>
        </p:nvSpPr>
        <p:spPr>
          <a:xfrm>
            <a:off x="838835" y="3733165"/>
            <a:ext cx="31756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UI · Negocio · Datos · Entidades · Exportación</a:t>
            </a:r>
            <a:endParaRPr lang="en-US" sz="12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838835" y="322326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Arquitectura N-Capas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044313" y="322326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Patrón Singleton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044440" y="3749040"/>
            <a:ext cx="2682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ConexionDB garantiza una única instancia SQL</a:t>
            </a:r>
            <a:endParaRPr lang="en-US" sz="14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55456" y="322326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Autenticación y Roles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90280" y="3634740"/>
            <a:ext cx="31603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Administrador · Vendedor · Almacenero</a:t>
            </a:r>
            <a:endParaRPr lang="en-US" sz="14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6630" y="50342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Transacciones SQL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44313" y="50342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LINQ</a:t>
            </a:r>
            <a:endParaRPr lang="en-US" sz="20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55456" y="50342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Reportes y Export</a:t>
            </a:r>
            <a:endParaRPr lang="en-US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78865" y="5462270"/>
            <a:ext cx="264985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Commit / Rollback en registro de ventas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47615" y="5494020"/>
            <a:ext cx="26797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Consultas en listas y colecciones de entidades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855710" y="5494020"/>
            <a:ext cx="25476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Excel / Word via OpenXML SDK 3.5.1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431800"/>
            <a:ext cx="973709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s-ES" alt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ARQUITECTURAS N-CAPAS</a:t>
            </a:r>
            <a:endParaRPr lang="es-E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6410" y="1414145"/>
            <a:ext cx="10638155" cy="1005205"/>
          </a:xfrm>
          <a:prstGeom prst="rect">
            <a:avLst/>
          </a:prstGeom>
          <a:solidFill>
            <a:schemeClr val="tx1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6" name="Shape 5"/>
          <p:cNvSpPr/>
          <p:nvPr/>
        </p:nvSpPr>
        <p:spPr>
          <a:xfrm>
            <a:off x="486410" y="2692400"/>
            <a:ext cx="10638155" cy="1005205"/>
          </a:xfrm>
          <a:prstGeom prst="rect">
            <a:avLst/>
          </a:prstGeom>
          <a:solidFill>
            <a:schemeClr val="tx1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9" name="Shape 5"/>
          <p:cNvSpPr/>
          <p:nvPr/>
        </p:nvSpPr>
        <p:spPr>
          <a:xfrm>
            <a:off x="486410" y="3970655"/>
            <a:ext cx="10638155" cy="1005205"/>
          </a:xfrm>
          <a:prstGeom prst="rect">
            <a:avLst/>
          </a:prstGeom>
          <a:solidFill>
            <a:schemeClr val="tx1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0" name="Shape 5"/>
          <p:cNvSpPr/>
          <p:nvPr/>
        </p:nvSpPr>
        <p:spPr>
          <a:xfrm>
            <a:off x="486410" y="5248910"/>
            <a:ext cx="3355340" cy="1022350"/>
          </a:xfrm>
          <a:prstGeom prst="rect">
            <a:avLst/>
          </a:prstGeom>
          <a:solidFill>
            <a:schemeClr val="tx1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1" name="Text 4"/>
          <p:cNvSpPr/>
          <p:nvPr/>
        </p:nvSpPr>
        <p:spPr>
          <a:xfrm>
            <a:off x="593725" y="1414145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PRESENTACIÓN</a:t>
            </a:r>
            <a:endParaRPr lang="en-US" sz="1400" b="1" dirty="0">
              <a:solidFill>
                <a:srgbClr val="FFFF00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593725" y="1722374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TechSolutions.UI — Windows Forms · async/await · Timer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593725" y="197993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FrmLogin · FrmPrincipal · FrmPOS · FrmClientes · FrmProductos · FrmReportes · FrmBoleta</a:t>
            </a:r>
            <a:endParaRPr lang="en-US" sz="1400" dirty="0"/>
          </a:p>
        </p:txBody>
      </p:sp>
      <p:sp>
        <p:nvSpPr>
          <p:cNvPr id="14" name="Text 4"/>
          <p:cNvSpPr/>
          <p:nvPr/>
        </p:nvSpPr>
        <p:spPr>
          <a:xfrm>
            <a:off x="593725" y="280035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ES" altLang="en-US" sz="1400" b="1" dirty="0">
                <a:solidFill>
                  <a:srgbClr val="00B0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LOGICA DE NEGOCIO</a:t>
            </a:r>
            <a:endParaRPr lang="es-ES" altLang="en-US" sz="1400" b="1" dirty="0">
              <a:solidFill>
                <a:srgbClr val="00B050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93725" y="3094482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TechSolutions.LogicaNegocio — LINQ · Task.Run() · Validaciones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93725" y="334949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UsuarioBL · ClienteBL · ProductoBL · VentaBL · CategoriaBL · ProveedorBL</a:t>
            </a:r>
            <a:endParaRPr lang="en-US" sz="1400" dirty="0"/>
          </a:p>
        </p:txBody>
      </p:sp>
      <p:sp>
        <p:nvSpPr>
          <p:cNvPr id="17" name="Text 4"/>
          <p:cNvSpPr/>
          <p:nvPr/>
        </p:nvSpPr>
        <p:spPr>
          <a:xfrm>
            <a:off x="720725" y="402463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ES" altLang="en-US" sz="1400" b="1" dirty="0">
                <a:solidFill>
                  <a:srgbClr val="00B0F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ACCESO A DATOS</a:t>
            </a:r>
            <a:endParaRPr lang="es-ES" altLang="en-US" sz="1400" b="1" dirty="0">
              <a:solidFill>
                <a:srgbClr val="00B0F0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93725" y="4326255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TechSolutions.AccesoDatos — ADO.NET · SqlCommand · DataSet · Transacciones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93725" y="4536186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★ ConexionDB (Singleton) · UsuarioDAO · ClienteDAO · ProductoDAO · VentaDAO</a:t>
            </a:r>
            <a:endParaRPr lang="en-US" sz="1400" dirty="0"/>
          </a:p>
        </p:txBody>
      </p:sp>
      <p:sp>
        <p:nvSpPr>
          <p:cNvPr id="21" name="Shape 5"/>
          <p:cNvSpPr/>
          <p:nvPr/>
        </p:nvSpPr>
        <p:spPr>
          <a:xfrm>
            <a:off x="8035290" y="5248910"/>
            <a:ext cx="3644900" cy="1022350"/>
          </a:xfrm>
          <a:prstGeom prst="rect">
            <a:avLst/>
          </a:prstGeom>
          <a:solidFill>
            <a:schemeClr val="tx1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TechSolutions.Exportacion</a:t>
            </a:r>
            <a:endParaRPr lang="en-US" altLang="en-US" b="1" dirty="0">
              <a:solidFill>
                <a:srgbClr val="7030A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4294505" y="5248910"/>
            <a:ext cx="3602990" cy="934720"/>
          </a:xfrm>
          <a:prstGeom prst="rect">
            <a:avLst/>
          </a:prstGeom>
          <a:solidFill>
            <a:schemeClr val="tx1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p>
            <a:pPr marL="0" indent="0" algn="ctr">
              <a:buNone/>
            </a:pPr>
            <a:endParaRPr lang="es-ES" altLang="en-US" sz="1600"/>
          </a:p>
        </p:txBody>
      </p:sp>
      <p:sp>
        <p:nvSpPr>
          <p:cNvPr id="28" name="Text 26"/>
          <p:cNvSpPr/>
          <p:nvPr/>
        </p:nvSpPr>
        <p:spPr>
          <a:xfrm>
            <a:off x="4632960" y="54610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SQL Server · TechSolutionsDB · localhost</a:t>
            </a:r>
            <a:endParaRPr lang="en-US" sz="1200" b="1" dirty="0"/>
          </a:p>
        </p:txBody>
      </p:sp>
      <p:sp>
        <p:nvSpPr>
          <p:cNvPr id="26" name="Text 24"/>
          <p:cNvSpPr/>
          <p:nvPr/>
        </p:nvSpPr>
        <p:spPr>
          <a:xfrm>
            <a:off x="8035290" y="5687695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ECBF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ExcelExporter · WordExporter · OpenXML SDK 3.5.1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21410" y="5341620"/>
            <a:ext cx="2393315" cy="353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TechSolutions.Entidades</a:t>
            </a:r>
            <a:endParaRPr lang="en-US" sz="1600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93725" y="5760720"/>
            <a:ext cx="3248660" cy="393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D1C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POCOs · DTOs · ResultadoOp · Entidades de BD</a:t>
            </a:r>
            <a:endParaRPr lang="en-US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60350"/>
            <a:ext cx="973709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s-ES" alt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PATRON SINGLETON-ConexionDB</a:t>
            </a:r>
            <a:endParaRPr lang="es-E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9410" y="1123950"/>
            <a:ext cx="4222750" cy="40119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115" y="1734820"/>
            <a:ext cx="3853180" cy="3035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- _inst : ConexionDB {static}</a:t>
            </a: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alt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- _lock : object {static}</a:t>
            </a: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alt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- CADENA : string {const, string}</a:t>
            </a: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alt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- ConexionDB() {private}</a:t>
            </a: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alt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+ Instancia : ConexionDB {static, get}</a:t>
            </a: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alt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+ ObtenerConexion() : SqlConnection</a:t>
            </a: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altLang="es-E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+ ProbarConexion() : bool</a:t>
            </a:r>
            <a:endParaRPr lang="en-US" altLang="es-E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59410" y="1123950"/>
            <a:ext cx="4222115" cy="49911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p>
            <a:endParaRPr lang="es-ES" altLang="en-US"/>
          </a:p>
        </p:txBody>
      </p:sp>
      <p:sp>
        <p:nvSpPr>
          <p:cNvPr id="11" name="Text 4"/>
          <p:cNvSpPr/>
          <p:nvPr/>
        </p:nvSpPr>
        <p:spPr>
          <a:xfrm>
            <a:off x="1215390" y="1252855"/>
            <a:ext cx="2910840" cy="2673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ES" altLang="en-US" sz="2000" b="1" dirty="0">
                <a:solidFill>
                  <a:schemeClr val="bg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CONEXION BD</a:t>
            </a:r>
            <a:endParaRPr lang="es-ES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881370" y="1123950"/>
            <a:ext cx="4632960" cy="95186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81370" y="2230120"/>
            <a:ext cx="4632960" cy="95186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881370" y="3336290"/>
            <a:ext cx="4632960" cy="95186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881370" y="4442460"/>
            <a:ext cx="4632960" cy="95186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Cuadro de texto 8"/>
          <p:cNvSpPr txBox="1"/>
          <p:nvPr/>
        </p:nvSpPr>
        <p:spPr>
          <a:xfrm>
            <a:off x="5881370" y="1339215"/>
            <a:ext cx="4925060" cy="409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>
                <a:solidFill>
                  <a:schemeClr val="bg1"/>
                </a:solidFill>
              </a:rPr>
              <a:t>Una sola instancia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lock(_lock) garantiza thread-safety en multi-hilo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Reutilizaci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Todos los DAOs llaman a ConexionDB.Instancia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Centralizaci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Cadena de conexi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 en un </a:t>
            </a:r>
            <a:r>
              <a:rPr lang="en-US" altLang="en-US">
                <a:solidFill>
                  <a:schemeClr val="bg1"/>
                </a:solidFill>
              </a:rPr>
              <a:t>ú</a:t>
            </a:r>
            <a:r>
              <a:rPr lang="en-US" altLang="es-ES">
                <a:solidFill>
                  <a:schemeClr val="bg1"/>
                </a:solidFill>
              </a:rPr>
              <a:t>nico lugar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Lazy Initialization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Se crea solo cuando se necesita por primera vez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41" name="Shape 16"/>
          <p:cNvSpPr/>
          <p:nvPr/>
        </p:nvSpPr>
        <p:spPr>
          <a:xfrm>
            <a:off x="5748655" y="1123950"/>
            <a:ext cx="132715" cy="952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Shape 20"/>
          <p:cNvSpPr/>
          <p:nvPr/>
        </p:nvSpPr>
        <p:spPr>
          <a:xfrm flipH="1">
            <a:off x="5748655" y="2230120"/>
            <a:ext cx="132715" cy="951865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Shape 24"/>
          <p:cNvSpPr/>
          <p:nvPr/>
        </p:nvSpPr>
        <p:spPr>
          <a:xfrm>
            <a:off x="5748655" y="3335655"/>
            <a:ext cx="132715" cy="919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4" name="Shape 28"/>
          <p:cNvSpPr/>
          <p:nvPr/>
        </p:nvSpPr>
        <p:spPr>
          <a:xfrm>
            <a:off x="5748020" y="4442460"/>
            <a:ext cx="145415" cy="9017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650875" y="5650230"/>
            <a:ext cx="10606405" cy="887730"/>
          </a:xfrm>
          <a:prstGeom prst="rect">
            <a:avLst/>
          </a:prstGeom>
          <a:solidFill>
            <a:srgbClr val="0C1628"/>
          </a:solidFill>
          <a:ln w="12700">
            <a:solidFill>
              <a:srgbClr val="2962AF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854075" y="6069965"/>
            <a:ext cx="1010983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"Server=localhost;Database=TechSolutionsDB;Integrated Security=True;Connect Timeout=30;"</a:t>
            </a:r>
            <a:endParaRPr lang="en-US" sz="1600" dirty="0"/>
          </a:p>
        </p:txBody>
      </p:sp>
      <p:sp>
        <p:nvSpPr>
          <p:cNvPr id="47" name="Text 32"/>
          <p:cNvSpPr/>
          <p:nvPr/>
        </p:nvSpPr>
        <p:spPr>
          <a:xfrm>
            <a:off x="1010285" y="5804027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5B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Cadena de Conexión: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60350"/>
            <a:ext cx="7856855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s-ES" alt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Autenticacion y Control de Roles</a:t>
            </a:r>
            <a:endParaRPr lang="es-E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2" name="Cuadro de texto 11"/>
          <p:cNvSpPr txBox="1"/>
          <p:nvPr/>
        </p:nvSpPr>
        <p:spPr>
          <a:xfrm>
            <a:off x="205105" y="1188720"/>
            <a:ext cx="2461260" cy="10007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</p:spPr>
        <p:txBody>
          <a:bodyPr wrap="square" rtlCol="0">
            <a:noAutofit/>
          </a:bodyPr>
          <a:p>
            <a:pPr marL="0" indent="0" algn="ctr">
              <a:buNone/>
            </a:pP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Ingresar credenciales</a:t>
            </a:r>
            <a:endParaRPr lang="en-US" alt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3" name="Cuadro de texto 12"/>
          <p:cNvSpPr txBox="1"/>
          <p:nvPr/>
        </p:nvSpPr>
        <p:spPr>
          <a:xfrm>
            <a:off x="3357880" y="1188720"/>
            <a:ext cx="2498090" cy="10007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</p:spPr>
        <p:txBody>
          <a:bodyPr wrap="square" rtlCol="0">
            <a:noAutofit/>
          </a:bodyPr>
          <a:p>
            <a:pPr marL="0" indent="0" algn="ctr">
              <a:buNone/>
            </a:pP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Verificar conexión SQL</a:t>
            </a:r>
            <a:endParaRPr lang="en-US" alt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6547485" y="1188720"/>
            <a:ext cx="2411730" cy="10007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</p:spPr>
        <p:txBody>
          <a:bodyPr wrap="square" rtlCol="0">
            <a:noAutofit/>
          </a:bodyPr>
          <a:p>
            <a:pPr marL="0" indent="0" algn="ctr">
              <a:buNone/>
            </a:pP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SELECT + JOIN Rol</a:t>
            </a:r>
            <a:endParaRPr lang="en-US" alt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9650730" y="1188720"/>
            <a:ext cx="2411730" cy="10007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dashDot"/>
          </a:ln>
        </p:spPr>
        <p:txBody>
          <a:bodyPr wrap="square" rtlCol="0">
            <a:noAutofit/>
          </a:bodyPr>
          <a:p>
            <a:pPr marL="0" indent="0" algn="ctr">
              <a:buNone/>
            </a:pP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Cargar menú por rol</a:t>
            </a:r>
            <a:endParaRPr lang="en-US" alt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6" name="Triángulo isósceles 15"/>
          <p:cNvSpPr/>
          <p:nvPr/>
        </p:nvSpPr>
        <p:spPr>
          <a:xfrm rot="5400000">
            <a:off x="2797810" y="1475105"/>
            <a:ext cx="429260" cy="42799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7" name="Triángulo isósceles 16"/>
          <p:cNvSpPr/>
          <p:nvPr/>
        </p:nvSpPr>
        <p:spPr>
          <a:xfrm rot="5400000">
            <a:off x="5988050" y="1475740"/>
            <a:ext cx="428625" cy="42799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8" name="Triángulo isósceles 17"/>
          <p:cNvSpPr/>
          <p:nvPr/>
        </p:nvSpPr>
        <p:spPr>
          <a:xfrm rot="5400000">
            <a:off x="9090660" y="1475740"/>
            <a:ext cx="428625" cy="42799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9" name="Shape 10"/>
          <p:cNvSpPr/>
          <p:nvPr/>
        </p:nvSpPr>
        <p:spPr>
          <a:xfrm>
            <a:off x="205105" y="2408555"/>
            <a:ext cx="3367405" cy="40119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0"/>
          <p:cNvSpPr/>
          <p:nvPr/>
        </p:nvSpPr>
        <p:spPr>
          <a:xfrm>
            <a:off x="4091305" y="2410460"/>
            <a:ext cx="3521710" cy="40119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1" name="Shape 10"/>
          <p:cNvSpPr/>
          <p:nvPr/>
        </p:nvSpPr>
        <p:spPr>
          <a:xfrm>
            <a:off x="7992745" y="2408555"/>
            <a:ext cx="3574415" cy="4011930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3235" y="262636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11472" y="262636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Vendedor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78139" y="262636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Almacenero</a:t>
            </a:r>
            <a:endParaRPr lang="en-US" sz="1600" dirty="0"/>
          </a:p>
        </p:txBody>
      </p:sp>
      <p:sp>
        <p:nvSpPr>
          <p:cNvPr id="22" name="Cuadro de texto 21"/>
          <p:cNvSpPr txBox="1"/>
          <p:nvPr/>
        </p:nvSpPr>
        <p:spPr>
          <a:xfrm>
            <a:off x="541655" y="3206750"/>
            <a:ext cx="2706370" cy="313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>
                <a:solidFill>
                  <a:schemeClr val="bg1"/>
                </a:solidFill>
              </a:rPr>
              <a:t>✓ Clientes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Productos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Ventas / POS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Reportes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Usuarios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Categor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as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23" name="Cuadro de texto 22"/>
          <p:cNvSpPr txBox="1"/>
          <p:nvPr/>
        </p:nvSpPr>
        <p:spPr>
          <a:xfrm>
            <a:off x="4546600" y="3447415"/>
            <a:ext cx="270637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✓ Clientes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Ventas / POS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Reportes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rgbClr val="FF0000"/>
                </a:solidFill>
              </a:rPr>
              <a:t>X Usuarios (bloq.)</a:t>
            </a:r>
            <a:endParaRPr lang="en-US" altLang="es-ES">
              <a:solidFill>
                <a:srgbClr val="FF0000"/>
              </a:solidFill>
            </a:endParaRPr>
          </a:p>
          <a:p>
            <a:endParaRPr lang="en-US" altLang="es-ES">
              <a:solidFill>
                <a:srgbClr val="FF0000"/>
              </a:solidFill>
            </a:endParaRPr>
          </a:p>
          <a:p>
            <a:r>
              <a:rPr lang="en-US" altLang="es-ES">
                <a:solidFill>
                  <a:srgbClr val="FF0000"/>
                </a:solidFill>
              </a:rPr>
              <a:t>X Config. (bloq.)</a:t>
            </a:r>
            <a:endParaRPr lang="en-US" altLang="es-ES">
              <a:solidFill>
                <a:srgbClr val="FF0000"/>
              </a:solidFill>
            </a:endParaRPr>
          </a:p>
        </p:txBody>
      </p:sp>
      <p:sp>
        <p:nvSpPr>
          <p:cNvPr id="24" name="Cuadro de texto 23"/>
          <p:cNvSpPr txBox="1"/>
          <p:nvPr/>
        </p:nvSpPr>
        <p:spPr>
          <a:xfrm>
            <a:off x="8551545" y="3514725"/>
            <a:ext cx="270637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✓ Productos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✓ Categor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as</a:t>
            </a:r>
            <a:endParaRPr lang="en-US" altLang="es-ES">
              <a:solidFill>
                <a:schemeClr val="bg1"/>
              </a:solidFill>
            </a:endParaRPr>
          </a:p>
          <a:p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rgbClr val="FF0000"/>
                </a:solidFill>
              </a:rPr>
              <a:t>X Ventas (bloq.)</a:t>
            </a:r>
            <a:endParaRPr lang="en-US" altLang="es-ES">
              <a:solidFill>
                <a:srgbClr val="FF0000"/>
              </a:solidFill>
            </a:endParaRPr>
          </a:p>
          <a:p>
            <a:endParaRPr lang="en-US" altLang="es-ES">
              <a:solidFill>
                <a:srgbClr val="FF0000"/>
              </a:solidFill>
            </a:endParaRPr>
          </a:p>
          <a:p>
            <a:r>
              <a:rPr lang="en-US" altLang="es-ES">
                <a:solidFill>
                  <a:srgbClr val="FF0000"/>
                </a:solidFill>
              </a:rPr>
              <a:t>X Reportes (bloq.)</a:t>
            </a:r>
            <a:endParaRPr lang="en-US" altLang="es-ES">
              <a:solidFill>
                <a:srgbClr val="FF0000"/>
              </a:solidFill>
            </a:endParaRPr>
          </a:p>
          <a:p>
            <a:endParaRPr lang="en-US" altLang="es-ES">
              <a:solidFill>
                <a:srgbClr val="FF0000"/>
              </a:solidFill>
            </a:endParaRPr>
          </a:p>
          <a:p>
            <a:r>
              <a:rPr lang="en-US" altLang="es-ES">
                <a:solidFill>
                  <a:srgbClr val="FF0000"/>
                </a:solidFill>
              </a:rPr>
              <a:t>X Usuarios (bloq.)</a:t>
            </a:r>
            <a:endParaRPr lang="en-US" altLang="es-ES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005" y="295097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admin / 123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10837" y="301066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juan / 123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51799" y="295097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maria / 123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45745"/>
            <a:ext cx="994283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TRANSACCIONES SQL — Commit / Rollback</a:t>
            </a:r>
            <a:endParaRPr lang="en-US" sz="3200" dirty="0"/>
          </a:p>
          <a:p>
            <a:pPr marL="0" indent="0">
              <a:buNone/>
            </a:pPr>
            <a:endParaRPr lang="es-E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597535" y="5600065"/>
            <a:ext cx="2497455" cy="949325"/>
          </a:xfrm>
          <a:prstGeom prst="rect">
            <a:avLst/>
          </a:prstGeom>
          <a:solidFill>
            <a:srgbClr val="22D22A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endParaRPr lang="es-ES" altLang="en-US"/>
          </a:p>
          <a:p>
            <a:pPr algn="ctr"/>
            <a:r>
              <a:rPr lang="es-ES" altLang="en-US">
                <a:latin typeface="Arial Black" panose="020B0A04020102020204" pitchFamily="34" charset="0"/>
                <a:cs typeface="Arial Black" panose="020B0A04020102020204" pitchFamily="34" charset="0"/>
              </a:rPr>
              <a:t>COMMIT</a:t>
            </a:r>
            <a:endParaRPr lang="es-ES" altLang="en-US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3881120" y="5600065"/>
            <a:ext cx="2497455" cy="949325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endParaRPr lang="es-ES" altLang="en-US"/>
          </a:p>
          <a:p>
            <a:pPr algn="ctr"/>
            <a:r>
              <a:rPr lang="es-ES" altLang="en-US">
                <a:latin typeface="Arial Black" panose="020B0A04020102020204" pitchFamily="34" charset="0"/>
                <a:cs typeface="Arial Black" panose="020B0A04020102020204" pitchFamily="34" charset="0"/>
              </a:rPr>
              <a:t>ROLLBACK</a:t>
            </a:r>
            <a:endParaRPr lang="es-ES" altLang="en-US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18960" y="1268730"/>
            <a:ext cx="4753610" cy="4973320"/>
          </a:xfrm>
          <a:prstGeom prst="rect">
            <a:avLst/>
          </a:prstGeom>
          <a:solidFill>
            <a:srgbClr val="0C1628"/>
          </a:solidFill>
          <a:ln w="12700">
            <a:noFill/>
            <a:prstDash val="solid"/>
          </a:ln>
        </p:spPr>
      </p:sp>
      <p:sp>
        <p:nvSpPr>
          <p:cNvPr id="6" name="Cuadro de texto 5"/>
          <p:cNvSpPr txBox="1"/>
          <p:nvPr/>
        </p:nvSpPr>
        <p:spPr>
          <a:xfrm>
            <a:off x="7164070" y="1428115"/>
            <a:ext cx="3915410" cy="4526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>
                <a:solidFill>
                  <a:srgbClr val="0070C0"/>
                </a:solidFill>
              </a:rPr>
              <a:t>// VentaDAO.cs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using (var conn = ConexionDB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.Instancia.ObtenerConexion())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using (var trans = 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conn.BeginTransaction()) {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try {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// INSERT Venta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// INSERT Detalles (loop)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// UPDATE Stock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trans.Commit(); // ✓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} catch {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trans.Rollback(); // X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    throw;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    }</a:t>
            </a:r>
            <a:endParaRPr lang="en-US" altLang="es-ES">
              <a:solidFill>
                <a:srgbClr val="0070C0"/>
              </a:solidFill>
            </a:endParaRPr>
          </a:p>
          <a:p>
            <a:r>
              <a:rPr lang="en-US" altLang="es-ES">
                <a:solidFill>
                  <a:srgbClr val="0070C0"/>
                </a:solidFill>
              </a:rPr>
              <a:t>}</a:t>
            </a:r>
            <a:endParaRPr lang="en-US" altLang="es-ES">
              <a:solidFill>
                <a:srgbClr val="0070C0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20750" y="2098040"/>
            <a:ext cx="5026660" cy="95186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10"/>
          <p:cNvSpPr/>
          <p:nvPr/>
        </p:nvSpPr>
        <p:spPr>
          <a:xfrm>
            <a:off x="922655" y="3215640"/>
            <a:ext cx="5026660" cy="95186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10"/>
          <p:cNvSpPr/>
          <p:nvPr/>
        </p:nvSpPr>
        <p:spPr>
          <a:xfrm>
            <a:off x="920750" y="4333240"/>
            <a:ext cx="5027295" cy="95186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921385" y="1172845"/>
            <a:ext cx="5026660" cy="610235"/>
          </a:xfrm>
          <a:prstGeom prst="rect">
            <a:avLst/>
          </a:prstGeom>
          <a:solidFill>
            <a:srgbClr val="0D1117"/>
          </a:solidFill>
          <a:effectLst>
            <a:outerShdw blurRad="127000" dist="381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922655" y="1256030"/>
            <a:ext cx="48463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conn.BeginTransaction()</a:t>
            </a:r>
            <a:endParaRPr lang="en-US" sz="160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22655" y="2302383"/>
            <a:ext cx="48463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INSERT INTO Venta (Numero, Fecha, ...)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64565" y="3429381"/>
            <a:ext cx="48463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INSERT INTO DetalleVenta [loop por item]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4565" y="4567809"/>
            <a:ext cx="48463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UPDATE Producto SET Stock -= Cantidad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45745"/>
            <a:ext cx="994283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LINQ — Language Integrated Query</a:t>
            </a:r>
            <a:endParaRPr lang="en-US" sz="3200" dirty="0"/>
          </a:p>
          <a:p>
            <a:pPr marL="0" indent="0">
              <a:buNone/>
            </a:pPr>
            <a:endParaRPr lang="es-E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2" name="Shape 0"/>
          <p:cNvSpPr/>
          <p:nvPr/>
        </p:nvSpPr>
        <p:spPr>
          <a:xfrm>
            <a:off x="359410" y="1248410"/>
            <a:ext cx="4835525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0"/>
          <p:cNvSpPr/>
          <p:nvPr/>
        </p:nvSpPr>
        <p:spPr>
          <a:xfrm>
            <a:off x="6488430" y="1248410"/>
            <a:ext cx="4835525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Shape 0"/>
          <p:cNvSpPr/>
          <p:nvPr/>
        </p:nvSpPr>
        <p:spPr>
          <a:xfrm>
            <a:off x="359410" y="3889375"/>
            <a:ext cx="4835525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Shape 0"/>
          <p:cNvSpPr/>
          <p:nvPr/>
        </p:nvSpPr>
        <p:spPr>
          <a:xfrm>
            <a:off x="6488430" y="3889375"/>
            <a:ext cx="4835525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p>
            <a:endParaRPr lang="es-ES" altLang="en-US"/>
          </a:p>
        </p:txBody>
      </p:sp>
      <p:sp>
        <p:nvSpPr>
          <p:cNvPr id="9" name="Shape 6"/>
          <p:cNvSpPr/>
          <p:nvPr/>
        </p:nvSpPr>
        <p:spPr>
          <a:xfrm>
            <a:off x="359410" y="1933575"/>
            <a:ext cx="4835525" cy="1495425"/>
          </a:xfrm>
          <a:prstGeom prst="rect">
            <a:avLst/>
          </a:prstGeom>
          <a:solidFill>
            <a:srgbClr val="0C1628"/>
          </a:solidFill>
          <a:ln w="12700">
            <a:noFill/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9410" y="4608830"/>
            <a:ext cx="4835525" cy="1495425"/>
          </a:xfrm>
          <a:prstGeom prst="rect">
            <a:avLst/>
          </a:prstGeom>
          <a:solidFill>
            <a:srgbClr val="0C1628"/>
          </a:solidFill>
          <a:ln w="12700">
            <a:noFill/>
            <a:prstDash val="solid"/>
          </a:ln>
        </p:spPr>
        <p:txBody>
          <a:bodyPr/>
          <a:p>
            <a:endParaRPr lang="es-ES" altLang="en-US"/>
          </a:p>
        </p:txBody>
      </p:sp>
      <p:sp>
        <p:nvSpPr>
          <p:cNvPr id="11" name="Shape 6"/>
          <p:cNvSpPr/>
          <p:nvPr/>
        </p:nvSpPr>
        <p:spPr>
          <a:xfrm>
            <a:off x="6488430" y="4608830"/>
            <a:ext cx="4835525" cy="1495425"/>
          </a:xfrm>
          <a:prstGeom prst="rect">
            <a:avLst/>
          </a:prstGeom>
          <a:solidFill>
            <a:srgbClr val="0C1628"/>
          </a:solidFill>
          <a:ln w="12700">
            <a:noFill/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6488430" y="1933575"/>
            <a:ext cx="4835525" cy="1495425"/>
          </a:xfrm>
          <a:prstGeom prst="rect">
            <a:avLst/>
          </a:prstGeom>
          <a:solidFill>
            <a:srgbClr val="0C1628"/>
          </a:solidFill>
          <a:ln w="12700">
            <a:noFill/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565150" y="140081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Carrito de compra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12915" y="1401445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Subtotal del carrito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12915" y="40944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Lista de roles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5150" y="40944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Validar stock</a:t>
            </a:r>
            <a:endParaRPr lang="en-US" sz="2000" dirty="0"/>
          </a:p>
        </p:txBody>
      </p:sp>
      <p:sp>
        <p:nvSpPr>
          <p:cNvPr id="15" name="Text 7"/>
          <p:cNvSpPr/>
          <p:nvPr/>
        </p:nvSpPr>
        <p:spPr>
          <a:xfrm>
            <a:off x="359410" y="2056765"/>
            <a:ext cx="483489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_carrito.Where(i =&gt; i.Producto.IdProducto == 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.FirstOrDefault()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00952" y="2056130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_carrito.Sum(i =&gt; i.Subtotal)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03187" y="4722495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roles.FirstOrDefault(r =&gt;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r.IdRol == usuario.IdRol)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9410" y="4722495"/>
            <a:ext cx="46609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prods.Where(p =&gt; p.Stock &lt;= p.StockMinimo)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.OrderBy(p =&gt; p.Stock)</a:t>
            </a:r>
            <a:endParaRPr lang="en-US" sz="1400" dirty="0"/>
          </a:p>
        </p:txBody>
      </p:sp>
      <p:sp>
        <p:nvSpPr>
          <p:cNvPr id="17" name="Text 8"/>
          <p:cNvSpPr/>
          <p:nvPr/>
        </p:nvSpPr>
        <p:spPr>
          <a:xfrm>
            <a:off x="411480" y="2795016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Busca un item específico en el carrito</a:t>
            </a:r>
            <a:endParaRPr lang="en-US" i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703060" y="2692146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Calcula el total de todos los ítems</a:t>
            </a:r>
            <a:endParaRPr lang="en-US" i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3060" y="5479796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Obtiene el rol del usuario actual</a:t>
            </a:r>
            <a:endParaRPr lang="en-US" i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5462651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Filtra productos con stock bajo</a:t>
            </a:r>
            <a:endParaRPr lang="en-US" i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635" y="635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45745"/>
            <a:ext cx="994283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REPORTES Y EXPORTACIÓN — Excel / Word</a:t>
            </a:r>
            <a:endParaRPr lang="en-US" sz="3200" dirty="0"/>
          </a:p>
          <a:p>
            <a:pPr marL="0" indent="0">
              <a:buNone/>
            </a:pPr>
            <a:endParaRPr lang="es-E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1680" y="3840480"/>
            <a:ext cx="2427605" cy="8509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Shape 32"/>
          <p:cNvSpPr/>
          <p:nvPr/>
        </p:nvSpPr>
        <p:spPr>
          <a:xfrm>
            <a:off x="741680" y="5540375"/>
            <a:ext cx="2427605" cy="8509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8130" y="5540375"/>
            <a:ext cx="2313305" cy="8509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Shape 38"/>
          <p:cNvSpPr/>
          <p:nvPr/>
        </p:nvSpPr>
        <p:spPr>
          <a:xfrm>
            <a:off x="3742055" y="5540375"/>
            <a:ext cx="2313305" cy="8509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Shape 26"/>
          <p:cNvSpPr/>
          <p:nvPr/>
        </p:nvSpPr>
        <p:spPr>
          <a:xfrm>
            <a:off x="3742055" y="3840480"/>
            <a:ext cx="2313305" cy="851535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28130" y="3840480"/>
            <a:ext cx="2313305" cy="851535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14205" y="3840480"/>
            <a:ext cx="2227580" cy="851535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14840" y="5541010"/>
            <a:ext cx="2226310" cy="850265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0" name="Shape 3"/>
          <p:cNvSpPr/>
          <p:nvPr/>
        </p:nvSpPr>
        <p:spPr>
          <a:xfrm>
            <a:off x="949325" y="1163320"/>
            <a:ext cx="2011680" cy="1828165"/>
          </a:xfrm>
          <a:prstGeom prst="rect">
            <a:avLst/>
          </a:prstGeom>
          <a:solidFill>
            <a:srgbClr val="F5F7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32" name="Shape 3"/>
          <p:cNvSpPr/>
          <p:nvPr/>
        </p:nvSpPr>
        <p:spPr>
          <a:xfrm>
            <a:off x="3742055" y="1163320"/>
            <a:ext cx="201168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"/>
          <p:cNvSpPr/>
          <p:nvPr/>
        </p:nvSpPr>
        <p:spPr>
          <a:xfrm>
            <a:off x="6628130" y="1163955"/>
            <a:ext cx="2011680" cy="1828165"/>
          </a:xfrm>
          <a:prstGeom prst="rect">
            <a:avLst/>
          </a:prstGeom>
          <a:solidFill>
            <a:srgbClr val="F5F7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"/>
          <p:cNvSpPr/>
          <p:nvPr/>
        </p:nvSpPr>
        <p:spPr>
          <a:xfrm>
            <a:off x="9514205" y="1163955"/>
            <a:ext cx="2011680" cy="182753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4"/>
          <p:cNvSpPr/>
          <p:nvPr/>
        </p:nvSpPr>
        <p:spPr>
          <a:xfrm>
            <a:off x="949325" y="1433195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📅</a:t>
            </a:r>
            <a:endParaRPr lang="en-US" sz="4000" dirty="0"/>
          </a:p>
        </p:txBody>
      </p:sp>
      <p:sp>
        <p:nvSpPr>
          <p:cNvPr id="37" name="Text 8"/>
          <p:cNvSpPr/>
          <p:nvPr/>
        </p:nvSpPr>
        <p:spPr>
          <a:xfrm>
            <a:off x="3742182" y="1433195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📆</a:t>
            </a:r>
            <a:endParaRPr lang="en-US" sz="3600" dirty="0">
              <a:solidFill>
                <a:srgbClr val="0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6628384" y="1433195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🏆</a:t>
            </a:r>
            <a:endParaRPr lang="en-US" sz="3600" dirty="0">
              <a:solidFill>
                <a:srgbClr val="0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9513951" y="1433195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💰</a:t>
            </a:r>
            <a:endParaRPr lang="en-US" sz="3200" dirty="0">
              <a:solidFill>
                <a:srgbClr val="0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741680" y="3256280"/>
            <a:ext cx="2827655" cy="3460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Flujo de exportación:</a:t>
            </a:r>
            <a:endParaRPr lang="en-US" sz="20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741680" y="4968240"/>
            <a:ext cx="2827655" cy="3460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Word (OpenXML):</a:t>
            </a:r>
            <a:endParaRPr lang="en-US" sz="20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5" name="Text 5"/>
          <p:cNvSpPr/>
          <p:nvPr/>
        </p:nvSpPr>
        <p:spPr>
          <a:xfrm>
            <a:off x="949325" y="2146935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Ventas por Fecha</a:t>
            </a:r>
            <a:endParaRPr lang="en-US" sz="1600" dirty="0"/>
          </a:p>
        </p:txBody>
      </p:sp>
      <p:sp>
        <p:nvSpPr>
          <p:cNvPr id="46" name="Text 9"/>
          <p:cNvSpPr/>
          <p:nvPr/>
        </p:nvSpPr>
        <p:spPr>
          <a:xfrm>
            <a:off x="3788537" y="2146935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Ventas del Día</a:t>
            </a:r>
            <a:endParaRPr lang="en-US" sz="1600" dirty="0"/>
          </a:p>
        </p:txBody>
      </p:sp>
      <p:sp>
        <p:nvSpPr>
          <p:cNvPr id="47" name="Text 13"/>
          <p:cNvSpPr/>
          <p:nvPr/>
        </p:nvSpPr>
        <p:spPr>
          <a:xfrm>
            <a:off x="6627749" y="2146935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Más Vendidos</a:t>
            </a:r>
            <a:endParaRPr lang="en-US" dirty="0"/>
          </a:p>
        </p:txBody>
      </p:sp>
      <p:sp>
        <p:nvSpPr>
          <p:cNvPr id="48" name="Text 17"/>
          <p:cNvSpPr/>
          <p:nvPr/>
        </p:nvSpPr>
        <p:spPr>
          <a:xfrm>
            <a:off x="9466326" y="2146935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Ganancias del Día</a:t>
            </a:r>
            <a:endParaRPr lang="en-US" sz="1600" dirty="0"/>
          </a:p>
        </p:txBody>
      </p:sp>
      <p:sp>
        <p:nvSpPr>
          <p:cNvPr id="49" name="Text 6"/>
          <p:cNvSpPr/>
          <p:nvPr/>
        </p:nvSpPr>
        <p:spPr>
          <a:xfrm>
            <a:off x="949325" y="245110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34A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sp_VentasPorFecha</a:t>
            </a:r>
            <a:endParaRPr lang="en-US" sz="1000" dirty="0"/>
          </a:p>
        </p:txBody>
      </p:sp>
      <p:sp>
        <p:nvSpPr>
          <p:cNvPr id="50" name="Text 10"/>
          <p:cNvSpPr/>
          <p:nvPr/>
        </p:nvSpPr>
        <p:spPr>
          <a:xfrm>
            <a:off x="3788537" y="24663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34A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sp_VentasDelDia</a:t>
            </a:r>
            <a:endParaRPr lang="en-US" sz="1200" dirty="0"/>
          </a:p>
        </p:txBody>
      </p:sp>
      <p:sp>
        <p:nvSpPr>
          <p:cNvPr id="51" name="Text 14"/>
          <p:cNvSpPr/>
          <p:nvPr/>
        </p:nvSpPr>
        <p:spPr>
          <a:xfrm>
            <a:off x="6651879" y="2466975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34A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sp_ProductosMasVendidos</a:t>
            </a:r>
            <a:endParaRPr lang="en-US" sz="1000" dirty="0"/>
          </a:p>
        </p:txBody>
      </p:sp>
      <p:sp>
        <p:nvSpPr>
          <p:cNvPr id="52" name="Text 18"/>
          <p:cNvSpPr/>
          <p:nvPr/>
        </p:nvSpPr>
        <p:spPr>
          <a:xfrm>
            <a:off x="9514586" y="2466975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34A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sp_GananciaDia</a:t>
            </a:r>
            <a:endParaRPr lang="en-US" sz="1200" dirty="0"/>
          </a:p>
        </p:txBody>
      </p:sp>
      <p:sp>
        <p:nvSpPr>
          <p:cNvPr id="54" name="Cuadro de texto 53"/>
          <p:cNvSpPr txBox="1"/>
          <p:nvPr/>
        </p:nvSpPr>
        <p:spPr>
          <a:xfrm>
            <a:off x="1061085" y="4044315"/>
            <a:ext cx="10111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s-ES" altLang="en-US"/>
          </a:p>
        </p:txBody>
      </p:sp>
      <p:sp>
        <p:nvSpPr>
          <p:cNvPr id="55" name="Cuadro de texto 54"/>
          <p:cNvSpPr txBox="1"/>
          <p:nvPr/>
        </p:nvSpPr>
        <p:spPr>
          <a:xfrm>
            <a:off x="1169035" y="4041775"/>
            <a:ext cx="10755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1400">
                <a:solidFill>
                  <a:schemeClr val="bg1"/>
                </a:solidFill>
              </a:rPr>
              <a:t>DataTable resultado</a:t>
            </a:r>
            <a:r>
              <a:rPr lang="es-ES" altLang="en-US" sz="1400">
                <a:solidFill>
                  <a:schemeClr val="bg1"/>
                </a:solidFill>
              </a:rPr>
              <a:t>                           </a:t>
            </a:r>
            <a:r>
              <a:rPr lang="en-US" altLang="es-ES" sz="1400">
                <a:solidFill>
                  <a:schemeClr val="bg1"/>
                </a:solidFill>
              </a:rPr>
              <a:t>SpreadsheetDocument.Create()</a:t>
            </a:r>
            <a:r>
              <a:rPr lang="es-ES" altLang="en-US" sz="1400">
                <a:solidFill>
                  <a:schemeClr val="bg1"/>
                </a:solidFill>
              </a:rPr>
              <a:t>                      </a:t>
            </a:r>
            <a:r>
              <a:rPr lang="en-US" altLang="es-ES" sz="1400">
                <a:solidFill>
                  <a:schemeClr val="bg1"/>
                </a:solidFill>
              </a:rPr>
              <a:t>SheetData + CellValues</a:t>
            </a:r>
            <a:r>
              <a:rPr lang="es-ES" altLang="en-US" sz="1400">
                <a:solidFill>
                  <a:schemeClr val="bg1"/>
                </a:solidFill>
              </a:rPr>
              <a:t>                                    </a:t>
            </a:r>
            <a:r>
              <a:rPr lang="en-US" altLang="es-ES" sz="1400">
                <a:solidFill>
                  <a:schemeClr val="bg1"/>
                </a:solidFill>
              </a:rPr>
              <a:t>.xlsx en Escritorio</a:t>
            </a:r>
            <a:endParaRPr lang="en-US" altLang="es-ES" sz="1400">
              <a:solidFill>
                <a:schemeClr val="bg1"/>
              </a:solidFill>
            </a:endParaRPr>
          </a:p>
        </p:txBody>
      </p:sp>
      <p:sp>
        <p:nvSpPr>
          <p:cNvPr id="56" name="Cuadro de texto 55"/>
          <p:cNvSpPr txBox="1"/>
          <p:nvPr/>
        </p:nvSpPr>
        <p:spPr>
          <a:xfrm>
            <a:off x="1061085" y="5807075"/>
            <a:ext cx="10755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1400">
                <a:solidFill>
                  <a:schemeClr val="bg1"/>
                </a:solidFill>
              </a:rPr>
              <a:t>DataTable resultado</a:t>
            </a:r>
            <a:r>
              <a:rPr lang="es-ES" altLang="en-US" sz="1400">
                <a:solidFill>
                  <a:schemeClr val="bg1"/>
                </a:solidFill>
              </a:rPr>
              <a:t>                           </a:t>
            </a:r>
            <a:r>
              <a:rPr lang="es-ES" altLang="en-US" sz="1200">
                <a:solidFill>
                  <a:schemeClr val="bg1"/>
                </a:solidFill>
              </a:rPr>
              <a:t>   </a:t>
            </a:r>
            <a:r>
              <a:rPr lang="en-US" altLang="es-ES" sz="1200">
                <a:solidFill>
                  <a:schemeClr val="bg1"/>
                </a:solidFill>
              </a:rPr>
              <a:t>WordprocessingDocument.Create()</a:t>
            </a:r>
            <a:r>
              <a:rPr lang="es-ES" altLang="en-US" sz="1400">
                <a:solidFill>
                  <a:schemeClr val="bg1"/>
                </a:solidFill>
              </a:rPr>
              <a:t>                             </a:t>
            </a:r>
            <a:r>
              <a:rPr lang="en-US" altLang="es-ES" sz="1400">
                <a:solidFill>
                  <a:schemeClr val="bg1"/>
                </a:solidFill>
              </a:rPr>
              <a:t>Table + TableCell</a:t>
            </a:r>
            <a:r>
              <a:rPr lang="es-ES" altLang="en-US" sz="1400">
                <a:solidFill>
                  <a:schemeClr val="bg1"/>
                </a:solidFill>
              </a:rPr>
              <a:t>                                             </a:t>
            </a:r>
            <a:r>
              <a:rPr lang="en-US" altLang="es-ES" sz="1400">
                <a:solidFill>
                  <a:schemeClr val="bg1"/>
                </a:solidFill>
              </a:rPr>
              <a:t>docx en Escritorio</a:t>
            </a:r>
            <a:endParaRPr lang="en-US" altLang="es-E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257175" y="245745"/>
            <a:ext cx="994283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s-ES" alt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BASE DE DATOS - </a:t>
            </a:r>
            <a:r>
              <a:rPr lang="en-US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TechSolutionsDB</a:t>
            </a:r>
            <a:endParaRPr lang="en-US" sz="2800" dirty="0"/>
          </a:p>
          <a:p>
            <a:pPr marL="0" indent="0">
              <a:buNone/>
            </a:pPr>
            <a:endParaRPr lang="es-ES" altLang="en-US" sz="28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978535"/>
            <a:ext cx="1157605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3" name="Imagen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165" y="149860"/>
            <a:ext cx="11624945" cy="65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1268692186" name="Imagen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035" y="116205"/>
            <a:ext cx="11377295" cy="6402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916338590" name="Imagen 1"/>
          <p:cNvPicPr>
            <a:picLocks noChangeAspect="1"/>
          </p:cNvPicPr>
          <p:nvPr/>
        </p:nvPicPr>
        <p:blipFill>
          <a:blip r:embed="rId2"/>
          <a:srcRect l="1368" r="1374" b="11024"/>
          <a:stretch>
            <a:fillRect/>
          </a:stretch>
        </p:blipFill>
        <p:spPr>
          <a:xfrm>
            <a:off x="485140" y="300355"/>
            <a:ext cx="11185525" cy="5760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613528759" name="Imagen 1"/>
          <p:cNvPicPr>
            <a:picLocks noChangeAspect="1"/>
          </p:cNvPicPr>
          <p:nvPr/>
        </p:nvPicPr>
        <p:blipFill>
          <a:blip r:embed="rId2"/>
          <a:srcRect l="2324" b="14447"/>
          <a:stretch>
            <a:fillRect/>
          </a:stretch>
        </p:blipFill>
        <p:spPr>
          <a:xfrm>
            <a:off x="421005" y="309880"/>
            <a:ext cx="11512550" cy="60731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890" y="290830"/>
            <a:ext cx="7190740" cy="5756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" y="279400"/>
            <a:ext cx="10563225" cy="58185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07670"/>
            <a:ext cx="10934065" cy="6042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Marcador de posición de contenido 3" descr="empresarial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3910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233275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Cuadro de texto 6"/>
          <p:cNvSpPr txBox="1"/>
          <p:nvPr/>
        </p:nvSpPr>
        <p:spPr>
          <a:xfrm>
            <a:off x="359410" y="245745"/>
            <a:ext cx="9942830" cy="70929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HILOS Y TEMPORIZADORES</a:t>
            </a:r>
            <a:endParaRPr lang="en-US" sz="3200" dirty="0"/>
          </a:p>
          <a:p>
            <a:pPr marL="0" indent="0">
              <a:buNone/>
            </a:pPr>
            <a:endParaRPr lang="es-ES" alt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9410" y="1246505"/>
            <a:ext cx="10674350" cy="1506220"/>
          </a:xfrm>
          <a:prstGeom prst="rect">
            <a:avLst/>
          </a:prstGeom>
          <a:solidFill>
            <a:srgbClr val="0C1628"/>
          </a:solidFill>
          <a:ln w="12700">
            <a:solidFill>
              <a:srgbClr val="234070"/>
            </a:solidFill>
            <a:prstDash val="solid"/>
          </a:ln>
        </p:spPr>
      </p:sp>
      <p:sp>
        <p:nvSpPr>
          <p:cNvPr id="2" name="Shape 7"/>
          <p:cNvSpPr/>
          <p:nvPr/>
        </p:nvSpPr>
        <p:spPr>
          <a:xfrm>
            <a:off x="359410" y="3044190"/>
            <a:ext cx="10674350" cy="1506220"/>
          </a:xfrm>
          <a:prstGeom prst="rect">
            <a:avLst/>
          </a:prstGeom>
          <a:solidFill>
            <a:srgbClr val="0C1628"/>
          </a:solidFill>
          <a:ln w="12700">
            <a:solidFill>
              <a:srgbClr val="234070"/>
            </a:solidFill>
            <a:prstDash val="solid"/>
          </a:ln>
        </p:spPr>
      </p:sp>
      <p:sp>
        <p:nvSpPr>
          <p:cNvPr id="3" name="Shape 7"/>
          <p:cNvSpPr/>
          <p:nvPr/>
        </p:nvSpPr>
        <p:spPr>
          <a:xfrm>
            <a:off x="359410" y="4841875"/>
            <a:ext cx="10674350" cy="1506220"/>
          </a:xfrm>
          <a:prstGeom prst="rect">
            <a:avLst/>
          </a:prstGeom>
          <a:solidFill>
            <a:srgbClr val="0C1628"/>
          </a:solidFill>
          <a:ln w="12700">
            <a:solidFill>
              <a:srgbClr val="2340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8775" y="1247140"/>
            <a:ext cx="5104765" cy="1506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359410" y="3044190"/>
            <a:ext cx="5104765" cy="1506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3"/>
          <p:cNvSpPr/>
          <p:nvPr/>
        </p:nvSpPr>
        <p:spPr>
          <a:xfrm>
            <a:off x="358775" y="4841240"/>
            <a:ext cx="5104765" cy="1506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502920" y="1447165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Task.Run() / async-await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3292475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System.Windows.Forms.Timer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018405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Singleton Thread-Safe</a:t>
            </a:r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502920" y="1781048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ProcesarVentaAsync() ejecuta la transacción SQL en un hilo de fondo sin bloquear la UI. El resultado se retorna al hilo principal.</a:t>
            </a:r>
            <a:endParaRPr lang="en-US" sz="1400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3566668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FrmPrincipal usa un Timer con Interval=1000ms para actualizar el reloj en la barra de estado en tiempo real.</a:t>
            </a:r>
            <a:endParaRPr lang="en-US" sz="1400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9440" y="5352288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ConexionDB usa lock(_lock) para garantizar que solo un hilo cree la instancia en escenarios concurrentes.</a:t>
            </a:r>
            <a:endParaRPr lang="en-US" sz="1400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815330" y="1542415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r = await _blV.ProcesarVentaAsync(idCli);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btnCobrar.Text = r.Exito ? "OK" : "Error";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53405" y="3297555"/>
            <a:ext cx="5212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timerReloj = new Timer { Interval = 1000 };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timerReloj.Tick += (s,e) =&gt;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lblHora.Text = DateTime.Now.ToString("HH:mm:ss");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27725" y="5137785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(_inst == null)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lock (_lock)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(_inst == null)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_inst = new ConexionDB();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4618</Words>
  <Application>WPS Presentation</Application>
  <PresentationFormat>宽屏</PresentationFormat>
  <Paragraphs>289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SimSun</vt:lpstr>
      <vt:lpstr>Wingdings</vt:lpstr>
      <vt:lpstr>Calibri Light</vt:lpstr>
      <vt:lpstr>Arial Black</vt:lpstr>
      <vt:lpstr>Arial Black</vt:lpstr>
      <vt:lpstr>Arial Black</vt:lpstr>
      <vt:lpstr>Bahnschrift</vt:lpstr>
      <vt:lpstr>Arial</vt:lpstr>
      <vt:lpstr>Arial</vt:lpstr>
      <vt:lpstr>Calibri</vt:lpstr>
      <vt:lpstr>Calibri</vt:lpstr>
      <vt:lpstr>Calibri</vt:lpstr>
      <vt:lpstr>Microsoft YaHei</vt:lpstr>
      <vt:lpstr>Consolas</vt:lpstr>
      <vt:lpstr>Consolas</vt:lpstr>
      <vt:lpstr>Consolas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Usuario</dc:creator>
  <cp:lastModifiedBy>Marco Alvarado</cp:lastModifiedBy>
  <cp:revision>6</cp:revision>
  <dcterms:created xsi:type="dcterms:W3CDTF">2025-07-23T00:59:00Z</dcterms:created>
  <dcterms:modified xsi:type="dcterms:W3CDTF">2026-05-07T04:32:31Z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3082-12.1.0.25862</vt:lpwstr>
  </property>
  <property fmtid="{D5CDD505-2E9C-101B-9397-08002B2CF9AE}" pid="3" name="ICV">
    <vt:lpwstr>28D3E7B65EF24F9F87E247D5A85ABC1A_13</vt:lpwstr>
  </property>
</Properties>
</file>