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9" r:id="rId9"/>
    <p:sldId id="263" r:id="rId10"/>
    <p:sldId id="264" r:id="rId11"/>
    <p:sldId id="265" r:id="rId12"/>
    <p:sldId id="266" r:id="rId13"/>
    <p:sldId id="267" r:id="rId14"/>
    <p:sldId id="268"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5635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 LO QUE DICES AL EMPEZAR:
"Buenos días / tardes. Hoy les voy a presentar el análisis y diseño del Sistema de Gestión Académica para la Universidad SENATI.
El objetivo del proyecto es solucionar los problemas actuales del proceso de inscripción académica mediante un sistema web integrado que conecta matrícula, pagos y gestión académica en una sola plataforma.
Vamos a ver: la problemática actual, los requisitos del sistema, los diagramas UML, la arquitectura propuesta y el prototipo funcional."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PROBLEMÁTICA (hablar ~2 min):
"SENATI tiene 4,000 estudiantes y trabaja con 3 sistemas separados: uno para matrícula, otro para pagos y otro para notas. Esta falta de integración genera 6 problemas críticos:
P1: Los alumnos pueden inscribirse en cursos sin haber aprobado los prerrequisitos, lo que provoca que reprueben materias para las que no estaban listos.
P2: No hay control de cupo en tiempo real, así que los cursos se llenan de más y muchos alumnos quedan en lista de espera sin saberlo.
P3: El sistema no detecta conflictos de horario, entonces un alumno puede estar inscrito en dos cursos que se dan al mismo tiempo.
P4: Para validar si un alumno pagó, alguien tiene que revisar manualmente el sistema financiero. Eso tarda días y retrasa todas las matrículas.
P5: El sistema académico y el financiero no se hablan entre sí, lo que obliga a hacer todo por duplicado.
P6: Los docentes no tienen ningún portal digital para registrar notas ni asistencias. Lo hacen todo en papel o en Excel.
Todos estos problemas son los que el sistema que vamos a presentar hoy viene a resolver."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REQUISITOS FUNCIONALES (hablar ~2 min):
"Los requisitos funcionales definen todo lo que el sistema TIENE que hacer. Tenemos 6 requisitos:
RF1 - Autenticación por roles: Cuando alguien entra, se identifica y el sistema le muestra solo su área. Un alumno nunca puede ver el panel del administrador.
RF2 - Matrícula con 4 validaciones: Este es el corazón del sistema. Antes de confirmar cualquier inscripción, el sistema hace 4 verificaciones automáticas en orden: primero comprueba que el alumno tenga los prerrequisitos aprobados; si pasa, verifica que no tenga conflicto de horario con otros cursos; si pasa, valida con el sistema financiero que el pago fue realizado; y finalmente comprueba que haya cupo disponible. Solo si las 4 verificaciones pasan, la matrícula se confirma.
RF3 - Pagos automáticos: En lugar de revisar manualmente si alguien pagó, el sistema se conecta directo al sistema financiero y lo verifica en tiempo real.
RF4 - Portal del docente: Los profesores tienen su propio espacio para registrar notas y asistencia. Hoy no tienen nada digital.
RF5 - Consultas del estudiante: El alumno puede ver su horario, sus notas y su historial desde su portal personal.
RF6 - Administración: El administrador gestiona cursos, asigna docentes y genera reportes."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REQUISITOS NO FUNCIONALES (hablar ~1.5 min):
"Los requisitos no funcionales definen la CALIDAD del sistema, no lo que hace sino cómo lo hace.
Rendimiento: el sistema soporta 4,000 usuarios conectados al mismo tiempo. Esto es crítico en época de matrículas cuando todos los alumnos entran a la vez.
Velocidad: ninguna operación puede tardar más de 2 segundos. Esto está definido como requisito para garantizar una buena experiencia de usuario.
Disponibilidad: durante el periodo de inscripciones el sistema no puede caerse. Cero tolerancia a caídas.
Seguridad: las contraseñas se guardan cifradas con hash, nunca en texto plano. Toda comunicación viaja por HTTPS encriptado.
Control de acceso: cada rol tiene permisos específicos. Un estudiante no puede ver las notas de otro compañero ni acceder al panel administrativo.
Respaldo automático: cada día se hace una copia de seguridad de toda la base de datos.
Usabilidad: el sistema debe ser tan intuitivo que cualquier alumno pueda matricularse sin que nadie le explique cómo.
Escalabilidad: si SENATI crece, el sistema puede crecer con ella sin reconstruirse."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DIAGRAMA DE CASOS DE USO (hablar ~1.5 min):
"Este es el Diagrama de Casos de Uso. Es el primer diagrama UML que se hace en cualquier proyecto porque muestra QUÉ puede hacer el sistema y QUIÉN lo usa.
Tenemos 3 actores: el Estudiante, el Docente y el Administrador. Cada uno tiene sus propios casos de uso, es decir, sus propias funciones dentro del sistema.
El Estudiante puede: iniciar sesión, matricularse en cursos, consultar su horario y consultar sus notas.
El Docente puede: iniciar sesión, registrar notas, registrar asistencia y ver la lista de alumnos de sus cursos.
El Administrador puede: gestionar cursos, gestionar docentes y generar reportes académicos.
Dentro del proceso de matrícula hay 4 casos de uso incluidos con la relación «include» que se ejecutan automáticamente: validar el pago, verificar los prerrequisitos, verificar el cupo y verificar que no haya conflicto de horario.
La relación «include» significa que cuando el alumno se matricula, el sistema SIEMPRE ejecuta esas 4 validaciones. No son opcionales."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DIAGRAMA DE CLASES (hablar ~1.5 min):
"El Diagrama de Clases define la estructura estática del sistema. Muestra las 6 entidades principales del sistema y cómo se relacionan entre sí.
La clase Estudiante tiene atributos como id, nombre, carrera y ciclo, y métodos como matricularCurso() y consultarNotas().
La clase Matrícula es la más importante porque conecta al estudiante con el curso. Tiene un atributo de estado que puede ser: borrador, pendiente, válida o registrada. Sus métodos incluyen validarPrerrequisitos() y registrarMatricula().
La clase Curso tiene el control del cupo con los atributos cupoMáximo e inscritos, y el método verificarCupo() que compara ambos.
La clase Profesor tiene los métodos registrarNota() y registrarAsistencia().
La clase Pago tiene el método validarPago() que se conecta con el sistema financiero externo.
En cuanto a las relaciones: un Estudiante puede tener muchas Matrículas (1 a n). Una Matrícula corresponde a un solo Curso (1 a 1). Un Profesor puede dictar muchos Cursos (1 a n). Una Matrícula tiene un Pago asociado. Y un Curso puede generar muchas Notas.
Estas relaciones se convierten en claves foráneas en la base de datos."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DIAGRAMA DE ACTIVIDADES: MATRÍCULA (hablar ~2 min):
"Este es el diagrama más importante del proyecto porque muestra exactamente cómo funciona el proceso de matrícula paso a paso, incluyendo todos los puntos de decisión.
El flujo comienza cuando el estudiante inicia sesión. Luego selecciona el curso que quiere cursar.
En ese momento el sistema hace las verificaciones en orden:
Paso 3 - Verifica prerrequisitos: si el alumno no tiene los cursos previos aprobados, el sistema muestra un mensaje de error y el proceso termina ahí.
Paso 4 - Verifica conflicto de horario: si el curso se superpone con otro en el que ya está inscrito, el sistema muestra un error de horario.
Paso 5 - Valida el pago: se conecta con el sistema financiero. Si el pago no está confirmado, la matrícula se cancela.
Paso 6 - Verifica el cupo: si el curso ya está lleno, informa que no hay lugares disponibles.
Paso 7 - Si todas las verificaciones pasan, el sistema registra la matrícula y muestra la confirmación.
Este diagrama demuestra la coherencia con los requisitos: cada validación que definimos en los requisitos funcionales aparece aquí como un punto de decisión en el flujo."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DIAGRAMAS DE ACTIVIDADES Y ESTADOS (hablar ~1.5 min):
"En esta lámina tenemos tres diagramas:
El primero es el Diagrama de Actividades del registro de notas: el docente inicia sesión, selecciona su curso, ve la lista de alumnos, ingresa la nota de cada uno. El sistema valida que la nota sea un valor numérico válido (entre 0 y 20). Si la nota es válida, la guarda y muestra confirmación. Si no es válida, muestra un error y el docente vuelve a ingresar.
El segundo es el Diagrama de Actividades del registro de asistencia: proceso similar pero más simple. El docente selecciona el curso, marca alumno por alumno si asistió o no, y guarda. El sistema muestra la confirmación.
El tercero es la Máquina de Estados de la matrícula: este diagrama muestra todos los estados por los que puede pasar una matrícula durante su ciclo de vida.
- Comienza en estado Borrador cuando el alumno inicia el proceso.
- Pasa a Pendiente de Pago cuando confirma la inscripción.
- Si el pago es válido pasa a Pago Válido. Si es rechazado, puede reintentar.
- Cuando el sistema registra la matrícula pasa a Matrícula Registrada.
- Al inicio del periodo académico pasa a Curso Activo.
- Y al finalizar el periodo pasa a Curso Finalizado.
Este diagrama es importante porque muestra que pensamos en todos los escenarios posibles, no solo el camino exitoso."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ARQUITECTURA: COMPONENTES Y DESPLIEGUE (hablar ~2 min):
"Ahora vamos a la arquitectura del sistema. En esta lámina tenemos dos diagramas:
El Diagrama de Componentes muestra los módulos de software y cómo se relacionan entre sí:
- El componente Portal Web es la interfaz que ven los usuarios, con tres sub-portales: estudiantil, docente y administrador.
- El componente Backend o Lógica Académica es el cerebro del sistema. Contiene dos sub-componentes: el Módulo de Matrícula y el Módulo de Notas.
- El componente Base de Datos Académica almacena toda la información del sistema.
- El componente Sistema de Pagos es externo: es la pasarela de pagos con la que se conecta el backend para validar transacciones.
El Diagrama de Despliegue muestra cómo se distribuye el sistema en servidores físicos o virtuales:
- El Cliente accede desde su navegador web.
- El Servidor Web aloja los tres portales (estudiantil, docente y administrador).
- El Servidor de Aplicación ejecuta la lógica del sistema con los módulos de matrícula, notas y usuarios.
- El Servidor de Base de Datos almacena la información académica centralizada.
- El Servidor de Pagos es externo y se conecta mediante una API de pasarela de pagos.
Esta arquitectura garantiza la separación de responsabilidades y permite escalar cada componente de forma independiente."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PROPUESTA DE SOLUCIÓN (hablar ~1.5 min):
"La propuesta de solución es un sistema web con tres portales diferenciados según el tipo de usuario.
Los tres portales de arriba son lo que ven los usuarios: el Portal Estudiantil donde el alumno gestiona su matrícula y consulta sus notas; el Portal Docente donde el profesor registra notas y asistencia; y el Portal Administrador donde se gestiona todo lo académico.
Los tres portales se comunican con el Backend, que es el cerebro del sistema. El backend tiene tres módulos: uno de matrícula con todas las validaciones, uno de notas y asistencia, y uno de gestión de usuarios.
El backend se conecta a dos recursos fundamentales:
- La Base de Datos Central: donde está TODA la información académica en un solo lugar. Antes había 3 sistemas separados; ahora hay uno solo con respaldo automático diario.
- El Sistema de Pagos Externo: una API que el sistema llama para validar en tiempo real si el pago fue realizado.
Esta arquitectura resuelve el problema principal de SENATI: la falta de integración. Todo está conectado y centralizado."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DISEÑO ORIENTADO A OBJETOS (hablar ~1.5 min):
"El diseño orientado a objetos es el puente entre el diagrama UML y el código real. Muestra cómo se traduce cada elemento del diagrama.
La traducción es directa:
- Cada clase del diagrama se convierte en una clase Java.
- Cada atributo del diagrama se convierte en una variable de instancia de esa clase.
- Cada método del diagrama se implementa con su lógica real.
- Las relaciones 1 a n se representan como listas en el código: por ejemplo, un Estudiante tiene una Lista de Matrículas.
- Esas mismas relaciones se convierten en claves foráneas en la base de datos.
Viendo el código:
- La clase Estudiante tiene el método matricularCurso() que internamente llama a las 4 validaciones antes de confirmar.
- La clase Matrícula tiene el atributo estado como texto controlado que solo puede tener valores específicos: borrador, válida o registrada. Esto corresponde exactamente con el diagrama de estados que vimos antes. También tiene registrarMatricula() que cambia el estado a registrada.
- La clase Pago tiene el método validarPago() que llama al sistema externo y retorna verdadero solo si el estado es 'aprobado'.
Esta coherencia entre el diagrama y el código es lo que demuestra la correcta aplicación del diseño orientado a objetos."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PROTOTIPO FUNCIONAL (hablar ~1.5 min):
"El prototipo que ven en la imagen es la interfaz del Portal Estudiantil. Muestra cómo se vería el sistema en el navegador.
El prototipo tiene 5 elementos principales:
1. El Dashboard: cuando el alumno entra, ve inmediatamente su resumen académico: cuántos cursos tiene este ciclo, cuántos créditos lleva en total, su promedio actual y su porcentaje de asistencia. Esto le da información clave sin tener que buscarla.
2. El proceso de matrícula en 3 pasos: el alumno selecciona la facultad, el ciclo y el curso en el primer paso. En el segundo paso el sistema verifica todo automáticamente. En el tercer paso solo confirma. Todo en una sola pantalla sin redireccionamientos.
3. Las validaciones visuales: mientras el alumno selecciona el curso, el sistema muestra en verde las condiciones que cumple y en amarillo las que tienen algo pendiente. En el ejemplo del prototipo se ve que prerrequisitos, cupo y horario están en verde, pero el pago está en amarillo porque está pendiente de validación. Esto es exactamente lo que definimos en los requisitos.
4. El calendario integrado: en el lado derecho hay un calendario mensual y debajo el horario del día con las clases, el aula y el nombre del docente de cada una.
5. La lista de cursos disponibles: abajo hay una tabla con los cursos del ciclo, cada uno con su docente, horario, créditos, cupo disponible y un botón para inscribirse directamente.
El diseño es limpio e intuitivo, cumpliendo el requisito no funcional de usabilidad: cualquier estudiante puede matricularse sin necesitar instrucciones previas."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CONCLUSIONES (hablar ~1.5 min):
"Para cerrar, resumimos los 5 puntos clave de este proyecto:
Primero: centralización total. SENATI tenía 3 sistemas separados que no se comunicaban. El nuevo sistema los unifica en una sola plataforma integrada.
Segundo: las 4 validaciones automáticas del módulo de matrícula resuelven directamente los 6 problemas que identificamos en el diagnóstico. Ya no hay inscripciones sin prerrequisitos, ni sobrecupo, ni conflictos de horario, ni retrasos por pagos manuales.
Tercero: hay coherencia total entre el análisis y el diseño. Los 6 diagramas UML son consistentes entre sí: las clases del diagrama de clases aparecen en los diagramas de actividades, los estados del diagrama de estados corresponden a los atributos de la clase Matrícula en el código, y los casos de uso del primer diagrama están implementados en la lógica del backend.
Cuarto: la arquitectura está diseñada para aguantar los 4,000 estudiantes de SENATI con tiempos de respuesta menores a 2 segundos, y puede crecer con la universidad sin tener que reconstruirse.
Quinto: el prototipo muestra una interfaz limpia e intuitiva que cumple el requisito de usabilidad definido desde el inicio.
¿Tienen alguna pregunta?
[Si preguntan algo que no sabes: 'Esa es una decisión que quedaría a cargo del equipo técnico de implementación, pero desde el diseño hemos previsto que...' y conecta con algo que sí sabes.]"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7.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0D7A6A"/>
          </a:solidFill>
          <a:ln w="12700">
            <a:solidFill>
              <a:srgbClr val="0D7A6A"/>
            </a:solidFill>
            <a:prstDash val="solid"/>
          </a:ln>
        </p:spPr>
        <p:txBody>
          <a:bodyPr/>
          <a:lstStyle/>
          <a:p>
            <a:endParaRPr lang="es-PE"/>
          </a:p>
        </p:txBody>
      </p:sp>
      <p:sp>
        <p:nvSpPr>
          <p:cNvPr id="3" name="Shape 1"/>
          <p:cNvSpPr/>
          <p:nvPr/>
        </p:nvSpPr>
        <p:spPr>
          <a:xfrm>
            <a:off x="7132320" y="0"/>
            <a:ext cx="2011680" cy="5143500"/>
          </a:xfrm>
          <a:prstGeom prst="rect">
            <a:avLst/>
          </a:prstGeom>
          <a:solidFill>
            <a:srgbClr val="00C896">
              <a:alpha val="75000"/>
            </a:srgbClr>
          </a:solidFill>
          <a:ln w="12700">
            <a:solidFill>
              <a:srgbClr val="00C896"/>
            </a:solidFill>
            <a:prstDash val="solid"/>
          </a:ln>
        </p:spPr>
        <p:txBody>
          <a:bodyPr/>
          <a:lstStyle/>
          <a:p>
            <a:endParaRPr lang="es-PE"/>
          </a:p>
        </p:txBody>
      </p:sp>
      <p:sp>
        <p:nvSpPr>
          <p:cNvPr id="4" name="Shape 2"/>
          <p:cNvSpPr/>
          <p:nvPr/>
        </p:nvSpPr>
        <p:spPr>
          <a:xfrm>
            <a:off x="7223760" y="640080"/>
            <a:ext cx="1737360" cy="1737360"/>
          </a:xfrm>
          <a:prstGeom prst="ellipse">
            <a:avLst/>
          </a:prstGeom>
          <a:solidFill>
            <a:srgbClr val="0F1923"/>
          </a:solidFill>
          <a:ln w="38100">
            <a:solidFill>
              <a:srgbClr val="00C896"/>
            </a:solidFill>
            <a:prstDash val="solid"/>
          </a:ln>
        </p:spPr>
        <p:txBody>
          <a:bodyPr/>
          <a:lstStyle/>
          <a:p>
            <a:endParaRPr lang="es-PE"/>
          </a:p>
        </p:txBody>
      </p:sp>
      <p:pic>
        <p:nvPicPr>
          <p:cNvPr id="5" name="Image 0" descr="preencoded.png"/>
          <p:cNvPicPr>
            <a:picLocks noChangeAspect="1"/>
          </p:cNvPicPr>
          <p:nvPr/>
        </p:nvPicPr>
        <p:blipFill>
          <a:blip r:embed="rId3"/>
          <a:stretch>
            <a:fillRect/>
          </a:stretch>
        </p:blipFill>
        <p:spPr>
          <a:xfrm>
            <a:off x="7562088" y="914400"/>
            <a:ext cx="1051560" cy="1051560"/>
          </a:xfrm>
          <a:prstGeom prst="rect">
            <a:avLst/>
          </a:prstGeom>
        </p:spPr>
      </p:pic>
      <p:sp>
        <p:nvSpPr>
          <p:cNvPr id="6" name="Shape 3"/>
          <p:cNvSpPr/>
          <p:nvPr/>
        </p:nvSpPr>
        <p:spPr>
          <a:xfrm>
            <a:off x="274320" y="365760"/>
            <a:ext cx="64008" cy="4114800"/>
          </a:xfrm>
          <a:prstGeom prst="rect">
            <a:avLst/>
          </a:prstGeom>
          <a:solidFill>
            <a:srgbClr val="00C896"/>
          </a:solidFill>
          <a:ln w="12700">
            <a:solidFill>
              <a:srgbClr val="00C896"/>
            </a:solidFill>
            <a:prstDash val="solid"/>
          </a:ln>
        </p:spPr>
        <p:txBody>
          <a:bodyPr/>
          <a:lstStyle/>
          <a:p>
            <a:endParaRPr lang="es-PE"/>
          </a:p>
        </p:txBody>
      </p:sp>
      <p:sp>
        <p:nvSpPr>
          <p:cNvPr id="7" name="Text 4"/>
          <p:cNvSpPr/>
          <p:nvPr/>
        </p:nvSpPr>
        <p:spPr>
          <a:xfrm>
            <a:off x="457200" y="274320"/>
            <a:ext cx="5669280" cy="2926080"/>
          </a:xfrm>
          <a:prstGeom prst="rect">
            <a:avLst/>
          </a:prstGeom>
          <a:noFill/>
          <a:ln/>
        </p:spPr>
        <p:txBody>
          <a:bodyPr wrap="square" lIns="0" tIns="0" rIns="0" bIns="0" rtlCol="0" anchor="t"/>
          <a:lstStyle/>
          <a:p>
            <a:pPr marL="0" indent="0" algn="l">
              <a:lnSpc>
                <a:spcPct val="110000"/>
              </a:lnSpc>
              <a:buNone/>
            </a:pPr>
            <a:r>
              <a:rPr lang="en-US" sz="4400" b="1" dirty="0">
                <a:solidFill>
                  <a:srgbClr val="FFFFFF"/>
                </a:solidFill>
                <a:latin typeface="Calibri" pitchFamily="34" charset="0"/>
                <a:ea typeface="Calibri" pitchFamily="34" charset="-122"/>
                <a:cs typeface="Calibri" pitchFamily="34" charset="-120"/>
              </a:rPr>
              <a:t>SISTEMA DE</a:t>
            </a:r>
            <a:endParaRPr lang="en-US" sz="4400" dirty="0"/>
          </a:p>
          <a:p>
            <a:pPr marL="0" indent="0" algn="l">
              <a:lnSpc>
                <a:spcPct val="110000"/>
              </a:lnSpc>
              <a:buNone/>
            </a:pPr>
            <a:r>
              <a:rPr lang="en-US" sz="4400" b="1" dirty="0">
                <a:solidFill>
                  <a:srgbClr val="FFFFFF"/>
                </a:solidFill>
                <a:latin typeface="Calibri" pitchFamily="34" charset="0"/>
                <a:ea typeface="Calibri" pitchFamily="34" charset="-122"/>
                <a:cs typeface="Calibri" pitchFamily="34" charset="-120"/>
              </a:rPr>
              <a:t>GESTIÓN</a:t>
            </a:r>
            <a:endParaRPr lang="en-US" sz="4400" dirty="0"/>
          </a:p>
          <a:p>
            <a:pPr marL="0" indent="0" algn="l">
              <a:lnSpc>
                <a:spcPct val="110000"/>
              </a:lnSpc>
              <a:buNone/>
            </a:pPr>
            <a:r>
              <a:rPr lang="en-US" sz="4400" b="1" dirty="0">
                <a:solidFill>
                  <a:srgbClr val="FFFFFF"/>
                </a:solidFill>
                <a:latin typeface="Calibri" pitchFamily="34" charset="0"/>
                <a:ea typeface="Calibri" pitchFamily="34" charset="-122"/>
                <a:cs typeface="Calibri" pitchFamily="34" charset="-120"/>
              </a:rPr>
              <a:t>ACADÉMICA</a:t>
            </a:r>
            <a:endParaRPr lang="en-US" sz="4400" dirty="0"/>
          </a:p>
        </p:txBody>
      </p:sp>
      <p:sp>
        <p:nvSpPr>
          <p:cNvPr id="8" name="Text 5"/>
          <p:cNvSpPr/>
          <p:nvPr/>
        </p:nvSpPr>
        <p:spPr>
          <a:xfrm>
            <a:off x="457200" y="3246120"/>
            <a:ext cx="5029200" cy="384048"/>
          </a:xfrm>
          <a:prstGeom prst="rect">
            <a:avLst/>
          </a:prstGeom>
          <a:noFill/>
          <a:ln/>
        </p:spPr>
        <p:txBody>
          <a:bodyPr wrap="square" lIns="0" tIns="0" rIns="0" bIns="0" rtlCol="0" anchor="ctr"/>
          <a:lstStyle/>
          <a:p>
            <a:pPr marL="0" indent="0" algn="l">
              <a:buNone/>
            </a:pPr>
            <a:r>
              <a:rPr lang="en-US" sz="1800" b="1" dirty="0">
                <a:solidFill>
                  <a:srgbClr val="00C896"/>
                </a:solidFill>
                <a:latin typeface="Calibri" pitchFamily="34" charset="0"/>
                <a:ea typeface="Calibri" pitchFamily="34" charset="-122"/>
                <a:cs typeface="Calibri" pitchFamily="34" charset="-120"/>
              </a:rPr>
              <a:t>Universidad SENATI</a:t>
            </a:r>
            <a:endParaRPr lang="en-US" sz="1800" dirty="0"/>
          </a:p>
        </p:txBody>
      </p:sp>
      <p:sp>
        <p:nvSpPr>
          <p:cNvPr id="9" name="Text 6"/>
          <p:cNvSpPr/>
          <p:nvPr/>
        </p:nvSpPr>
        <p:spPr>
          <a:xfrm>
            <a:off x="457200" y="3671316"/>
            <a:ext cx="5029200" cy="320040"/>
          </a:xfrm>
          <a:prstGeom prst="rect">
            <a:avLst/>
          </a:prstGeom>
          <a:noFill/>
          <a:ln/>
        </p:spPr>
        <p:txBody>
          <a:bodyPr wrap="square" lIns="0" tIns="0" rIns="0" bIns="0" rtlCol="0" anchor="ctr"/>
          <a:lstStyle/>
          <a:p>
            <a:pPr marL="0" indent="0" algn="l">
              <a:buNone/>
            </a:pPr>
            <a:r>
              <a:rPr lang="en-US" sz="1300" i="1" dirty="0">
                <a:solidFill>
                  <a:srgbClr val="7A8D9A"/>
                </a:solidFill>
                <a:latin typeface="Calibri" pitchFamily="34" charset="0"/>
                <a:ea typeface="Calibri" pitchFamily="34" charset="-122"/>
                <a:cs typeface="Calibri" pitchFamily="34" charset="-120"/>
              </a:rPr>
              <a:t>Análisis · Diseño · Arquitectura · Prototipo</a:t>
            </a:r>
            <a:endParaRPr lang="en-US" sz="1300" dirty="0"/>
          </a:p>
        </p:txBody>
      </p:sp>
      <p:sp>
        <p:nvSpPr>
          <p:cNvPr id="10" name="Shape 7"/>
          <p:cNvSpPr/>
          <p:nvPr/>
        </p:nvSpPr>
        <p:spPr>
          <a:xfrm>
            <a:off x="0" y="4681728"/>
            <a:ext cx="9144000" cy="461772"/>
          </a:xfrm>
          <a:prstGeom prst="rect">
            <a:avLst/>
          </a:prstGeom>
          <a:solidFill>
            <a:srgbClr val="00C896"/>
          </a:solidFill>
          <a:ln w="12700">
            <a:solidFill>
              <a:srgbClr val="00C896"/>
            </a:solidFill>
            <a:prstDash val="solid"/>
          </a:ln>
        </p:spPr>
        <p:txBody>
          <a:bodyPr/>
          <a:lstStyle/>
          <a:p>
            <a:endParaRPr lang="es-PE"/>
          </a:p>
        </p:txBody>
      </p:sp>
      <p:sp>
        <p:nvSpPr>
          <p:cNvPr id="11" name="Text 8"/>
          <p:cNvSpPr/>
          <p:nvPr/>
        </p:nvSpPr>
        <p:spPr>
          <a:xfrm>
            <a:off x="0" y="4681728"/>
            <a:ext cx="9144000" cy="461772"/>
          </a:xfrm>
          <a:prstGeom prst="rect">
            <a:avLst/>
          </a:prstGeom>
          <a:noFill/>
          <a:ln/>
        </p:spPr>
        <p:txBody>
          <a:bodyPr wrap="square" lIns="0" tIns="0" rIns="0" bIns="0" rtlCol="0" anchor="ctr"/>
          <a:lstStyle/>
          <a:p>
            <a:pPr marL="0" indent="0" algn="ctr">
              <a:buNone/>
            </a:pPr>
            <a:r>
              <a:rPr lang="en-US" sz="1200" b="1" dirty="0">
                <a:solidFill>
                  <a:srgbClr val="0F1923"/>
                </a:solidFill>
                <a:latin typeface="Calibri" pitchFamily="34" charset="0"/>
                <a:ea typeface="Calibri" pitchFamily="34" charset="-122"/>
                <a:cs typeface="Calibri" pitchFamily="34" charset="-120"/>
              </a:rPr>
              <a:t>Universidad SENATI</a:t>
            </a:r>
            <a:endParaRPr lang="en-US" sz="1200" dirty="0"/>
          </a:p>
        </p:txBody>
      </p:sp>
      <p:sp>
        <p:nvSpPr>
          <p:cNvPr id="12" name="Text 4">
            <a:extLst>
              <a:ext uri="{FF2B5EF4-FFF2-40B4-BE49-F238E27FC236}">
                <a16:creationId xmlns:a16="http://schemas.microsoft.com/office/drawing/2014/main" id="{4FC1B54F-C76F-E7E1-8CD2-4E7F8C1F7F10}"/>
              </a:ext>
            </a:extLst>
          </p:cNvPr>
          <p:cNvSpPr/>
          <p:nvPr/>
        </p:nvSpPr>
        <p:spPr>
          <a:xfrm>
            <a:off x="2664170" y="4197096"/>
            <a:ext cx="3331029" cy="412786"/>
          </a:xfrm>
          <a:prstGeom prst="rect">
            <a:avLst/>
          </a:prstGeom>
          <a:noFill/>
          <a:ln/>
        </p:spPr>
        <p:txBody>
          <a:bodyPr wrap="square" lIns="0" tIns="0" rIns="0" bIns="0" rtlCol="0" anchor="t"/>
          <a:lstStyle/>
          <a:p>
            <a:pPr marL="0" indent="0" algn="l">
              <a:lnSpc>
                <a:spcPct val="110000"/>
              </a:lnSpc>
              <a:buNone/>
            </a:pPr>
            <a:r>
              <a:rPr lang="en-US" sz="2400" dirty="0">
                <a:solidFill>
                  <a:schemeClr val="bg1"/>
                </a:solidFill>
              </a:rPr>
              <a:t>Moises Palomino Sanchez</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0C896"/>
          </a:solidFill>
          <a:ln w="12700">
            <a:solidFill>
              <a:srgbClr val="00C896"/>
            </a:solidFill>
            <a:prstDash val="solid"/>
          </a:ln>
        </p:spPr>
        <p:txBody>
          <a:bodyPr/>
          <a:lstStyle/>
          <a:p>
            <a:endParaRPr lang="es-PE"/>
          </a:p>
        </p:txBody>
      </p:sp>
      <p:sp>
        <p:nvSpPr>
          <p:cNvPr id="3" name="Shape 1"/>
          <p:cNvSpPr/>
          <p:nvPr/>
        </p:nvSpPr>
        <p:spPr>
          <a:xfrm>
            <a:off x="0" y="0"/>
            <a:ext cx="9144000" cy="841248"/>
          </a:xfrm>
          <a:prstGeom prst="rect">
            <a:avLst/>
          </a:prstGeom>
          <a:solidFill>
            <a:srgbClr val="1A2B3C"/>
          </a:solidFill>
          <a:ln w="12700">
            <a:solidFill>
              <a:srgbClr val="1A2B3C"/>
            </a:solidFill>
            <a:prstDash val="solid"/>
          </a:ln>
        </p:spPr>
        <p:txBody>
          <a:bodyPr/>
          <a:lstStyle/>
          <a:p>
            <a:endParaRPr lang="es-PE"/>
          </a:p>
        </p:txBody>
      </p:sp>
      <p:sp>
        <p:nvSpPr>
          <p:cNvPr id="4" name="Text 2"/>
          <p:cNvSpPr/>
          <p:nvPr/>
        </p:nvSpPr>
        <p:spPr>
          <a:xfrm>
            <a:off x="411480" y="0"/>
            <a:ext cx="8412480" cy="841248"/>
          </a:xfrm>
          <a:prstGeom prst="rect">
            <a:avLst/>
          </a:prstGeom>
          <a:noFill/>
          <a:ln/>
        </p:spPr>
        <p:txBody>
          <a:bodyPr wrap="square" lIns="0" tIns="0" rIns="0" bIns="0" rtlCol="0" anchor="ctr"/>
          <a:lstStyle/>
          <a:p>
            <a:pPr marL="0" indent="0" algn="l">
              <a:buNone/>
            </a:pPr>
            <a:r>
              <a:rPr lang="en-US" sz="2100" b="1" dirty="0">
                <a:solidFill>
                  <a:srgbClr val="00C896"/>
                </a:solidFill>
                <a:latin typeface="Calibri" pitchFamily="34" charset="0"/>
                <a:ea typeface="Calibri" pitchFamily="34" charset="-122"/>
                <a:cs typeface="Calibri" pitchFamily="34" charset="-120"/>
              </a:rPr>
              <a:t>01 · PROBLEMÁTICA — Situación actual de SENATI</a:t>
            </a:r>
            <a:endParaRPr lang="en-US" sz="2100" dirty="0"/>
          </a:p>
        </p:txBody>
      </p:sp>
      <p:sp>
        <p:nvSpPr>
          <p:cNvPr id="5" name="Shape 3"/>
          <p:cNvSpPr/>
          <p:nvPr/>
        </p:nvSpPr>
        <p:spPr>
          <a:xfrm>
            <a:off x="384048" y="960120"/>
            <a:ext cx="2468880" cy="3886200"/>
          </a:xfrm>
          <a:prstGeom prst="rect">
            <a:avLst/>
          </a:prstGeom>
          <a:solidFill>
            <a:srgbClr val="1A2B3C"/>
          </a:solidFill>
          <a:ln w="12700">
            <a:solidFill>
              <a:srgbClr val="0D7A6A"/>
            </a:solidFill>
            <a:prstDash val="solid"/>
          </a:ln>
          <a:effectLst>
            <a:outerShdw blurRad="127000" dist="38100" dir="8100000" algn="bl" rotWithShape="0">
              <a:srgbClr val="000000">
                <a:alpha val="20000"/>
              </a:srgbClr>
            </a:outerShdw>
          </a:effectLst>
        </p:spPr>
        <p:txBody>
          <a:bodyPr/>
          <a:lstStyle/>
          <a:p>
            <a:endParaRPr lang="es-PE"/>
          </a:p>
        </p:txBody>
      </p:sp>
      <p:sp>
        <p:nvSpPr>
          <p:cNvPr id="6" name="Shape 4"/>
          <p:cNvSpPr/>
          <p:nvPr/>
        </p:nvSpPr>
        <p:spPr>
          <a:xfrm>
            <a:off x="384048" y="960120"/>
            <a:ext cx="2468880" cy="438912"/>
          </a:xfrm>
          <a:prstGeom prst="rect">
            <a:avLst/>
          </a:prstGeom>
          <a:solidFill>
            <a:srgbClr val="009E78"/>
          </a:solidFill>
          <a:ln w="12700">
            <a:solidFill>
              <a:srgbClr val="009E78"/>
            </a:solidFill>
            <a:prstDash val="solid"/>
          </a:ln>
        </p:spPr>
        <p:txBody>
          <a:bodyPr/>
          <a:lstStyle/>
          <a:p>
            <a:endParaRPr lang="es-PE"/>
          </a:p>
        </p:txBody>
      </p:sp>
      <p:sp>
        <p:nvSpPr>
          <p:cNvPr id="7" name="Text 5"/>
          <p:cNvSpPr/>
          <p:nvPr/>
        </p:nvSpPr>
        <p:spPr>
          <a:xfrm>
            <a:off x="384048" y="960120"/>
            <a:ext cx="246888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SENATI HOY</a:t>
            </a:r>
            <a:endParaRPr lang="en-US" sz="1200" dirty="0"/>
          </a:p>
        </p:txBody>
      </p:sp>
      <p:sp>
        <p:nvSpPr>
          <p:cNvPr id="8" name="Text 6"/>
          <p:cNvSpPr/>
          <p:nvPr/>
        </p:nvSpPr>
        <p:spPr>
          <a:xfrm>
            <a:off x="384048" y="1536192"/>
            <a:ext cx="2468880" cy="502920"/>
          </a:xfrm>
          <a:prstGeom prst="rect">
            <a:avLst/>
          </a:prstGeom>
          <a:noFill/>
          <a:ln/>
        </p:spPr>
        <p:txBody>
          <a:bodyPr wrap="square" lIns="0" tIns="0" rIns="0" bIns="0" rtlCol="0" anchor="ctr"/>
          <a:lstStyle/>
          <a:p>
            <a:pPr marL="0" indent="0" algn="ctr">
              <a:buNone/>
            </a:pPr>
            <a:r>
              <a:rPr lang="en-US" sz="2400" b="1" dirty="0">
                <a:solidFill>
                  <a:srgbClr val="00C896"/>
                </a:solidFill>
                <a:latin typeface="Calibri" pitchFamily="34" charset="0"/>
                <a:ea typeface="Calibri" pitchFamily="34" charset="-122"/>
                <a:cs typeface="Calibri" pitchFamily="34" charset="-120"/>
              </a:rPr>
              <a:t>4,000</a:t>
            </a:r>
            <a:endParaRPr lang="en-US" sz="2400" dirty="0"/>
          </a:p>
        </p:txBody>
      </p:sp>
      <p:sp>
        <p:nvSpPr>
          <p:cNvPr id="9" name="Text 7"/>
          <p:cNvSpPr/>
          <p:nvPr/>
        </p:nvSpPr>
        <p:spPr>
          <a:xfrm>
            <a:off x="384048" y="2011680"/>
            <a:ext cx="2468880" cy="274320"/>
          </a:xfrm>
          <a:prstGeom prst="rect">
            <a:avLst/>
          </a:prstGeom>
          <a:noFill/>
          <a:ln/>
        </p:spPr>
        <p:txBody>
          <a:bodyPr wrap="square" lIns="0" tIns="0" rIns="0" bIns="0" rtlCol="0" anchor="ctr"/>
          <a:lstStyle/>
          <a:p>
            <a:pPr marL="0" indent="0" algn="ctr">
              <a:buNone/>
            </a:pPr>
            <a:r>
              <a:rPr lang="en-US" sz="1050" dirty="0">
                <a:solidFill>
                  <a:srgbClr val="D0E8E0"/>
                </a:solidFill>
                <a:latin typeface="Calibri" pitchFamily="34" charset="0"/>
                <a:ea typeface="Calibri" pitchFamily="34" charset="-122"/>
                <a:cs typeface="Calibri" pitchFamily="34" charset="-120"/>
              </a:rPr>
              <a:t>Estudiantes activos</a:t>
            </a:r>
            <a:endParaRPr lang="en-US" sz="1050" dirty="0"/>
          </a:p>
        </p:txBody>
      </p:sp>
      <p:sp>
        <p:nvSpPr>
          <p:cNvPr id="10" name="Shape 8"/>
          <p:cNvSpPr/>
          <p:nvPr/>
        </p:nvSpPr>
        <p:spPr>
          <a:xfrm>
            <a:off x="640080" y="2322576"/>
            <a:ext cx="1965960" cy="36576"/>
          </a:xfrm>
          <a:prstGeom prst="rect">
            <a:avLst/>
          </a:prstGeom>
          <a:solidFill>
            <a:srgbClr val="0D7A6A"/>
          </a:solidFill>
          <a:ln w="12700">
            <a:solidFill>
              <a:srgbClr val="0D7A6A"/>
            </a:solidFill>
            <a:prstDash val="solid"/>
          </a:ln>
        </p:spPr>
        <p:txBody>
          <a:bodyPr/>
          <a:lstStyle/>
          <a:p>
            <a:endParaRPr lang="es-PE"/>
          </a:p>
        </p:txBody>
      </p:sp>
      <p:sp>
        <p:nvSpPr>
          <p:cNvPr id="11" name="Text 9"/>
          <p:cNvSpPr/>
          <p:nvPr/>
        </p:nvSpPr>
        <p:spPr>
          <a:xfrm>
            <a:off x="384048" y="2651760"/>
            <a:ext cx="2468880" cy="502920"/>
          </a:xfrm>
          <a:prstGeom prst="rect">
            <a:avLst/>
          </a:prstGeom>
          <a:noFill/>
          <a:ln/>
        </p:spPr>
        <p:txBody>
          <a:bodyPr wrap="square" lIns="0" tIns="0" rIns="0" bIns="0" rtlCol="0" anchor="ctr"/>
          <a:lstStyle/>
          <a:p>
            <a:pPr marL="0" indent="0" algn="ctr">
              <a:buNone/>
            </a:pPr>
            <a:r>
              <a:rPr lang="en-US" sz="2400" b="1" dirty="0">
                <a:solidFill>
                  <a:srgbClr val="00C896"/>
                </a:solidFill>
                <a:latin typeface="Calibri" pitchFamily="34" charset="0"/>
                <a:ea typeface="Calibri" pitchFamily="34" charset="-122"/>
                <a:cs typeface="Calibri" pitchFamily="34" charset="-120"/>
              </a:rPr>
              <a:t>Múltiples</a:t>
            </a:r>
            <a:endParaRPr lang="en-US" sz="2400" dirty="0"/>
          </a:p>
        </p:txBody>
      </p:sp>
      <p:sp>
        <p:nvSpPr>
          <p:cNvPr id="12" name="Text 10"/>
          <p:cNvSpPr/>
          <p:nvPr/>
        </p:nvSpPr>
        <p:spPr>
          <a:xfrm>
            <a:off x="384048" y="3127248"/>
            <a:ext cx="2468880" cy="274320"/>
          </a:xfrm>
          <a:prstGeom prst="rect">
            <a:avLst/>
          </a:prstGeom>
          <a:noFill/>
          <a:ln/>
        </p:spPr>
        <p:txBody>
          <a:bodyPr wrap="square" lIns="0" tIns="0" rIns="0" bIns="0" rtlCol="0" anchor="ctr"/>
          <a:lstStyle/>
          <a:p>
            <a:pPr marL="0" indent="0" algn="ctr">
              <a:buNone/>
            </a:pPr>
            <a:r>
              <a:rPr lang="en-US" sz="1050" dirty="0">
                <a:solidFill>
                  <a:srgbClr val="D0E8E0"/>
                </a:solidFill>
                <a:latin typeface="Calibri" pitchFamily="34" charset="0"/>
                <a:ea typeface="Calibri" pitchFamily="34" charset="-122"/>
                <a:cs typeface="Calibri" pitchFamily="34" charset="-120"/>
              </a:rPr>
              <a:t>Facultades</a:t>
            </a:r>
            <a:endParaRPr lang="en-US" sz="1050" dirty="0"/>
          </a:p>
        </p:txBody>
      </p:sp>
      <p:sp>
        <p:nvSpPr>
          <p:cNvPr id="13" name="Shape 11"/>
          <p:cNvSpPr/>
          <p:nvPr/>
        </p:nvSpPr>
        <p:spPr>
          <a:xfrm>
            <a:off x="640080" y="3438144"/>
            <a:ext cx="1965960" cy="36576"/>
          </a:xfrm>
          <a:prstGeom prst="rect">
            <a:avLst/>
          </a:prstGeom>
          <a:solidFill>
            <a:srgbClr val="0D7A6A"/>
          </a:solidFill>
          <a:ln w="12700">
            <a:solidFill>
              <a:srgbClr val="0D7A6A"/>
            </a:solidFill>
            <a:prstDash val="solid"/>
          </a:ln>
        </p:spPr>
        <p:txBody>
          <a:bodyPr/>
          <a:lstStyle/>
          <a:p>
            <a:endParaRPr lang="es-PE"/>
          </a:p>
        </p:txBody>
      </p:sp>
      <p:sp>
        <p:nvSpPr>
          <p:cNvPr id="14" name="Text 12"/>
          <p:cNvSpPr/>
          <p:nvPr/>
        </p:nvSpPr>
        <p:spPr>
          <a:xfrm>
            <a:off x="384048" y="3767328"/>
            <a:ext cx="2468880" cy="502920"/>
          </a:xfrm>
          <a:prstGeom prst="rect">
            <a:avLst/>
          </a:prstGeom>
          <a:noFill/>
          <a:ln/>
        </p:spPr>
        <p:txBody>
          <a:bodyPr wrap="square" lIns="0" tIns="0" rIns="0" bIns="0" rtlCol="0" anchor="ctr"/>
          <a:lstStyle/>
          <a:p>
            <a:pPr marL="0" indent="0" algn="ctr">
              <a:buNone/>
            </a:pPr>
            <a:r>
              <a:rPr lang="en-US" sz="2400" b="1" dirty="0">
                <a:solidFill>
                  <a:srgbClr val="00C896"/>
                </a:solidFill>
                <a:latin typeface="Calibri" pitchFamily="34" charset="0"/>
                <a:ea typeface="Calibri" pitchFamily="34" charset="-122"/>
                <a:cs typeface="Calibri" pitchFamily="34" charset="-120"/>
              </a:rPr>
              <a:t>3 sistemas</a:t>
            </a:r>
            <a:endParaRPr lang="en-US" sz="2400" dirty="0"/>
          </a:p>
        </p:txBody>
      </p:sp>
      <p:sp>
        <p:nvSpPr>
          <p:cNvPr id="15" name="Text 13"/>
          <p:cNvSpPr/>
          <p:nvPr/>
        </p:nvSpPr>
        <p:spPr>
          <a:xfrm>
            <a:off x="384048" y="4242816"/>
            <a:ext cx="2468880" cy="274320"/>
          </a:xfrm>
          <a:prstGeom prst="rect">
            <a:avLst/>
          </a:prstGeom>
          <a:noFill/>
          <a:ln/>
        </p:spPr>
        <p:txBody>
          <a:bodyPr wrap="square" lIns="0" tIns="0" rIns="0" bIns="0" rtlCol="0" anchor="ctr"/>
          <a:lstStyle/>
          <a:p>
            <a:pPr marL="0" indent="0" algn="ctr">
              <a:buNone/>
            </a:pPr>
            <a:r>
              <a:rPr lang="en-US" sz="1050" dirty="0">
                <a:solidFill>
                  <a:srgbClr val="D0E8E0"/>
                </a:solidFill>
                <a:latin typeface="Calibri" pitchFamily="34" charset="0"/>
                <a:ea typeface="Calibri" pitchFamily="34" charset="-122"/>
                <a:cs typeface="Calibri" pitchFamily="34" charset="-120"/>
              </a:rPr>
              <a:t>Desconectados</a:t>
            </a:r>
            <a:endParaRPr lang="en-US" sz="1050" dirty="0"/>
          </a:p>
        </p:txBody>
      </p:sp>
      <p:sp>
        <p:nvSpPr>
          <p:cNvPr id="16" name="Text 14"/>
          <p:cNvSpPr/>
          <p:nvPr/>
        </p:nvSpPr>
        <p:spPr>
          <a:xfrm>
            <a:off x="3063240" y="960120"/>
            <a:ext cx="5669280" cy="347472"/>
          </a:xfrm>
          <a:prstGeom prst="rect">
            <a:avLst/>
          </a:prstGeom>
          <a:noFill/>
          <a:ln/>
        </p:spPr>
        <p:txBody>
          <a:bodyPr wrap="square" lIns="0" tIns="0" rIns="0" bIns="0" rtlCol="0" anchor="ctr"/>
          <a:lstStyle/>
          <a:p>
            <a:pPr marL="0" indent="0" algn="l">
              <a:buNone/>
            </a:pPr>
            <a:r>
              <a:rPr lang="en-US" sz="1300" b="1" dirty="0">
                <a:solidFill>
                  <a:srgbClr val="00C896"/>
                </a:solidFill>
                <a:latin typeface="Calibri" pitchFamily="34" charset="0"/>
                <a:ea typeface="Calibri" pitchFamily="34" charset="-122"/>
                <a:cs typeface="Calibri" pitchFamily="34" charset="-120"/>
              </a:rPr>
              <a:t>Problemas identificados en el diagnóstico:</a:t>
            </a:r>
            <a:endParaRPr lang="en-US" sz="1300" dirty="0"/>
          </a:p>
        </p:txBody>
      </p:sp>
      <p:sp>
        <p:nvSpPr>
          <p:cNvPr id="17" name="Shape 15"/>
          <p:cNvSpPr/>
          <p:nvPr/>
        </p:nvSpPr>
        <p:spPr>
          <a:xfrm>
            <a:off x="3063240" y="1371600"/>
            <a:ext cx="5669280" cy="530352"/>
          </a:xfrm>
          <a:prstGeom prst="rect">
            <a:avLst/>
          </a:prstGeom>
          <a:solidFill>
            <a:srgbClr val="1A2B3C"/>
          </a:solidFill>
          <a:ln w="12700">
            <a:solidFill>
              <a:srgbClr val="1E3040"/>
            </a:solidFill>
            <a:prstDash val="solid"/>
          </a:ln>
        </p:spPr>
        <p:txBody>
          <a:bodyPr/>
          <a:lstStyle/>
          <a:p>
            <a:endParaRPr lang="es-PE"/>
          </a:p>
        </p:txBody>
      </p:sp>
      <p:pic>
        <p:nvPicPr>
          <p:cNvPr id="18" name="Image 0" descr="preencoded.png"/>
          <p:cNvPicPr>
            <a:picLocks noChangeAspect="1"/>
          </p:cNvPicPr>
          <p:nvPr/>
        </p:nvPicPr>
        <p:blipFill>
          <a:blip r:embed="rId3"/>
          <a:stretch>
            <a:fillRect/>
          </a:stretch>
        </p:blipFill>
        <p:spPr>
          <a:xfrm>
            <a:off x="3154680" y="1499616"/>
            <a:ext cx="256032" cy="256032"/>
          </a:xfrm>
          <a:prstGeom prst="rect">
            <a:avLst/>
          </a:prstGeom>
        </p:spPr>
      </p:pic>
      <p:sp>
        <p:nvSpPr>
          <p:cNvPr id="19" name="Text 16"/>
          <p:cNvSpPr/>
          <p:nvPr/>
        </p:nvSpPr>
        <p:spPr>
          <a:xfrm>
            <a:off x="3493008" y="1408176"/>
            <a:ext cx="5120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Inscripciones sin verificar prerrequisitos</a:t>
            </a:r>
            <a:endParaRPr lang="en-US" sz="1100" dirty="0"/>
          </a:p>
        </p:txBody>
      </p:sp>
      <p:sp>
        <p:nvSpPr>
          <p:cNvPr id="20" name="Text 17"/>
          <p:cNvSpPr/>
          <p:nvPr/>
        </p:nvSpPr>
        <p:spPr>
          <a:xfrm>
            <a:off x="3493008" y="1645920"/>
            <a:ext cx="5120640" cy="219456"/>
          </a:xfrm>
          <a:prstGeom prst="rect">
            <a:avLst/>
          </a:prstGeom>
          <a:noFill/>
          <a:ln/>
        </p:spPr>
        <p:txBody>
          <a:bodyPr wrap="square" lIns="0" tIns="0" rIns="0" bIns="0" rtlCol="0" anchor="ctr"/>
          <a:lstStyle/>
          <a:p>
            <a:pPr marL="0" indent="0">
              <a:buNone/>
            </a:pPr>
            <a:r>
              <a:rPr lang="en-US" sz="950" dirty="0">
                <a:solidFill>
                  <a:srgbClr val="D0E8E0"/>
                </a:solidFill>
                <a:latin typeface="Calibri" pitchFamily="34" charset="0"/>
                <a:ea typeface="Calibri" pitchFamily="34" charset="-122"/>
                <a:cs typeface="Calibri" pitchFamily="34" charset="-120"/>
              </a:rPr>
              <a:t>Los alumnos se inscriben en cursos que no pueden cursar por no haber aprobado los previos.</a:t>
            </a:r>
            <a:endParaRPr lang="en-US" sz="950" dirty="0"/>
          </a:p>
        </p:txBody>
      </p:sp>
      <p:sp>
        <p:nvSpPr>
          <p:cNvPr id="21" name="Shape 18"/>
          <p:cNvSpPr/>
          <p:nvPr/>
        </p:nvSpPr>
        <p:spPr>
          <a:xfrm>
            <a:off x="3063240" y="1984248"/>
            <a:ext cx="5669280" cy="530352"/>
          </a:xfrm>
          <a:prstGeom prst="rect">
            <a:avLst/>
          </a:prstGeom>
          <a:solidFill>
            <a:srgbClr val="162230"/>
          </a:solidFill>
          <a:ln w="12700">
            <a:solidFill>
              <a:srgbClr val="1E3040"/>
            </a:solidFill>
            <a:prstDash val="solid"/>
          </a:ln>
        </p:spPr>
        <p:txBody>
          <a:bodyPr/>
          <a:lstStyle/>
          <a:p>
            <a:endParaRPr lang="es-PE"/>
          </a:p>
        </p:txBody>
      </p:sp>
      <p:pic>
        <p:nvPicPr>
          <p:cNvPr id="22" name="Image 1" descr="preencoded.png"/>
          <p:cNvPicPr>
            <a:picLocks noChangeAspect="1"/>
          </p:cNvPicPr>
          <p:nvPr/>
        </p:nvPicPr>
        <p:blipFill>
          <a:blip r:embed="rId3"/>
          <a:stretch>
            <a:fillRect/>
          </a:stretch>
        </p:blipFill>
        <p:spPr>
          <a:xfrm>
            <a:off x="3154680" y="2112264"/>
            <a:ext cx="256032" cy="256032"/>
          </a:xfrm>
          <a:prstGeom prst="rect">
            <a:avLst/>
          </a:prstGeom>
        </p:spPr>
      </p:pic>
      <p:sp>
        <p:nvSpPr>
          <p:cNvPr id="23" name="Text 19"/>
          <p:cNvSpPr/>
          <p:nvPr/>
        </p:nvSpPr>
        <p:spPr>
          <a:xfrm>
            <a:off x="3493008" y="2020824"/>
            <a:ext cx="5120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Sobrecupo en cursos</a:t>
            </a:r>
            <a:endParaRPr lang="en-US" sz="1100" dirty="0"/>
          </a:p>
        </p:txBody>
      </p:sp>
      <p:sp>
        <p:nvSpPr>
          <p:cNvPr id="24" name="Text 20"/>
          <p:cNvSpPr/>
          <p:nvPr/>
        </p:nvSpPr>
        <p:spPr>
          <a:xfrm>
            <a:off x="3493008" y="2258568"/>
            <a:ext cx="5120640" cy="219456"/>
          </a:xfrm>
          <a:prstGeom prst="rect">
            <a:avLst/>
          </a:prstGeom>
          <a:noFill/>
          <a:ln/>
        </p:spPr>
        <p:txBody>
          <a:bodyPr wrap="square" lIns="0" tIns="0" rIns="0" bIns="0" rtlCol="0" anchor="ctr"/>
          <a:lstStyle/>
          <a:p>
            <a:pPr marL="0" indent="0">
              <a:buNone/>
            </a:pPr>
            <a:r>
              <a:rPr lang="en-US" sz="950" dirty="0">
                <a:solidFill>
                  <a:srgbClr val="D0E8E0"/>
                </a:solidFill>
                <a:latin typeface="Calibri" pitchFamily="34" charset="0"/>
                <a:ea typeface="Calibri" pitchFamily="34" charset="-122"/>
                <a:cs typeface="Calibri" pitchFamily="34" charset="-120"/>
              </a:rPr>
              <a:t>No existe control de cupo en tiempo real. Los cursos exceden su capacidad.</a:t>
            </a:r>
            <a:endParaRPr lang="en-US" sz="950" dirty="0"/>
          </a:p>
        </p:txBody>
      </p:sp>
      <p:sp>
        <p:nvSpPr>
          <p:cNvPr id="25" name="Shape 21"/>
          <p:cNvSpPr/>
          <p:nvPr/>
        </p:nvSpPr>
        <p:spPr>
          <a:xfrm>
            <a:off x="3063240" y="2596896"/>
            <a:ext cx="5669280" cy="530352"/>
          </a:xfrm>
          <a:prstGeom prst="rect">
            <a:avLst/>
          </a:prstGeom>
          <a:solidFill>
            <a:srgbClr val="1A2B3C"/>
          </a:solidFill>
          <a:ln w="12700">
            <a:solidFill>
              <a:srgbClr val="1E3040"/>
            </a:solidFill>
            <a:prstDash val="solid"/>
          </a:ln>
        </p:spPr>
        <p:txBody>
          <a:bodyPr/>
          <a:lstStyle/>
          <a:p>
            <a:endParaRPr lang="es-PE"/>
          </a:p>
        </p:txBody>
      </p:sp>
      <p:pic>
        <p:nvPicPr>
          <p:cNvPr id="26" name="Image 2" descr="preencoded.png"/>
          <p:cNvPicPr>
            <a:picLocks noChangeAspect="1"/>
          </p:cNvPicPr>
          <p:nvPr/>
        </p:nvPicPr>
        <p:blipFill>
          <a:blip r:embed="rId3"/>
          <a:stretch>
            <a:fillRect/>
          </a:stretch>
        </p:blipFill>
        <p:spPr>
          <a:xfrm>
            <a:off x="3154680" y="2724912"/>
            <a:ext cx="256032" cy="256032"/>
          </a:xfrm>
          <a:prstGeom prst="rect">
            <a:avLst/>
          </a:prstGeom>
        </p:spPr>
      </p:pic>
      <p:sp>
        <p:nvSpPr>
          <p:cNvPr id="27" name="Text 22"/>
          <p:cNvSpPr/>
          <p:nvPr/>
        </p:nvSpPr>
        <p:spPr>
          <a:xfrm>
            <a:off x="3493008" y="2633472"/>
            <a:ext cx="5120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Conflictos de horario no detectados</a:t>
            </a:r>
            <a:endParaRPr lang="en-US" sz="1100" dirty="0"/>
          </a:p>
        </p:txBody>
      </p:sp>
      <p:sp>
        <p:nvSpPr>
          <p:cNvPr id="28" name="Text 23"/>
          <p:cNvSpPr/>
          <p:nvPr/>
        </p:nvSpPr>
        <p:spPr>
          <a:xfrm>
            <a:off x="3493008" y="2871216"/>
            <a:ext cx="5120640" cy="219456"/>
          </a:xfrm>
          <a:prstGeom prst="rect">
            <a:avLst/>
          </a:prstGeom>
          <a:noFill/>
          <a:ln/>
        </p:spPr>
        <p:txBody>
          <a:bodyPr wrap="square" lIns="0" tIns="0" rIns="0" bIns="0" rtlCol="0" anchor="ctr"/>
          <a:lstStyle/>
          <a:p>
            <a:pPr marL="0" indent="0">
              <a:buNone/>
            </a:pPr>
            <a:r>
              <a:rPr lang="en-US" sz="950" dirty="0">
                <a:solidFill>
                  <a:srgbClr val="D0E8E0"/>
                </a:solidFill>
                <a:latin typeface="Calibri" pitchFamily="34" charset="0"/>
                <a:ea typeface="Calibri" pitchFamily="34" charset="-122"/>
                <a:cs typeface="Calibri" pitchFamily="34" charset="-120"/>
              </a:rPr>
              <a:t>El sistema no avisa si dos cursos se superponen en horario.</a:t>
            </a:r>
            <a:endParaRPr lang="en-US" sz="950" dirty="0"/>
          </a:p>
        </p:txBody>
      </p:sp>
      <p:sp>
        <p:nvSpPr>
          <p:cNvPr id="29" name="Shape 24"/>
          <p:cNvSpPr/>
          <p:nvPr/>
        </p:nvSpPr>
        <p:spPr>
          <a:xfrm>
            <a:off x="3063240" y="3209544"/>
            <a:ext cx="5669280" cy="530352"/>
          </a:xfrm>
          <a:prstGeom prst="rect">
            <a:avLst/>
          </a:prstGeom>
          <a:solidFill>
            <a:srgbClr val="162230"/>
          </a:solidFill>
          <a:ln w="12700">
            <a:solidFill>
              <a:srgbClr val="1E3040"/>
            </a:solidFill>
            <a:prstDash val="solid"/>
          </a:ln>
        </p:spPr>
        <p:txBody>
          <a:bodyPr/>
          <a:lstStyle/>
          <a:p>
            <a:endParaRPr lang="es-PE"/>
          </a:p>
        </p:txBody>
      </p:sp>
      <p:pic>
        <p:nvPicPr>
          <p:cNvPr id="30" name="Image 3" descr="preencoded.png"/>
          <p:cNvPicPr>
            <a:picLocks noChangeAspect="1"/>
          </p:cNvPicPr>
          <p:nvPr/>
        </p:nvPicPr>
        <p:blipFill>
          <a:blip r:embed="rId3"/>
          <a:stretch>
            <a:fillRect/>
          </a:stretch>
        </p:blipFill>
        <p:spPr>
          <a:xfrm>
            <a:off x="3154680" y="3337560"/>
            <a:ext cx="256032" cy="256032"/>
          </a:xfrm>
          <a:prstGeom prst="rect">
            <a:avLst/>
          </a:prstGeom>
        </p:spPr>
      </p:pic>
      <p:sp>
        <p:nvSpPr>
          <p:cNvPr id="31" name="Text 25"/>
          <p:cNvSpPr/>
          <p:nvPr/>
        </p:nvSpPr>
        <p:spPr>
          <a:xfrm>
            <a:off x="3493008" y="3246120"/>
            <a:ext cx="5120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Validación de pagos manual</a:t>
            </a:r>
            <a:endParaRPr lang="en-US" sz="1100" dirty="0"/>
          </a:p>
        </p:txBody>
      </p:sp>
      <p:sp>
        <p:nvSpPr>
          <p:cNvPr id="32" name="Text 26"/>
          <p:cNvSpPr/>
          <p:nvPr/>
        </p:nvSpPr>
        <p:spPr>
          <a:xfrm>
            <a:off x="3493008" y="3483864"/>
            <a:ext cx="5120640" cy="219456"/>
          </a:xfrm>
          <a:prstGeom prst="rect">
            <a:avLst/>
          </a:prstGeom>
          <a:noFill/>
          <a:ln/>
        </p:spPr>
        <p:txBody>
          <a:bodyPr wrap="square" lIns="0" tIns="0" rIns="0" bIns="0" rtlCol="0" anchor="ctr"/>
          <a:lstStyle/>
          <a:p>
            <a:pPr marL="0" indent="0">
              <a:buNone/>
            </a:pPr>
            <a:r>
              <a:rPr lang="en-US" sz="950" dirty="0">
                <a:solidFill>
                  <a:srgbClr val="D0E8E0"/>
                </a:solidFill>
                <a:latin typeface="Calibri" pitchFamily="34" charset="0"/>
                <a:ea typeface="Calibri" pitchFamily="34" charset="-122"/>
                <a:cs typeface="Calibri" pitchFamily="34" charset="-120"/>
              </a:rPr>
              <a:t>Un empleado verifica cada pago a mano, generando retrasos de días.</a:t>
            </a:r>
            <a:endParaRPr lang="en-US" sz="950" dirty="0"/>
          </a:p>
        </p:txBody>
      </p:sp>
      <p:sp>
        <p:nvSpPr>
          <p:cNvPr id="33" name="Shape 27"/>
          <p:cNvSpPr/>
          <p:nvPr/>
        </p:nvSpPr>
        <p:spPr>
          <a:xfrm>
            <a:off x="3063240" y="3822192"/>
            <a:ext cx="5669280" cy="530352"/>
          </a:xfrm>
          <a:prstGeom prst="rect">
            <a:avLst/>
          </a:prstGeom>
          <a:solidFill>
            <a:srgbClr val="1A2B3C"/>
          </a:solidFill>
          <a:ln w="12700">
            <a:solidFill>
              <a:srgbClr val="1E3040"/>
            </a:solidFill>
            <a:prstDash val="solid"/>
          </a:ln>
        </p:spPr>
        <p:txBody>
          <a:bodyPr/>
          <a:lstStyle/>
          <a:p>
            <a:endParaRPr lang="es-PE"/>
          </a:p>
        </p:txBody>
      </p:sp>
      <p:pic>
        <p:nvPicPr>
          <p:cNvPr id="34" name="Image 4" descr="preencoded.png"/>
          <p:cNvPicPr>
            <a:picLocks noChangeAspect="1"/>
          </p:cNvPicPr>
          <p:nvPr/>
        </p:nvPicPr>
        <p:blipFill>
          <a:blip r:embed="rId3"/>
          <a:stretch>
            <a:fillRect/>
          </a:stretch>
        </p:blipFill>
        <p:spPr>
          <a:xfrm>
            <a:off x="3154680" y="3950208"/>
            <a:ext cx="256032" cy="256032"/>
          </a:xfrm>
          <a:prstGeom prst="rect">
            <a:avLst/>
          </a:prstGeom>
        </p:spPr>
      </p:pic>
      <p:sp>
        <p:nvSpPr>
          <p:cNvPr id="35" name="Text 28"/>
          <p:cNvSpPr/>
          <p:nvPr/>
        </p:nvSpPr>
        <p:spPr>
          <a:xfrm>
            <a:off x="3493008" y="3858768"/>
            <a:ext cx="5120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Sin integración académica-financiera</a:t>
            </a:r>
            <a:endParaRPr lang="en-US" sz="1100" dirty="0"/>
          </a:p>
        </p:txBody>
      </p:sp>
      <p:sp>
        <p:nvSpPr>
          <p:cNvPr id="36" name="Text 29"/>
          <p:cNvSpPr/>
          <p:nvPr/>
        </p:nvSpPr>
        <p:spPr>
          <a:xfrm>
            <a:off x="3493008" y="4096512"/>
            <a:ext cx="5120640" cy="219456"/>
          </a:xfrm>
          <a:prstGeom prst="rect">
            <a:avLst/>
          </a:prstGeom>
          <a:noFill/>
          <a:ln/>
        </p:spPr>
        <p:txBody>
          <a:bodyPr wrap="square" lIns="0" tIns="0" rIns="0" bIns="0" rtlCol="0" anchor="ctr"/>
          <a:lstStyle/>
          <a:p>
            <a:pPr marL="0" indent="0">
              <a:buNone/>
            </a:pPr>
            <a:r>
              <a:rPr lang="en-US" sz="950" dirty="0">
                <a:solidFill>
                  <a:srgbClr val="D0E8E0"/>
                </a:solidFill>
                <a:latin typeface="Calibri" pitchFamily="34" charset="0"/>
                <a:ea typeface="Calibri" pitchFamily="34" charset="-122"/>
                <a:cs typeface="Calibri" pitchFamily="34" charset="-120"/>
              </a:rPr>
              <a:t>El sistema de pagos y el académico no se comunican entre sí.</a:t>
            </a:r>
            <a:endParaRPr lang="en-US" sz="950" dirty="0"/>
          </a:p>
        </p:txBody>
      </p:sp>
      <p:sp>
        <p:nvSpPr>
          <p:cNvPr id="37" name="Shape 30"/>
          <p:cNvSpPr/>
          <p:nvPr/>
        </p:nvSpPr>
        <p:spPr>
          <a:xfrm>
            <a:off x="3063240" y="4434840"/>
            <a:ext cx="5669280" cy="530352"/>
          </a:xfrm>
          <a:prstGeom prst="rect">
            <a:avLst/>
          </a:prstGeom>
          <a:solidFill>
            <a:srgbClr val="162230"/>
          </a:solidFill>
          <a:ln w="12700">
            <a:solidFill>
              <a:srgbClr val="1E3040"/>
            </a:solidFill>
            <a:prstDash val="solid"/>
          </a:ln>
        </p:spPr>
        <p:txBody>
          <a:bodyPr/>
          <a:lstStyle/>
          <a:p>
            <a:endParaRPr lang="es-PE"/>
          </a:p>
        </p:txBody>
      </p:sp>
      <p:pic>
        <p:nvPicPr>
          <p:cNvPr id="38" name="Image 5" descr="preencoded.png"/>
          <p:cNvPicPr>
            <a:picLocks noChangeAspect="1"/>
          </p:cNvPicPr>
          <p:nvPr/>
        </p:nvPicPr>
        <p:blipFill>
          <a:blip r:embed="rId3"/>
          <a:stretch>
            <a:fillRect/>
          </a:stretch>
        </p:blipFill>
        <p:spPr>
          <a:xfrm>
            <a:off x="3154680" y="4562856"/>
            <a:ext cx="256032" cy="256032"/>
          </a:xfrm>
          <a:prstGeom prst="rect">
            <a:avLst/>
          </a:prstGeom>
        </p:spPr>
      </p:pic>
      <p:sp>
        <p:nvSpPr>
          <p:cNvPr id="39" name="Text 31"/>
          <p:cNvSpPr/>
          <p:nvPr/>
        </p:nvSpPr>
        <p:spPr>
          <a:xfrm>
            <a:off x="3493008" y="4471416"/>
            <a:ext cx="5120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Sin portal para docentes ni alumnos</a:t>
            </a:r>
            <a:endParaRPr lang="en-US" sz="1100" dirty="0"/>
          </a:p>
        </p:txBody>
      </p:sp>
      <p:sp>
        <p:nvSpPr>
          <p:cNvPr id="40" name="Text 32"/>
          <p:cNvSpPr/>
          <p:nvPr/>
        </p:nvSpPr>
        <p:spPr>
          <a:xfrm>
            <a:off x="3493008" y="4709160"/>
            <a:ext cx="5120640" cy="219456"/>
          </a:xfrm>
          <a:prstGeom prst="rect">
            <a:avLst/>
          </a:prstGeom>
          <a:noFill/>
          <a:ln/>
        </p:spPr>
        <p:txBody>
          <a:bodyPr wrap="square" lIns="0" tIns="0" rIns="0" bIns="0" rtlCol="0" anchor="ctr"/>
          <a:lstStyle/>
          <a:p>
            <a:pPr marL="0" indent="0">
              <a:buNone/>
            </a:pPr>
            <a:r>
              <a:rPr lang="en-US" sz="950" dirty="0">
                <a:solidFill>
                  <a:srgbClr val="D0E8E0"/>
                </a:solidFill>
                <a:latin typeface="Calibri" pitchFamily="34" charset="0"/>
                <a:ea typeface="Calibri" pitchFamily="34" charset="-122"/>
                <a:cs typeface="Calibri" pitchFamily="34" charset="-120"/>
              </a:rPr>
              <a:t>Los docentes no tienen herramienta digital para notas ni asistencias.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2"/>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0C896"/>
          </a:solidFill>
          <a:ln w="12700">
            <a:solidFill>
              <a:srgbClr val="00C896"/>
            </a:solidFill>
            <a:prstDash val="solid"/>
          </a:ln>
        </p:spPr>
        <p:txBody>
          <a:bodyPr/>
          <a:lstStyle/>
          <a:p>
            <a:endParaRPr lang="es-PE"/>
          </a:p>
        </p:txBody>
      </p:sp>
      <p:sp>
        <p:nvSpPr>
          <p:cNvPr id="3" name="Shape 1"/>
          <p:cNvSpPr/>
          <p:nvPr/>
        </p:nvSpPr>
        <p:spPr>
          <a:xfrm>
            <a:off x="0" y="0"/>
            <a:ext cx="9144000" cy="841248"/>
          </a:xfrm>
          <a:prstGeom prst="rect">
            <a:avLst/>
          </a:prstGeom>
          <a:solidFill>
            <a:srgbClr val="0F2A1E"/>
          </a:solidFill>
          <a:ln w="12700">
            <a:solidFill>
              <a:srgbClr val="0F2A1E"/>
            </a:solidFill>
            <a:prstDash val="solid"/>
          </a:ln>
        </p:spPr>
        <p:txBody>
          <a:bodyPr/>
          <a:lstStyle/>
          <a:p>
            <a:endParaRPr lang="es-PE"/>
          </a:p>
        </p:txBody>
      </p:sp>
      <p:sp>
        <p:nvSpPr>
          <p:cNvPr id="4" name="Text 2"/>
          <p:cNvSpPr/>
          <p:nvPr/>
        </p:nvSpPr>
        <p:spPr>
          <a:xfrm>
            <a:off x="411480" y="0"/>
            <a:ext cx="8412480" cy="841248"/>
          </a:xfrm>
          <a:prstGeom prst="rect">
            <a:avLst/>
          </a:prstGeom>
          <a:noFill/>
          <a:ln/>
        </p:spPr>
        <p:txBody>
          <a:bodyPr wrap="square" lIns="0" tIns="0" rIns="0" bIns="0" rtlCol="0" anchor="ctr"/>
          <a:lstStyle/>
          <a:p>
            <a:pPr marL="0" indent="0" algn="l">
              <a:buNone/>
            </a:pPr>
            <a:r>
              <a:rPr lang="en-US" sz="2100" b="1" dirty="0">
                <a:solidFill>
                  <a:srgbClr val="00C896"/>
                </a:solidFill>
                <a:latin typeface="Calibri" pitchFamily="34" charset="0"/>
                <a:ea typeface="Calibri" pitchFamily="34" charset="-122"/>
                <a:cs typeface="Calibri" pitchFamily="34" charset="-120"/>
              </a:rPr>
              <a:t>02 · REQUISITOS FUNCIONALES — ¿Qué debe hacer el sistema?</a:t>
            </a:r>
            <a:endParaRPr lang="en-US" sz="2100" dirty="0"/>
          </a:p>
        </p:txBody>
      </p:sp>
      <p:sp>
        <p:nvSpPr>
          <p:cNvPr id="5" name="Shape 3"/>
          <p:cNvSpPr/>
          <p:nvPr/>
        </p:nvSpPr>
        <p:spPr>
          <a:xfrm>
            <a:off x="384048" y="960120"/>
            <a:ext cx="2743200" cy="1920240"/>
          </a:xfrm>
          <a:prstGeom prst="rect">
            <a:avLst/>
          </a:prstGeom>
          <a:solidFill>
            <a:srgbClr val="FFFFFF"/>
          </a:solidFill>
          <a:ln w="12700">
            <a:solidFill>
              <a:srgbClr val="B8D8CC"/>
            </a:solidFill>
            <a:prstDash val="solid"/>
          </a:ln>
          <a:effectLst>
            <a:outerShdw blurRad="127000" dist="38100" dir="8100000" algn="bl" rotWithShape="0">
              <a:srgbClr val="000000">
                <a:alpha val="20000"/>
              </a:srgbClr>
            </a:outerShdw>
          </a:effectLst>
        </p:spPr>
        <p:txBody>
          <a:bodyPr/>
          <a:lstStyle/>
          <a:p>
            <a:endParaRPr lang="es-PE"/>
          </a:p>
        </p:txBody>
      </p:sp>
      <p:sp>
        <p:nvSpPr>
          <p:cNvPr id="6" name="Shape 4"/>
          <p:cNvSpPr/>
          <p:nvPr/>
        </p:nvSpPr>
        <p:spPr>
          <a:xfrm>
            <a:off x="384048" y="960120"/>
            <a:ext cx="2743200" cy="457200"/>
          </a:xfrm>
          <a:prstGeom prst="rect">
            <a:avLst/>
          </a:prstGeom>
          <a:solidFill>
            <a:srgbClr val="0F2A1E"/>
          </a:solidFill>
          <a:ln w="12700">
            <a:solidFill>
              <a:srgbClr val="0F2A1E"/>
            </a:solidFill>
            <a:prstDash val="solid"/>
          </a:ln>
        </p:spPr>
        <p:txBody>
          <a:bodyPr/>
          <a:lstStyle/>
          <a:p>
            <a:endParaRPr lang="es-PE"/>
          </a:p>
        </p:txBody>
      </p:sp>
      <p:pic>
        <p:nvPicPr>
          <p:cNvPr id="7" name="Image 0" descr="preencoded.png"/>
          <p:cNvPicPr>
            <a:picLocks noChangeAspect="1"/>
          </p:cNvPicPr>
          <p:nvPr/>
        </p:nvPicPr>
        <p:blipFill>
          <a:blip r:embed="rId3"/>
          <a:stretch>
            <a:fillRect/>
          </a:stretch>
        </p:blipFill>
        <p:spPr>
          <a:xfrm>
            <a:off x="475488" y="1060704"/>
            <a:ext cx="256032" cy="256032"/>
          </a:xfrm>
          <a:prstGeom prst="rect">
            <a:avLst/>
          </a:prstGeom>
        </p:spPr>
      </p:pic>
      <p:sp>
        <p:nvSpPr>
          <p:cNvPr id="8" name="Text 5"/>
          <p:cNvSpPr/>
          <p:nvPr/>
        </p:nvSpPr>
        <p:spPr>
          <a:xfrm>
            <a:off x="804672" y="1014984"/>
            <a:ext cx="2249424" cy="347472"/>
          </a:xfrm>
          <a:prstGeom prst="rect">
            <a:avLst/>
          </a:prstGeom>
          <a:noFill/>
          <a:ln/>
        </p:spPr>
        <p:txBody>
          <a:bodyPr wrap="square" lIns="0" tIns="0" rIns="0" bIns="0" rtlCol="0" anchor="ctr"/>
          <a:lstStyle/>
          <a:p>
            <a:pPr marL="0" indent="0" algn="l">
              <a:buNone/>
            </a:pPr>
            <a:r>
              <a:rPr lang="en-US" sz="1000" b="1" dirty="0">
                <a:solidFill>
                  <a:srgbClr val="00C896"/>
                </a:solidFill>
                <a:latin typeface="Calibri" pitchFamily="34" charset="0"/>
                <a:ea typeface="Calibri" pitchFamily="34" charset="-122"/>
                <a:cs typeface="Calibri" pitchFamily="34" charset="-120"/>
              </a:rPr>
              <a:t>RF1 – Autenticación por Roles</a:t>
            </a:r>
            <a:endParaRPr lang="en-US" sz="1000" dirty="0"/>
          </a:p>
        </p:txBody>
      </p:sp>
      <p:sp>
        <p:nvSpPr>
          <p:cNvPr id="9" name="Text 6"/>
          <p:cNvSpPr/>
          <p:nvPr/>
        </p:nvSpPr>
        <p:spPr>
          <a:xfrm>
            <a:off x="475488" y="1490472"/>
            <a:ext cx="2578608" cy="1316736"/>
          </a:xfrm>
          <a:prstGeom prst="rect">
            <a:avLst/>
          </a:prstGeom>
          <a:noFill/>
          <a:ln/>
        </p:spPr>
        <p:txBody>
          <a:bodyPr wrap="square" lIns="0" tIns="0" rIns="0" bIns="0" rtlCol="0" anchor="ctr"/>
          <a:lstStyle/>
          <a:p>
            <a:pPr marL="0" indent="0" algn="l">
              <a:buNone/>
            </a:pPr>
            <a:r>
              <a:rPr lang="en-US" sz="1050" dirty="0">
                <a:solidFill>
                  <a:srgbClr val="0F1923"/>
                </a:solidFill>
                <a:latin typeface="Calibri" pitchFamily="34" charset="0"/>
                <a:ea typeface="Calibri" pitchFamily="34" charset="-122"/>
                <a:cs typeface="Calibri" pitchFamily="34" charset="-120"/>
              </a:rPr>
              <a:t>Inicio de sesión diferenciado. Cada usuario ve solo lo de su rol: estudiante, docente o administrador.</a:t>
            </a:r>
            <a:endParaRPr lang="en-US" sz="1050" dirty="0"/>
          </a:p>
        </p:txBody>
      </p:sp>
      <p:sp>
        <p:nvSpPr>
          <p:cNvPr id="10" name="Shape 7"/>
          <p:cNvSpPr/>
          <p:nvPr/>
        </p:nvSpPr>
        <p:spPr>
          <a:xfrm>
            <a:off x="3310128" y="960120"/>
            <a:ext cx="2743200" cy="1920240"/>
          </a:xfrm>
          <a:prstGeom prst="rect">
            <a:avLst/>
          </a:prstGeom>
          <a:solidFill>
            <a:srgbClr val="FFFFFF"/>
          </a:solidFill>
          <a:ln w="12700">
            <a:solidFill>
              <a:srgbClr val="B8D8CC"/>
            </a:solidFill>
            <a:prstDash val="solid"/>
          </a:ln>
          <a:effectLst>
            <a:outerShdw blurRad="127000" dist="38100" dir="8100000" algn="bl" rotWithShape="0">
              <a:srgbClr val="000000">
                <a:alpha val="20000"/>
              </a:srgbClr>
            </a:outerShdw>
          </a:effectLst>
        </p:spPr>
        <p:txBody>
          <a:bodyPr/>
          <a:lstStyle/>
          <a:p>
            <a:endParaRPr lang="es-PE"/>
          </a:p>
        </p:txBody>
      </p:sp>
      <p:sp>
        <p:nvSpPr>
          <p:cNvPr id="11" name="Shape 8"/>
          <p:cNvSpPr/>
          <p:nvPr/>
        </p:nvSpPr>
        <p:spPr>
          <a:xfrm>
            <a:off x="3310128" y="960120"/>
            <a:ext cx="2743200" cy="457200"/>
          </a:xfrm>
          <a:prstGeom prst="rect">
            <a:avLst/>
          </a:prstGeom>
          <a:solidFill>
            <a:srgbClr val="0F2A1E"/>
          </a:solidFill>
          <a:ln w="12700">
            <a:solidFill>
              <a:srgbClr val="0F2A1E"/>
            </a:solidFill>
            <a:prstDash val="solid"/>
          </a:ln>
        </p:spPr>
        <p:txBody>
          <a:bodyPr/>
          <a:lstStyle/>
          <a:p>
            <a:endParaRPr lang="es-PE"/>
          </a:p>
        </p:txBody>
      </p:sp>
      <p:pic>
        <p:nvPicPr>
          <p:cNvPr id="12" name="Image 1" descr="preencoded.png"/>
          <p:cNvPicPr>
            <a:picLocks noChangeAspect="1"/>
          </p:cNvPicPr>
          <p:nvPr/>
        </p:nvPicPr>
        <p:blipFill>
          <a:blip r:embed="rId4"/>
          <a:stretch>
            <a:fillRect/>
          </a:stretch>
        </p:blipFill>
        <p:spPr>
          <a:xfrm>
            <a:off x="3401568" y="1060704"/>
            <a:ext cx="256032" cy="256032"/>
          </a:xfrm>
          <a:prstGeom prst="rect">
            <a:avLst/>
          </a:prstGeom>
        </p:spPr>
      </p:pic>
      <p:sp>
        <p:nvSpPr>
          <p:cNvPr id="13" name="Text 9"/>
          <p:cNvSpPr/>
          <p:nvPr/>
        </p:nvSpPr>
        <p:spPr>
          <a:xfrm>
            <a:off x="3730752" y="1014984"/>
            <a:ext cx="2249424" cy="347472"/>
          </a:xfrm>
          <a:prstGeom prst="rect">
            <a:avLst/>
          </a:prstGeom>
          <a:noFill/>
          <a:ln/>
        </p:spPr>
        <p:txBody>
          <a:bodyPr wrap="square" lIns="0" tIns="0" rIns="0" bIns="0" rtlCol="0" anchor="ctr"/>
          <a:lstStyle/>
          <a:p>
            <a:pPr marL="0" indent="0" algn="l">
              <a:buNone/>
            </a:pPr>
            <a:r>
              <a:rPr lang="en-US" sz="1000" b="1" dirty="0">
                <a:solidFill>
                  <a:srgbClr val="00C896"/>
                </a:solidFill>
                <a:latin typeface="Calibri" pitchFamily="34" charset="0"/>
                <a:ea typeface="Calibri" pitchFamily="34" charset="-122"/>
                <a:cs typeface="Calibri" pitchFamily="34" charset="-120"/>
              </a:rPr>
              <a:t>RF2 – Matrícula con 4 Validaciones</a:t>
            </a:r>
            <a:endParaRPr lang="en-US" sz="1000" dirty="0"/>
          </a:p>
        </p:txBody>
      </p:sp>
      <p:sp>
        <p:nvSpPr>
          <p:cNvPr id="14" name="Text 10"/>
          <p:cNvSpPr/>
          <p:nvPr/>
        </p:nvSpPr>
        <p:spPr>
          <a:xfrm>
            <a:off x="3401568" y="1490472"/>
            <a:ext cx="2578608" cy="1316736"/>
          </a:xfrm>
          <a:prstGeom prst="rect">
            <a:avLst/>
          </a:prstGeom>
          <a:noFill/>
          <a:ln/>
        </p:spPr>
        <p:txBody>
          <a:bodyPr wrap="square" lIns="0" tIns="0" rIns="0" bIns="0" rtlCol="0" anchor="ctr"/>
          <a:lstStyle/>
          <a:p>
            <a:pPr marL="0" indent="0" algn="l">
              <a:buNone/>
            </a:pPr>
            <a:r>
              <a:rPr lang="en-US" sz="1050" dirty="0">
                <a:solidFill>
                  <a:srgbClr val="0F1923"/>
                </a:solidFill>
                <a:latin typeface="Calibri" pitchFamily="34" charset="0"/>
                <a:ea typeface="Calibri" pitchFamily="34" charset="-122"/>
                <a:cs typeface="Calibri" pitchFamily="34" charset="-120"/>
              </a:rPr>
              <a:t>Verifica automáticamente: (1) prerrequisitos, (2) cupo disponible, (3) conflicto de horario y (4) pago confirmado. Solo si todo pasa se registra.</a:t>
            </a:r>
            <a:endParaRPr lang="en-US" sz="1050" dirty="0"/>
          </a:p>
        </p:txBody>
      </p:sp>
      <p:sp>
        <p:nvSpPr>
          <p:cNvPr id="15" name="Shape 11"/>
          <p:cNvSpPr/>
          <p:nvPr/>
        </p:nvSpPr>
        <p:spPr>
          <a:xfrm>
            <a:off x="6236208" y="960120"/>
            <a:ext cx="2743200" cy="1920240"/>
          </a:xfrm>
          <a:prstGeom prst="rect">
            <a:avLst/>
          </a:prstGeom>
          <a:solidFill>
            <a:srgbClr val="FFFFFF"/>
          </a:solidFill>
          <a:ln w="12700">
            <a:solidFill>
              <a:srgbClr val="B8D8CC"/>
            </a:solidFill>
            <a:prstDash val="solid"/>
          </a:ln>
          <a:effectLst>
            <a:outerShdw blurRad="127000" dist="38100" dir="8100000" algn="bl" rotWithShape="0">
              <a:srgbClr val="000000">
                <a:alpha val="20000"/>
              </a:srgbClr>
            </a:outerShdw>
          </a:effectLst>
        </p:spPr>
        <p:txBody>
          <a:bodyPr/>
          <a:lstStyle/>
          <a:p>
            <a:endParaRPr lang="es-PE"/>
          </a:p>
        </p:txBody>
      </p:sp>
      <p:sp>
        <p:nvSpPr>
          <p:cNvPr id="16" name="Shape 12"/>
          <p:cNvSpPr/>
          <p:nvPr/>
        </p:nvSpPr>
        <p:spPr>
          <a:xfrm>
            <a:off x="6236208" y="960120"/>
            <a:ext cx="2743200" cy="457200"/>
          </a:xfrm>
          <a:prstGeom prst="rect">
            <a:avLst/>
          </a:prstGeom>
          <a:solidFill>
            <a:srgbClr val="0F2A1E"/>
          </a:solidFill>
          <a:ln w="12700">
            <a:solidFill>
              <a:srgbClr val="0F2A1E"/>
            </a:solidFill>
            <a:prstDash val="solid"/>
          </a:ln>
        </p:spPr>
        <p:txBody>
          <a:bodyPr/>
          <a:lstStyle/>
          <a:p>
            <a:endParaRPr lang="es-PE"/>
          </a:p>
        </p:txBody>
      </p:sp>
      <p:pic>
        <p:nvPicPr>
          <p:cNvPr id="17" name="Image 2" descr="preencoded.png"/>
          <p:cNvPicPr>
            <a:picLocks noChangeAspect="1"/>
          </p:cNvPicPr>
          <p:nvPr/>
        </p:nvPicPr>
        <p:blipFill>
          <a:blip r:embed="rId5"/>
          <a:stretch>
            <a:fillRect/>
          </a:stretch>
        </p:blipFill>
        <p:spPr>
          <a:xfrm>
            <a:off x="6327648" y="1060704"/>
            <a:ext cx="256032" cy="256032"/>
          </a:xfrm>
          <a:prstGeom prst="rect">
            <a:avLst/>
          </a:prstGeom>
        </p:spPr>
      </p:pic>
      <p:sp>
        <p:nvSpPr>
          <p:cNvPr id="18" name="Text 13"/>
          <p:cNvSpPr/>
          <p:nvPr/>
        </p:nvSpPr>
        <p:spPr>
          <a:xfrm>
            <a:off x="6656832" y="1014984"/>
            <a:ext cx="2249424" cy="347472"/>
          </a:xfrm>
          <a:prstGeom prst="rect">
            <a:avLst/>
          </a:prstGeom>
          <a:noFill/>
          <a:ln/>
        </p:spPr>
        <p:txBody>
          <a:bodyPr wrap="square" lIns="0" tIns="0" rIns="0" bIns="0" rtlCol="0" anchor="ctr"/>
          <a:lstStyle/>
          <a:p>
            <a:pPr marL="0" indent="0" algn="l">
              <a:buNone/>
            </a:pPr>
            <a:r>
              <a:rPr lang="en-US" sz="1000" b="1" dirty="0">
                <a:solidFill>
                  <a:srgbClr val="00C896"/>
                </a:solidFill>
                <a:latin typeface="Calibri" pitchFamily="34" charset="0"/>
                <a:ea typeface="Calibri" pitchFamily="34" charset="-122"/>
                <a:cs typeface="Calibri" pitchFamily="34" charset="-120"/>
              </a:rPr>
              <a:t>RF3 – Integración con Pagos</a:t>
            </a:r>
            <a:endParaRPr lang="en-US" sz="1000" dirty="0"/>
          </a:p>
        </p:txBody>
      </p:sp>
      <p:sp>
        <p:nvSpPr>
          <p:cNvPr id="19" name="Text 14"/>
          <p:cNvSpPr/>
          <p:nvPr/>
        </p:nvSpPr>
        <p:spPr>
          <a:xfrm>
            <a:off x="6327648" y="1490472"/>
            <a:ext cx="2578608" cy="1316736"/>
          </a:xfrm>
          <a:prstGeom prst="rect">
            <a:avLst/>
          </a:prstGeom>
          <a:noFill/>
          <a:ln/>
        </p:spPr>
        <p:txBody>
          <a:bodyPr wrap="square" lIns="0" tIns="0" rIns="0" bIns="0" rtlCol="0" anchor="ctr"/>
          <a:lstStyle/>
          <a:p>
            <a:pPr marL="0" indent="0" algn="l">
              <a:buNone/>
            </a:pPr>
            <a:r>
              <a:rPr lang="en-US" sz="1050" dirty="0">
                <a:solidFill>
                  <a:srgbClr val="0F1923"/>
                </a:solidFill>
                <a:latin typeface="Calibri" pitchFamily="34" charset="0"/>
                <a:ea typeface="Calibri" pitchFamily="34" charset="-122"/>
                <a:cs typeface="Calibri" pitchFamily="34" charset="-120"/>
              </a:rPr>
              <a:t>Se conecta con el sistema financiero externo para validar el pago en segundos, sin intervención manual.</a:t>
            </a:r>
            <a:endParaRPr lang="en-US" sz="1050" dirty="0"/>
          </a:p>
        </p:txBody>
      </p:sp>
      <p:sp>
        <p:nvSpPr>
          <p:cNvPr id="20" name="Shape 15"/>
          <p:cNvSpPr/>
          <p:nvPr/>
        </p:nvSpPr>
        <p:spPr>
          <a:xfrm>
            <a:off x="384048" y="2743200"/>
            <a:ext cx="2743200" cy="1920240"/>
          </a:xfrm>
          <a:prstGeom prst="rect">
            <a:avLst/>
          </a:prstGeom>
          <a:solidFill>
            <a:srgbClr val="FFFFFF"/>
          </a:solidFill>
          <a:ln w="12700">
            <a:solidFill>
              <a:srgbClr val="B8D8CC"/>
            </a:solidFill>
            <a:prstDash val="solid"/>
          </a:ln>
          <a:effectLst>
            <a:outerShdw blurRad="127000" dist="38100" dir="8100000" algn="bl" rotWithShape="0">
              <a:srgbClr val="000000">
                <a:alpha val="20000"/>
              </a:srgbClr>
            </a:outerShdw>
          </a:effectLst>
        </p:spPr>
        <p:txBody>
          <a:bodyPr/>
          <a:lstStyle/>
          <a:p>
            <a:endParaRPr lang="es-PE"/>
          </a:p>
        </p:txBody>
      </p:sp>
      <p:sp>
        <p:nvSpPr>
          <p:cNvPr id="21" name="Shape 16"/>
          <p:cNvSpPr/>
          <p:nvPr/>
        </p:nvSpPr>
        <p:spPr>
          <a:xfrm>
            <a:off x="384048" y="2743200"/>
            <a:ext cx="2743200" cy="457200"/>
          </a:xfrm>
          <a:prstGeom prst="rect">
            <a:avLst/>
          </a:prstGeom>
          <a:solidFill>
            <a:srgbClr val="0F2A1E"/>
          </a:solidFill>
          <a:ln w="12700">
            <a:solidFill>
              <a:srgbClr val="0F2A1E"/>
            </a:solidFill>
            <a:prstDash val="solid"/>
          </a:ln>
        </p:spPr>
        <p:txBody>
          <a:bodyPr/>
          <a:lstStyle/>
          <a:p>
            <a:endParaRPr lang="es-PE"/>
          </a:p>
        </p:txBody>
      </p:sp>
      <p:pic>
        <p:nvPicPr>
          <p:cNvPr id="22" name="Image 3" descr="preencoded.png"/>
          <p:cNvPicPr>
            <a:picLocks noChangeAspect="1"/>
          </p:cNvPicPr>
          <p:nvPr/>
        </p:nvPicPr>
        <p:blipFill>
          <a:blip r:embed="rId6"/>
          <a:stretch>
            <a:fillRect/>
          </a:stretch>
        </p:blipFill>
        <p:spPr>
          <a:xfrm>
            <a:off x="475488" y="2843784"/>
            <a:ext cx="256032" cy="256032"/>
          </a:xfrm>
          <a:prstGeom prst="rect">
            <a:avLst/>
          </a:prstGeom>
        </p:spPr>
      </p:pic>
      <p:sp>
        <p:nvSpPr>
          <p:cNvPr id="23" name="Text 17"/>
          <p:cNvSpPr/>
          <p:nvPr/>
        </p:nvSpPr>
        <p:spPr>
          <a:xfrm>
            <a:off x="804672" y="2798064"/>
            <a:ext cx="2249424" cy="347472"/>
          </a:xfrm>
          <a:prstGeom prst="rect">
            <a:avLst/>
          </a:prstGeom>
          <a:noFill/>
          <a:ln/>
        </p:spPr>
        <p:txBody>
          <a:bodyPr wrap="square" lIns="0" tIns="0" rIns="0" bIns="0" rtlCol="0" anchor="ctr"/>
          <a:lstStyle/>
          <a:p>
            <a:pPr marL="0" indent="0" algn="l">
              <a:buNone/>
            </a:pPr>
            <a:r>
              <a:rPr lang="en-US" sz="1000" b="1" dirty="0">
                <a:solidFill>
                  <a:srgbClr val="00C896"/>
                </a:solidFill>
                <a:latin typeface="Calibri" pitchFamily="34" charset="0"/>
                <a:ea typeface="Calibri" pitchFamily="34" charset="-122"/>
                <a:cs typeface="Calibri" pitchFamily="34" charset="-120"/>
              </a:rPr>
              <a:t>RF4 – Portal del Docente</a:t>
            </a:r>
            <a:endParaRPr lang="en-US" sz="1000" dirty="0"/>
          </a:p>
        </p:txBody>
      </p:sp>
      <p:sp>
        <p:nvSpPr>
          <p:cNvPr id="24" name="Text 18"/>
          <p:cNvSpPr/>
          <p:nvPr/>
        </p:nvSpPr>
        <p:spPr>
          <a:xfrm>
            <a:off x="475488" y="3273552"/>
            <a:ext cx="2578608" cy="1316736"/>
          </a:xfrm>
          <a:prstGeom prst="rect">
            <a:avLst/>
          </a:prstGeom>
          <a:noFill/>
          <a:ln/>
        </p:spPr>
        <p:txBody>
          <a:bodyPr wrap="square" lIns="0" tIns="0" rIns="0" bIns="0" rtlCol="0" anchor="ctr"/>
          <a:lstStyle/>
          <a:p>
            <a:pPr marL="0" indent="0" algn="l">
              <a:buNone/>
            </a:pPr>
            <a:r>
              <a:rPr lang="en-US" sz="1050" dirty="0">
                <a:solidFill>
                  <a:srgbClr val="0F1923"/>
                </a:solidFill>
                <a:latin typeface="Calibri" pitchFamily="34" charset="0"/>
                <a:ea typeface="Calibri" pitchFamily="34" charset="-122"/>
                <a:cs typeface="Calibri" pitchFamily="34" charset="-120"/>
              </a:rPr>
              <a:t>Los docentes registran notas y asistencias de sus alumnos por curso y por periodo, desde su propio portal.</a:t>
            </a:r>
            <a:endParaRPr lang="en-US" sz="1050" dirty="0"/>
          </a:p>
        </p:txBody>
      </p:sp>
      <p:sp>
        <p:nvSpPr>
          <p:cNvPr id="25" name="Shape 19"/>
          <p:cNvSpPr/>
          <p:nvPr/>
        </p:nvSpPr>
        <p:spPr>
          <a:xfrm>
            <a:off x="3310128" y="2743200"/>
            <a:ext cx="2743200" cy="1920240"/>
          </a:xfrm>
          <a:prstGeom prst="rect">
            <a:avLst/>
          </a:prstGeom>
          <a:solidFill>
            <a:srgbClr val="FFFFFF"/>
          </a:solidFill>
          <a:ln w="12700">
            <a:solidFill>
              <a:srgbClr val="B8D8CC"/>
            </a:solidFill>
            <a:prstDash val="solid"/>
          </a:ln>
          <a:effectLst>
            <a:outerShdw blurRad="127000" dist="38100" dir="8100000" algn="bl" rotWithShape="0">
              <a:srgbClr val="000000">
                <a:alpha val="20000"/>
              </a:srgbClr>
            </a:outerShdw>
          </a:effectLst>
        </p:spPr>
        <p:txBody>
          <a:bodyPr/>
          <a:lstStyle/>
          <a:p>
            <a:endParaRPr lang="es-PE"/>
          </a:p>
        </p:txBody>
      </p:sp>
      <p:sp>
        <p:nvSpPr>
          <p:cNvPr id="26" name="Shape 20"/>
          <p:cNvSpPr/>
          <p:nvPr/>
        </p:nvSpPr>
        <p:spPr>
          <a:xfrm>
            <a:off x="3310128" y="2743200"/>
            <a:ext cx="2743200" cy="457200"/>
          </a:xfrm>
          <a:prstGeom prst="rect">
            <a:avLst/>
          </a:prstGeom>
          <a:solidFill>
            <a:srgbClr val="0F2A1E"/>
          </a:solidFill>
          <a:ln w="12700">
            <a:solidFill>
              <a:srgbClr val="0F2A1E"/>
            </a:solidFill>
            <a:prstDash val="solid"/>
          </a:ln>
        </p:spPr>
        <p:txBody>
          <a:bodyPr/>
          <a:lstStyle/>
          <a:p>
            <a:endParaRPr lang="es-PE"/>
          </a:p>
        </p:txBody>
      </p:sp>
      <p:pic>
        <p:nvPicPr>
          <p:cNvPr id="27" name="Image 4" descr="preencoded.png"/>
          <p:cNvPicPr>
            <a:picLocks noChangeAspect="1"/>
          </p:cNvPicPr>
          <p:nvPr/>
        </p:nvPicPr>
        <p:blipFill>
          <a:blip r:embed="rId7"/>
          <a:stretch>
            <a:fillRect/>
          </a:stretch>
        </p:blipFill>
        <p:spPr>
          <a:xfrm>
            <a:off x="3401568" y="2843784"/>
            <a:ext cx="256032" cy="256032"/>
          </a:xfrm>
          <a:prstGeom prst="rect">
            <a:avLst/>
          </a:prstGeom>
        </p:spPr>
      </p:pic>
      <p:sp>
        <p:nvSpPr>
          <p:cNvPr id="28" name="Text 21"/>
          <p:cNvSpPr/>
          <p:nvPr/>
        </p:nvSpPr>
        <p:spPr>
          <a:xfrm>
            <a:off x="3730752" y="2798064"/>
            <a:ext cx="2249424" cy="347472"/>
          </a:xfrm>
          <a:prstGeom prst="rect">
            <a:avLst/>
          </a:prstGeom>
          <a:noFill/>
          <a:ln/>
        </p:spPr>
        <p:txBody>
          <a:bodyPr wrap="square" lIns="0" tIns="0" rIns="0" bIns="0" rtlCol="0" anchor="ctr"/>
          <a:lstStyle/>
          <a:p>
            <a:pPr marL="0" indent="0" algn="l">
              <a:buNone/>
            </a:pPr>
            <a:r>
              <a:rPr lang="en-US" sz="1000" b="1" dirty="0">
                <a:solidFill>
                  <a:srgbClr val="00C896"/>
                </a:solidFill>
                <a:latin typeface="Calibri" pitchFamily="34" charset="0"/>
                <a:ea typeface="Calibri" pitchFamily="34" charset="-122"/>
                <a:cs typeface="Calibri" pitchFamily="34" charset="-120"/>
              </a:rPr>
              <a:t>RF5 – Consultas del Estudiante</a:t>
            </a:r>
            <a:endParaRPr lang="en-US" sz="1000" dirty="0"/>
          </a:p>
        </p:txBody>
      </p:sp>
      <p:sp>
        <p:nvSpPr>
          <p:cNvPr id="29" name="Text 22"/>
          <p:cNvSpPr/>
          <p:nvPr/>
        </p:nvSpPr>
        <p:spPr>
          <a:xfrm>
            <a:off x="3401568" y="3273552"/>
            <a:ext cx="2578608" cy="1316736"/>
          </a:xfrm>
          <a:prstGeom prst="rect">
            <a:avLst/>
          </a:prstGeom>
          <a:noFill/>
          <a:ln/>
        </p:spPr>
        <p:txBody>
          <a:bodyPr wrap="square" lIns="0" tIns="0" rIns="0" bIns="0" rtlCol="0" anchor="ctr"/>
          <a:lstStyle/>
          <a:p>
            <a:pPr marL="0" indent="0" algn="l">
              <a:buNone/>
            </a:pPr>
            <a:r>
              <a:rPr lang="en-US" sz="1050" dirty="0">
                <a:solidFill>
                  <a:srgbClr val="0F1923"/>
                </a:solidFill>
                <a:latin typeface="Calibri" pitchFamily="34" charset="0"/>
                <a:ea typeface="Calibri" pitchFamily="34" charset="-122"/>
                <a:cs typeface="Calibri" pitchFamily="34" charset="-120"/>
              </a:rPr>
              <a:t>El alumno consulta su horario, sus notas actuales y el historial completo de todas sus matrículas anteriores.</a:t>
            </a:r>
            <a:endParaRPr lang="en-US" sz="1050" dirty="0"/>
          </a:p>
        </p:txBody>
      </p:sp>
      <p:sp>
        <p:nvSpPr>
          <p:cNvPr id="30" name="Shape 23"/>
          <p:cNvSpPr/>
          <p:nvPr/>
        </p:nvSpPr>
        <p:spPr>
          <a:xfrm>
            <a:off x="6236208" y="2743200"/>
            <a:ext cx="2743200" cy="1920240"/>
          </a:xfrm>
          <a:prstGeom prst="rect">
            <a:avLst/>
          </a:prstGeom>
          <a:solidFill>
            <a:srgbClr val="FFFFFF"/>
          </a:solidFill>
          <a:ln w="12700">
            <a:solidFill>
              <a:srgbClr val="B8D8CC"/>
            </a:solidFill>
            <a:prstDash val="solid"/>
          </a:ln>
          <a:effectLst>
            <a:outerShdw blurRad="127000" dist="38100" dir="8100000" algn="bl" rotWithShape="0">
              <a:srgbClr val="000000">
                <a:alpha val="20000"/>
              </a:srgbClr>
            </a:outerShdw>
          </a:effectLst>
        </p:spPr>
        <p:txBody>
          <a:bodyPr/>
          <a:lstStyle/>
          <a:p>
            <a:endParaRPr lang="es-PE"/>
          </a:p>
        </p:txBody>
      </p:sp>
      <p:sp>
        <p:nvSpPr>
          <p:cNvPr id="31" name="Shape 24"/>
          <p:cNvSpPr/>
          <p:nvPr/>
        </p:nvSpPr>
        <p:spPr>
          <a:xfrm>
            <a:off x="6236208" y="2743200"/>
            <a:ext cx="2743200" cy="457200"/>
          </a:xfrm>
          <a:prstGeom prst="rect">
            <a:avLst/>
          </a:prstGeom>
          <a:solidFill>
            <a:srgbClr val="0F2A1E"/>
          </a:solidFill>
          <a:ln w="12700">
            <a:solidFill>
              <a:srgbClr val="0F2A1E"/>
            </a:solidFill>
            <a:prstDash val="solid"/>
          </a:ln>
        </p:spPr>
        <p:txBody>
          <a:bodyPr/>
          <a:lstStyle/>
          <a:p>
            <a:endParaRPr lang="es-PE"/>
          </a:p>
        </p:txBody>
      </p:sp>
      <p:pic>
        <p:nvPicPr>
          <p:cNvPr id="32" name="Image 5" descr="preencoded.png"/>
          <p:cNvPicPr>
            <a:picLocks noChangeAspect="1"/>
          </p:cNvPicPr>
          <p:nvPr/>
        </p:nvPicPr>
        <p:blipFill>
          <a:blip r:embed="rId8"/>
          <a:stretch>
            <a:fillRect/>
          </a:stretch>
        </p:blipFill>
        <p:spPr>
          <a:xfrm>
            <a:off x="6327648" y="2843784"/>
            <a:ext cx="256032" cy="256032"/>
          </a:xfrm>
          <a:prstGeom prst="rect">
            <a:avLst/>
          </a:prstGeom>
        </p:spPr>
      </p:pic>
      <p:sp>
        <p:nvSpPr>
          <p:cNvPr id="33" name="Text 25"/>
          <p:cNvSpPr/>
          <p:nvPr/>
        </p:nvSpPr>
        <p:spPr>
          <a:xfrm>
            <a:off x="6656832" y="2798064"/>
            <a:ext cx="2249424" cy="347472"/>
          </a:xfrm>
          <a:prstGeom prst="rect">
            <a:avLst/>
          </a:prstGeom>
          <a:noFill/>
          <a:ln/>
        </p:spPr>
        <p:txBody>
          <a:bodyPr wrap="square" lIns="0" tIns="0" rIns="0" bIns="0" rtlCol="0" anchor="ctr"/>
          <a:lstStyle/>
          <a:p>
            <a:pPr marL="0" indent="0" algn="l">
              <a:buNone/>
            </a:pPr>
            <a:r>
              <a:rPr lang="en-US" sz="1000" b="1" dirty="0">
                <a:solidFill>
                  <a:srgbClr val="00C896"/>
                </a:solidFill>
                <a:latin typeface="Calibri" pitchFamily="34" charset="0"/>
                <a:ea typeface="Calibri" pitchFamily="34" charset="-122"/>
                <a:cs typeface="Calibri" pitchFamily="34" charset="-120"/>
              </a:rPr>
              <a:t>RF6 – Gestión Administrativa</a:t>
            </a:r>
            <a:endParaRPr lang="en-US" sz="1000" dirty="0"/>
          </a:p>
        </p:txBody>
      </p:sp>
      <p:sp>
        <p:nvSpPr>
          <p:cNvPr id="34" name="Text 26"/>
          <p:cNvSpPr/>
          <p:nvPr/>
        </p:nvSpPr>
        <p:spPr>
          <a:xfrm>
            <a:off x="6327648" y="3273552"/>
            <a:ext cx="2578608" cy="1316736"/>
          </a:xfrm>
          <a:prstGeom prst="rect">
            <a:avLst/>
          </a:prstGeom>
          <a:noFill/>
          <a:ln/>
        </p:spPr>
        <p:txBody>
          <a:bodyPr wrap="square" lIns="0" tIns="0" rIns="0" bIns="0" rtlCol="0" anchor="ctr"/>
          <a:lstStyle/>
          <a:p>
            <a:pPr marL="0" indent="0" algn="l">
              <a:buNone/>
            </a:pPr>
            <a:r>
              <a:rPr lang="en-US" sz="1050" dirty="0">
                <a:solidFill>
                  <a:srgbClr val="0F1923"/>
                </a:solidFill>
                <a:latin typeface="Calibri" pitchFamily="34" charset="0"/>
                <a:ea typeface="Calibri" pitchFamily="34" charset="-122"/>
                <a:cs typeface="Calibri" pitchFamily="34" charset="-120"/>
              </a:rPr>
              <a:t>El administrador crea, edita y elimina cursos; asigna docentes; y genera reportes del estado académico de la universidad.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0C896"/>
          </a:solidFill>
          <a:ln w="12700">
            <a:solidFill>
              <a:srgbClr val="00C896"/>
            </a:solidFill>
            <a:prstDash val="solid"/>
          </a:ln>
        </p:spPr>
        <p:txBody>
          <a:bodyPr/>
          <a:lstStyle/>
          <a:p>
            <a:endParaRPr lang="es-PE"/>
          </a:p>
        </p:txBody>
      </p:sp>
      <p:sp>
        <p:nvSpPr>
          <p:cNvPr id="3" name="Shape 1"/>
          <p:cNvSpPr/>
          <p:nvPr/>
        </p:nvSpPr>
        <p:spPr>
          <a:xfrm>
            <a:off x="0" y="0"/>
            <a:ext cx="9144000" cy="841248"/>
          </a:xfrm>
          <a:prstGeom prst="rect">
            <a:avLst/>
          </a:prstGeom>
          <a:solidFill>
            <a:srgbClr val="1A2B3C"/>
          </a:solidFill>
          <a:ln w="12700">
            <a:solidFill>
              <a:srgbClr val="1A2B3C"/>
            </a:solidFill>
            <a:prstDash val="solid"/>
          </a:ln>
        </p:spPr>
        <p:txBody>
          <a:bodyPr/>
          <a:lstStyle/>
          <a:p>
            <a:endParaRPr lang="es-PE"/>
          </a:p>
        </p:txBody>
      </p:sp>
      <p:sp>
        <p:nvSpPr>
          <p:cNvPr id="4" name="Text 2"/>
          <p:cNvSpPr/>
          <p:nvPr/>
        </p:nvSpPr>
        <p:spPr>
          <a:xfrm>
            <a:off x="411480" y="0"/>
            <a:ext cx="8412480" cy="841248"/>
          </a:xfrm>
          <a:prstGeom prst="rect">
            <a:avLst/>
          </a:prstGeom>
          <a:noFill/>
          <a:ln/>
        </p:spPr>
        <p:txBody>
          <a:bodyPr wrap="square" lIns="0" tIns="0" rIns="0" bIns="0" rtlCol="0" anchor="ctr"/>
          <a:lstStyle/>
          <a:p>
            <a:pPr marL="0" indent="0" algn="l">
              <a:buNone/>
            </a:pPr>
            <a:r>
              <a:rPr lang="en-US" sz="2100" b="1" dirty="0">
                <a:solidFill>
                  <a:srgbClr val="00C896"/>
                </a:solidFill>
                <a:latin typeface="Calibri" pitchFamily="34" charset="0"/>
                <a:ea typeface="Calibri" pitchFamily="34" charset="-122"/>
                <a:cs typeface="Calibri" pitchFamily="34" charset="-120"/>
              </a:rPr>
              <a:t>02 · REQUISITOS NO FUNCIONALES — ¿Cómo debe funcionar?</a:t>
            </a:r>
            <a:endParaRPr lang="en-US" sz="2100" dirty="0"/>
          </a:p>
        </p:txBody>
      </p:sp>
      <p:sp>
        <p:nvSpPr>
          <p:cNvPr id="5" name="Shape 3"/>
          <p:cNvSpPr/>
          <p:nvPr/>
        </p:nvSpPr>
        <p:spPr>
          <a:xfrm>
            <a:off x="384048" y="960120"/>
            <a:ext cx="4206240" cy="896112"/>
          </a:xfrm>
          <a:prstGeom prst="rect">
            <a:avLst/>
          </a:prstGeom>
          <a:solidFill>
            <a:srgbClr val="1A2B3C"/>
          </a:solidFill>
          <a:ln w="12700">
            <a:solidFill>
              <a:srgbClr val="1E3A2A"/>
            </a:solidFill>
            <a:prstDash val="solid"/>
          </a:ln>
        </p:spPr>
        <p:txBody>
          <a:bodyPr/>
          <a:lstStyle/>
          <a:p>
            <a:endParaRPr lang="es-PE"/>
          </a:p>
        </p:txBody>
      </p:sp>
      <p:sp>
        <p:nvSpPr>
          <p:cNvPr id="6" name="Shape 4"/>
          <p:cNvSpPr/>
          <p:nvPr/>
        </p:nvSpPr>
        <p:spPr>
          <a:xfrm>
            <a:off x="384048" y="960120"/>
            <a:ext cx="548640" cy="896112"/>
          </a:xfrm>
          <a:prstGeom prst="rect">
            <a:avLst/>
          </a:prstGeom>
          <a:solidFill>
            <a:srgbClr val="009E78"/>
          </a:solidFill>
          <a:ln w="12700">
            <a:solidFill>
              <a:srgbClr val="009E78"/>
            </a:solidFill>
            <a:prstDash val="solid"/>
          </a:ln>
        </p:spPr>
        <p:txBody>
          <a:bodyPr/>
          <a:lstStyle/>
          <a:p>
            <a:endParaRPr lang="es-PE"/>
          </a:p>
        </p:txBody>
      </p:sp>
      <p:pic>
        <p:nvPicPr>
          <p:cNvPr id="7" name="Image 0" descr="preencoded.png"/>
          <p:cNvPicPr>
            <a:picLocks noChangeAspect="1"/>
          </p:cNvPicPr>
          <p:nvPr/>
        </p:nvPicPr>
        <p:blipFill>
          <a:blip r:embed="rId3"/>
          <a:stretch>
            <a:fillRect/>
          </a:stretch>
        </p:blipFill>
        <p:spPr>
          <a:xfrm>
            <a:off x="493776" y="1234440"/>
            <a:ext cx="320040" cy="320040"/>
          </a:xfrm>
          <a:prstGeom prst="rect">
            <a:avLst/>
          </a:prstGeom>
        </p:spPr>
      </p:pic>
      <p:sp>
        <p:nvSpPr>
          <p:cNvPr id="8" name="Text 5"/>
          <p:cNvSpPr/>
          <p:nvPr/>
        </p:nvSpPr>
        <p:spPr>
          <a:xfrm>
            <a:off x="1069848" y="1014984"/>
            <a:ext cx="1097280" cy="411480"/>
          </a:xfrm>
          <a:prstGeom prst="rect">
            <a:avLst/>
          </a:prstGeom>
          <a:noFill/>
          <a:ln/>
        </p:spPr>
        <p:txBody>
          <a:bodyPr wrap="square" lIns="0" tIns="0" rIns="0" bIns="0" rtlCol="0" anchor="ctr"/>
          <a:lstStyle/>
          <a:p>
            <a:pPr marL="0" indent="0">
              <a:buNone/>
            </a:pPr>
            <a:r>
              <a:rPr lang="en-US" sz="2200" b="1" dirty="0">
                <a:solidFill>
                  <a:srgbClr val="00C896"/>
                </a:solidFill>
                <a:latin typeface="Calibri" pitchFamily="34" charset="0"/>
                <a:ea typeface="Calibri" pitchFamily="34" charset="-122"/>
                <a:cs typeface="Calibri" pitchFamily="34" charset="-120"/>
              </a:rPr>
              <a:t>4,000</a:t>
            </a:r>
            <a:endParaRPr lang="en-US" sz="2200" dirty="0"/>
          </a:p>
        </p:txBody>
      </p:sp>
      <p:sp>
        <p:nvSpPr>
          <p:cNvPr id="9" name="Text 6"/>
          <p:cNvSpPr/>
          <p:nvPr/>
        </p:nvSpPr>
        <p:spPr>
          <a:xfrm>
            <a:off x="2167128" y="1033272"/>
            <a:ext cx="22860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Rendimiento</a:t>
            </a:r>
            <a:endParaRPr lang="en-US" sz="1100" dirty="0"/>
          </a:p>
        </p:txBody>
      </p:sp>
      <p:sp>
        <p:nvSpPr>
          <p:cNvPr id="10" name="Text 7"/>
          <p:cNvSpPr/>
          <p:nvPr/>
        </p:nvSpPr>
        <p:spPr>
          <a:xfrm>
            <a:off x="1069848" y="1463040"/>
            <a:ext cx="3383280" cy="320040"/>
          </a:xfrm>
          <a:prstGeom prst="rect">
            <a:avLst/>
          </a:prstGeom>
          <a:noFill/>
          <a:ln/>
        </p:spPr>
        <p:txBody>
          <a:bodyPr wrap="square" lIns="0" tIns="0" rIns="0" bIns="0" rtlCol="0" anchor="ctr"/>
          <a:lstStyle/>
          <a:p>
            <a:pPr marL="0" indent="0">
              <a:buNone/>
            </a:pPr>
            <a:r>
              <a:rPr lang="en-US" sz="1000" dirty="0">
                <a:solidFill>
                  <a:srgbClr val="D0E8E0"/>
                </a:solidFill>
                <a:latin typeface="Calibri" pitchFamily="34" charset="0"/>
                <a:ea typeface="Calibri" pitchFamily="34" charset="-122"/>
                <a:cs typeface="Calibri" pitchFamily="34" charset="-120"/>
              </a:rPr>
              <a:t>usuarios simultáneos sin colapsar</a:t>
            </a:r>
            <a:endParaRPr lang="en-US" sz="1000" dirty="0"/>
          </a:p>
        </p:txBody>
      </p:sp>
      <p:sp>
        <p:nvSpPr>
          <p:cNvPr id="11" name="Shape 8"/>
          <p:cNvSpPr/>
          <p:nvPr/>
        </p:nvSpPr>
        <p:spPr>
          <a:xfrm>
            <a:off x="4800600" y="960120"/>
            <a:ext cx="4206240" cy="896112"/>
          </a:xfrm>
          <a:prstGeom prst="rect">
            <a:avLst/>
          </a:prstGeom>
          <a:solidFill>
            <a:srgbClr val="1A2B3C"/>
          </a:solidFill>
          <a:ln w="12700">
            <a:solidFill>
              <a:srgbClr val="1E3A2A"/>
            </a:solidFill>
            <a:prstDash val="solid"/>
          </a:ln>
        </p:spPr>
        <p:txBody>
          <a:bodyPr/>
          <a:lstStyle/>
          <a:p>
            <a:endParaRPr lang="es-PE"/>
          </a:p>
        </p:txBody>
      </p:sp>
      <p:sp>
        <p:nvSpPr>
          <p:cNvPr id="12" name="Shape 9"/>
          <p:cNvSpPr/>
          <p:nvPr/>
        </p:nvSpPr>
        <p:spPr>
          <a:xfrm>
            <a:off x="4800600" y="960120"/>
            <a:ext cx="548640" cy="896112"/>
          </a:xfrm>
          <a:prstGeom prst="rect">
            <a:avLst/>
          </a:prstGeom>
          <a:solidFill>
            <a:srgbClr val="009E78"/>
          </a:solidFill>
          <a:ln w="12700">
            <a:solidFill>
              <a:srgbClr val="009E78"/>
            </a:solidFill>
            <a:prstDash val="solid"/>
          </a:ln>
        </p:spPr>
        <p:txBody>
          <a:bodyPr/>
          <a:lstStyle/>
          <a:p>
            <a:endParaRPr lang="es-PE"/>
          </a:p>
        </p:txBody>
      </p:sp>
      <p:pic>
        <p:nvPicPr>
          <p:cNvPr id="13" name="Image 1" descr="preencoded.png"/>
          <p:cNvPicPr>
            <a:picLocks noChangeAspect="1"/>
          </p:cNvPicPr>
          <p:nvPr/>
        </p:nvPicPr>
        <p:blipFill>
          <a:blip r:embed="rId4"/>
          <a:stretch>
            <a:fillRect/>
          </a:stretch>
        </p:blipFill>
        <p:spPr>
          <a:xfrm>
            <a:off x="4910328" y="1234440"/>
            <a:ext cx="320040" cy="320040"/>
          </a:xfrm>
          <a:prstGeom prst="rect">
            <a:avLst/>
          </a:prstGeom>
        </p:spPr>
      </p:pic>
      <p:sp>
        <p:nvSpPr>
          <p:cNvPr id="14" name="Text 10"/>
          <p:cNvSpPr/>
          <p:nvPr/>
        </p:nvSpPr>
        <p:spPr>
          <a:xfrm>
            <a:off x="5486400" y="1014984"/>
            <a:ext cx="1097280" cy="411480"/>
          </a:xfrm>
          <a:prstGeom prst="rect">
            <a:avLst/>
          </a:prstGeom>
          <a:noFill/>
          <a:ln/>
        </p:spPr>
        <p:txBody>
          <a:bodyPr wrap="square" lIns="0" tIns="0" rIns="0" bIns="0" rtlCol="0" anchor="ctr"/>
          <a:lstStyle/>
          <a:p>
            <a:pPr marL="0" indent="0">
              <a:buNone/>
            </a:pPr>
            <a:r>
              <a:rPr lang="en-US" sz="2200" b="1" dirty="0">
                <a:solidFill>
                  <a:srgbClr val="00C896"/>
                </a:solidFill>
                <a:latin typeface="Calibri" pitchFamily="34" charset="0"/>
                <a:ea typeface="Calibri" pitchFamily="34" charset="-122"/>
                <a:cs typeface="Calibri" pitchFamily="34" charset="-120"/>
              </a:rPr>
              <a:t>&lt;2 seg</a:t>
            </a:r>
            <a:endParaRPr lang="en-US" sz="2200" dirty="0"/>
          </a:p>
        </p:txBody>
      </p:sp>
      <p:sp>
        <p:nvSpPr>
          <p:cNvPr id="15" name="Text 11"/>
          <p:cNvSpPr/>
          <p:nvPr/>
        </p:nvSpPr>
        <p:spPr>
          <a:xfrm>
            <a:off x="6583680" y="1033272"/>
            <a:ext cx="22860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Velocidad</a:t>
            </a:r>
            <a:endParaRPr lang="en-US" sz="1100" dirty="0"/>
          </a:p>
        </p:txBody>
      </p:sp>
      <p:sp>
        <p:nvSpPr>
          <p:cNvPr id="16" name="Text 12"/>
          <p:cNvSpPr/>
          <p:nvPr/>
        </p:nvSpPr>
        <p:spPr>
          <a:xfrm>
            <a:off x="5486400" y="1463040"/>
            <a:ext cx="3383280" cy="320040"/>
          </a:xfrm>
          <a:prstGeom prst="rect">
            <a:avLst/>
          </a:prstGeom>
          <a:noFill/>
          <a:ln/>
        </p:spPr>
        <p:txBody>
          <a:bodyPr wrap="square" lIns="0" tIns="0" rIns="0" bIns="0" rtlCol="0" anchor="ctr"/>
          <a:lstStyle/>
          <a:p>
            <a:pPr marL="0" indent="0">
              <a:buNone/>
            </a:pPr>
            <a:r>
              <a:rPr lang="en-US" sz="1000" dirty="0">
                <a:solidFill>
                  <a:srgbClr val="D0E8E0"/>
                </a:solidFill>
                <a:latin typeface="Calibri" pitchFamily="34" charset="0"/>
                <a:ea typeface="Calibri" pitchFamily="34" charset="-122"/>
                <a:cs typeface="Calibri" pitchFamily="34" charset="-120"/>
              </a:rPr>
              <a:t>en todas las operaciones frecuentes</a:t>
            </a:r>
            <a:endParaRPr lang="en-US" sz="1000" dirty="0"/>
          </a:p>
        </p:txBody>
      </p:sp>
      <p:sp>
        <p:nvSpPr>
          <p:cNvPr id="17" name="Shape 13"/>
          <p:cNvSpPr/>
          <p:nvPr/>
        </p:nvSpPr>
        <p:spPr>
          <a:xfrm>
            <a:off x="384048" y="1984248"/>
            <a:ext cx="4206240" cy="896112"/>
          </a:xfrm>
          <a:prstGeom prst="rect">
            <a:avLst/>
          </a:prstGeom>
          <a:solidFill>
            <a:srgbClr val="1A2B3C"/>
          </a:solidFill>
          <a:ln w="12700">
            <a:solidFill>
              <a:srgbClr val="1E3A2A"/>
            </a:solidFill>
            <a:prstDash val="solid"/>
          </a:ln>
        </p:spPr>
        <p:txBody>
          <a:bodyPr/>
          <a:lstStyle/>
          <a:p>
            <a:endParaRPr lang="es-PE"/>
          </a:p>
        </p:txBody>
      </p:sp>
      <p:sp>
        <p:nvSpPr>
          <p:cNvPr id="18" name="Shape 14"/>
          <p:cNvSpPr/>
          <p:nvPr/>
        </p:nvSpPr>
        <p:spPr>
          <a:xfrm>
            <a:off x="384048" y="1984248"/>
            <a:ext cx="548640" cy="896112"/>
          </a:xfrm>
          <a:prstGeom prst="rect">
            <a:avLst/>
          </a:prstGeom>
          <a:solidFill>
            <a:srgbClr val="009E78"/>
          </a:solidFill>
          <a:ln w="12700">
            <a:solidFill>
              <a:srgbClr val="009E78"/>
            </a:solidFill>
            <a:prstDash val="solid"/>
          </a:ln>
        </p:spPr>
        <p:txBody>
          <a:bodyPr/>
          <a:lstStyle/>
          <a:p>
            <a:endParaRPr lang="es-PE"/>
          </a:p>
        </p:txBody>
      </p:sp>
      <p:pic>
        <p:nvPicPr>
          <p:cNvPr id="19" name="Image 2" descr="preencoded.png"/>
          <p:cNvPicPr>
            <a:picLocks noChangeAspect="1"/>
          </p:cNvPicPr>
          <p:nvPr/>
        </p:nvPicPr>
        <p:blipFill>
          <a:blip r:embed="rId5"/>
          <a:stretch>
            <a:fillRect/>
          </a:stretch>
        </p:blipFill>
        <p:spPr>
          <a:xfrm>
            <a:off x="493776" y="2258568"/>
            <a:ext cx="320040" cy="320040"/>
          </a:xfrm>
          <a:prstGeom prst="rect">
            <a:avLst/>
          </a:prstGeom>
        </p:spPr>
      </p:pic>
      <p:sp>
        <p:nvSpPr>
          <p:cNvPr id="20" name="Text 15"/>
          <p:cNvSpPr/>
          <p:nvPr/>
        </p:nvSpPr>
        <p:spPr>
          <a:xfrm>
            <a:off x="1069848" y="2039112"/>
            <a:ext cx="1097280" cy="411480"/>
          </a:xfrm>
          <a:prstGeom prst="rect">
            <a:avLst/>
          </a:prstGeom>
          <a:noFill/>
          <a:ln/>
        </p:spPr>
        <p:txBody>
          <a:bodyPr wrap="square" lIns="0" tIns="0" rIns="0" bIns="0" rtlCol="0" anchor="ctr"/>
          <a:lstStyle/>
          <a:p>
            <a:pPr marL="0" indent="0">
              <a:buNone/>
            </a:pPr>
            <a:r>
              <a:rPr lang="en-US" sz="2200" b="1" dirty="0">
                <a:solidFill>
                  <a:srgbClr val="00C896"/>
                </a:solidFill>
                <a:latin typeface="Calibri" pitchFamily="34" charset="0"/>
                <a:ea typeface="Calibri" pitchFamily="34" charset="-122"/>
                <a:cs typeface="Calibri" pitchFamily="34" charset="-120"/>
              </a:rPr>
              <a:t>100%</a:t>
            </a:r>
            <a:endParaRPr lang="en-US" sz="2200" dirty="0"/>
          </a:p>
        </p:txBody>
      </p:sp>
      <p:sp>
        <p:nvSpPr>
          <p:cNvPr id="21" name="Text 16"/>
          <p:cNvSpPr/>
          <p:nvPr/>
        </p:nvSpPr>
        <p:spPr>
          <a:xfrm>
            <a:off x="2167128" y="2057400"/>
            <a:ext cx="22860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Disponibilidad</a:t>
            </a:r>
            <a:endParaRPr lang="en-US" sz="1100" dirty="0"/>
          </a:p>
        </p:txBody>
      </p:sp>
      <p:sp>
        <p:nvSpPr>
          <p:cNvPr id="22" name="Text 17"/>
          <p:cNvSpPr/>
          <p:nvPr/>
        </p:nvSpPr>
        <p:spPr>
          <a:xfrm>
            <a:off x="1069848" y="2487168"/>
            <a:ext cx="3383280" cy="320040"/>
          </a:xfrm>
          <a:prstGeom prst="rect">
            <a:avLst/>
          </a:prstGeom>
          <a:noFill/>
          <a:ln/>
        </p:spPr>
        <p:txBody>
          <a:bodyPr wrap="square" lIns="0" tIns="0" rIns="0" bIns="0" rtlCol="0" anchor="ctr"/>
          <a:lstStyle/>
          <a:p>
            <a:pPr marL="0" indent="0">
              <a:buNone/>
            </a:pPr>
            <a:r>
              <a:rPr lang="en-US" sz="1000" dirty="0">
                <a:solidFill>
                  <a:srgbClr val="D0E8E0"/>
                </a:solidFill>
                <a:latin typeface="Calibri" pitchFamily="34" charset="0"/>
                <a:ea typeface="Calibri" pitchFamily="34" charset="-122"/>
                <a:cs typeface="Calibri" pitchFamily="34" charset="-120"/>
              </a:rPr>
              <a:t>uptime en periodo de inscripciones</a:t>
            </a:r>
            <a:endParaRPr lang="en-US" sz="1000" dirty="0"/>
          </a:p>
        </p:txBody>
      </p:sp>
      <p:sp>
        <p:nvSpPr>
          <p:cNvPr id="23" name="Shape 18"/>
          <p:cNvSpPr/>
          <p:nvPr/>
        </p:nvSpPr>
        <p:spPr>
          <a:xfrm>
            <a:off x="4800600" y="1984248"/>
            <a:ext cx="4206240" cy="896112"/>
          </a:xfrm>
          <a:prstGeom prst="rect">
            <a:avLst/>
          </a:prstGeom>
          <a:solidFill>
            <a:srgbClr val="1A2B3C"/>
          </a:solidFill>
          <a:ln w="12700">
            <a:solidFill>
              <a:srgbClr val="1E3A2A"/>
            </a:solidFill>
            <a:prstDash val="solid"/>
          </a:ln>
        </p:spPr>
        <p:txBody>
          <a:bodyPr/>
          <a:lstStyle/>
          <a:p>
            <a:endParaRPr lang="es-PE"/>
          </a:p>
        </p:txBody>
      </p:sp>
      <p:sp>
        <p:nvSpPr>
          <p:cNvPr id="24" name="Shape 19"/>
          <p:cNvSpPr/>
          <p:nvPr/>
        </p:nvSpPr>
        <p:spPr>
          <a:xfrm>
            <a:off x="4800600" y="1984248"/>
            <a:ext cx="548640" cy="896112"/>
          </a:xfrm>
          <a:prstGeom prst="rect">
            <a:avLst/>
          </a:prstGeom>
          <a:solidFill>
            <a:srgbClr val="009E78"/>
          </a:solidFill>
          <a:ln w="12700">
            <a:solidFill>
              <a:srgbClr val="009E78"/>
            </a:solidFill>
            <a:prstDash val="solid"/>
          </a:ln>
        </p:spPr>
        <p:txBody>
          <a:bodyPr/>
          <a:lstStyle/>
          <a:p>
            <a:endParaRPr lang="es-PE"/>
          </a:p>
        </p:txBody>
      </p:sp>
      <p:pic>
        <p:nvPicPr>
          <p:cNvPr id="25" name="Image 3" descr="preencoded.png"/>
          <p:cNvPicPr>
            <a:picLocks noChangeAspect="1"/>
          </p:cNvPicPr>
          <p:nvPr/>
        </p:nvPicPr>
        <p:blipFill>
          <a:blip r:embed="rId6"/>
          <a:stretch>
            <a:fillRect/>
          </a:stretch>
        </p:blipFill>
        <p:spPr>
          <a:xfrm>
            <a:off x="4910328" y="2258568"/>
            <a:ext cx="320040" cy="320040"/>
          </a:xfrm>
          <a:prstGeom prst="rect">
            <a:avLst/>
          </a:prstGeom>
        </p:spPr>
      </p:pic>
      <p:sp>
        <p:nvSpPr>
          <p:cNvPr id="26" name="Text 20"/>
          <p:cNvSpPr/>
          <p:nvPr/>
        </p:nvSpPr>
        <p:spPr>
          <a:xfrm>
            <a:off x="5486400" y="2039112"/>
            <a:ext cx="1097280" cy="411480"/>
          </a:xfrm>
          <a:prstGeom prst="rect">
            <a:avLst/>
          </a:prstGeom>
          <a:noFill/>
          <a:ln/>
        </p:spPr>
        <p:txBody>
          <a:bodyPr wrap="square" lIns="0" tIns="0" rIns="0" bIns="0" rtlCol="0" anchor="ctr"/>
          <a:lstStyle/>
          <a:p>
            <a:pPr marL="0" indent="0">
              <a:buNone/>
            </a:pPr>
            <a:r>
              <a:rPr lang="en-US" sz="2200" b="1" dirty="0">
                <a:solidFill>
                  <a:srgbClr val="00C896"/>
                </a:solidFill>
                <a:latin typeface="Calibri" pitchFamily="34" charset="0"/>
                <a:ea typeface="Calibri" pitchFamily="34" charset="-122"/>
                <a:cs typeface="Calibri" pitchFamily="34" charset="-120"/>
              </a:rPr>
              <a:t>HTTPS</a:t>
            </a:r>
            <a:endParaRPr lang="en-US" sz="2200" dirty="0"/>
          </a:p>
        </p:txBody>
      </p:sp>
      <p:sp>
        <p:nvSpPr>
          <p:cNvPr id="27" name="Text 21"/>
          <p:cNvSpPr/>
          <p:nvPr/>
        </p:nvSpPr>
        <p:spPr>
          <a:xfrm>
            <a:off x="6583680" y="2057400"/>
            <a:ext cx="22860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Seguridad</a:t>
            </a:r>
            <a:endParaRPr lang="en-US" sz="1100" dirty="0"/>
          </a:p>
        </p:txBody>
      </p:sp>
      <p:sp>
        <p:nvSpPr>
          <p:cNvPr id="28" name="Text 22"/>
          <p:cNvSpPr/>
          <p:nvPr/>
        </p:nvSpPr>
        <p:spPr>
          <a:xfrm>
            <a:off x="5486400" y="2487168"/>
            <a:ext cx="3383280" cy="320040"/>
          </a:xfrm>
          <a:prstGeom prst="rect">
            <a:avLst/>
          </a:prstGeom>
          <a:noFill/>
          <a:ln/>
        </p:spPr>
        <p:txBody>
          <a:bodyPr wrap="square" lIns="0" tIns="0" rIns="0" bIns="0" rtlCol="0" anchor="ctr"/>
          <a:lstStyle/>
          <a:p>
            <a:pPr marL="0" indent="0">
              <a:buNone/>
            </a:pPr>
            <a:r>
              <a:rPr lang="en-US" sz="1000" dirty="0">
                <a:solidFill>
                  <a:srgbClr val="D0E8E0"/>
                </a:solidFill>
                <a:latin typeface="Calibri" pitchFamily="34" charset="0"/>
                <a:ea typeface="Calibri" pitchFamily="34" charset="-122"/>
                <a:cs typeface="Calibri" pitchFamily="34" charset="-120"/>
              </a:rPr>
              <a:t>+ contraseñas cifradas con hash</a:t>
            </a:r>
            <a:endParaRPr lang="en-US" sz="1000" dirty="0"/>
          </a:p>
        </p:txBody>
      </p:sp>
      <p:sp>
        <p:nvSpPr>
          <p:cNvPr id="29" name="Shape 23"/>
          <p:cNvSpPr/>
          <p:nvPr/>
        </p:nvSpPr>
        <p:spPr>
          <a:xfrm>
            <a:off x="384048" y="3008376"/>
            <a:ext cx="4206240" cy="896112"/>
          </a:xfrm>
          <a:prstGeom prst="rect">
            <a:avLst/>
          </a:prstGeom>
          <a:solidFill>
            <a:srgbClr val="1A2B3C"/>
          </a:solidFill>
          <a:ln w="12700">
            <a:solidFill>
              <a:srgbClr val="1E3A2A"/>
            </a:solidFill>
            <a:prstDash val="solid"/>
          </a:ln>
        </p:spPr>
        <p:txBody>
          <a:bodyPr/>
          <a:lstStyle/>
          <a:p>
            <a:endParaRPr lang="es-PE"/>
          </a:p>
        </p:txBody>
      </p:sp>
      <p:sp>
        <p:nvSpPr>
          <p:cNvPr id="30" name="Shape 24"/>
          <p:cNvSpPr/>
          <p:nvPr/>
        </p:nvSpPr>
        <p:spPr>
          <a:xfrm>
            <a:off x="384048" y="3008376"/>
            <a:ext cx="548640" cy="896112"/>
          </a:xfrm>
          <a:prstGeom prst="rect">
            <a:avLst/>
          </a:prstGeom>
          <a:solidFill>
            <a:srgbClr val="009E78"/>
          </a:solidFill>
          <a:ln w="12700">
            <a:solidFill>
              <a:srgbClr val="009E78"/>
            </a:solidFill>
            <a:prstDash val="solid"/>
          </a:ln>
        </p:spPr>
        <p:txBody>
          <a:bodyPr/>
          <a:lstStyle/>
          <a:p>
            <a:endParaRPr lang="es-PE"/>
          </a:p>
        </p:txBody>
      </p:sp>
      <p:pic>
        <p:nvPicPr>
          <p:cNvPr id="31" name="Image 4" descr="preencoded.png"/>
          <p:cNvPicPr>
            <a:picLocks noChangeAspect="1"/>
          </p:cNvPicPr>
          <p:nvPr/>
        </p:nvPicPr>
        <p:blipFill>
          <a:blip r:embed="rId7"/>
          <a:stretch>
            <a:fillRect/>
          </a:stretch>
        </p:blipFill>
        <p:spPr>
          <a:xfrm>
            <a:off x="493776" y="3282696"/>
            <a:ext cx="320040" cy="320040"/>
          </a:xfrm>
          <a:prstGeom prst="rect">
            <a:avLst/>
          </a:prstGeom>
        </p:spPr>
      </p:pic>
      <p:sp>
        <p:nvSpPr>
          <p:cNvPr id="32" name="Text 25"/>
          <p:cNvSpPr/>
          <p:nvPr/>
        </p:nvSpPr>
        <p:spPr>
          <a:xfrm>
            <a:off x="1069848" y="3063240"/>
            <a:ext cx="1097280" cy="411480"/>
          </a:xfrm>
          <a:prstGeom prst="rect">
            <a:avLst/>
          </a:prstGeom>
          <a:noFill/>
          <a:ln/>
        </p:spPr>
        <p:txBody>
          <a:bodyPr wrap="square" lIns="0" tIns="0" rIns="0" bIns="0" rtlCol="0" anchor="ctr"/>
          <a:lstStyle/>
          <a:p>
            <a:pPr marL="0" indent="0">
              <a:buNone/>
            </a:pPr>
            <a:r>
              <a:rPr lang="en-US" sz="2200" b="1" dirty="0">
                <a:solidFill>
                  <a:srgbClr val="00C896"/>
                </a:solidFill>
                <a:latin typeface="Calibri" pitchFamily="34" charset="0"/>
                <a:ea typeface="Calibri" pitchFamily="34" charset="-122"/>
                <a:cs typeface="Calibri" pitchFamily="34" charset="-120"/>
              </a:rPr>
              <a:t>Rol</a:t>
            </a:r>
            <a:endParaRPr lang="en-US" sz="2200" dirty="0"/>
          </a:p>
        </p:txBody>
      </p:sp>
      <p:sp>
        <p:nvSpPr>
          <p:cNvPr id="33" name="Text 26"/>
          <p:cNvSpPr/>
          <p:nvPr/>
        </p:nvSpPr>
        <p:spPr>
          <a:xfrm>
            <a:off x="2167128" y="3081528"/>
            <a:ext cx="22860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Control de Acceso</a:t>
            </a:r>
            <a:endParaRPr lang="en-US" sz="1100" dirty="0"/>
          </a:p>
        </p:txBody>
      </p:sp>
      <p:sp>
        <p:nvSpPr>
          <p:cNvPr id="34" name="Text 27"/>
          <p:cNvSpPr/>
          <p:nvPr/>
        </p:nvSpPr>
        <p:spPr>
          <a:xfrm>
            <a:off x="1069848" y="3511296"/>
            <a:ext cx="3383280" cy="320040"/>
          </a:xfrm>
          <a:prstGeom prst="rect">
            <a:avLst/>
          </a:prstGeom>
          <a:noFill/>
          <a:ln/>
        </p:spPr>
        <p:txBody>
          <a:bodyPr wrap="square" lIns="0" tIns="0" rIns="0" bIns="0" rtlCol="0" anchor="ctr"/>
          <a:lstStyle/>
          <a:p>
            <a:pPr marL="0" indent="0">
              <a:buNone/>
            </a:pPr>
            <a:r>
              <a:rPr lang="en-US" sz="1000" dirty="0">
                <a:solidFill>
                  <a:srgbClr val="D0E8E0"/>
                </a:solidFill>
                <a:latin typeface="Calibri" pitchFamily="34" charset="0"/>
                <a:ea typeface="Calibri" pitchFamily="34" charset="-122"/>
                <a:cs typeface="Calibri" pitchFamily="34" charset="-120"/>
              </a:rPr>
              <a:t>define qué puede ver y hacer cada usuario</a:t>
            </a:r>
            <a:endParaRPr lang="en-US" sz="1000" dirty="0"/>
          </a:p>
        </p:txBody>
      </p:sp>
      <p:sp>
        <p:nvSpPr>
          <p:cNvPr id="35" name="Shape 28"/>
          <p:cNvSpPr/>
          <p:nvPr/>
        </p:nvSpPr>
        <p:spPr>
          <a:xfrm>
            <a:off x="4800600" y="3008376"/>
            <a:ext cx="4206240" cy="896112"/>
          </a:xfrm>
          <a:prstGeom prst="rect">
            <a:avLst/>
          </a:prstGeom>
          <a:solidFill>
            <a:srgbClr val="1A2B3C"/>
          </a:solidFill>
          <a:ln w="12700">
            <a:solidFill>
              <a:srgbClr val="1E3A2A"/>
            </a:solidFill>
            <a:prstDash val="solid"/>
          </a:ln>
        </p:spPr>
        <p:txBody>
          <a:bodyPr/>
          <a:lstStyle/>
          <a:p>
            <a:endParaRPr lang="es-PE"/>
          </a:p>
        </p:txBody>
      </p:sp>
      <p:sp>
        <p:nvSpPr>
          <p:cNvPr id="36" name="Shape 29"/>
          <p:cNvSpPr/>
          <p:nvPr/>
        </p:nvSpPr>
        <p:spPr>
          <a:xfrm>
            <a:off x="4800600" y="3008376"/>
            <a:ext cx="548640" cy="896112"/>
          </a:xfrm>
          <a:prstGeom prst="rect">
            <a:avLst/>
          </a:prstGeom>
          <a:solidFill>
            <a:srgbClr val="009E78"/>
          </a:solidFill>
          <a:ln w="12700">
            <a:solidFill>
              <a:srgbClr val="009E78"/>
            </a:solidFill>
            <a:prstDash val="solid"/>
          </a:ln>
        </p:spPr>
        <p:txBody>
          <a:bodyPr/>
          <a:lstStyle/>
          <a:p>
            <a:endParaRPr lang="es-PE"/>
          </a:p>
        </p:txBody>
      </p:sp>
      <p:pic>
        <p:nvPicPr>
          <p:cNvPr id="37" name="Image 5" descr="preencoded.png"/>
          <p:cNvPicPr>
            <a:picLocks noChangeAspect="1"/>
          </p:cNvPicPr>
          <p:nvPr/>
        </p:nvPicPr>
        <p:blipFill>
          <a:blip r:embed="rId8"/>
          <a:stretch>
            <a:fillRect/>
          </a:stretch>
        </p:blipFill>
        <p:spPr>
          <a:xfrm>
            <a:off x="4910328" y="3282696"/>
            <a:ext cx="320040" cy="320040"/>
          </a:xfrm>
          <a:prstGeom prst="rect">
            <a:avLst/>
          </a:prstGeom>
        </p:spPr>
      </p:pic>
      <p:sp>
        <p:nvSpPr>
          <p:cNvPr id="38" name="Text 30"/>
          <p:cNvSpPr/>
          <p:nvPr/>
        </p:nvSpPr>
        <p:spPr>
          <a:xfrm>
            <a:off x="5486400" y="3063240"/>
            <a:ext cx="1097280" cy="411480"/>
          </a:xfrm>
          <a:prstGeom prst="rect">
            <a:avLst/>
          </a:prstGeom>
          <a:noFill/>
          <a:ln/>
        </p:spPr>
        <p:txBody>
          <a:bodyPr wrap="square" lIns="0" tIns="0" rIns="0" bIns="0" rtlCol="0" anchor="ctr"/>
          <a:lstStyle/>
          <a:p>
            <a:pPr marL="0" indent="0">
              <a:buNone/>
            </a:pPr>
            <a:r>
              <a:rPr lang="en-US" sz="2200" b="1" dirty="0">
                <a:solidFill>
                  <a:srgbClr val="00C896"/>
                </a:solidFill>
                <a:latin typeface="Calibri" pitchFamily="34" charset="0"/>
                <a:ea typeface="Calibri" pitchFamily="34" charset="-122"/>
                <a:cs typeface="Calibri" pitchFamily="34" charset="-120"/>
              </a:rPr>
              <a:t>Diario</a:t>
            </a:r>
            <a:endParaRPr lang="en-US" sz="2200" dirty="0"/>
          </a:p>
        </p:txBody>
      </p:sp>
      <p:sp>
        <p:nvSpPr>
          <p:cNvPr id="39" name="Text 31"/>
          <p:cNvSpPr/>
          <p:nvPr/>
        </p:nvSpPr>
        <p:spPr>
          <a:xfrm>
            <a:off x="6583680" y="3081528"/>
            <a:ext cx="22860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Respaldo</a:t>
            </a:r>
            <a:endParaRPr lang="en-US" sz="1100" dirty="0"/>
          </a:p>
        </p:txBody>
      </p:sp>
      <p:sp>
        <p:nvSpPr>
          <p:cNvPr id="40" name="Text 32"/>
          <p:cNvSpPr/>
          <p:nvPr/>
        </p:nvSpPr>
        <p:spPr>
          <a:xfrm>
            <a:off x="5486400" y="3511296"/>
            <a:ext cx="3383280" cy="320040"/>
          </a:xfrm>
          <a:prstGeom prst="rect">
            <a:avLst/>
          </a:prstGeom>
          <a:noFill/>
          <a:ln/>
        </p:spPr>
        <p:txBody>
          <a:bodyPr wrap="square" lIns="0" tIns="0" rIns="0" bIns="0" rtlCol="0" anchor="ctr"/>
          <a:lstStyle/>
          <a:p>
            <a:pPr marL="0" indent="0">
              <a:buNone/>
            </a:pPr>
            <a:r>
              <a:rPr lang="en-US" sz="1000" dirty="0">
                <a:solidFill>
                  <a:srgbClr val="D0E8E0"/>
                </a:solidFill>
                <a:latin typeface="Calibri" pitchFamily="34" charset="0"/>
                <a:ea typeface="Calibri" pitchFamily="34" charset="-122"/>
                <a:cs typeface="Calibri" pitchFamily="34" charset="-120"/>
              </a:rPr>
              <a:t>copia automática de base de datos</a:t>
            </a:r>
            <a:endParaRPr lang="en-US" sz="1000" dirty="0"/>
          </a:p>
        </p:txBody>
      </p:sp>
      <p:sp>
        <p:nvSpPr>
          <p:cNvPr id="41" name="Shape 33"/>
          <p:cNvSpPr/>
          <p:nvPr/>
        </p:nvSpPr>
        <p:spPr>
          <a:xfrm>
            <a:off x="384048" y="4032504"/>
            <a:ext cx="4206240" cy="896112"/>
          </a:xfrm>
          <a:prstGeom prst="rect">
            <a:avLst/>
          </a:prstGeom>
          <a:solidFill>
            <a:srgbClr val="1A2B3C"/>
          </a:solidFill>
          <a:ln w="12700">
            <a:solidFill>
              <a:srgbClr val="1E3A2A"/>
            </a:solidFill>
            <a:prstDash val="solid"/>
          </a:ln>
        </p:spPr>
        <p:txBody>
          <a:bodyPr/>
          <a:lstStyle/>
          <a:p>
            <a:endParaRPr lang="es-PE"/>
          </a:p>
        </p:txBody>
      </p:sp>
      <p:sp>
        <p:nvSpPr>
          <p:cNvPr id="42" name="Shape 34"/>
          <p:cNvSpPr/>
          <p:nvPr/>
        </p:nvSpPr>
        <p:spPr>
          <a:xfrm>
            <a:off x="384048" y="4032504"/>
            <a:ext cx="548640" cy="896112"/>
          </a:xfrm>
          <a:prstGeom prst="rect">
            <a:avLst/>
          </a:prstGeom>
          <a:solidFill>
            <a:srgbClr val="009E78"/>
          </a:solidFill>
          <a:ln w="12700">
            <a:solidFill>
              <a:srgbClr val="009E78"/>
            </a:solidFill>
            <a:prstDash val="solid"/>
          </a:ln>
        </p:spPr>
        <p:txBody>
          <a:bodyPr/>
          <a:lstStyle/>
          <a:p>
            <a:endParaRPr lang="es-PE"/>
          </a:p>
        </p:txBody>
      </p:sp>
      <p:pic>
        <p:nvPicPr>
          <p:cNvPr id="43" name="Image 6" descr="preencoded.png"/>
          <p:cNvPicPr>
            <a:picLocks noChangeAspect="1"/>
          </p:cNvPicPr>
          <p:nvPr/>
        </p:nvPicPr>
        <p:blipFill>
          <a:blip r:embed="rId9"/>
          <a:stretch>
            <a:fillRect/>
          </a:stretch>
        </p:blipFill>
        <p:spPr>
          <a:xfrm>
            <a:off x="493776" y="4306824"/>
            <a:ext cx="320040" cy="320040"/>
          </a:xfrm>
          <a:prstGeom prst="rect">
            <a:avLst/>
          </a:prstGeom>
        </p:spPr>
      </p:pic>
      <p:sp>
        <p:nvSpPr>
          <p:cNvPr id="44" name="Text 35"/>
          <p:cNvSpPr/>
          <p:nvPr/>
        </p:nvSpPr>
        <p:spPr>
          <a:xfrm>
            <a:off x="1069848" y="4087368"/>
            <a:ext cx="1097280" cy="411480"/>
          </a:xfrm>
          <a:prstGeom prst="rect">
            <a:avLst/>
          </a:prstGeom>
          <a:noFill/>
          <a:ln/>
        </p:spPr>
        <p:txBody>
          <a:bodyPr wrap="square" lIns="0" tIns="0" rIns="0" bIns="0" rtlCol="0" anchor="ctr"/>
          <a:lstStyle/>
          <a:p>
            <a:pPr marL="0" indent="0">
              <a:buNone/>
            </a:pPr>
            <a:r>
              <a:rPr lang="en-US" sz="2200" b="1" dirty="0">
                <a:solidFill>
                  <a:srgbClr val="00C896"/>
                </a:solidFill>
                <a:latin typeface="Calibri" pitchFamily="34" charset="0"/>
                <a:ea typeface="Calibri" pitchFamily="34" charset="-122"/>
                <a:cs typeface="Calibri" pitchFamily="34" charset="-120"/>
              </a:rPr>
              <a:t>0</a:t>
            </a:r>
            <a:endParaRPr lang="en-US" sz="2200" dirty="0"/>
          </a:p>
        </p:txBody>
      </p:sp>
      <p:sp>
        <p:nvSpPr>
          <p:cNvPr id="45" name="Text 36"/>
          <p:cNvSpPr/>
          <p:nvPr/>
        </p:nvSpPr>
        <p:spPr>
          <a:xfrm>
            <a:off x="2167128" y="4105656"/>
            <a:ext cx="22860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Usabilidad</a:t>
            </a:r>
            <a:endParaRPr lang="en-US" sz="1100" dirty="0"/>
          </a:p>
        </p:txBody>
      </p:sp>
      <p:sp>
        <p:nvSpPr>
          <p:cNvPr id="46" name="Text 37"/>
          <p:cNvSpPr/>
          <p:nvPr/>
        </p:nvSpPr>
        <p:spPr>
          <a:xfrm>
            <a:off x="1069848" y="4535424"/>
            <a:ext cx="3383280" cy="320040"/>
          </a:xfrm>
          <a:prstGeom prst="rect">
            <a:avLst/>
          </a:prstGeom>
          <a:noFill/>
          <a:ln/>
        </p:spPr>
        <p:txBody>
          <a:bodyPr wrap="square" lIns="0" tIns="0" rIns="0" bIns="0" rtlCol="0" anchor="ctr"/>
          <a:lstStyle/>
          <a:p>
            <a:pPr marL="0" indent="0">
              <a:buNone/>
            </a:pPr>
            <a:r>
              <a:rPr lang="en-US" sz="1000" dirty="0">
                <a:solidFill>
                  <a:srgbClr val="D0E8E0"/>
                </a:solidFill>
                <a:latin typeface="Calibri" pitchFamily="34" charset="0"/>
                <a:ea typeface="Calibri" pitchFamily="34" charset="-122"/>
                <a:cs typeface="Calibri" pitchFamily="34" charset="-120"/>
              </a:rPr>
              <a:t>capacitaciones necesarias para matricularse</a:t>
            </a:r>
            <a:endParaRPr lang="en-US" sz="1000" dirty="0"/>
          </a:p>
        </p:txBody>
      </p:sp>
      <p:sp>
        <p:nvSpPr>
          <p:cNvPr id="47" name="Shape 38"/>
          <p:cNvSpPr/>
          <p:nvPr/>
        </p:nvSpPr>
        <p:spPr>
          <a:xfrm>
            <a:off x="4800600" y="4032504"/>
            <a:ext cx="4206240" cy="896112"/>
          </a:xfrm>
          <a:prstGeom prst="rect">
            <a:avLst/>
          </a:prstGeom>
          <a:solidFill>
            <a:srgbClr val="1A2B3C"/>
          </a:solidFill>
          <a:ln w="12700">
            <a:solidFill>
              <a:srgbClr val="1E3A2A"/>
            </a:solidFill>
            <a:prstDash val="solid"/>
          </a:ln>
        </p:spPr>
        <p:txBody>
          <a:bodyPr/>
          <a:lstStyle/>
          <a:p>
            <a:endParaRPr lang="es-PE"/>
          </a:p>
        </p:txBody>
      </p:sp>
      <p:sp>
        <p:nvSpPr>
          <p:cNvPr id="48" name="Shape 39"/>
          <p:cNvSpPr/>
          <p:nvPr/>
        </p:nvSpPr>
        <p:spPr>
          <a:xfrm>
            <a:off x="4800600" y="4032504"/>
            <a:ext cx="548640" cy="896112"/>
          </a:xfrm>
          <a:prstGeom prst="rect">
            <a:avLst/>
          </a:prstGeom>
          <a:solidFill>
            <a:srgbClr val="009E78"/>
          </a:solidFill>
          <a:ln w="12700">
            <a:solidFill>
              <a:srgbClr val="009E78"/>
            </a:solidFill>
            <a:prstDash val="solid"/>
          </a:ln>
        </p:spPr>
        <p:txBody>
          <a:bodyPr/>
          <a:lstStyle/>
          <a:p>
            <a:endParaRPr lang="es-PE"/>
          </a:p>
        </p:txBody>
      </p:sp>
      <p:pic>
        <p:nvPicPr>
          <p:cNvPr id="49" name="Image 7" descr="preencoded.png"/>
          <p:cNvPicPr>
            <a:picLocks noChangeAspect="1"/>
          </p:cNvPicPr>
          <p:nvPr/>
        </p:nvPicPr>
        <p:blipFill>
          <a:blip r:embed="rId10"/>
          <a:stretch>
            <a:fillRect/>
          </a:stretch>
        </p:blipFill>
        <p:spPr>
          <a:xfrm>
            <a:off x="4910328" y="4306824"/>
            <a:ext cx="320040" cy="320040"/>
          </a:xfrm>
          <a:prstGeom prst="rect">
            <a:avLst/>
          </a:prstGeom>
        </p:spPr>
      </p:pic>
      <p:sp>
        <p:nvSpPr>
          <p:cNvPr id="50" name="Text 40"/>
          <p:cNvSpPr/>
          <p:nvPr/>
        </p:nvSpPr>
        <p:spPr>
          <a:xfrm>
            <a:off x="5486400" y="4087368"/>
            <a:ext cx="1097280" cy="411480"/>
          </a:xfrm>
          <a:prstGeom prst="rect">
            <a:avLst/>
          </a:prstGeom>
          <a:noFill/>
          <a:ln/>
        </p:spPr>
        <p:txBody>
          <a:bodyPr wrap="square" lIns="0" tIns="0" rIns="0" bIns="0" rtlCol="0" anchor="ctr"/>
          <a:lstStyle/>
          <a:p>
            <a:pPr marL="0" indent="0">
              <a:buNone/>
            </a:pPr>
            <a:r>
              <a:rPr lang="en-US" sz="2200" b="1" dirty="0">
                <a:solidFill>
                  <a:srgbClr val="00C896"/>
                </a:solidFill>
                <a:latin typeface="Calibri" pitchFamily="34" charset="0"/>
                <a:ea typeface="Calibri" pitchFamily="34" charset="-122"/>
                <a:cs typeface="Calibri" pitchFamily="34" charset="-120"/>
              </a:rPr>
              <a:t>∞</a:t>
            </a:r>
            <a:endParaRPr lang="en-US" sz="2200" dirty="0"/>
          </a:p>
        </p:txBody>
      </p:sp>
      <p:sp>
        <p:nvSpPr>
          <p:cNvPr id="51" name="Text 41"/>
          <p:cNvSpPr/>
          <p:nvPr/>
        </p:nvSpPr>
        <p:spPr>
          <a:xfrm>
            <a:off x="6583680" y="4105656"/>
            <a:ext cx="22860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Escalabilidad</a:t>
            </a:r>
            <a:endParaRPr lang="en-US" sz="1100" dirty="0"/>
          </a:p>
        </p:txBody>
      </p:sp>
      <p:sp>
        <p:nvSpPr>
          <p:cNvPr id="52" name="Text 42"/>
          <p:cNvSpPr/>
          <p:nvPr/>
        </p:nvSpPr>
        <p:spPr>
          <a:xfrm>
            <a:off x="5486400" y="4535424"/>
            <a:ext cx="3383280" cy="320040"/>
          </a:xfrm>
          <a:prstGeom prst="rect">
            <a:avLst/>
          </a:prstGeom>
          <a:noFill/>
          <a:ln/>
        </p:spPr>
        <p:txBody>
          <a:bodyPr wrap="square" lIns="0" tIns="0" rIns="0" bIns="0" rtlCol="0" anchor="ctr"/>
          <a:lstStyle/>
          <a:p>
            <a:pPr marL="0" indent="0">
              <a:buNone/>
            </a:pPr>
            <a:r>
              <a:rPr lang="en-US" sz="1000" dirty="0">
                <a:solidFill>
                  <a:srgbClr val="D0E8E0"/>
                </a:solidFill>
                <a:latin typeface="Calibri" pitchFamily="34" charset="0"/>
                <a:ea typeface="Calibri" pitchFamily="34" charset="-122"/>
                <a:cs typeface="Calibri" pitchFamily="34" charset="-120"/>
              </a:rPr>
              <a:t>crece con más alumnos y facultades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0C896"/>
          </a:solidFill>
          <a:ln w="12700">
            <a:solidFill>
              <a:srgbClr val="00C896"/>
            </a:solidFill>
            <a:prstDash val="solid"/>
          </a:ln>
        </p:spPr>
        <p:txBody>
          <a:bodyPr/>
          <a:lstStyle/>
          <a:p>
            <a:endParaRPr lang="es-PE"/>
          </a:p>
        </p:txBody>
      </p:sp>
      <p:sp>
        <p:nvSpPr>
          <p:cNvPr id="3" name="Shape 1"/>
          <p:cNvSpPr/>
          <p:nvPr/>
        </p:nvSpPr>
        <p:spPr>
          <a:xfrm>
            <a:off x="0" y="0"/>
            <a:ext cx="9144000" cy="841248"/>
          </a:xfrm>
          <a:prstGeom prst="rect">
            <a:avLst/>
          </a:prstGeom>
          <a:solidFill>
            <a:srgbClr val="1A2B3C"/>
          </a:solidFill>
          <a:ln w="12700">
            <a:solidFill>
              <a:srgbClr val="1A2B3C"/>
            </a:solidFill>
            <a:prstDash val="solid"/>
          </a:ln>
        </p:spPr>
        <p:txBody>
          <a:bodyPr/>
          <a:lstStyle/>
          <a:p>
            <a:endParaRPr lang="es-PE"/>
          </a:p>
        </p:txBody>
      </p:sp>
      <p:sp>
        <p:nvSpPr>
          <p:cNvPr id="4" name="Text 2"/>
          <p:cNvSpPr/>
          <p:nvPr/>
        </p:nvSpPr>
        <p:spPr>
          <a:xfrm>
            <a:off x="411480" y="0"/>
            <a:ext cx="8412480" cy="841248"/>
          </a:xfrm>
          <a:prstGeom prst="rect">
            <a:avLst/>
          </a:prstGeom>
          <a:noFill/>
          <a:ln/>
        </p:spPr>
        <p:txBody>
          <a:bodyPr wrap="square" lIns="0" tIns="0" rIns="0" bIns="0" rtlCol="0" anchor="ctr"/>
          <a:lstStyle/>
          <a:p>
            <a:pPr marL="0" indent="0" algn="l">
              <a:buNone/>
            </a:pPr>
            <a:r>
              <a:rPr lang="en-US" sz="2100" b="1" dirty="0">
                <a:solidFill>
                  <a:srgbClr val="00C896"/>
                </a:solidFill>
                <a:latin typeface="Calibri" pitchFamily="34" charset="0"/>
                <a:ea typeface="Calibri" pitchFamily="34" charset="-122"/>
                <a:cs typeface="Calibri" pitchFamily="34" charset="-120"/>
              </a:rPr>
              <a:t>03 · DIAGRAMAS UML — Casos de Uso</a:t>
            </a:r>
            <a:endParaRPr lang="en-US" sz="2100" dirty="0"/>
          </a:p>
        </p:txBody>
      </p:sp>
      <p:sp>
        <p:nvSpPr>
          <p:cNvPr id="5" name="Shape 3"/>
          <p:cNvSpPr/>
          <p:nvPr/>
        </p:nvSpPr>
        <p:spPr>
          <a:xfrm>
            <a:off x="384048" y="987552"/>
            <a:ext cx="5029200" cy="3840480"/>
          </a:xfrm>
          <a:prstGeom prst="rect">
            <a:avLst/>
          </a:prstGeom>
          <a:solidFill>
            <a:srgbClr val="0D2035"/>
          </a:solidFill>
          <a:ln w="25400">
            <a:solidFill>
              <a:srgbClr val="00C896"/>
            </a:solidFill>
            <a:prstDash val="solid"/>
          </a:ln>
        </p:spPr>
        <p:txBody>
          <a:bodyPr/>
          <a:lstStyle/>
          <a:p>
            <a:endParaRPr lang="es-PE"/>
          </a:p>
        </p:txBody>
      </p:sp>
      <p:sp>
        <p:nvSpPr>
          <p:cNvPr id="6" name="Shape 4"/>
          <p:cNvSpPr/>
          <p:nvPr/>
        </p:nvSpPr>
        <p:spPr>
          <a:xfrm>
            <a:off x="457200" y="1060704"/>
            <a:ext cx="4882896" cy="3694176"/>
          </a:xfrm>
          <a:prstGeom prst="rect">
            <a:avLst/>
          </a:prstGeom>
          <a:solidFill>
            <a:srgbClr val="0D2035"/>
          </a:solidFill>
          <a:ln w="12700">
            <a:solidFill>
              <a:srgbClr val="009E78"/>
            </a:solidFill>
            <a:prstDash val="solid"/>
          </a:ln>
        </p:spPr>
        <p:txBody>
          <a:bodyPr/>
          <a:lstStyle/>
          <a:p>
            <a:endParaRPr lang="es-PE"/>
          </a:p>
        </p:txBody>
      </p:sp>
      <p:sp>
        <p:nvSpPr>
          <p:cNvPr id="7" name="Text 5"/>
          <p:cNvSpPr/>
          <p:nvPr/>
        </p:nvSpPr>
        <p:spPr>
          <a:xfrm>
            <a:off x="384048" y="987552"/>
            <a:ext cx="5029200" cy="3840480"/>
          </a:xfrm>
          <a:prstGeom prst="rect">
            <a:avLst/>
          </a:prstGeom>
          <a:noFill/>
          <a:ln/>
        </p:spPr>
        <p:txBody>
          <a:bodyPr wrap="square" lIns="0" tIns="0" rIns="0" bIns="0" rtlCol="0" anchor="ctr"/>
          <a:lstStyle/>
          <a:p>
            <a:pPr marL="0" indent="0" algn="ctr">
              <a:buNone/>
            </a:pPr>
            <a:endParaRPr lang="en-US" sz="1200" dirty="0"/>
          </a:p>
        </p:txBody>
      </p:sp>
      <p:sp>
        <p:nvSpPr>
          <p:cNvPr id="8" name="Shape 6"/>
          <p:cNvSpPr/>
          <p:nvPr/>
        </p:nvSpPr>
        <p:spPr>
          <a:xfrm>
            <a:off x="384048" y="4535424"/>
            <a:ext cx="5029200" cy="292608"/>
          </a:xfrm>
          <a:prstGeom prst="rect">
            <a:avLst/>
          </a:prstGeom>
          <a:solidFill>
            <a:srgbClr val="009E78"/>
          </a:solidFill>
          <a:ln w="12700">
            <a:solidFill>
              <a:srgbClr val="009E78"/>
            </a:solidFill>
            <a:prstDash val="solid"/>
          </a:ln>
        </p:spPr>
        <p:txBody>
          <a:bodyPr/>
          <a:lstStyle/>
          <a:p>
            <a:endParaRPr lang="es-PE"/>
          </a:p>
        </p:txBody>
      </p:sp>
      <p:sp>
        <p:nvSpPr>
          <p:cNvPr id="9" name="Text 7"/>
          <p:cNvSpPr/>
          <p:nvPr/>
        </p:nvSpPr>
        <p:spPr>
          <a:xfrm>
            <a:off x="384048" y="4535424"/>
            <a:ext cx="50292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Diagrama de Casos de Uso</a:t>
            </a:r>
            <a:endParaRPr lang="en-US" sz="1000" dirty="0"/>
          </a:p>
        </p:txBody>
      </p:sp>
      <p:sp>
        <p:nvSpPr>
          <p:cNvPr id="10" name="Text 8"/>
          <p:cNvSpPr/>
          <p:nvPr/>
        </p:nvSpPr>
        <p:spPr>
          <a:xfrm>
            <a:off x="5577840" y="1024128"/>
            <a:ext cx="3246120" cy="347472"/>
          </a:xfrm>
          <a:prstGeom prst="rect">
            <a:avLst/>
          </a:prstGeom>
          <a:noFill/>
          <a:ln/>
        </p:spPr>
        <p:txBody>
          <a:bodyPr wrap="square" lIns="0" tIns="0" rIns="0" bIns="0" rtlCol="0" anchor="ctr"/>
          <a:lstStyle/>
          <a:p>
            <a:pPr marL="0" indent="0">
              <a:buNone/>
            </a:pPr>
            <a:r>
              <a:rPr lang="en-US" sz="1300" b="1" dirty="0">
                <a:solidFill>
                  <a:srgbClr val="00C896"/>
                </a:solidFill>
                <a:latin typeface="Calibri" pitchFamily="34" charset="0"/>
                <a:ea typeface="Calibri" pitchFamily="34" charset="-122"/>
                <a:cs typeface="Calibri" pitchFamily="34" charset="-120"/>
              </a:rPr>
              <a:t>¿Qué muestra este diagrama?</a:t>
            </a:r>
            <a:endParaRPr lang="en-US" sz="1300" dirty="0"/>
          </a:p>
        </p:txBody>
      </p:sp>
      <p:sp>
        <p:nvSpPr>
          <p:cNvPr id="11" name="Shape 9"/>
          <p:cNvSpPr/>
          <p:nvPr/>
        </p:nvSpPr>
        <p:spPr>
          <a:xfrm>
            <a:off x="5577840" y="1463040"/>
            <a:ext cx="3246120" cy="640080"/>
          </a:xfrm>
          <a:prstGeom prst="rect">
            <a:avLst/>
          </a:prstGeom>
          <a:solidFill>
            <a:srgbClr val="1A2B3C"/>
          </a:solidFill>
          <a:ln w="12700">
            <a:solidFill>
              <a:srgbClr val="1E3A2A"/>
            </a:solidFill>
            <a:prstDash val="solid"/>
          </a:ln>
        </p:spPr>
        <p:txBody>
          <a:bodyPr/>
          <a:lstStyle/>
          <a:p>
            <a:endParaRPr lang="es-PE"/>
          </a:p>
        </p:txBody>
      </p:sp>
      <p:sp>
        <p:nvSpPr>
          <p:cNvPr id="12" name="Shape 10"/>
          <p:cNvSpPr/>
          <p:nvPr/>
        </p:nvSpPr>
        <p:spPr>
          <a:xfrm>
            <a:off x="5577840" y="1463040"/>
            <a:ext cx="54864" cy="640080"/>
          </a:xfrm>
          <a:prstGeom prst="rect">
            <a:avLst/>
          </a:prstGeom>
          <a:solidFill>
            <a:srgbClr val="00C896"/>
          </a:solidFill>
          <a:ln w="12700">
            <a:solidFill>
              <a:srgbClr val="00C896"/>
            </a:solidFill>
            <a:prstDash val="solid"/>
          </a:ln>
        </p:spPr>
        <p:txBody>
          <a:bodyPr/>
          <a:lstStyle/>
          <a:p>
            <a:endParaRPr lang="es-PE"/>
          </a:p>
        </p:txBody>
      </p:sp>
      <p:sp>
        <p:nvSpPr>
          <p:cNvPr id="13" name="Text 11"/>
          <p:cNvSpPr/>
          <p:nvPr/>
        </p:nvSpPr>
        <p:spPr>
          <a:xfrm>
            <a:off x="5687568" y="1490472"/>
            <a:ext cx="3017520" cy="237744"/>
          </a:xfrm>
          <a:prstGeom prst="rect">
            <a:avLst/>
          </a:prstGeom>
          <a:noFill/>
          <a:ln/>
        </p:spPr>
        <p:txBody>
          <a:bodyPr wrap="square" lIns="0" tIns="0" rIns="0" bIns="0" rtlCol="0" anchor="ctr"/>
          <a:lstStyle/>
          <a:p>
            <a:pPr marL="0" indent="0">
              <a:buNone/>
            </a:pPr>
            <a:r>
              <a:rPr lang="en-US" sz="1000" b="1" dirty="0">
                <a:solidFill>
                  <a:srgbClr val="00C896"/>
                </a:solidFill>
                <a:latin typeface="Calibri" pitchFamily="34" charset="0"/>
                <a:ea typeface="Calibri" pitchFamily="34" charset="-122"/>
                <a:cs typeface="Calibri" pitchFamily="34" charset="-120"/>
              </a:rPr>
              <a:t>Actores (3)</a:t>
            </a:r>
            <a:endParaRPr lang="en-US" sz="1000" dirty="0"/>
          </a:p>
        </p:txBody>
      </p:sp>
      <p:sp>
        <p:nvSpPr>
          <p:cNvPr id="14" name="Text 12"/>
          <p:cNvSpPr/>
          <p:nvPr/>
        </p:nvSpPr>
        <p:spPr>
          <a:xfrm>
            <a:off x="5687568" y="1728216"/>
            <a:ext cx="3017520" cy="329184"/>
          </a:xfrm>
          <a:prstGeom prst="rect">
            <a:avLst/>
          </a:prstGeom>
          <a:noFill/>
          <a:ln/>
        </p:spPr>
        <p:txBody>
          <a:bodyPr wrap="square" lIns="0" tIns="0" rIns="0" bIns="0" rtlCol="0" anchor="ctr"/>
          <a:lstStyle/>
          <a:p>
            <a:pPr marL="0" indent="0">
              <a:buNone/>
            </a:pPr>
            <a:r>
              <a:rPr lang="en-US" sz="950" dirty="0">
                <a:solidFill>
                  <a:srgbClr val="D0E8E0"/>
                </a:solidFill>
                <a:latin typeface="Calibri" pitchFamily="34" charset="0"/>
                <a:ea typeface="Calibri" pitchFamily="34" charset="-122"/>
                <a:cs typeface="Calibri" pitchFamily="34" charset="-120"/>
              </a:rPr>
              <a:t>Estudiante · Docente · Administrador</a:t>
            </a:r>
            <a:endParaRPr lang="en-US" sz="950" dirty="0"/>
          </a:p>
        </p:txBody>
      </p:sp>
      <p:sp>
        <p:nvSpPr>
          <p:cNvPr id="15" name="Shape 13"/>
          <p:cNvSpPr/>
          <p:nvPr/>
        </p:nvSpPr>
        <p:spPr>
          <a:xfrm>
            <a:off x="5577840" y="2185416"/>
            <a:ext cx="3246120" cy="640080"/>
          </a:xfrm>
          <a:prstGeom prst="rect">
            <a:avLst/>
          </a:prstGeom>
          <a:solidFill>
            <a:srgbClr val="1A2B3C"/>
          </a:solidFill>
          <a:ln w="12700">
            <a:solidFill>
              <a:srgbClr val="1E3A2A"/>
            </a:solidFill>
            <a:prstDash val="solid"/>
          </a:ln>
        </p:spPr>
        <p:txBody>
          <a:bodyPr/>
          <a:lstStyle/>
          <a:p>
            <a:endParaRPr lang="es-PE"/>
          </a:p>
        </p:txBody>
      </p:sp>
      <p:sp>
        <p:nvSpPr>
          <p:cNvPr id="16" name="Shape 14"/>
          <p:cNvSpPr/>
          <p:nvPr/>
        </p:nvSpPr>
        <p:spPr>
          <a:xfrm>
            <a:off x="5577840" y="2185416"/>
            <a:ext cx="54864" cy="640080"/>
          </a:xfrm>
          <a:prstGeom prst="rect">
            <a:avLst/>
          </a:prstGeom>
          <a:solidFill>
            <a:srgbClr val="00C896"/>
          </a:solidFill>
          <a:ln w="12700">
            <a:solidFill>
              <a:srgbClr val="00C896"/>
            </a:solidFill>
            <a:prstDash val="solid"/>
          </a:ln>
        </p:spPr>
        <p:txBody>
          <a:bodyPr/>
          <a:lstStyle/>
          <a:p>
            <a:endParaRPr lang="es-PE"/>
          </a:p>
        </p:txBody>
      </p:sp>
      <p:sp>
        <p:nvSpPr>
          <p:cNvPr id="17" name="Text 15"/>
          <p:cNvSpPr/>
          <p:nvPr/>
        </p:nvSpPr>
        <p:spPr>
          <a:xfrm>
            <a:off x="5687568" y="2212848"/>
            <a:ext cx="3017520" cy="237744"/>
          </a:xfrm>
          <a:prstGeom prst="rect">
            <a:avLst/>
          </a:prstGeom>
          <a:noFill/>
          <a:ln/>
        </p:spPr>
        <p:txBody>
          <a:bodyPr wrap="square" lIns="0" tIns="0" rIns="0" bIns="0" rtlCol="0" anchor="ctr"/>
          <a:lstStyle/>
          <a:p>
            <a:pPr marL="0" indent="0">
              <a:buNone/>
            </a:pPr>
            <a:r>
              <a:rPr lang="en-US" sz="1000" b="1" dirty="0">
                <a:solidFill>
                  <a:srgbClr val="00C896"/>
                </a:solidFill>
                <a:latin typeface="Calibri" pitchFamily="34" charset="0"/>
                <a:ea typeface="Calibri" pitchFamily="34" charset="-122"/>
                <a:cs typeface="Calibri" pitchFamily="34" charset="-120"/>
              </a:rPr>
              <a:t>Casos de Uso</a:t>
            </a:r>
            <a:endParaRPr lang="en-US" sz="1000" dirty="0"/>
          </a:p>
          <a:p>
            <a:pPr marL="0" indent="0">
              <a:buNone/>
            </a:pPr>
            <a:r>
              <a:rPr lang="en-US" sz="1000" b="1" dirty="0">
                <a:solidFill>
                  <a:srgbClr val="00C896"/>
                </a:solidFill>
                <a:latin typeface="Calibri" pitchFamily="34" charset="0"/>
                <a:ea typeface="Calibri" pitchFamily="34" charset="-122"/>
                <a:cs typeface="Calibri" pitchFamily="34" charset="-120"/>
              </a:rPr>
              <a:t>Estudiante</a:t>
            </a:r>
            <a:endParaRPr lang="en-US" sz="1000" dirty="0"/>
          </a:p>
        </p:txBody>
      </p:sp>
      <p:sp>
        <p:nvSpPr>
          <p:cNvPr id="18" name="Text 16"/>
          <p:cNvSpPr/>
          <p:nvPr/>
        </p:nvSpPr>
        <p:spPr>
          <a:xfrm>
            <a:off x="5687568" y="2450592"/>
            <a:ext cx="3017520" cy="329184"/>
          </a:xfrm>
          <a:prstGeom prst="rect">
            <a:avLst/>
          </a:prstGeom>
          <a:noFill/>
          <a:ln/>
        </p:spPr>
        <p:txBody>
          <a:bodyPr wrap="square" lIns="0" tIns="0" rIns="0" bIns="0" rtlCol="0" anchor="ctr"/>
          <a:lstStyle/>
          <a:p>
            <a:pPr marL="0" indent="0">
              <a:buNone/>
            </a:pPr>
            <a:r>
              <a:rPr lang="en-US" sz="950" dirty="0">
                <a:solidFill>
                  <a:srgbClr val="D0E8E0"/>
                </a:solidFill>
                <a:latin typeface="Calibri" pitchFamily="34" charset="0"/>
                <a:ea typeface="Calibri" pitchFamily="34" charset="-122"/>
                <a:cs typeface="Calibri" pitchFamily="34" charset="-120"/>
              </a:rPr>
              <a:t>Iniciar sesión, Matricularse en curso, Consultar horario, Consultar notas</a:t>
            </a:r>
            <a:endParaRPr lang="en-US" sz="950" dirty="0"/>
          </a:p>
        </p:txBody>
      </p:sp>
      <p:sp>
        <p:nvSpPr>
          <p:cNvPr id="19" name="Shape 17"/>
          <p:cNvSpPr/>
          <p:nvPr/>
        </p:nvSpPr>
        <p:spPr>
          <a:xfrm>
            <a:off x="5577840" y="2907792"/>
            <a:ext cx="3246120" cy="640080"/>
          </a:xfrm>
          <a:prstGeom prst="rect">
            <a:avLst/>
          </a:prstGeom>
          <a:solidFill>
            <a:srgbClr val="1A2B3C"/>
          </a:solidFill>
          <a:ln w="12700">
            <a:solidFill>
              <a:srgbClr val="1E3A2A"/>
            </a:solidFill>
            <a:prstDash val="solid"/>
          </a:ln>
        </p:spPr>
        <p:txBody>
          <a:bodyPr/>
          <a:lstStyle/>
          <a:p>
            <a:endParaRPr lang="es-PE"/>
          </a:p>
        </p:txBody>
      </p:sp>
      <p:sp>
        <p:nvSpPr>
          <p:cNvPr id="20" name="Shape 18"/>
          <p:cNvSpPr/>
          <p:nvPr/>
        </p:nvSpPr>
        <p:spPr>
          <a:xfrm>
            <a:off x="5577840" y="2907792"/>
            <a:ext cx="54864" cy="640080"/>
          </a:xfrm>
          <a:prstGeom prst="rect">
            <a:avLst/>
          </a:prstGeom>
          <a:solidFill>
            <a:srgbClr val="00C896"/>
          </a:solidFill>
          <a:ln w="12700">
            <a:solidFill>
              <a:srgbClr val="00C896"/>
            </a:solidFill>
            <a:prstDash val="solid"/>
          </a:ln>
        </p:spPr>
        <p:txBody>
          <a:bodyPr/>
          <a:lstStyle/>
          <a:p>
            <a:endParaRPr lang="es-PE"/>
          </a:p>
        </p:txBody>
      </p:sp>
      <p:sp>
        <p:nvSpPr>
          <p:cNvPr id="21" name="Text 19"/>
          <p:cNvSpPr/>
          <p:nvPr/>
        </p:nvSpPr>
        <p:spPr>
          <a:xfrm>
            <a:off x="5687568" y="2935224"/>
            <a:ext cx="3017520" cy="237744"/>
          </a:xfrm>
          <a:prstGeom prst="rect">
            <a:avLst/>
          </a:prstGeom>
          <a:noFill/>
          <a:ln/>
        </p:spPr>
        <p:txBody>
          <a:bodyPr wrap="square" lIns="0" tIns="0" rIns="0" bIns="0" rtlCol="0" anchor="ctr"/>
          <a:lstStyle/>
          <a:p>
            <a:pPr marL="0" indent="0">
              <a:buNone/>
            </a:pPr>
            <a:r>
              <a:rPr lang="en-US" sz="1000" b="1" dirty="0">
                <a:solidFill>
                  <a:srgbClr val="00C896"/>
                </a:solidFill>
                <a:latin typeface="Calibri" pitchFamily="34" charset="0"/>
                <a:ea typeface="Calibri" pitchFamily="34" charset="-122"/>
                <a:cs typeface="Calibri" pitchFamily="34" charset="-120"/>
              </a:rPr>
              <a:t>Casos de Uso</a:t>
            </a:r>
            <a:endParaRPr lang="en-US" sz="1000" dirty="0"/>
          </a:p>
          <a:p>
            <a:pPr marL="0" indent="0">
              <a:buNone/>
            </a:pPr>
            <a:r>
              <a:rPr lang="en-US" sz="1000" b="1" dirty="0">
                <a:solidFill>
                  <a:srgbClr val="00C896"/>
                </a:solidFill>
                <a:latin typeface="Calibri" pitchFamily="34" charset="0"/>
                <a:ea typeface="Calibri" pitchFamily="34" charset="-122"/>
                <a:cs typeface="Calibri" pitchFamily="34" charset="-120"/>
              </a:rPr>
              <a:t>Docente</a:t>
            </a:r>
            <a:endParaRPr lang="en-US" sz="1000" dirty="0"/>
          </a:p>
        </p:txBody>
      </p:sp>
      <p:sp>
        <p:nvSpPr>
          <p:cNvPr id="22" name="Text 20"/>
          <p:cNvSpPr/>
          <p:nvPr/>
        </p:nvSpPr>
        <p:spPr>
          <a:xfrm>
            <a:off x="5687568" y="3172968"/>
            <a:ext cx="3017520" cy="329184"/>
          </a:xfrm>
          <a:prstGeom prst="rect">
            <a:avLst/>
          </a:prstGeom>
          <a:noFill/>
          <a:ln/>
        </p:spPr>
        <p:txBody>
          <a:bodyPr wrap="square" lIns="0" tIns="0" rIns="0" bIns="0" rtlCol="0" anchor="ctr"/>
          <a:lstStyle/>
          <a:p>
            <a:pPr marL="0" indent="0">
              <a:buNone/>
            </a:pPr>
            <a:r>
              <a:rPr lang="en-US" sz="950" dirty="0">
                <a:solidFill>
                  <a:srgbClr val="D0E8E0"/>
                </a:solidFill>
                <a:latin typeface="Calibri" pitchFamily="34" charset="0"/>
                <a:ea typeface="Calibri" pitchFamily="34" charset="-122"/>
                <a:cs typeface="Calibri" pitchFamily="34" charset="-120"/>
              </a:rPr>
              <a:t>Iniciar sesión, Registrar notas, Registrar asistencia, Ver lista alumnos</a:t>
            </a:r>
            <a:endParaRPr lang="en-US" sz="950" dirty="0"/>
          </a:p>
        </p:txBody>
      </p:sp>
      <p:sp>
        <p:nvSpPr>
          <p:cNvPr id="23" name="Shape 21"/>
          <p:cNvSpPr/>
          <p:nvPr/>
        </p:nvSpPr>
        <p:spPr>
          <a:xfrm>
            <a:off x="5577840" y="3630168"/>
            <a:ext cx="3246120" cy="640080"/>
          </a:xfrm>
          <a:prstGeom prst="rect">
            <a:avLst/>
          </a:prstGeom>
          <a:solidFill>
            <a:srgbClr val="1A2B3C"/>
          </a:solidFill>
          <a:ln w="12700">
            <a:solidFill>
              <a:srgbClr val="1E3A2A"/>
            </a:solidFill>
            <a:prstDash val="solid"/>
          </a:ln>
        </p:spPr>
        <p:txBody>
          <a:bodyPr/>
          <a:lstStyle/>
          <a:p>
            <a:endParaRPr lang="es-PE"/>
          </a:p>
        </p:txBody>
      </p:sp>
      <p:sp>
        <p:nvSpPr>
          <p:cNvPr id="24" name="Shape 22"/>
          <p:cNvSpPr/>
          <p:nvPr/>
        </p:nvSpPr>
        <p:spPr>
          <a:xfrm>
            <a:off x="5577840" y="3630168"/>
            <a:ext cx="54864" cy="640080"/>
          </a:xfrm>
          <a:prstGeom prst="rect">
            <a:avLst/>
          </a:prstGeom>
          <a:solidFill>
            <a:srgbClr val="00C896"/>
          </a:solidFill>
          <a:ln w="12700">
            <a:solidFill>
              <a:srgbClr val="00C896"/>
            </a:solidFill>
            <a:prstDash val="solid"/>
          </a:ln>
        </p:spPr>
        <p:txBody>
          <a:bodyPr/>
          <a:lstStyle/>
          <a:p>
            <a:endParaRPr lang="es-PE"/>
          </a:p>
        </p:txBody>
      </p:sp>
      <p:sp>
        <p:nvSpPr>
          <p:cNvPr id="25" name="Text 23"/>
          <p:cNvSpPr/>
          <p:nvPr/>
        </p:nvSpPr>
        <p:spPr>
          <a:xfrm>
            <a:off x="5687568" y="3657600"/>
            <a:ext cx="3017520" cy="237744"/>
          </a:xfrm>
          <a:prstGeom prst="rect">
            <a:avLst/>
          </a:prstGeom>
          <a:noFill/>
          <a:ln/>
        </p:spPr>
        <p:txBody>
          <a:bodyPr wrap="square" lIns="0" tIns="0" rIns="0" bIns="0" rtlCol="0" anchor="ctr"/>
          <a:lstStyle/>
          <a:p>
            <a:pPr marL="0" indent="0">
              <a:buNone/>
            </a:pPr>
            <a:r>
              <a:rPr lang="en-US" sz="1000" b="1" dirty="0">
                <a:solidFill>
                  <a:srgbClr val="00C896"/>
                </a:solidFill>
                <a:latin typeface="Calibri" pitchFamily="34" charset="0"/>
                <a:ea typeface="Calibri" pitchFamily="34" charset="-122"/>
                <a:cs typeface="Calibri" pitchFamily="34" charset="-120"/>
              </a:rPr>
              <a:t>Casos de Uso</a:t>
            </a:r>
            <a:endParaRPr lang="en-US" sz="1000" dirty="0"/>
          </a:p>
          <a:p>
            <a:pPr marL="0" indent="0">
              <a:buNone/>
            </a:pPr>
            <a:r>
              <a:rPr lang="en-US" sz="1000" b="1" dirty="0">
                <a:solidFill>
                  <a:srgbClr val="00C896"/>
                </a:solidFill>
                <a:latin typeface="Calibri" pitchFamily="34" charset="0"/>
                <a:ea typeface="Calibri" pitchFamily="34" charset="-122"/>
                <a:cs typeface="Calibri" pitchFamily="34" charset="-120"/>
              </a:rPr>
              <a:t>Admin</a:t>
            </a:r>
            <a:endParaRPr lang="en-US" sz="1000" dirty="0"/>
          </a:p>
        </p:txBody>
      </p:sp>
      <p:sp>
        <p:nvSpPr>
          <p:cNvPr id="26" name="Text 24"/>
          <p:cNvSpPr/>
          <p:nvPr/>
        </p:nvSpPr>
        <p:spPr>
          <a:xfrm>
            <a:off x="5687568" y="3895344"/>
            <a:ext cx="3017520" cy="329184"/>
          </a:xfrm>
          <a:prstGeom prst="rect">
            <a:avLst/>
          </a:prstGeom>
          <a:noFill/>
          <a:ln/>
        </p:spPr>
        <p:txBody>
          <a:bodyPr wrap="square" lIns="0" tIns="0" rIns="0" bIns="0" rtlCol="0" anchor="ctr"/>
          <a:lstStyle/>
          <a:p>
            <a:pPr marL="0" indent="0">
              <a:buNone/>
            </a:pPr>
            <a:r>
              <a:rPr lang="en-US" sz="950" dirty="0">
                <a:solidFill>
                  <a:srgbClr val="D0E8E0"/>
                </a:solidFill>
                <a:latin typeface="Calibri" pitchFamily="34" charset="0"/>
                <a:ea typeface="Calibri" pitchFamily="34" charset="-122"/>
                <a:cs typeface="Calibri" pitchFamily="34" charset="-120"/>
              </a:rPr>
              <a:t>Gestionar cursos, Gestionar docentes, Generar reportes</a:t>
            </a:r>
            <a:endParaRPr lang="en-US" sz="950" dirty="0"/>
          </a:p>
        </p:txBody>
      </p:sp>
      <p:sp>
        <p:nvSpPr>
          <p:cNvPr id="27" name="Shape 25"/>
          <p:cNvSpPr/>
          <p:nvPr/>
        </p:nvSpPr>
        <p:spPr>
          <a:xfrm>
            <a:off x="5577840" y="4352544"/>
            <a:ext cx="3246120" cy="640080"/>
          </a:xfrm>
          <a:prstGeom prst="rect">
            <a:avLst/>
          </a:prstGeom>
          <a:solidFill>
            <a:srgbClr val="1A2B3C"/>
          </a:solidFill>
          <a:ln w="12700">
            <a:solidFill>
              <a:srgbClr val="1E3A2A"/>
            </a:solidFill>
            <a:prstDash val="solid"/>
          </a:ln>
        </p:spPr>
        <p:txBody>
          <a:bodyPr/>
          <a:lstStyle/>
          <a:p>
            <a:endParaRPr lang="es-PE"/>
          </a:p>
        </p:txBody>
      </p:sp>
      <p:sp>
        <p:nvSpPr>
          <p:cNvPr id="28" name="Shape 26"/>
          <p:cNvSpPr/>
          <p:nvPr/>
        </p:nvSpPr>
        <p:spPr>
          <a:xfrm>
            <a:off x="5577840" y="4352544"/>
            <a:ext cx="54864" cy="640080"/>
          </a:xfrm>
          <a:prstGeom prst="rect">
            <a:avLst/>
          </a:prstGeom>
          <a:solidFill>
            <a:srgbClr val="00C896"/>
          </a:solidFill>
          <a:ln w="12700">
            <a:solidFill>
              <a:srgbClr val="00C896"/>
            </a:solidFill>
            <a:prstDash val="solid"/>
          </a:ln>
        </p:spPr>
        <p:txBody>
          <a:bodyPr/>
          <a:lstStyle/>
          <a:p>
            <a:endParaRPr lang="es-PE"/>
          </a:p>
        </p:txBody>
      </p:sp>
      <p:sp>
        <p:nvSpPr>
          <p:cNvPr id="29" name="Text 27"/>
          <p:cNvSpPr/>
          <p:nvPr/>
        </p:nvSpPr>
        <p:spPr>
          <a:xfrm>
            <a:off x="5687568" y="4379976"/>
            <a:ext cx="3017520" cy="237744"/>
          </a:xfrm>
          <a:prstGeom prst="rect">
            <a:avLst/>
          </a:prstGeom>
          <a:noFill/>
          <a:ln/>
        </p:spPr>
        <p:txBody>
          <a:bodyPr wrap="square" lIns="0" tIns="0" rIns="0" bIns="0" rtlCol="0" anchor="ctr"/>
          <a:lstStyle/>
          <a:p>
            <a:pPr marL="0" indent="0">
              <a:buNone/>
            </a:pPr>
            <a:r>
              <a:rPr lang="en-US" sz="1000" b="1" dirty="0">
                <a:solidFill>
                  <a:srgbClr val="00C896"/>
                </a:solidFill>
                <a:latin typeface="Calibri" pitchFamily="34" charset="0"/>
                <a:ea typeface="Calibri" pitchFamily="34" charset="-122"/>
                <a:cs typeface="Calibri" pitchFamily="34" charset="-120"/>
              </a:rPr>
              <a:t>Casos incluidos</a:t>
            </a:r>
            <a:endParaRPr lang="en-US" sz="1000" dirty="0"/>
          </a:p>
          <a:p>
            <a:pPr marL="0" indent="0">
              <a:buNone/>
            </a:pPr>
            <a:r>
              <a:rPr lang="en-US" sz="1000" b="1" dirty="0">
                <a:solidFill>
                  <a:srgbClr val="00C896"/>
                </a:solidFill>
                <a:latin typeface="Calibri" pitchFamily="34" charset="0"/>
                <a:ea typeface="Calibri" pitchFamily="34" charset="-122"/>
                <a:cs typeface="Calibri" pitchFamily="34" charset="-120"/>
              </a:rPr>
              <a:t>(«include»)</a:t>
            </a:r>
            <a:endParaRPr lang="en-US" sz="1000" dirty="0"/>
          </a:p>
        </p:txBody>
      </p:sp>
      <p:sp>
        <p:nvSpPr>
          <p:cNvPr id="30" name="Text 28"/>
          <p:cNvSpPr/>
          <p:nvPr/>
        </p:nvSpPr>
        <p:spPr>
          <a:xfrm>
            <a:off x="5687568" y="4617720"/>
            <a:ext cx="3017520" cy="329184"/>
          </a:xfrm>
          <a:prstGeom prst="rect">
            <a:avLst/>
          </a:prstGeom>
          <a:noFill/>
          <a:ln/>
        </p:spPr>
        <p:txBody>
          <a:bodyPr wrap="square" lIns="0" tIns="0" rIns="0" bIns="0" rtlCol="0" anchor="ctr"/>
          <a:lstStyle/>
          <a:p>
            <a:pPr marL="0" indent="0">
              <a:buNone/>
            </a:pPr>
            <a:r>
              <a:rPr lang="en-US" sz="950" dirty="0">
                <a:solidFill>
                  <a:srgbClr val="D0E8E0"/>
                </a:solidFill>
                <a:latin typeface="Calibri" pitchFamily="34" charset="0"/>
                <a:ea typeface="Calibri" pitchFamily="34" charset="-122"/>
                <a:cs typeface="Calibri" pitchFamily="34" charset="-120"/>
              </a:rPr>
              <a:t>Validar pago, Verificar prerrequisitos, Verificar cupo, Verificar conflicto horario</a:t>
            </a:r>
            <a:endParaRPr lang="en-US" sz="950" dirty="0"/>
          </a:p>
        </p:txBody>
      </p:sp>
      <p:pic>
        <p:nvPicPr>
          <p:cNvPr id="34" name="Imagen 33">
            <a:extLst>
              <a:ext uri="{FF2B5EF4-FFF2-40B4-BE49-F238E27FC236}">
                <a16:creationId xmlns:a16="http://schemas.microsoft.com/office/drawing/2014/main" id="{868609BC-58D4-989E-FE1E-DD95DDB8187C}"/>
              </a:ext>
            </a:extLst>
          </p:cNvPr>
          <p:cNvPicPr>
            <a:picLocks noChangeAspect="1"/>
          </p:cNvPicPr>
          <p:nvPr/>
        </p:nvPicPr>
        <p:blipFill>
          <a:blip r:embed="rId3"/>
          <a:stretch>
            <a:fillRect/>
          </a:stretch>
        </p:blipFill>
        <p:spPr>
          <a:xfrm>
            <a:off x="1021076" y="1106477"/>
            <a:ext cx="3688084" cy="335579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2"/>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0C896"/>
          </a:solidFill>
          <a:ln w="12700">
            <a:solidFill>
              <a:srgbClr val="00C896"/>
            </a:solidFill>
            <a:prstDash val="solid"/>
          </a:ln>
        </p:spPr>
        <p:txBody>
          <a:bodyPr/>
          <a:lstStyle/>
          <a:p>
            <a:endParaRPr lang="es-PE"/>
          </a:p>
        </p:txBody>
      </p:sp>
      <p:sp>
        <p:nvSpPr>
          <p:cNvPr id="3" name="Shape 1"/>
          <p:cNvSpPr/>
          <p:nvPr/>
        </p:nvSpPr>
        <p:spPr>
          <a:xfrm>
            <a:off x="0" y="0"/>
            <a:ext cx="9144000" cy="841248"/>
          </a:xfrm>
          <a:prstGeom prst="rect">
            <a:avLst/>
          </a:prstGeom>
          <a:solidFill>
            <a:srgbClr val="0F2A1E"/>
          </a:solidFill>
          <a:ln w="12700">
            <a:solidFill>
              <a:srgbClr val="0F2A1E"/>
            </a:solidFill>
            <a:prstDash val="solid"/>
          </a:ln>
        </p:spPr>
        <p:txBody>
          <a:bodyPr/>
          <a:lstStyle/>
          <a:p>
            <a:endParaRPr lang="es-PE"/>
          </a:p>
        </p:txBody>
      </p:sp>
      <p:sp>
        <p:nvSpPr>
          <p:cNvPr id="4" name="Text 2"/>
          <p:cNvSpPr/>
          <p:nvPr/>
        </p:nvSpPr>
        <p:spPr>
          <a:xfrm>
            <a:off x="411480" y="0"/>
            <a:ext cx="8412480" cy="841248"/>
          </a:xfrm>
          <a:prstGeom prst="rect">
            <a:avLst/>
          </a:prstGeom>
          <a:noFill/>
          <a:ln/>
        </p:spPr>
        <p:txBody>
          <a:bodyPr wrap="square" lIns="0" tIns="0" rIns="0" bIns="0" rtlCol="0" anchor="ctr"/>
          <a:lstStyle/>
          <a:p>
            <a:pPr marL="0" indent="0" algn="l">
              <a:buNone/>
            </a:pPr>
            <a:r>
              <a:rPr lang="en-US" sz="2100" b="1" dirty="0">
                <a:solidFill>
                  <a:srgbClr val="00C896"/>
                </a:solidFill>
                <a:latin typeface="Calibri" pitchFamily="34" charset="0"/>
                <a:ea typeface="Calibri" pitchFamily="34" charset="-122"/>
                <a:cs typeface="Calibri" pitchFamily="34" charset="-120"/>
              </a:rPr>
              <a:t>03 · DIAGRAMAS UML — Diagrama de Clases</a:t>
            </a:r>
            <a:endParaRPr lang="en-US" sz="2100" dirty="0"/>
          </a:p>
        </p:txBody>
      </p:sp>
      <p:sp>
        <p:nvSpPr>
          <p:cNvPr id="5" name="Shape 3"/>
          <p:cNvSpPr/>
          <p:nvPr/>
        </p:nvSpPr>
        <p:spPr>
          <a:xfrm>
            <a:off x="384048" y="987552"/>
            <a:ext cx="5303520" cy="3840480"/>
          </a:xfrm>
          <a:prstGeom prst="rect">
            <a:avLst/>
          </a:prstGeom>
          <a:solidFill>
            <a:srgbClr val="0D2035"/>
          </a:solidFill>
          <a:ln w="25400">
            <a:solidFill>
              <a:srgbClr val="00C896"/>
            </a:solidFill>
            <a:prstDash val="solid"/>
          </a:ln>
        </p:spPr>
        <p:txBody>
          <a:bodyPr/>
          <a:lstStyle/>
          <a:p>
            <a:endParaRPr lang="es-PE"/>
          </a:p>
        </p:txBody>
      </p:sp>
      <p:sp>
        <p:nvSpPr>
          <p:cNvPr id="6" name="Shape 4"/>
          <p:cNvSpPr/>
          <p:nvPr/>
        </p:nvSpPr>
        <p:spPr>
          <a:xfrm>
            <a:off x="457200" y="1060704"/>
            <a:ext cx="5157216" cy="3694176"/>
          </a:xfrm>
          <a:prstGeom prst="rect">
            <a:avLst/>
          </a:prstGeom>
          <a:solidFill>
            <a:srgbClr val="0D2035"/>
          </a:solidFill>
          <a:ln w="12700">
            <a:solidFill>
              <a:srgbClr val="009E78"/>
            </a:solidFill>
            <a:prstDash val="solid"/>
          </a:ln>
        </p:spPr>
        <p:txBody>
          <a:bodyPr/>
          <a:lstStyle/>
          <a:p>
            <a:endParaRPr lang="es-PE"/>
          </a:p>
        </p:txBody>
      </p:sp>
      <p:sp>
        <p:nvSpPr>
          <p:cNvPr id="7" name="Text 5"/>
          <p:cNvSpPr/>
          <p:nvPr/>
        </p:nvSpPr>
        <p:spPr>
          <a:xfrm>
            <a:off x="384048" y="987552"/>
            <a:ext cx="5303520" cy="3840480"/>
          </a:xfrm>
          <a:prstGeom prst="rect">
            <a:avLst/>
          </a:prstGeom>
          <a:noFill/>
          <a:ln/>
        </p:spPr>
        <p:txBody>
          <a:bodyPr wrap="square" lIns="0" tIns="0" rIns="0" bIns="0" rtlCol="0" anchor="ctr"/>
          <a:lstStyle/>
          <a:p>
            <a:pPr marL="0" indent="0" algn="ctr">
              <a:buNone/>
            </a:pPr>
            <a:endParaRPr lang="en-US" sz="1200" dirty="0"/>
          </a:p>
        </p:txBody>
      </p:sp>
      <p:sp>
        <p:nvSpPr>
          <p:cNvPr id="8" name="Shape 6"/>
          <p:cNvSpPr/>
          <p:nvPr/>
        </p:nvSpPr>
        <p:spPr>
          <a:xfrm>
            <a:off x="384048" y="4535424"/>
            <a:ext cx="5303520" cy="292608"/>
          </a:xfrm>
          <a:prstGeom prst="rect">
            <a:avLst/>
          </a:prstGeom>
          <a:solidFill>
            <a:srgbClr val="009E78"/>
          </a:solidFill>
          <a:ln w="12700">
            <a:solidFill>
              <a:srgbClr val="009E78"/>
            </a:solidFill>
            <a:prstDash val="solid"/>
          </a:ln>
        </p:spPr>
        <p:txBody>
          <a:bodyPr/>
          <a:lstStyle/>
          <a:p>
            <a:endParaRPr lang="es-PE"/>
          </a:p>
        </p:txBody>
      </p:sp>
      <p:sp>
        <p:nvSpPr>
          <p:cNvPr id="9" name="Text 7"/>
          <p:cNvSpPr/>
          <p:nvPr/>
        </p:nvSpPr>
        <p:spPr>
          <a:xfrm>
            <a:off x="384048" y="4535424"/>
            <a:ext cx="53035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Diagrama de Clases</a:t>
            </a:r>
            <a:endParaRPr lang="en-US" sz="1000" dirty="0"/>
          </a:p>
        </p:txBody>
      </p:sp>
      <p:sp>
        <p:nvSpPr>
          <p:cNvPr id="10" name="Text 8"/>
          <p:cNvSpPr/>
          <p:nvPr/>
        </p:nvSpPr>
        <p:spPr>
          <a:xfrm>
            <a:off x="5870448" y="1024128"/>
            <a:ext cx="2944368" cy="320040"/>
          </a:xfrm>
          <a:prstGeom prst="rect">
            <a:avLst/>
          </a:prstGeom>
          <a:noFill/>
          <a:ln/>
        </p:spPr>
        <p:txBody>
          <a:bodyPr wrap="square" lIns="0" tIns="0" rIns="0" bIns="0" rtlCol="0" anchor="ctr"/>
          <a:lstStyle/>
          <a:p>
            <a:pPr marL="0" indent="0">
              <a:buNone/>
            </a:pPr>
            <a:r>
              <a:rPr lang="en-US" sz="1200" b="1" dirty="0">
                <a:solidFill>
                  <a:srgbClr val="0F2A1E"/>
                </a:solidFill>
                <a:latin typeface="Calibri" pitchFamily="34" charset="0"/>
                <a:ea typeface="Calibri" pitchFamily="34" charset="-122"/>
                <a:cs typeface="Calibri" pitchFamily="34" charset="-120"/>
              </a:rPr>
              <a:t>Clases del sistema (6 entidades):</a:t>
            </a:r>
            <a:endParaRPr lang="en-US" sz="1200" dirty="0"/>
          </a:p>
        </p:txBody>
      </p:sp>
      <p:sp>
        <p:nvSpPr>
          <p:cNvPr id="11" name="Shape 9"/>
          <p:cNvSpPr/>
          <p:nvPr/>
        </p:nvSpPr>
        <p:spPr>
          <a:xfrm>
            <a:off x="5870448" y="1417320"/>
            <a:ext cx="2944368" cy="530352"/>
          </a:xfrm>
          <a:prstGeom prst="rect">
            <a:avLst/>
          </a:prstGeom>
          <a:solidFill>
            <a:srgbClr val="0F2A1E"/>
          </a:solidFill>
          <a:ln w="12700">
            <a:solidFill>
              <a:srgbClr val="1E3A2A"/>
            </a:solidFill>
            <a:prstDash val="solid"/>
          </a:ln>
        </p:spPr>
        <p:txBody>
          <a:bodyPr/>
          <a:lstStyle/>
          <a:p>
            <a:endParaRPr lang="es-PE"/>
          </a:p>
        </p:txBody>
      </p:sp>
      <p:sp>
        <p:nvSpPr>
          <p:cNvPr id="12" name="Text 10"/>
          <p:cNvSpPr/>
          <p:nvPr/>
        </p:nvSpPr>
        <p:spPr>
          <a:xfrm>
            <a:off x="5961888" y="1453896"/>
            <a:ext cx="2788920" cy="201168"/>
          </a:xfrm>
          <a:prstGeom prst="rect">
            <a:avLst/>
          </a:prstGeom>
          <a:noFill/>
          <a:ln/>
        </p:spPr>
        <p:txBody>
          <a:bodyPr wrap="square" lIns="0" tIns="0" rIns="0" bIns="0" rtlCol="0" anchor="ctr"/>
          <a:lstStyle/>
          <a:p>
            <a:pPr marL="0" indent="0">
              <a:buNone/>
            </a:pPr>
            <a:r>
              <a:rPr lang="en-US" sz="1100" b="1" dirty="0">
                <a:solidFill>
                  <a:srgbClr val="00C896"/>
                </a:solidFill>
                <a:latin typeface="Calibri" pitchFamily="34" charset="0"/>
                <a:ea typeface="Calibri" pitchFamily="34" charset="-122"/>
                <a:cs typeface="Calibri" pitchFamily="34" charset="-120"/>
              </a:rPr>
              <a:t>Estudiante</a:t>
            </a:r>
            <a:endParaRPr lang="en-US" sz="1100" dirty="0"/>
          </a:p>
        </p:txBody>
      </p:sp>
      <p:sp>
        <p:nvSpPr>
          <p:cNvPr id="13" name="Text 11"/>
          <p:cNvSpPr/>
          <p:nvPr/>
        </p:nvSpPr>
        <p:spPr>
          <a:xfrm>
            <a:off x="5961888" y="1664208"/>
            <a:ext cx="2788920" cy="256032"/>
          </a:xfrm>
          <a:prstGeom prst="rect">
            <a:avLst/>
          </a:prstGeom>
          <a:noFill/>
          <a:ln/>
        </p:spPr>
        <p:txBody>
          <a:bodyPr wrap="square" lIns="0" tIns="0" rIns="0" bIns="0" rtlCol="0" anchor="ctr"/>
          <a:lstStyle/>
          <a:p>
            <a:pPr marL="0" indent="0">
              <a:buNone/>
            </a:pPr>
            <a:r>
              <a:rPr lang="en-US" sz="850" dirty="0">
                <a:solidFill>
                  <a:srgbClr val="D0E8E0"/>
                </a:solidFill>
                <a:latin typeface="Calibri" pitchFamily="34" charset="0"/>
                <a:ea typeface="Calibri" pitchFamily="34" charset="-122"/>
                <a:cs typeface="Calibri" pitchFamily="34" charset="-120"/>
              </a:rPr>
              <a:t>idEstudiante, nombre, carrera, ciclo</a:t>
            </a:r>
            <a:endParaRPr lang="en-US" sz="850" dirty="0"/>
          </a:p>
          <a:p>
            <a:pPr marL="0" indent="0">
              <a:buNone/>
            </a:pPr>
            <a:r>
              <a:rPr lang="en-US" sz="850" dirty="0">
                <a:solidFill>
                  <a:srgbClr val="D0E8E0"/>
                </a:solidFill>
                <a:latin typeface="Calibri" pitchFamily="34" charset="0"/>
                <a:ea typeface="Calibri" pitchFamily="34" charset="-122"/>
                <a:cs typeface="Calibri" pitchFamily="34" charset="-120"/>
              </a:rPr>
              <a:t>métodos: matricularCurso(), consultarNotas()</a:t>
            </a:r>
            <a:endParaRPr lang="en-US" sz="850" dirty="0"/>
          </a:p>
        </p:txBody>
      </p:sp>
      <p:sp>
        <p:nvSpPr>
          <p:cNvPr id="14" name="Shape 12"/>
          <p:cNvSpPr/>
          <p:nvPr/>
        </p:nvSpPr>
        <p:spPr>
          <a:xfrm>
            <a:off x="5870448" y="2029968"/>
            <a:ext cx="2944368" cy="530352"/>
          </a:xfrm>
          <a:prstGeom prst="rect">
            <a:avLst/>
          </a:prstGeom>
          <a:solidFill>
            <a:srgbClr val="0F2A1E"/>
          </a:solidFill>
          <a:ln w="12700">
            <a:solidFill>
              <a:srgbClr val="1E3A2A"/>
            </a:solidFill>
            <a:prstDash val="solid"/>
          </a:ln>
        </p:spPr>
        <p:txBody>
          <a:bodyPr/>
          <a:lstStyle/>
          <a:p>
            <a:endParaRPr lang="es-PE"/>
          </a:p>
        </p:txBody>
      </p:sp>
      <p:sp>
        <p:nvSpPr>
          <p:cNvPr id="15" name="Text 13"/>
          <p:cNvSpPr/>
          <p:nvPr/>
        </p:nvSpPr>
        <p:spPr>
          <a:xfrm>
            <a:off x="5961888" y="2066544"/>
            <a:ext cx="2788920" cy="201168"/>
          </a:xfrm>
          <a:prstGeom prst="rect">
            <a:avLst/>
          </a:prstGeom>
          <a:noFill/>
          <a:ln/>
        </p:spPr>
        <p:txBody>
          <a:bodyPr wrap="square" lIns="0" tIns="0" rIns="0" bIns="0" rtlCol="0" anchor="ctr"/>
          <a:lstStyle/>
          <a:p>
            <a:pPr marL="0" indent="0">
              <a:buNone/>
            </a:pPr>
            <a:r>
              <a:rPr lang="en-US" sz="1100" b="1" dirty="0">
                <a:solidFill>
                  <a:srgbClr val="00C896"/>
                </a:solidFill>
                <a:latin typeface="Calibri" pitchFamily="34" charset="0"/>
                <a:ea typeface="Calibri" pitchFamily="34" charset="-122"/>
                <a:cs typeface="Calibri" pitchFamily="34" charset="-120"/>
              </a:rPr>
              <a:t>Matrícula</a:t>
            </a:r>
            <a:endParaRPr lang="en-US" sz="1100" dirty="0"/>
          </a:p>
        </p:txBody>
      </p:sp>
      <p:sp>
        <p:nvSpPr>
          <p:cNvPr id="16" name="Text 14"/>
          <p:cNvSpPr/>
          <p:nvPr/>
        </p:nvSpPr>
        <p:spPr>
          <a:xfrm>
            <a:off x="5961888" y="2276856"/>
            <a:ext cx="2788920" cy="256032"/>
          </a:xfrm>
          <a:prstGeom prst="rect">
            <a:avLst/>
          </a:prstGeom>
          <a:noFill/>
          <a:ln/>
        </p:spPr>
        <p:txBody>
          <a:bodyPr wrap="square" lIns="0" tIns="0" rIns="0" bIns="0" rtlCol="0" anchor="ctr"/>
          <a:lstStyle/>
          <a:p>
            <a:pPr marL="0" indent="0">
              <a:buNone/>
            </a:pPr>
            <a:r>
              <a:rPr lang="en-US" sz="850" dirty="0">
                <a:solidFill>
                  <a:srgbClr val="D0E8E0"/>
                </a:solidFill>
                <a:latin typeface="Calibri" pitchFamily="34" charset="0"/>
                <a:ea typeface="Calibri" pitchFamily="34" charset="-122"/>
                <a:cs typeface="Calibri" pitchFamily="34" charset="-120"/>
              </a:rPr>
              <a:t>idMatrícula, fecha, estado</a:t>
            </a:r>
            <a:endParaRPr lang="en-US" sz="850" dirty="0"/>
          </a:p>
          <a:p>
            <a:pPr marL="0" indent="0">
              <a:buNone/>
            </a:pPr>
            <a:r>
              <a:rPr lang="en-US" sz="850" dirty="0">
                <a:solidFill>
                  <a:srgbClr val="D0E8E0"/>
                </a:solidFill>
                <a:latin typeface="Calibri" pitchFamily="34" charset="0"/>
                <a:ea typeface="Calibri" pitchFamily="34" charset="-122"/>
                <a:cs typeface="Calibri" pitchFamily="34" charset="-120"/>
              </a:rPr>
              <a:t>métodos: validarPrerrequisitos(), registrarMatricula()</a:t>
            </a:r>
            <a:endParaRPr lang="en-US" sz="850" dirty="0"/>
          </a:p>
        </p:txBody>
      </p:sp>
      <p:sp>
        <p:nvSpPr>
          <p:cNvPr id="17" name="Shape 15"/>
          <p:cNvSpPr/>
          <p:nvPr/>
        </p:nvSpPr>
        <p:spPr>
          <a:xfrm>
            <a:off x="5870448" y="2642616"/>
            <a:ext cx="2944368" cy="530352"/>
          </a:xfrm>
          <a:prstGeom prst="rect">
            <a:avLst/>
          </a:prstGeom>
          <a:solidFill>
            <a:srgbClr val="0F2A1E"/>
          </a:solidFill>
          <a:ln w="12700">
            <a:solidFill>
              <a:srgbClr val="1E3A2A"/>
            </a:solidFill>
            <a:prstDash val="solid"/>
          </a:ln>
        </p:spPr>
        <p:txBody>
          <a:bodyPr/>
          <a:lstStyle/>
          <a:p>
            <a:endParaRPr lang="es-PE"/>
          </a:p>
        </p:txBody>
      </p:sp>
      <p:sp>
        <p:nvSpPr>
          <p:cNvPr id="18" name="Text 16"/>
          <p:cNvSpPr/>
          <p:nvPr/>
        </p:nvSpPr>
        <p:spPr>
          <a:xfrm>
            <a:off x="5961888" y="2679192"/>
            <a:ext cx="2788920" cy="201168"/>
          </a:xfrm>
          <a:prstGeom prst="rect">
            <a:avLst/>
          </a:prstGeom>
          <a:noFill/>
          <a:ln/>
        </p:spPr>
        <p:txBody>
          <a:bodyPr wrap="square" lIns="0" tIns="0" rIns="0" bIns="0" rtlCol="0" anchor="ctr"/>
          <a:lstStyle/>
          <a:p>
            <a:pPr marL="0" indent="0">
              <a:buNone/>
            </a:pPr>
            <a:r>
              <a:rPr lang="en-US" sz="1100" b="1" dirty="0">
                <a:solidFill>
                  <a:srgbClr val="00C896"/>
                </a:solidFill>
                <a:latin typeface="Calibri" pitchFamily="34" charset="0"/>
                <a:ea typeface="Calibri" pitchFamily="34" charset="-122"/>
                <a:cs typeface="Calibri" pitchFamily="34" charset="-120"/>
              </a:rPr>
              <a:t>Curso</a:t>
            </a:r>
            <a:endParaRPr lang="en-US" sz="1100" dirty="0"/>
          </a:p>
        </p:txBody>
      </p:sp>
      <p:sp>
        <p:nvSpPr>
          <p:cNvPr id="19" name="Text 17"/>
          <p:cNvSpPr/>
          <p:nvPr/>
        </p:nvSpPr>
        <p:spPr>
          <a:xfrm>
            <a:off x="5961888" y="2889504"/>
            <a:ext cx="2788920" cy="256032"/>
          </a:xfrm>
          <a:prstGeom prst="rect">
            <a:avLst/>
          </a:prstGeom>
          <a:noFill/>
          <a:ln/>
        </p:spPr>
        <p:txBody>
          <a:bodyPr wrap="square" lIns="0" tIns="0" rIns="0" bIns="0" rtlCol="0" anchor="ctr"/>
          <a:lstStyle/>
          <a:p>
            <a:pPr marL="0" indent="0">
              <a:buNone/>
            </a:pPr>
            <a:r>
              <a:rPr lang="en-US" sz="850" dirty="0">
                <a:solidFill>
                  <a:srgbClr val="D0E8E0"/>
                </a:solidFill>
                <a:latin typeface="Calibri" pitchFamily="34" charset="0"/>
                <a:ea typeface="Calibri" pitchFamily="34" charset="-122"/>
                <a:cs typeface="Calibri" pitchFamily="34" charset="-120"/>
              </a:rPr>
              <a:t>idCurso, nombre, créditos, cupoMáximo, inscritos</a:t>
            </a:r>
            <a:endParaRPr lang="en-US" sz="850" dirty="0"/>
          </a:p>
          <a:p>
            <a:pPr marL="0" indent="0">
              <a:buNone/>
            </a:pPr>
            <a:r>
              <a:rPr lang="en-US" sz="850" dirty="0">
                <a:solidFill>
                  <a:srgbClr val="D0E8E0"/>
                </a:solidFill>
                <a:latin typeface="Calibri" pitchFamily="34" charset="0"/>
                <a:ea typeface="Calibri" pitchFamily="34" charset="-122"/>
                <a:cs typeface="Calibri" pitchFamily="34" charset="-120"/>
              </a:rPr>
              <a:t>métodos: verificarCupo()</a:t>
            </a:r>
            <a:endParaRPr lang="en-US" sz="850" dirty="0"/>
          </a:p>
        </p:txBody>
      </p:sp>
      <p:sp>
        <p:nvSpPr>
          <p:cNvPr id="20" name="Shape 18"/>
          <p:cNvSpPr/>
          <p:nvPr/>
        </p:nvSpPr>
        <p:spPr>
          <a:xfrm>
            <a:off x="5870448" y="3255264"/>
            <a:ext cx="2944368" cy="530352"/>
          </a:xfrm>
          <a:prstGeom prst="rect">
            <a:avLst/>
          </a:prstGeom>
          <a:solidFill>
            <a:srgbClr val="0F2A1E"/>
          </a:solidFill>
          <a:ln w="12700">
            <a:solidFill>
              <a:srgbClr val="1E3A2A"/>
            </a:solidFill>
            <a:prstDash val="solid"/>
          </a:ln>
        </p:spPr>
        <p:txBody>
          <a:bodyPr/>
          <a:lstStyle/>
          <a:p>
            <a:endParaRPr lang="es-PE"/>
          </a:p>
        </p:txBody>
      </p:sp>
      <p:sp>
        <p:nvSpPr>
          <p:cNvPr id="21" name="Text 19"/>
          <p:cNvSpPr/>
          <p:nvPr/>
        </p:nvSpPr>
        <p:spPr>
          <a:xfrm>
            <a:off x="5961888" y="3291840"/>
            <a:ext cx="2788920" cy="201168"/>
          </a:xfrm>
          <a:prstGeom prst="rect">
            <a:avLst/>
          </a:prstGeom>
          <a:noFill/>
          <a:ln/>
        </p:spPr>
        <p:txBody>
          <a:bodyPr wrap="square" lIns="0" tIns="0" rIns="0" bIns="0" rtlCol="0" anchor="ctr"/>
          <a:lstStyle/>
          <a:p>
            <a:pPr marL="0" indent="0">
              <a:buNone/>
            </a:pPr>
            <a:r>
              <a:rPr lang="en-US" sz="1100" b="1" dirty="0">
                <a:solidFill>
                  <a:srgbClr val="00C896"/>
                </a:solidFill>
                <a:latin typeface="Calibri" pitchFamily="34" charset="0"/>
                <a:ea typeface="Calibri" pitchFamily="34" charset="-122"/>
                <a:cs typeface="Calibri" pitchFamily="34" charset="-120"/>
              </a:rPr>
              <a:t>Profesor</a:t>
            </a:r>
            <a:endParaRPr lang="en-US" sz="1100" dirty="0"/>
          </a:p>
        </p:txBody>
      </p:sp>
      <p:sp>
        <p:nvSpPr>
          <p:cNvPr id="22" name="Text 20"/>
          <p:cNvSpPr/>
          <p:nvPr/>
        </p:nvSpPr>
        <p:spPr>
          <a:xfrm>
            <a:off x="5961888" y="3502152"/>
            <a:ext cx="2788920" cy="256032"/>
          </a:xfrm>
          <a:prstGeom prst="rect">
            <a:avLst/>
          </a:prstGeom>
          <a:noFill/>
          <a:ln/>
        </p:spPr>
        <p:txBody>
          <a:bodyPr wrap="square" lIns="0" tIns="0" rIns="0" bIns="0" rtlCol="0" anchor="ctr"/>
          <a:lstStyle/>
          <a:p>
            <a:pPr marL="0" indent="0">
              <a:buNone/>
            </a:pPr>
            <a:r>
              <a:rPr lang="en-US" sz="850" dirty="0">
                <a:solidFill>
                  <a:srgbClr val="D0E8E0"/>
                </a:solidFill>
                <a:latin typeface="Calibri" pitchFamily="34" charset="0"/>
                <a:ea typeface="Calibri" pitchFamily="34" charset="-122"/>
                <a:cs typeface="Calibri" pitchFamily="34" charset="-120"/>
              </a:rPr>
              <a:t>idProfesor, nombre, especialidad</a:t>
            </a:r>
            <a:endParaRPr lang="en-US" sz="850" dirty="0"/>
          </a:p>
          <a:p>
            <a:pPr marL="0" indent="0">
              <a:buNone/>
            </a:pPr>
            <a:r>
              <a:rPr lang="en-US" sz="850" dirty="0">
                <a:solidFill>
                  <a:srgbClr val="D0E8E0"/>
                </a:solidFill>
                <a:latin typeface="Calibri" pitchFamily="34" charset="0"/>
                <a:ea typeface="Calibri" pitchFamily="34" charset="-122"/>
                <a:cs typeface="Calibri" pitchFamily="34" charset="-120"/>
              </a:rPr>
              <a:t>métodos: registrarNota(), registrarAsistencia()</a:t>
            </a:r>
            <a:endParaRPr lang="en-US" sz="850" dirty="0"/>
          </a:p>
        </p:txBody>
      </p:sp>
      <p:sp>
        <p:nvSpPr>
          <p:cNvPr id="23" name="Shape 21"/>
          <p:cNvSpPr/>
          <p:nvPr/>
        </p:nvSpPr>
        <p:spPr>
          <a:xfrm>
            <a:off x="5870448" y="3867912"/>
            <a:ext cx="2944368" cy="530352"/>
          </a:xfrm>
          <a:prstGeom prst="rect">
            <a:avLst/>
          </a:prstGeom>
          <a:solidFill>
            <a:srgbClr val="0F2A1E"/>
          </a:solidFill>
          <a:ln w="12700">
            <a:solidFill>
              <a:srgbClr val="1E3A2A"/>
            </a:solidFill>
            <a:prstDash val="solid"/>
          </a:ln>
        </p:spPr>
        <p:txBody>
          <a:bodyPr/>
          <a:lstStyle/>
          <a:p>
            <a:endParaRPr lang="es-PE"/>
          </a:p>
        </p:txBody>
      </p:sp>
      <p:sp>
        <p:nvSpPr>
          <p:cNvPr id="24" name="Text 22"/>
          <p:cNvSpPr/>
          <p:nvPr/>
        </p:nvSpPr>
        <p:spPr>
          <a:xfrm>
            <a:off x="5961888" y="3904488"/>
            <a:ext cx="2788920" cy="201168"/>
          </a:xfrm>
          <a:prstGeom prst="rect">
            <a:avLst/>
          </a:prstGeom>
          <a:noFill/>
          <a:ln/>
        </p:spPr>
        <p:txBody>
          <a:bodyPr wrap="square" lIns="0" tIns="0" rIns="0" bIns="0" rtlCol="0" anchor="ctr"/>
          <a:lstStyle/>
          <a:p>
            <a:pPr marL="0" indent="0">
              <a:buNone/>
            </a:pPr>
            <a:r>
              <a:rPr lang="en-US" sz="1100" b="1" dirty="0">
                <a:solidFill>
                  <a:srgbClr val="00C896"/>
                </a:solidFill>
                <a:latin typeface="Calibri" pitchFamily="34" charset="0"/>
                <a:ea typeface="Calibri" pitchFamily="34" charset="-122"/>
                <a:cs typeface="Calibri" pitchFamily="34" charset="-120"/>
              </a:rPr>
              <a:t>Pago</a:t>
            </a:r>
            <a:endParaRPr lang="en-US" sz="1100" dirty="0"/>
          </a:p>
        </p:txBody>
      </p:sp>
      <p:sp>
        <p:nvSpPr>
          <p:cNvPr id="25" name="Text 23"/>
          <p:cNvSpPr/>
          <p:nvPr/>
        </p:nvSpPr>
        <p:spPr>
          <a:xfrm>
            <a:off x="5961888" y="4114800"/>
            <a:ext cx="2788920" cy="256032"/>
          </a:xfrm>
          <a:prstGeom prst="rect">
            <a:avLst/>
          </a:prstGeom>
          <a:noFill/>
          <a:ln/>
        </p:spPr>
        <p:txBody>
          <a:bodyPr wrap="square" lIns="0" tIns="0" rIns="0" bIns="0" rtlCol="0" anchor="ctr"/>
          <a:lstStyle/>
          <a:p>
            <a:pPr marL="0" indent="0">
              <a:buNone/>
            </a:pPr>
            <a:r>
              <a:rPr lang="en-US" sz="850" dirty="0">
                <a:solidFill>
                  <a:srgbClr val="D0E8E0"/>
                </a:solidFill>
                <a:latin typeface="Calibri" pitchFamily="34" charset="0"/>
                <a:ea typeface="Calibri" pitchFamily="34" charset="-122"/>
                <a:cs typeface="Calibri" pitchFamily="34" charset="-120"/>
              </a:rPr>
              <a:t>idPago, monto, fechaPago, estadoPago</a:t>
            </a:r>
            <a:endParaRPr lang="en-US" sz="850" dirty="0"/>
          </a:p>
          <a:p>
            <a:pPr marL="0" indent="0">
              <a:buNone/>
            </a:pPr>
            <a:r>
              <a:rPr lang="en-US" sz="850" dirty="0">
                <a:solidFill>
                  <a:srgbClr val="D0E8E0"/>
                </a:solidFill>
                <a:latin typeface="Calibri" pitchFamily="34" charset="0"/>
                <a:ea typeface="Calibri" pitchFamily="34" charset="-122"/>
                <a:cs typeface="Calibri" pitchFamily="34" charset="-120"/>
              </a:rPr>
              <a:t>métodos: validarPago()</a:t>
            </a:r>
            <a:endParaRPr lang="en-US" sz="850" dirty="0"/>
          </a:p>
        </p:txBody>
      </p:sp>
      <p:sp>
        <p:nvSpPr>
          <p:cNvPr id="26" name="Shape 24"/>
          <p:cNvSpPr/>
          <p:nvPr/>
        </p:nvSpPr>
        <p:spPr>
          <a:xfrm>
            <a:off x="5870448" y="4480560"/>
            <a:ext cx="2944368" cy="530352"/>
          </a:xfrm>
          <a:prstGeom prst="rect">
            <a:avLst/>
          </a:prstGeom>
          <a:solidFill>
            <a:srgbClr val="0F2A1E"/>
          </a:solidFill>
          <a:ln w="12700">
            <a:solidFill>
              <a:srgbClr val="1E3A2A"/>
            </a:solidFill>
            <a:prstDash val="solid"/>
          </a:ln>
        </p:spPr>
        <p:txBody>
          <a:bodyPr/>
          <a:lstStyle/>
          <a:p>
            <a:endParaRPr lang="es-PE"/>
          </a:p>
        </p:txBody>
      </p:sp>
      <p:sp>
        <p:nvSpPr>
          <p:cNvPr id="27" name="Text 25"/>
          <p:cNvSpPr/>
          <p:nvPr/>
        </p:nvSpPr>
        <p:spPr>
          <a:xfrm>
            <a:off x="5961888" y="4517136"/>
            <a:ext cx="2788920" cy="201168"/>
          </a:xfrm>
          <a:prstGeom prst="rect">
            <a:avLst/>
          </a:prstGeom>
          <a:noFill/>
          <a:ln/>
        </p:spPr>
        <p:txBody>
          <a:bodyPr wrap="square" lIns="0" tIns="0" rIns="0" bIns="0" rtlCol="0" anchor="ctr"/>
          <a:lstStyle/>
          <a:p>
            <a:pPr marL="0" indent="0">
              <a:buNone/>
            </a:pPr>
            <a:r>
              <a:rPr lang="en-US" sz="1100" b="1" dirty="0">
                <a:solidFill>
                  <a:srgbClr val="00C896"/>
                </a:solidFill>
                <a:latin typeface="Calibri" pitchFamily="34" charset="0"/>
                <a:ea typeface="Calibri" pitchFamily="34" charset="-122"/>
                <a:cs typeface="Calibri" pitchFamily="34" charset="-120"/>
              </a:rPr>
              <a:t>Nota</a:t>
            </a:r>
            <a:endParaRPr lang="en-US" sz="1100" dirty="0"/>
          </a:p>
        </p:txBody>
      </p:sp>
      <p:sp>
        <p:nvSpPr>
          <p:cNvPr id="28" name="Text 26"/>
          <p:cNvSpPr/>
          <p:nvPr/>
        </p:nvSpPr>
        <p:spPr>
          <a:xfrm>
            <a:off x="5961888" y="4727448"/>
            <a:ext cx="2788920" cy="256032"/>
          </a:xfrm>
          <a:prstGeom prst="rect">
            <a:avLst/>
          </a:prstGeom>
          <a:noFill/>
          <a:ln/>
        </p:spPr>
        <p:txBody>
          <a:bodyPr wrap="square" lIns="0" tIns="0" rIns="0" bIns="0" rtlCol="0" anchor="ctr"/>
          <a:lstStyle/>
          <a:p>
            <a:pPr marL="0" indent="0">
              <a:buNone/>
            </a:pPr>
            <a:r>
              <a:rPr lang="en-US" sz="850" dirty="0">
                <a:solidFill>
                  <a:srgbClr val="D0E8E0"/>
                </a:solidFill>
                <a:latin typeface="Calibri" pitchFamily="34" charset="0"/>
                <a:ea typeface="Calibri" pitchFamily="34" charset="-122"/>
                <a:cs typeface="Calibri" pitchFamily="34" charset="-120"/>
              </a:rPr>
              <a:t>idNota, valor, fechaRegistro</a:t>
            </a:r>
            <a:endParaRPr lang="en-US" sz="850" dirty="0"/>
          </a:p>
        </p:txBody>
      </p:sp>
      <p:pic>
        <p:nvPicPr>
          <p:cNvPr id="30" name="Imagen 29">
            <a:extLst>
              <a:ext uri="{FF2B5EF4-FFF2-40B4-BE49-F238E27FC236}">
                <a16:creationId xmlns:a16="http://schemas.microsoft.com/office/drawing/2014/main" id="{66D56D4C-E3C1-C007-C99E-63A17D30F789}"/>
              </a:ext>
            </a:extLst>
          </p:cNvPr>
          <p:cNvPicPr>
            <a:picLocks noChangeAspect="1"/>
          </p:cNvPicPr>
          <p:nvPr/>
        </p:nvPicPr>
        <p:blipFill>
          <a:blip r:embed="rId3"/>
          <a:stretch>
            <a:fillRect/>
          </a:stretch>
        </p:blipFill>
        <p:spPr>
          <a:xfrm>
            <a:off x="553367" y="1170432"/>
            <a:ext cx="4964882" cy="322783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0C896"/>
          </a:solidFill>
          <a:ln w="12700">
            <a:solidFill>
              <a:srgbClr val="00C896"/>
            </a:solidFill>
            <a:prstDash val="solid"/>
          </a:ln>
        </p:spPr>
        <p:txBody>
          <a:bodyPr/>
          <a:lstStyle/>
          <a:p>
            <a:endParaRPr lang="es-PE"/>
          </a:p>
        </p:txBody>
      </p:sp>
      <p:sp>
        <p:nvSpPr>
          <p:cNvPr id="3" name="Shape 1"/>
          <p:cNvSpPr/>
          <p:nvPr/>
        </p:nvSpPr>
        <p:spPr>
          <a:xfrm>
            <a:off x="0" y="0"/>
            <a:ext cx="9144000" cy="841248"/>
          </a:xfrm>
          <a:prstGeom prst="rect">
            <a:avLst/>
          </a:prstGeom>
          <a:solidFill>
            <a:srgbClr val="1A2B3C"/>
          </a:solidFill>
          <a:ln w="12700">
            <a:solidFill>
              <a:srgbClr val="1A2B3C"/>
            </a:solidFill>
            <a:prstDash val="solid"/>
          </a:ln>
        </p:spPr>
        <p:txBody>
          <a:bodyPr/>
          <a:lstStyle/>
          <a:p>
            <a:endParaRPr lang="es-PE"/>
          </a:p>
        </p:txBody>
      </p:sp>
      <p:sp>
        <p:nvSpPr>
          <p:cNvPr id="4" name="Text 2"/>
          <p:cNvSpPr/>
          <p:nvPr/>
        </p:nvSpPr>
        <p:spPr>
          <a:xfrm>
            <a:off x="411480" y="0"/>
            <a:ext cx="8412480" cy="841248"/>
          </a:xfrm>
          <a:prstGeom prst="rect">
            <a:avLst/>
          </a:prstGeom>
          <a:noFill/>
          <a:ln/>
        </p:spPr>
        <p:txBody>
          <a:bodyPr wrap="square" lIns="0" tIns="0" rIns="0" bIns="0" rtlCol="0" anchor="ctr"/>
          <a:lstStyle/>
          <a:p>
            <a:pPr marL="0" indent="0" algn="l">
              <a:buNone/>
            </a:pPr>
            <a:r>
              <a:rPr lang="en-US" sz="2100" b="1" dirty="0">
                <a:solidFill>
                  <a:srgbClr val="00C896"/>
                </a:solidFill>
                <a:latin typeface="Calibri" pitchFamily="34" charset="0"/>
                <a:ea typeface="Calibri" pitchFamily="34" charset="-122"/>
                <a:cs typeface="Calibri" pitchFamily="34" charset="-120"/>
              </a:rPr>
              <a:t>03 · DIAGRAMAS UML — Actividades: Proceso de Matrícula</a:t>
            </a:r>
            <a:endParaRPr lang="en-US" sz="2100" dirty="0"/>
          </a:p>
        </p:txBody>
      </p:sp>
      <p:sp>
        <p:nvSpPr>
          <p:cNvPr id="5" name="Shape 3"/>
          <p:cNvSpPr/>
          <p:nvPr/>
        </p:nvSpPr>
        <p:spPr>
          <a:xfrm>
            <a:off x="384048" y="987552"/>
            <a:ext cx="4754880" cy="3840480"/>
          </a:xfrm>
          <a:prstGeom prst="rect">
            <a:avLst/>
          </a:prstGeom>
          <a:solidFill>
            <a:srgbClr val="0D2035"/>
          </a:solidFill>
          <a:ln w="25400">
            <a:solidFill>
              <a:srgbClr val="00C896"/>
            </a:solidFill>
            <a:prstDash val="solid"/>
          </a:ln>
        </p:spPr>
        <p:txBody>
          <a:bodyPr/>
          <a:lstStyle/>
          <a:p>
            <a:endParaRPr lang="es-PE"/>
          </a:p>
        </p:txBody>
      </p:sp>
      <p:sp>
        <p:nvSpPr>
          <p:cNvPr id="6" name="Shape 4"/>
          <p:cNvSpPr/>
          <p:nvPr/>
        </p:nvSpPr>
        <p:spPr>
          <a:xfrm>
            <a:off x="457200" y="1060704"/>
            <a:ext cx="4608576" cy="3694176"/>
          </a:xfrm>
          <a:prstGeom prst="rect">
            <a:avLst/>
          </a:prstGeom>
          <a:solidFill>
            <a:srgbClr val="0D2035"/>
          </a:solidFill>
          <a:ln w="12700">
            <a:solidFill>
              <a:srgbClr val="009E78"/>
            </a:solidFill>
            <a:prstDash val="solid"/>
          </a:ln>
        </p:spPr>
        <p:txBody>
          <a:bodyPr/>
          <a:lstStyle/>
          <a:p>
            <a:endParaRPr lang="es-PE"/>
          </a:p>
        </p:txBody>
      </p:sp>
      <p:sp>
        <p:nvSpPr>
          <p:cNvPr id="7" name="Text 5"/>
          <p:cNvSpPr/>
          <p:nvPr/>
        </p:nvSpPr>
        <p:spPr>
          <a:xfrm>
            <a:off x="384048" y="987552"/>
            <a:ext cx="4754880" cy="3840480"/>
          </a:xfrm>
          <a:prstGeom prst="rect">
            <a:avLst/>
          </a:prstGeom>
          <a:noFill/>
          <a:ln/>
        </p:spPr>
        <p:txBody>
          <a:bodyPr wrap="square" lIns="0" tIns="0" rIns="0" bIns="0" rtlCol="0" anchor="ctr"/>
          <a:lstStyle/>
          <a:p>
            <a:pPr marL="0" indent="0" algn="ctr">
              <a:buNone/>
            </a:pPr>
            <a:endParaRPr lang="en-US" sz="1200" dirty="0"/>
          </a:p>
        </p:txBody>
      </p:sp>
      <p:sp>
        <p:nvSpPr>
          <p:cNvPr id="8" name="Shape 6"/>
          <p:cNvSpPr/>
          <p:nvPr/>
        </p:nvSpPr>
        <p:spPr>
          <a:xfrm>
            <a:off x="384048" y="4535424"/>
            <a:ext cx="4754880" cy="292608"/>
          </a:xfrm>
          <a:prstGeom prst="rect">
            <a:avLst/>
          </a:prstGeom>
          <a:solidFill>
            <a:srgbClr val="009E78"/>
          </a:solidFill>
          <a:ln w="12700">
            <a:solidFill>
              <a:srgbClr val="009E78"/>
            </a:solidFill>
            <a:prstDash val="solid"/>
          </a:ln>
        </p:spPr>
        <p:txBody>
          <a:bodyPr/>
          <a:lstStyle/>
          <a:p>
            <a:endParaRPr lang="es-PE"/>
          </a:p>
        </p:txBody>
      </p:sp>
      <p:sp>
        <p:nvSpPr>
          <p:cNvPr id="9" name="Text 7"/>
          <p:cNvSpPr/>
          <p:nvPr/>
        </p:nvSpPr>
        <p:spPr>
          <a:xfrm>
            <a:off x="384048" y="4535424"/>
            <a:ext cx="47548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Diagrama de Actividades — Matrícula</a:t>
            </a:r>
            <a:endParaRPr lang="en-US" sz="1000" dirty="0"/>
          </a:p>
        </p:txBody>
      </p:sp>
      <p:sp>
        <p:nvSpPr>
          <p:cNvPr id="10" name="Text 8"/>
          <p:cNvSpPr/>
          <p:nvPr/>
        </p:nvSpPr>
        <p:spPr>
          <a:xfrm>
            <a:off x="5303520" y="1005840"/>
            <a:ext cx="3520440" cy="320040"/>
          </a:xfrm>
          <a:prstGeom prst="rect">
            <a:avLst/>
          </a:prstGeom>
          <a:noFill/>
          <a:ln/>
        </p:spPr>
        <p:txBody>
          <a:bodyPr wrap="square" lIns="0" tIns="0" rIns="0" bIns="0" rtlCol="0" anchor="ctr"/>
          <a:lstStyle/>
          <a:p>
            <a:pPr marL="0" indent="0">
              <a:buNone/>
            </a:pPr>
            <a:r>
              <a:rPr lang="en-US" sz="1200" b="1" dirty="0">
                <a:solidFill>
                  <a:srgbClr val="00C896"/>
                </a:solidFill>
                <a:latin typeface="Calibri" pitchFamily="34" charset="0"/>
                <a:ea typeface="Calibri" pitchFamily="34" charset="-122"/>
                <a:cs typeface="Calibri" pitchFamily="34" charset="-120"/>
              </a:rPr>
              <a:t>Flujo del proceso (con decisiones):</a:t>
            </a:r>
            <a:endParaRPr lang="en-US" sz="1200" dirty="0"/>
          </a:p>
        </p:txBody>
      </p:sp>
      <p:sp>
        <p:nvSpPr>
          <p:cNvPr id="11" name="Shape 9"/>
          <p:cNvSpPr/>
          <p:nvPr/>
        </p:nvSpPr>
        <p:spPr>
          <a:xfrm>
            <a:off x="5303520" y="1508760"/>
            <a:ext cx="320040" cy="320040"/>
          </a:xfrm>
          <a:prstGeom prst="ellipse">
            <a:avLst/>
          </a:prstGeom>
          <a:solidFill>
            <a:srgbClr val="00C896"/>
          </a:solidFill>
          <a:ln w="12700">
            <a:solidFill>
              <a:srgbClr val="00C896"/>
            </a:solidFill>
            <a:prstDash val="solid"/>
          </a:ln>
        </p:spPr>
        <p:txBody>
          <a:bodyPr/>
          <a:lstStyle/>
          <a:p>
            <a:endParaRPr lang="es-PE"/>
          </a:p>
        </p:txBody>
      </p:sp>
      <p:sp>
        <p:nvSpPr>
          <p:cNvPr id="12" name="Text 10"/>
          <p:cNvSpPr/>
          <p:nvPr/>
        </p:nvSpPr>
        <p:spPr>
          <a:xfrm>
            <a:off x="5303520" y="1508760"/>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1"/>
          <p:cNvSpPr/>
          <p:nvPr/>
        </p:nvSpPr>
        <p:spPr>
          <a:xfrm>
            <a:off x="5687568" y="1453896"/>
            <a:ext cx="1691640" cy="2286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Iniciar sesión</a:t>
            </a:r>
            <a:endParaRPr lang="en-US" sz="1050" dirty="0"/>
          </a:p>
        </p:txBody>
      </p:sp>
      <p:sp>
        <p:nvSpPr>
          <p:cNvPr id="14" name="Text 12"/>
          <p:cNvSpPr/>
          <p:nvPr/>
        </p:nvSpPr>
        <p:spPr>
          <a:xfrm>
            <a:off x="5687568" y="1673352"/>
            <a:ext cx="3063240" cy="219456"/>
          </a:xfrm>
          <a:prstGeom prst="rect">
            <a:avLst/>
          </a:prstGeom>
          <a:noFill/>
          <a:ln/>
        </p:spPr>
        <p:txBody>
          <a:bodyPr wrap="square" lIns="0" tIns="0" rIns="0" bIns="0" rtlCol="0" anchor="ctr"/>
          <a:lstStyle/>
          <a:p>
            <a:pPr marL="0" indent="0">
              <a:buNone/>
            </a:pPr>
            <a:r>
              <a:rPr lang="en-US" sz="900" dirty="0">
                <a:solidFill>
                  <a:srgbClr val="D0E8E0"/>
                </a:solidFill>
                <a:latin typeface="Calibri" pitchFamily="34" charset="0"/>
                <a:ea typeface="Calibri" pitchFamily="34" charset="-122"/>
                <a:cs typeface="Calibri" pitchFamily="34" charset="-120"/>
              </a:rPr>
              <a:t>El estudiante se autentica</a:t>
            </a:r>
            <a:endParaRPr lang="en-US" sz="900" dirty="0"/>
          </a:p>
        </p:txBody>
      </p:sp>
      <p:sp>
        <p:nvSpPr>
          <p:cNvPr id="15" name="Shape 13"/>
          <p:cNvSpPr/>
          <p:nvPr/>
        </p:nvSpPr>
        <p:spPr>
          <a:xfrm>
            <a:off x="5440680" y="1828800"/>
            <a:ext cx="45720" cy="164592"/>
          </a:xfrm>
          <a:prstGeom prst="rect">
            <a:avLst/>
          </a:prstGeom>
          <a:solidFill>
            <a:srgbClr val="7A8D9A"/>
          </a:solidFill>
          <a:ln w="12700">
            <a:solidFill>
              <a:srgbClr val="7A8D9A"/>
            </a:solidFill>
            <a:prstDash val="solid"/>
          </a:ln>
        </p:spPr>
        <p:txBody>
          <a:bodyPr/>
          <a:lstStyle/>
          <a:p>
            <a:endParaRPr lang="es-PE"/>
          </a:p>
        </p:txBody>
      </p:sp>
      <p:sp>
        <p:nvSpPr>
          <p:cNvPr id="16" name="Shape 14"/>
          <p:cNvSpPr/>
          <p:nvPr/>
        </p:nvSpPr>
        <p:spPr>
          <a:xfrm>
            <a:off x="5303520" y="2029968"/>
            <a:ext cx="320040" cy="320040"/>
          </a:xfrm>
          <a:prstGeom prst="ellipse">
            <a:avLst/>
          </a:prstGeom>
          <a:solidFill>
            <a:srgbClr val="009E78"/>
          </a:solidFill>
          <a:ln w="12700">
            <a:solidFill>
              <a:srgbClr val="009E78"/>
            </a:solidFill>
            <a:prstDash val="solid"/>
          </a:ln>
        </p:spPr>
        <p:txBody>
          <a:bodyPr/>
          <a:lstStyle/>
          <a:p>
            <a:endParaRPr lang="es-PE"/>
          </a:p>
        </p:txBody>
      </p:sp>
      <p:sp>
        <p:nvSpPr>
          <p:cNvPr id="17" name="Text 15"/>
          <p:cNvSpPr/>
          <p:nvPr/>
        </p:nvSpPr>
        <p:spPr>
          <a:xfrm>
            <a:off x="5303520" y="202996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5687568" y="1975104"/>
            <a:ext cx="1691640" cy="2286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Seleccionar curso</a:t>
            </a:r>
            <a:endParaRPr lang="en-US" sz="1050" dirty="0"/>
          </a:p>
        </p:txBody>
      </p:sp>
      <p:sp>
        <p:nvSpPr>
          <p:cNvPr id="19" name="Text 17"/>
          <p:cNvSpPr/>
          <p:nvPr/>
        </p:nvSpPr>
        <p:spPr>
          <a:xfrm>
            <a:off x="5687568" y="2194560"/>
            <a:ext cx="3063240" cy="219456"/>
          </a:xfrm>
          <a:prstGeom prst="rect">
            <a:avLst/>
          </a:prstGeom>
          <a:noFill/>
          <a:ln/>
        </p:spPr>
        <p:txBody>
          <a:bodyPr wrap="square" lIns="0" tIns="0" rIns="0" bIns="0" rtlCol="0" anchor="ctr"/>
          <a:lstStyle/>
          <a:p>
            <a:pPr marL="0" indent="0">
              <a:buNone/>
            </a:pPr>
            <a:r>
              <a:rPr lang="en-US" sz="900" dirty="0">
                <a:solidFill>
                  <a:srgbClr val="D0E8E0"/>
                </a:solidFill>
                <a:latin typeface="Calibri" pitchFamily="34" charset="0"/>
                <a:ea typeface="Calibri" pitchFamily="34" charset="-122"/>
                <a:cs typeface="Calibri" pitchFamily="34" charset="-120"/>
              </a:rPr>
              <a:t>Elige facultad, ciclo y curso</a:t>
            </a:r>
            <a:endParaRPr lang="en-US" sz="900" dirty="0"/>
          </a:p>
        </p:txBody>
      </p:sp>
      <p:sp>
        <p:nvSpPr>
          <p:cNvPr id="20" name="Shape 18"/>
          <p:cNvSpPr/>
          <p:nvPr/>
        </p:nvSpPr>
        <p:spPr>
          <a:xfrm>
            <a:off x="5440680" y="2350008"/>
            <a:ext cx="45720" cy="164592"/>
          </a:xfrm>
          <a:prstGeom prst="rect">
            <a:avLst/>
          </a:prstGeom>
          <a:solidFill>
            <a:srgbClr val="7A8D9A"/>
          </a:solidFill>
          <a:ln w="12700">
            <a:solidFill>
              <a:srgbClr val="7A8D9A"/>
            </a:solidFill>
            <a:prstDash val="solid"/>
          </a:ln>
        </p:spPr>
        <p:txBody>
          <a:bodyPr/>
          <a:lstStyle/>
          <a:p>
            <a:endParaRPr lang="es-PE"/>
          </a:p>
        </p:txBody>
      </p:sp>
      <p:sp>
        <p:nvSpPr>
          <p:cNvPr id="21" name="Shape 19"/>
          <p:cNvSpPr/>
          <p:nvPr/>
        </p:nvSpPr>
        <p:spPr>
          <a:xfrm>
            <a:off x="5303520" y="2551176"/>
            <a:ext cx="320040" cy="320040"/>
          </a:xfrm>
          <a:prstGeom prst="ellipse">
            <a:avLst/>
          </a:prstGeom>
          <a:solidFill>
            <a:srgbClr val="00C896"/>
          </a:solidFill>
          <a:ln w="12700">
            <a:solidFill>
              <a:srgbClr val="00C896"/>
            </a:solidFill>
            <a:prstDash val="solid"/>
          </a:ln>
        </p:spPr>
        <p:txBody>
          <a:bodyPr/>
          <a:lstStyle/>
          <a:p>
            <a:endParaRPr lang="es-PE"/>
          </a:p>
        </p:txBody>
      </p:sp>
      <p:sp>
        <p:nvSpPr>
          <p:cNvPr id="22" name="Text 20"/>
          <p:cNvSpPr/>
          <p:nvPr/>
        </p:nvSpPr>
        <p:spPr>
          <a:xfrm>
            <a:off x="5303520" y="2551176"/>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3" name="Text 21"/>
          <p:cNvSpPr/>
          <p:nvPr/>
        </p:nvSpPr>
        <p:spPr>
          <a:xfrm>
            <a:off x="5687568" y="2496312"/>
            <a:ext cx="1691640" cy="2286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¿Prerrequisitos OK?</a:t>
            </a:r>
            <a:endParaRPr lang="en-US" sz="1050" dirty="0"/>
          </a:p>
        </p:txBody>
      </p:sp>
      <p:sp>
        <p:nvSpPr>
          <p:cNvPr id="24" name="Text 22"/>
          <p:cNvSpPr/>
          <p:nvPr/>
        </p:nvSpPr>
        <p:spPr>
          <a:xfrm>
            <a:off x="5687568" y="2715768"/>
            <a:ext cx="3063240" cy="219456"/>
          </a:xfrm>
          <a:prstGeom prst="rect">
            <a:avLst/>
          </a:prstGeom>
          <a:noFill/>
          <a:ln/>
        </p:spPr>
        <p:txBody>
          <a:bodyPr wrap="square" lIns="0" tIns="0" rIns="0" bIns="0" rtlCol="0" anchor="ctr"/>
          <a:lstStyle/>
          <a:p>
            <a:pPr marL="0" indent="0">
              <a:buNone/>
            </a:pPr>
            <a:r>
              <a:rPr lang="en-US" sz="900" dirty="0">
                <a:solidFill>
                  <a:srgbClr val="D0E8E0"/>
                </a:solidFill>
                <a:latin typeface="Calibri" pitchFamily="34" charset="0"/>
                <a:ea typeface="Calibri" pitchFamily="34" charset="-122"/>
                <a:cs typeface="Calibri" pitchFamily="34" charset="-120"/>
              </a:rPr>
              <a:t>Si NO → mensaje de error</a:t>
            </a:r>
            <a:endParaRPr lang="en-US" sz="900" dirty="0"/>
          </a:p>
        </p:txBody>
      </p:sp>
      <p:sp>
        <p:nvSpPr>
          <p:cNvPr id="25" name="Shape 23"/>
          <p:cNvSpPr/>
          <p:nvPr/>
        </p:nvSpPr>
        <p:spPr>
          <a:xfrm>
            <a:off x="5440680" y="2871216"/>
            <a:ext cx="45720" cy="164592"/>
          </a:xfrm>
          <a:prstGeom prst="rect">
            <a:avLst/>
          </a:prstGeom>
          <a:solidFill>
            <a:srgbClr val="7A8D9A"/>
          </a:solidFill>
          <a:ln w="12700">
            <a:solidFill>
              <a:srgbClr val="7A8D9A"/>
            </a:solidFill>
            <a:prstDash val="solid"/>
          </a:ln>
        </p:spPr>
        <p:txBody>
          <a:bodyPr/>
          <a:lstStyle/>
          <a:p>
            <a:endParaRPr lang="es-PE"/>
          </a:p>
        </p:txBody>
      </p:sp>
      <p:sp>
        <p:nvSpPr>
          <p:cNvPr id="26" name="Shape 24"/>
          <p:cNvSpPr/>
          <p:nvPr/>
        </p:nvSpPr>
        <p:spPr>
          <a:xfrm>
            <a:off x="5303520" y="3072384"/>
            <a:ext cx="320040" cy="320040"/>
          </a:xfrm>
          <a:prstGeom prst="ellipse">
            <a:avLst/>
          </a:prstGeom>
          <a:solidFill>
            <a:srgbClr val="009E78"/>
          </a:solidFill>
          <a:ln w="12700">
            <a:solidFill>
              <a:srgbClr val="009E78"/>
            </a:solidFill>
            <a:prstDash val="solid"/>
          </a:ln>
        </p:spPr>
        <p:txBody>
          <a:bodyPr/>
          <a:lstStyle/>
          <a:p>
            <a:endParaRPr lang="es-PE"/>
          </a:p>
        </p:txBody>
      </p:sp>
      <p:sp>
        <p:nvSpPr>
          <p:cNvPr id="27" name="Text 25"/>
          <p:cNvSpPr/>
          <p:nvPr/>
        </p:nvSpPr>
        <p:spPr>
          <a:xfrm>
            <a:off x="5303520" y="3072384"/>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Text 26"/>
          <p:cNvSpPr/>
          <p:nvPr/>
        </p:nvSpPr>
        <p:spPr>
          <a:xfrm>
            <a:off x="5687568" y="3017520"/>
            <a:ext cx="1691640" cy="2286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¿Hay conflicto</a:t>
            </a:r>
            <a:endParaRPr lang="en-US" sz="1050" dirty="0"/>
          </a:p>
          <a:p>
            <a:pPr marL="0" indent="0">
              <a:buNone/>
            </a:pPr>
            <a:r>
              <a:rPr lang="en-US" sz="1050" b="1" dirty="0">
                <a:solidFill>
                  <a:srgbClr val="FFFFFF"/>
                </a:solidFill>
                <a:latin typeface="Calibri" pitchFamily="34" charset="0"/>
                <a:ea typeface="Calibri" pitchFamily="34" charset="-122"/>
                <a:cs typeface="Calibri" pitchFamily="34" charset="-120"/>
              </a:rPr>
              <a:t>de horario?</a:t>
            </a:r>
            <a:endParaRPr lang="en-US" sz="1050" dirty="0"/>
          </a:p>
        </p:txBody>
      </p:sp>
      <p:sp>
        <p:nvSpPr>
          <p:cNvPr id="29" name="Text 27"/>
          <p:cNvSpPr/>
          <p:nvPr/>
        </p:nvSpPr>
        <p:spPr>
          <a:xfrm>
            <a:off x="5687568" y="3236976"/>
            <a:ext cx="3063240" cy="219456"/>
          </a:xfrm>
          <a:prstGeom prst="rect">
            <a:avLst/>
          </a:prstGeom>
          <a:noFill/>
          <a:ln/>
        </p:spPr>
        <p:txBody>
          <a:bodyPr wrap="square" lIns="0" tIns="0" rIns="0" bIns="0" rtlCol="0" anchor="ctr"/>
          <a:lstStyle/>
          <a:p>
            <a:pPr marL="0" indent="0">
              <a:buNone/>
            </a:pPr>
            <a:r>
              <a:rPr lang="en-US" sz="900" dirty="0">
                <a:solidFill>
                  <a:srgbClr val="D0E8E0"/>
                </a:solidFill>
                <a:latin typeface="Calibri" pitchFamily="34" charset="0"/>
                <a:ea typeface="Calibri" pitchFamily="34" charset="-122"/>
                <a:cs typeface="Calibri" pitchFamily="34" charset="-120"/>
              </a:rPr>
              <a:t>Si SÍ → error de horario</a:t>
            </a:r>
            <a:endParaRPr lang="en-US" sz="900" dirty="0"/>
          </a:p>
        </p:txBody>
      </p:sp>
      <p:sp>
        <p:nvSpPr>
          <p:cNvPr id="30" name="Shape 28"/>
          <p:cNvSpPr/>
          <p:nvPr/>
        </p:nvSpPr>
        <p:spPr>
          <a:xfrm>
            <a:off x="5440680" y="3392424"/>
            <a:ext cx="45720" cy="164592"/>
          </a:xfrm>
          <a:prstGeom prst="rect">
            <a:avLst/>
          </a:prstGeom>
          <a:solidFill>
            <a:srgbClr val="7A8D9A"/>
          </a:solidFill>
          <a:ln w="12700">
            <a:solidFill>
              <a:srgbClr val="7A8D9A"/>
            </a:solidFill>
            <a:prstDash val="solid"/>
          </a:ln>
        </p:spPr>
        <p:txBody>
          <a:bodyPr/>
          <a:lstStyle/>
          <a:p>
            <a:endParaRPr lang="es-PE"/>
          </a:p>
        </p:txBody>
      </p:sp>
      <p:sp>
        <p:nvSpPr>
          <p:cNvPr id="31" name="Shape 29"/>
          <p:cNvSpPr/>
          <p:nvPr/>
        </p:nvSpPr>
        <p:spPr>
          <a:xfrm>
            <a:off x="5303520" y="3593592"/>
            <a:ext cx="320040" cy="320040"/>
          </a:xfrm>
          <a:prstGeom prst="ellipse">
            <a:avLst/>
          </a:prstGeom>
          <a:solidFill>
            <a:srgbClr val="00C896"/>
          </a:solidFill>
          <a:ln w="12700">
            <a:solidFill>
              <a:srgbClr val="00C896"/>
            </a:solidFill>
            <a:prstDash val="solid"/>
          </a:ln>
        </p:spPr>
        <p:txBody>
          <a:bodyPr/>
          <a:lstStyle/>
          <a:p>
            <a:endParaRPr lang="es-PE"/>
          </a:p>
        </p:txBody>
      </p:sp>
      <p:sp>
        <p:nvSpPr>
          <p:cNvPr id="32" name="Text 30"/>
          <p:cNvSpPr/>
          <p:nvPr/>
        </p:nvSpPr>
        <p:spPr>
          <a:xfrm>
            <a:off x="5303520" y="3593592"/>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3" name="Text 31"/>
          <p:cNvSpPr/>
          <p:nvPr/>
        </p:nvSpPr>
        <p:spPr>
          <a:xfrm>
            <a:off x="5687568" y="3538728"/>
            <a:ext cx="1691640" cy="2286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¿Pago</a:t>
            </a:r>
            <a:endParaRPr lang="en-US" sz="1050" dirty="0"/>
          </a:p>
          <a:p>
            <a:pPr marL="0" indent="0">
              <a:buNone/>
            </a:pPr>
            <a:r>
              <a:rPr lang="en-US" sz="1050" b="1" dirty="0">
                <a:solidFill>
                  <a:srgbClr val="FFFFFF"/>
                </a:solidFill>
                <a:latin typeface="Calibri" pitchFamily="34" charset="0"/>
                <a:ea typeface="Calibri" pitchFamily="34" charset="-122"/>
                <a:cs typeface="Calibri" pitchFamily="34" charset="-120"/>
              </a:rPr>
              <a:t>confirmado?</a:t>
            </a:r>
            <a:endParaRPr lang="en-US" sz="1050" dirty="0"/>
          </a:p>
        </p:txBody>
      </p:sp>
      <p:sp>
        <p:nvSpPr>
          <p:cNvPr id="34" name="Text 32"/>
          <p:cNvSpPr/>
          <p:nvPr/>
        </p:nvSpPr>
        <p:spPr>
          <a:xfrm>
            <a:off x="5687568" y="3758184"/>
            <a:ext cx="3063240" cy="219456"/>
          </a:xfrm>
          <a:prstGeom prst="rect">
            <a:avLst/>
          </a:prstGeom>
          <a:noFill/>
          <a:ln/>
        </p:spPr>
        <p:txBody>
          <a:bodyPr wrap="square" lIns="0" tIns="0" rIns="0" bIns="0" rtlCol="0" anchor="ctr"/>
          <a:lstStyle/>
          <a:p>
            <a:pPr marL="0" indent="0">
              <a:buNone/>
            </a:pPr>
            <a:r>
              <a:rPr lang="en-US" sz="900" dirty="0">
                <a:solidFill>
                  <a:srgbClr val="D0E8E0"/>
                </a:solidFill>
                <a:latin typeface="Calibri" pitchFamily="34" charset="0"/>
                <a:ea typeface="Calibri" pitchFamily="34" charset="-122"/>
                <a:cs typeface="Calibri" pitchFamily="34" charset="-120"/>
              </a:rPr>
              <a:t>Si NO → cancelar matrícula</a:t>
            </a:r>
            <a:endParaRPr lang="en-US" sz="900" dirty="0"/>
          </a:p>
        </p:txBody>
      </p:sp>
      <p:sp>
        <p:nvSpPr>
          <p:cNvPr id="35" name="Shape 33"/>
          <p:cNvSpPr/>
          <p:nvPr/>
        </p:nvSpPr>
        <p:spPr>
          <a:xfrm>
            <a:off x="5440680" y="3913632"/>
            <a:ext cx="45720" cy="164592"/>
          </a:xfrm>
          <a:prstGeom prst="rect">
            <a:avLst/>
          </a:prstGeom>
          <a:solidFill>
            <a:srgbClr val="7A8D9A"/>
          </a:solidFill>
          <a:ln w="12700">
            <a:solidFill>
              <a:srgbClr val="7A8D9A"/>
            </a:solidFill>
            <a:prstDash val="solid"/>
          </a:ln>
        </p:spPr>
        <p:txBody>
          <a:bodyPr/>
          <a:lstStyle/>
          <a:p>
            <a:endParaRPr lang="es-PE"/>
          </a:p>
        </p:txBody>
      </p:sp>
      <p:sp>
        <p:nvSpPr>
          <p:cNvPr id="36" name="Shape 34"/>
          <p:cNvSpPr/>
          <p:nvPr/>
        </p:nvSpPr>
        <p:spPr>
          <a:xfrm>
            <a:off x="5303520" y="4114800"/>
            <a:ext cx="320040" cy="320040"/>
          </a:xfrm>
          <a:prstGeom prst="ellipse">
            <a:avLst/>
          </a:prstGeom>
          <a:solidFill>
            <a:srgbClr val="009E78"/>
          </a:solidFill>
          <a:ln w="12700">
            <a:solidFill>
              <a:srgbClr val="009E78"/>
            </a:solidFill>
            <a:prstDash val="solid"/>
          </a:ln>
        </p:spPr>
        <p:txBody>
          <a:bodyPr/>
          <a:lstStyle/>
          <a:p>
            <a:endParaRPr lang="es-PE"/>
          </a:p>
        </p:txBody>
      </p:sp>
      <p:sp>
        <p:nvSpPr>
          <p:cNvPr id="37" name="Text 35"/>
          <p:cNvSpPr/>
          <p:nvPr/>
        </p:nvSpPr>
        <p:spPr>
          <a:xfrm>
            <a:off x="5303520" y="4114800"/>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8" name="Text 36"/>
          <p:cNvSpPr/>
          <p:nvPr/>
        </p:nvSpPr>
        <p:spPr>
          <a:xfrm>
            <a:off x="5687568" y="4059936"/>
            <a:ext cx="1691640" cy="2286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¿Hay cupo?</a:t>
            </a:r>
            <a:endParaRPr lang="en-US" sz="1050" dirty="0"/>
          </a:p>
        </p:txBody>
      </p:sp>
      <p:sp>
        <p:nvSpPr>
          <p:cNvPr id="39" name="Text 37"/>
          <p:cNvSpPr/>
          <p:nvPr/>
        </p:nvSpPr>
        <p:spPr>
          <a:xfrm>
            <a:off x="5687568" y="4279392"/>
            <a:ext cx="3063240" cy="219456"/>
          </a:xfrm>
          <a:prstGeom prst="rect">
            <a:avLst/>
          </a:prstGeom>
          <a:noFill/>
          <a:ln/>
        </p:spPr>
        <p:txBody>
          <a:bodyPr wrap="square" lIns="0" tIns="0" rIns="0" bIns="0" rtlCol="0" anchor="ctr"/>
          <a:lstStyle/>
          <a:p>
            <a:pPr marL="0" indent="0">
              <a:buNone/>
            </a:pPr>
            <a:r>
              <a:rPr lang="en-US" sz="900" dirty="0">
                <a:solidFill>
                  <a:srgbClr val="D0E8E0"/>
                </a:solidFill>
                <a:latin typeface="Calibri" pitchFamily="34" charset="0"/>
                <a:ea typeface="Calibri" pitchFamily="34" charset="-122"/>
                <a:cs typeface="Calibri" pitchFamily="34" charset="-120"/>
              </a:rPr>
              <a:t>Si NO → curso lleno</a:t>
            </a:r>
            <a:endParaRPr lang="en-US" sz="900" dirty="0"/>
          </a:p>
        </p:txBody>
      </p:sp>
      <p:sp>
        <p:nvSpPr>
          <p:cNvPr id="40" name="Shape 38"/>
          <p:cNvSpPr/>
          <p:nvPr/>
        </p:nvSpPr>
        <p:spPr>
          <a:xfrm>
            <a:off x="5440680" y="4434840"/>
            <a:ext cx="45720" cy="164592"/>
          </a:xfrm>
          <a:prstGeom prst="rect">
            <a:avLst/>
          </a:prstGeom>
          <a:solidFill>
            <a:srgbClr val="7A8D9A"/>
          </a:solidFill>
          <a:ln w="12700">
            <a:solidFill>
              <a:srgbClr val="7A8D9A"/>
            </a:solidFill>
            <a:prstDash val="solid"/>
          </a:ln>
        </p:spPr>
        <p:txBody>
          <a:bodyPr/>
          <a:lstStyle/>
          <a:p>
            <a:endParaRPr lang="es-PE"/>
          </a:p>
        </p:txBody>
      </p:sp>
      <p:sp>
        <p:nvSpPr>
          <p:cNvPr id="41" name="Shape 39"/>
          <p:cNvSpPr/>
          <p:nvPr/>
        </p:nvSpPr>
        <p:spPr>
          <a:xfrm>
            <a:off x="5303520" y="4636008"/>
            <a:ext cx="320040" cy="320040"/>
          </a:xfrm>
          <a:prstGeom prst="ellipse">
            <a:avLst/>
          </a:prstGeom>
          <a:solidFill>
            <a:srgbClr val="00C896"/>
          </a:solidFill>
          <a:ln w="12700">
            <a:solidFill>
              <a:srgbClr val="00C896"/>
            </a:solidFill>
            <a:prstDash val="solid"/>
          </a:ln>
        </p:spPr>
        <p:txBody>
          <a:bodyPr/>
          <a:lstStyle/>
          <a:p>
            <a:endParaRPr lang="es-PE"/>
          </a:p>
        </p:txBody>
      </p:sp>
      <p:sp>
        <p:nvSpPr>
          <p:cNvPr id="42" name="Text 40"/>
          <p:cNvSpPr/>
          <p:nvPr/>
        </p:nvSpPr>
        <p:spPr>
          <a:xfrm>
            <a:off x="5303520" y="463600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3" name="Text 41"/>
          <p:cNvSpPr/>
          <p:nvPr/>
        </p:nvSpPr>
        <p:spPr>
          <a:xfrm>
            <a:off x="5687568" y="4581144"/>
            <a:ext cx="1691640" cy="2286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Registrar matrícula</a:t>
            </a:r>
            <a:endParaRPr lang="en-US" sz="1050" dirty="0"/>
          </a:p>
        </p:txBody>
      </p:sp>
      <p:sp>
        <p:nvSpPr>
          <p:cNvPr id="44" name="Text 42"/>
          <p:cNvSpPr/>
          <p:nvPr/>
        </p:nvSpPr>
        <p:spPr>
          <a:xfrm>
            <a:off x="5687568" y="4800600"/>
            <a:ext cx="3063240" cy="219456"/>
          </a:xfrm>
          <a:prstGeom prst="rect">
            <a:avLst/>
          </a:prstGeom>
          <a:noFill/>
          <a:ln/>
        </p:spPr>
        <p:txBody>
          <a:bodyPr wrap="square" lIns="0" tIns="0" rIns="0" bIns="0" rtlCol="0" anchor="ctr"/>
          <a:lstStyle/>
          <a:p>
            <a:pPr marL="0" indent="0">
              <a:buNone/>
            </a:pPr>
            <a:r>
              <a:rPr lang="en-US" sz="900" dirty="0">
                <a:solidFill>
                  <a:srgbClr val="D0E8E0"/>
                </a:solidFill>
                <a:latin typeface="Calibri" pitchFamily="34" charset="0"/>
                <a:ea typeface="Calibri" pitchFamily="34" charset="-122"/>
                <a:cs typeface="Calibri" pitchFamily="34" charset="-120"/>
              </a:rPr>
              <a:t>Confirmación exitosa</a:t>
            </a:r>
            <a:endParaRPr lang="en-US" sz="900" dirty="0"/>
          </a:p>
        </p:txBody>
      </p:sp>
      <p:grpSp>
        <p:nvGrpSpPr>
          <p:cNvPr id="50" name="Grupo 49">
            <a:extLst>
              <a:ext uri="{FF2B5EF4-FFF2-40B4-BE49-F238E27FC236}">
                <a16:creationId xmlns:a16="http://schemas.microsoft.com/office/drawing/2014/main" id="{EF260DDF-B1DB-26A2-322D-9FB1CCB56AFB}"/>
              </a:ext>
            </a:extLst>
          </p:cNvPr>
          <p:cNvGrpSpPr/>
          <p:nvPr/>
        </p:nvGrpSpPr>
        <p:grpSpPr>
          <a:xfrm>
            <a:off x="1512375" y="1060704"/>
            <a:ext cx="2419545" cy="3474720"/>
            <a:chOff x="2058228" y="1449324"/>
            <a:chExt cx="1438523" cy="2822883"/>
          </a:xfrm>
        </p:grpSpPr>
        <p:sp>
          <p:nvSpPr>
            <p:cNvPr id="49" name="Rectángulo 48">
              <a:extLst>
                <a:ext uri="{FF2B5EF4-FFF2-40B4-BE49-F238E27FC236}">
                  <a16:creationId xmlns:a16="http://schemas.microsoft.com/office/drawing/2014/main" id="{28B22260-85ED-56FB-553F-25FA9E4AA55F}"/>
                </a:ext>
              </a:extLst>
            </p:cNvPr>
            <p:cNvSpPr/>
            <p:nvPr/>
          </p:nvSpPr>
          <p:spPr>
            <a:xfrm>
              <a:off x="2058228" y="1449324"/>
              <a:ext cx="1406519" cy="282288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solidFill>
                  <a:schemeClr val="bg1"/>
                </a:solidFill>
              </a:endParaRPr>
            </a:p>
          </p:txBody>
        </p:sp>
        <p:pic>
          <p:nvPicPr>
            <p:cNvPr id="48" name="Imagen 47">
              <a:extLst>
                <a:ext uri="{FF2B5EF4-FFF2-40B4-BE49-F238E27FC236}">
                  <a16:creationId xmlns:a16="http://schemas.microsoft.com/office/drawing/2014/main" id="{6792AB91-0431-57EC-A811-F2F11043C3F5}"/>
                </a:ext>
              </a:extLst>
            </p:cNvPr>
            <p:cNvPicPr>
              <a:picLocks noChangeAspect="1"/>
            </p:cNvPicPr>
            <p:nvPr/>
          </p:nvPicPr>
          <p:blipFill>
            <a:blip r:embed="rId3"/>
            <a:stretch>
              <a:fillRect/>
            </a:stretch>
          </p:blipFill>
          <p:spPr>
            <a:xfrm>
              <a:off x="2090232" y="1464999"/>
              <a:ext cx="1406519" cy="2793491"/>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0438806-30B9-05DF-3E24-A0F3700EC4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upo 4">
            <a:extLst>
              <a:ext uri="{FF2B5EF4-FFF2-40B4-BE49-F238E27FC236}">
                <a16:creationId xmlns:a16="http://schemas.microsoft.com/office/drawing/2014/main" id="{A27B85F4-DE00-49AB-649E-ED9AC532061B}"/>
              </a:ext>
            </a:extLst>
          </p:cNvPr>
          <p:cNvGrpSpPr/>
          <p:nvPr/>
        </p:nvGrpSpPr>
        <p:grpSpPr>
          <a:xfrm>
            <a:off x="1604626" y="1082040"/>
            <a:ext cx="2446020" cy="3375660"/>
            <a:chOff x="1501140" y="1234440"/>
            <a:chExt cx="1722120" cy="3223260"/>
          </a:xfrm>
        </p:grpSpPr>
        <p:sp>
          <p:nvSpPr>
            <p:cNvPr id="4" name="Rectángulo 3">
              <a:extLst>
                <a:ext uri="{FF2B5EF4-FFF2-40B4-BE49-F238E27FC236}">
                  <a16:creationId xmlns:a16="http://schemas.microsoft.com/office/drawing/2014/main" id="{FACC730B-B1AD-8D93-5C3B-7A9C8C1DF5C4}"/>
                </a:ext>
              </a:extLst>
            </p:cNvPr>
            <p:cNvSpPr/>
            <p:nvPr/>
          </p:nvSpPr>
          <p:spPr>
            <a:xfrm>
              <a:off x="1501140" y="1234440"/>
              <a:ext cx="1722120" cy="32232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pic>
          <p:nvPicPr>
            <p:cNvPr id="3" name="Imagen 2">
              <a:extLst>
                <a:ext uri="{FF2B5EF4-FFF2-40B4-BE49-F238E27FC236}">
                  <a16:creationId xmlns:a16="http://schemas.microsoft.com/office/drawing/2014/main" id="{1022FD7A-32AB-912E-D707-00F45C215199}"/>
                </a:ext>
              </a:extLst>
            </p:cNvPr>
            <p:cNvPicPr>
              <a:picLocks noChangeAspect="1"/>
            </p:cNvPicPr>
            <p:nvPr/>
          </p:nvPicPr>
          <p:blipFill>
            <a:blip r:embed="rId3"/>
            <a:stretch>
              <a:fillRect/>
            </a:stretch>
          </p:blipFill>
          <p:spPr>
            <a:xfrm>
              <a:off x="1573999" y="1234440"/>
              <a:ext cx="1583024" cy="3223260"/>
            </a:xfrm>
            <a:prstGeom prst="rect">
              <a:avLst/>
            </a:prstGeom>
          </p:spPr>
        </p:pic>
      </p:grpSp>
    </p:spTree>
    <p:extLst>
      <p:ext uri="{BB962C8B-B14F-4D97-AF65-F5344CB8AC3E}">
        <p14:creationId xmlns:p14="http://schemas.microsoft.com/office/powerpoint/2010/main" val="1979130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0F4F2"/>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0C896"/>
          </a:solidFill>
          <a:ln w="12700">
            <a:solidFill>
              <a:srgbClr val="00C896"/>
            </a:solidFill>
            <a:prstDash val="solid"/>
          </a:ln>
        </p:spPr>
        <p:txBody>
          <a:bodyPr/>
          <a:lstStyle/>
          <a:p>
            <a:endParaRPr lang="es-PE"/>
          </a:p>
        </p:txBody>
      </p:sp>
      <p:sp>
        <p:nvSpPr>
          <p:cNvPr id="3" name="Shape 1"/>
          <p:cNvSpPr/>
          <p:nvPr/>
        </p:nvSpPr>
        <p:spPr>
          <a:xfrm>
            <a:off x="0" y="0"/>
            <a:ext cx="9144000" cy="841248"/>
          </a:xfrm>
          <a:prstGeom prst="rect">
            <a:avLst/>
          </a:prstGeom>
          <a:solidFill>
            <a:srgbClr val="0F2A1E"/>
          </a:solidFill>
          <a:ln w="12700">
            <a:solidFill>
              <a:srgbClr val="0F2A1E"/>
            </a:solidFill>
            <a:prstDash val="solid"/>
          </a:ln>
        </p:spPr>
        <p:txBody>
          <a:bodyPr/>
          <a:lstStyle/>
          <a:p>
            <a:endParaRPr lang="es-PE"/>
          </a:p>
        </p:txBody>
      </p:sp>
      <p:sp>
        <p:nvSpPr>
          <p:cNvPr id="4" name="Text 2"/>
          <p:cNvSpPr/>
          <p:nvPr/>
        </p:nvSpPr>
        <p:spPr>
          <a:xfrm>
            <a:off x="411480" y="0"/>
            <a:ext cx="8412480" cy="841248"/>
          </a:xfrm>
          <a:prstGeom prst="rect">
            <a:avLst/>
          </a:prstGeom>
          <a:noFill/>
          <a:ln/>
        </p:spPr>
        <p:txBody>
          <a:bodyPr wrap="square" lIns="0" tIns="0" rIns="0" bIns="0" rtlCol="0" anchor="ctr"/>
          <a:lstStyle/>
          <a:p>
            <a:pPr marL="0" indent="0" algn="l">
              <a:buNone/>
            </a:pPr>
            <a:r>
              <a:rPr lang="en-US" sz="2100" b="1" dirty="0">
                <a:solidFill>
                  <a:srgbClr val="00C896"/>
                </a:solidFill>
                <a:latin typeface="Calibri" pitchFamily="34" charset="0"/>
                <a:ea typeface="Calibri" pitchFamily="34" charset="-122"/>
                <a:cs typeface="Calibri" pitchFamily="34" charset="-120"/>
              </a:rPr>
              <a:t>03 · DIAGRAMAS UML — Actividades: Notas/Asistencia</a:t>
            </a:r>
            <a:endParaRPr lang="en-US" sz="2100" dirty="0"/>
          </a:p>
        </p:txBody>
      </p:sp>
      <p:grpSp>
        <p:nvGrpSpPr>
          <p:cNvPr id="24" name="Grupo 23">
            <a:extLst>
              <a:ext uri="{FF2B5EF4-FFF2-40B4-BE49-F238E27FC236}">
                <a16:creationId xmlns:a16="http://schemas.microsoft.com/office/drawing/2014/main" id="{A933974D-BE10-0422-D844-FA14F17CA24B}"/>
              </a:ext>
            </a:extLst>
          </p:cNvPr>
          <p:cNvGrpSpPr/>
          <p:nvPr/>
        </p:nvGrpSpPr>
        <p:grpSpPr>
          <a:xfrm>
            <a:off x="1102504" y="987552"/>
            <a:ext cx="2816352" cy="3840480"/>
            <a:chOff x="384048" y="987552"/>
            <a:chExt cx="2816352" cy="3840480"/>
          </a:xfrm>
        </p:grpSpPr>
        <p:sp>
          <p:nvSpPr>
            <p:cNvPr id="5" name="Shape 3"/>
            <p:cNvSpPr/>
            <p:nvPr/>
          </p:nvSpPr>
          <p:spPr>
            <a:xfrm>
              <a:off x="384048" y="987552"/>
              <a:ext cx="2743200" cy="3840480"/>
            </a:xfrm>
            <a:prstGeom prst="rect">
              <a:avLst/>
            </a:prstGeom>
            <a:solidFill>
              <a:srgbClr val="0D2035"/>
            </a:solidFill>
            <a:ln w="25400">
              <a:solidFill>
                <a:srgbClr val="00C896"/>
              </a:solidFill>
              <a:prstDash val="solid"/>
            </a:ln>
          </p:spPr>
          <p:txBody>
            <a:bodyPr/>
            <a:lstStyle/>
            <a:p>
              <a:endParaRPr lang="es-PE"/>
            </a:p>
          </p:txBody>
        </p:sp>
        <p:grpSp>
          <p:nvGrpSpPr>
            <p:cNvPr id="23" name="Grupo 22">
              <a:extLst>
                <a:ext uri="{FF2B5EF4-FFF2-40B4-BE49-F238E27FC236}">
                  <a16:creationId xmlns:a16="http://schemas.microsoft.com/office/drawing/2014/main" id="{DCEEE740-E6C9-2F75-704C-B52824E37BCE}"/>
                </a:ext>
              </a:extLst>
            </p:cNvPr>
            <p:cNvGrpSpPr/>
            <p:nvPr/>
          </p:nvGrpSpPr>
          <p:grpSpPr>
            <a:xfrm>
              <a:off x="384048" y="987552"/>
              <a:ext cx="2816352" cy="3840480"/>
              <a:chOff x="310896" y="987552"/>
              <a:chExt cx="2816352" cy="3840480"/>
            </a:xfrm>
          </p:grpSpPr>
          <p:sp>
            <p:nvSpPr>
              <p:cNvPr id="6" name="Shape 4"/>
              <p:cNvSpPr/>
              <p:nvPr/>
            </p:nvSpPr>
            <p:spPr>
              <a:xfrm>
                <a:off x="384048" y="1060704"/>
                <a:ext cx="2596896" cy="3694176"/>
              </a:xfrm>
              <a:prstGeom prst="rect">
                <a:avLst/>
              </a:prstGeom>
              <a:solidFill>
                <a:srgbClr val="0D2035"/>
              </a:solidFill>
              <a:ln w="12700">
                <a:solidFill>
                  <a:srgbClr val="009E78"/>
                </a:solidFill>
                <a:prstDash val="solid"/>
              </a:ln>
            </p:spPr>
            <p:txBody>
              <a:bodyPr/>
              <a:lstStyle/>
              <a:p>
                <a:endParaRPr lang="es-PE"/>
              </a:p>
            </p:txBody>
          </p:sp>
          <p:sp>
            <p:nvSpPr>
              <p:cNvPr id="7" name="Text 5"/>
              <p:cNvSpPr/>
              <p:nvPr/>
            </p:nvSpPr>
            <p:spPr>
              <a:xfrm>
                <a:off x="384048" y="987552"/>
                <a:ext cx="2743200" cy="3840480"/>
              </a:xfrm>
              <a:prstGeom prst="rect">
                <a:avLst/>
              </a:prstGeom>
              <a:noFill/>
              <a:ln/>
            </p:spPr>
            <p:txBody>
              <a:bodyPr wrap="square" lIns="0" tIns="0" rIns="0" bIns="0" rtlCol="0" anchor="ctr"/>
              <a:lstStyle/>
              <a:p>
                <a:pPr marL="0" indent="0" algn="ctr">
                  <a:buNone/>
                </a:pPr>
                <a:r>
                  <a:rPr lang="en-US" sz="1200" b="1" dirty="0">
                    <a:solidFill>
                      <a:srgbClr val="00C896"/>
                    </a:solidFill>
                    <a:latin typeface="Calibri" pitchFamily="34" charset="0"/>
                    <a:ea typeface="Calibri" pitchFamily="34" charset="-122"/>
                    <a:cs typeface="Calibri" pitchFamily="34" charset="-120"/>
                  </a:rPr>
                  <a:t>📷 INSERTAR IMAGEN</a:t>
                </a:r>
                <a:endParaRPr lang="en-US" sz="1200" dirty="0"/>
              </a:p>
              <a:p>
                <a:pPr marL="0" indent="0" algn="ctr">
                  <a:buNone/>
                </a:pPr>
                <a:r>
                  <a:rPr lang="en-US" sz="1200" b="1" dirty="0">
                    <a:solidFill>
                      <a:srgbClr val="00C896"/>
                    </a:solidFill>
                    <a:latin typeface="Calibri" pitchFamily="34" charset="0"/>
                    <a:ea typeface="Calibri" pitchFamily="34" charset="-122"/>
                    <a:cs typeface="Calibri" pitchFamily="34" charset="-120"/>
                  </a:rPr>
                  <a:t>"Entregable3_1_drawio.png"</a:t>
                </a:r>
                <a:endParaRPr lang="en-US" sz="1200" dirty="0"/>
              </a:p>
            </p:txBody>
          </p:sp>
          <p:sp>
            <p:nvSpPr>
              <p:cNvPr id="8" name="Shape 6"/>
              <p:cNvSpPr/>
              <p:nvPr/>
            </p:nvSpPr>
            <p:spPr>
              <a:xfrm>
                <a:off x="310896" y="4535424"/>
                <a:ext cx="2743200" cy="292608"/>
              </a:xfrm>
              <a:prstGeom prst="rect">
                <a:avLst/>
              </a:prstGeom>
              <a:solidFill>
                <a:srgbClr val="009E78"/>
              </a:solidFill>
              <a:ln w="12700">
                <a:solidFill>
                  <a:srgbClr val="009E78"/>
                </a:solidFill>
                <a:prstDash val="solid"/>
              </a:ln>
            </p:spPr>
            <p:txBody>
              <a:bodyPr/>
              <a:lstStyle/>
              <a:p>
                <a:endParaRPr lang="es-PE"/>
              </a:p>
            </p:txBody>
          </p:sp>
          <p:sp>
            <p:nvSpPr>
              <p:cNvPr id="9" name="Text 7"/>
              <p:cNvSpPr/>
              <p:nvPr/>
            </p:nvSpPr>
            <p:spPr>
              <a:xfrm>
                <a:off x="384048" y="4535424"/>
                <a:ext cx="27432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Actividades — Registro de Notas</a:t>
                </a:r>
                <a:endParaRPr lang="en-US" sz="1000" dirty="0"/>
              </a:p>
            </p:txBody>
          </p:sp>
        </p:grpSp>
      </p:grpSp>
      <p:grpSp>
        <p:nvGrpSpPr>
          <p:cNvPr id="22" name="Grupo 21">
            <a:extLst>
              <a:ext uri="{FF2B5EF4-FFF2-40B4-BE49-F238E27FC236}">
                <a16:creationId xmlns:a16="http://schemas.microsoft.com/office/drawing/2014/main" id="{D25DE4CA-D22A-28BF-9FDB-D1A9A8C2879F}"/>
              </a:ext>
            </a:extLst>
          </p:cNvPr>
          <p:cNvGrpSpPr/>
          <p:nvPr/>
        </p:nvGrpSpPr>
        <p:grpSpPr>
          <a:xfrm>
            <a:off x="5343263" y="987552"/>
            <a:ext cx="2636086" cy="3840480"/>
            <a:chOff x="3250039" y="987552"/>
            <a:chExt cx="2286001" cy="3840480"/>
          </a:xfrm>
        </p:grpSpPr>
        <p:grpSp>
          <p:nvGrpSpPr>
            <p:cNvPr id="21" name="Grupo 20">
              <a:extLst>
                <a:ext uri="{FF2B5EF4-FFF2-40B4-BE49-F238E27FC236}">
                  <a16:creationId xmlns:a16="http://schemas.microsoft.com/office/drawing/2014/main" id="{A7E6BC51-1134-165C-F6AC-6489D73905E4}"/>
                </a:ext>
              </a:extLst>
            </p:cNvPr>
            <p:cNvGrpSpPr/>
            <p:nvPr/>
          </p:nvGrpSpPr>
          <p:grpSpPr>
            <a:xfrm>
              <a:off x="3250039" y="987552"/>
              <a:ext cx="2286000" cy="3840480"/>
              <a:chOff x="3291840" y="987552"/>
              <a:chExt cx="2286000" cy="3840480"/>
            </a:xfrm>
          </p:grpSpPr>
          <p:sp>
            <p:nvSpPr>
              <p:cNvPr id="10" name="Shape 8"/>
              <p:cNvSpPr/>
              <p:nvPr/>
            </p:nvSpPr>
            <p:spPr>
              <a:xfrm>
                <a:off x="3291840" y="987552"/>
                <a:ext cx="2286000" cy="3840480"/>
              </a:xfrm>
              <a:prstGeom prst="rect">
                <a:avLst/>
              </a:prstGeom>
              <a:solidFill>
                <a:srgbClr val="0D2035"/>
              </a:solidFill>
              <a:ln w="25400">
                <a:solidFill>
                  <a:srgbClr val="00C896"/>
                </a:solidFill>
                <a:prstDash val="solid"/>
              </a:ln>
            </p:spPr>
            <p:txBody>
              <a:bodyPr/>
              <a:lstStyle/>
              <a:p>
                <a:endParaRPr lang="es-PE"/>
              </a:p>
            </p:txBody>
          </p:sp>
          <p:grpSp>
            <p:nvGrpSpPr>
              <p:cNvPr id="20" name="Grupo 19">
                <a:extLst>
                  <a:ext uri="{FF2B5EF4-FFF2-40B4-BE49-F238E27FC236}">
                    <a16:creationId xmlns:a16="http://schemas.microsoft.com/office/drawing/2014/main" id="{3271BC4D-7585-8AFC-6539-1A7936DC0C58}"/>
                  </a:ext>
                </a:extLst>
              </p:cNvPr>
              <p:cNvGrpSpPr/>
              <p:nvPr/>
            </p:nvGrpSpPr>
            <p:grpSpPr>
              <a:xfrm>
                <a:off x="3291840" y="987552"/>
                <a:ext cx="2286000" cy="3840480"/>
                <a:chOff x="3291840" y="987552"/>
                <a:chExt cx="2286000" cy="3840480"/>
              </a:xfrm>
            </p:grpSpPr>
            <p:sp>
              <p:nvSpPr>
                <p:cNvPr id="11" name="Shape 9"/>
                <p:cNvSpPr/>
                <p:nvPr/>
              </p:nvSpPr>
              <p:spPr>
                <a:xfrm>
                  <a:off x="3364992" y="1060704"/>
                  <a:ext cx="2139696" cy="3694176"/>
                </a:xfrm>
                <a:prstGeom prst="rect">
                  <a:avLst/>
                </a:prstGeom>
                <a:solidFill>
                  <a:srgbClr val="0D2035"/>
                </a:solidFill>
                <a:ln w="12700">
                  <a:solidFill>
                    <a:srgbClr val="009E78"/>
                  </a:solidFill>
                  <a:prstDash val="solid"/>
                </a:ln>
              </p:spPr>
              <p:txBody>
                <a:bodyPr/>
                <a:lstStyle/>
                <a:p>
                  <a:endParaRPr lang="es-PE"/>
                </a:p>
              </p:txBody>
            </p:sp>
            <p:sp>
              <p:nvSpPr>
                <p:cNvPr id="12" name="Text 10"/>
                <p:cNvSpPr/>
                <p:nvPr/>
              </p:nvSpPr>
              <p:spPr>
                <a:xfrm>
                  <a:off x="3291840" y="987552"/>
                  <a:ext cx="2286000" cy="3840480"/>
                </a:xfrm>
                <a:prstGeom prst="rect">
                  <a:avLst/>
                </a:prstGeom>
                <a:noFill/>
                <a:ln/>
              </p:spPr>
              <p:txBody>
                <a:bodyPr wrap="square" lIns="0" tIns="0" rIns="0" bIns="0" rtlCol="0" anchor="ctr"/>
                <a:lstStyle/>
                <a:p>
                  <a:pPr marL="0" indent="0" algn="ctr">
                    <a:buNone/>
                  </a:pPr>
                  <a:endParaRPr lang="en-US" sz="1200" dirty="0"/>
                </a:p>
              </p:txBody>
            </p:sp>
          </p:grpSp>
          <p:sp>
            <p:nvSpPr>
              <p:cNvPr id="13" name="Shape 11"/>
              <p:cNvSpPr/>
              <p:nvPr/>
            </p:nvSpPr>
            <p:spPr>
              <a:xfrm>
                <a:off x="3291840" y="4535424"/>
                <a:ext cx="2286000" cy="292608"/>
              </a:xfrm>
              <a:prstGeom prst="rect">
                <a:avLst/>
              </a:prstGeom>
              <a:solidFill>
                <a:srgbClr val="009E78"/>
              </a:solidFill>
              <a:ln w="12700">
                <a:solidFill>
                  <a:srgbClr val="009E78"/>
                </a:solidFill>
                <a:prstDash val="solid"/>
              </a:ln>
            </p:spPr>
            <p:txBody>
              <a:bodyPr/>
              <a:lstStyle/>
              <a:p>
                <a:endParaRPr lang="es-PE"/>
              </a:p>
            </p:txBody>
          </p:sp>
        </p:grpSp>
        <p:sp>
          <p:nvSpPr>
            <p:cNvPr id="14" name="Text 12"/>
            <p:cNvSpPr/>
            <p:nvPr/>
          </p:nvSpPr>
          <p:spPr>
            <a:xfrm>
              <a:off x="3250040" y="4535424"/>
              <a:ext cx="22860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Actividades — Asistencia</a:t>
              </a:r>
              <a:endParaRPr lang="en-US" sz="1000" dirty="0"/>
            </a:p>
          </p:txBody>
        </p:sp>
      </p:grpSp>
      <p:grpSp>
        <p:nvGrpSpPr>
          <p:cNvPr id="28" name="Grupo 27">
            <a:extLst>
              <a:ext uri="{FF2B5EF4-FFF2-40B4-BE49-F238E27FC236}">
                <a16:creationId xmlns:a16="http://schemas.microsoft.com/office/drawing/2014/main" id="{80DC2466-4C35-C2B6-5667-231B6DC159DE}"/>
              </a:ext>
            </a:extLst>
          </p:cNvPr>
          <p:cNvGrpSpPr/>
          <p:nvPr/>
        </p:nvGrpSpPr>
        <p:grpSpPr>
          <a:xfrm>
            <a:off x="1306839" y="1060704"/>
            <a:ext cx="2259321" cy="3474720"/>
            <a:chOff x="1160913" y="1443119"/>
            <a:chExt cx="1392545" cy="2929346"/>
          </a:xfrm>
        </p:grpSpPr>
        <p:sp>
          <p:nvSpPr>
            <p:cNvPr id="27" name="Rectángulo 26">
              <a:extLst>
                <a:ext uri="{FF2B5EF4-FFF2-40B4-BE49-F238E27FC236}">
                  <a16:creationId xmlns:a16="http://schemas.microsoft.com/office/drawing/2014/main" id="{E420C2CD-C797-1270-E629-F2A57B7D2970}"/>
                </a:ext>
              </a:extLst>
            </p:cNvPr>
            <p:cNvSpPr/>
            <p:nvPr/>
          </p:nvSpPr>
          <p:spPr>
            <a:xfrm>
              <a:off x="1160913" y="1443119"/>
              <a:ext cx="1360683" cy="292934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pic>
          <p:nvPicPr>
            <p:cNvPr id="26" name="Imagen 25">
              <a:extLst>
                <a:ext uri="{FF2B5EF4-FFF2-40B4-BE49-F238E27FC236}">
                  <a16:creationId xmlns:a16="http://schemas.microsoft.com/office/drawing/2014/main" id="{59DD6224-42D7-26C1-9564-B7289AF0306B}"/>
                </a:ext>
              </a:extLst>
            </p:cNvPr>
            <p:cNvPicPr>
              <a:picLocks noChangeAspect="1"/>
            </p:cNvPicPr>
            <p:nvPr/>
          </p:nvPicPr>
          <p:blipFill>
            <a:blip r:embed="rId3"/>
            <a:stretch>
              <a:fillRect/>
            </a:stretch>
          </p:blipFill>
          <p:spPr>
            <a:xfrm>
              <a:off x="1192775" y="1443119"/>
              <a:ext cx="1360683" cy="2929346"/>
            </a:xfrm>
            <a:prstGeom prst="rect">
              <a:avLst/>
            </a:prstGeom>
          </p:spPr>
        </p:pic>
      </p:grpSp>
      <p:grpSp>
        <p:nvGrpSpPr>
          <p:cNvPr id="32" name="Grupo 31">
            <a:extLst>
              <a:ext uri="{FF2B5EF4-FFF2-40B4-BE49-F238E27FC236}">
                <a16:creationId xmlns:a16="http://schemas.microsoft.com/office/drawing/2014/main" id="{2CAF45FD-3F2C-702E-054F-2BA2EDE3E199}"/>
              </a:ext>
            </a:extLst>
          </p:cNvPr>
          <p:cNvGrpSpPr/>
          <p:nvPr/>
        </p:nvGrpSpPr>
        <p:grpSpPr>
          <a:xfrm>
            <a:off x="6056119" y="1075073"/>
            <a:ext cx="1363583" cy="3387199"/>
            <a:chOff x="5669280" y="1221377"/>
            <a:chExt cx="2010346" cy="3240895"/>
          </a:xfrm>
        </p:grpSpPr>
        <p:sp>
          <p:nvSpPr>
            <p:cNvPr id="31" name="Rectángulo 30">
              <a:extLst>
                <a:ext uri="{FF2B5EF4-FFF2-40B4-BE49-F238E27FC236}">
                  <a16:creationId xmlns:a16="http://schemas.microsoft.com/office/drawing/2014/main" id="{BD40B1EA-125E-C49E-DF4D-A0C652695CD0}"/>
                </a:ext>
              </a:extLst>
            </p:cNvPr>
            <p:cNvSpPr/>
            <p:nvPr/>
          </p:nvSpPr>
          <p:spPr>
            <a:xfrm>
              <a:off x="5669280" y="1221377"/>
              <a:ext cx="2010346" cy="32330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pic>
          <p:nvPicPr>
            <p:cNvPr id="30" name="Imagen 29">
              <a:extLst>
                <a:ext uri="{FF2B5EF4-FFF2-40B4-BE49-F238E27FC236}">
                  <a16:creationId xmlns:a16="http://schemas.microsoft.com/office/drawing/2014/main" id="{E74D5F96-7C4F-DD3B-08C5-4528AD401927}"/>
                </a:ext>
              </a:extLst>
            </p:cNvPr>
            <p:cNvPicPr>
              <a:picLocks noChangeAspect="1"/>
            </p:cNvPicPr>
            <p:nvPr/>
          </p:nvPicPr>
          <p:blipFill>
            <a:blip r:embed="rId4"/>
            <a:stretch>
              <a:fillRect/>
            </a:stretch>
          </p:blipFill>
          <p:spPr>
            <a:xfrm>
              <a:off x="5669280" y="1263832"/>
              <a:ext cx="2010346" cy="3198440"/>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0C896"/>
          </a:solidFill>
          <a:ln w="12700">
            <a:solidFill>
              <a:srgbClr val="00C896"/>
            </a:solidFill>
            <a:prstDash val="solid"/>
          </a:ln>
        </p:spPr>
        <p:txBody>
          <a:bodyPr/>
          <a:lstStyle/>
          <a:p>
            <a:endParaRPr lang="es-PE"/>
          </a:p>
        </p:txBody>
      </p:sp>
      <p:sp>
        <p:nvSpPr>
          <p:cNvPr id="3" name="Shape 1"/>
          <p:cNvSpPr/>
          <p:nvPr/>
        </p:nvSpPr>
        <p:spPr>
          <a:xfrm>
            <a:off x="0" y="0"/>
            <a:ext cx="9144000" cy="841248"/>
          </a:xfrm>
          <a:prstGeom prst="rect">
            <a:avLst/>
          </a:prstGeom>
          <a:solidFill>
            <a:srgbClr val="1A2B3C"/>
          </a:solidFill>
          <a:ln w="12700">
            <a:solidFill>
              <a:srgbClr val="1A2B3C"/>
            </a:solidFill>
            <a:prstDash val="solid"/>
          </a:ln>
        </p:spPr>
        <p:txBody>
          <a:bodyPr/>
          <a:lstStyle/>
          <a:p>
            <a:endParaRPr lang="es-PE"/>
          </a:p>
        </p:txBody>
      </p:sp>
      <p:sp>
        <p:nvSpPr>
          <p:cNvPr id="4" name="Text 2"/>
          <p:cNvSpPr/>
          <p:nvPr/>
        </p:nvSpPr>
        <p:spPr>
          <a:xfrm>
            <a:off x="411480" y="0"/>
            <a:ext cx="8412480" cy="841248"/>
          </a:xfrm>
          <a:prstGeom prst="rect">
            <a:avLst/>
          </a:prstGeom>
          <a:noFill/>
          <a:ln/>
        </p:spPr>
        <p:txBody>
          <a:bodyPr wrap="square" lIns="0" tIns="0" rIns="0" bIns="0" rtlCol="0" anchor="ctr"/>
          <a:lstStyle/>
          <a:p>
            <a:pPr marL="0" indent="0" algn="l">
              <a:buNone/>
            </a:pPr>
            <a:r>
              <a:rPr lang="en-US" sz="2100" b="1" dirty="0">
                <a:solidFill>
                  <a:srgbClr val="00C896"/>
                </a:solidFill>
                <a:latin typeface="Calibri" pitchFamily="34" charset="0"/>
                <a:ea typeface="Calibri" pitchFamily="34" charset="-122"/>
                <a:cs typeface="Calibri" pitchFamily="34" charset="-120"/>
              </a:rPr>
              <a:t>04 · ARQUITECTURA — Componentes y Despliegue del Sistema</a:t>
            </a:r>
            <a:endParaRPr lang="en-US" sz="2100" dirty="0"/>
          </a:p>
        </p:txBody>
      </p:sp>
      <p:sp>
        <p:nvSpPr>
          <p:cNvPr id="5" name="Shape 3"/>
          <p:cNvSpPr/>
          <p:nvPr/>
        </p:nvSpPr>
        <p:spPr>
          <a:xfrm>
            <a:off x="384048" y="987552"/>
            <a:ext cx="4114800" cy="3840480"/>
          </a:xfrm>
          <a:prstGeom prst="rect">
            <a:avLst/>
          </a:prstGeom>
          <a:solidFill>
            <a:srgbClr val="0D2035"/>
          </a:solidFill>
          <a:ln w="25400">
            <a:solidFill>
              <a:srgbClr val="00C896"/>
            </a:solidFill>
            <a:prstDash val="solid"/>
          </a:ln>
        </p:spPr>
        <p:txBody>
          <a:bodyPr/>
          <a:lstStyle/>
          <a:p>
            <a:endParaRPr lang="es-PE"/>
          </a:p>
        </p:txBody>
      </p:sp>
      <p:sp>
        <p:nvSpPr>
          <p:cNvPr id="6" name="Shape 4"/>
          <p:cNvSpPr/>
          <p:nvPr/>
        </p:nvSpPr>
        <p:spPr>
          <a:xfrm>
            <a:off x="457200" y="1060704"/>
            <a:ext cx="3968496" cy="3694176"/>
          </a:xfrm>
          <a:prstGeom prst="rect">
            <a:avLst/>
          </a:prstGeom>
          <a:solidFill>
            <a:srgbClr val="0D2035"/>
          </a:solidFill>
          <a:ln w="12700">
            <a:solidFill>
              <a:srgbClr val="009E78"/>
            </a:solidFill>
            <a:prstDash val="solid"/>
          </a:ln>
        </p:spPr>
        <p:txBody>
          <a:bodyPr/>
          <a:lstStyle/>
          <a:p>
            <a:endParaRPr lang="es-PE"/>
          </a:p>
        </p:txBody>
      </p:sp>
      <p:sp>
        <p:nvSpPr>
          <p:cNvPr id="7" name="Text 5"/>
          <p:cNvSpPr/>
          <p:nvPr/>
        </p:nvSpPr>
        <p:spPr>
          <a:xfrm>
            <a:off x="384048" y="987552"/>
            <a:ext cx="4114800" cy="3840480"/>
          </a:xfrm>
          <a:prstGeom prst="rect">
            <a:avLst/>
          </a:prstGeom>
          <a:noFill/>
          <a:ln/>
        </p:spPr>
        <p:txBody>
          <a:bodyPr wrap="square" lIns="0" tIns="0" rIns="0" bIns="0" rtlCol="0" anchor="ctr"/>
          <a:lstStyle/>
          <a:p>
            <a:pPr marL="0" indent="0" algn="ctr">
              <a:buNone/>
            </a:pPr>
            <a:endParaRPr lang="en-US" sz="1200" dirty="0"/>
          </a:p>
        </p:txBody>
      </p:sp>
      <p:sp>
        <p:nvSpPr>
          <p:cNvPr id="8" name="Shape 6"/>
          <p:cNvSpPr/>
          <p:nvPr/>
        </p:nvSpPr>
        <p:spPr>
          <a:xfrm>
            <a:off x="384048" y="4535424"/>
            <a:ext cx="4114800" cy="292608"/>
          </a:xfrm>
          <a:prstGeom prst="rect">
            <a:avLst/>
          </a:prstGeom>
          <a:solidFill>
            <a:srgbClr val="009E78"/>
          </a:solidFill>
          <a:ln w="12700">
            <a:solidFill>
              <a:srgbClr val="009E78"/>
            </a:solidFill>
            <a:prstDash val="solid"/>
          </a:ln>
        </p:spPr>
        <p:txBody>
          <a:bodyPr/>
          <a:lstStyle/>
          <a:p>
            <a:endParaRPr lang="es-PE"/>
          </a:p>
        </p:txBody>
      </p:sp>
      <p:sp>
        <p:nvSpPr>
          <p:cNvPr id="9" name="Text 7"/>
          <p:cNvSpPr/>
          <p:nvPr/>
        </p:nvSpPr>
        <p:spPr>
          <a:xfrm>
            <a:off x="384048" y="4535424"/>
            <a:ext cx="41148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Diagrama de Componentes</a:t>
            </a:r>
            <a:endParaRPr lang="en-US" sz="1000" dirty="0"/>
          </a:p>
        </p:txBody>
      </p:sp>
      <p:sp>
        <p:nvSpPr>
          <p:cNvPr id="10" name="Shape 8"/>
          <p:cNvSpPr/>
          <p:nvPr/>
        </p:nvSpPr>
        <p:spPr>
          <a:xfrm>
            <a:off x="4663440" y="987552"/>
            <a:ext cx="4160520" cy="3840480"/>
          </a:xfrm>
          <a:prstGeom prst="rect">
            <a:avLst/>
          </a:prstGeom>
          <a:solidFill>
            <a:srgbClr val="0D2035"/>
          </a:solidFill>
          <a:ln w="25400">
            <a:solidFill>
              <a:srgbClr val="00C896"/>
            </a:solidFill>
            <a:prstDash val="solid"/>
          </a:ln>
        </p:spPr>
        <p:txBody>
          <a:bodyPr/>
          <a:lstStyle/>
          <a:p>
            <a:endParaRPr lang="es-PE"/>
          </a:p>
        </p:txBody>
      </p:sp>
      <p:sp>
        <p:nvSpPr>
          <p:cNvPr id="11" name="Shape 9"/>
          <p:cNvSpPr/>
          <p:nvPr/>
        </p:nvSpPr>
        <p:spPr>
          <a:xfrm>
            <a:off x="4736592" y="1060704"/>
            <a:ext cx="4014216" cy="3694176"/>
          </a:xfrm>
          <a:prstGeom prst="rect">
            <a:avLst/>
          </a:prstGeom>
          <a:solidFill>
            <a:srgbClr val="0D2035"/>
          </a:solidFill>
          <a:ln w="12700">
            <a:solidFill>
              <a:srgbClr val="009E78"/>
            </a:solidFill>
            <a:prstDash val="solid"/>
          </a:ln>
        </p:spPr>
        <p:txBody>
          <a:bodyPr/>
          <a:lstStyle/>
          <a:p>
            <a:endParaRPr lang="es-PE"/>
          </a:p>
        </p:txBody>
      </p:sp>
      <p:sp>
        <p:nvSpPr>
          <p:cNvPr id="12" name="Text 10"/>
          <p:cNvSpPr/>
          <p:nvPr/>
        </p:nvSpPr>
        <p:spPr>
          <a:xfrm>
            <a:off x="4663440" y="987552"/>
            <a:ext cx="4160520" cy="3840480"/>
          </a:xfrm>
          <a:prstGeom prst="rect">
            <a:avLst/>
          </a:prstGeom>
          <a:noFill/>
          <a:ln/>
        </p:spPr>
        <p:txBody>
          <a:bodyPr wrap="square" lIns="0" tIns="0" rIns="0" bIns="0" rtlCol="0" anchor="ctr"/>
          <a:lstStyle/>
          <a:p>
            <a:pPr marL="0" indent="0" algn="ctr">
              <a:buNone/>
            </a:pPr>
            <a:endParaRPr lang="en-US" sz="1200" dirty="0"/>
          </a:p>
        </p:txBody>
      </p:sp>
      <p:sp>
        <p:nvSpPr>
          <p:cNvPr id="13" name="Shape 11"/>
          <p:cNvSpPr/>
          <p:nvPr/>
        </p:nvSpPr>
        <p:spPr>
          <a:xfrm>
            <a:off x="4663440" y="4535424"/>
            <a:ext cx="4160520" cy="292608"/>
          </a:xfrm>
          <a:prstGeom prst="rect">
            <a:avLst/>
          </a:prstGeom>
          <a:solidFill>
            <a:srgbClr val="009E78"/>
          </a:solidFill>
          <a:ln w="12700">
            <a:solidFill>
              <a:srgbClr val="009E78"/>
            </a:solidFill>
            <a:prstDash val="solid"/>
          </a:ln>
        </p:spPr>
        <p:txBody>
          <a:bodyPr/>
          <a:lstStyle/>
          <a:p>
            <a:endParaRPr lang="es-PE"/>
          </a:p>
        </p:txBody>
      </p:sp>
      <p:sp>
        <p:nvSpPr>
          <p:cNvPr id="14" name="Text 12"/>
          <p:cNvSpPr/>
          <p:nvPr/>
        </p:nvSpPr>
        <p:spPr>
          <a:xfrm>
            <a:off x="4663440" y="4535424"/>
            <a:ext cx="41605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Diagrama de Despliegue</a:t>
            </a:r>
            <a:endParaRPr lang="en-US" sz="1000" dirty="0"/>
          </a:p>
        </p:txBody>
      </p:sp>
      <p:grpSp>
        <p:nvGrpSpPr>
          <p:cNvPr id="18" name="Grupo 17">
            <a:extLst>
              <a:ext uri="{FF2B5EF4-FFF2-40B4-BE49-F238E27FC236}">
                <a16:creationId xmlns:a16="http://schemas.microsoft.com/office/drawing/2014/main" id="{1B30084F-D69D-9268-6030-8A5EF083A59F}"/>
              </a:ext>
            </a:extLst>
          </p:cNvPr>
          <p:cNvGrpSpPr/>
          <p:nvPr/>
        </p:nvGrpSpPr>
        <p:grpSpPr>
          <a:xfrm>
            <a:off x="509451" y="1099239"/>
            <a:ext cx="3840479" cy="3363033"/>
            <a:chOff x="764177" y="1332411"/>
            <a:chExt cx="3363686" cy="2983557"/>
          </a:xfrm>
        </p:grpSpPr>
        <p:sp>
          <p:nvSpPr>
            <p:cNvPr id="17" name="Rectángulo 16">
              <a:extLst>
                <a:ext uri="{FF2B5EF4-FFF2-40B4-BE49-F238E27FC236}">
                  <a16:creationId xmlns:a16="http://schemas.microsoft.com/office/drawing/2014/main" id="{22BF4A09-F3D0-DE0E-D7E7-39F0690CA3B6}"/>
                </a:ext>
              </a:extLst>
            </p:cNvPr>
            <p:cNvSpPr/>
            <p:nvPr/>
          </p:nvSpPr>
          <p:spPr>
            <a:xfrm>
              <a:off x="764177" y="1332411"/>
              <a:ext cx="3363686" cy="29835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pic>
          <p:nvPicPr>
            <p:cNvPr id="16" name="Imagen 15">
              <a:extLst>
                <a:ext uri="{FF2B5EF4-FFF2-40B4-BE49-F238E27FC236}">
                  <a16:creationId xmlns:a16="http://schemas.microsoft.com/office/drawing/2014/main" id="{759E1739-80A3-8C6A-9068-6C4338FC230B}"/>
                </a:ext>
              </a:extLst>
            </p:cNvPr>
            <p:cNvPicPr>
              <a:picLocks noChangeAspect="1"/>
            </p:cNvPicPr>
            <p:nvPr/>
          </p:nvPicPr>
          <p:blipFill>
            <a:blip r:embed="rId3"/>
            <a:stretch>
              <a:fillRect/>
            </a:stretch>
          </p:blipFill>
          <p:spPr>
            <a:xfrm>
              <a:off x="816429" y="1404257"/>
              <a:ext cx="3240792" cy="2834640"/>
            </a:xfrm>
            <a:prstGeom prst="rect">
              <a:avLst/>
            </a:prstGeom>
          </p:spPr>
        </p:pic>
      </p:grpSp>
      <p:sp>
        <p:nvSpPr>
          <p:cNvPr id="19" name="Rectángulo 18">
            <a:extLst>
              <a:ext uri="{FF2B5EF4-FFF2-40B4-BE49-F238E27FC236}">
                <a16:creationId xmlns:a16="http://schemas.microsoft.com/office/drawing/2014/main" id="{FCAA352B-0FEF-8323-C91F-45B1A6DE5906}"/>
              </a:ext>
            </a:extLst>
          </p:cNvPr>
          <p:cNvSpPr/>
          <p:nvPr/>
        </p:nvSpPr>
        <p:spPr>
          <a:xfrm>
            <a:off x="4807131" y="1180223"/>
            <a:ext cx="3827418" cy="320889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1" name="Imagen 20">
            <a:extLst>
              <a:ext uri="{FF2B5EF4-FFF2-40B4-BE49-F238E27FC236}">
                <a16:creationId xmlns:a16="http://schemas.microsoft.com/office/drawing/2014/main" id="{04E1D1E2-461F-7195-9ECC-9F8C9DDA0C29}"/>
              </a:ext>
            </a:extLst>
          </p:cNvPr>
          <p:cNvPicPr>
            <a:picLocks noChangeAspect="1"/>
          </p:cNvPicPr>
          <p:nvPr/>
        </p:nvPicPr>
        <p:blipFill>
          <a:blip r:embed="rId4"/>
          <a:stretch>
            <a:fillRect/>
          </a:stretch>
        </p:blipFill>
        <p:spPr>
          <a:xfrm>
            <a:off x="5411591" y="1308404"/>
            <a:ext cx="2396397" cy="29525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0F4F2"/>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0C896"/>
          </a:solidFill>
          <a:ln w="12700">
            <a:solidFill>
              <a:srgbClr val="00C896"/>
            </a:solidFill>
            <a:prstDash val="solid"/>
          </a:ln>
        </p:spPr>
        <p:txBody>
          <a:bodyPr/>
          <a:lstStyle/>
          <a:p>
            <a:endParaRPr lang="es-PE"/>
          </a:p>
        </p:txBody>
      </p:sp>
      <p:sp>
        <p:nvSpPr>
          <p:cNvPr id="3" name="Shape 1"/>
          <p:cNvSpPr/>
          <p:nvPr/>
        </p:nvSpPr>
        <p:spPr>
          <a:xfrm>
            <a:off x="0" y="0"/>
            <a:ext cx="9144000" cy="841248"/>
          </a:xfrm>
          <a:prstGeom prst="rect">
            <a:avLst/>
          </a:prstGeom>
          <a:solidFill>
            <a:srgbClr val="0F2A1E"/>
          </a:solidFill>
          <a:ln w="12700">
            <a:solidFill>
              <a:srgbClr val="0F2A1E"/>
            </a:solidFill>
            <a:prstDash val="solid"/>
          </a:ln>
        </p:spPr>
        <p:txBody>
          <a:bodyPr/>
          <a:lstStyle/>
          <a:p>
            <a:endParaRPr lang="es-PE"/>
          </a:p>
        </p:txBody>
      </p:sp>
      <p:sp>
        <p:nvSpPr>
          <p:cNvPr id="4" name="Text 2"/>
          <p:cNvSpPr/>
          <p:nvPr/>
        </p:nvSpPr>
        <p:spPr>
          <a:xfrm>
            <a:off x="411480" y="0"/>
            <a:ext cx="8412480" cy="841248"/>
          </a:xfrm>
          <a:prstGeom prst="rect">
            <a:avLst/>
          </a:prstGeom>
          <a:noFill/>
          <a:ln/>
        </p:spPr>
        <p:txBody>
          <a:bodyPr wrap="square" lIns="0" tIns="0" rIns="0" bIns="0" rtlCol="0" anchor="ctr"/>
          <a:lstStyle/>
          <a:p>
            <a:pPr marL="0" indent="0" algn="l">
              <a:buNone/>
            </a:pPr>
            <a:r>
              <a:rPr lang="en-US" sz="2100" b="1" dirty="0">
                <a:solidFill>
                  <a:srgbClr val="00C896"/>
                </a:solidFill>
                <a:latin typeface="Calibri" pitchFamily="34" charset="0"/>
                <a:ea typeface="Calibri" pitchFamily="34" charset="-122"/>
                <a:cs typeface="Calibri" pitchFamily="34" charset="-120"/>
              </a:rPr>
              <a:t>04 · PROPUESTA DE SOLUCIÓN — Sistema Web Integrado</a:t>
            </a:r>
            <a:endParaRPr lang="en-US" sz="2100" dirty="0"/>
          </a:p>
        </p:txBody>
      </p:sp>
      <p:sp>
        <p:nvSpPr>
          <p:cNvPr id="5" name="Shape 3"/>
          <p:cNvSpPr/>
          <p:nvPr/>
        </p:nvSpPr>
        <p:spPr>
          <a:xfrm>
            <a:off x="384048" y="987552"/>
            <a:ext cx="2606040" cy="1389888"/>
          </a:xfrm>
          <a:prstGeom prst="rect">
            <a:avLst/>
          </a:prstGeom>
          <a:solidFill>
            <a:srgbClr val="0F2A1E"/>
          </a:solidFill>
          <a:ln w="12700">
            <a:solidFill>
              <a:srgbClr val="00C896"/>
            </a:solidFill>
            <a:prstDash val="solid"/>
          </a:ln>
          <a:effectLst>
            <a:outerShdw blurRad="127000" dist="38100" dir="8100000" algn="bl" rotWithShape="0">
              <a:srgbClr val="000000">
                <a:alpha val="20000"/>
              </a:srgbClr>
            </a:outerShdw>
          </a:effectLst>
        </p:spPr>
        <p:txBody>
          <a:bodyPr/>
          <a:lstStyle/>
          <a:p>
            <a:endParaRPr lang="es-PE"/>
          </a:p>
        </p:txBody>
      </p:sp>
      <p:sp>
        <p:nvSpPr>
          <p:cNvPr id="6" name="Shape 4"/>
          <p:cNvSpPr/>
          <p:nvPr/>
        </p:nvSpPr>
        <p:spPr>
          <a:xfrm>
            <a:off x="1371600" y="1051560"/>
            <a:ext cx="594360" cy="594360"/>
          </a:xfrm>
          <a:prstGeom prst="ellipse">
            <a:avLst/>
          </a:prstGeom>
          <a:solidFill>
            <a:srgbClr val="00C896"/>
          </a:solidFill>
          <a:ln w="12700">
            <a:solidFill>
              <a:srgbClr val="00C896"/>
            </a:solidFill>
            <a:prstDash val="solid"/>
          </a:ln>
        </p:spPr>
        <p:txBody>
          <a:bodyPr/>
          <a:lstStyle/>
          <a:p>
            <a:endParaRPr lang="es-PE"/>
          </a:p>
        </p:txBody>
      </p:sp>
      <p:pic>
        <p:nvPicPr>
          <p:cNvPr id="7" name="Image 0" descr="preencoded.png"/>
          <p:cNvPicPr>
            <a:picLocks noChangeAspect="1"/>
          </p:cNvPicPr>
          <p:nvPr/>
        </p:nvPicPr>
        <p:blipFill>
          <a:blip r:embed="rId3"/>
          <a:stretch>
            <a:fillRect/>
          </a:stretch>
        </p:blipFill>
        <p:spPr>
          <a:xfrm>
            <a:off x="1435608" y="1115568"/>
            <a:ext cx="457200" cy="457200"/>
          </a:xfrm>
          <a:prstGeom prst="rect">
            <a:avLst/>
          </a:prstGeom>
        </p:spPr>
      </p:pic>
      <p:sp>
        <p:nvSpPr>
          <p:cNvPr id="8" name="Text 5"/>
          <p:cNvSpPr/>
          <p:nvPr/>
        </p:nvSpPr>
        <p:spPr>
          <a:xfrm>
            <a:off x="384048" y="1682496"/>
            <a:ext cx="260604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Portal Estudiantil</a:t>
            </a:r>
            <a:endParaRPr lang="en-US" sz="1200" dirty="0"/>
          </a:p>
        </p:txBody>
      </p:sp>
      <p:sp>
        <p:nvSpPr>
          <p:cNvPr id="9" name="Text 6"/>
          <p:cNvSpPr/>
          <p:nvPr/>
        </p:nvSpPr>
        <p:spPr>
          <a:xfrm>
            <a:off x="384048" y="1984248"/>
            <a:ext cx="2606040" cy="347472"/>
          </a:xfrm>
          <a:prstGeom prst="rect">
            <a:avLst/>
          </a:prstGeom>
          <a:noFill/>
          <a:ln/>
        </p:spPr>
        <p:txBody>
          <a:bodyPr wrap="square" lIns="0" tIns="0" rIns="0" bIns="0" rtlCol="0" anchor="ctr"/>
          <a:lstStyle/>
          <a:p>
            <a:pPr marL="0" indent="0" algn="ctr">
              <a:buNone/>
            </a:pPr>
            <a:r>
              <a:rPr lang="en-US" sz="950" dirty="0">
                <a:solidFill>
                  <a:srgbClr val="D0E8E0"/>
                </a:solidFill>
                <a:latin typeface="Calibri" pitchFamily="34" charset="0"/>
                <a:ea typeface="Calibri" pitchFamily="34" charset="-122"/>
                <a:cs typeface="Calibri" pitchFamily="34" charset="-120"/>
              </a:rPr>
              <a:t>Matrícula · Notas</a:t>
            </a:r>
            <a:endParaRPr lang="en-US" sz="950" dirty="0"/>
          </a:p>
          <a:p>
            <a:pPr marL="0" indent="0" algn="ctr">
              <a:buNone/>
            </a:pPr>
            <a:r>
              <a:rPr lang="en-US" sz="950" dirty="0">
                <a:solidFill>
                  <a:srgbClr val="D0E8E0"/>
                </a:solidFill>
                <a:latin typeface="Calibri" pitchFamily="34" charset="0"/>
                <a:ea typeface="Calibri" pitchFamily="34" charset="-122"/>
                <a:cs typeface="Calibri" pitchFamily="34" charset="-120"/>
              </a:rPr>
              <a:t>Horario · Historial</a:t>
            </a:r>
            <a:endParaRPr lang="en-US" sz="950" dirty="0"/>
          </a:p>
        </p:txBody>
      </p:sp>
      <p:sp>
        <p:nvSpPr>
          <p:cNvPr id="10" name="Shape 7"/>
          <p:cNvSpPr/>
          <p:nvPr/>
        </p:nvSpPr>
        <p:spPr>
          <a:xfrm>
            <a:off x="2990088" y="1600200"/>
            <a:ext cx="228600" cy="91440"/>
          </a:xfrm>
          <a:prstGeom prst="rect">
            <a:avLst/>
          </a:prstGeom>
          <a:solidFill>
            <a:srgbClr val="7A8D9A"/>
          </a:solidFill>
          <a:ln w="12700">
            <a:solidFill>
              <a:srgbClr val="7A8D9A"/>
            </a:solidFill>
            <a:prstDash val="solid"/>
          </a:ln>
        </p:spPr>
        <p:txBody>
          <a:bodyPr/>
          <a:lstStyle/>
          <a:p>
            <a:endParaRPr lang="es-PE"/>
          </a:p>
        </p:txBody>
      </p:sp>
      <p:sp>
        <p:nvSpPr>
          <p:cNvPr id="11" name="Shape 8"/>
          <p:cNvSpPr/>
          <p:nvPr/>
        </p:nvSpPr>
        <p:spPr>
          <a:xfrm>
            <a:off x="3218688" y="987552"/>
            <a:ext cx="2606040" cy="1389888"/>
          </a:xfrm>
          <a:prstGeom prst="rect">
            <a:avLst/>
          </a:prstGeom>
          <a:solidFill>
            <a:srgbClr val="0F2A1E"/>
          </a:solidFill>
          <a:ln w="12700">
            <a:solidFill>
              <a:srgbClr val="00C896"/>
            </a:solidFill>
            <a:prstDash val="solid"/>
          </a:ln>
          <a:effectLst>
            <a:outerShdw blurRad="127000" dist="38100" dir="8100000" algn="bl" rotWithShape="0">
              <a:srgbClr val="000000">
                <a:alpha val="20000"/>
              </a:srgbClr>
            </a:outerShdw>
          </a:effectLst>
        </p:spPr>
        <p:txBody>
          <a:bodyPr/>
          <a:lstStyle/>
          <a:p>
            <a:endParaRPr lang="es-PE"/>
          </a:p>
        </p:txBody>
      </p:sp>
      <p:sp>
        <p:nvSpPr>
          <p:cNvPr id="12" name="Shape 9"/>
          <p:cNvSpPr/>
          <p:nvPr/>
        </p:nvSpPr>
        <p:spPr>
          <a:xfrm>
            <a:off x="4206240" y="1051560"/>
            <a:ext cx="594360" cy="594360"/>
          </a:xfrm>
          <a:prstGeom prst="ellipse">
            <a:avLst/>
          </a:prstGeom>
          <a:solidFill>
            <a:srgbClr val="00C896"/>
          </a:solidFill>
          <a:ln w="12700">
            <a:solidFill>
              <a:srgbClr val="00C896"/>
            </a:solidFill>
            <a:prstDash val="solid"/>
          </a:ln>
        </p:spPr>
        <p:txBody>
          <a:bodyPr/>
          <a:lstStyle/>
          <a:p>
            <a:endParaRPr lang="es-PE"/>
          </a:p>
        </p:txBody>
      </p:sp>
      <p:pic>
        <p:nvPicPr>
          <p:cNvPr id="13" name="Image 1" descr="preencoded.png"/>
          <p:cNvPicPr>
            <a:picLocks noChangeAspect="1"/>
          </p:cNvPicPr>
          <p:nvPr/>
        </p:nvPicPr>
        <p:blipFill>
          <a:blip r:embed="rId4"/>
          <a:stretch>
            <a:fillRect/>
          </a:stretch>
        </p:blipFill>
        <p:spPr>
          <a:xfrm>
            <a:off x="4270248" y="1115568"/>
            <a:ext cx="457200" cy="457200"/>
          </a:xfrm>
          <a:prstGeom prst="rect">
            <a:avLst/>
          </a:prstGeom>
        </p:spPr>
      </p:pic>
      <p:sp>
        <p:nvSpPr>
          <p:cNvPr id="14" name="Text 10"/>
          <p:cNvSpPr/>
          <p:nvPr/>
        </p:nvSpPr>
        <p:spPr>
          <a:xfrm>
            <a:off x="3218688" y="1682496"/>
            <a:ext cx="260604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Portal Docente</a:t>
            </a:r>
            <a:endParaRPr lang="en-US" sz="1200" dirty="0"/>
          </a:p>
        </p:txBody>
      </p:sp>
      <p:sp>
        <p:nvSpPr>
          <p:cNvPr id="15" name="Text 11"/>
          <p:cNvSpPr/>
          <p:nvPr/>
        </p:nvSpPr>
        <p:spPr>
          <a:xfrm>
            <a:off x="3218688" y="1984248"/>
            <a:ext cx="2606040" cy="347472"/>
          </a:xfrm>
          <a:prstGeom prst="rect">
            <a:avLst/>
          </a:prstGeom>
          <a:noFill/>
          <a:ln/>
        </p:spPr>
        <p:txBody>
          <a:bodyPr wrap="square" lIns="0" tIns="0" rIns="0" bIns="0" rtlCol="0" anchor="ctr"/>
          <a:lstStyle/>
          <a:p>
            <a:pPr marL="0" indent="0" algn="ctr">
              <a:buNone/>
            </a:pPr>
            <a:r>
              <a:rPr lang="en-US" sz="950" dirty="0">
                <a:solidFill>
                  <a:srgbClr val="D0E8E0"/>
                </a:solidFill>
                <a:latin typeface="Calibri" pitchFamily="34" charset="0"/>
                <a:ea typeface="Calibri" pitchFamily="34" charset="-122"/>
                <a:cs typeface="Calibri" pitchFamily="34" charset="-120"/>
              </a:rPr>
              <a:t>Notas · Asistencia</a:t>
            </a:r>
            <a:endParaRPr lang="en-US" sz="950" dirty="0"/>
          </a:p>
          <a:p>
            <a:pPr marL="0" indent="0" algn="ctr">
              <a:buNone/>
            </a:pPr>
            <a:r>
              <a:rPr lang="en-US" sz="950" dirty="0">
                <a:solidFill>
                  <a:srgbClr val="D0E8E0"/>
                </a:solidFill>
                <a:latin typeface="Calibri" pitchFamily="34" charset="0"/>
                <a:ea typeface="Calibri" pitchFamily="34" charset="-122"/>
                <a:cs typeface="Calibri" pitchFamily="34" charset="-120"/>
              </a:rPr>
              <a:t>Lista de alumnos</a:t>
            </a:r>
            <a:endParaRPr lang="en-US" sz="950" dirty="0"/>
          </a:p>
        </p:txBody>
      </p:sp>
      <p:sp>
        <p:nvSpPr>
          <p:cNvPr id="16" name="Shape 12"/>
          <p:cNvSpPr/>
          <p:nvPr/>
        </p:nvSpPr>
        <p:spPr>
          <a:xfrm>
            <a:off x="5824728" y="1600200"/>
            <a:ext cx="228600" cy="91440"/>
          </a:xfrm>
          <a:prstGeom prst="rect">
            <a:avLst/>
          </a:prstGeom>
          <a:solidFill>
            <a:srgbClr val="7A8D9A"/>
          </a:solidFill>
          <a:ln w="12700">
            <a:solidFill>
              <a:srgbClr val="7A8D9A"/>
            </a:solidFill>
            <a:prstDash val="solid"/>
          </a:ln>
        </p:spPr>
        <p:txBody>
          <a:bodyPr/>
          <a:lstStyle/>
          <a:p>
            <a:endParaRPr lang="es-PE"/>
          </a:p>
        </p:txBody>
      </p:sp>
      <p:sp>
        <p:nvSpPr>
          <p:cNvPr id="17" name="Shape 13"/>
          <p:cNvSpPr/>
          <p:nvPr/>
        </p:nvSpPr>
        <p:spPr>
          <a:xfrm>
            <a:off x="6053328" y="987552"/>
            <a:ext cx="2606040" cy="1389888"/>
          </a:xfrm>
          <a:prstGeom prst="rect">
            <a:avLst/>
          </a:prstGeom>
          <a:solidFill>
            <a:srgbClr val="0F2A1E"/>
          </a:solidFill>
          <a:ln w="12700">
            <a:solidFill>
              <a:srgbClr val="00C896"/>
            </a:solidFill>
            <a:prstDash val="solid"/>
          </a:ln>
          <a:effectLst>
            <a:outerShdw blurRad="127000" dist="38100" dir="8100000" algn="bl" rotWithShape="0">
              <a:srgbClr val="000000">
                <a:alpha val="20000"/>
              </a:srgbClr>
            </a:outerShdw>
          </a:effectLst>
        </p:spPr>
        <p:txBody>
          <a:bodyPr/>
          <a:lstStyle/>
          <a:p>
            <a:endParaRPr lang="es-PE"/>
          </a:p>
        </p:txBody>
      </p:sp>
      <p:sp>
        <p:nvSpPr>
          <p:cNvPr id="18" name="Shape 14"/>
          <p:cNvSpPr/>
          <p:nvPr/>
        </p:nvSpPr>
        <p:spPr>
          <a:xfrm>
            <a:off x="7040880" y="1051560"/>
            <a:ext cx="594360" cy="594360"/>
          </a:xfrm>
          <a:prstGeom prst="ellipse">
            <a:avLst/>
          </a:prstGeom>
          <a:solidFill>
            <a:srgbClr val="00C896"/>
          </a:solidFill>
          <a:ln w="12700">
            <a:solidFill>
              <a:srgbClr val="00C896"/>
            </a:solidFill>
            <a:prstDash val="solid"/>
          </a:ln>
        </p:spPr>
        <p:txBody>
          <a:bodyPr/>
          <a:lstStyle/>
          <a:p>
            <a:endParaRPr lang="es-PE"/>
          </a:p>
        </p:txBody>
      </p:sp>
      <p:pic>
        <p:nvPicPr>
          <p:cNvPr id="19" name="Image 2" descr="preencoded.png"/>
          <p:cNvPicPr>
            <a:picLocks noChangeAspect="1"/>
          </p:cNvPicPr>
          <p:nvPr/>
        </p:nvPicPr>
        <p:blipFill>
          <a:blip r:embed="rId5"/>
          <a:stretch>
            <a:fillRect/>
          </a:stretch>
        </p:blipFill>
        <p:spPr>
          <a:xfrm>
            <a:off x="7104888" y="1115568"/>
            <a:ext cx="457200" cy="457200"/>
          </a:xfrm>
          <a:prstGeom prst="rect">
            <a:avLst/>
          </a:prstGeom>
        </p:spPr>
      </p:pic>
      <p:sp>
        <p:nvSpPr>
          <p:cNvPr id="20" name="Text 15"/>
          <p:cNvSpPr/>
          <p:nvPr/>
        </p:nvSpPr>
        <p:spPr>
          <a:xfrm>
            <a:off x="6053328" y="1682496"/>
            <a:ext cx="260604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Portal Admin</a:t>
            </a:r>
            <a:endParaRPr lang="en-US" sz="1200" dirty="0"/>
          </a:p>
        </p:txBody>
      </p:sp>
      <p:sp>
        <p:nvSpPr>
          <p:cNvPr id="21" name="Text 16"/>
          <p:cNvSpPr/>
          <p:nvPr/>
        </p:nvSpPr>
        <p:spPr>
          <a:xfrm>
            <a:off x="6053328" y="1984248"/>
            <a:ext cx="2606040" cy="347472"/>
          </a:xfrm>
          <a:prstGeom prst="rect">
            <a:avLst/>
          </a:prstGeom>
          <a:noFill/>
          <a:ln/>
        </p:spPr>
        <p:txBody>
          <a:bodyPr wrap="square" lIns="0" tIns="0" rIns="0" bIns="0" rtlCol="0" anchor="ctr"/>
          <a:lstStyle/>
          <a:p>
            <a:pPr marL="0" indent="0" algn="ctr">
              <a:buNone/>
            </a:pPr>
            <a:r>
              <a:rPr lang="en-US" sz="950" dirty="0">
                <a:solidFill>
                  <a:srgbClr val="D0E8E0"/>
                </a:solidFill>
                <a:latin typeface="Calibri" pitchFamily="34" charset="0"/>
                <a:ea typeface="Calibri" pitchFamily="34" charset="-122"/>
                <a:cs typeface="Calibri" pitchFamily="34" charset="-120"/>
              </a:rPr>
              <a:t>Cursos · Docentes</a:t>
            </a:r>
            <a:endParaRPr lang="en-US" sz="950" dirty="0"/>
          </a:p>
          <a:p>
            <a:pPr marL="0" indent="0" algn="ctr">
              <a:buNone/>
            </a:pPr>
            <a:r>
              <a:rPr lang="en-US" sz="950" dirty="0">
                <a:solidFill>
                  <a:srgbClr val="D0E8E0"/>
                </a:solidFill>
                <a:latin typeface="Calibri" pitchFamily="34" charset="0"/>
                <a:ea typeface="Calibri" pitchFamily="34" charset="-122"/>
                <a:cs typeface="Calibri" pitchFamily="34" charset="-120"/>
              </a:rPr>
              <a:t>Reportes académicos</a:t>
            </a:r>
            <a:endParaRPr lang="en-US" sz="950" dirty="0"/>
          </a:p>
        </p:txBody>
      </p:sp>
      <p:sp>
        <p:nvSpPr>
          <p:cNvPr id="22" name="Shape 17"/>
          <p:cNvSpPr/>
          <p:nvPr/>
        </p:nvSpPr>
        <p:spPr>
          <a:xfrm>
            <a:off x="384048" y="2514600"/>
            <a:ext cx="8366760" cy="594360"/>
          </a:xfrm>
          <a:prstGeom prst="rect">
            <a:avLst/>
          </a:prstGeom>
          <a:solidFill>
            <a:srgbClr val="0D7A6A"/>
          </a:solidFill>
          <a:ln w="12700">
            <a:solidFill>
              <a:srgbClr val="00C896"/>
            </a:solidFill>
            <a:prstDash val="solid"/>
          </a:ln>
          <a:effectLst>
            <a:outerShdw blurRad="127000" dist="38100" dir="8100000" algn="bl" rotWithShape="0">
              <a:srgbClr val="000000">
                <a:alpha val="20000"/>
              </a:srgbClr>
            </a:outerShdw>
          </a:effectLst>
        </p:spPr>
        <p:txBody>
          <a:bodyPr/>
          <a:lstStyle/>
          <a:p>
            <a:endParaRPr lang="es-PE"/>
          </a:p>
        </p:txBody>
      </p:sp>
      <p:sp>
        <p:nvSpPr>
          <p:cNvPr id="23" name="Text 18"/>
          <p:cNvSpPr/>
          <p:nvPr/>
        </p:nvSpPr>
        <p:spPr>
          <a:xfrm>
            <a:off x="384048" y="2514600"/>
            <a:ext cx="83667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BACKEND — Módulo Matrícula + Módulo Notas + Módulo Usuarios + Lógica de Validaciones</a:t>
            </a:r>
            <a:endParaRPr lang="en-US" sz="1200" dirty="0"/>
          </a:p>
        </p:txBody>
      </p:sp>
      <p:sp>
        <p:nvSpPr>
          <p:cNvPr id="24" name="Shape 19"/>
          <p:cNvSpPr/>
          <p:nvPr/>
        </p:nvSpPr>
        <p:spPr>
          <a:xfrm>
            <a:off x="4480560" y="3108960"/>
            <a:ext cx="164592" cy="274320"/>
          </a:xfrm>
          <a:prstGeom prst="rect">
            <a:avLst/>
          </a:prstGeom>
          <a:solidFill>
            <a:srgbClr val="00C896"/>
          </a:solidFill>
          <a:ln w="12700">
            <a:solidFill>
              <a:srgbClr val="00C896"/>
            </a:solidFill>
            <a:prstDash val="solid"/>
          </a:ln>
        </p:spPr>
        <p:txBody>
          <a:bodyPr/>
          <a:lstStyle/>
          <a:p>
            <a:endParaRPr lang="es-PE"/>
          </a:p>
        </p:txBody>
      </p:sp>
      <p:sp>
        <p:nvSpPr>
          <p:cNvPr id="25" name="Shape 20"/>
          <p:cNvSpPr/>
          <p:nvPr/>
        </p:nvSpPr>
        <p:spPr>
          <a:xfrm>
            <a:off x="1188720" y="3383280"/>
            <a:ext cx="2606040" cy="1463040"/>
          </a:xfrm>
          <a:prstGeom prst="rect">
            <a:avLst/>
          </a:prstGeom>
          <a:solidFill>
            <a:srgbClr val="0F2A1E"/>
          </a:solidFill>
          <a:ln w="12700">
            <a:solidFill>
              <a:srgbClr val="0D7A6A"/>
            </a:solidFill>
            <a:prstDash val="solid"/>
          </a:ln>
          <a:effectLst>
            <a:outerShdw blurRad="127000" dist="38100" dir="8100000" algn="bl" rotWithShape="0">
              <a:srgbClr val="000000">
                <a:alpha val="20000"/>
              </a:srgbClr>
            </a:outerShdw>
          </a:effectLst>
        </p:spPr>
        <p:txBody>
          <a:bodyPr/>
          <a:lstStyle/>
          <a:p>
            <a:endParaRPr lang="es-PE"/>
          </a:p>
        </p:txBody>
      </p:sp>
      <p:sp>
        <p:nvSpPr>
          <p:cNvPr id="26" name="Shape 21"/>
          <p:cNvSpPr/>
          <p:nvPr/>
        </p:nvSpPr>
        <p:spPr>
          <a:xfrm>
            <a:off x="2194560" y="3456432"/>
            <a:ext cx="566928" cy="566928"/>
          </a:xfrm>
          <a:prstGeom prst="ellipse">
            <a:avLst/>
          </a:prstGeom>
          <a:solidFill>
            <a:srgbClr val="009E78"/>
          </a:solidFill>
          <a:ln w="12700">
            <a:solidFill>
              <a:srgbClr val="00C896"/>
            </a:solidFill>
            <a:prstDash val="solid"/>
          </a:ln>
        </p:spPr>
        <p:txBody>
          <a:bodyPr/>
          <a:lstStyle/>
          <a:p>
            <a:endParaRPr lang="es-PE"/>
          </a:p>
        </p:txBody>
      </p:sp>
      <p:pic>
        <p:nvPicPr>
          <p:cNvPr id="27" name="Image 3" descr="preencoded.png"/>
          <p:cNvPicPr>
            <a:picLocks noChangeAspect="1"/>
          </p:cNvPicPr>
          <p:nvPr/>
        </p:nvPicPr>
        <p:blipFill>
          <a:blip r:embed="rId6"/>
          <a:stretch>
            <a:fillRect/>
          </a:stretch>
        </p:blipFill>
        <p:spPr>
          <a:xfrm>
            <a:off x="2249424" y="3520440"/>
            <a:ext cx="438912" cy="438912"/>
          </a:xfrm>
          <a:prstGeom prst="rect">
            <a:avLst/>
          </a:prstGeom>
        </p:spPr>
      </p:pic>
      <p:sp>
        <p:nvSpPr>
          <p:cNvPr id="28" name="Text 22"/>
          <p:cNvSpPr/>
          <p:nvPr/>
        </p:nvSpPr>
        <p:spPr>
          <a:xfrm>
            <a:off x="1188720" y="4059936"/>
            <a:ext cx="260604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Base de Datos Central</a:t>
            </a:r>
            <a:endParaRPr lang="en-US" sz="1050" dirty="0"/>
          </a:p>
        </p:txBody>
      </p:sp>
      <p:sp>
        <p:nvSpPr>
          <p:cNvPr id="29" name="Text 23"/>
          <p:cNvSpPr/>
          <p:nvPr/>
        </p:nvSpPr>
        <p:spPr>
          <a:xfrm>
            <a:off x="1188720" y="4343400"/>
            <a:ext cx="2606040" cy="438912"/>
          </a:xfrm>
          <a:prstGeom prst="rect">
            <a:avLst/>
          </a:prstGeom>
          <a:noFill/>
          <a:ln/>
        </p:spPr>
        <p:txBody>
          <a:bodyPr wrap="square" lIns="0" tIns="0" rIns="0" bIns="0" rtlCol="0" anchor="ctr"/>
          <a:lstStyle/>
          <a:p>
            <a:pPr marL="0" indent="0" algn="ctr">
              <a:buNone/>
            </a:pPr>
            <a:r>
              <a:rPr lang="en-US" sz="900" dirty="0">
                <a:solidFill>
                  <a:srgbClr val="D0E8E0"/>
                </a:solidFill>
                <a:latin typeface="Calibri" pitchFamily="34" charset="0"/>
                <a:ea typeface="Calibri" pitchFamily="34" charset="-122"/>
                <a:cs typeface="Calibri" pitchFamily="34" charset="-120"/>
              </a:rPr>
              <a:t>Información académica unificada + respaldo automático diario</a:t>
            </a:r>
            <a:endParaRPr lang="en-US" sz="900" dirty="0"/>
          </a:p>
        </p:txBody>
      </p:sp>
      <p:sp>
        <p:nvSpPr>
          <p:cNvPr id="30" name="Shape 24"/>
          <p:cNvSpPr/>
          <p:nvPr/>
        </p:nvSpPr>
        <p:spPr>
          <a:xfrm>
            <a:off x="5486400" y="3383280"/>
            <a:ext cx="2606040" cy="1463040"/>
          </a:xfrm>
          <a:prstGeom prst="rect">
            <a:avLst/>
          </a:prstGeom>
          <a:solidFill>
            <a:srgbClr val="0F2A1E"/>
          </a:solidFill>
          <a:ln w="12700">
            <a:solidFill>
              <a:srgbClr val="0D7A6A"/>
            </a:solidFill>
            <a:prstDash val="solid"/>
          </a:ln>
          <a:effectLst>
            <a:outerShdw blurRad="127000" dist="38100" dir="8100000" algn="bl" rotWithShape="0">
              <a:srgbClr val="000000">
                <a:alpha val="20000"/>
              </a:srgbClr>
            </a:outerShdw>
          </a:effectLst>
        </p:spPr>
        <p:txBody>
          <a:bodyPr/>
          <a:lstStyle/>
          <a:p>
            <a:endParaRPr lang="es-PE"/>
          </a:p>
        </p:txBody>
      </p:sp>
      <p:sp>
        <p:nvSpPr>
          <p:cNvPr id="31" name="Shape 25"/>
          <p:cNvSpPr/>
          <p:nvPr/>
        </p:nvSpPr>
        <p:spPr>
          <a:xfrm>
            <a:off x="6492240" y="3456432"/>
            <a:ext cx="566928" cy="566928"/>
          </a:xfrm>
          <a:prstGeom prst="ellipse">
            <a:avLst/>
          </a:prstGeom>
          <a:solidFill>
            <a:srgbClr val="009E78"/>
          </a:solidFill>
          <a:ln w="12700">
            <a:solidFill>
              <a:srgbClr val="00C896"/>
            </a:solidFill>
            <a:prstDash val="solid"/>
          </a:ln>
        </p:spPr>
        <p:txBody>
          <a:bodyPr/>
          <a:lstStyle/>
          <a:p>
            <a:endParaRPr lang="es-PE"/>
          </a:p>
        </p:txBody>
      </p:sp>
      <p:pic>
        <p:nvPicPr>
          <p:cNvPr id="32" name="Image 4" descr="preencoded.png"/>
          <p:cNvPicPr>
            <a:picLocks noChangeAspect="1"/>
          </p:cNvPicPr>
          <p:nvPr/>
        </p:nvPicPr>
        <p:blipFill>
          <a:blip r:embed="rId7"/>
          <a:stretch>
            <a:fillRect/>
          </a:stretch>
        </p:blipFill>
        <p:spPr>
          <a:xfrm>
            <a:off x="6547104" y="3520440"/>
            <a:ext cx="438912" cy="438912"/>
          </a:xfrm>
          <a:prstGeom prst="rect">
            <a:avLst/>
          </a:prstGeom>
        </p:spPr>
      </p:pic>
      <p:sp>
        <p:nvSpPr>
          <p:cNvPr id="33" name="Text 26"/>
          <p:cNvSpPr/>
          <p:nvPr/>
        </p:nvSpPr>
        <p:spPr>
          <a:xfrm>
            <a:off x="5486400" y="4059936"/>
            <a:ext cx="260604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Sistema de Pagos Externo</a:t>
            </a:r>
            <a:endParaRPr lang="en-US" sz="1050" dirty="0"/>
          </a:p>
        </p:txBody>
      </p:sp>
      <p:sp>
        <p:nvSpPr>
          <p:cNvPr id="34" name="Text 27"/>
          <p:cNvSpPr/>
          <p:nvPr/>
        </p:nvSpPr>
        <p:spPr>
          <a:xfrm>
            <a:off x="5486400" y="4343400"/>
            <a:ext cx="2606040" cy="438912"/>
          </a:xfrm>
          <a:prstGeom prst="rect">
            <a:avLst/>
          </a:prstGeom>
          <a:noFill/>
          <a:ln/>
        </p:spPr>
        <p:txBody>
          <a:bodyPr wrap="square" lIns="0" tIns="0" rIns="0" bIns="0" rtlCol="0" anchor="ctr"/>
          <a:lstStyle/>
          <a:p>
            <a:pPr marL="0" indent="0" algn="ctr">
              <a:buNone/>
            </a:pPr>
            <a:r>
              <a:rPr lang="en-US" sz="900" dirty="0">
                <a:solidFill>
                  <a:srgbClr val="D0E8E0"/>
                </a:solidFill>
                <a:latin typeface="Calibri" pitchFamily="34" charset="0"/>
                <a:ea typeface="Calibri" pitchFamily="34" charset="-122"/>
                <a:cs typeface="Calibri" pitchFamily="34" charset="-120"/>
              </a:rPr>
              <a:t>API de pasarela financiera para validar pagos en tiempo real</a:t>
            </a:r>
            <a:endParaRPr lang="en-US" sz="900" dirty="0"/>
          </a:p>
        </p:txBody>
      </p:sp>
      <p:sp>
        <p:nvSpPr>
          <p:cNvPr id="35" name="Shape 28"/>
          <p:cNvSpPr/>
          <p:nvPr/>
        </p:nvSpPr>
        <p:spPr>
          <a:xfrm>
            <a:off x="3840480" y="3383280"/>
            <a:ext cx="1280160" cy="64008"/>
          </a:xfrm>
          <a:prstGeom prst="rect">
            <a:avLst/>
          </a:prstGeom>
          <a:solidFill>
            <a:srgbClr val="00C896">
              <a:alpha val="50000"/>
            </a:srgbClr>
          </a:solidFill>
          <a:ln w="12700">
            <a:solidFill>
              <a:srgbClr val="00C896"/>
            </a:solidFill>
            <a:prstDash val="solid"/>
          </a:ln>
        </p:spPr>
        <p:txBody>
          <a:bodyPr/>
          <a:lstStyle/>
          <a:p>
            <a:endParaRPr lang="es-P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0C896"/>
          </a:solidFill>
          <a:ln w="12700">
            <a:solidFill>
              <a:srgbClr val="00C896"/>
            </a:solidFill>
            <a:prstDash val="solid"/>
          </a:ln>
        </p:spPr>
        <p:txBody>
          <a:bodyPr/>
          <a:lstStyle/>
          <a:p>
            <a:endParaRPr lang="es-PE"/>
          </a:p>
        </p:txBody>
      </p:sp>
      <p:sp>
        <p:nvSpPr>
          <p:cNvPr id="3" name="Shape 1"/>
          <p:cNvSpPr/>
          <p:nvPr/>
        </p:nvSpPr>
        <p:spPr>
          <a:xfrm>
            <a:off x="0" y="0"/>
            <a:ext cx="9144000" cy="841248"/>
          </a:xfrm>
          <a:prstGeom prst="rect">
            <a:avLst/>
          </a:prstGeom>
          <a:solidFill>
            <a:srgbClr val="1A2B3C"/>
          </a:solidFill>
          <a:ln w="12700">
            <a:solidFill>
              <a:srgbClr val="1A2B3C"/>
            </a:solidFill>
            <a:prstDash val="solid"/>
          </a:ln>
        </p:spPr>
        <p:txBody>
          <a:bodyPr/>
          <a:lstStyle/>
          <a:p>
            <a:endParaRPr lang="es-PE"/>
          </a:p>
        </p:txBody>
      </p:sp>
      <p:sp>
        <p:nvSpPr>
          <p:cNvPr id="4" name="Text 2"/>
          <p:cNvSpPr/>
          <p:nvPr/>
        </p:nvSpPr>
        <p:spPr>
          <a:xfrm>
            <a:off x="411480" y="0"/>
            <a:ext cx="8412480" cy="841248"/>
          </a:xfrm>
          <a:prstGeom prst="rect">
            <a:avLst/>
          </a:prstGeom>
          <a:noFill/>
          <a:ln/>
        </p:spPr>
        <p:txBody>
          <a:bodyPr wrap="square" lIns="0" tIns="0" rIns="0" bIns="0" rtlCol="0" anchor="ctr"/>
          <a:lstStyle/>
          <a:p>
            <a:pPr marL="0" indent="0" algn="l">
              <a:buNone/>
            </a:pPr>
            <a:r>
              <a:rPr lang="en-US" sz="2100" b="1" dirty="0">
                <a:solidFill>
                  <a:srgbClr val="00C896"/>
                </a:solidFill>
                <a:latin typeface="Calibri" pitchFamily="34" charset="0"/>
                <a:ea typeface="Calibri" pitchFamily="34" charset="-122"/>
                <a:cs typeface="Calibri" pitchFamily="34" charset="-120"/>
              </a:rPr>
              <a:t>04 · DISEÑO ORIENTADO A OBJETOS — De UML a Código Java</a:t>
            </a:r>
            <a:endParaRPr lang="en-US" sz="2100" dirty="0"/>
          </a:p>
        </p:txBody>
      </p:sp>
      <p:sp>
        <p:nvSpPr>
          <p:cNvPr id="5" name="Shape 3"/>
          <p:cNvSpPr/>
          <p:nvPr/>
        </p:nvSpPr>
        <p:spPr>
          <a:xfrm>
            <a:off x="384048" y="987552"/>
            <a:ext cx="2926080" cy="3840480"/>
          </a:xfrm>
          <a:prstGeom prst="rect">
            <a:avLst/>
          </a:prstGeom>
          <a:solidFill>
            <a:srgbClr val="1A2B3C"/>
          </a:solidFill>
          <a:ln w="12700">
            <a:solidFill>
              <a:srgbClr val="0D7A6A"/>
            </a:solidFill>
            <a:prstDash val="solid"/>
          </a:ln>
        </p:spPr>
        <p:txBody>
          <a:bodyPr/>
          <a:lstStyle/>
          <a:p>
            <a:endParaRPr lang="es-PE"/>
          </a:p>
        </p:txBody>
      </p:sp>
      <p:sp>
        <p:nvSpPr>
          <p:cNvPr id="6" name="Text 4"/>
          <p:cNvSpPr/>
          <p:nvPr/>
        </p:nvSpPr>
        <p:spPr>
          <a:xfrm>
            <a:off x="475488" y="1051560"/>
            <a:ext cx="2743200" cy="320040"/>
          </a:xfrm>
          <a:prstGeom prst="rect">
            <a:avLst/>
          </a:prstGeom>
          <a:noFill/>
          <a:ln/>
        </p:spPr>
        <p:txBody>
          <a:bodyPr wrap="square" lIns="0" tIns="0" rIns="0" bIns="0" rtlCol="0" anchor="ctr"/>
          <a:lstStyle/>
          <a:p>
            <a:pPr marL="0" indent="0">
              <a:buNone/>
            </a:pPr>
            <a:r>
              <a:rPr lang="en-US" sz="1150" b="1" dirty="0">
                <a:solidFill>
                  <a:srgbClr val="00C896"/>
                </a:solidFill>
                <a:latin typeface="Calibri" pitchFamily="34" charset="0"/>
                <a:ea typeface="Calibri" pitchFamily="34" charset="-122"/>
                <a:cs typeface="Calibri" pitchFamily="34" charset="-120"/>
              </a:rPr>
              <a:t>Cómo se traduce el UML:</a:t>
            </a:r>
            <a:endParaRPr lang="en-US" sz="1150" dirty="0"/>
          </a:p>
        </p:txBody>
      </p:sp>
      <p:sp>
        <p:nvSpPr>
          <p:cNvPr id="7" name="Shape 5"/>
          <p:cNvSpPr/>
          <p:nvPr/>
        </p:nvSpPr>
        <p:spPr>
          <a:xfrm>
            <a:off x="502920" y="1389888"/>
            <a:ext cx="2697480" cy="36576"/>
          </a:xfrm>
          <a:prstGeom prst="rect">
            <a:avLst/>
          </a:prstGeom>
          <a:solidFill>
            <a:srgbClr val="00C896"/>
          </a:solidFill>
          <a:ln w="12700">
            <a:solidFill>
              <a:srgbClr val="00C896"/>
            </a:solidFill>
            <a:prstDash val="solid"/>
          </a:ln>
        </p:spPr>
        <p:txBody>
          <a:bodyPr/>
          <a:lstStyle/>
          <a:p>
            <a:endParaRPr lang="es-PE"/>
          </a:p>
        </p:txBody>
      </p:sp>
      <p:sp>
        <p:nvSpPr>
          <p:cNvPr id="8" name="Text 6"/>
          <p:cNvSpPr/>
          <p:nvPr/>
        </p:nvSpPr>
        <p:spPr>
          <a:xfrm>
            <a:off x="502920" y="1508760"/>
            <a:ext cx="141732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Clase en diagrama</a:t>
            </a:r>
            <a:endParaRPr lang="en-US" sz="1050" dirty="0"/>
          </a:p>
        </p:txBody>
      </p:sp>
      <p:sp>
        <p:nvSpPr>
          <p:cNvPr id="9" name="Text 7"/>
          <p:cNvSpPr/>
          <p:nvPr/>
        </p:nvSpPr>
        <p:spPr>
          <a:xfrm>
            <a:off x="1901952" y="1508760"/>
            <a:ext cx="1325880" cy="384048"/>
          </a:xfrm>
          <a:prstGeom prst="rect">
            <a:avLst/>
          </a:prstGeom>
          <a:noFill/>
          <a:ln/>
        </p:spPr>
        <p:txBody>
          <a:bodyPr wrap="square" lIns="0" tIns="0" rIns="0" bIns="0" rtlCol="0" anchor="ctr"/>
          <a:lstStyle/>
          <a:p>
            <a:pPr marL="0" indent="0">
              <a:buNone/>
            </a:pPr>
            <a:r>
              <a:rPr lang="en-US" sz="1050" i="1" dirty="0">
                <a:solidFill>
                  <a:srgbClr val="00C896"/>
                </a:solidFill>
                <a:latin typeface="Calibri" pitchFamily="34" charset="0"/>
                <a:ea typeface="Calibri" pitchFamily="34" charset="-122"/>
                <a:cs typeface="Calibri" pitchFamily="34" charset="-120"/>
              </a:rPr>
              <a:t>→  class en Java</a:t>
            </a:r>
            <a:endParaRPr lang="en-US" sz="1050" dirty="0"/>
          </a:p>
        </p:txBody>
      </p:sp>
      <p:sp>
        <p:nvSpPr>
          <p:cNvPr id="10" name="Text 8"/>
          <p:cNvSpPr/>
          <p:nvPr/>
        </p:nvSpPr>
        <p:spPr>
          <a:xfrm>
            <a:off x="502920" y="2011680"/>
            <a:ext cx="141732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Atributo</a:t>
            </a:r>
            <a:endParaRPr lang="en-US" sz="1050" dirty="0"/>
          </a:p>
        </p:txBody>
      </p:sp>
      <p:sp>
        <p:nvSpPr>
          <p:cNvPr id="11" name="Text 9"/>
          <p:cNvSpPr/>
          <p:nvPr/>
        </p:nvSpPr>
        <p:spPr>
          <a:xfrm>
            <a:off x="1901952" y="2011680"/>
            <a:ext cx="1325880" cy="384048"/>
          </a:xfrm>
          <a:prstGeom prst="rect">
            <a:avLst/>
          </a:prstGeom>
          <a:noFill/>
          <a:ln/>
        </p:spPr>
        <p:txBody>
          <a:bodyPr wrap="square" lIns="0" tIns="0" rIns="0" bIns="0" rtlCol="0" anchor="ctr"/>
          <a:lstStyle/>
          <a:p>
            <a:pPr marL="0" indent="0">
              <a:buNone/>
            </a:pPr>
            <a:r>
              <a:rPr lang="en-US" sz="1050" i="1" dirty="0">
                <a:solidFill>
                  <a:srgbClr val="00C896"/>
                </a:solidFill>
                <a:latin typeface="Calibri" pitchFamily="34" charset="0"/>
                <a:ea typeface="Calibri" pitchFamily="34" charset="-122"/>
                <a:cs typeface="Calibri" pitchFamily="34" charset="-120"/>
              </a:rPr>
              <a:t>→  variable de instancia</a:t>
            </a:r>
            <a:endParaRPr lang="en-US" sz="1050" dirty="0"/>
          </a:p>
        </p:txBody>
      </p:sp>
      <p:sp>
        <p:nvSpPr>
          <p:cNvPr id="12" name="Text 10"/>
          <p:cNvSpPr/>
          <p:nvPr/>
        </p:nvSpPr>
        <p:spPr>
          <a:xfrm>
            <a:off x="502920" y="2514600"/>
            <a:ext cx="141732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Método</a:t>
            </a:r>
            <a:endParaRPr lang="en-US" sz="1050" dirty="0"/>
          </a:p>
        </p:txBody>
      </p:sp>
      <p:sp>
        <p:nvSpPr>
          <p:cNvPr id="13" name="Text 11"/>
          <p:cNvSpPr/>
          <p:nvPr/>
        </p:nvSpPr>
        <p:spPr>
          <a:xfrm>
            <a:off x="1901952" y="2514600"/>
            <a:ext cx="1325880" cy="384048"/>
          </a:xfrm>
          <a:prstGeom prst="rect">
            <a:avLst/>
          </a:prstGeom>
          <a:noFill/>
          <a:ln/>
        </p:spPr>
        <p:txBody>
          <a:bodyPr wrap="square" lIns="0" tIns="0" rIns="0" bIns="0" rtlCol="0" anchor="ctr"/>
          <a:lstStyle/>
          <a:p>
            <a:pPr marL="0" indent="0">
              <a:buNone/>
            </a:pPr>
            <a:r>
              <a:rPr lang="en-US" sz="1050" i="1" dirty="0">
                <a:solidFill>
                  <a:srgbClr val="00C896"/>
                </a:solidFill>
                <a:latin typeface="Calibri" pitchFamily="34" charset="0"/>
                <a:ea typeface="Calibri" pitchFamily="34" charset="-122"/>
                <a:cs typeface="Calibri" pitchFamily="34" charset="-120"/>
              </a:rPr>
              <a:t>→  función con lógica</a:t>
            </a:r>
            <a:endParaRPr lang="en-US" sz="1050" dirty="0"/>
          </a:p>
        </p:txBody>
      </p:sp>
      <p:sp>
        <p:nvSpPr>
          <p:cNvPr id="14" name="Text 12"/>
          <p:cNvSpPr/>
          <p:nvPr/>
        </p:nvSpPr>
        <p:spPr>
          <a:xfrm>
            <a:off x="502920" y="3017520"/>
            <a:ext cx="141732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Relación 1..n</a:t>
            </a:r>
            <a:endParaRPr lang="en-US" sz="1050" dirty="0"/>
          </a:p>
        </p:txBody>
      </p:sp>
      <p:sp>
        <p:nvSpPr>
          <p:cNvPr id="15" name="Text 13"/>
          <p:cNvSpPr/>
          <p:nvPr/>
        </p:nvSpPr>
        <p:spPr>
          <a:xfrm>
            <a:off x="1901952" y="3017520"/>
            <a:ext cx="1325880" cy="384048"/>
          </a:xfrm>
          <a:prstGeom prst="rect">
            <a:avLst/>
          </a:prstGeom>
          <a:noFill/>
          <a:ln/>
        </p:spPr>
        <p:txBody>
          <a:bodyPr wrap="square" lIns="0" tIns="0" rIns="0" bIns="0" rtlCol="0" anchor="ctr"/>
          <a:lstStyle/>
          <a:p>
            <a:pPr marL="0" indent="0">
              <a:buNone/>
            </a:pPr>
            <a:r>
              <a:rPr lang="en-US" sz="1050" i="1" dirty="0">
                <a:solidFill>
                  <a:srgbClr val="00C896"/>
                </a:solidFill>
                <a:latin typeface="Calibri" pitchFamily="34" charset="0"/>
                <a:ea typeface="Calibri" pitchFamily="34" charset="-122"/>
                <a:cs typeface="Calibri" pitchFamily="34" charset="-120"/>
              </a:rPr>
              <a:t>→  Lista&lt;T&gt; en Java</a:t>
            </a:r>
            <a:endParaRPr lang="en-US" sz="1050" dirty="0"/>
          </a:p>
        </p:txBody>
      </p:sp>
      <p:sp>
        <p:nvSpPr>
          <p:cNvPr id="16" name="Text 14"/>
          <p:cNvSpPr/>
          <p:nvPr/>
        </p:nvSpPr>
        <p:spPr>
          <a:xfrm>
            <a:off x="502920" y="3520440"/>
            <a:ext cx="141732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Relación BD</a:t>
            </a:r>
            <a:endParaRPr lang="en-US" sz="1050" dirty="0"/>
          </a:p>
        </p:txBody>
      </p:sp>
      <p:sp>
        <p:nvSpPr>
          <p:cNvPr id="17" name="Text 15"/>
          <p:cNvSpPr/>
          <p:nvPr/>
        </p:nvSpPr>
        <p:spPr>
          <a:xfrm>
            <a:off x="1901952" y="3520440"/>
            <a:ext cx="1325880" cy="384048"/>
          </a:xfrm>
          <a:prstGeom prst="rect">
            <a:avLst/>
          </a:prstGeom>
          <a:noFill/>
          <a:ln/>
        </p:spPr>
        <p:txBody>
          <a:bodyPr wrap="square" lIns="0" tIns="0" rIns="0" bIns="0" rtlCol="0" anchor="ctr"/>
          <a:lstStyle/>
          <a:p>
            <a:pPr marL="0" indent="0">
              <a:buNone/>
            </a:pPr>
            <a:r>
              <a:rPr lang="en-US" sz="1050" i="1" dirty="0">
                <a:solidFill>
                  <a:srgbClr val="00C896"/>
                </a:solidFill>
                <a:latin typeface="Calibri" pitchFamily="34" charset="0"/>
                <a:ea typeface="Calibri" pitchFamily="34" charset="-122"/>
                <a:cs typeface="Calibri" pitchFamily="34" charset="-120"/>
              </a:rPr>
              <a:t>→  clave foránea (FK)</a:t>
            </a:r>
            <a:endParaRPr lang="en-US" sz="1050" dirty="0"/>
          </a:p>
        </p:txBody>
      </p:sp>
      <p:sp>
        <p:nvSpPr>
          <p:cNvPr id="18" name="Text 16"/>
          <p:cNvSpPr/>
          <p:nvPr/>
        </p:nvSpPr>
        <p:spPr>
          <a:xfrm>
            <a:off x="502920" y="4023360"/>
            <a:ext cx="141732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Estado matrícula</a:t>
            </a:r>
            <a:endParaRPr lang="en-US" sz="1050" dirty="0"/>
          </a:p>
        </p:txBody>
      </p:sp>
      <p:sp>
        <p:nvSpPr>
          <p:cNvPr id="19" name="Text 17"/>
          <p:cNvSpPr/>
          <p:nvPr/>
        </p:nvSpPr>
        <p:spPr>
          <a:xfrm>
            <a:off x="1901952" y="4023360"/>
            <a:ext cx="1325880" cy="384048"/>
          </a:xfrm>
          <a:prstGeom prst="rect">
            <a:avLst/>
          </a:prstGeom>
          <a:noFill/>
          <a:ln/>
        </p:spPr>
        <p:txBody>
          <a:bodyPr wrap="square" lIns="0" tIns="0" rIns="0" bIns="0" rtlCol="0" anchor="ctr"/>
          <a:lstStyle/>
          <a:p>
            <a:pPr marL="0" indent="0">
              <a:buNone/>
            </a:pPr>
            <a:r>
              <a:rPr lang="en-US" sz="1050" i="1" dirty="0">
                <a:solidFill>
                  <a:srgbClr val="00C896"/>
                </a:solidFill>
                <a:latin typeface="Calibri" pitchFamily="34" charset="0"/>
                <a:ea typeface="Calibri" pitchFamily="34" charset="-122"/>
                <a:cs typeface="Calibri" pitchFamily="34" charset="-120"/>
              </a:rPr>
              <a:t>→  String controlado</a:t>
            </a:r>
            <a:endParaRPr lang="en-US" sz="1050" dirty="0"/>
          </a:p>
        </p:txBody>
      </p:sp>
      <p:sp>
        <p:nvSpPr>
          <p:cNvPr id="20" name="Shape 18"/>
          <p:cNvSpPr/>
          <p:nvPr/>
        </p:nvSpPr>
        <p:spPr>
          <a:xfrm>
            <a:off x="3493008" y="987552"/>
            <a:ext cx="5321808" cy="3840480"/>
          </a:xfrm>
          <a:prstGeom prst="rect">
            <a:avLst/>
          </a:prstGeom>
          <a:solidFill>
            <a:srgbClr val="0D1117"/>
          </a:solidFill>
          <a:ln w="12700">
            <a:solidFill>
              <a:srgbClr val="30363D"/>
            </a:solidFill>
            <a:prstDash val="solid"/>
          </a:ln>
        </p:spPr>
        <p:txBody>
          <a:bodyPr/>
          <a:lstStyle/>
          <a:p>
            <a:endParaRPr lang="es-PE"/>
          </a:p>
        </p:txBody>
      </p:sp>
      <p:sp>
        <p:nvSpPr>
          <p:cNvPr id="21" name="Shape 19"/>
          <p:cNvSpPr/>
          <p:nvPr/>
        </p:nvSpPr>
        <p:spPr>
          <a:xfrm>
            <a:off x="3493008" y="987552"/>
            <a:ext cx="5321808" cy="292608"/>
          </a:xfrm>
          <a:prstGeom prst="rect">
            <a:avLst/>
          </a:prstGeom>
          <a:solidFill>
            <a:srgbClr val="161B22"/>
          </a:solidFill>
          <a:ln w="12700">
            <a:solidFill>
              <a:srgbClr val="30363D"/>
            </a:solidFill>
            <a:prstDash val="solid"/>
          </a:ln>
        </p:spPr>
        <p:txBody>
          <a:bodyPr/>
          <a:lstStyle/>
          <a:p>
            <a:endParaRPr lang="es-PE"/>
          </a:p>
        </p:txBody>
      </p:sp>
      <p:sp>
        <p:nvSpPr>
          <p:cNvPr id="22" name="Text 20"/>
          <p:cNvSpPr/>
          <p:nvPr/>
        </p:nvSpPr>
        <p:spPr>
          <a:xfrm>
            <a:off x="3493008" y="987552"/>
            <a:ext cx="5321808" cy="292608"/>
          </a:xfrm>
          <a:prstGeom prst="rect">
            <a:avLst/>
          </a:prstGeom>
          <a:noFill/>
          <a:ln/>
        </p:spPr>
        <p:txBody>
          <a:bodyPr wrap="square" lIns="50800" tIns="50800" rIns="50800" bIns="50800" rtlCol="0" anchor="ctr"/>
          <a:lstStyle/>
          <a:p>
            <a:pPr marL="0" indent="0" algn="l">
              <a:buNone/>
            </a:pPr>
            <a:r>
              <a:rPr lang="en-US" sz="900" dirty="0">
                <a:solidFill>
                  <a:srgbClr val="8B949E"/>
                </a:solidFill>
                <a:latin typeface="Courier New" pitchFamily="34" charset="0"/>
                <a:ea typeface="Courier New" pitchFamily="34" charset="-122"/>
                <a:cs typeface="Courier New" pitchFamily="34" charset="-120"/>
              </a:rPr>
              <a:t>  Estudiante.java      Matricula.java      Pago.java</a:t>
            </a:r>
            <a:endParaRPr lang="en-US" sz="900" dirty="0"/>
          </a:p>
        </p:txBody>
      </p:sp>
      <p:sp>
        <p:nvSpPr>
          <p:cNvPr id="23" name="Text 21"/>
          <p:cNvSpPr/>
          <p:nvPr/>
        </p:nvSpPr>
        <p:spPr>
          <a:xfrm>
            <a:off x="3584448" y="1325880"/>
            <a:ext cx="5138928" cy="201168"/>
          </a:xfrm>
          <a:prstGeom prst="rect">
            <a:avLst/>
          </a:prstGeom>
          <a:noFill/>
          <a:ln/>
        </p:spPr>
        <p:txBody>
          <a:bodyPr wrap="square" lIns="0" tIns="0" rIns="0" bIns="0" rtlCol="0" anchor="ctr"/>
          <a:lstStyle/>
          <a:p>
            <a:pPr marL="0" indent="0">
              <a:buNone/>
            </a:pPr>
            <a:r>
              <a:rPr lang="en-US" sz="950" dirty="0">
                <a:solidFill>
                  <a:srgbClr val="569CD6"/>
                </a:solidFill>
                <a:latin typeface="Courier New" pitchFamily="34" charset="0"/>
                <a:ea typeface="Courier New" pitchFamily="34" charset="-122"/>
                <a:cs typeface="Courier New" pitchFamily="34" charset="-120"/>
              </a:rPr>
              <a:t>class </a:t>
            </a:r>
            <a:r>
              <a:rPr lang="en-US" sz="950" dirty="0">
                <a:solidFill>
                  <a:srgbClr val="4EC9B0"/>
                </a:solidFill>
                <a:latin typeface="Courier New" pitchFamily="34" charset="0"/>
                <a:ea typeface="Courier New" pitchFamily="34" charset="-122"/>
                <a:cs typeface="Courier New" pitchFamily="34" charset="-120"/>
              </a:rPr>
              <a:t>Estudiante</a:t>
            </a:r>
            <a:r>
              <a:rPr lang="en-US" sz="950" dirty="0">
                <a:solidFill>
                  <a:srgbClr val="D4D4D4"/>
                </a:solidFill>
                <a:latin typeface="Courier New" pitchFamily="34" charset="0"/>
                <a:ea typeface="Courier New" pitchFamily="34" charset="-122"/>
                <a:cs typeface="Courier New" pitchFamily="34" charset="-120"/>
              </a:rPr>
              <a:t> {</a:t>
            </a:r>
            <a:endParaRPr lang="en-US" sz="950" dirty="0"/>
          </a:p>
        </p:txBody>
      </p:sp>
      <p:sp>
        <p:nvSpPr>
          <p:cNvPr id="24" name="Text 22"/>
          <p:cNvSpPr/>
          <p:nvPr/>
        </p:nvSpPr>
        <p:spPr>
          <a:xfrm>
            <a:off x="3584448" y="1508760"/>
            <a:ext cx="5138928" cy="201168"/>
          </a:xfrm>
          <a:prstGeom prst="rect">
            <a:avLst/>
          </a:prstGeom>
          <a:noFill/>
          <a:ln/>
        </p:spPr>
        <p:txBody>
          <a:bodyPr wrap="square" lIns="0" tIns="0" rIns="0" bIns="0" rtlCol="0" anchor="ctr"/>
          <a:lstStyle/>
          <a:p>
            <a:pPr marL="0" indent="0">
              <a:buNone/>
            </a:pPr>
            <a:r>
              <a:rPr lang="en-US" sz="950" dirty="0">
                <a:solidFill>
                  <a:srgbClr val="9CDCFE"/>
                </a:solidFill>
                <a:latin typeface="Courier New" pitchFamily="34" charset="0"/>
                <a:ea typeface="Courier New" pitchFamily="34" charset="-122"/>
                <a:cs typeface="Courier New" pitchFamily="34" charset="-120"/>
              </a:rPr>
              <a:t>  int idEstudiante;  String nombre</a:t>
            </a:r>
            <a:r>
              <a:rPr lang="en-US" sz="950" dirty="0">
                <a:solidFill>
                  <a:srgbClr val="D4D4D4"/>
                </a:solidFill>
                <a:latin typeface="Courier New" pitchFamily="34" charset="0"/>
                <a:ea typeface="Courier New" pitchFamily="34" charset="-122"/>
                <a:cs typeface="Courier New" pitchFamily="34" charset="-120"/>
              </a:rPr>
              <a:t>;</a:t>
            </a:r>
            <a:endParaRPr lang="en-US" sz="950" dirty="0"/>
          </a:p>
        </p:txBody>
      </p:sp>
      <p:sp>
        <p:nvSpPr>
          <p:cNvPr id="25" name="Text 23"/>
          <p:cNvSpPr/>
          <p:nvPr/>
        </p:nvSpPr>
        <p:spPr>
          <a:xfrm>
            <a:off x="3584448" y="1691640"/>
            <a:ext cx="5138928" cy="201168"/>
          </a:xfrm>
          <a:prstGeom prst="rect">
            <a:avLst/>
          </a:prstGeom>
          <a:noFill/>
          <a:ln/>
        </p:spPr>
        <p:txBody>
          <a:bodyPr wrap="square" lIns="0" tIns="0" rIns="0" bIns="0" rtlCol="0" anchor="ctr"/>
          <a:lstStyle/>
          <a:p>
            <a:pPr marL="0" indent="0">
              <a:buNone/>
            </a:pPr>
            <a:r>
              <a:rPr lang="en-US" sz="950" dirty="0">
                <a:solidFill>
                  <a:srgbClr val="DCDCAA"/>
                </a:solidFill>
                <a:latin typeface="Courier New" pitchFamily="34" charset="0"/>
                <a:ea typeface="Courier New" pitchFamily="34" charset="-122"/>
                <a:cs typeface="Courier New" pitchFamily="34" charset="-120"/>
              </a:rPr>
              <a:t>  void matricularCurso</a:t>
            </a:r>
            <a:r>
              <a:rPr lang="en-US" sz="950" dirty="0">
                <a:solidFill>
                  <a:srgbClr val="D4D4D4"/>
                </a:solidFill>
                <a:latin typeface="Courier New" pitchFamily="34" charset="0"/>
                <a:ea typeface="Courier New" pitchFamily="34" charset="-122"/>
                <a:cs typeface="Courier New" pitchFamily="34" charset="-120"/>
              </a:rPr>
              <a:t>(int id) {</a:t>
            </a:r>
            <a:endParaRPr lang="en-US" sz="950" dirty="0"/>
          </a:p>
        </p:txBody>
      </p:sp>
      <p:sp>
        <p:nvSpPr>
          <p:cNvPr id="26" name="Text 24"/>
          <p:cNvSpPr/>
          <p:nvPr/>
        </p:nvSpPr>
        <p:spPr>
          <a:xfrm>
            <a:off x="3584448" y="1874520"/>
            <a:ext cx="5138928" cy="201168"/>
          </a:xfrm>
          <a:prstGeom prst="rect">
            <a:avLst/>
          </a:prstGeom>
          <a:noFill/>
          <a:ln/>
        </p:spPr>
        <p:txBody>
          <a:bodyPr wrap="square" lIns="0" tIns="0" rIns="0" bIns="0" rtlCol="0" anchor="ctr"/>
          <a:lstStyle/>
          <a:p>
            <a:pPr marL="0" indent="0">
              <a:buNone/>
            </a:pPr>
            <a:r>
              <a:rPr lang="en-US" sz="950" dirty="0">
                <a:solidFill>
                  <a:srgbClr val="6A9955"/>
                </a:solidFill>
                <a:latin typeface="Courier New" pitchFamily="34" charset="0"/>
                <a:ea typeface="Courier New" pitchFamily="34" charset="-122"/>
                <a:cs typeface="Courier New" pitchFamily="34" charset="-120"/>
              </a:rPr>
              <a:t>    // valida 4 condiciones → confirma</a:t>
            </a:r>
            <a:endParaRPr lang="en-US" sz="950" dirty="0"/>
          </a:p>
        </p:txBody>
      </p:sp>
      <p:sp>
        <p:nvSpPr>
          <p:cNvPr id="27" name="Text 25"/>
          <p:cNvSpPr/>
          <p:nvPr/>
        </p:nvSpPr>
        <p:spPr>
          <a:xfrm>
            <a:off x="3584448" y="2057400"/>
            <a:ext cx="5138928" cy="201168"/>
          </a:xfrm>
          <a:prstGeom prst="rect">
            <a:avLst/>
          </a:prstGeom>
          <a:noFill/>
          <a:ln/>
        </p:spPr>
        <p:txBody>
          <a:bodyPr wrap="square" lIns="0" tIns="0" rIns="0" bIns="0" rtlCol="0" anchor="ctr"/>
          <a:lstStyle/>
          <a:p>
            <a:pPr marL="0" indent="0">
              <a:buNone/>
            </a:pPr>
            <a:r>
              <a:rPr lang="en-US" sz="950" dirty="0">
                <a:solidFill>
                  <a:srgbClr val="D4D4D4"/>
                </a:solidFill>
                <a:latin typeface="Courier New" pitchFamily="34" charset="0"/>
                <a:ea typeface="Courier New" pitchFamily="34" charset="-122"/>
                <a:cs typeface="Courier New" pitchFamily="34" charset="-120"/>
              </a:rPr>
              <a:t>  }  }</a:t>
            </a:r>
            <a:endParaRPr lang="en-US" sz="950" dirty="0"/>
          </a:p>
        </p:txBody>
      </p:sp>
      <p:sp>
        <p:nvSpPr>
          <p:cNvPr id="28" name="Text 26"/>
          <p:cNvSpPr/>
          <p:nvPr/>
        </p:nvSpPr>
        <p:spPr>
          <a:xfrm>
            <a:off x="3584448" y="2240280"/>
            <a:ext cx="5138928" cy="201168"/>
          </a:xfrm>
          <a:prstGeom prst="rect">
            <a:avLst/>
          </a:prstGeom>
          <a:noFill/>
          <a:ln/>
        </p:spPr>
        <p:txBody>
          <a:bodyPr wrap="square" lIns="0" tIns="0" rIns="0" bIns="0" rtlCol="0" anchor="ctr"/>
          <a:lstStyle/>
          <a:p>
            <a:pPr marL="0" indent="0">
              <a:buNone/>
            </a:pPr>
            <a:endParaRPr lang="en-US" sz="950" dirty="0"/>
          </a:p>
        </p:txBody>
      </p:sp>
      <p:sp>
        <p:nvSpPr>
          <p:cNvPr id="29" name="Text 27"/>
          <p:cNvSpPr/>
          <p:nvPr/>
        </p:nvSpPr>
        <p:spPr>
          <a:xfrm>
            <a:off x="3584448" y="2423160"/>
            <a:ext cx="5138928" cy="201168"/>
          </a:xfrm>
          <a:prstGeom prst="rect">
            <a:avLst/>
          </a:prstGeom>
          <a:noFill/>
          <a:ln/>
        </p:spPr>
        <p:txBody>
          <a:bodyPr wrap="square" lIns="0" tIns="0" rIns="0" bIns="0" rtlCol="0" anchor="ctr"/>
          <a:lstStyle/>
          <a:p>
            <a:pPr marL="0" indent="0">
              <a:buNone/>
            </a:pPr>
            <a:r>
              <a:rPr lang="en-US" sz="950" dirty="0">
                <a:solidFill>
                  <a:srgbClr val="569CD6"/>
                </a:solidFill>
                <a:latin typeface="Courier New" pitchFamily="34" charset="0"/>
                <a:ea typeface="Courier New" pitchFamily="34" charset="-122"/>
                <a:cs typeface="Courier New" pitchFamily="34" charset="-120"/>
              </a:rPr>
              <a:t>class </a:t>
            </a:r>
            <a:r>
              <a:rPr lang="en-US" sz="950" dirty="0">
                <a:solidFill>
                  <a:srgbClr val="4EC9B0"/>
                </a:solidFill>
                <a:latin typeface="Courier New" pitchFamily="34" charset="0"/>
                <a:ea typeface="Courier New" pitchFamily="34" charset="-122"/>
                <a:cs typeface="Courier New" pitchFamily="34" charset="-120"/>
              </a:rPr>
              <a:t>Matricula</a:t>
            </a:r>
            <a:r>
              <a:rPr lang="en-US" sz="950" dirty="0">
                <a:solidFill>
                  <a:srgbClr val="D4D4D4"/>
                </a:solidFill>
                <a:latin typeface="Courier New" pitchFamily="34" charset="0"/>
                <a:ea typeface="Courier New" pitchFamily="34" charset="-122"/>
                <a:cs typeface="Courier New" pitchFamily="34" charset="-120"/>
              </a:rPr>
              <a:t> {</a:t>
            </a:r>
            <a:endParaRPr lang="en-US" sz="950" dirty="0"/>
          </a:p>
        </p:txBody>
      </p:sp>
      <p:sp>
        <p:nvSpPr>
          <p:cNvPr id="30" name="Text 28"/>
          <p:cNvSpPr/>
          <p:nvPr/>
        </p:nvSpPr>
        <p:spPr>
          <a:xfrm>
            <a:off x="3584448" y="2606040"/>
            <a:ext cx="5138928" cy="201168"/>
          </a:xfrm>
          <a:prstGeom prst="rect">
            <a:avLst/>
          </a:prstGeom>
          <a:noFill/>
          <a:ln/>
        </p:spPr>
        <p:txBody>
          <a:bodyPr wrap="square" lIns="0" tIns="0" rIns="0" bIns="0" rtlCol="0" anchor="ctr"/>
          <a:lstStyle/>
          <a:p>
            <a:pPr marL="0" indent="0">
              <a:buNone/>
            </a:pPr>
            <a:r>
              <a:rPr lang="en-US" sz="950" dirty="0">
                <a:solidFill>
                  <a:srgbClr val="9CDCFE"/>
                </a:solidFill>
                <a:latin typeface="Courier New" pitchFamily="34" charset="0"/>
                <a:ea typeface="Courier New" pitchFamily="34" charset="-122"/>
                <a:cs typeface="Courier New" pitchFamily="34" charset="-120"/>
              </a:rPr>
              <a:t>  String estado; </a:t>
            </a:r>
            <a:r>
              <a:rPr lang="en-US" sz="950" dirty="0">
                <a:solidFill>
                  <a:srgbClr val="6A9955"/>
                </a:solidFill>
                <a:latin typeface="Courier New" pitchFamily="34" charset="0"/>
                <a:ea typeface="Courier New" pitchFamily="34" charset="-122"/>
                <a:cs typeface="Courier New" pitchFamily="34" charset="-120"/>
              </a:rPr>
              <a:t>// borrador|valida|registrada</a:t>
            </a:r>
            <a:endParaRPr lang="en-US" sz="950" dirty="0"/>
          </a:p>
        </p:txBody>
      </p:sp>
      <p:sp>
        <p:nvSpPr>
          <p:cNvPr id="31" name="Text 29"/>
          <p:cNvSpPr/>
          <p:nvPr/>
        </p:nvSpPr>
        <p:spPr>
          <a:xfrm>
            <a:off x="3584448" y="2788920"/>
            <a:ext cx="5138928" cy="201168"/>
          </a:xfrm>
          <a:prstGeom prst="rect">
            <a:avLst/>
          </a:prstGeom>
          <a:noFill/>
          <a:ln/>
        </p:spPr>
        <p:txBody>
          <a:bodyPr wrap="square" lIns="0" tIns="0" rIns="0" bIns="0" rtlCol="0" anchor="ctr"/>
          <a:lstStyle/>
          <a:p>
            <a:pPr marL="0" indent="0">
              <a:buNone/>
            </a:pPr>
            <a:r>
              <a:rPr lang="en-US" sz="950" dirty="0">
                <a:solidFill>
                  <a:srgbClr val="DCDCAA"/>
                </a:solidFill>
                <a:latin typeface="Courier New" pitchFamily="34" charset="0"/>
                <a:ea typeface="Courier New" pitchFamily="34" charset="-122"/>
                <a:cs typeface="Courier New" pitchFamily="34" charset="-120"/>
              </a:rPr>
              <a:t>  boolean validarPrerrequisitos</a:t>
            </a:r>
            <a:r>
              <a:rPr lang="en-US" sz="950" dirty="0">
                <a:solidFill>
                  <a:srgbClr val="D4D4D4"/>
                </a:solidFill>
                <a:latin typeface="Courier New" pitchFamily="34" charset="0"/>
                <a:ea typeface="Courier New" pitchFamily="34" charset="-122"/>
                <a:cs typeface="Courier New" pitchFamily="34" charset="-120"/>
              </a:rPr>
              <a:t>() {</a:t>
            </a:r>
            <a:endParaRPr lang="en-US" sz="950" dirty="0"/>
          </a:p>
        </p:txBody>
      </p:sp>
      <p:sp>
        <p:nvSpPr>
          <p:cNvPr id="32" name="Text 30"/>
          <p:cNvSpPr/>
          <p:nvPr/>
        </p:nvSpPr>
        <p:spPr>
          <a:xfrm>
            <a:off x="3584448" y="2971800"/>
            <a:ext cx="5138928" cy="201168"/>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    return </a:t>
            </a:r>
            <a:r>
              <a:rPr lang="en-US" sz="950" dirty="0">
                <a:solidFill>
                  <a:srgbClr val="569CD6"/>
                </a:solidFill>
                <a:latin typeface="Courier New" pitchFamily="34" charset="0"/>
                <a:ea typeface="Courier New" pitchFamily="34" charset="-122"/>
                <a:cs typeface="Courier New" pitchFamily="34" charset="-120"/>
              </a:rPr>
              <a:t>true</a:t>
            </a:r>
            <a:r>
              <a:rPr lang="en-US" sz="950" dirty="0">
                <a:solidFill>
                  <a:srgbClr val="6A9955"/>
                </a:solidFill>
                <a:latin typeface="Courier New" pitchFamily="34" charset="0"/>
                <a:ea typeface="Courier New" pitchFamily="34" charset="-122"/>
                <a:cs typeface="Courier New" pitchFamily="34" charset="-120"/>
              </a:rPr>
              <a:t>; // lógica en BD</a:t>
            </a:r>
            <a:endParaRPr lang="en-US" sz="950" dirty="0"/>
          </a:p>
        </p:txBody>
      </p:sp>
      <p:sp>
        <p:nvSpPr>
          <p:cNvPr id="33" name="Text 31"/>
          <p:cNvSpPr/>
          <p:nvPr/>
        </p:nvSpPr>
        <p:spPr>
          <a:xfrm>
            <a:off x="3584448" y="3154680"/>
            <a:ext cx="5138928" cy="201168"/>
          </a:xfrm>
          <a:prstGeom prst="rect">
            <a:avLst/>
          </a:prstGeom>
          <a:noFill/>
          <a:ln/>
        </p:spPr>
        <p:txBody>
          <a:bodyPr wrap="square" lIns="0" tIns="0" rIns="0" bIns="0" rtlCol="0" anchor="ctr"/>
          <a:lstStyle/>
          <a:p>
            <a:pPr marL="0" indent="0">
              <a:buNone/>
            </a:pPr>
            <a:r>
              <a:rPr lang="en-US" sz="950" dirty="0">
                <a:solidFill>
                  <a:srgbClr val="D4D4D4"/>
                </a:solidFill>
                <a:latin typeface="Courier New" pitchFamily="34" charset="0"/>
                <a:ea typeface="Courier New" pitchFamily="34" charset="-122"/>
                <a:cs typeface="Courier New" pitchFamily="34" charset="-120"/>
              </a:rPr>
              <a:t>  }</a:t>
            </a:r>
            <a:endParaRPr lang="en-US" sz="950" dirty="0"/>
          </a:p>
        </p:txBody>
      </p:sp>
      <p:sp>
        <p:nvSpPr>
          <p:cNvPr id="34" name="Text 32"/>
          <p:cNvSpPr/>
          <p:nvPr/>
        </p:nvSpPr>
        <p:spPr>
          <a:xfrm>
            <a:off x="3584448" y="3337560"/>
            <a:ext cx="5138928" cy="201168"/>
          </a:xfrm>
          <a:prstGeom prst="rect">
            <a:avLst/>
          </a:prstGeom>
          <a:noFill/>
          <a:ln/>
        </p:spPr>
        <p:txBody>
          <a:bodyPr wrap="square" lIns="0" tIns="0" rIns="0" bIns="0" rtlCol="0" anchor="ctr"/>
          <a:lstStyle/>
          <a:p>
            <a:pPr marL="0" indent="0">
              <a:buNone/>
            </a:pPr>
            <a:r>
              <a:rPr lang="en-US" sz="950" dirty="0">
                <a:solidFill>
                  <a:srgbClr val="DCDCAA"/>
                </a:solidFill>
                <a:latin typeface="Courier New" pitchFamily="34" charset="0"/>
                <a:ea typeface="Courier New" pitchFamily="34" charset="-122"/>
                <a:cs typeface="Courier New" pitchFamily="34" charset="-120"/>
              </a:rPr>
              <a:t>  void registrarMatricula</a:t>
            </a:r>
            <a:r>
              <a:rPr lang="en-US" sz="950" dirty="0">
                <a:solidFill>
                  <a:srgbClr val="D4D4D4"/>
                </a:solidFill>
                <a:latin typeface="Courier New" pitchFamily="34" charset="0"/>
                <a:ea typeface="Courier New" pitchFamily="34" charset="-122"/>
                <a:cs typeface="Courier New" pitchFamily="34" charset="-120"/>
              </a:rPr>
              <a:t>() {</a:t>
            </a:r>
            <a:endParaRPr lang="en-US" sz="950" dirty="0"/>
          </a:p>
        </p:txBody>
      </p:sp>
      <p:sp>
        <p:nvSpPr>
          <p:cNvPr id="35" name="Text 33"/>
          <p:cNvSpPr/>
          <p:nvPr/>
        </p:nvSpPr>
        <p:spPr>
          <a:xfrm>
            <a:off x="3584448" y="3520440"/>
            <a:ext cx="5138928" cy="201168"/>
          </a:xfrm>
          <a:prstGeom prst="rect">
            <a:avLst/>
          </a:prstGeom>
          <a:noFill/>
          <a:ln/>
        </p:spPr>
        <p:txBody>
          <a:bodyPr wrap="square" lIns="0" tIns="0" rIns="0" bIns="0" rtlCol="0" anchor="ctr"/>
          <a:lstStyle/>
          <a:p>
            <a:pPr marL="0" indent="0">
              <a:buNone/>
            </a:pPr>
            <a:r>
              <a:rPr lang="en-US" sz="950" dirty="0">
                <a:solidFill>
                  <a:srgbClr val="D4D4D4"/>
                </a:solidFill>
                <a:latin typeface="Courier New" pitchFamily="34" charset="0"/>
                <a:ea typeface="Courier New" pitchFamily="34" charset="-122"/>
                <a:cs typeface="Courier New" pitchFamily="34" charset="-120"/>
              </a:rPr>
              <a:t>    this.estado = </a:t>
            </a:r>
            <a:r>
              <a:rPr lang="en-US" sz="950" dirty="0">
                <a:solidFill>
                  <a:srgbClr val="CE9178"/>
                </a:solidFill>
                <a:latin typeface="Courier New" pitchFamily="34" charset="0"/>
                <a:ea typeface="Courier New" pitchFamily="34" charset="-122"/>
                <a:cs typeface="Courier New" pitchFamily="34" charset="-120"/>
              </a:rPr>
              <a:t>"registrada"</a:t>
            </a:r>
            <a:r>
              <a:rPr lang="en-US" sz="950" dirty="0">
                <a:solidFill>
                  <a:srgbClr val="D4D4D4"/>
                </a:solidFill>
                <a:latin typeface="Courier New" pitchFamily="34" charset="0"/>
                <a:ea typeface="Courier New" pitchFamily="34" charset="-122"/>
                <a:cs typeface="Courier New" pitchFamily="34" charset="-120"/>
              </a:rPr>
              <a:t>;</a:t>
            </a:r>
            <a:endParaRPr lang="en-US" sz="950" dirty="0"/>
          </a:p>
        </p:txBody>
      </p:sp>
      <p:sp>
        <p:nvSpPr>
          <p:cNvPr id="36" name="Text 34"/>
          <p:cNvSpPr/>
          <p:nvPr/>
        </p:nvSpPr>
        <p:spPr>
          <a:xfrm>
            <a:off x="3584448" y="3703320"/>
            <a:ext cx="5138928" cy="201168"/>
          </a:xfrm>
          <a:prstGeom prst="rect">
            <a:avLst/>
          </a:prstGeom>
          <a:noFill/>
          <a:ln/>
        </p:spPr>
        <p:txBody>
          <a:bodyPr wrap="square" lIns="0" tIns="0" rIns="0" bIns="0" rtlCol="0" anchor="ctr"/>
          <a:lstStyle/>
          <a:p>
            <a:pPr marL="0" indent="0">
              <a:buNone/>
            </a:pPr>
            <a:r>
              <a:rPr lang="en-US" sz="950" dirty="0">
                <a:solidFill>
                  <a:srgbClr val="D4D4D4"/>
                </a:solidFill>
                <a:latin typeface="Courier New" pitchFamily="34" charset="0"/>
                <a:ea typeface="Courier New" pitchFamily="34" charset="-122"/>
                <a:cs typeface="Courier New" pitchFamily="34" charset="-120"/>
              </a:rPr>
              <a:t>  }  }</a:t>
            </a:r>
            <a:endParaRPr lang="en-US" sz="950" dirty="0"/>
          </a:p>
        </p:txBody>
      </p:sp>
      <p:sp>
        <p:nvSpPr>
          <p:cNvPr id="37" name="Text 35"/>
          <p:cNvSpPr/>
          <p:nvPr/>
        </p:nvSpPr>
        <p:spPr>
          <a:xfrm>
            <a:off x="3584448" y="3886200"/>
            <a:ext cx="5138928" cy="201168"/>
          </a:xfrm>
          <a:prstGeom prst="rect">
            <a:avLst/>
          </a:prstGeom>
          <a:noFill/>
          <a:ln/>
        </p:spPr>
        <p:txBody>
          <a:bodyPr wrap="square" lIns="0" tIns="0" rIns="0" bIns="0" rtlCol="0" anchor="ctr"/>
          <a:lstStyle/>
          <a:p>
            <a:pPr marL="0" indent="0">
              <a:buNone/>
            </a:pPr>
            <a:endParaRPr lang="en-US" sz="950" dirty="0"/>
          </a:p>
        </p:txBody>
      </p:sp>
      <p:sp>
        <p:nvSpPr>
          <p:cNvPr id="38" name="Text 36"/>
          <p:cNvSpPr/>
          <p:nvPr/>
        </p:nvSpPr>
        <p:spPr>
          <a:xfrm>
            <a:off x="3584448" y="4069080"/>
            <a:ext cx="5138928" cy="201168"/>
          </a:xfrm>
          <a:prstGeom prst="rect">
            <a:avLst/>
          </a:prstGeom>
          <a:noFill/>
          <a:ln/>
        </p:spPr>
        <p:txBody>
          <a:bodyPr wrap="square" lIns="0" tIns="0" rIns="0" bIns="0" rtlCol="0" anchor="ctr"/>
          <a:lstStyle/>
          <a:p>
            <a:pPr marL="0" indent="0">
              <a:buNone/>
            </a:pPr>
            <a:r>
              <a:rPr lang="en-US" sz="950" dirty="0">
                <a:solidFill>
                  <a:srgbClr val="569CD6"/>
                </a:solidFill>
                <a:latin typeface="Courier New" pitchFamily="34" charset="0"/>
                <a:ea typeface="Courier New" pitchFamily="34" charset="-122"/>
                <a:cs typeface="Courier New" pitchFamily="34" charset="-120"/>
              </a:rPr>
              <a:t>class </a:t>
            </a:r>
            <a:r>
              <a:rPr lang="en-US" sz="950" dirty="0">
                <a:solidFill>
                  <a:srgbClr val="4EC9B0"/>
                </a:solidFill>
                <a:latin typeface="Courier New" pitchFamily="34" charset="0"/>
                <a:ea typeface="Courier New" pitchFamily="34" charset="-122"/>
                <a:cs typeface="Courier New" pitchFamily="34" charset="-120"/>
              </a:rPr>
              <a:t>Pago</a:t>
            </a:r>
            <a:r>
              <a:rPr lang="en-US" sz="950" dirty="0">
                <a:solidFill>
                  <a:srgbClr val="D4D4D4"/>
                </a:solidFill>
                <a:latin typeface="Courier New" pitchFamily="34" charset="0"/>
                <a:ea typeface="Courier New" pitchFamily="34" charset="-122"/>
                <a:cs typeface="Courier New" pitchFamily="34" charset="-120"/>
              </a:rPr>
              <a:t> {</a:t>
            </a:r>
            <a:endParaRPr lang="en-US" sz="950" dirty="0"/>
          </a:p>
        </p:txBody>
      </p:sp>
      <p:sp>
        <p:nvSpPr>
          <p:cNvPr id="39" name="Text 37"/>
          <p:cNvSpPr/>
          <p:nvPr/>
        </p:nvSpPr>
        <p:spPr>
          <a:xfrm>
            <a:off x="3584448" y="4251960"/>
            <a:ext cx="5138928" cy="201168"/>
          </a:xfrm>
          <a:prstGeom prst="rect">
            <a:avLst/>
          </a:prstGeom>
          <a:noFill/>
          <a:ln/>
        </p:spPr>
        <p:txBody>
          <a:bodyPr wrap="square" lIns="0" tIns="0" rIns="0" bIns="0" rtlCol="0" anchor="ctr"/>
          <a:lstStyle/>
          <a:p>
            <a:pPr marL="0" indent="0">
              <a:buNone/>
            </a:pPr>
            <a:r>
              <a:rPr lang="en-US" sz="950" dirty="0">
                <a:solidFill>
                  <a:srgbClr val="9CDCFE"/>
                </a:solidFill>
                <a:latin typeface="Courier New" pitchFamily="34" charset="0"/>
                <a:ea typeface="Courier New" pitchFamily="34" charset="-122"/>
                <a:cs typeface="Courier New" pitchFamily="34" charset="-120"/>
              </a:rPr>
              <a:t>  String estadoPago;</a:t>
            </a:r>
            <a:endParaRPr lang="en-US" sz="950" dirty="0"/>
          </a:p>
        </p:txBody>
      </p:sp>
      <p:sp>
        <p:nvSpPr>
          <p:cNvPr id="40" name="Text 38"/>
          <p:cNvSpPr/>
          <p:nvPr/>
        </p:nvSpPr>
        <p:spPr>
          <a:xfrm>
            <a:off x="3584448" y="4434840"/>
            <a:ext cx="5138928" cy="201168"/>
          </a:xfrm>
          <a:prstGeom prst="rect">
            <a:avLst/>
          </a:prstGeom>
          <a:noFill/>
          <a:ln/>
        </p:spPr>
        <p:txBody>
          <a:bodyPr wrap="square" lIns="0" tIns="0" rIns="0" bIns="0" rtlCol="0" anchor="ctr"/>
          <a:lstStyle/>
          <a:p>
            <a:pPr marL="0" indent="0">
              <a:buNone/>
            </a:pPr>
            <a:r>
              <a:rPr lang="en-US" sz="950" dirty="0">
                <a:solidFill>
                  <a:srgbClr val="DCDCAA"/>
                </a:solidFill>
                <a:latin typeface="Courier New" pitchFamily="34" charset="0"/>
                <a:ea typeface="Courier New" pitchFamily="34" charset="-122"/>
                <a:cs typeface="Courier New" pitchFamily="34" charset="-120"/>
              </a:rPr>
              <a:t>  boolean validarPago</a:t>
            </a:r>
            <a:r>
              <a:rPr lang="en-US" sz="950" dirty="0">
                <a:solidFill>
                  <a:srgbClr val="D4D4D4"/>
                </a:solidFill>
                <a:latin typeface="Courier New" pitchFamily="34" charset="0"/>
                <a:ea typeface="Courier New" pitchFamily="34" charset="-122"/>
                <a:cs typeface="Courier New" pitchFamily="34" charset="-120"/>
              </a:rPr>
              <a:t>() {</a:t>
            </a:r>
            <a:endParaRPr lang="en-US" sz="950" dirty="0"/>
          </a:p>
        </p:txBody>
      </p:sp>
      <p:sp>
        <p:nvSpPr>
          <p:cNvPr id="41" name="Text 39"/>
          <p:cNvSpPr/>
          <p:nvPr/>
        </p:nvSpPr>
        <p:spPr>
          <a:xfrm>
            <a:off x="3584448" y="4617720"/>
            <a:ext cx="5138928" cy="201168"/>
          </a:xfrm>
          <a:prstGeom prst="rect">
            <a:avLst/>
          </a:prstGeom>
          <a:noFill/>
          <a:ln/>
        </p:spPr>
        <p:txBody>
          <a:bodyPr wrap="square" lIns="0" tIns="0" rIns="0" bIns="0" rtlCol="0" anchor="ctr"/>
          <a:lstStyle/>
          <a:p>
            <a:pPr marL="0" indent="0">
              <a:buNone/>
            </a:pPr>
            <a:r>
              <a:rPr lang="en-US" sz="950" dirty="0">
                <a:solidFill>
                  <a:srgbClr val="D4D4D4"/>
                </a:solidFill>
                <a:latin typeface="Courier New" pitchFamily="34" charset="0"/>
                <a:ea typeface="Courier New" pitchFamily="34" charset="-122"/>
                <a:cs typeface="Courier New" pitchFamily="34" charset="-120"/>
              </a:rPr>
              <a:t>    return estadoPago.equals(</a:t>
            </a:r>
            <a:r>
              <a:rPr lang="en-US" sz="950" dirty="0">
                <a:solidFill>
                  <a:srgbClr val="CE9178"/>
                </a:solidFill>
                <a:latin typeface="Courier New" pitchFamily="34" charset="0"/>
                <a:ea typeface="Courier New" pitchFamily="34" charset="-122"/>
                <a:cs typeface="Courier New" pitchFamily="34" charset="-120"/>
              </a:rPr>
              <a:t>"aprobado"</a:t>
            </a:r>
            <a:r>
              <a:rPr lang="en-US" sz="950" dirty="0">
                <a:solidFill>
                  <a:srgbClr val="D4D4D4"/>
                </a:solidFill>
                <a:latin typeface="Courier New" pitchFamily="34" charset="0"/>
                <a:ea typeface="Courier New" pitchFamily="34" charset="-122"/>
                <a:cs typeface="Courier New" pitchFamily="34" charset="-120"/>
              </a:rPr>
              <a:t>);</a:t>
            </a:r>
            <a:endParaRPr lang="en-US" sz="950" dirty="0"/>
          </a:p>
        </p:txBody>
      </p:sp>
      <p:sp>
        <p:nvSpPr>
          <p:cNvPr id="42" name="Text 40"/>
          <p:cNvSpPr/>
          <p:nvPr/>
        </p:nvSpPr>
        <p:spPr>
          <a:xfrm>
            <a:off x="3584448" y="4800600"/>
            <a:ext cx="5138928" cy="201168"/>
          </a:xfrm>
          <a:prstGeom prst="rect">
            <a:avLst/>
          </a:prstGeom>
          <a:noFill/>
          <a:ln/>
        </p:spPr>
        <p:txBody>
          <a:bodyPr wrap="square" lIns="0" tIns="0" rIns="0" bIns="0" rtlCol="0" anchor="ctr"/>
          <a:lstStyle/>
          <a:p>
            <a:pPr marL="0" indent="0">
              <a:buNone/>
            </a:pPr>
            <a:r>
              <a:rPr lang="en-US" sz="950" dirty="0">
                <a:solidFill>
                  <a:srgbClr val="D4D4D4"/>
                </a:solidFill>
                <a:latin typeface="Courier New" pitchFamily="34" charset="0"/>
                <a:ea typeface="Courier New" pitchFamily="34" charset="-122"/>
                <a:cs typeface="Courier New" pitchFamily="34" charset="-120"/>
              </a:rPr>
              <a:t>  }  }</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0F4F2"/>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0C896"/>
          </a:solidFill>
          <a:ln w="12700">
            <a:solidFill>
              <a:srgbClr val="00C896"/>
            </a:solidFill>
            <a:prstDash val="solid"/>
          </a:ln>
        </p:spPr>
        <p:txBody>
          <a:bodyPr/>
          <a:lstStyle/>
          <a:p>
            <a:endParaRPr lang="es-PE"/>
          </a:p>
        </p:txBody>
      </p:sp>
      <p:sp>
        <p:nvSpPr>
          <p:cNvPr id="3" name="Shape 1"/>
          <p:cNvSpPr/>
          <p:nvPr/>
        </p:nvSpPr>
        <p:spPr>
          <a:xfrm>
            <a:off x="0" y="0"/>
            <a:ext cx="9144000" cy="841248"/>
          </a:xfrm>
          <a:prstGeom prst="rect">
            <a:avLst/>
          </a:prstGeom>
          <a:solidFill>
            <a:srgbClr val="0F2A1E"/>
          </a:solidFill>
          <a:ln w="12700">
            <a:solidFill>
              <a:srgbClr val="0F2A1E"/>
            </a:solidFill>
            <a:prstDash val="solid"/>
          </a:ln>
        </p:spPr>
        <p:txBody>
          <a:bodyPr/>
          <a:lstStyle/>
          <a:p>
            <a:endParaRPr lang="es-PE"/>
          </a:p>
        </p:txBody>
      </p:sp>
      <p:sp>
        <p:nvSpPr>
          <p:cNvPr id="4" name="Text 2"/>
          <p:cNvSpPr/>
          <p:nvPr/>
        </p:nvSpPr>
        <p:spPr>
          <a:xfrm>
            <a:off x="411480" y="0"/>
            <a:ext cx="8412480" cy="841248"/>
          </a:xfrm>
          <a:prstGeom prst="rect">
            <a:avLst/>
          </a:prstGeom>
          <a:noFill/>
          <a:ln/>
        </p:spPr>
        <p:txBody>
          <a:bodyPr wrap="square" lIns="0" tIns="0" rIns="0" bIns="0" rtlCol="0" anchor="ctr"/>
          <a:lstStyle/>
          <a:p>
            <a:pPr marL="0" indent="0" algn="l">
              <a:buNone/>
            </a:pPr>
            <a:r>
              <a:rPr lang="en-US" sz="2100" b="1" dirty="0">
                <a:solidFill>
                  <a:srgbClr val="00C896"/>
                </a:solidFill>
                <a:latin typeface="Calibri" pitchFamily="34" charset="0"/>
                <a:ea typeface="Calibri" pitchFamily="34" charset="-122"/>
                <a:cs typeface="Calibri" pitchFamily="34" charset="-120"/>
              </a:rPr>
              <a:t>05 · PROTOTIPO FUNCIONAL — Portal Estudiantil</a:t>
            </a:r>
            <a:endParaRPr lang="en-US" sz="2100" dirty="0"/>
          </a:p>
        </p:txBody>
      </p:sp>
      <p:sp>
        <p:nvSpPr>
          <p:cNvPr id="5" name="Shape 3"/>
          <p:cNvSpPr/>
          <p:nvPr/>
        </p:nvSpPr>
        <p:spPr>
          <a:xfrm>
            <a:off x="384048" y="987552"/>
            <a:ext cx="5349240" cy="3858768"/>
          </a:xfrm>
          <a:prstGeom prst="rect">
            <a:avLst/>
          </a:prstGeom>
          <a:solidFill>
            <a:srgbClr val="0D2035"/>
          </a:solidFill>
          <a:ln w="25400">
            <a:solidFill>
              <a:srgbClr val="00C896"/>
            </a:solidFill>
            <a:prstDash val="solid"/>
          </a:ln>
        </p:spPr>
        <p:txBody>
          <a:bodyPr/>
          <a:lstStyle/>
          <a:p>
            <a:endParaRPr lang="es-PE"/>
          </a:p>
        </p:txBody>
      </p:sp>
      <p:sp>
        <p:nvSpPr>
          <p:cNvPr id="6" name="Shape 4"/>
          <p:cNvSpPr/>
          <p:nvPr/>
        </p:nvSpPr>
        <p:spPr>
          <a:xfrm>
            <a:off x="457200" y="1060704"/>
            <a:ext cx="5202936" cy="3712464"/>
          </a:xfrm>
          <a:prstGeom prst="rect">
            <a:avLst/>
          </a:prstGeom>
          <a:solidFill>
            <a:srgbClr val="0D2035"/>
          </a:solidFill>
          <a:ln w="12700">
            <a:solidFill>
              <a:srgbClr val="009E78"/>
            </a:solidFill>
            <a:prstDash val="solid"/>
          </a:ln>
        </p:spPr>
        <p:txBody>
          <a:bodyPr/>
          <a:lstStyle/>
          <a:p>
            <a:endParaRPr lang="es-PE"/>
          </a:p>
        </p:txBody>
      </p:sp>
      <p:sp>
        <p:nvSpPr>
          <p:cNvPr id="7" name="Text 5"/>
          <p:cNvSpPr/>
          <p:nvPr/>
        </p:nvSpPr>
        <p:spPr>
          <a:xfrm>
            <a:off x="384048" y="987552"/>
            <a:ext cx="5349240" cy="3858768"/>
          </a:xfrm>
          <a:prstGeom prst="rect">
            <a:avLst/>
          </a:prstGeom>
          <a:noFill/>
          <a:ln/>
        </p:spPr>
        <p:txBody>
          <a:bodyPr wrap="square" lIns="0" tIns="0" rIns="0" bIns="0" rtlCol="0" anchor="ctr"/>
          <a:lstStyle/>
          <a:p>
            <a:pPr marL="0" indent="0" algn="ctr">
              <a:buNone/>
            </a:pPr>
            <a:endParaRPr lang="en-US" sz="1200" dirty="0"/>
          </a:p>
        </p:txBody>
      </p:sp>
      <p:sp>
        <p:nvSpPr>
          <p:cNvPr id="8" name="Shape 6"/>
          <p:cNvSpPr/>
          <p:nvPr/>
        </p:nvSpPr>
        <p:spPr>
          <a:xfrm>
            <a:off x="384048" y="4553712"/>
            <a:ext cx="5349240" cy="292608"/>
          </a:xfrm>
          <a:prstGeom prst="rect">
            <a:avLst/>
          </a:prstGeom>
          <a:solidFill>
            <a:srgbClr val="009E78"/>
          </a:solidFill>
          <a:ln w="12700">
            <a:solidFill>
              <a:srgbClr val="009E78"/>
            </a:solidFill>
            <a:prstDash val="solid"/>
          </a:ln>
        </p:spPr>
        <p:txBody>
          <a:bodyPr/>
          <a:lstStyle/>
          <a:p>
            <a:endParaRPr lang="es-PE"/>
          </a:p>
        </p:txBody>
      </p:sp>
      <p:sp>
        <p:nvSpPr>
          <p:cNvPr id="9" name="Text 7"/>
          <p:cNvSpPr/>
          <p:nvPr/>
        </p:nvSpPr>
        <p:spPr>
          <a:xfrm>
            <a:off x="384048" y="4553712"/>
            <a:ext cx="53492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Captura del Prototipo — Portal Estudiantil</a:t>
            </a:r>
            <a:endParaRPr lang="en-US" sz="1000" dirty="0"/>
          </a:p>
        </p:txBody>
      </p:sp>
      <p:sp>
        <p:nvSpPr>
          <p:cNvPr id="10" name="Text 8"/>
          <p:cNvSpPr/>
          <p:nvPr/>
        </p:nvSpPr>
        <p:spPr>
          <a:xfrm>
            <a:off x="5897880" y="1005840"/>
            <a:ext cx="2926080" cy="320040"/>
          </a:xfrm>
          <a:prstGeom prst="rect">
            <a:avLst/>
          </a:prstGeom>
          <a:noFill/>
          <a:ln/>
        </p:spPr>
        <p:txBody>
          <a:bodyPr wrap="square" lIns="0" tIns="0" rIns="0" bIns="0" rtlCol="0" anchor="ctr"/>
          <a:lstStyle/>
          <a:p>
            <a:pPr marL="0" indent="0">
              <a:buNone/>
            </a:pPr>
            <a:r>
              <a:rPr lang="en-US" sz="1200" b="1" dirty="0">
                <a:solidFill>
                  <a:srgbClr val="0F2A1E"/>
                </a:solidFill>
                <a:latin typeface="Calibri" pitchFamily="34" charset="0"/>
                <a:ea typeface="Calibri" pitchFamily="34" charset="-122"/>
                <a:cs typeface="Calibri" pitchFamily="34" charset="-120"/>
              </a:rPr>
              <a:t>Elementos del prototipo:</a:t>
            </a:r>
            <a:endParaRPr lang="en-US" sz="1200" dirty="0"/>
          </a:p>
        </p:txBody>
      </p:sp>
      <p:sp>
        <p:nvSpPr>
          <p:cNvPr id="11" name="Shape 9"/>
          <p:cNvSpPr/>
          <p:nvPr/>
        </p:nvSpPr>
        <p:spPr>
          <a:xfrm>
            <a:off x="5897880" y="1417320"/>
            <a:ext cx="2926080" cy="640080"/>
          </a:xfrm>
          <a:prstGeom prst="rect">
            <a:avLst/>
          </a:prstGeom>
          <a:solidFill>
            <a:srgbClr val="FFFFFF"/>
          </a:solidFill>
          <a:ln w="12700">
            <a:solidFill>
              <a:srgbClr val="B8D8CC"/>
            </a:solidFill>
            <a:prstDash val="solid"/>
          </a:ln>
          <a:effectLst>
            <a:outerShdw blurRad="127000" dist="38100" dir="8100000" algn="bl" rotWithShape="0">
              <a:srgbClr val="000000">
                <a:alpha val="20000"/>
              </a:srgbClr>
            </a:outerShdw>
          </a:effectLst>
        </p:spPr>
        <p:txBody>
          <a:bodyPr/>
          <a:lstStyle/>
          <a:p>
            <a:endParaRPr lang="es-PE"/>
          </a:p>
        </p:txBody>
      </p:sp>
      <p:sp>
        <p:nvSpPr>
          <p:cNvPr id="12" name="Shape 10"/>
          <p:cNvSpPr/>
          <p:nvPr/>
        </p:nvSpPr>
        <p:spPr>
          <a:xfrm>
            <a:off x="5897880" y="1417320"/>
            <a:ext cx="54864" cy="640080"/>
          </a:xfrm>
          <a:prstGeom prst="rect">
            <a:avLst/>
          </a:prstGeom>
          <a:solidFill>
            <a:srgbClr val="00C896"/>
          </a:solidFill>
          <a:ln w="12700">
            <a:solidFill>
              <a:srgbClr val="00C896"/>
            </a:solidFill>
            <a:prstDash val="solid"/>
          </a:ln>
        </p:spPr>
        <p:txBody>
          <a:bodyPr/>
          <a:lstStyle/>
          <a:p>
            <a:endParaRPr lang="es-PE"/>
          </a:p>
        </p:txBody>
      </p:sp>
      <p:pic>
        <p:nvPicPr>
          <p:cNvPr id="13" name="Image 0" descr="preencoded.png"/>
          <p:cNvPicPr>
            <a:picLocks noChangeAspect="1"/>
          </p:cNvPicPr>
          <p:nvPr/>
        </p:nvPicPr>
        <p:blipFill>
          <a:blip r:embed="rId3"/>
          <a:stretch>
            <a:fillRect/>
          </a:stretch>
        </p:blipFill>
        <p:spPr>
          <a:xfrm>
            <a:off x="6007608" y="1600200"/>
            <a:ext cx="237744" cy="237744"/>
          </a:xfrm>
          <a:prstGeom prst="rect">
            <a:avLst/>
          </a:prstGeom>
        </p:spPr>
      </p:pic>
      <p:sp>
        <p:nvSpPr>
          <p:cNvPr id="14" name="Text 11"/>
          <p:cNvSpPr/>
          <p:nvPr/>
        </p:nvSpPr>
        <p:spPr>
          <a:xfrm>
            <a:off x="6327648" y="1472184"/>
            <a:ext cx="2423160" cy="256032"/>
          </a:xfrm>
          <a:prstGeom prst="rect">
            <a:avLst/>
          </a:prstGeom>
          <a:noFill/>
          <a:ln/>
        </p:spPr>
        <p:txBody>
          <a:bodyPr wrap="square" lIns="0" tIns="0" rIns="0" bIns="0" rtlCol="0" anchor="ctr"/>
          <a:lstStyle/>
          <a:p>
            <a:pPr marL="0" indent="0">
              <a:buNone/>
            </a:pPr>
            <a:r>
              <a:rPr lang="en-US" sz="1000" b="1" dirty="0">
                <a:solidFill>
                  <a:srgbClr val="0F1923"/>
                </a:solidFill>
                <a:latin typeface="Calibri" pitchFamily="34" charset="0"/>
                <a:ea typeface="Calibri" pitchFamily="34" charset="-122"/>
                <a:cs typeface="Calibri" pitchFamily="34" charset="-120"/>
              </a:rPr>
              <a:t>Dashboard del alumno</a:t>
            </a:r>
            <a:endParaRPr lang="en-US" sz="1000" dirty="0"/>
          </a:p>
        </p:txBody>
      </p:sp>
      <p:sp>
        <p:nvSpPr>
          <p:cNvPr id="15" name="Text 12"/>
          <p:cNvSpPr/>
          <p:nvPr/>
        </p:nvSpPr>
        <p:spPr>
          <a:xfrm>
            <a:off x="6327648" y="1746504"/>
            <a:ext cx="2423160" cy="256032"/>
          </a:xfrm>
          <a:prstGeom prst="rect">
            <a:avLst/>
          </a:prstGeom>
          <a:noFill/>
          <a:ln/>
        </p:spPr>
        <p:txBody>
          <a:bodyPr wrap="square" lIns="0" tIns="0" rIns="0" bIns="0" rtlCol="0" anchor="ctr"/>
          <a:lstStyle/>
          <a:p>
            <a:pPr marL="0" indent="0">
              <a:buNone/>
            </a:pPr>
            <a:r>
              <a:rPr lang="en-US" sz="900" dirty="0">
                <a:solidFill>
                  <a:srgbClr val="7A8D9A"/>
                </a:solidFill>
                <a:latin typeface="Calibri" pitchFamily="34" charset="0"/>
                <a:ea typeface="Calibri" pitchFamily="34" charset="-122"/>
                <a:cs typeface="Calibri" pitchFamily="34" charset="-120"/>
              </a:rPr>
              <a:t>Cursos inscritos, créditos aprobados, promedio actual y % asistencia visibles de inmediato.</a:t>
            </a:r>
            <a:endParaRPr lang="en-US" sz="900" dirty="0"/>
          </a:p>
        </p:txBody>
      </p:sp>
      <p:sp>
        <p:nvSpPr>
          <p:cNvPr id="16" name="Shape 13"/>
          <p:cNvSpPr/>
          <p:nvPr/>
        </p:nvSpPr>
        <p:spPr>
          <a:xfrm>
            <a:off x="5897880" y="2139696"/>
            <a:ext cx="2926080" cy="640080"/>
          </a:xfrm>
          <a:prstGeom prst="rect">
            <a:avLst/>
          </a:prstGeom>
          <a:solidFill>
            <a:srgbClr val="FFFFFF"/>
          </a:solidFill>
          <a:ln w="12700">
            <a:solidFill>
              <a:srgbClr val="B8D8CC"/>
            </a:solidFill>
            <a:prstDash val="solid"/>
          </a:ln>
          <a:effectLst>
            <a:outerShdw blurRad="127000" dist="38100" dir="8100000" algn="bl" rotWithShape="0">
              <a:srgbClr val="000000">
                <a:alpha val="20000"/>
              </a:srgbClr>
            </a:outerShdw>
          </a:effectLst>
        </p:spPr>
        <p:txBody>
          <a:bodyPr/>
          <a:lstStyle/>
          <a:p>
            <a:endParaRPr lang="es-PE"/>
          </a:p>
        </p:txBody>
      </p:sp>
      <p:sp>
        <p:nvSpPr>
          <p:cNvPr id="17" name="Shape 14"/>
          <p:cNvSpPr/>
          <p:nvPr/>
        </p:nvSpPr>
        <p:spPr>
          <a:xfrm>
            <a:off x="5897880" y="2139696"/>
            <a:ext cx="54864" cy="640080"/>
          </a:xfrm>
          <a:prstGeom prst="rect">
            <a:avLst/>
          </a:prstGeom>
          <a:solidFill>
            <a:srgbClr val="00C896"/>
          </a:solidFill>
          <a:ln w="12700">
            <a:solidFill>
              <a:srgbClr val="00C896"/>
            </a:solidFill>
            <a:prstDash val="solid"/>
          </a:ln>
        </p:spPr>
        <p:txBody>
          <a:bodyPr/>
          <a:lstStyle/>
          <a:p>
            <a:endParaRPr lang="es-PE"/>
          </a:p>
        </p:txBody>
      </p:sp>
      <p:pic>
        <p:nvPicPr>
          <p:cNvPr id="18" name="Image 1" descr="preencoded.png"/>
          <p:cNvPicPr>
            <a:picLocks noChangeAspect="1"/>
          </p:cNvPicPr>
          <p:nvPr/>
        </p:nvPicPr>
        <p:blipFill>
          <a:blip r:embed="rId3"/>
          <a:stretch>
            <a:fillRect/>
          </a:stretch>
        </p:blipFill>
        <p:spPr>
          <a:xfrm>
            <a:off x="6007608" y="2322576"/>
            <a:ext cx="237744" cy="237744"/>
          </a:xfrm>
          <a:prstGeom prst="rect">
            <a:avLst/>
          </a:prstGeom>
        </p:spPr>
      </p:pic>
      <p:sp>
        <p:nvSpPr>
          <p:cNvPr id="19" name="Text 15"/>
          <p:cNvSpPr/>
          <p:nvPr/>
        </p:nvSpPr>
        <p:spPr>
          <a:xfrm>
            <a:off x="6327648" y="2194560"/>
            <a:ext cx="2423160" cy="256032"/>
          </a:xfrm>
          <a:prstGeom prst="rect">
            <a:avLst/>
          </a:prstGeom>
          <a:noFill/>
          <a:ln/>
        </p:spPr>
        <p:txBody>
          <a:bodyPr wrap="square" lIns="0" tIns="0" rIns="0" bIns="0" rtlCol="0" anchor="ctr"/>
          <a:lstStyle/>
          <a:p>
            <a:pPr marL="0" indent="0">
              <a:buNone/>
            </a:pPr>
            <a:r>
              <a:rPr lang="en-US" sz="1000" b="1" dirty="0">
                <a:solidFill>
                  <a:srgbClr val="0F1923"/>
                </a:solidFill>
                <a:latin typeface="Calibri" pitchFamily="34" charset="0"/>
                <a:ea typeface="Calibri" pitchFamily="34" charset="-122"/>
                <a:cs typeface="Calibri" pitchFamily="34" charset="-120"/>
              </a:rPr>
              <a:t>Proceso de matrícula</a:t>
            </a:r>
            <a:endParaRPr lang="en-US" sz="1000" dirty="0"/>
          </a:p>
          <a:p>
            <a:pPr marL="0" indent="0">
              <a:buNone/>
            </a:pPr>
            <a:r>
              <a:rPr lang="en-US" sz="1000" b="1" dirty="0">
                <a:solidFill>
                  <a:srgbClr val="0F1923"/>
                </a:solidFill>
                <a:latin typeface="Calibri" pitchFamily="34" charset="0"/>
                <a:ea typeface="Calibri" pitchFamily="34" charset="-122"/>
                <a:cs typeface="Calibri" pitchFamily="34" charset="-120"/>
              </a:rPr>
              <a:t>3 pasos</a:t>
            </a:r>
            <a:endParaRPr lang="en-US" sz="1000" dirty="0"/>
          </a:p>
        </p:txBody>
      </p:sp>
      <p:sp>
        <p:nvSpPr>
          <p:cNvPr id="20" name="Text 16"/>
          <p:cNvSpPr/>
          <p:nvPr/>
        </p:nvSpPr>
        <p:spPr>
          <a:xfrm>
            <a:off x="6327648" y="2468880"/>
            <a:ext cx="2423160" cy="256032"/>
          </a:xfrm>
          <a:prstGeom prst="rect">
            <a:avLst/>
          </a:prstGeom>
          <a:noFill/>
          <a:ln/>
        </p:spPr>
        <p:txBody>
          <a:bodyPr wrap="square" lIns="0" tIns="0" rIns="0" bIns="0" rtlCol="0" anchor="ctr"/>
          <a:lstStyle/>
          <a:p>
            <a:pPr marL="0" indent="0">
              <a:buNone/>
            </a:pPr>
            <a:r>
              <a:rPr lang="en-US" sz="900" dirty="0">
                <a:solidFill>
                  <a:srgbClr val="7A8D9A"/>
                </a:solidFill>
                <a:latin typeface="Calibri" pitchFamily="34" charset="0"/>
                <a:ea typeface="Calibri" pitchFamily="34" charset="-122"/>
                <a:cs typeface="Calibri" pitchFamily="34" charset="-120"/>
              </a:rPr>
              <a:t>Seleccionar curso → Verificar requisitos → Confirmar. Todo desde una sola pantalla.</a:t>
            </a:r>
            <a:endParaRPr lang="en-US" sz="900" dirty="0"/>
          </a:p>
        </p:txBody>
      </p:sp>
      <p:sp>
        <p:nvSpPr>
          <p:cNvPr id="21" name="Shape 17"/>
          <p:cNvSpPr/>
          <p:nvPr/>
        </p:nvSpPr>
        <p:spPr>
          <a:xfrm>
            <a:off x="5897880" y="2862072"/>
            <a:ext cx="2926080" cy="640080"/>
          </a:xfrm>
          <a:prstGeom prst="rect">
            <a:avLst/>
          </a:prstGeom>
          <a:solidFill>
            <a:srgbClr val="FFFFFF"/>
          </a:solidFill>
          <a:ln w="12700">
            <a:solidFill>
              <a:srgbClr val="B8D8CC"/>
            </a:solidFill>
            <a:prstDash val="solid"/>
          </a:ln>
          <a:effectLst>
            <a:outerShdw blurRad="127000" dist="38100" dir="8100000" algn="bl" rotWithShape="0">
              <a:srgbClr val="000000">
                <a:alpha val="20000"/>
              </a:srgbClr>
            </a:outerShdw>
          </a:effectLst>
        </p:spPr>
        <p:txBody>
          <a:bodyPr/>
          <a:lstStyle/>
          <a:p>
            <a:endParaRPr lang="es-PE"/>
          </a:p>
        </p:txBody>
      </p:sp>
      <p:sp>
        <p:nvSpPr>
          <p:cNvPr id="22" name="Shape 18"/>
          <p:cNvSpPr/>
          <p:nvPr/>
        </p:nvSpPr>
        <p:spPr>
          <a:xfrm>
            <a:off x="5897880" y="2862072"/>
            <a:ext cx="54864" cy="640080"/>
          </a:xfrm>
          <a:prstGeom prst="rect">
            <a:avLst/>
          </a:prstGeom>
          <a:solidFill>
            <a:srgbClr val="00C896"/>
          </a:solidFill>
          <a:ln w="12700">
            <a:solidFill>
              <a:srgbClr val="00C896"/>
            </a:solidFill>
            <a:prstDash val="solid"/>
          </a:ln>
        </p:spPr>
        <p:txBody>
          <a:bodyPr/>
          <a:lstStyle/>
          <a:p>
            <a:endParaRPr lang="es-PE"/>
          </a:p>
        </p:txBody>
      </p:sp>
      <p:pic>
        <p:nvPicPr>
          <p:cNvPr id="23" name="Image 2" descr="preencoded.png"/>
          <p:cNvPicPr>
            <a:picLocks noChangeAspect="1"/>
          </p:cNvPicPr>
          <p:nvPr/>
        </p:nvPicPr>
        <p:blipFill>
          <a:blip r:embed="rId3"/>
          <a:stretch>
            <a:fillRect/>
          </a:stretch>
        </p:blipFill>
        <p:spPr>
          <a:xfrm>
            <a:off x="6007608" y="3044952"/>
            <a:ext cx="237744" cy="237744"/>
          </a:xfrm>
          <a:prstGeom prst="rect">
            <a:avLst/>
          </a:prstGeom>
        </p:spPr>
      </p:pic>
      <p:sp>
        <p:nvSpPr>
          <p:cNvPr id="24" name="Text 19"/>
          <p:cNvSpPr/>
          <p:nvPr/>
        </p:nvSpPr>
        <p:spPr>
          <a:xfrm>
            <a:off x="6327648" y="2916936"/>
            <a:ext cx="2423160" cy="256032"/>
          </a:xfrm>
          <a:prstGeom prst="rect">
            <a:avLst/>
          </a:prstGeom>
          <a:noFill/>
          <a:ln/>
        </p:spPr>
        <p:txBody>
          <a:bodyPr wrap="square" lIns="0" tIns="0" rIns="0" bIns="0" rtlCol="0" anchor="ctr"/>
          <a:lstStyle/>
          <a:p>
            <a:pPr marL="0" indent="0">
              <a:buNone/>
            </a:pPr>
            <a:r>
              <a:rPr lang="en-US" sz="1000" b="1" dirty="0">
                <a:solidFill>
                  <a:srgbClr val="0F1923"/>
                </a:solidFill>
                <a:latin typeface="Calibri" pitchFamily="34" charset="0"/>
                <a:ea typeface="Calibri" pitchFamily="34" charset="-122"/>
                <a:cs typeface="Calibri" pitchFamily="34" charset="-120"/>
              </a:rPr>
              <a:t>Validaciones visuales</a:t>
            </a:r>
            <a:endParaRPr lang="en-US" sz="1000" dirty="0"/>
          </a:p>
        </p:txBody>
      </p:sp>
      <p:sp>
        <p:nvSpPr>
          <p:cNvPr id="25" name="Text 20"/>
          <p:cNvSpPr/>
          <p:nvPr/>
        </p:nvSpPr>
        <p:spPr>
          <a:xfrm>
            <a:off x="6327648" y="3191256"/>
            <a:ext cx="2423160" cy="256032"/>
          </a:xfrm>
          <a:prstGeom prst="rect">
            <a:avLst/>
          </a:prstGeom>
          <a:noFill/>
          <a:ln/>
        </p:spPr>
        <p:txBody>
          <a:bodyPr wrap="square" lIns="0" tIns="0" rIns="0" bIns="0" rtlCol="0" anchor="ctr"/>
          <a:lstStyle/>
          <a:p>
            <a:pPr marL="0" indent="0">
              <a:buNone/>
            </a:pPr>
            <a:r>
              <a:rPr lang="en-US" sz="900" dirty="0">
                <a:solidFill>
                  <a:srgbClr val="7A8D9A"/>
                </a:solidFill>
                <a:latin typeface="Calibri" pitchFamily="34" charset="0"/>
                <a:ea typeface="Calibri" pitchFamily="34" charset="-122"/>
                <a:cs typeface="Calibri" pitchFamily="34" charset="-120"/>
              </a:rPr>
              <a:t>✓ verde = cumplido. ⚠ amarillo = pendiente (ej: pago). Claras y en tiempo real.</a:t>
            </a:r>
            <a:endParaRPr lang="en-US" sz="900" dirty="0"/>
          </a:p>
        </p:txBody>
      </p:sp>
      <p:sp>
        <p:nvSpPr>
          <p:cNvPr id="26" name="Shape 21"/>
          <p:cNvSpPr/>
          <p:nvPr/>
        </p:nvSpPr>
        <p:spPr>
          <a:xfrm>
            <a:off x="5897880" y="3584448"/>
            <a:ext cx="2926080" cy="640080"/>
          </a:xfrm>
          <a:prstGeom prst="rect">
            <a:avLst/>
          </a:prstGeom>
          <a:solidFill>
            <a:srgbClr val="FFFFFF"/>
          </a:solidFill>
          <a:ln w="12700">
            <a:solidFill>
              <a:srgbClr val="B8D8CC"/>
            </a:solidFill>
            <a:prstDash val="solid"/>
          </a:ln>
          <a:effectLst>
            <a:outerShdw blurRad="127000" dist="38100" dir="8100000" algn="bl" rotWithShape="0">
              <a:srgbClr val="000000">
                <a:alpha val="20000"/>
              </a:srgbClr>
            </a:outerShdw>
          </a:effectLst>
        </p:spPr>
        <p:txBody>
          <a:bodyPr/>
          <a:lstStyle/>
          <a:p>
            <a:endParaRPr lang="es-PE"/>
          </a:p>
        </p:txBody>
      </p:sp>
      <p:sp>
        <p:nvSpPr>
          <p:cNvPr id="27" name="Shape 22"/>
          <p:cNvSpPr/>
          <p:nvPr/>
        </p:nvSpPr>
        <p:spPr>
          <a:xfrm>
            <a:off x="5897880" y="3584448"/>
            <a:ext cx="54864" cy="640080"/>
          </a:xfrm>
          <a:prstGeom prst="rect">
            <a:avLst/>
          </a:prstGeom>
          <a:solidFill>
            <a:srgbClr val="00C896"/>
          </a:solidFill>
          <a:ln w="12700">
            <a:solidFill>
              <a:srgbClr val="00C896"/>
            </a:solidFill>
            <a:prstDash val="solid"/>
          </a:ln>
        </p:spPr>
        <p:txBody>
          <a:bodyPr/>
          <a:lstStyle/>
          <a:p>
            <a:endParaRPr lang="es-PE"/>
          </a:p>
        </p:txBody>
      </p:sp>
      <p:pic>
        <p:nvPicPr>
          <p:cNvPr id="28" name="Image 3" descr="preencoded.png"/>
          <p:cNvPicPr>
            <a:picLocks noChangeAspect="1"/>
          </p:cNvPicPr>
          <p:nvPr/>
        </p:nvPicPr>
        <p:blipFill>
          <a:blip r:embed="rId3"/>
          <a:stretch>
            <a:fillRect/>
          </a:stretch>
        </p:blipFill>
        <p:spPr>
          <a:xfrm>
            <a:off x="6007608" y="3767328"/>
            <a:ext cx="237744" cy="237744"/>
          </a:xfrm>
          <a:prstGeom prst="rect">
            <a:avLst/>
          </a:prstGeom>
        </p:spPr>
      </p:pic>
      <p:sp>
        <p:nvSpPr>
          <p:cNvPr id="29" name="Text 23"/>
          <p:cNvSpPr/>
          <p:nvPr/>
        </p:nvSpPr>
        <p:spPr>
          <a:xfrm>
            <a:off x="6327648" y="3639312"/>
            <a:ext cx="2423160" cy="256032"/>
          </a:xfrm>
          <a:prstGeom prst="rect">
            <a:avLst/>
          </a:prstGeom>
          <a:noFill/>
          <a:ln/>
        </p:spPr>
        <p:txBody>
          <a:bodyPr wrap="square" lIns="0" tIns="0" rIns="0" bIns="0" rtlCol="0" anchor="ctr"/>
          <a:lstStyle/>
          <a:p>
            <a:pPr marL="0" indent="0">
              <a:buNone/>
            </a:pPr>
            <a:r>
              <a:rPr lang="en-US" sz="1000" b="1" dirty="0">
                <a:solidFill>
                  <a:srgbClr val="0F1923"/>
                </a:solidFill>
                <a:latin typeface="Calibri" pitchFamily="34" charset="0"/>
                <a:ea typeface="Calibri" pitchFamily="34" charset="-122"/>
                <a:cs typeface="Calibri" pitchFamily="34" charset="-120"/>
              </a:rPr>
              <a:t>Calendario integrado</a:t>
            </a:r>
            <a:endParaRPr lang="en-US" sz="1000" dirty="0"/>
          </a:p>
        </p:txBody>
      </p:sp>
      <p:sp>
        <p:nvSpPr>
          <p:cNvPr id="30" name="Text 24"/>
          <p:cNvSpPr/>
          <p:nvPr/>
        </p:nvSpPr>
        <p:spPr>
          <a:xfrm>
            <a:off x="6327648" y="3913632"/>
            <a:ext cx="2423160" cy="256032"/>
          </a:xfrm>
          <a:prstGeom prst="rect">
            <a:avLst/>
          </a:prstGeom>
          <a:noFill/>
          <a:ln/>
        </p:spPr>
        <p:txBody>
          <a:bodyPr wrap="square" lIns="0" tIns="0" rIns="0" bIns="0" rtlCol="0" anchor="ctr"/>
          <a:lstStyle/>
          <a:p>
            <a:pPr marL="0" indent="0">
              <a:buNone/>
            </a:pPr>
            <a:r>
              <a:rPr lang="en-US" sz="900" dirty="0">
                <a:solidFill>
                  <a:srgbClr val="7A8D9A"/>
                </a:solidFill>
                <a:latin typeface="Calibri" pitchFamily="34" charset="0"/>
                <a:ea typeface="Calibri" pitchFamily="34" charset="-122"/>
                <a:cs typeface="Calibri" pitchFamily="34" charset="-120"/>
              </a:rPr>
              <a:t>Muestra el horario del día actual con aula y docente de cada clase.</a:t>
            </a:r>
            <a:endParaRPr lang="en-US" sz="900" dirty="0"/>
          </a:p>
        </p:txBody>
      </p:sp>
      <p:sp>
        <p:nvSpPr>
          <p:cNvPr id="31" name="Shape 25"/>
          <p:cNvSpPr/>
          <p:nvPr/>
        </p:nvSpPr>
        <p:spPr>
          <a:xfrm>
            <a:off x="5897880" y="4306824"/>
            <a:ext cx="2926080" cy="640080"/>
          </a:xfrm>
          <a:prstGeom prst="rect">
            <a:avLst/>
          </a:prstGeom>
          <a:solidFill>
            <a:srgbClr val="FFFFFF"/>
          </a:solidFill>
          <a:ln w="12700">
            <a:solidFill>
              <a:srgbClr val="B8D8CC"/>
            </a:solidFill>
            <a:prstDash val="solid"/>
          </a:ln>
          <a:effectLst>
            <a:outerShdw blurRad="127000" dist="38100" dir="8100000" algn="bl" rotWithShape="0">
              <a:srgbClr val="000000">
                <a:alpha val="20000"/>
              </a:srgbClr>
            </a:outerShdw>
          </a:effectLst>
        </p:spPr>
        <p:txBody>
          <a:bodyPr/>
          <a:lstStyle/>
          <a:p>
            <a:endParaRPr lang="es-PE"/>
          </a:p>
        </p:txBody>
      </p:sp>
      <p:sp>
        <p:nvSpPr>
          <p:cNvPr id="32" name="Shape 26"/>
          <p:cNvSpPr/>
          <p:nvPr/>
        </p:nvSpPr>
        <p:spPr>
          <a:xfrm>
            <a:off x="5897880" y="4306824"/>
            <a:ext cx="54864" cy="640080"/>
          </a:xfrm>
          <a:prstGeom prst="rect">
            <a:avLst/>
          </a:prstGeom>
          <a:solidFill>
            <a:srgbClr val="00C896"/>
          </a:solidFill>
          <a:ln w="12700">
            <a:solidFill>
              <a:srgbClr val="00C896"/>
            </a:solidFill>
            <a:prstDash val="solid"/>
          </a:ln>
        </p:spPr>
        <p:txBody>
          <a:bodyPr/>
          <a:lstStyle/>
          <a:p>
            <a:endParaRPr lang="es-PE"/>
          </a:p>
        </p:txBody>
      </p:sp>
      <p:pic>
        <p:nvPicPr>
          <p:cNvPr id="33" name="Image 4" descr="preencoded.png"/>
          <p:cNvPicPr>
            <a:picLocks noChangeAspect="1"/>
          </p:cNvPicPr>
          <p:nvPr/>
        </p:nvPicPr>
        <p:blipFill>
          <a:blip r:embed="rId3"/>
          <a:stretch>
            <a:fillRect/>
          </a:stretch>
        </p:blipFill>
        <p:spPr>
          <a:xfrm>
            <a:off x="6007608" y="4489704"/>
            <a:ext cx="237744" cy="237744"/>
          </a:xfrm>
          <a:prstGeom prst="rect">
            <a:avLst/>
          </a:prstGeom>
        </p:spPr>
      </p:pic>
      <p:sp>
        <p:nvSpPr>
          <p:cNvPr id="34" name="Text 27"/>
          <p:cNvSpPr/>
          <p:nvPr/>
        </p:nvSpPr>
        <p:spPr>
          <a:xfrm>
            <a:off x="6327648" y="4361688"/>
            <a:ext cx="2423160" cy="256032"/>
          </a:xfrm>
          <a:prstGeom prst="rect">
            <a:avLst/>
          </a:prstGeom>
          <a:noFill/>
          <a:ln/>
        </p:spPr>
        <p:txBody>
          <a:bodyPr wrap="square" lIns="0" tIns="0" rIns="0" bIns="0" rtlCol="0" anchor="ctr"/>
          <a:lstStyle/>
          <a:p>
            <a:pPr marL="0" indent="0">
              <a:buNone/>
            </a:pPr>
            <a:r>
              <a:rPr lang="en-US" sz="1000" b="1" dirty="0">
                <a:solidFill>
                  <a:srgbClr val="0F1923"/>
                </a:solidFill>
                <a:latin typeface="Calibri" pitchFamily="34" charset="0"/>
                <a:ea typeface="Calibri" pitchFamily="34" charset="-122"/>
                <a:cs typeface="Calibri" pitchFamily="34" charset="-120"/>
              </a:rPr>
              <a:t>Lista de cursos</a:t>
            </a:r>
            <a:endParaRPr lang="en-US" sz="1000" dirty="0"/>
          </a:p>
        </p:txBody>
      </p:sp>
      <p:sp>
        <p:nvSpPr>
          <p:cNvPr id="35" name="Text 28"/>
          <p:cNvSpPr/>
          <p:nvPr/>
        </p:nvSpPr>
        <p:spPr>
          <a:xfrm>
            <a:off x="6327648" y="4636008"/>
            <a:ext cx="2423160" cy="256032"/>
          </a:xfrm>
          <a:prstGeom prst="rect">
            <a:avLst/>
          </a:prstGeom>
          <a:noFill/>
          <a:ln/>
        </p:spPr>
        <p:txBody>
          <a:bodyPr wrap="square" lIns="0" tIns="0" rIns="0" bIns="0" rtlCol="0" anchor="ctr"/>
          <a:lstStyle/>
          <a:p>
            <a:pPr marL="0" indent="0">
              <a:buNone/>
            </a:pPr>
            <a:r>
              <a:rPr lang="en-US" sz="900" dirty="0">
                <a:solidFill>
                  <a:srgbClr val="7A8D9A"/>
                </a:solidFill>
                <a:latin typeface="Calibri" pitchFamily="34" charset="0"/>
                <a:ea typeface="Calibri" pitchFamily="34" charset="-122"/>
                <a:cs typeface="Calibri" pitchFamily="34" charset="-120"/>
              </a:rPr>
              <a:t>Con docente, horario, créditos, cupo y botón de inscripción directo.</a:t>
            </a:r>
            <a:endParaRPr lang="en-US" sz="900" dirty="0"/>
          </a:p>
        </p:txBody>
      </p:sp>
      <p:pic>
        <p:nvPicPr>
          <p:cNvPr id="37" name="Imagen 36">
            <a:extLst>
              <a:ext uri="{FF2B5EF4-FFF2-40B4-BE49-F238E27FC236}">
                <a16:creationId xmlns:a16="http://schemas.microsoft.com/office/drawing/2014/main" id="{2A159C7C-A519-C402-CCF0-2FA1C1676ADD}"/>
              </a:ext>
            </a:extLst>
          </p:cNvPr>
          <p:cNvPicPr>
            <a:picLocks noChangeAspect="1"/>
          </p:cNvPicPr>
          <p:nvPr/>
        </p:nvPicPr>
        <p:blipFill>
          <a:blip r:embed="rId4"/>
          <a:stretch>
            <a:fillRect/>
          </a:stretch>
        </p:blipFill>
        <p:spPr>
          <a:xfrm>
            <a:off x="547169" y="1118125"/>
            <a:ext cx="5063327" cy="337555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0D7A6A"/>
          </a:solidFill>
          <a:ln w="12700">
            <a:solidFill>
              <a:srgbClr val="0D7A6A"/>
            </a:solidFill>
            <a:prstDash val="solid"/>
          </a:ln>
        </p:spPr>
        <p:txBody>
          <a:bodyPr/>
          <a:lstStyle/>
          <a:p>
            <a:endParaRPr lang="es-PE"/>
          </a:p>
        </p:txBody>
      </p:sp>
      <p:sp>
        <p:nvSpPr>
          <p:cNvPr id="3" name="Shape 1"/>
          <p:cNvSpPr/>
          <p:nvPr/>
        </p:nvSpPr>
        <p:spPr>
          <a:xfrm>
            <a:off x="0" y="0"/>
            <a:ext cx="3108960" cy="5143500"/>
          </a:xfrm>
          <a:prstGeom prst="rect">
            <a:avLst/>
          </a:prstGeom>
          <a:solidFill>
            <a:srgbClr val="00C896">
              <a:alpha val="65000"/>
            </a:srgbClr>
          </a:solidFill>
          <a:ln w="12700">
            <a:solidFill>
              <a:srgbClr val="00C896"/>
            </a:solidFill>
            <a:prstDash val="solid"/>
          </a:ln>
        </p:spPr>
        <p:txBody>
          <a:bodyPr/>
          <a:lstStyle/>
          <a:p>
            <a:endParaRPr lang="es-PE"/>
          </a:p>
        </p:txBody>
      </p:sp>
      <p:pic>
        <p:nvPicPr>
          <p:cNvPr id="4" name="Image 0" descr="preencoded.png"/>
          <p:cNvPicPr>
            <a:picLocks noChangeAspect="1"/>
          </p:cNvPicPr>
          <p:nvPr/>
        </p:nvPicPr>
        <p:blipFill>
          <a:blip r:embed="rId3"/>
          <a:stretch>
            <a:fillRect/>
          </a:stretch>
        </p:blipFill>
        <p:spPr>
          <a:xfrm>
            <a:off x="1097280" y="502920"/>
            <a:ext cx="914400" cy="914400"/>
          </a:xfrm>
          <a:prstGeom prst="rect">
            <a:avLst/>
          </a:prstGeom>
        </p:spPr>
      </p:pic>
      <p:sp>
        <p:nvSpPr>
          <p:cNvPr id="5" name="Text 2"/>
          <p:cNvSpPr/>
          <p:nvPr/>
        </p:nvSpPr>
        <p:spPr>
          <a:xfrm>
            <a:off x="91440" y="1508760"/>
            <a:ext cx="2926080" cy="621792"/>
          </a:xfrm>
          <a:prstGeom prst="rect">
            <a:avLst/>
          </a:prstGeom>
          <a:noFill/>
          <a:ln/>
        </p:spPr>
        <p:txBody>
          <a:bodyPr wrap="square" lIns="0" tIns="0" rIns="0" bIns="0" rtlCol="0" anchor="ctr"/>
          <a:lstStyle/>
          <a:p>
            <a:pPr marL="0" indent="0" algn="ctr">
              <a:buNone/>
            </a:pPr>
            <a:r>
              <a:rPr lang="en-US" sz="2600" b="1" dirty="0">
                <a:solidFill>
                  <a:srgbClr val="0F1923"/>
                </a:solidFill>
                <a:latin typeface="Calibri" pitchFamily="34" charset="0"/>
                <a:ea typeface="Calibri" pitchFamily="34" charset="-122"/>
                <a:cs typeface="Calibri" pitchFamily="34" charset="-120"/>
              </a:rPr>
              <a:t>CONCLUSIONES</a:t>
            </a:r>
            <a:endParaRPr lang="en-US" sz="2600" dirty="0"/>
          </a:p>
        </p:txBody>
      </p:sp>
      <p:sp>
        <p:nvSpPr>
          <p:cNvPr id="6" name="Shape 3"/>
          <p:cNvSpPr/>
          <p:nvPr/>
        </p:nvSpPr>
        <p:spPr>
          <a:xfrm>
            <a:off x="457200" y="2212848"/>
            <a:ext cx="2194560" cy="54864"/>
          </a:xfrm>
          <a:prstGeom prst="rect">
            <a:avLst/>
          </a:prstGeom>
          <a:solidFill>
            <a:srgbClr val="0F1923">
              <a:alpha val="60000"/>
            </a:srgbClr>
          </a:solidFill>
          <a:ln w="12700">
            <a:solidFill>
              <a:srgbClr val="0F1923"/>
            </a:solidFill>
            <a:prstDash val="solid"/>
          </a:ln>
        </p:spPr>
        <p:txBody>
          <a:bodyPr/>
          <a:lstStyle/>
          <a:p>
            <a:endParaRPr lang="es-PE"/>
          </a:p>
        </p:txBody>
      </p:sp>
      <p:sp>
        <p:nvSpPr>
          <p:cNvPr id="7" name="Text 4"/>
          <p:cNvSpPr/>
          <p:nvPr/>
        </p:nvSpPr>
        <p:spPr>
          <a:xfrm>
            <a:off x="91440" y="2331720"/>
            <a:ext cx="2926080" cy="1417320"/>
          </a:xfrm>
          <a:prstGeom prst="rect">
            <a:avLst/>
          </a:prstGeom>
          <a:noFill/>
          <a:ln/>
        </p:spPr>
        <p:txBody>
          <a:bodyPr wrap="square" lIns="0" tIns="0" rIns="0" bIns="0" rtlCol="0" anchor="ctr"/>
          <a:lstStyle/>
          <a:p>
            <a:pPr marL="0" indent="0" algn="ctr">
              <a:lnSpc>
                <a:spcPct val="140000"/>
              </a:lnSpc>
              <a:buNone/>
            </a:pPr>
            <a:r>
              <a:rPr lang="en-US" sz="1300" dirty="0">
                <a:solidFill>
                  <a:srgbClr val="0F1923"/>
                </a:solidFill>
                <a:latin typeface="Calibri" pitchFamily="34" charset="0"/>
                <a:ea typeface="Calibri" pitchFamily="34" charset="-122"/>
                <a:cs typeface="Calibri" pitchFamily="34" charset="-120"/>
              </a:rPr>
              <a:t>Sistema de Gestión</a:t>
            </a:r>
            <a:endParaRPr lang="en-US" sz="1300" dirty="0"/>
          </a:p>
          <a:p>
            <a:pPr marL="0" indent="0" algn="ctr">
              <a:lnSpc>
                <a:spcPct val="140000"/>
              </a:lnSpc>
              <a:buNone/>
            </a:pPr>
            <a:r>
              <a:rPr lang="en-US" sz="1300" dirty="0">
                <a:solidFill>
                  <a:srgbClr val="0F1923"/>
                </a:solidFill>
                <a:latin typeface="Calibri" pitchFamily="34" charset="0"/>
                <a:ea typeface="Calibri" pitchFamily="34" charset="-122"/>
                <a:cs typeface="Calibri" pitchFamily="34" charset="-120"/>
              </a:rPr>
              <a:t>Académica</a:t>
            </a:r>
            <a:endParaRPr lang="en-US" sz="1300" dirty="0"/>
          </a:p>
          <a:p>
            <a:pPr marL="0" indent="0" algn="ctr">
              <a:lnSpc>
                <a:spcPct val="140000"/>
              </a:lnSpc>
              <a:buNone/>
            </a:pPr>
            <a:r>
              <a:rPr lang="en-US" sz="1300">
                <a:solidFill>
                  <a:srgbClr val="0F1923"/>
                </a:solidFill>
                <a:latin typeface="Calibri" pitchFamily="34" charset="0"/>
                <a:ea typeface="Calibri" pitchFamily="34" charset="-122"/>
                <a:cs typeface="Calibri" pitchFamily="34" charset="-120"/>
              </a:rPr>
              <a:t>Universidad SENATI</a:t>
            </a:r>
            <a:endParaRPr lang="en-US" sz="1300" dirty="0"/>
          </a:p>
        </p:txBody>
      </p:sp>
      <p:sp>
        <p:nvSpPr>
          <p:cNvPr id="8" name="Shape 5"/>
          <p:cNvSpPr/>
          <p:nvPr/>
        </p:nvSpPr>
        <p:spPr>
          <a:xfrm>
            <a:off x="0" y="4754880"/>
            <a:ext cx="3108960" cy="384048"/>
          </a:xfrm>
          <a:prstGeom prst="rect">
            <a:avLst/>
          </a:prstGeom>
          <a:solidFill>
            <a:srgbClr val="0F1923">
              <a:alpha val="65000"/>
            </a:srgbClr>
          </a:solidFill>
          <a:ln w="12700">
            <a:solidFill>
              <a:srgbClr val="0F1923"/>
            </a:solidFill>
            <a:prstDash val="solid"/>
          </a:ln>
        </p:spPr>
        <p:txBody>
          <a:bodyPr/>
          <a:lstStyle/>
          <a:p>
            <a:endParaRPr lang="es-PE"/>
          </a:p>
        </p:txBody>
      </p:sp>
      <p:sp>
        <p:nvSpPr>
          <p:cNvPr id="9" name="Text 6"/>
          <p:cNvSpPr/>
          <p:nvPr/>
        </p:nvSpPr>
        <p:spPr>
          <a:xfrm>
            <a:off x="0" y="4754880"/>
            <a:ext cx="3108960" cy="384048"/>
          </a:xfrm>
          <a:prstGeom prst="rect">
            <a:avLst/>
          </a:prstGeom>
          <a:noFill/>
          <a:ln/>
        </p:spPr>
        <p:txBody>
          <a:bodyPr wrap="square" lIns="0" tIns="0" rIns="0" bIns="0" rtlCol="0" anchor="ctr"/>
          <a:lstStyle/>
          <a:p>
            <a:pPr marL="0" indent="0" algn="ctr">
              <a:buNone/>
            </a:pPr>
            <a:r>
              <a:rPr lang="en-US" sz="2000" b="1" dirty="0">
                <a:solidFill>
                  <a:srgbClr val="0F1923"/>
                </a:solidFill>
                <a:latin typeface="Calibri" pitchFamily="34" charset="0"/>
                <a:ea typeface="Calibri" pitchFamily="34" charset="-122"/>
                <a:cs typeface="Calibri" pitchFamily="34" charset="-120"/>
              </a:rPr>
              <a:t>¡Gracias!</a:t>
            </a:r>
            <a:endParaRPr lang="en-US" sz="2000" dirty="0"/>
          </a:p>
        </p:txBody>
      </p:sp>
      <p:sp>
        <p:nvSpPr>
          <p:cNvPr id="10" name="Shape 7"/>
          <p:cNvSpPr/>
          <p:nvPr/>
        </p:nvSpPr>
        <p:spPr>
          <a:xfrm>
            <a:off x="3291840" y="182880"/>
            <a:ext cx="5532120" cy="859536"/>
          </a:xfrm>
          <a:prstGeom prst="rect">
            <a:avLst/>
          </a:prstGeom>
          <a:solidFill>
            <a:srgbClr val="1A2B3C"/>
          </a:solidFill>
          <a:ln w="12700">
            <a:solidFill>
              <a:srgbClr val="1E3A2A"/>
            </a:solidFill>
            <a:prstDash val="solid"/>
          </a:ln>
        </p:spPr>
        <p:txBody>
          <a:bodyPr/>
          <a:lstStyle/>
          <a:p>
            <a:endParaRPr lang="es-PE"/>
          </a:p>
        </p:txBody>
      </p:sp>
      <p:sp>
        <p:nvSpPr>
          <p:cNvPr id="11" name="Text 8"/>
          <p:cNvSpPr/>
          <p:nvPr/>
        </p:nvSpPr>
        <p:spPr>
          <a:xfrm>
            <a:off x="3383280" y="182880"/>
            <a:ext cx="457200" cy="859536"/>
          </a:xfrm>
          <a:prstGeom prst="rect">
            <a:avLst/>
          </a:prstGeom>
          <a:noFill/>
          <a:ln/>
        </p:spPr>
        <p:txBody>
          <a:bodyPr wrap="square" lIns="0" tIns="0" rIns="0" bIns="0" rtlCol="0" anchor="ctr"/>
          <a:lstStyle/>
          <a:p>
            <a:pPr marL="0" indent="0" algn="ctr">
              <a:buNone/>
            </a:pPr>
            <a:r>
              <a:rPr lang="en-US" sz="2200" b="1" dirty="0">
                <a:solidFill>
                  <a:srgbClr val="00C896"/>
                </a:solidFill>
                <a:latin typeface="Calibri" pitchFamily="34" charset="0"/>
                <a:ea typeface="Calibri" pitchFamily="34" charset="-122"/>
                <a:cs typeface="Calibri" pitchFamily="34" charset="-120"/>
              </a:rPr>
              <a:t>✔</a:t>
            </a:r>
            <a:endParaRPr lang="en-US" sz="2200" dirty="0"/>
          </a:p>
        </p:txBody>
      </p:sp>
      <p:sp>
        <p:nvSpPr>
          <p:cNvPr id="12" name="Text 9"/>
          <p:cNvSpPr/>
          <p:nvPr/>
        </p:nvSpPr>
        <p:spPr>
          <a:xfrm>
            <a:off x="3886200" y="274320"/>
            <a:ext cx="4828032" cy="256032"/>
          </a:xfrm>
          <a:prstGeom prst="rect">
            <a:avLst/>
          </a:prstGeom>
          <a:noFill/>
          <a:ln/>
        </p:spPr>
        <p:txBody>
          <a:bodyPr wrap="square" lIns="0" tIns="0" rIns="0" bIns="0" rtlCol="0" anchor="ctr"/>
          <a:lstStyle/>
          <a:p>
            <a:pPr marL="0" indent="0" algn="l">
              <a:buNone/>
            </a:pPr>
            <a:r>
              <a:rPr lang="en-US" sz="1100" b="1" dirty="0">
                <a:solidFill>
                  <a:srgbClr val="00C896"/>
                </a:solidFill>
                <a:latin typeface="Calibri" pitchFamily="34" charset="0"/>
                <a:ea typeface="Calibri" pitchFamily="34" charset="-122"/>
                <a:cs typeface="Calibri" pitchFamily="34" charset="-120"/>
              </a:rPr>
              <a:t>Centralización total</a:t>
            </a:r>
            <a:endParaRPr lang="en-US" sz="1100" dirty="0"/>
          </a:p>
        </p:txBody>
      </p:sp>
      <p:sp>
        <p:nvSpPr>
          <p:cNvPr id="13" name="Text 10"/>
          <p:cNvSpPr/>
          <p:nvPr/>
        </p:nvSpPr>
        <p:spPr>
          <a:xfrm>
            <a:off x="3886200" y="566928"/>
            <a:ext cx="4828032" cy="402336"/>
          </a:xfrm>
          <a:prstGeom prst="rect">
            <a:avLst/>
          </a:prstGeom>
          <a:noFill/>
          <a:ln/>
        </p:spPr>
        <p:txBody>
          <a:bodyPr wrap="square" lIns="0" tIns="0" rIns="0" bIns="0" rtlCol="0" anchor="ctr"/>
          <a:lstStyle/>
          <a:p>
            <a:pPr marL="0" indent="0" algn="l">
              <a:buNone/>
            </a:pPr>
            <a:r>
              <a:rPr lang="en-US" sz="950" dirty="0">
                <a:solidFill>
                  <a:srgbClr val="D0E8E0"/>
                </a:solidFill>
                <a:latin typeface="Calibri" pitchFamily="34" charset="0"/>
                <a:ea typeface="Calibri" pitchFamily="34" charset="-122"/>
                <a:cs typeface="Calibri" pitchFamily="34" charset="-120"/>
              </a:rPr>
              <a:t>El sistema unifica matrícula, pagos y notas en una sola plataforma. Se eliminan los 3 sistemas desconectados actuales de SENATI.</a:t>
            </a:r>
            <a:endParaRPr lang="en-US" sz="950" dirty="0"/>
          </a:p>
        </p:txBody>
      </p:sp>
      <p:sp>
        <p:nvSpPr>
          <p:cNvPr id="14" name="Shape 11"/>
          <p:cNvSpPr/>
          <p:nvPr/>
        </p:nvSpPr>
        <p:spPr>
          <a:xfrm>
            <a:off x="3291840" y="1152144"/>
            <a:ext cx="5532120" cy="859536"/>
          </a:xfrm>
          <a:prstGeom prst="rect">
            <a:avLst/>
          </a:prstGeom>
          <a:solidFill>
            <a:srgbClr val="1A2B3C"/>
          </a:solidFill>
          <a:ln w="12700">
            <a:solidFill>
              <a:srgbClr val="1E3A2A"/>
            </a:solidFill>
            <a:prstDash val="solid"/>
          </a:ln>
        </p:spPr>
        <p:txBody>
          <a:bodyPr/>
          <a:lstStyle/>
          <a:p>
            <a:endParaRPr lang="es-PE"/>
          </a:p>
        </p:txBody>
      </p:sp>
      <p:sp>
        <p:nvSpPr>
          <p:cNvPr id="15" name="Text 12"/>
          <p:cNvSpPr/>
          <p:nvPr/>
        </p:nvSpPr>
        <p:spPr>
          <a:xfrm>
            <a:off x="3383280" y="1152144"/>
            <a:ext cx="457200" cy="859536"/>
          </a:xfrm>
          <a:prstGeom prst="rect">
            <a:avLst/>
          </a:prstGeom>
          <a:noFill/>
          <a:ln/>
        </p:spPr>
        <p:txBody>
          <a:bodyPr wrap="square" lIns="0" tIns="0" rIns="0" bIns="0" rtlCol="0" anchor="ctr"/>
          <a:lstStyle/>
          <a:p>
            <a:pPr marL="0" indent="0" algn="ctr">
              <a:buNone/>
            </a:pPr>
            <a:r>
              <a:rPr lang="en-US" sz="2200" b="1" dirty="0">
                <a:solidFill>
                  <a:srgbClr val="00C896"/>
                </a:solidFill>
                <a:latin typeface="Calibri" pitchFamily="34" charset="0"/>
                <a:ea typeface="Calibri" pitchFamily="34" charset="-122"/>
                <a:cs typeface="Calibri" pitchFamily="34" charset="-120"/>
              </a:rPr>
              <a:t>✔</a:t>
            </a:r>
            <a:endParaRPr lang="en-US" sz="2200" dirty="0"/>
          </a:p>
        </p:txBody>
      </p:sp>
      <p:sp>
        <p:nvSpPr>
          <p:cNvPr id="16" name="Text 13"/>
          <p:cNvSpPr/>
          <p:nvPr/>
        </p:nvSpPr>
        <p:spPr>
          <a:xfrm>
            <a:off x="3886200" y="1243584"/>
            <a:ext cx="4828032" cy="256032"/>
          </a:xfrm>
          <a:prstGeom prst="rect">
            <a:avLst/>
          </a:prstGeom>
          <a:noFill/>
          <a:ln/>
        </p:spPr>
        <p:txBody>
          <a:bodyPr wrap="square" lIns="0" tIns="0" rIns="0" bIns="0" rtlCol="0" anchor="ctr"/>
          <a:lstStyle/>
          <a:p>
            <a:pPr marL="0" indent="0" algn="l">
              <a:buNone/>
            </a:pPr>
            <a:r>
              <a:rPr lang="en-US" sz="1100" b="1" dirty="0">
                <a:solidFill>
                  <a:srgbClr val="00C896"/>
                </a:solidFill>
                <a:latin typeface="Calibri" pitchFamily="34" charset="0"/>
                <a:ea typeface="Calibri" pitchFamily="34" charset="-122"/>
                <a:cs typeface="Calibri" pitchFamily="34" charset="-120"/>
              </a:rPr>
              <a:t>Las 4 validaciones automáticas eliminan los 6 problemas</a:t>
            </a:r>
            <a:endParaRPr lang="en-US" sz="1100" dirty="0"/>
          </a:p>
        </p:txBody>
      </p:sp>
      <p:sp>
        <p:nvSpPr>
          <p:cNvPr id="17" name="Text 14"/>
          <p:cNvSpPr/>
          <p:nvPr/>
        </p:nvSpPr>
        <p:spPr>
          <a:xfrm>
            <a:off x="3886200" y="1536192"/>
            <a:ext cx="4828032" cy="402336"/>
          </a:xfrm>
          <a:prstGeom prst="rect">
            <a:avLst/>
          </a:prstGeom>
          <a:noFill/>
          <a:ln/>
        </p:spPr>
        <p:txBody>
          <a:bodyPr wrap="square" lIns="0" tIns="0" rIns="0" bIns="0" rtlCol="0" anchor="ctr"/>
          <a:lstStyle/>
          <a:p>
            <a:pPr marL="0" indent="0" algn="l">
              <a:buNone/>
            </a:pPr>
            <a:r>
              <a:rPr lang="en-US" sz="950" dirty="0">
                <a:solidFill>
                  <a:srgbClr val="D0E8E0"/>
                </a:solidFill>
                <a:latin typeface="Calibri" pitchFamily="34" charset="0"/>
                <a:ea typeface="Calibri" pitchFamily="34" charset="-122"/>
                <a:cs typeface="Calibri" pitchFamily="34" charset="-120"/>
              </a:rPr>
              <a:t>Prerrequisitos, conflicto de horario, pago y cupo se verifican automáticamente antes de confirmar cualquier matrícula.</a:t>
            </a:r>
            <a:endParaRPr lang="en-US" sz="950" dirty="0"/>
          </a:p>
        </p:txBody>
      </p:sp>
      <p:sp>
        <p:nvSpPr>
          <p:cNvPr id="18" name="Shape 15"/>
          <p:cNvSpPr/>
          <p:nvPr/>
        </p:nvSpPr>
        <p:spPr>
          <a:xfrm>
            <a:off x="3291840" y="2121408"/>
            <a:ext cx="5532120" cy="859536"/>
          </a:xfrm>
          <a:prstGeom prst="rect">
            <a:avLst/>
          </a:prstGeom>
          <a:solidFill>
            <a:srgbClr val="1A2B3C"/>
          </a:solidFill>
          <a:ln w="12700">
            <a:solidFill>
              <a:srgbClr val="1E3A2A"/>
            </a:solidFill>
            <a:prstDash val="solid"/>
          </a:ln>
        </p:spPr>
        <p:txBody>
          <a:bodyPr/>
          <a:lstStyle/>
          <a:p>
            <a:endParaRPr lang="es-PE"/>
          </a:p>
        </p:txBody>
      </p:sp>
      <p:sp>
        <p:nvSpPr>
          <p:cNvPr id="19" name="Text 16"/>
          <p:cNvSpPr/>
          <p:nvPr/>
        </p:nvSpPr>
        <p:spPr>
          <a:xfrm>
            <a:off x="3383280" y="2121408"/>
            <a:ext cx="457200" cy="859536"/>
          </a:xfrm>
          <a:prstGeom prst="rect">
            <a:avLst/>
          </a:prstGeom>
          <a:noFill/>
          <a:ln/>
        </p:spPr>
        <p:txBody>
          <a:bodyPr wrap="square" lIns="0" tIns="0" rIns="0" bIns="0" rtlCol="0" anchor="ctr"/>
          <a:lstStyle/>
          <a:p>
            <a:pPr marL="0" indent="0" algn="ctr">
              <a:buNone/>
            </a:pPr>
            <a:r>
              <a:rPr lang="en-US" sz="2200" b="1" dirty="0">
                <a:solidFill>
                  <a:srgbClr val="00C896"/>
                </a:solidFill>
                <a:latin typeface="Calibri" pitchFamily="34" charset="0"/>
                <a:ea typeface="Calibri" pitchFamily="34" charset="-122"/>
                <a:cs typeface="Calibri" pitchFamily="34" charset="-120"/>
              </a:rPr>
              <a:t>✔</a:t>
            </a:r>
            <a:endParaRPr lang="en-US" sz="2200" dirty="0"/>
          </a:p>
        </p:txBody>
      </p:sp>
      <p:sp>
        <p:nvSpPr>
          <p:cNvPr id="20" name="Text 17"/>
          <p:cNvSpPr/>
          <p:nvPr/>
        </p:nvSpPr>
        <p:spPr>
          <a:xfrm>
            <a:off x="3886200" y="2212848"/>
            <a:ext cx="4828032" cy="256032"/>
          </a:xfrm>
          <a:prstGeom prst="rect">
            <a:avLst/>
          </a:prstGeom>
          <a:noFill/>
          <a:ln/>
        </p:spPr>
        <p:txBody>
          <a:bodyPr wrap="square" lIns="0" tIns="0" rIns="0" bIns="0" rtlCol="0" anchor="ctr"/>
          <a:lstStyle/>
          <a:p>
            <a:pPr marL="0" indent="0" algn="l">
              <a:buNone/>
            </a:pPr>
            <a:r>
              <a:rPr lang="en-US" sz="1100" b="1" dirty="0">
                <a:solidFill>
                  <a:srgbClr val="00C896"/>
                </a:solidFill>
                <a:latin typeface="Calibri" pitchFamily="34" charset="0"/>
                <a:ea typeface="Calibri" pitchFamily="34" charset="-122"/>
                <a:cs typeface="Calibri" pitchFamily="34" charset="-120"/>
              </a:rPr>
              <a:t>Coherencia total entre análisis y diseño</a:t>
            </a:r>
            <a:endParaRPr lang="en-US" sz="1100" dirty="0"/>
          </a:p>
        </p:txBody>
      </p:sp>
      <p:sp>
        <p:nvSpPr>
          <p:cNvPr id="21" name="Text 18"/>
          <p:cNvSpPr/>
          <p:nvPr/>
        </p:nvSpPr>
        <p:spPr>
          <a:xfrm>
            <a:off x="3886200" y="2505456"/>
            <a:ext cx="4828032" cy="402336"/>
          </a:xfrm>
          <a:prstGeom prst="rect">
            <a:avLst/>
          </a:prstGeom>
          <a:noFill/>
          <a:ln/>
        </p:spPr>
        <p:txBody>
          <a:bodyPr wrap="square" lIns="0" tIns="0" rIns="0" bIns="0" rtlCol="0" anchor="ctr"/>
          <a:lstStyle/>
          <a:p>
            <a:pPr marL="0" indent="0" algn="l">
              <a:buNone/>
            </a:pPr>
            <a:r>
              <a:rPr lang="en-US" sz="950" dirty="0">
                <a:solidFill>
                  <a:srgbClr val="D0E8E0"/>
                </a:solidFill>
                <a:latin typeface="Calibri" pitchFamily="34" charset="0"/>
                <a:ea typeface="Calibri" pitchFamily="34" charset="-122"/>
                <a:cs typeface="Calibri" pitchFamily="34" charset="-120"/>
              </a:rPr>
              <a:t>Los 6 diagramas UML son coherentes entre sí. Las clases del diagrama de clases aparecen en los diagramas de actividades y se traducen directamente al código Java.</a:t>
            </a:r>
            <a:endParaRPr lang="en-US" sz="950" dirty="0"/>
          </a:p>
        </p:txBody>
      </p:sp>
      <p:sp>
        <p:nvSpPr>
          <p:cNvPr id="22" name="Shape 19"/>
          <p:cNvSpPr/>
          <p:nvPr/>
        </p:nvSpPr>
        <p:spPr>
          <a:xfrm>
            <a:off x="3291840" y="3090672"/>
            <a:ext cx="5532120" cy="859536"/>
          </a:xfrm>
          <a:prstGeom prst="rect">
            <a:avLst/>
          </a:prstGeom>
          <a:solidFill>
            <a:srgbClr val="1A2B3C"/>
          </a:solidFill>
          <a:ln w="12700">
            <a:solidFill>
              <a:srgbClr val="1E3A2A"/>
            </a:solidFill>
            <a:prstDash val="solid"/>
          </a:ln>
        </p:spPr>
        <p:txBody>
          <a:bodyPr/>
          <a:lstStyle/>
          <a:p>
            <a:endParaRPr lang="es-PE"/>
          </a:p>
        </p:txBody>
      </p:sp>
      <p:sp>
        <p:nvSpPr>
          <p:cNvPr id="23" name="Text 20"/>
          <p:cNvSpPr/>
          <p:nvPr/>
        </p:nvSpPr>
        <p:spPr>
          <a:xfrm>
            <a:off x="3383280" y="3090672"/>
            <a:ext cx="457200" cy="859536"/>
          </a:xfrm>
          <a:prstGeom prst="rect">
            <a:avLst/>
          </a:prstGeom>
          <a:noFill/>
          <a:ln/>
        </p:spPr>
        <p:txBody>
          <a:bodyPr wrap="square" lIns="0" tIns="0" rIns="0" bIns="0" rtlCol="0" anchor="ctr"/>
          <a:lstStyle/>
          <a:p>
            <a:pPr marL="0" indent="0" algn="ctr">
              <a:buNone/>
            </a:pPr>
            <a:r>
              <a:rPr lang="en-US" sz="2200" b="1" dirty="0">
                <a:solidFill>
                  <a:srgbClr val="00C896"/>
                </a:solidFill>
                <a:latin typeface="Calibri" pitchFamily="34" charset="0"/>
                <a:ea typeface="Calibri" pitchFamily="34" charset="-122"/>
                <a:cs typeface="Calibri" pitchFamily="34" charset="-120"/>
              </a:rPr>
              <a:t>✔</a:t>
            </a:r>
            <a:endParaRPr lang="en-US" sz="2200" dirty="0"/>
          </a:p>
        </p:txBody>
      </p:sp>
      <p:sp>
        <p:nvSpPr>
          <p:cNvPr id="24" name="Text 21"/>
          <p:cNvSpPr/>
          <p:nvPr/>
        </p:nvSpPr>
        <p:spPr>
          <a:xfrm>
            <a:off x="3886200" y="3182112"/>
            <a:ext cx="4828032" cy="256032"/>
          </a:xfrm>
          <a:prstGeom prst="rect">
            <a:avLst/>
          </a:prstGeom>
          <a:noFill/>
          <a:ln/>
        </p:spPr>
        <p:txBody>
          <a:bodyPr wrap="square" lIns="0" tIns="0" rIns="0" bIns="0" rtlCol="0" anchor="ctr"/>
          <a:lstStyle/>
          <a:p>
            <a:pPr marL="0" indent="0" algn="l">
              <a:buNone/>
            </a:pPr>
            <a:r>
              <a:rPr lang="en-US" sz="1100" b="1" dirty="0">
                <a:solidFill>
                  <a:srgbClr val="00C896"/>
                </a:solidFill>
                <a:latin typeface="Calibri" pitchFamily="34" charset="0"/>
                <a:ea typeface="Calibri" pitchFamily="34" charset="-122"/>
                <a:cs typeface="Calibri" pitchFamily="34" charset="-120"/>
              </a:rPr>
              <a:t>Arquitectura robusta y escalable</a:t>
            </a:r>
            <a:endParaRPr lang="en-US" sz="1100" dirty="0"/>
          </a:p>
        </p:txBody>
      </p:sp>
      <p:sp>
        <p:nvSpPr>
          <p:cNvPr id="25" name="Text 22"/>
          <p:cNvSpPr/>
          <p:nvPr/>
        </p:nvSpPr>
        <p:spPr>
          <a:xfrm>
            <a:off x="3886200" y="3474720"/>
            <a:ext cx="4828032" cy="402336"/>
          </a:xfrm>
          <a:prstGeom prst="rect">
            <a:avLst/>
          </a:prstGeom>
          <a:noFill/>
          <a:ln/>
        </p:spPr>
        <p:txBody>
          <a:bodyPr wrap="square" lIns="0" tIns="0" rIns="0" bIns="0" rtlCol="0" anchor="ctr"/>
          <a:lstStyle/>
          <a:p>
            <a:pPr marL="0" indent="0" algn="l">
              <a:buNone/>
            </a:pPr>
            <a:r>
              <a:rPr lang="en-US" sz="950" dirty="0">
                <a:solidFill>
                  <a:srgbClr val="D0E8E0"/>
                </a:solidFill>
                <a:latin typeface="Calibri" pitchFamily="34" charset="0"/>
                <a:ea typeface="Calibri" pitchFamily="34" charset="-122"/>
                <a:cs typeface="Calibri" pitchFamily="34" charset="-120"/>
              </a:rPr>
              <a:t>Soporta 4,000 usuarios con respuesta menor a 2 segundos. Diseñada para crecer con la universidad sin reconstruirse.</a:t>
            </a:r>
            <a:endParaRPr lang="en-US" sz="950" dirty="0"/>
          </a:p>
        </p:txBody>
      </p:sp>
      <p:sp>
        <p:nvSpPr>
          <p:cNvPr id="26" name="Shape 23"/>
          <p:cNvSpPr/>
          <p:nvPr/>
        </p:nvSpPr>
        <p:spPr>
          <a:xfrm>
            <a:off x="3291840" y="4059936"/>
            <a:ext cx="5532120" cy="859536"/>
          </a:xfrm>
          <a:prstGeom prst="rect">
            <a:avLst/>
          </a:prstGeom>
          <a:solidFill>
            <a:srgbClr val="1A2B3C"/>
          </a:solidFill>
          <a:ln w="12700">
            <a:solidFill>
              <a:srgbClr val="1E3A2A"/>
            </a:solidFill>
            <a:prstDash val="solid"/>
          </a:ln>
        </p:spPr>
        <p:txBody>
          <a:bodyPr/>
          <a:lstStyle/>
          <a:p>
            <a:endParaRPr lang="es-PE"/>
          </a:p>
        </p:txBody>
      </p:sp>
      <p:sp>
        <p:nvSpPr>
          <p:cNvPr id="27" name="Text 24"/>
          <p:cNvSpPr/>
          <p:nvPr/>
        </p:nvSpPr>
        <p:spPr>
          <a:xfrm>
            <a:off x="3383280" y="4059936"/>
            <a:ext cx="457200" cy="859536"/>
          </a:xfrm>
          <a:prstGeom prst="rect">
            <a:avLst/>
          </a:prstGeom>
          <a:noFill/>
          <a:ln/>
        </p:spPr>
        <p:txBody>
          <a:bodyPr wrap="square" lIns="0" tIns="0" rIns="0" bIns="0" rtlCol="0" anchor="ctr"/>
          <a:lstStyle/>
          <a:p>
            <a:pPr marL="0" indent="0" algn="ctr">
              <a:buNone/>
            </a:pPr>
            <a:r>
              <a:rPr lang="en-US" sz="2200" b="1" dirty="0">
                <a:solidFill>
                  <a:srgbClr val="00C896"/>
                </a:solidFill>
                <a:latin typeface="Calibri" pitchFamily="34" charset="0"/>
                <a:ea typeface="Calibri" pitchFamily="34" charset="-122"/>
                <a:cs typeface="Calibri" pitchFamily="34" charset="-120"/>
              </a:rPr>
              <a:t>✔</a:t>
            </a:r>
            <a:endParaRPr lang="en-US" sz="2200" dirty="0"/>
          </a:p>
        </p:txBody>
      </p:sp>
      <p:sp>
        <p:nvSpPr>
          <p:cNvPr id="28" name="Text 25"/>
          <p:cNvSpPr/>
          <p:nvPr/>
        </p:nvSpPr>
        <p:spPr>
          <a:xfrm>
            <a:off x="3886200" y="4151376"/>
            <a:ext cx="4828032" cy="256032"/>
          </a:xfrm>
          <a:prstGeom prst="rect">
            <a:avLst/>
          </a:prstGeom>
          <a:noFill/>
          <a:ln/>
        </p:spPr>
        <p:txBody>
          <a:bodyPr wrap="square" lIns="0" tIns="0" rIns="0" bIns="0" rtlCol="0" anchor="ctr"/>
          <a:lstStyle/>
          <a:p>
            <a:pPr marL="0" indent="0" algn="l">
              <a:buNone/>
            </a:pPr>
            <a:r>
              <a:rPr lang="en-US" sz="1100" b="1" dirty="0">
                <a:solidFill>
                  <a:srgbClr val="00C896"/>
                </a:solidFill>
                <a:latin typeface="Calibri" pitchFamily="34" charset="0"/>
                <a:ea typeface="Calibri" pitchFamily="34" charset="-122"/>
                <a:cs typeface="Calibri" pitchFamily="34" charset="-120"/>
              </a:rPr>
              <a:t>Prototipo funcional e intuitivo</a:t>
            </a:r>
            <a:endParaRPr lang="en-US" sz="1100" dirty="0"/>
          </a:p>
        </p:txBody>
      </p:sp>
      <p:sp>
        <p:nvSpPr>
          <p:cNvPr id="29" name="Text 26"/>
          <p:cNvSpPr/>
          <p:nvPr/>
        </p:nvSpPr>
        <p:spPr>
          <a:xfrm>
            <a:off x="3886200" y="4443984"/>
            <a:ext cx="4828032" cy="402336"/>
          </a:xfrm>
          <a:prstGeom prst="rect">
            <a:avLst/>
          </a:prstGeom>
          <a:noFill/>
          <a:ln/>
        </p:spPr>
        <p:txBody>
          <a:bodyPr wrap="square" lIns="0" tIns="0" rIns="0" bIns="0" rtlCol="0" anchor="ctr"/>
          <a:lstStyle/>
          <a:p>
            <a:pPr marL="0" indent="0" algn="l">
              <a:buNone/>
            </a:pPr>
            <a:r>
              <a:rPr lang="en-US" sz="950" dirty="0">
                <a:solidFill>
                  <a:srgbClr val="D0E8E0"/>
                </a:solidFill>
                <a:latin typeface="Calibri" pitchFamily="34" charset="0"/>
                <a:ea typeface="Calibri" pitchFamily="34" charset="-122"/>
                <a:cs typeface="Calibri" pitchFamily="34" charset="-120"/>
              </a:rPr>
              <a:t>La interfaz cumple el requisito de usabilidad: cualquier alumno puede matricularse sin capacitación previa.</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4316</Words>
  <Application>Microsoft Office PowerPoint</Application>
  <PresentationFormat>Presentación en pantalla (16:9)</PresentationFormat>
  <Paragraphs>245</Paragraphs>
  <Slides>14</Slides>
  <Notes>13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モーセ ミズノ</cp:lastModifiedBy>
  <cp:revision>6</cp:revision>
  <dcterms:created xsi:type="dcterms:W3CDTF">2026-03-12T04:44:29Z</dcterms:created>
  <dcterms:modified xsi:type="dcterms:W3CDTF">2026-03-12T05:21:05Z</dcterms:modified>
</cp:coreProperties>
</file>