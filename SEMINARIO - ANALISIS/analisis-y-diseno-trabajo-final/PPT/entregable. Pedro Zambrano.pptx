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6" r:id="rId6"/>
    <p:sldId id="259" r:id="rId7"/>
    <p:sldId id="260" r:id="rId8"/>
    <p:sldId id="261" r:id="rId9"/>
    <p:sldId id="264" r:id="rId10"/>
    <p:sldId id="262" r:id="rId11"/>
    <p:sldId id="263" r:id="rId12"/>
    <p:sldId id="268" r:id="rId13"/>
    <p:sldId id="270" r:id="rId14"/>
    <p:sldId id="269" r:id="rId15"/>
    <p:sldId id="26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Integral Hospitalario</a:t>
            </a:r>
          </a:p>
          <a:p>
            <a:r>
              <a:t>Hospital Privado San Gabriel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2280"/>
            <a:ext cx="8229600" cy="4394200"/>
          </a:xfrm>
        </p:spPr>
        <p:txBody>
          <a:bodyPr>
            <a:normAutofit fontScale="40000"/>
          </a:bodyPr>
          <a:lstStyle/>
          <a:p>
            <a:r>
              <a:t>Análisis y Diseño de Sistemas</a:t>
            </a:r>
          </a:p>
          <a:p/>
          <a:p>
            <a:r>
              <a:rPr lang="es-ES"/>
              <a:t>Presentación</a:t>
            </a:r>
            <a:endParaRPr lang="es-ES"/>
          </a:p>
          <a:p>
            <a:r>
              <a:rPr lang="es-ES"/>
              <a:t>Contexto</a:t>
            </a:r>
            <a:endParaRPr lang="es-ES"/>
          </a:p>
          <a:p>
            <a:r>
              <a:rPr lang="es-ES"/>
              <a:t>Identificación</a:t>
            </a:r>
            <a:endParaRPr lang="es-ES"/>
          </a:p>
          <a:p>
            <a:r>
              <a:rPr lang="es-ES"/>
              <a:t>Prototipo del sistema</a:t>
            </a:r>
            <a:endParaRPr lang="es-ES"/>
          </a:p>
          <a:p>
            <a:r>
              <a:rPr lang="es-ES"/>
              <a:t>Objetivos del sistema</a:t>
            </a:r>
            <a:endParaRPr lang="es-ES"/>
          </a:p>
          <a:p>
            <a:r>
              <a:rPr lang="es-ES"/>
              <a:t>Requisitos no funcionales</a:t>
            </a:r>
            <a:endParaRPr lang="es-ES"/>
          </a:p>
          <a:p>
            <a:r>
              <a:rPr lang="es-ES"/>
              <a:t>Arquitectura del sistema</a:t>
            </a:r>
          </a:p>
          <a:p>
            <a:r>
              <a:rPr lang="es-ES"/>
              <a:t>Analisis de Diagramas</a:t>
            </a:r>
            <a:endParaRPr lang="es-ES"/>
          </a:p>
          <a:p/>
          <a:p>
            <a:r>
              <a:t>Final</a:t>
            </a:r>
          </a:p>
          <a:p/>
          <a:p/>
          <a:p/>
          <a:p/>
          <a:p>
            <a:pPr marL="0" indent="0">
              <a:buNone/>
            </a:pPr>
            <a:r>
              <a:rPr lang="es-ES"/>
              <a:t>Pedro Damian Zambrano Rivas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Hospital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El Hospital San Gabriel atiende aproximadamente 300 pacientes diarios.</a:t>
            </a:r>
          </a:p>
          <a:p>
            <a:r>
              <a:rPr lang="es-ES"/>
              <a:t> </a:t>
            </a:r>
            <a:r>
              <a:t>Cuenta con más de 40 médicos especialistas.</a:t>
            </a:r>
          </a:p>
          <a:p>
            <a:r>
              <a:t> Ofrece servicios de consulta externa, emergencias, hospitalización, laboratorio y cirugías.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Problemática Identificada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Sistemas independientes entre áreas.</a:t>
            </a:r>
          </a:p>
          <a:p>
            <a:r>
              <a:t> Historias clínicas físicas.</a:t>
            </a:r>
          </a:p>
          <a:p>
            <a:r>
              <a:t> Resultados de laboratorio impresos.</a:t>
            </a:r>
          </a:p>
          <a:p>
            <a:r>
              <a:t> Citas médicas solo presenciales o telefónicas.</a:t>
            </a:r>
          </a:p>
          <a:p>
            <a:r>
              <a:t> Falta de integración y reportes consolidados.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Prototipo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 de interfaces del sistema:</a:t>
            </a:r>
          </a:p>
          <a:p>
            <a:r>
              <a:t>Registro de pacientes</a:t>
            </a:r>
          </a:p>
          <a:p>
            <a:r>
              <a:t> Programación de citas</a:t>
            </a:r>
          </a:p>
          <a:p>
            <a:r>
              <a:t> Historial clínico</a:t>
            </a:r>
          </a:p>
          <a:p>
            <a:r>
              <a:t>Resultados de laboratorio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Desarrollar un sistema integral hospitalario.</a:t>
            </a:r>
          </a:p>
          <a:p>
            <a:r>
              <a:t> Centralizar la información médica y administrativa.</a:t>
            </a:r>
          </a:p>
          <a:p>
            <a:r>
              <a:t> Mejorar la atención al paciente.</a:t>
            </a:r>
          </a:p>
          <a:p>
            <a:r>
              <a:t> Reducir errores y duplicidad de información.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Registro de pacientes.</a:t>
            </a:r>
          </a:p>
          <a:p>
            <a:r>
              <a:t> Gestión de citas médicas.</a:t>
            </a:r>
          </a:p>
          <a:p>
            <a:r>
              <a:t> Historial clínico digital.</a:t>
            </a:r>
          </a:p>
          <a:p>
            <a:r>
              <a:t> Registro de exámenes de laboratorio.</a:t>
            </a:r>
          </a:p>
          <a:p>
            <a:r>
              <a:t> Facturación electrónica.</a:t>
            </a:r>
          </a:p>
          <a:p>
            <a:r>
              <a:t> Generación de reportes.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No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Seguridad y confidencialidad de datos.</a:t>
            </a:r>
          </a:p>
          <a:p>
            <a:r>
              <a:t> Disponibilidad del sistema 24/7.</a:t>
            </a:r>
          </a:p>
          <a:p>
            <a:r>
              <a:t> Soporte para múltiples usuarios.</a:t>
            </a:r>
          </a:p>
          <a:p>
            <a:r>
              <a:t> Interfaz fácil de usar.</a:t>
            </a:r>
          </a:p>
          <a:p>
            <a:r>
              <a:t> Escalabilidad para futuras sedes.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está compuesto por módulos como:</a:t>
            </a:r>
          </a:p>
          <a:p>
            <a:r>
              <a:t>Gestión de Pacientes</a:t>
            </a:r>
          </a:p>
          <a:p>
            <a:r>
              <a:t> Gestión de Citas</a:t>
            </a:r>
          </a:p>
          <a:p>
            <a:r>
              <a:t> Historia Clínica</a:t>
            </a:r>
          </a:p>
          <a:p>
            <a:r>
              <a:rPr lang="es-ES"/>
              <a:t> </a:t>
            </a:r>
            <a:r>
              <a:t>Laboratorio</a:t>
            </a:r>
          </a:p>
          <a:p>
            <a:r>
              <a:t> Facturación</a:t>
            </a:r>
          </a:p>
          <a:p>
            <a:r>
              <a:t>Todos conectados a una base de datos central.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Aquí se muestra la interacción entre los usuarios y el sistema.</a:t>
            </a:r>
            <a:endParaRPr sz="2400"/>
          </a:p>
          <a:p>
            <a:r>
              <a:rPr sz="2400"/>
              <a:t>Actores principales: Paciente, Médico, Recepcionista, Laboratorista y Administrador.</a:t>
            </a:r>
            <a:endParaRPr sz="2400"/>
          </a:p>
          <a:p>
            <a:r>
              <a:rPr sz="2400"/>
              <a:t>Cada actor realiza funciones específicas dentro del sistema.</a:t>
            </a:r>
            <a:endParaRPr sz="2400"/>
          </a:p>
        </p:txBody>
      </p:sp>
      <p:pic>
        <p:nvPicPr>
          <p:cNvPr id="5" name="Imagen 4" descr="Caso de uso 1-Página-1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6410" y="3343910"/>
            <a:ext cx="6619875" cy="3384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Clases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Representa la estructura del sistema.</a:t>
            </a:r>
            <a:endParaRPr sz="2400"/>
          </a:p>
          <a:p>
            <a:r>
              <a:rPr sz="2400"/>
              <a:t>Incluye clases como Paciente, Médico, Cita, Historia Clínica, Examen de Laboratorio, Factura y Habitación.</a:t>
            </a:r>
            <a:endParaRPr sz="2400"/>
          </a:p>
          <a:p>
            <a:r>
              <a:rPr sz="2400"/>
              <a:t>También muestra las relaciones entre estas entidades.</a:t>
            </a:r>
            <a:endParaRPr sz="2400"/>
          </a:p>
        </p:txBody>
      </p:sp>
      <p:pic>
        <p:nvPicPr>
          <p:cNvPr id="4" name="Imagen 3" descr="entrega 2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55" y="3429000"/>
            <a:ext cx="7077710" cy="3250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4345" y="274955"/>
            <a:ext cx="8212455" cy="774700"/>
          </a:xfrm>
        </p:spPr>
        <p:txBody>
          <a:bodyPr/>
          <a:p>
            <a:r>
              <a:rPr lang="es-ES" altLang="en-US"/>
              <a:t>Diagrama actividad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57200" y="1118870"/>
            <a:ext cx="8229600" cy="3959225"/>
          </a:xfrm>
        </p:spPr>
        <p:txBody>
          <a:bodyPr>
            <a:normAutofit fontScale="40000"/>
          </a:bodyPr>
          <a:p>
            <a:r>
              <a:rPr lang="en-US" altLang="es-ES"/>
              <a:t>El diagrama de actividad representa el flujo del proceso de atenci</a:t>
            </a:r>
            <a:r>
              <a:rPr lang="en-US" altLang="en-US"/>
              <a:t>ó</a:t>
            </a:r>
            <a:r>
              <a:rPr lang="en-US" altLang="es-ES"/>
              <a:t>n de un paciente dentro del sistema hospitalario.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Proceso principal: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Inicio</a:t>
            </a:r>
            <a:endParaRPr lang="en-US" altLang="es-ES"/>
          </a:p>
          <a:p>
            <a:r>
              <a:rPr lang="en-US" altLang="es-ES"/>
              <a:t>Registro del paciente</a:t>
            </a:r>
            <a:endParaRPr lang="en-US" altLang="es-ES"/>
          </a:p>
          <a:p>
            <a:r>
              <a:rPr lang="en-US" altLang="es-ES"/>
              <a:t>Programaci</a:t>
            </a:r>
            <a:r>
              <a:rPr lang="en-US" altLang="en-US"/>
              <a:t>ó</a:t>
            </a:r>
            <a:r>
              <a:rPr lang="en-US" altLang="es-ES"/>
              <a:t>n de cita m</a:t>
            </a:r>
            <a:r>
              <a:rPr lang="en-US" altLang="en-US"/>
              <a:t>é</a:t>
            </a:r>
            <a:r>
              <a:rPr lang="en-US" altLang="es-ES"/>
              <a:t>dica</a:t>
            </a:r>
            <a:endParaRPr lang="en-US" altLang="es-ES"/>
          </a:p>
          <a:p>
            <a:r>
              <a:rPr lang="en-US" altLang="es-ES"/>
              <a:t>Consulta con el m</a:t>
            </a:r>
            <a:r>
              <a:rPr lang="en-US" altLang="en-US"/>
              <a:t>é</a:t>
            </a:r>
            <a:r>
              <a:rPr lang="en-US" altLang="es-ES"/>
              <a:t>dico</a:t>
            </a:r>
            <a:endParaRPr lang="en-US" altLang="es-ES"/>
          </a:p>
          <a:p>
            <a:r>
              <a:rPr lang="en-US" altLang="es-ES"/>
              <a:t>Registro del diagn</a:t>
            </a:r>
            <a:r>
              <a:rPr lang="en-US" altLang="en-US"/>
              <a:t>ó</a:t>
            </a:r>
            <a:r>
              <a:rPr lang="en-US" altLang="es-ES"/>
              <a:t>stico</a:t>
            </a:r>
            <a:endParaRPr lang="en-US" altLang="es-ES"/>
          </a:p>
          <a:p>
            <a:r>
              <a:rPr lang="en-US" altLang="es-ES"/>
              <a:t>Solicitud de examen de laboratorio (si es necesario)</a:t>
            </a:r>
            <a:endParaRPr lang="en-US" altLang="es-ES"/>
          </a:p>
          <a:p>
            <a:r>
              <a:rPr lang="en-US" altLang="es-ES"/>
              <a:t>Registro de resultados</a:t>
            </a:r>
            <a:endParaRPr lang="en-US" altLang="es-ES"/>
          </a:p>
          <a:p>
            <a:r>
              <a:rPr lang="en-US" altLang="es-ES"/>
              <a:t>Generaci</a:t>
            </a:r>
            <a:r>
              <a:rPr lang="en-US" altLang="en-US"/>
              <a:t>ó</a:t>
            </a:r>
            <a:r>
              <a:rPr lang="en-US" altLang="es-ES"/>
              <a:t>n de factura</a:t>
            </a:r>
            <a:endParaRPr lang="en-US" altLang="es-ES"/>
          </a:p>
          <a:p>
            <a:r>
              <a:rPr lang="en-US" altLang="es-ES"/>
              <a:t>Fin</a:t>
            </a:r>
            <a:endParaRPr lang="en-US" altLang="es-ES"/>
          </a:p>
        </p:txBody>
      </p:sp>
      <p:pic>
        <p:nvPicPr>
          <p:cNvPr id="4" name="Imagen 3" descr="tarea 4 renovada mejor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4915" y="1575435"/>
            <a:ext cx="3652520" cy="51390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ES"/>
              <a:t>Diagrama de Componentes</a:t>
            </a:r>
            <a:endParaRPr lang="en-US" altLang="es-E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s-ES"/>
              <a:t>El diagrama de componentes muestra los m</a:t>
            </a:r>
            <a:r>
              <a:rPr lang="en-US" altLang="en-US"/>
              <a:t>ó</a:t>
            </a:r>
            <a:r>
              <a:rPr lang="en-US" altLang="es-ES"/>
              <a:t>dulos principales que conforman el sistema hospitalario.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Componentes del sistema: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Interfaz Web</a:t>
            </a:r>
            <a:endParaRPr lang="en-US" altLang="es-ES"/>
          </a:p>
          <a:p>
            <a:r>
              <a:rPr lang="en-US" altLang="es-ES"/>
              <a:t>M</a:t>
            </a:r>
            <a:r>
              <a:rPr lang="en-US" altLang="en-US"/>
              <a:t>ó</a:t>
            </a:r>
            <a:r>
              <a:rPr lang="en-US" altLang="es-ES"/>
              <a:t>dulo de Gesti</a:t>
            </a:r>
            <a:r>
              <a:rPr lang="en-US" altLang="en-US"/>
              <a:t>ó</a:t>
            </a:r>
            <a:r>
              <a:rPr lang="en-US" altLang="es-ES"/>
              <a:t>n de Pacientes</a:t>
            </a:r>
            <a:endParaRPr lang="en-US" altLang="es-ES"/>
          </a:p>
          <a:p>
            <a:r>
              <a:rPr lang="en-US" altLang="es-ES"/>
              <a:t>M</a:t>
            </a:r>
            <a:r>
              <a:rPr lang="en-US" altLang="en-US"/>
              <a:t>ó</a:t>
            </a:r>
            <a:r>
              <a:rPr lang="en-US" altLang="es-ES"/>
              <a:t>dulo de Gesti</a:t>
            </a:r>
            <a:r>
              <a:rPr lang="en-US" altLang="en-US"/>
              <a:t>ó</a:t>
            </a:r>
            <a:r>
              <a:rPr lang="en-US" altLang="es-ES"/>
              <a:t>n de Citas</a:t>
            </a:r>
            <a:endParaRPr lang="en-US" altLang="es-ES"/>
          </a:p>
          <a:p>
            <a:r>
              <a:rPr lang="en-US" altLang="es-ES"/>
              <a:t>M</a:t>
            </a:r>
            <a:r>
              <a:rPr lang="en-US" altLang="en-US"/>
              <a:t>ó</a:t>
            </a:r>
            <a:r>
              <a:rPr lang="en-US" altLang="es-ES"/>
              <a:t>dulo de Historia Cl</a:t>
            </a:r>
            <a:r>
              <a:rPr lang="en-US" altLang="en-US"/>
              <a:t>í</a:t>
            </a:r>
            <a:r>
              <a:rPr lang="en-US" altLang="es-ES"/>
              <a:t>nica</a:t>
            </a:r>
            <a:endParaRPr lang="en-US" altLang="es-ES"/>
          </a:p>
          <a:p>
            <a:r>
              <a:rPr lang="en-US" altLang="es-ES"/>
              <a:t>M</a:t>
            </a:r>
            <a:r>
              <a:rPr lang="en-US" altLang="en-US"/>
              <a:t>ó</a:t>
            </a:r>
            <a:r>
              <a:rPr lang="en-US" altLang="es-ES"/>
              <a:t>dulo de Laboratorio</a:t>
            </a:r>
            <a:endParaRPr lang="en-US" altLang="es-ES"/>
          </a:p>
          <a:p>
            <a:r>
              <a:rPr lang="en-US" altLang="es-ES"/>
              <a:t>M</a:t>
            </a:r>
            <a:r>
              <a:rPr lang="en-US" altLang="en-US"/>
              <a:t>ó</a:t>
            </a:r>
            <a:r>
              <a:rPr lang="en-US" altLang="es-ES"/>
              <a:t>dulo de Facturaci</a:t>
            </a:r>
            <a:r>
              <a:rPr lang="en-US" altLang="en-US"/>
              <a:t>ó</a:t>
            </a:r>
            <a:r>
              <a:rPr lang="en-US" altLang="es-ES"/>
              <a:t>n</a:t>
            </a:r>
            <a:endParaRPr lang="en-US" altLang="es-ES"/>
          </a:p>
          <a:p>
            <a:r>
              <a:rPr lang="en-US" altLang="es-ES"/>
              <a:t>Base de Datos</a:t>
            </a:r>
            <a:endParaRPr lang="en-US" altLang="es-ES"/>
          </a:p>
        </p:txBody>
      </p:sp>
      <p:pic>
        <p:nvPicPr>
          <p:cNvPr id="5" name="Imagen 4" descr="tarea 5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3415" y="2162175"/>
            <a:ext cx="441579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ES"/>
              <a:t>Diagrama de Estado</a:t>
            </a:r>
            <a:endParaRPr lang="en-US" altLang="es-E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353060" y="1417955"/>
            <a:ext cx="8229600" cy="4525963"/>
          </a:xfrm>
        </p:spPr>
        <p:txBody>
          <a:bodyPr>
            <a:normAutofit fontScale="70000"/>
          </a:bodyPr>
          <a:p>
            <a:r>
              <a:rPr lang="en-US" altLang="es-ES"/>
              <a:t>El diagrama de estado representa los diferentes estados por los que pasa una cita m</a:t>
            </a:r>
            <a:r>
              <a:rPr lang="en-US" altLang="en-US"/>
              <a:t>é</a:t>
            </a:r>
            <a:r>
              <a:rPr lang="en-US" altLang="es-ES"/>
              <a:t>dica en el sistema.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Estados de la cita:</a:t>
            </a:r>
            <a:endParaRPr lang="en-US" altLang="es-ES"/>
          </a:p>
          <a:p>
            <a:endParaRPr lang="en-US" altLang="es-ES"/>
          </a:p>
          <a:p>
            <a:r>
              <a:rPr lang="en-US" altLang="es-ES"/>
              <a:t>Disponible</a:t>
            </a:r>
            <a:endParaRPr lang="en-US" altLang="es-ES"/>
          </a:p>
          <a:p>
            <a:r>
              <a:rPr lang="en-US" altLang="es-ES"/>
              <a:t>Programada</a:t>
            </a:r>
            <a:endParaRPr lang="en-US" altLang="es-ES"/>
          </a:p>
          <a:p>
            <a:r>
              <a:rPr lang="en-US" altLang="es-ES"/>
              <a:t>En consulta</a:t>
            </a:r>
            <a:endParaRPr lang="en-US" altLang="es-ES"/>
          </a:p>
          <a:p>
            <a:r>
              <a:rPr lang="en-US" altLang="es-ES"/>
              <a:t>Finalizada</a:t>
            </a:r>
            <a:endParaRPr lang="en-US" altLang="es-ES"/>
          </a:p>
          <a:p>
            <a:r>
              <a:rPr lang="en-US" altLang="es-ES"/>
              <a:t>Cancelada</a:t>
            </a:r>
            <a:endParaRPr lang="en-US" altLang="es-ES"/>
          </a:p>
        </p:txBody>
      </p:sp>
      <p:pic>
        <p:nvPicPr>
          <p:cNvPr id="6" name="Imagen 5" descr="ultima entrega.drawio"/>
          <p:cNvPicPr>
            <a:picLocks noChangeAspect="1"/>
          </p:cNvPicPr>
          <p:nvPr/>
        </p:nvPicPr>
        <p:blipFill>
          <a:blip r:embed="rId1"/>
          <a:srcRect b="34252"/>
          <a:stretch>
            <a:fillRect/>
          </a:stretch>
        </p:blipFill>
        <p:spPr>
          <a:xfrm>
            <a:off x="4420235" y="2292350"/>
            <a:ext cx="4333240" cy="4079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Despliegue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Representa la arquitectura física del sistema.</a:t>
            </a:r>
            <a:endParaRPr sz="2400"/>
          </a:p>
          <a:p>
            <a:r>
              <a:rPr sz="2400"/>
              <a:t>Usuarios acceden mediante computadoras o navegador web.</a:t>
            </a:r>
            <a:endParaRPr sz="2400"/>
          </a:p>
          <a:p>
            <a:r>
              <a:rPr sz="2400"/>
              <a:t>Las solicitudes pasan por un servidor web, servidor de aplicación y base de datos.</a:t>
            </a:r>
            <a:endParaRPr sz="2400"/>
          </a:p>
        </p:txBody>
      </p:sp>
      <p:pic>
        <p:nvPicPr>
          <p:cNvPr id="5" name="Imagen 4" descr="tarea 6 mejor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2911475"/>
            <a:ext cx="6887210" cy="3502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El sistema integral mejora la gestión hospitalaria.</a:t>
            </a:r>
          </a:p>
          <a:p>
            <a:r>
              <a:t> Permite centralizar la información médica.</a:t>
            </a:r>
          </a:p>
          <a:p>
            <a:r>
              <a:t> Reduce errores administrativos.</a:t>
            </a:r>
          </a:p>
          <a:p>
            <a:r>
              <a:t> Mejora la atención y eficiencia del hospital.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3278</Words>
  <Application>WPS Presentation</Application>
  <PresentationFormat>On-screen Show (4:3)</PresentationFormat>
  <Paragraphs>144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Hospital Privado San Gabriel</vt:lpstr>
      <vt:lpstr>Contexto del Hospital</vt:lpstr>
      <vt:lpstr>Problemática Identificada</vt:lpstr>
      <vt:lpstr>Prototipo del Sistema</vt:lpstr>
      <vt:lpstr>Objetivo del Sistema</vt:lpstr>
      <vt:lpstr>Requisitos Funcionales</vt:lpstr>
      <vt:lpstr>Requisitos No Funcionales</vt:lpstr>
      <vt:lpstr>Arquitectura del Sistema</vt:lpstr>
      <vt:lpstr>Diagrama de Casos de Uso</vt:lpstr>
      <vt:lpstr>Diagrama de Clases</vt:lpstr>
      <vt:lpstr>PowerPoint 演示文稿</vt:lpstr>
      <vt:lpstr>PowerPoint 演示文稿</vt:lpstr>
      <vt:lpstr>PowerPoint 演示文稿</vt:lpstr>
      <vt:lpstr>Diagrama de Despliegue</vt:lpstr>
      <vt:lpstr>Conclusiones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2</cp:revision>
  <dcterms:created xsi:type="dcterms:W3CDTF">2013-01-27T09:14:00Z</dcterms:created>
  <dcterms:modified xsi:type="dcterms:W3CDTF">2026-03-12T05:36:41Z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99F79BB87C55415E9401E94AB09DA6E3_13</vt:lpwstr>
  </property>
  <property fmtid="{D5CDD505-2E9C-101B-9397-08002B2CF9AE}" pid="3" name="KSOProductBuildVer">
    <vt:lpwstr>3082-12.2.0.23196</vt:lpwstr>
  </property>
</Properties>
</file>