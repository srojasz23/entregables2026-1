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916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74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83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321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839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675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589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731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736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670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60760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317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98193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462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766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101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991FB-C57E-82AC-EF21-2C13AD41F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s-PE" sz="3400" b="1"/>
              <a:t>Sistema Integral para Hospital Privado "San Gabriel"</a:t>
            </a:r>
            <a:br>
              <a:rPr lang="es-PE" sz="3400" b="1"/>
            </a:br>
            <a:endParaRPr lang="es-PE" sz="34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C4866A-89CE-CCF9-DEA3-CF9CDF194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endParaRPr lang="es-PE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A8E7B148-98AF-CA7D-1E7C-E569C4BE09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51" r="3756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2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12896-60DF-9C06-7457-110473649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Problemática de la empresa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3C9174-E69C-90FF-E4D4-F5C888B1A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No existe un registro único digital del paciente</a:t>
            </a:r>
          </a:p>
          <a:p>
            <a:r>
              <a:rPr lang="es-MX" dirty="0"/>
              <a:t>Historias clínicas físicas</a:t>
            </a:r>
          </a:p>
          <a:p>
            <a:r>
              <a:rPr lang="es-MX" dirty="0"/>
              <a:t>Asignación manual de camas</a:t>
            </a:r>
          </a:p>
          <a:p>
            <a:r>
              <a:rPr lang="es-MX" dirty="0"/>
              <a:t>Resultados de laboratorio impresos</a:t>
            </a:r>
          </a:p>
          <a:p>
            <a:r>
              <a:rPr lang="es-MX" dirty="0"/>
              <a:t>Citas medicas solo presenciales o telefónicas</a:t>
            </a:r>
          </a:p>
          <a:p>
            <a:r>
              <a:rPr lang="es-MX" dirty="0"/>
              <a:t>Falta de reportes consolidados</a:t>
            </a:r>
          </a:p>
          <a:p>
            <a:r>
              <a:rPr lang="es-MX" dirty="0"/>
              <a:t>No hay control detallado de roles y accesos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8203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CAB2A-E41B-EA6D-D50A-A5311E6B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Requisitos funcionales y no funcionales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ADD27-3261-921D-0270-EEADB72AA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Requisitos funcionales:</a:t>
            </a:r>
          </a:p>
          <a:p>
            <a:pPr marL="457200" indent="-457200">
              <a:buAutoNum type="arabicPeriod"/>
            </a:pPr>
            <a:r>
              <a:rPr lang="es-MX" dirty="0"/>
              <a:t>Gestión de Pacientes y Citas</a:t>
            </a:r>
          </a:p>
          <a:p>
            <a:pPr marL="457200" indent="-457200">
              <a:buAutoNum type="arabicPeriod"/>
            </a:pPr>
            <a:r>
              <a:rPr lang="es-MX" dirty="0"/>
              <a:t>Historia Clínica y Atención Médica</a:t>
            </a:r>
          </a:p>
          <a:p>
            <a:pPr marL="457200" indent="-457200">
              <a:buAutoNum type="arabicPeriod"/>
            </a:pPr>
            <a:r>
              <a:rPr lang="es-PE" dirty="0"/>
              <a:t>Operaciones Hospitalarias</a:t>
            </a:r>
          </a:p>
          <a:p>
            <a:pPr marL="457200" indent="-457200">
              <a:buAutoNum type="arabicPeriod"/>
            </a:pPr>
            <a:r>
              <a:rPr lang="es-PE" dirty="0"/>
              <a:t>Administración y Seguridad</a:t>
            </a:r>
            <a:endParaRPr lang="es-MX" dirty="0"/>
          </a:p>
          <a:p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42C371-70D9-337C-F310-CF8CE72038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Requisitos no funcionales:</a:t>
            </a:r>
          </a:p>
          <a:p>
            <a:pPr marL="457200" indent="-457200">
              <a:buAutoNum type="arabicPeriod"/>
            </a:pPr>
            <a:r>
              <a:rPr lang="es-PE" dirty="0"/>
              <a:t>Seguridad y Privacidad</a:t>
            </a:r>
          </a:p>
          <a:p>
            <a:pPr marL="457200" indent="-457200">
              <a:buAutoNum type="arabicPeriod"/>
            </a:pPr>
            <a:r>
              <a:rPr lang="es-PE" dirty="0"/>
              <a:t>Disponibilidad y Rendimiento</a:t>
            </a:r>
          </a:p>
          <a:p>
            <a:pPr marL="457200" indent="-457200">
              <a:buAutoNum type="arabicPeriod"/>
            </a:pPr>
            <a:r>
              <a:rPr lang="es-PE" dirty="0"/>
              <a:t>Usabilidad y Acceso</a:t>
            </a:r>
          </a:p>
          <a:p>
            <a:pPr marL="457200" indent="-457200">
              <a:buAutoNum type="arabicPeriod"/>
            </a:pPr>
            <a:r>
              <a:rPr lang="es-PE" dirty="0"/>
              <a:t>Integridad y Respaldo</a:t>
            </a:r>
          </a:p>
        </p:txBody>
      </p:sp>
    </p:spTree>
    <p:extLst>
      <p:ext uri="{BB962C8B-B14F-4D97-AF65-F5344CB8AC3E}">
        <p14:creationId xmlns:p14="http://schemas.microsoft.com/office/powerpoint/2010/main" val="80238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3EA82-E9B6-5E98-E886-46D99B15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Priorización y justificación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4FDE51-1EC7-9CA5-31F5-C36894444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012" y="1504335"/>
            <a:ext cx="9336599" cy="4729555"/>
          </a:xfrm>
        </p:spPr>
        <p:txBody>
          <a:bodyPr>
            <a:normAutofit fontScale="92500" lnSpcReduction="10000"/>
          </a:bodyPr>
          <a:lstStyle/>
          <a:p>
            <a:r>
              <a:rPr lang="es-PE" b="1" dirty="0"/>
              <a:t>Prioridad Alta (Lo Urgente)</a:t>
            </a:r>
            <a:endParaRPr lang="es-MX" b="1" dirty="0"/>
          </a:p>
          <a:p>
            <a:r>
              <a:rPr lang="es-PE" b="1" dirty="0"/>
              <a:t>Requisito:</a:t>
            </a:r>
            <a:r>
              <a:rPr lang="es-PE" dirty="0"/>
              <a:t> Registro Único y Historia Clínica Digital.</a:t>
            </a:r>
          </a:p>
          <a:p>
            <a:r>
              <a:rPr lang="es-MX" b="1" dirty="0"/>
              <a:t>Justificación:</a:t>
            </a:r>
            <a:r>
              <a:rPr lang="es-MX" dirty="0"/>
              <a:t> Es el corazón del hospital. Sin esto, la información sigue duplicada y dispersa. Permite que un médico vea qué recetó otro, evitando errores médicos graves y retrasos en emergencias.</a:t>
            </a:r>
          </a:p>
          <a:p>
            <a:r>
              <a:rPr lang="es-PE" b="1" dirty="0"/>
              <a:t>Prioridad Media (Lo Necesario)</a:t>
            </a:r>
          </a:p>
          <a:p>
            <a:r>
              <a:rPr lang="es-MX" b="1" dirty="0"/>
              <a:t>Requisito:</a:t>
            </a:r>
            <a:r>
              <a:rPr lang="es-MX" dirty="0"/>
              <a:t> Gestión de Citas en Línea y Laboratorio.</a:t>
            </a:r>
          </a:p>
          <a:p>
            <a:r>
              <a:rPr lang="es-MX" b="1" dirty="0"/>
              <a:t>Justificación:</a:t>
            </a:r>
            <a:r>
              <a:rPr lang="es-MX" dirty="0"/>
              <a:t> Mejora la experiencia del paciente (evita filas y llamadas) y agiliza el trabajo del médico al tener los resultados de exámenes listos en la pantalla apenas salen del laboratorio.</a:t>
            </a:r>
          </a:p>
          <a:p>
            <a:r>
              <a:rPr lang="es-PE" b="1" dirty="0"/>
              <a:t>Prioridad Baja (Lo Complementario)</a:t>
            </a:r>
          </a:p>
          <a:p>
            <a:r>
              <a:rPr lang="es-MX" b="1" dirty="0"/>
              <a:t>Requisito:</a:t>
            </a:r>
            <a:r>
              <a:rPr lang="es-MX" dirty="0"/>
              <a:t> Reportes Estadísticos y Facturación Electrónica.</a:t>
            </a:r>
          </a:p>
          <a:p>
            <a:r>
              <a:rPr lang="es-MX" b="1" dirty="0"/>
              <a:t>Justificación:</a:t>
            </a:r>
            <a:r>
              <a:rPr lang="es-MX" dirty="0"/>
              <a:t> Aunque son vitales para la administración y el dueño del hospital, se pueden implementar una vez que la parte médica ya esté funcionando bien.</a:t>
            </a:r>
          </a:p>
          <a:p>
            <a:endParaRPr lang="es-MX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39307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C1819-52E9-4638-37BF-A09B6044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Propuesta de solución.</a:t>
            </a:r>
            <a:br>
              <a:rPr lang="es-PE" b="1" dirty="0"/>
            </a:br>
            <a:endParaRPr lang="es-PE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BD76F1-C3AD-9379-0118-2499899F6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25560"/>
            <a:ext cx="8915400" cy="4508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700" dirty="0"/>
              <a:t>Para que el </a:t>
            </a:r>
            <a:r>
              <a:rPr lang="es-MX" sz="1700" b="1" dirty="0"/>
              <a:t>Hospital San Gabriel</a:t>
            </a:r>
            <a:r>
              <a:rPr lang="es-MX" sz="1700" dirty="0"/>
              <a:t> deje atrás el caos de los papeles y las demoras, la solución no es solo "comprar computadoras", sino implementar un </a:t>
            </a:r>
            <a:r>
              <a:rPr lang="es-MX" sz="1700" b="1" dirty="0"/>
              <a:t>Sistema de Gestión Hospitalaria Integral (HIS)</a:t>
            </a:r>
            <a:r>
              <a:rPr lang="es-MX" sz="1700" dirty="0"/>
              <a:t> basado en la nube.</a:t>
            </a:r>
          </a:p>
          <a:p>
            <a:pPr>
              <a:buAutoNum type="arabicPeriod"/>
            </a:pPr>
            <a:r>
              <a:rPr lang="es-MX" sz="1700" b="1" dirty="0"/>
              <a:t>El "Cerebro" Central </a:t>
            </a:r>
            <a:r>
              <a:rPr lang="es-MX" sz="1700" dirty="0"/>
              <a:t>(Base de Datos Única): La solución principal es crear una </a:t>
            </a:r>
            <a:r>
              <a:rPr lang="es-MX" sz="1700" b="1" dirty="0"/>
              <a:t>Ficha Digital Única</a:t>
            </a:r>
            <a:r>
              <a:rPr lang="es-MX" sz="1700" dirty="0"/>
              <a:t>.</a:t>
            </a:r>
          </a:p>
          <a:p>
            <a:pPr>
              <a:buAutoNum type="arabicPeriod"/>
            </a:pPr>
            <a:r>
              <a:rPr lang="es-PE" sz="1700" b="1" dirty="0"/>
              <a:t>Módulos de la Solución</a:t>
            </a:r>
            <a:r>
              <a:rPr lang="es-PE" sz="1700" dirty="0"/>
              <a:t>: </a:t>
            </a:r>
            <a:r>
              <a:rPr lang="es-MX" sz="1700" dirty="0"/>
              <a:t>instalar el sistema por "piezas" que se hablan entre si: </a:t>
            </a:r>
            <a:r>
              <a:rPr lang="es-PE" sz="1700" dirty="0"/>
              <a:t>Portal del Paciente, Estación Médica, Gestor de Camas y Caja Digital.</a:t>
            </a:r>
          </a:p>
          <a:p>
            <a:pPr>
              <a:buAutoNum type="arabicPeriod"/>
            </a:pPr>
            <a:r>
              <a:rPr lang="es-PE" sz="1700" b="1" dirty="0"/>
              <a:t>Infraestructura y Seguridad: </a:t>
            </a:r>
            <a:r>
              <a:rPr lang="es-PE" sz="1700" dirty="0"/>
              <a:t>En la Nube (SaaS), Cifrado de Datos y Copias Automáticas.</a:t>
            </a:r>
            <a:endParaRPr lang="es-MX" sz="1700" b="1" dirty="0"/>
          </a:p>
          <a:p>
            <a:pPr marL="0" indent="0">
              <a:buNone/>
            </a:pPr>
            <a:endParaRPr lang="es-PE" sz="1600" dirty="0"/>
          </a:p>
          <a:p>
            <a:pPr>
              <a:buFontTx/>
              <a:buChar char="-"/>
            </a:pPr>
            <a:endParaRPr lang="es-MX" sz="1600" dirty="0"/>
          </a:p>
          <a:p>
            <a:pPr>
              <a:buAutoNum type="arabicPeriod"/>
            </a:pPr>
            <a:endParaRPr lang="es-MX" sz="1600" dirty="0"/>
          </a:p>
          <a:p>
            <a:pPr>
              <a:buAutoNum type="arabicPeriod"/>
            </a:pP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290831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B0C72A-9432-4868-FF9B-4ACD0C3E6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35" y="412954"/>
            <a:ext cx="7683910" cy="597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6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B4144F-ADD1-2FAF-D230-D9C27E868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10" y="545690"/>
            <a:ext cx="8229600" cy="57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94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2A7E8E-2CAC-5FDC-DEB9-22DCAFD56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497" y="560439"/>
            <a:ext cx="8450826" cy="56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9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C64DCD-7BF1-8D76-9B3F-A3A2C4549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575" y="324465"/>
            <a:ext cx="10087896" cy="615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3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4E5271-7C05-9216-0106-78BF98F0F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058" y="471949"/>
            <a:ext cx="9689690" cy="575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3BB3B3-2CCB-D29D-23FB-97BDE4FD6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542" y="589935"/>
            <a:ext cx="9542205" cy="56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36955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347</TotalTime>
  <Words>353</Words>
  <Application>Microsoft Office PowerPoint</Application>
  <PresentationFormat>Panorámica</PresentationFormat>
  <Paragraphs>37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Espiral</vt:lpstr>
      <vt:lpstr>Sistema Integral para Hospital Privado "San Gabriel" </vt:lpstr>
      <vt:lpstr>Problemática de la empresa</vt:lpstr>
      <vt:lpstr>Requisitos funcionales y no funcionales</vt:lpstr>
      <vt:lpstr>Priorización y justificación</vt:lpstr>
      <vt:lpstr>Propuesta de solución.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Paul Vadillo Moran</dc:creator>
  <cp:lastModifiedBy>Jean Paul Vadillo Moran</cp:lastModifiedBy>
  <cp:revision>1</cp:revision>
  <dcterms:created xsi:type="dcterms:W3CDTF">2026-03-12T20:08:43Z</dcterms:created>
  <dcterms:modified xsi:type="dcterms:W3CDTF">2026-03-13T01:56:41Z</dcterms:modified>
</cp:coreProperties>
</file>