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s-ES"/>
              <a:t> </a:t>
            </a:r>
            <a:r>
              <a:rPr lang="es-ES" altLang="en-US"/>
              <a:t>presentando mi diapositiva</a:t>
            </a:r>
            <a:endParaRPr lang="es-ES" altLang="en-US"/>
          </a:p>
          <a:p>
            <a:r>
              <a:rPr lang="es-ES" altLang="en-US" b="1">
                <a:solidFill>
                  <a:schemeClr val="tx1"/>
                </a:solidFill>
              </a:rPr>
              <a:t>(Marco Alvarado Damiano)</a:t>
            </a:r>
            <a:endParaRPr lang="es-ES" altLang="en-US" b="1">
              <a:solidFill>
                <a:schemeClr val="tx1"/>
              </a:solidFill>
            </a:endParaRPr>
          </a:p>
        </p:txBody>
      </p:sp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10069880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9341535" y="-12890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es-ES" b="1">
                <a:sym typeface="+mn-ea"/>
              </a:rPr>
              <a:t>Sistema Log</a:t>
            </a:r>
            <a:r>
              <a:rPr lang="en-US" altLang="en-US" b="1">
                <a:sym typeface="+mn-ea"/>
              </a:rPr>
              <a:t>í</a:t>
            </a:r>
            <a:r>
              <a:rPr lang="en-US" altLang="es-ES" b="1">
                <a:sym typeface="+mn-ea"/>
              </a:rPr>
              <a:t>stico "TransAndes S.A."</a:t>
            </a:r>
            <a:endParaRPr lang="es-ES" altLang="en-US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077210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3115" y="-120650"/>
            <a:ext cx="5450205" cy="1600200"/>
          </a:xfrm>
        </p:spPr>
        <p:txBody>
          <a:bodyPr/>
          <a:p>
            <a:pPr algn="ctr"/>
            <a:r>
              <a:rPr lang="en-US" altLang="es-ES" b="1">
                <a:sym typeface="+mn-ea"/>
              </a:rPr>
              <a:t>Sistema Log</a:t>
            </a:r>
            <a:r>
              <a:rPr lang="en-US" altLang="en-US" b="1">
                <a:sym typeface="+mn-ea"/>
              </a:rPr>
              <a:t>í</a:t>
            </a:r>
            <a:r>
              <a:rPr lang="en-US" altLang="es-ES" b="1">
                <a:sym typeface="+mn-ea"/>
              </a:rPr>
              <a:t>stico "TransAndes S.A."</a:t>
            </a:r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139065" y="1071880"/>
            <a:ext cx="6859905" cy="578612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rtlCol="0">
            <a:noAutofit/>
          </a:bodyPr>
          <a:p>
            <a:r>
              <a:rPr lang="en-US" altLang="es-ES" sz="1600" b="1"/>
              <a:t>1. Contexto General</a:t>
            </a:r>
            <a:endParaRPr lang="en-US" altLang="es-ES" sz="1600" b="1"/>
          </a:p>
          <a:p>
            <a:r>
              <a:rPr lang="en-US" altLang="es-ES" sz="1600"/>
              <a:t>La universidad cuenta con 4,000 estudiantes y m</a:t>
            </a:r>
            <a:r>
              <a:rPr lang="en-US" altLang="en-US" sz="1600"/>
              <a:t>ú</a:t>
            </a:r>
            <a:r>
              <a:rPr lang="en-US" altLang="es-ES" sz="1600"/>
              <a:t>ltiples facultades. Actualmente utiliza sistemas separados para matr</a:t>
            </a:r>
            <a:r>
              <a:rPr lang="en-US" altLang="en-US" sz="1600"/>
              <a:t>í</a:t>
            </a:r>
            <a:r>
              <a:rPr lang="en-US" altLang="es-ES" sz="1600"/>
              <a:t>cula, pagos y notas. Se presentan problemas frecuentes durante el proceso de inscripci</a:t>
            </a:r>
            <a:r>
              <a:rPr lang="en-US" altLang="en-US" sz="1600"/>
              <a:t>ó</a:t>
            </a:r>
            <a:r>
              <a:rPr lang="en-US" altLang="es-ES" sz="1600"/>
              <a:t>n acad</a:t>
            </a:r>
            <a:r>
              <a:rPr lang="en-US" altLang="en-US" sz="1600"/>
              <a:t>é</a:t>
            </a:r>
            <a:r>
              <a:rPr lang="en-US" altLang="es-ES" sz="1600"/>
              <a:t>mica.</a:t>
            </a:r>
            <a:endParaRPr lang="en-US" altLang="es-ES" sz="1600"/>
          </a:p>
          <a:p>
            <a:endParaRPr lang="en-US" altLang="es-ES" sz="1600"/>
          </a:p>
          <a:p>
            <a:r>
              <a:rPr lang="en-US" altLang="es-ES" sz="1600" b="1"/>
              <a:t>2. Problem</a:t>
            </a:r>
            <a:r>
              <a:rPr lang="en-US" altLang="en-US" sz="1600" b="1"/>
              <a:t>á</a:t>
            </a:r>
            <a:r>
              <a:rPr lang="en-US" altLang="es-ES" sz="1600" b="1"/>
              <a:t>tica</a:t>
            </a:r>
            <a:endParaRPr lang="en-US" altLang="es-E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Inscripciones sin cumplir prerrequisitos.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Sobrecupo en cursos.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Conflictos de horario.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Retraso en validaci</a:t>
            </a:r>
            <a:r>
              <a:rPr lang="en-US" altLang="en-US" sz="1600"/>
              <a:t>ó</a:t>
            </a:r>
            <a:r>
              <a:rPr lang="en-US" altLang="es-ES" sz="1600"/>
              <a:t>n de pagos.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Falta de integraci</a:t>
            </a:r>
            <a:r>
              <a:rPr lang="en-US" altLang="en-US" sz="1600"/>
              <a:t>ó</a:t>
            </a:r>
            <a:r>
              <a:rPr lang="en-US" altLang="es-ES" sz="1600"/>
              <a:t>n acad</a:t>
            </a:r>
            <a:r>
              <a:rPr lang="en-US" altLang="en-US" sz="1600"/>
              <a:t>é</a:t>
            </a:r>
            <a:r>
              <a:rPr lang="en-US" altLang="es-ES" sz="1600"/>
              <a:t>mica-financiera.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No existe portal completo para docentes y estudiantes.</a:t>
            </a:r>
            <a:endParaRPr lang="en-US" altLang="es-ES" sz="1600"/>
          </a:p>
          <a:p>
            <a:endParaRPr lang="en-US" altLang="es-ES" sz="1600"/>
          </a:p>
          <a:p>
            <a:r>
              <a:rPr lang="en-US" altLang="es-ES" sz="1600" b="1"/>
              <a:t>3. Necesidad Empresarial</a:t>
            </a:r>
            <a:endParaRPr lang="en-US" altLang="es-ES" sz="16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Se requiere un sistema que permita: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Matr</a:t>
            </a:r>
            <a:r>
              <a:rPr lang="en-US" altLang="en-US" sz="1600"/>
              <a:t>í</a:t>
            </a:r>
            <a:r>
              <a:rPr lang="en-US" altLang="es-ES" sz="1600"/>
              <a:t>cula integrada.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Validaci</a:t>
            </a:r>
            <a:r>
              <a:rPr lang="en-US" altLang="en-US" sz="1600"/>
              <a:t>ó</a:t>
            </a:r>
            <a:r>
              <a:rPr lang="en-US" altLang="es-ES" sz="1600"/>
              <a:t>n autom</a:t>
            </a:r>
            <a:r>
              <a:rPr lang="en-US" altLang="en-US" sz="1600"/>
              <a:t>á</a:t>
            </a:r>
            <a:r>
              <a:rPr lang="en-US" altLang="es-ES" sz="1600"/>
              <a:t>tica de prerrequisitos.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Control de cupos.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Registro de notas y asistencia.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Portal estudiantil y docente.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Reportes acad</a:t>
            </a:r>
            <a:r>
              <a:rPr lang="en-US" altLang="en-US" sz="1600"/>
              <a:t>é</a:t>
            </a:r>
            <a:r>
              <a:rPr lang="en-US" altLang="es-ES" sz="1600"/>
              <a:t>micos.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Auditor</a:t>
            </a:r>
            <a:r>
              <a:rPr lang="en-US" altLang="en-US" sz="1600"/>
              <a:t>í</a:t>
            </a:r>
            <a:r>
              <a:rPr lang="en-US" altLang="es-ES" sz="1600"/>
              <a:t>a y respaldo.</a:t>
            </a:r>
            <a:endParaRPr lang="en-US" altLang="es-E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 sz="1600"/>
              <a:t>Escalabilidad institucional.</a:t>
            </a:r>
            <a:endParaRPr lang="es-ES" altLang="en-US" sz="1600"/>
          </a:p>
        </p:txBody>
      </p:sp>
      <p:sp>
        <p:nvSpPr>
          <p:cNvPr id="10" name="Cuadro de texto 9"/>
          <p:cNvSpPr txBox="1"/>
          <p:nvPr/>
        </p:nvSpPr>
        <p:spPr>
          <a:xfrm>
            <a:off x="8357235" y="394335"/>
            <a:ext cx="2687320" cy="3683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r>
              <a:rPr lang="es-ES" altLang="en-US"/>
              <a:t>PROPUESTA DE SOLUCION</a:t>
            </a:r>
            <a:endParaRPr lang="es-ES" altLang="en-US"/>
          </a:p>
        </p:txBody>
      </p:sp>
      <p:sp>
        <p:nvSpPr>
          <p:cNvPr id="18" name="Cuadro de texto 17"/>
          <p:cNvSpPr txBox="1"/>
          <p:nvPr/>
        </p:nvSpPr>
        <p:spPr>
          <a:xfrm>
            <a:off x="7390765" y="947420"/>
            <a:ext cx="4620895" cy="2030095"/>
          </a:xfrm>
          <a:prstGeom prst="rect">
            <a:avLst/>
          </a:prstGeom>
          <a:solidFill>
            <a:schemeClr val="bg2">
              <a:lumMod val="75000"/>
              <a:alpha val="65000"/>
            </a:schemeClr>
          </a:solidFill>
        </p:spPr>
        <p:txBody>
          <a:bodyPr wrap="square" rtlCol="0">
            <a:spAutoFit/>
          </a:bodyPr>
          <a:p>
            <a:r>
              <a:rPr lang="en-US" altLang="es-ES" b="1"/>
              <a:t>La solucion de este caso es implementar un nuevo sistema digital que ayude a regularizar sus rutas, rastree la mercanc</a:t>
            </a:r>
            <a:r>
              <a:rPr lang="en-US" altLang="en-US" b="1"/>
              <a:t>í</a:t>
            </a:r>
            <a:r>
              <a:rPr lang="en-US" altLang="es-ES" b="1"/>
              <a:t>a en tiempo real y automatice las alertas de mantenimiento. Al digitalizar los reportes, eliminas el papeleo a mano y lograr una operaci</a:t>
            </a:r>
            <a:r>
              <a:rPr lang="en-US" altLang="en-US" b="1"/>
              <a:t>ó</a:t>
            </a:r>
            <a:r>
              <a:rPr lang="en-US" altLang="es-ES" b="1"/>
              <a:t>n transparente, eficiente y con datos precisos en el sistema</a:t>
            </a:r>
            <a:endParaRPr lang="en-US" altLang="es-ES" b="1"/>
          </a:p>
        </p:txBody>
      </p:sp>
      <p:sp>
        <p:nvSpPr>
          <p:cNvPr id="19" name="Cuadro de texto 18"/>
          <p:cNvSpPr txBox="1"/>
          <p:nvPr/>
        </p:nvSpPr>
        <p:spPr>
          <a:xfrm>
            <a:off x="7210425" y="3576320"/>
            <a:ext cx="4801235" cy="2306955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en-US" altLang="es-ES" b="1"/>
              <a:t>Priorizaci</a:t>
            </a:r>
            <a:r>
              <a:rPr lang="en-US" altLang="en-US" b="1"/>
              <a:t>ó</a:t>
            </a:r>
            <a:r>
              <a:rPr lang="en-US" altLang="es-ES" b="1"/>
              <a:t>n y Justificaci</a:t>
            </a:r>
            <a:r>
              <a:rPr lang="en-US" altLang="en-US" b="1"/>
              <a:t>ó</a:t>
            </a:r>
            <a:r>
              <a:rPr lang="en-US" altLang="es-ES" b="1"/>
              <a:t>n</a:t>
            </a:r>
            <a:endParaRPr lang="en-US" altLang="es-ES" b="1"/>
          </a:p>
          <a:p>
            <a:pPr algn="ctr"/>
            <a:endParaRPr lang="en-US" altLang="es-ES"/>
          </a:p>
          <a:p>
            <a:r>
              <a:rPr lang="en-US" altLang="es-ES" b="1"/>
              <a:t>Prioridad: Primero digitalizar el despacho (el coraz</a:t>
            </a:r>
            <a:r>
              <a:rPr lang="en-US" altLang="en-US" b="1"/>
              <a:t>ó</a:t>
            </a:r>
            <a:r>
              <a:rPr lang="en-US" altLang="es-ES" b="1"/>
              <a:t>n del negocio) y luego el mantenimiento</a:t>
            </a:r>
            <a:r>
              <a:rPr lang="en-US" altLang="es-ES"/>
              <a:t>.</a:t>
            </a:r>
            <a:endParaRPr lang="en-US" altLang="es-ES"/>
          </a:p>
          <a:p>
            <a:endParaRPr lang="en-US" altLang="es-ES"/>
          </a:p>
          <a:p>
            <a:r>
              <a:rPr lang="en-US" altLang="es-ES" b="1"/>
              <a:t>Justificaci</a:t>
            </a:r>
            <a:r>
              <a:rPr lang="en-US" altLang="en-US" b="1"/>
              <a:t>ó</a:t>
            </a:r>
            <a:r>
              <a:rPr lang="en-US" altLang="es-ES" b="1"/>
              <a:t>n: Se implementa para eliminar el error humano de los Excel y reducir gastos por camiones malogrados en ruta.</a:t>
            </a:r>
            <a:endParaRPr lang="en-US" altLang="es-E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Marcador de posición de texto 6"/>
          <p:cNvSpPr>
            <a:spLocks noGrp="1"/>
          </p:cNvSpPr>
          <p:nvPr>
            <p:ph type="body" sz="quarter" idx="3"/>
          </p:nvPr>
        </p:nvSpPr>
        <p:spPr>
          <a:xfrm>
            <a:off x="6085205" y="276225"/>
            <a:ext cx="5196840" cy="648970"/>
          </a:xfrm>
        </p:spPr>
        <p:txBody>
          <a:bodyPr/>
          <a:p>
            <a:pPr algn="ctr"/>
            <a:r>
              <a:rPr lang="es-ES" altLang="en-US"/>
              <a:t>requisitos no funcionales</a:t>
            </a:r>
            <a:endParaRPr lang="es-ES" altLang="en-US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830580" y="276225"/>
            <a:ext cx="5157470" cy="648970"/>
          </a:xfrm>
        </p:spPr>
        <p:txBody>
          <a:bodyPr/>
          <a:p>
            <a:pPr algn="ctr"/>
            <a:r>
              <a:rPr lang="es-ES" altLang="en-US"/>
              <a:t>requisitos funcionales</a:t>
            </a:r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6085205" y="1210945"/>
            <a:ext cx="5522595" cy="4426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 b="1"/>
              <a:t>Es decir, c</a:t>
            </a:r>
            <a:r>
              <a:rPr lang="en-US" altLang="en-US" b="1"/>
              <a:t>ó</a:t>
            </a:r>
            <a:r>
              <a:rPr lang="en-US" altLang="es-ES" b="1"/>
              <a:t>mo debe trabajar el sistema para que sea confiable.</a:t>
            </a:r>
            <a:endParaRPr lang="en-US" altLang="es-ES" b="1"/>
          </a:p>
          <a:p>
            <a:endParaRPr lang="en-US" altLang="es-ES" b="1"/>
          </a:p>
          <a:p>
            <a:r>
              <a:rPr lang="en-US" altLang="es-ES" b="1"/>
              <a:t>Seguridad de la Informaci</a:t>
            </a:r>
            <a:r>
              <a:rPr lang="en-US" altLang="en-US" b="1"/>
              <a:t>ó</a:t>
            </a:r>
            <a:r>
              <a:rPr lang="en-US" altLang="es-ES" b="1"/>
              <a:t>n: Que nadie de afuera pueda ver a qu</a:t>
            </a:r>
            <a:r>
              <a:rPr lang="en-US" altLang="en-US" b="1"/>
              <a:t>é</a:t>
            </a:r>
            <a:r>
              <a:rPr lang="en-US" altLang="es-ES" b="1"/>
              <a:t> clientes les trabajas ni cu</a:t>
            </a:r>
            <a:r>
              <a:rPr lang="en-US" altLang="en-US" b="1"/>
              <a:t>á</a:t>
            </a:r>
            <a:r>
              <a:rPr lang="en-US" altLang="es-ES" b="1"/>
              <a:t>nto les cobras.</a:t>
            </a:r>
            <a:endParaRPr lang="en-US" altLang="es-ES" b="1"/>
          </a:p>
          <a:p>
            <a:endParaRPr lang="en-US" altLang="es-ES" b="1"/>
          </a:p>
          <a:p>
            <a:r>
              <a:rPr lang="en-US" altLang="es-ES" b="1"/>
              <a:t>Control de Usuarios: Que cada empleado tenga su propia clave y solo vea lo que le corresponde (por ejemplo, que el chofer no vea las finanzas).</a:t>
            </a:r>
            <a:endParaRPr lang="en-US" altLang="es-ES" b="1"/>
          </a:p>
          <a:p>
            <a:endParaRPr lang="en-US" altLang="es-ES" b="1"/>
          </a:p>
          <a:p>
            <a:r>
              <a:rPr lang="en-US" altLang="es-ES" b="1"/>
              <a:t>Rapidez: Que el sistema no se "cuelgue" cuando los 60 camiones est</a:t>
            </a:r>
            <a:r>
              <a:rPr lang="en-US" altLang="en-US" b="1"/>
              <a:t>é</a:t>
            </a:r>
            <a:r>
              <a:rPr lang="en-US" altLang="es-ES" b="1"/>
              <a:t>n en ruta al mismo tiempo.</a:t>
            </a:r>
            <a:endParaRPr lang="en-US" altLang="es-ES" b="1"/>
          </a:p>
          <a:p>
            <a:endParaRPr lang="en-US" altLang="es-ES" b="1"/>
          </a:p>
          <a:p>
            <a:r>
              <a:rPr lang="en-US" altLang="es-ES" b="1"/>
              <a:t>F</a:t>
            </a:r>
            <a:r>
              <a:rPr lang="en-US" altLang="en-US" b="1"/>
              <a:t>á</a:t>
            </a:r>
            <a:r>
              <a:rPr lang="en-US" altLang="es-ES" b="1"/>
              <a:t>cil de usar: Que sea tan sencillo que cualquier despachador o chofer aprenda a usarlo en 10 minutos.</a:t>
            </a:r>
            <a:endParaRPr lang="en-US" altLang="es-ES" b="1"/>
          </a:p>
        </p:txBody>
      </p:sp>
      <p:sp>
        <p:nvSpPr>
          <p:cNvPr id="17" name="Cuadro de texto 16"/>
          <p:cNvSpPr txBox="1"/>
          <p:nvPr/>
        </p:nvSpPr>
        <p:spPr>
          <a:xfrm>
            <a:off x="639445" y="1103630"/>
            <a:ext cx="4948555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1600" b="1"/>
              <a:t>Es decir, las herramientas que el sistema debe tener s</a:t>
            </a:r>
            <a:r>
              <a:rPr lang="en-US" altLang="en-US" sz="1600" b="1"/>
              <a:t>í</a:t>
            </a:r>
            <a:r>
              <a:rPr lang="en-US" altLang="es-ES" sz="1600" b="1"/>
              <a:t> o s</a:t>
            </a:r>
            <a:r>
              <a:rPr lang="en-US" altLang="en-US" sz="1600" b="1"/>
              <a:t>í</a:t>
            </a:r>
            <a:r>
              <a:rPr lang="en-US" altLang="es-ES" sz="1600" b="1"/>
              <a:t> para que la empresa funcione.</a:t>
            </a:r>
            <a:endParaRPr lang="en-US" altLang="es-ES" sz="1600" b="1"/>
          </a:p>
          <a:p>
            <a:endParaRPr lang="en-US" altLang="es-ES" sz="1600" b="1"/>
          </a:p>
          <a:p>
            <a:r>
              <a:rPr lang="en-US" altLang="es-ES" sz="1600" b="1"/>
              <a:t>Registro de Clientes: Una agenda digital para guardar a los 120 clientes y no buscarlos en papeles o chats.</a:t>
            </a:r>
            <a:endParaRPr lang="en-US" altLang="es-ES" sz="1600" b="1"/>
          </a:p>
          <a:p>
            <a:endParaRPr lang="en-US" altLang="es-ES" sz="1600" b="1"/>
          </a:p>
          <a:p>
            <a:r>
              <a:rPr lang="" altLang="en-US" sz="1600" b="1"/>
              <a:t>Ó</a:t>
            </a:r>
            <a:r>
              <a:rPr lang="en-US" altLang="es-ES" sz="1600" b="1"/>
              <a:t>rdenes de Transporte: Un bot</a:t>
            </a:r>
            <a:r>
              <a:rPr lang="en-US" altLang="en-US" sz="1600" b="1"/>
              <a:t>ó</a:t>
            </a:r>
            <a:r>
              <a:rPr lang="en-US" altLang="es-ES" sz="1600" b="1"/>
              <a:t>n para crear cada viaje nuevo, anotando qu</a:t>
            </a:r>
            <a:r>
              <a:rPr lang="en-US" altLang="en-US" sz="1600" b="1"/>
              <a:t>é</a:t>
            </a:r>
            <a:r>
              <a:rPr lang="en-US" altLang="es-ES" sz="1600" b="1"/>
              <a:t> se lleva y a d</a:t>
            </a:r>
            <a:r>
              <a:rPr lang="en-US" altLang="en-US" sz="1600" b="1"/>
              <a:t>ó</a:t>
            </a:r>
            <a:r>
              <a:rPr lang="en-US" altLang="es-ES" sz="1600" b="1"/>
              <a:t>nde.</a:t>
            </a:r>
            <a:endParaRPr lang="en-US" altLang="es-ES" sz="1600" b="1"/>
          </a:p>
          <a:p>
            <a:endParaRPr lang="en-US" altLang="es-ES" sz="1600" b="1"/>
          </a:p>
          <a:p>
            <a:r>
              <a:rPr lang="en-US" altLang="es-ES" sz="1600" b="1"/>
              <a:t>Asignaci</a:t>
            </a:r>
            <a:r>
              <a:rPr lang="en-US" altLang="en-US" sz="1600" b="1"/>
              <a:t>ó</a:t>
            </a:r>
            <a:r>
              <a:rPr lang="en-US" altLang="es-ES" sz="1600" b="1"/>
              <a:t>n de Camiones y Choferes: Poder elegir cu</a:t>
            </a:r>
            <a:r>
              <a:rPr lang="en-US" altLang="en-US" sz="1600" b="1"/>
              <a:t>á</a:t>
            </a:r>
            <a:r>
              <a:rPr lang="en-US" altLang="es-ES" sz="1600" b="1"/>
              <a:t>l de los 60 camiones sale y qui</a:t>
            </a:r>
            <a:r>
              <a:rPr lang="en-US" altLang="en-US" sz="1600" b="1"/>
              <a:t>é</a:t>
            </a:r>
            <a:r>
              <a:rPr lang="en-US" altLang="es-ES" sz="1600" b="1"/>
              <a:t>n lo maneja (y que el sistema te avise si el cami</a:t>
            </a:r>
            <a:r>
              <a:rPr lang="en-US" altLang="en-US" sz="1600" b="1"/>
              <a:t>ó</a:t>
            </a:r>
            <a:r>
              <a:rPr lang="en-US" altLang="es-ES" sz="1600" b="1"/>
              <a:t>n est</a:t>
            </a:r>
            <a:r>
              <a:rPr lang="en-US" altLang="en-US" sz="1600" b="1"/>
              <a:t>á</a:t>
            </a:r>
            <a:r>
              <a:rPr lang="en-US" altLang="es-ES" sz="1600" b="1"/>
              <a:t> malogrado).</a:t>
            </a:r>
            <a:endParaRPr lang="en-US" altLang="es-ES" sz="1600" b="1"/>
          </a:p>
          <a:p>
            <a:endParaRPr lang="en-US" altLang="es-ES" sz="1600" b="1"/>
          </a:p>
          <a:p>
            <a:r>
              <a:rPr lang="en-US" altLang="es-ES" sz="1600" b="1"/>
              <a:t>Seguimiento de Env</a:t>
            </a:r>
            <a:r>
              <a:rPr lang="en-US" altLang="en-US" sz="1600" b="1"/>
              <a:t>í</a:t>
            </a:r>
            <a:r>
              <a:rPr lang="en-US" altLang="es-ES" sz="1600" b="1"/>
              <a:t>os (GPS/Estados): Saber en qu</a:t>
            </a:r>
            <a:r>
              <a:rPr lang="en-US" altLang="en-US" sz="1600" b="1"/>
              <a:t>é</a:t>
            </a:r>
            <a:r>
              <a:rPr lang="en-US" altLang="es-ES" sz="1600" b="1"/>
              <a:t> parte de la carretera est</a:t>
            </a:r>
            <a:r>
              <a:rPr lang="en-US" altLang="en-US" sz="1600" b="1"/>
              <a:t>á</a:t>
            </a:r>
            <a:r>
              <a:rPr lang="en-US" altLang="es-ES" sz="1600" b="1"/>
              <a:t> la mercader</a:t>
            </a:r>
            <a:r>
              <a:rPr lang="en-US" altLang="en-US" sz="1600" b="1"/>
              <a:t>í</a:t>
            </a:r>
            <a:r>
              <a:rPr lang="en-US" altLang="es-ES" sz="1600" b="1"/>
              <a:t>a en tiempo real.</a:t>
            </a:r>
            <a:endParaRPr lang="en-US" altLang="es-ES" sz="1600" b="1"/>
          </a:p>
          <a:p>
            <a:endParaRPr lang="en-US" altLang="es-ES" sz="1600" b="1"/>
          </a:p>
          <a:p>
            <a:r>
              <a:rPr lang="en-US" altLang="es-ES" sz="1600" b="1"/>
              <a:t>Control de Mantenimiento: Un calendario que avise cu</a:t>
            </a:r>
            <a:r>
              <a:rPr lang="en-US" altLang="en-US" sz="1600" b="1"/>
              <a:t>á</a:t>
            </a:r>
            <a:r>
              <a:rPr lang="en-US" altLang="es-ES" sz="1600" b="1"/>
              <a:t>ndo le toca cambio de aceite o llantas a cada cami</a:t>
            </a:r>
            <a:r>
              <a:rPr lang="en-US" altLang="en-US" sz="1600" b="1"/>
              <a:t>ó</a:t>
            </a:r>
            <a:r>
              <a:rPr lang="en-US" altLang="es-ES" sz="1600" b="1"/>
              <a:t>n para que no se malogren en plena ruta.</a:t>
            </a:r>
            <a:endParaRPr lang="en-US" altLang="es-ES" sz="1600" b="1"/>
          </a:p>
          <a:p>
            <a:endParaRPr lang="en-US" altLang="es-ES" sz="1600" b="1"/>
          </a:p>
          <a:p>
            <a:r>
              <a:rPr lang="en-US" altLang="es-ES" sz="1600" b="1"/>
              <a:t>Reportes Autom</a:t>
            </a:r>
            <a:r>
              <a:rPr lang="en-US" altLang="en-US" sz="1600" b="1"/>
              <a:t>á</a:t>
            </a:r>
            <a:r>
              <a:rPr lang="en-US" altLang="es-ES" sz="1600" b="1"/>
              <a:t>ticos: Un bot</a:t>
            </a:r>
            <a:r>
              <a:rPr lang="en-US" altLang="en-US" sz="1600" b="1"/>
              <a:t>ó</a:t>
            </a:r>
            <a:r>
              <a:rPr lang="en-US" altLang="es-ES" sz="1600" b="1"/>
              <a:t>n que rinda cuentas de cu</a:t>
            </a:r>
            <a:r>
              <a:rPr lang="en-US" altLang="en-US" sz="1600" b="1"/>
              <a:t>á</a:t>
            </a:r>
            <a:r>
              <a:rPr lang="en-US" altLang="es-ES" sz="1600" b="1"/>
              <a:t>ntos viajes se hicieron, sin tener que sumar a mano en Excel.</a:t>
            </a:r>
            <a:endParaRPr lang="en-US" altLang="es-ES" sz="16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7" name="Imagen 6" descr="diagrama caso de uso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72540"/>
            <a:ext cx="6253480" cy="5229860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39445" y="1073150"/>
            <a:ext cx="6621145" cy="5669915"/>
          </a:xfrm>
          <a:prstGeom prst="rect">
            <a:avLst/>
          </a:prstGeom>
          <a:solidFill>
            <a:srgbClr val="202020">
              <a:alpha val="1000"/>
            </a:srgbClr>
          </a:solidFill>
          <a:ln w="603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1214755" y="276225"/>
            <a:ext cx="566928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p>
            <a:r>
              <a:rPr lang="es-ES" altLang="en-US" sz="2800" b="1">
                <a:latin typeface="Broadway" panose="04040905080B02020502" charset="0"/>
                <a:cs typeface="Broadway" panose="04040905080B02020502" charset="0"/>
              </a:rPr>
              <a:t>DIAGRAMA DE CASO DE USO</a:t>
            </a:r>
            <a:endParaRPr lang="es-ES" altLang="en-US" sz="2800" b="1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7425055" y="592455"/>
            <a:ext cx="4573270" cy="5494655"/>
          </a:xfrm>
          <a:prstGeom prst="rect">
            <a:avLst/>
          </a:prstGeom>
          <a:solidFill>
            <a:srgbClr val="B2B2B2">
              <a:alpha val="63000"/>
            </a:srgbClr>
          </a:solidFill>
        </p:spPr>
        <p:txBody>
          <a:bodyPr wrap="square" rtlCol="0">
            <a:noAutofit/>
          </a:bodyPr>
          <a:p>
            <a:r>
              <a:rPr lang="en-US" altLang="es-ES" b="1">
                <a:solidFill>
                  <a:schemeClr val="tx1"/>
                </a:solidFill>
                <a:uFillTx/>
              </a:rPr>
              <a:t>El Administrador centraliza el control operativo, gestionando usuarios, flota, asignaci</a:t>
            </a:r>
            <a:r>
              <a:rPr lang="en-US" altLang="en-US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b="1">
                <a:solidFill>
                  <a:schemeClr val="tx1"/>
                </a:solidFill>
                <a:uFillTx/>
              </a:rPr>
              <a:t>n de rutas y generaci</a:t>
            </a:r>
            <a:r>
              <a:rPr lang="en-US" altLang="en-US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b="1">
                <a:solidFill>
                  <a:schemeClr val="tx1"/>
                </a:solidFill>
                <a:uFillTx/>
              </a:rPr>
              <a:t>n de reportes. Por su parte, el Encargado de Mantenimiento se enfoca exclusivamente en la disponibilidad t</a:t>
            </a:r>
            <a:r>
              <a:rPr lang="en-US" altLang="en-US" b="1">
                <a:solidFill>
                  <a:schemeClr val="tx1"/>
                </a:solidFill>
                <a:uFillTx/>
              </a:rPr>
              <a:t>é</a:t>
            </a:r>
            <a:r>
              <a:rPr lang="en-US" altLang="es-ES" b="1">
                <a:solidFill>
                  <a:schemeClr val="tx1"/>
                </a:solidFill>
                <a:uFillTx/>
              </a:rPr>
              <a:t>cnica de los veh</a:t>
            </a:r>
            <a:r>
              <a:rPr lang="en-US" altLang="en-US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b="1">
                <a:solidFill>
                  <a:schemeClr val="tx1"/>
                </a:solidFill>
                <a:uFillTx/>
              </a:rPr>
              <a:t>culos y la programaci</a:t>
            </a:r>
            <a:r>
              <a:rPr lang="en-US" altLang="en-US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b="1">
                <a:solidFill>
                  <a:schemeClr val="tx1"/>
                </a:solidFill>
                <a:uFillTx/>
              </a:rPr>
              <a:t>n de sus revisiones.</a:t>
            </a:r>
            <a:endParaRPr lang="en-US" altLang="es-ES" b="1">
              <a:solidFill>
                <a:schemeClr val="tx1"/>
              </a:solidFill>
              <a:uFillTx/>
            </a:endParaRPr>
          </a:p>
          <a:p>
            <a:endParaRPr lang="en-US" altLang="es-ES" b="1">
              <a:solidFill>
                <a:schemeClr val="tx1"/>
              </a:solidFill>
              <a:uFillTx/>
            </a:endParaRPr>
          </a:p>
          <a:p>
            <a:r>
              <a:rPr lang="en-US" altLang="es-ES" b="1">
                <a:solidFill>
                  <a:schemeClr val="tx1"/>
                </a:solidFill>
                <a:uFillTx/>
              </a:rPr>
              <a:t>En el </a:t>
            </a:r>
            <a:r>
              <a:rPr lang="en-US" altLang="en-US" b="1">
                <a:solidFill>
                  <a:schemeClr val="tx1"/>
                </a:solidFill>
                <a:uFillTx/>
              </a:rPr>
              <a:t>á</a:t>
            </a:r>
            <a:r>
              <a:rPr lang="en-US" altLang="es-ES" b="1">
                <a:solidFill>
                  <a:schemeClr val="tx1"/>
                </a:solidFill>
                <a:uFillTx/>
              </a:rPr>
              <a:t>rea operativa, el Cliente accede para registrarse, autenticarse y monitorear sus solicitudes de env</a:t>
            </a:r>
            <a:r>
              <a:rPr lang="en-US" altLang="en-US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b="1">
                <a:solidFill>
                  <a:schemeClr val="tx1"/>
                </a:solidFill>
                <a:uFillTx/>
              </a:rPr>
              <a:t>o. El Conductor utiliza el sistema para consultar sus rutas y pedidos asignados, contando con una funci</a:t>
            </a:r>
            <a:r>
              <a:rPr lang="en-US" altLang="en-US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b="1">
                <a:solidFill>
                  <a:schemeClr val="tx1"/>
                </a:solidFill>
                <a:uFillTx/>
              </a:rPr>
              <a:t>n integrada para reportar incidencias que afecten el estado del transporte.</a:t>
            </a:r>
            <a:endParaRPr lang="en-US" altLang="es-ES" b="1">
              <a:solidFill>
                <a:schemeClr val="tx1"/>
              </a:solidFill>
              <a:uFillTx/>
            </a:endParaRPr>
          </a:p>
          <a:p>
            <a:endParaRPr lang="en-US" altLang="es-ES" b="1">
              <a:solidFill>
                <a:schemeClr val="tx1"/>
              </a:solidFill>
              <a:uFillTx/>
            </a:endParaRPr>
          </a:p>
          <a:p>
            <a:r>
              <a:rPr lang="en-US" altLang="es-ES" b="1">
                <a:solidFill>
                  <a:schemeClr val="tx1"/>
                </a:solidFill>
                <a:uFillTx/>
              </a:rPr>
              <a:t>Finalmente, el sistema unifica estas funciones e incorpora una pasarela de pago para agilizar las transacciones de los servicios prestados.</a:t>
            </a:r>
            <a:endParaRPr lang="en-US" altLang="es-ES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 descr="Diagrama de clase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" y="946785"/>
            <a:ext cx="7150735" cy="536765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107315" y="832485"/>
            <a:ext cx="7342505" cy="5670550"/>
          </a:xfrm>
          <a:prstGeom prst="rect">
            <a:avLst/>
          </a:prstGeom>
          <a:solidFill>
            <a:srgbClr val="202020">
              <a:alpha val="1000"/>
            </a:srgbClr>
          </a:solidFill>
          <a:ln w="603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1739265" y="130175"/>
            <a:ext cx="435864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p>
            <a:r>
              <a:rPr lang="es-ES" altLang="en-US" sz="2800" b="1">
                <a:latin typeface="Broadway" panose="04040905080B02020502" charset="0"/>
                <a:cs typeface="Broadway" panose="04040905080B02020502" charset="0"/>
              </a:rPr>
              <a:t>DIAGRAMA DE CLASE</a:t>
            </a:r>
            <a:endParaRPr lang="es-ES" altLang="en-US" sz="2800" b="1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7449820" y="652145"/>
            <a:ext cx="4573270" cy="5661660"/>
          </a:xfrm>
          <a:prstGeom prst="rect">
            <a:avLst/>
          </a:prstGeom>
          <a:solidFill>
            <a:srgbClr val="B2B2B2">
              <a:alpha val="63000"/>
            </a:srgbClr>
          </a:solidFill>
        </p:spPr>
        <p:txBody>
          <a:bodyPr wrap="square" rtlCol="0">
            <a:noAutofit/>
          </a:bodyPr>
          <a:p>
            <a:r>
              <a:rPr lang="en-US" altLang="es-ES" b="1">
                <a:solidFill>
                  <a:schemeClr val="tx1"/>
                </a:solidFill>
                <a:uFillTx/>
              </a:rPr>
              <a:t>La entidad base es Usuario (ID, nombre, DNI, correo), que gestiona el acceso al sistema. De ella derivan, mediante herencia, los perfiles de Administrador para la gesti</a:t>
            </a:r>
            <a:r>
              <a:rPr lang="en-US" altLang="en-US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b="1">
                <a:solidFill>
                  <a:schemeClr val="tx1"/>
                </a:solidFill>
                <a:uFillTx/>
              </a:rPr>
              <a:t>n de cuentas, Cliente para el registro de pedidos, Conductor para el reporte de sucesos y Encargado de Mantenimiento.</a:t>
            </a:r>
            <a:endParaRPr lang="en-US" altLang="es-ES" b="1">
              <a:solidFill>
                <a:schemeClr val="tx1"/>
              </a:solidFill>
              <a:uFillTx/>
            </a:endParaRPr>
          </a:p>
          <a:p>
            <a:endParaRPr lang="en-US" altLang="es-ES" b="1">
              <a:solidFill>
                <a:schemeClr val="tx1"/>
              </a:solidFill>
              <a:uFillTx/>
            </a:endParaRPr>
          </a:p>
          <a:p>
            <a:r>
              <a:rPr lang="en-US" altLang="es-ES" b="1">
                <a:solidFill>
                  <a:schemeClr val="tx1"/>
                </a:solidFill>
                <a:uFillTx/>
              </a:rPr>
              <a:t>En cuanto al control de flota, la clase Veh</a:t>
            </a:r>
            <a:r>
              <a:rPr lang="en-US" altLang="en-US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b="1">
                <a:solidFill>
                  <a:schemeClr val="tx1"/>
                </a:solidFill>
                <a:uFillTx/>
              </a:rPr>
              <a:t>culo almacena los datos t</a:t>
            </a:r>
            <a:r>
              <a:rPr lang="en-US" altLang="en-US" b="1">
                <a:solidFill>
                  <a:schemeClr val="tx1"/>
                </a:solidFill>
                <a:uFillTx/>
              </a:rPr>
              <a:t>é</a:t>
            </a:r>
            <a:r>
              <a:rPr lang="en-US" altLang="es-ES" b="1">
                <a:solidFill>
                  <a:schemeClr val="tx1"/>
                </a:solidFill>
                <a:uFillTx/>
              </a:rPr>
              <a:t>cnicos de los camiones y se vincula con la clase Mantenimiento para programar las revisiones mec</a:t>
            </a:r>
            <a:r>
              <a:rPr lang="en-US" altLang="en-US" b="1">
                <a:solidFill>
                  <a:schemeClr val="tx1"/>
                </a:solidFill>
                <a:uFillTx/>
              </a:rPr>
              <a:t>á</a:t>
            </a:r>
            <a:r>
              <a:rPr lang="en-US" altLang="es-ES" b="1">
                <a:solidFill>
                  <a:schemeClr val="tx1"/>
                </a:solidFill>
                <a:uFillTx/>
              </a:rPr>
              <a:t>nicas.</a:t>
            </a:r>
            <a:endParaRPr lang="en-US" altLang="es-ES" b="1">
              <a:solidFill>
                <a:schemeClr val="tx1"/>
              </a:solidFill>
              <a:uFillTx/>
            </a:endParaRPr>
          </a:p>
          <a:p>
            <a:endParaRPr lang="en-US" altLang="es-ES" b="1">
              <a:solidFill>
                <a:schemeClr val="tx1"/>
              </a:solidFill>
              <a:uFillTx/>
            </a:endParaRPr>
          </a:p>
          <a:p>
            <a:r>
              <a:rPr lang="en-US" altLang="es-ES" b="1">
                <a:solidFill>
                  <a:schemeClr val="tx1"/>
                </a:solidFill>
                <a:uFillTx/>
              </a:rPr>
              <a:t>Finalmente, la operaci</a:t>
            </a:r>
            <a:r>
              <a:rPr lang="en-US" altLang="en-US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b="1">
                <a:solidFill>
                  <a:schemeClr val="tx1"/>
                </a:solidFill>
                <a:uFillTx/>
              </a:rPr>
              <a:t>n de transporte se centraliza en la clase Pedido, que administra el contenido, las rutas y los estados de env</a:t>
            </a:r>
            <a:r>
              <a:rPr lang="en-US" altLang="en-US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b="1">
                <a:solidFill>
                  <a:schemeClr val="tx1"/>
                </a:solidFill>
                <a:uFillTx/>
              </a:rPr>
              <a:t>o. Esta se conecta con Pago para el procesamiento financiero y con Incidencia para documentar retrasos o cancelaciones.</a:t>
            </a:r>
            <a:endParaRPr lang="en-US" altLang="es-ES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 descr="Diagrama de actividad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45" y="920750"/>
            <a:ext cx="6663055" cy="5581650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511810" y="832485"/>
            <a:ext cx="6925310" cy="5909945"/>
          </a:xfrm>
          <a:prstGeom prst="rect">
            <a:avLst/>
          </a:prstGeom>
          <a:solidFill>
            <a:srgbClr val="202020">
              <a:alpha val="1000"/>
            </a:srgbClr>
          </a:solidFill>
          <a:ln w="603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1378585" y="161290"/>
            <a:ext cx="556387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p>
            <a:r>
              <a:rPr lang="es-ES" altLang="en-US" sz="2800" b="1">
                <a:latin typeface="Broadway" panose="04040905080B02020502" charset="0"/>
                <a:cs typeface="Broadway" panose="04040905080B02020502" charset="0"/>
              </a:rPr>
              <a:t>DIAGRAMA DE ACTIVIDAD</a:t>
            </a:r>
            <a:endParaRPr lang="es-ES" altLang="en-US" sz="2800" b="1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7618730" y="1172210"/>
            <a:ext cx="4475480" cy="5569585"/>
          </a:xfrm>
          <a:prstGeom prst="rect">
            <a:avLst/>
          </a:prstGeom>
          <a:solidFill>
            <a:srgbClr val="B2B2B2">
              <a:alpha val="63000"/>
            </a:srgbClr>
          </a:solidFill>
        </p:spPr>
        <p:txBody>
          <a:bodyPr wrap="square" rtlCol="0">
            <a:noAutofit/>
          </a:bodyPr>
          <a:p>
            <a:r>
              <a:rPr lang="en-US" altLang="es-ES" sz="1600" b="1">
                <a:solidFill>
                  <a:schemeClr val="tx1"/>
                </a:solidFill>
                <a:uFillTx/>
              </a:rPr>
              <a:t>El ciclo comienza con la autenticaci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del usuario, cuyas facultades (administrador, chofer o t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é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cnico) definen las herramientas disponibles. Una vez dentro, el cliente registra una solicitud, habilitando funciones de monitoreo y consulta de estado en tiempo real.</a:t>
            </a:r>
            <a:endParaRPr lang="en-US" altLang="es-ES" sz="1600" b="1">
              <a:solidFill>
                <a:schemeClr val="tx1"/>
              </a:solidFill>
              <a:uFillTx/>
            </a:endParaRPr>
          </a:p>
          <a:p>
            <a:endParaRPr lang="en-US" altLang="es-ES" sz="1600" b="1">
              <a:solidFill>
                <a:schemeClr val="tx1"/>
              </a:solidFill>
              <a:uFillTx/>
            </a:endParaRPr>
          </a:p>
          <a:p>
            <a:r>
              <a:rPr lang="en-US" altLang="es-ES" sz="1600" b="1">
                <a:solidFill>
                  <a:schemeClr val="tx1"/>
                </a:solidFill>
                <a:uFillTx/>
              </a:rPr>
              <a:t>Posteriormente, el sistema ejecuta la validaci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 datos, genera el documento de transporte y designa a un operario. En la fase de planificaci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log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stica, se establece y ratifica el itinerario, previendo ajustes ante posibles faltas de disponibilidad. Confirmada la ruta, se vincula formalmente la unidad de carga con el conductor asignado.</a:t>
            </a:r>
            <a:endParaRPr lang="en-US" altLang="es-ES" sz="1600" b="1">
              <a:solidFill>
                <a:schemeClr val="tx1"/>
              </a:solidFill>
              <a:uFillTx/>
            </a:endParaRPr>
          </a:p>
          <a:p>
            <a:endParaRPr lang="en-US" altLang="es-ES" sz="1600" b="1">
              <a:solidFill>
                <a:schemeClr val="tx1"/>
              </a:solidFill>
              <a:uFillTx/>
            </a:endParaRPr>
          </a:p>
          <a:p>
            <a:r>
              <a:rPr lang="en-US" altLang="es-ES" sz="1600" b="1">
                <a:solidFill>
                  <a:schemeClr val="tx1"/>
                </a:solidFill>
                <a:uFillTx/>
              </a:rPr>
              <a:t>El flujo concluye con la capacidad de reportar eventualidades durante el trayecto y, finalmente, el cierre de la sesi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n. En esencia, el esquema articula la trazabilidad total del pedido, integrando la gesti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 recursos con la ejecuci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del transporte</a:t>
            </a:r>
            <a:r>
              <a:rPr lang="en-US" altLang="es-ES" sz="1600">
                <a:solidFill>
                  <a:schemeClr val="tx1"/>
                </a:solidFill>
                <a:uFillTx/>
              </a:rPr>
              <a:t>.</a:t>
            </a:r>
            <a:endParaRPr lang="en-US" altLang="es-ES" sz="16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 descr="Diagrama de estado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45" y="1099820"/>
            <a:ext cx="6077585" cy="5402580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92735" y="946785"/>
            <a:ext cx="6834505" cy="5795645"/>
          </a:xfrm>
          <a:prstGeom prst="rect">
            <a:avLst/>
          </a:prstGeom>
          <a:solidFill>
            <a:srgbClr val="202020">
              <a:alpha val="1000"/>
            </a:srgbClr>
          </a:solidFill>
          <a:ln w="603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1460500" y="276225"/>
            <a:ext cx="449961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p>
            <a:r>
              <a:rPr lang="es-ES" altLang="en-US" sz="2800" b="1">
                <a:latin typeface="Broadway" panose="04040905080B02020502" charset="0"/>
                <a:cs typeface="Broadway" panose="04040905080B02020502" charset="0"/>
              </a:rPr>
              <a:t>DIAGRAMA DE ESTADO</a:t>
            </a:r>
            <a:endParaRPr lang="es-ES" altLang="en-US" sz="2800" b="1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7306945" y="798195"/>
            <a:ext cx="4475480" cy="5483860"/>
          </a:xfrm>
          <a:prstGeom prst="rect">
            <a:avLst/>
          </a:prstGeom>
          <a:solidFill>
            <a:srgbClr val="B2B2B2">
              <a:alpha val="63000"/>
            </a:srgbClr>
          </a:solidFill>
        </p:spPr>
        <p:txBody>
          <a:bodyPr wrap="square" rtlCol="0">
            <a:noAutofit/>
          </a:bodyPr>
          <a:p>
            <a:r>
              <a:rPr lang="en-US" altLang="es-ES" sz="1600" b="1">
                <a:solidFill>
                  <a:schemeClr val="tx1"/>
                </a:solidFill>
                <a:uFillTx/>
              </a:rPr>
              <a:t>Este diagrama de estados describe el ciclo de vida de un pedido dentro del sistema log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stico. El flujo inicia con la solicitud del pedido, donde se registran los datos iniciales y se env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an a una fase de validaci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para asegurar que toda la informaci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sea correcta antes de proceder.</a:t>
            </a:r>
            <a:endParaRPr lang="en-US" altLang="es-ES" sz="1600" b="1">
              <a:solidFill>
                <a:schemeClr val="tx1"/>
              </a:solidFill>
              <a:uFillTx/>
            </a:endParaRPr>
          </a:p>
          <a:p>
            <a:endParaRPr lang="en-US" altLang="es-ES" sz="1600" b="1">
              <a:solidFill>
                <a:schemeClr val="tx1"/>
              </a:solidFill>
              <a:uFillTx/>
            </a:endParaRPr>
          </a:p>
          <a:p>
            <a:r>
              <a:rPr lang="en-US" altLang="es-ES" sz="1600" b="1">
                <a:solidFill>
                  <a:schemeClr val="tx1"/>
                </a:solidFill>
                <a:uFillTx/>
              </a:rPr>
              <a:t>Una parte cr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tica del proceso es la verificaci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del estado de las unidades. Si se detectan problemas, el sistema deriva el flujo a una etapa de mantenimiento; una vez que todo est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á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 en orden, se retorna a la validaci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para continuar con el despacho. Posteriormente, el pedido entra en la fase de verificaci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y tr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á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nsito, donde se gestiona el env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o hacia su destino final.</a:t>
            </a:r>
            <a:endParaRPr lang="en-US" altLang="es-ES" sz="1600" b="1">
              <a:solidFill>
                <a:schemeClr val="tx1"/>
              </a:solidFill>
              <a:uFillTx/>
            </a:endParaRPr>
          </a:p>
          <a:p>
            <a:endParaRPr lang="en-US" altLang="es-ES" sz="1600" b="1">
              <a:solidFill>
                <a:schemeClr val="tx1"/>
              </a:solidFill>
              <a:uFillTx/>
            </a:endParaRPr>
          </a:p>
          <a:p>
            <a:r>
              <a:rPr lang="en-US" altLang="es-ES" sz="1600" b="1">
                <a:solidFill>
                  <a:schemeClr val="tx1"/>
                </a:solidFill>
                <a:uFillTx/>
              </a:rPr>
              <a:t>El ciclo concluye cuando se confirma la llegada al destino, pasando el pedido al estado de entregado. Este paso final representa el cierre de la compra y marca la terminaci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formal de la operaci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log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stica en el sistema.</a:t>
            </a:r>
            <a:endParaRPr lang="en-US" altLang="es-ES" sz="1600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 descr="diagrama de componentes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810" y="1009015"/>
            <a:ext cx="6370955" cy="549338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280035" y="831850"/>
            <a:ext cx="6834505" cy="5796280"/>
          </a:xfrm>
          <a:prstGeom prst="rect">
            <a:avLst/>
          </a:prstGeom>
          <a:solidFill>
            <a:srgbClr val="202020">
              <a:alpha val="1000"/>
            </a:srgbClr>
          </a:solidFill>
          <a:ln w="603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694690" y="128270"/>
            <a:ext cx="604774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p>
            <a:r>
              <a:rPr lang="es-ES" altLang="en-US" sz="2800" b="1">
                <a:latin typeface="Broadway" panose="04040905080B02020502" charset="0"/>
                <a:cs typeface="Broadway" panose="04040905080B02020502" charset="0"/>
              </a:rPr>
              <a:t>DIAGRAMA DE COMPONENTES</a:t>
            </a:r>
            <a:endParaRPr lang="es-ES" altLang="en-US" sz="2800" b="1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7306945" y="798195"/>
            <a:ext cx="4475480" cy="5483860"/>
          </a:xfrm>
          <a:prstGeom prst="rect">
            <a:avLst/>
          </a:prstGeom>
          <a:solidFill>
            <a:srgbClr val="B2B2B2">
              <a:alpha val="63000"/>
            </a:srgbClr>
          </a:solidFill>
        </p:spPr>
        <p:txBody>
          <a:bodyPr wrap="square" rtlCol="0">
            <a:noAutofit/>
          </a:bodyPr>
          <a:p>
            <a:r>
              <a:rPr lang="en-US" altLang="es-ES" sz="1600" b="1">
                <a:solidFill>
                  <a:schemeClr val="tx1"/>
                </a:solidFill>
                <a:uFillTx/>
              </a:rPr>
              <a:t>Este diagrama de componentes detalla la arquitectura del sistema y la interacci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entre sus m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dulos de software. El centro del esquema es la base de datos, que recibe informaci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 todos los m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dulos y gestiona el almacenamiento del registro de clientes y las 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rdenes de transporte.</a:t>
            </a:r>
            <a:endParaRPr lang="en-US" altLang="es-ES" sz="1600" b="1">
              <a:solidFill>
                <a:schemeClr val="tx1"/>
              </a:solidFill>
              <a:uFillTx/>
            </a:endParaRPr>
          </a:p>
          <a:p>
            <a:endParaRPr lang="en-US" altLang="es-ES" sz="1600" b="1">
              <a:solidFill>
                <a:schemeClr val="tx1"/>
              </a:solidFill>
              <a:uFillTx/>
            </a:endParaRPr>
          </a:p>
          <a:p>
            <a:r>
              <a:rPr lang="en-US" altLang="es-ES" sz="1600" b="1">
                <a:solidFill>
                  <a:schemeClr val="tx1"/>
                </a:solidFill>
                <a:uFillTx/>
              </a:rPr>
              <a:t>En el lado de la interfaz, el sitio web permite el ingreso de usuarios y la visualizaci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de pedidos. Por otro lado, el Gateway de pagos se encarga de procesar las transacciones financieras a trav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é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s de la pasarela de pagos, enviando los datos resultantes directamente al repositorio central.</a:t>
            </a:r>
            <a:endParaRPr lang="en-US" altLang="es-ES" sz="1600" b="1">
              <a:solidFill>
                <a:schemeClr val="tx1"/>
              </a:solidFill>
              <a:uFillTx/>
            </a:endParaRPr>
          </a:p>
          <a:p>
            <a:endParaRPr lang="en-US" altLang="es-ES" sz="1600" b="1">
              <a:solidFill>
                <a:schemeClr val="tx1"/>
              </a:solidFill>
              <a:uFillTx/>
            </a:endParaRPr>
          </a:p>
          <a:p>
            <a:r>
              <a:rPr lang="en-US" altLang="es-ES" sz="1600" b="1">
                <a:solidFill>
                  <a:schemeClr val="tx1"/>
                </a:solidFill>
                <a:uFillTx/>
              </a:rPr>
              <a:t>El control operativo lo ejerce el administrador de log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í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stica, quien utiliza un componente dedicado para validar los datos de cada solicitud. Este proceso de validaci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asegura que la informaci</a:t>
            </a:r>
            <a:r>
              <a:rPr lang="en-US" altLang="en-US" sz="1600" b="1">
                <a:solidFill>
                  <a:schemeClr val="tx1"/>
                </a:solidFill>
                <a:uFillTx/>
              </a:rPr>
              <a:t>ó</a:t>
            </a:r>
            <a:r>
              <a:rPr lang="en-US" altLang="es-ES" sz="1600" b="1">
                <a:solidFill>
                  <a:schemeClr val="tx1"/>
                </a:solidFill>
                <a:uFillTx/>
              </a:rPr>
              <a:t>n sea correcta antes de ser procesada y almacenada definitivamente en la base de datos central.</a:t>
            </a:r>
            <a:endParaRPr lang="en-US" altLang="es-ES" sz="1600" b="1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Imagen 1" descr="Diagrama de despliegue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635" y="977900"/>
            <a:ext cx="10175875" cy="4318635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957580" y="832485"/>
            <a:ext cx="10553065" cy="4563110"/>
          </a:xfrm>
          <a:prstGeom prst="rect">
            <a:avLst/>
          </a:prstGeom>
          <a:solidFill>
            <a:srgbClr val="202020">
              <a:alpha val="1000"/>
            </a:srgbClr>
          </a:solidFill>
          <a:ln w="6032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9" name="Cuadro de texto 8"/>
          <p:cNvSpPr txBox="1"/>
          <p:nvPr/>
        </p:nvSpPr>
        <p:spPr>
          <a:xfrm>
            <a:off x="3251200" y="145415"/>
            <a:ext cx="6047740" cy="52197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p>
            <a:r>
              <a:rPr lang="es-ES" altLang="en-US" sz="2800" b="1">
                <a:latin typeface="Broadway" panose="04040905080B02020502" charset="0"/>
                <a:cs typeface="Broadway" panose="04040905080B02020502" charset="0"/>
              </a:rPr>
              <a:t>DIAGRAMA DE DESPLIEGUE</a:t>
            </a:r>
            <a:endParaRPr lang="es-ES" altLang="en-US" sz="2800" b="1"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957580" y="5395595"/>
            <a:ext cx="10078085" cy="1351915"/>
          </a:xfrm>
          <a:prstGeom prst="rect">
            <a:avLst/>
          </a:prstGeom>
          <a:solidFill>
            <a:srgbClr val="B2B2B2">
              <a:alpha val="50000"/>
            </a:srgbClr>
          </a:solidFill>
        </p:spPr>
        <p:txBody>
          <a:bodyPr wrap="square" rtlCol="0">
            <a:noAutofit/>
          </a:bodyPr>
          <a:p>
            <a:r>
              <a:rPr lang="en-US" altLang="es-ES" sz="1200" b="1"/>
              <a:t>Este diagrama de despliegue muestra la infraestructura del sistema organizada en tres capas. En la primera, los nodos de hardware (computadoras y celulares) permiten que los usuarios accedan mediante navegadores a la red. Estas conexiones convergen en un servidor web que procesa las peticiones de entrada y las dirige hacia la l</a:t>
            </a:r>
            <a:r>
              <a:rPr lang="en-US" altLang="en-US" sz="1200" b="1"/>
              <a:t>ó</a:t>
            </a:r>
            <a:r>
              <a:rPr lang="en-US" altLang="es-ES" sz="1200" b="1"/>
              <a:t>gica interna.</a:t>
            </a:r>
            <a:endParaRPr lang="en-US" altLang="es-ES" sz="1200" b="1"/>
          </a:p>
          <a:p>
            <a:endParaRPr lang="en-US" altLang="es-ES" sz="1200" b="1"/>
          </a:p>
          <a:p>
            <a:r>
              <a:rPr lang="en-US" altLang="es-ES" sz="1200" b="1"/>
              <a:t>La segunda capa est</a:t>
            </a:r>
            <a:r>
              <a:rPr lang="en-US" altLang="en-US" sz="1200" b="1"/>
              <a:t>á</a:t>
            </a:r>
            <a:r>
              <a:rPr lang="en-US" altLang="es-ES" sz="1200" b="1"/>
              <a:t> compuesta por el servidor de aplicaciones, que aloja los componentes de software para el registro de clientes, creaci</a:t>
            </a:r>
            <a:r>
              <a:rPr lang="en-US" altLang="en-US" sz="1200" b="1"/>
              <a:t>ó</a:t>
            </a:r>
            <a:r>
              <a:rPr lang="en-US" altLang="es-ES" sz="1200" b="1"/>
              <a:t>n de </a:t>
            </a:r>
            <a:r>
              <a:rPr lang="en-US" altLang="en-US" sz="1200" b="1"/>
              <a:t>ó</a:t>
            </a:r>
            <a:r>
              <a:rPr lang="en-US" altLang="es-ES" sz="1200" b="1"/>
              <a:t>rdenes, asignaciones y reportes. Este nodo se comunica con la base de datos, la cual centraliza el almacenamiento de informaci</a:t>
            </a:r>
            <a:r>
              <a:rPr lang="en-US" altLang="en-US" sz="1200" b="1"/>
              <a:t>ó</a:t>
            </a:r>
            <a:r>
              <a:rPr lang="en-US" altLang="es-ES" sz="1200" b="1"/>
              <a:t>n sobre conductores, usuarios y env</a:t>
            </a:r>
            <a:r>
              <a:rPr lang="en-US" altLang="en-US" sz="1200" b="1"/>
              <a:t>í</a:t>
            </a:r>
            <a:r>
              <a:rPr lang="en-US" altLang="es-ES" sz="1200" b="1"/>
              <a:t>os. Finalmente, la base de datos se conecta v</a:t>
            </a:r>
            <a:r>
              <a:rPr lang="en-US" altLang="en-US" sz="1200" b="1"/>
              <a:t>í</a:t>
            </a:r>
            <a:r>
              <a:rPr lang="en-US" altLang="es-ES" sz="1200" b="1"/>
              <a:t>a API con una pasarela de pagos externa para las transacciones.</a:t>
            </a:r>
            <a:endParaRPr lang="es-ES" altLang="en-US" sz="12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s-ES" altLang="en-US" sz="8800"/>
              <a:t>GRACIAS </a:t>
            </a:r>
            <a:endParaRPr lang="es-ES" altLang="en-US" sz="88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s-ES" altLang="en-US" sz="4000"/>
              <a:t>por su atencion</a:t>
            </a:r>
            <a:endParaRPr lang="es-ES" altLang="en-US" sz="4000"/>
          </a:p>
        </p:txBody>
      </p:sp>
      <p:sp>
        <p:nvSpPr>
          <p:cNvPr id="14" name="Forma libre 13"/>
          <p:cNvSpPr/>
          <p:nvPr/>
        </p:nvSpPr>
        <p:spPr>
          <a:xfrm rot="4920000">
            <a:off x="758240" y="258889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4" name="Forma libre 3"/>
          <p:cNvSpPr/>
          <p:nvPr/>
        </p:nvSpPr>
        <p:spPr>
          <a:xfrm>
            <a:off x="694740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5" name="Forma libre 4"/>
          <p:cNvSpPr/>
          <p:nvPr/>
        </p:nvSpPr>
        <p:spPr>
          <a:xfrm rot="4620000">
            <a:off x="694740" y="4729480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11" name="Conector curvado 10"/>
          <p:cNvCxnSpPr/>
          <p:nvPr/>
        </p:nvCxnSpPr>
        <p:spPr>
          <a:xfrm rot="5400000">
            <a:off x="-1819275" y="3190875"/>
            <a:ext cx="6863080" cy="467360"/>
          </a:xfrm>
          <a:prstGeom prst="curvedConnector3">
            <a:avLst>
              <a:gd name="adj1" fmla="val 50009"/>
            </a:avLst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Forma libre 12"/>
          <p:cNvSpPr/>
          <p:nvPr/>
        </p:nvSpPr>
        <p:spPr>
          <a:xfrm>
            <a:off x="9680625" y="83248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2" name="Forma libre 11"/>
          <p:cNvSpPr/>
          <p:nvPr/>
        </p:nvSpPr>
        <p:spPr>
          <a:xfrm rot="4920000">
            <a:off x="8225205" y="39433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5" name="Forma libre 14"/>
          <p:cNvSpPr/>
          <p:nvPr/>
        </p:nvSpPr>
        <p:spPr>
          <a:xfrm rot="240000">
            <a:off x="10008285" y="4609465"/>
            <a:ext cx="1830070" cy="1831340"/>
          </a:xfrm>
          <a:custGeom>
            <a:avLst/>
            <a:gdLst>
              <a:gd name="connsiteX0" fmla="*/ 0 w 2882"/>
              <a:gd name="connsiteY0" fmla="*/ 1355 h 2884"/>
              <a:gd name="connsiteX1" fmla="*/ 1416 w 2882"/>
              <a:gd name="connsiteY1" fmla="*/ 0 h 2884"/>
              <a:gd name="connsiteX2" fmla="*/ 2882 w 2882"/>
              <a:gd name="connsiteY2" fmla="*/ 974 h 2884"/>
              <a:gd name="connsiteX3" fmla="*/ 1256 w 2882"/>
              <a:gd name="connsiteY3" fmla="*/ 2884 h 2884"/>
              <a:gd name="connsiteX4" fmla="*/ 0 w 2882"/>
              <a:gd name="connsiteY4" fmla="*/ 1355 h 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2" h="2884">
                <a:moveTo>
                  <a:pt x="0" y="1355"/>
                </a:moveTo>
                <a:cubicBezTo>
                  <a:pt x="0" y="817"/>
                  <a:pt x="606" y="0"/>
                  <a:pt x="1416" y="0"/>
                </a:cubicBezTo>
                <a:cubicBezTo>
                  <a:pt x="2225" y="0"/>
                  <a:pt x="2882" y="436"/>
                  <a:pt x="2882" y="974"/>
                </a:cubicBezTo>
                <a:cubicBezTo>
                  <a:pt x="2882" y="1511"/>
                  <a:pt x="2065" y="2884"/>
                  <a:pt x="1256" y="2884"/>
                </a:cubicBezTo>
                <a:cubicBezTo>
                  <a:pt x="446" y="2884"/>
                  <a:pt x="0" y="1892"/>
                  <a:pt x="0" y="135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16" name="Arco 15"/>
          <p:cNvSpPr/>
          <p:nvPr/>
        </p:nvSpPr>
        <p:spPr>
          <a:xfrm rot="14940000">
            <a:off x="11071225" y="4242435"/>
            <a:ext cx="3469640" cy="3928745"/>
          </a:xfrm>
          <a:prstGeom prst="arc">
            <a:avLst/>
          </a:prstGeom>
          <a:ln w="28575" cmpd="sng">
            <a:solidFill>
              <a:schemeClr val="bg2">
                <a:lumMod val="1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s-E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7704</Words>
  <Application>WPS Presentation</Application>
  <PresentationFormat>宽屏</PresentationFormat>
  <Paragraphs>117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Broadway</vt:lpstr>
      <vt:lpstr>Arial Rounded MT Bold</vt:lpstr>
      <vt:lpstr>Engravers MT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Marco Alvarado</cp:lastModifiedBy>
  <cp:revision>5</cp:revision>
  <dcterms:created xsi:type="dcterms:W3CDTF">2025-07-23T00:59:00Z</dcterms:created>
  <dcterms:modified xsi:type="dcterms:W3CDTF">2026-03-12T03:50:12Z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3082-12.2.0.23196</vt:lpwstr>
  </property>
  <property fmtid="{D5CDD505-2E9C-101B-9397-08002B2CF9AE}" pid="3" name="ICV">
    <vt:lpwstr>6D2E54A1DBF845DA8DE3D1216F17BEAA_13</vt:lpwstr>
  </property>
</Properties>
</file>