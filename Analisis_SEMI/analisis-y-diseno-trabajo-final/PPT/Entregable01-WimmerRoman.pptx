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86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99632" y="0"/>
            <a:ext cx="36576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2103120" cy="21031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731520"/>
            <a:ext cx="1188720" cy="11887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2560320"/>
            <a:ext cx="1371600" cy="1371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45720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📚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" y="548640"/>
            <a:ext cx="1892808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1892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EF7"/>
                </a:solidFill>
              </a:rPr>
              <a:t>  DESARROLLO  DE SOFTWARE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548640"/>
            <a:ext cx="493776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548640"/>
            <a:ext cx="493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8686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" y="148132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Comercial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" y="217627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Mundo Libro SAC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5303520" cy="27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07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· Diseño UML · Propuesta de Solución · Prototipo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1A254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● Gestión Inventario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329184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1A254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3291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● Venta Online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31920" y="329184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1A254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291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● Pedidos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67588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1A254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758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● Devoluciones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94560" y="367588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1A254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36758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● Reportes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0" y="367588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1A254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36758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● Proveedores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0000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8EF7"/>
                </a:solidFill>
              </a:rPr>
              <a:t>Análisis · Diseño UML · Arquitectura · Prototipo Funcional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y Problemática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114800" cy="2377440"/>
          </a:xfrm>
          <a:prstGeom prst="rect">
            <a:avLst/>
          </a:prstGeom>
          <a:solidFill>
            <a:srgbClr val="141C35"/>
          </a:solidFill>
          <a:ln w="12700">
            <a:solidFill>
              <a:srgbClr val="1E3A6E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749808"/>
            <a:ext cx="41148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813816"/>
            <a:ext cx="726948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813816"/>
            <a:ext cx="7269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EF7"/>
                </a:solidFill>
              </a:rPr>
              <a:t>EMPRESA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Mundo Libro SAC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15727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peruana que produce y distribuye libros educativos a nivel nacional. Opera de forma completamente manual sin ningún sistema centralizado ni canal de comercio electrónico.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4114800" cy="27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877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🏢  Lima, Perú  ·  Sector Editorial Educativo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77724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PROBLEMÁTICA IDENTIFICADA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78992"/>
            <a:ext cx="4206240" cy="347472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78992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09728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Control manual de inventario sin trazabilidad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499616"/>
            <a:ext cx="4206240" cy="347472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499616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517904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Sin historial detallado de clientes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920240"/>
            <a:ext cx="4206240" cy="347472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920240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938528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3. No se analizan libros más vendidos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340864"/>
            <a:ext cx="4206240" cy="347472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340864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359152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4. Sin canal de venta directa online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761488"/>
            <a:ext cx="4206240" cy="347472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761488"/>
            <a:ext cx="457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77977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5. Ausencia de análisis competitivo digital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218688"/>
            <a:ext cx="2011680" cy="9144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32644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74320" y="3730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Ventas Online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50592" y="3218688"/>
            <a:ext cx="2011680" cy="9144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450592" y="32644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450592" y="3730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Inventario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26864" y="3218688"/>
            <a:ext cx="2011680" cy="9144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26864" y="32644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datos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626864" y="3730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Hist. Clientes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03136" y="3218688"/>
            <a:ext cx="2011680" cy="9144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03136" y="32644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métrica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803136" y="3730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Competencia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Documento Técnico — Requisitos No Funcionales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4160520" cy="1280160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13232"/>
            <a:ext cx="416052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713232"/>
            <a:ext cx="4572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75895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Rendimiento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1051560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respuesta &lt; 2s en carga normal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usuarios concurrentes mín.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 99.5%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0872" y="713232"/>
            <a:ext cx="4160520" cy="1280160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713232"/>
            <a:ext cx="416052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90872" y="713232"/>
            <a:ext cx="4572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75895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888" y="1051560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 + HTTPS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datos sensibles AES-256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Admin, Vendedor, Cliente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2103120"/>
            <a:ext cx="4160520" cy="1280160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103120"/>
            <a:ext cx="416052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103120"/>
            <a:ext cx="457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1488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2441448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 por capas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múltiples proveedores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preparada para sharding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90872" y="2103120"/>
            <a:ext cx="4160520" cy="1280160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2103120"/>
            <a:ext cx="416052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2103120"/>
            <a:ext cx="45720" cy="12801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1488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Usabilidad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2441448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responsiva web + móvil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&lt; 5 minutos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WCAG 2.1 AA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" y="3493008"/>
            <a:ext cx="4160520" cy="1280160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493008"/>
            <a:ext cx="416052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493008"/>
            <a:ext cx="4572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53872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Mantenibilidad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" y="3831336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documentado con JSDoc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automatizado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centralizados auditables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90872" y="3493008"/>
            <a:ext cx="4160520" cy="1280160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0872" y="3493008"/>
            <a:ext cx="416052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90872" y="3493008"/>
            <a:ext cx="45720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53872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Portabilidad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18888" y="3831336"/>
            <a:ext cx="39593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Docker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AWS / GCP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 del SO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Propuesta de Solución — Arquitectura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3 Capas + API REST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" y="1078992"/>
            <a:ext cx="2788920" cy="2606040"/>
          </a:xfrm>
          <a:prstGeom prst="rect">
            <a:avLst/>
          </a:prstGeom>
          <a:solidFill>
            <a:srgbClr val="141C35"/>
          </a:solidFill>
          <a:ln w="19050">
            <a:solidFill>
              <a:srgbClr val="4F8EF7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078992"/>
            <a:ext cx="27889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078992"/>
            <a:ext cx="45720" cy="26060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115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" y="15727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</a:rPr>
              <a:t>React.js + Tailwind CSS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" y="1865376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SPA responsiva (web/móvil)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Catálogo + Carrito + Checkout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Panel Admin + Historial pedidos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44952" y="2331720"/>
            <a:ext cx="15544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21945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1078992"/>
            <a:ext cx="2788920" cy="2606040"/>
          </a:xfrm>
          <a:prstGeom prst="rect">
            <a:avLst/>
          </a:prstGeom>
          <a:solidFill>
            <a:srgbClr val="141C35"/>
          </a:solidFill>
          <a:ln w="1905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78992"/>
            <a:ext cx="27889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78992"/>
            <a:ext cx="45720" cy="2606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115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NEGOCIO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15727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</a:rPr>
              <a:t>API REST · Node.js / Spring Boot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1865376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Inventario · Pedidos · Clientes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Devoluciones · Reportes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Análisis de Competencia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2331720"/>
            <a:ext cx="15544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19456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44768" y="1078992"/>
            <a:ext cx="2788920" cy="2606040"/>
          </a:xfrm>
          <a:prstGeom prst="rect">
            <a:avLst/>
          </a:prstGeom>
          <a:solidFill>
            <a:srgbClr val="141C35"/>
          </a:solidFill>
          <a:ln w="1905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44768" y="1078992"/>
            <a:ext cx="27889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1078992"/>
            <a:ext cx="45720" cy="2606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1115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81928" y="15727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</a:rPr>
              <a:t>PostgreSQL + ORM + Redis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81928" y="1865376"/>
            <a:ext cx="2606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Repositorios: Libros, Pedidos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Clientes, Facturas, Categorías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Caché con Redis para rendimiento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382219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94A3B8"/>
                </a:solidFill>
              </a:rPr>
              <a:t>INTEGRACIONES EXTERNAS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059936"/>
            <a:ext cx="2011680" cy="56692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4059936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1148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Pasarela Pago (Culqi/Stripe)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32304" y="4059936"/>
            <a:ext cx="2011680" cy="56692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32304" y="4059936"/>
            <a:ext cx="20116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32304" y="41148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Email (SendGrid)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08576" y="4059936"/>
            <a:ext cx="2011680" cy="56692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8576" y="4059936"/>
            <a:ext cx="201168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41148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Análisis Competencia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84848" y="4059936"/>
            <a:ext cx="2011680" cy="56692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84848" y="4059936"/>
            <a:ext cx="20116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84848" y="41148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CDN Imágenes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Casos de Uso — UML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5029200" cy="4023360"/>
          </a:xfrm>
          <a:prstGeom prst="rect">
            <a:avLst/>
          </a:prstGeom>
          <a:solidFill>
            <a:srgbClr val="141C35"/>
          </a:solidFill>
          <a:ln w="12700">
            <a:solidFill>
              <a:srgbClr val="1E3A6E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4992624" cy="39867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77840" y="7498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Actores y Casos de Uso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577840" y="1078992"/>
            <a:ext cx="3337560" cy="82296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1078992"/>
            <a:ext cx="4572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87568" y="111556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0B981"/>
                </a:solidFill>
              </a:rPr>
              <a:t>ACTORES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87568" y="133502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● Cliente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● Administrador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● Sistema Pago (ext.)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77840" y="199339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8EF7"/>
                </a:solidFill>
              </a:rPr>
              <a:t>Casos de Uso — Cliente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77840" y="2267712"/>
            <a:ext cx="3337560" cy="256032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50992" y="2267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◆ Iniciar Sesión (+ Autenticar)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2587752"/>
            <a:ext cx="3337560" cy="256032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50992" y="25877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◆ Ver Catálogo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77840" y="2907792"/>
            <a:ext cx="3337560" cy="256032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50992" y="29077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◆ Realizar Compra Online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577840" y="3227832"/>
            <a:ext cx="3337560" cy="256032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50992" y="32278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◆ Añadir al Carrito · Procesar Pago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77840" y="3547872"/>
            <a:ext cx="3337560" cy="256032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50992" y="3547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◆ Gestionar Devolución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577840" y="391363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Casos de Uso — Admin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77840" y="4151376"/>
            <a:ext cx="3337560" cy="201168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50992" y="41513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◆ Gestionar Inventario · Proveedores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577840" y="4389120"/>
            <a:ext cx="3337560" cy="201168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50992" y="43891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◆ Generar Informes (extend: Libros+Ventas)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577840" y="4626864"/>
            <a:ext cx="3337560" cy="201168"/>
          </a:xfrm>
          <a:prstGeom prst="rect">
            <a:avLst/>
          </a:prstGeom>
          <a:solidFill>
            <a:srgbClr val="141C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50992" y="462686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◆ Ver Análisis de Competencia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Clases UML — Mundo Libro SAC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5303520" cy="4023360"/>
          </a:xfrm>
          <a:prstGeom prst="rect">
            <a:avLst/>
          </a:prstGeom>
          <a:solidFill>
            <a:srgbClr val="141C35"/>
          </a:solidFill>
          <a:ln w="12700">
            <a:solidFill>
              <a:srgbClr val="1E3A6E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5266944" cy="39867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33872" y="749808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del Modelo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33872" y="1078992"/>
            <a:ext cx="3090672" cy="594360"/>
          </a:xfrm>
          <a:prstGeom prst="rect">
            <a:avLst/>
          </a:prstGeom>
          <a:solidFill>
            <a:srgbClr val="1A2545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33872" y="1078992"/>
            <a:ext cx="457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11155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Proveedor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0" y="1335024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idProveedor, razonSocial, ruc, contacto, email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0" y="1499616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F8EF7"/>
                </a:solidFill>
              </a:rPr>
              <a:t>↔ suministra Libro (1:m)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833872" y="1755648"/>
            <a:ext cx="3090672" cy="594360"/>
          </a:xfrm>
          <a:prstGeom prst="rect">
            <a:avLst/>
          </a:prstGeom>
          <a:solidFill>
            <a:srgbClr val="1A2545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33872" y="1755648"/>
            <a:ext cx="457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179222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20116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 (PK), titulo, autor, precio, stockActual, categoria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943600" y="2176272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F8EF7"/>
                </a:solidFill>
              </a:rPr>
              <a:t>↔ referido por DetallePedido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833872" y="2432304"/>
            <a:ext cx="3090672" cy="594360"/>
          </a:xfrm>
          <a:prstGeom prst="rect">
            <a:avLst/>
          </a:prstGeom>
          <a:solidFill>
            <a:srgbClr val="1A2545"/>
          </a:solidFill>
          <a:ln w="19050">
            <a:solidFill>
              <a:srgbClr val="4F8EF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33872" y="2432304"/>
            <a:ext cx="45720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24688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0" y="2688336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idCliente, email, nombreCompleto, direccionEnvio, telefono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943600" y="2852928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F8EF7"/>
                </a:solidFill>
              </a:rPr>
              <a:t>↔ realiza Pedido (1:m)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833872" y="3108960"/>
            <a:ext cx="3090672" cy="594360"/>
          </a:xfrm>
          <a:prstGeom prst="rect">
            <a:avLst/>
          </a:prstGeom>
          <a:solidFill>
            <a:srgbClr val="1A2545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833872" y="3108960"/>
            <a:ext cx="457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0" y="31455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Pedido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43600" y="33649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idPedido, fechaCreacion, estado (Enum), total, direccionEntrega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0" y="3529584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F8EF7"/>
                </a:solidFill>
              </a:rPr>
              <a:t>↔ contiene DetallePedido (1:m)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833872" y="3785616"/>
            <a:ext cx="3090672" cy="594360"/>
          </a:xfrm>
          <a:prstGeom prst="rect">
            <a:avLst/>
          </a:prstGeom>
          <a:solidFill>
            <a:srgbClr val="1A2545"/>
          </a:solidFill>
          <a:ln w="1905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833872" y="3785616"/>
            <a:ext cx="4572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0" y="38221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DetallePedido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943600" y="404164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(PK), cantidad, precioUnitario, subtotal (calc.)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943600" y="4206240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F8EF7"/>
                </a:solidFill>
              </a:rPr>
              <a:t>↔ refiere a Libro (m:1)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833872" y="4553712"/>
            <a:ext cx="3090672" cy="164592"/>
          </a:xfrm>
          <a:prstGeom prst="rect">
            <a:avLst/>
          </a:prstGeom>
          <a:solidFill>
            <a:srgbClr val="141C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52160" y="4553712"/>
            <a:ext cx="3054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Métodos clave: reducirStock() · aumentarStock() · calcularTotal() · cambiarEstado()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Actividades — Proceso de Compra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3291840" cy="4023360"/>
          </a:xfrm>
          <a:prstGeom prst="rect">
            <a:avLst/>
          </a:prstGeom>
          <a:solidFill>
            <a:srgbClr val="141C35"/>
          </a:solidFill>
          <a:ln w="12700">
            <a:solidFill>
              <a:srgbClr val="1E3A6E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3255264" cy="39867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794760" y="74980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del Proceso de Compra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794760" y="1097280"/>
            <a:ext cx="5074920" cy="4572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22192" y="1152144"/>
            <a:ext cx="347472" cy="34747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22192" y="1152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51960" y="112471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Inicio de Sesión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51960" y="13441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Cliente accede con credenciales JWT verificadas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05072" y="1554480"/>
            <a:ext cx="0" cy="8229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94760" y="1636776"/>
            <a:ext cx="5074920" cy="4572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22192" y="169164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22192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251960" y="16642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 Catálogo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251960" y="18836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Navega por categorías, filtra y busca libros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005072" y="2093976"/>
            <a:ext cx="0" cy="8229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94760" y="2176272"/>
            <a:ext cx="5074920" cy="4572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822192" y="223113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22192" y="2231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251960" y="220370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Verificar Stock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251960" y="2423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Sistema consulta disponibilidad en tiempo real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005072" y="2633472"/>
            <a:ext cx="0" cy="8229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94760" y="2715768"/>
            <a:ext cx="5074920" cy="4572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822192" y="277063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22192" y="2770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251960" y="27432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Añadir al Carrito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51960" y="296265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Libro se agrega con precio y cantidad indicada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005072" y="3172968"/>
            <a:ext cx="0" cy="8229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794760" y="3255264"/>
            <a:ext cx="5074920" cy="4572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822192" y="3310128"/>
            <a:ext cx="347472" cy="34747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22192" y="3310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251960" y="328269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Finalizar Compra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251960" y="35021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Checkout: dirección de envío y método de pago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005072" y="3712464"/>
            <a:ext cx="0" cy="8229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794760" y="3794760"/>
            <a:ext cx="5074920" cy="4572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22192" y="3849624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822192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251960" y="38221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Procesar Pago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251960" y="404164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Pasarela externa Culqi/Stripe valida transacción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005072" y="4251960"/>
            <a:ext cx="0" cy="8229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794760" y="4334256"/>
            <a:ext cx="5074920" cy="45720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822192" y="438912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822192" y="4389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4251960" y="43616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Generar Pedido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4251960" y="45811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 crea pedido, se actualiza stock y envía email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Estado — Ciclo de Vida del Pedido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8631936" cy="3200400"/>
          </a:xfrm>
          <a:prstGeom prst="rect">
            <a:avLst/>
          </a:prstGeom>
          <a:solidFill>
            <a:srgbClr val="141C35"/>
          </a:solidFill>
          <a:ln w="12700">
            <a:solidFill>
              <a:srgbClr val="1E3A6E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31638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6032" y="4023360"/>
            <a:ext cx="1152144" cy="65836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" y="4023360"/>
            <a:ext cx="115214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411480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Pendiente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56032" y="437083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Pago no confirmado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499616" y="4023360"/>
            <a:ext cx="1152144" cy="65836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99616" y="4023360"/>
            <a:ext cx="115214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99616" y="411480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Confirmado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499616" y="437083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Pago verificado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0" y="4023360"/>
            <a:ext cx="1152144" cy="65836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0" y="4023360"/>
            <a:ext cx="1152144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0" y="411480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8EF7"/>
                </a:solidFill>
              </a:rPr>
              <a:t>En Preparación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743200" y="437083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Equipo preparando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986784" y="4023360"/>
            <a:ext cx="1152144" cy="65836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86784" y="4023360"/>
            <a:ext cx="115214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86784" y="411480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</a:rPr>
              <a:t>Enviado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986784" y="437083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En tránsito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230368" y="4023360"/>
            <a:ext cx="1152144" cy="65836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30368" y="4023360"/>
            <a:ext cx="115214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30368" y="411480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Entregado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230368" y="437083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Recibido por cliente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473952" y="4023360"/>
            <a:ext cx="1152144" cy="65836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73952" y="4023360"/>
            <a:ext cx="1152144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73952" y="411480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Cancelado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473952" y="437083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Proceso cancelado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717536" y="4023360"/>
            <a:ext cx="1152144" cy="658368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17536" y="4023360"/>
            <a:ext cx="1152144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17536" y="4114800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</a:rPr>
              <a:t>Devuelto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717536" y="4370832"/>
            <a:ext cx="1152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Devolución aceptada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Componentes UML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6400800" cy="4023360"/>
          </a:xfrm>
          <a:prstGeom prst="rect">
            <a:avLst/>
          </a:prstGeom>
          <a:solidFill>
            <a:srgbClr val="141C35"/>
          </a:solidFill>
          <a:ln w="12700">
            <a:solidFill>
              <a:srgbClr val="1E3A6E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6364224" cy="39867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7498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03720" y="1078992"/>
            <a:ext cx="2011680" cy="512064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1078992"/>
            <a:ext cx="45720" cy="5120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95160" y="11155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</a:rPr>
              <a:t>UI React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95160" y="13441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Frontend SPA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903720" y="1691640"/>
            <a:ext cx="2011680" cy="512064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1691640"/>
            <a:ext cx="4572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95160" y="17282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API REST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95160" y="195681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Backend lógica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03720" y="2304288"/>
            <a:ext cx="2011680" cy="512064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03720" y="2304288"/>
            <a:ext cx="4572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95160" y="234086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Serv. Negocio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95160" y="256946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Reglas de negocio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903720" y="2916936"/>
            <a:ext cx="2011680" cy="512064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03720" y="2916936"/>
            <a:ext cx="4572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95160" y="29535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Repositorio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995160" y="318211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Acceso a datos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903720" y="3529584"/>
            <a:ext cx="2011680" cy="512064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03720" y="3529584"/>
            <a:ext cx="45720" cy="5120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9516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995160" y="37947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Base de datos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903720" y="4142232"/>
            <a:ext cx="2011680" cy="512064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903720" y="4142232"/>
            <a:ext cx="45720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95160" y="417880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Pasarela Pago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995160" y="44074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Servicio externo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Despliegue — Infraestructura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6035040" cy="4023360"/>
          </a:xfrm>
          <a:prstGeom prst="rect">
            <a:avLst/>
          </a:prstGeom>
          <a:solidFill>
            <a:srgbClr val="141C35"/>
          </a:solidFill>
          <a:ln w="12700">
            <a:solidFill>
              <a:srgbClr val="1E3A6E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5998464" cy="39867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37960" y="749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Nodos de Infraestructura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7960" y="1097280"/>
            <a:ext cx="2377440" cy="64008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1097280"/>
            <a:ext cx="45720" cy="6400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152144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</a:rPr>
              <a:t>Cliente PC/Navegador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29400" y="141732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React SPA vía HTTPS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37960" y="1856232"/>
            <a:ext cx="2377440" cy="64008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37960" y="1856232"/>
            <a:ext cx="4572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191109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Servidor Web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29400" y="217627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Nginx + build estático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37960" y="2615184"/>
            <a:ext cx="2377440" cy="64008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37960" y="2615184"/>
            <a:ext cx="457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9400" y="267004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Application Server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29400" y="293522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Node.js API REST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37960" y="3374136"/>
            <a:ext cx="2377440" cy="64008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37960" y="3374136"/>
            <a:ext cx="457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29400" y="342900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PostgreSQL DB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629400" y="369417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Schema + Migraciones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537960" y="4133088"/>
            <a:ext cx="2377440" cy="640080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37960" y="4133088"/>
            <a:ext cx="4572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29400" y="418795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Pasarela de Pago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629400" y="445312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Servicio externo HTTPS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Orientado a Objetos — UML → Código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4663440" cy="4023360"/>
          </a:xfrm>
          <a:prstGeom prst="rect">
            <a:avLst/>
          </a:prstGeom>
          <a:solidFill>
            <a:srgbClr val="0D1117"/>
          </a:solidFill>
          <a:ln w="19050">
            <a:solidFill>
              <a:srgbClr val="00000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13232"/>
            <a:ext cx="4663440" cy="320040"/>
          </a:xfrm>
          <a:prstGeom prst="rect">
            <a:avLst/>
          </a:prstGeom>
          <a:solidFill>
            <a:srgbClr val="1A254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749808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7498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</a:rPr>
              <a:t>Libro.java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64208" y="749808"/>
            <a:ext cx="1371600" cy="228600"/>
          </a:xfrm>
          <a:prstGeom prst="roundRect">
            <a:avLst>
              <a:gd name="adj" fmla="val 20000"/>
            </a:avLst>
          </a:prstGeom>
          <a:solidFill>
            <a:srgbClr val="141C3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749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PedidoService.java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1078992"/>
            <a:ext cx="448056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Clase Libro — Entidad JPA ───</a:t>
            </a:r>
            <a:endParaRPr lang="en-US" sz="950" dirty="0"/>
          </a:p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@Table(name = </a:t>
            </a: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"libros")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 </a:t>
            </a:r>
            <a:r>
              <a:rPr lang="en-US" sz="10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Serializable {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@Id @GeneratedValue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</a:t>
            </a:r>
            <a:r>
              <a:rPr lang="en-US" sz="10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titulo, autor;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Double precio;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Integer stock;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@ManyToOne 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 categoria;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  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actualizarStock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qty) {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(qty &gt; this.stock)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new </a:t>
            </a: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StockException()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this.stock -= qty;  }</a:t>
            </a:r>
            <a:endParaRPr lang="en-US" sz="95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7498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Principios Orientados a Objetos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1078992"/>
            <a:ext cx="3794760" cy="585216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078992"/>
            <a:ext cx="45720" cy="58521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1115568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Encapsulamiento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30368" y="1353312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Atributos privados con acceso vía getters/setters. El estado del Pedido solo cambia a través de métodos de negocio controlados.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0640" y="1737360"/>
            <a:ext cx="3794760" cy="585216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1737360"/>
            <a:ext cx="45720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773936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Herencia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30368" y="2011680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Usuario es clase base. Cliente y Administrador la extienden con atributos y permisos propios (polimorfismo de subtipo).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20640" y="2395728"/>
            <a:ext cx="3794760" cy="585216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2395728"/>
            <a:ext cx="45720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2432304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Polimorfismo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30368" y="2670048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El método procesar() se comporta distinto en Pedido, Devolución y Reporte, dependiendo del contexto de la llamada.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20640" y="3054096"/>
            <a:ext cx="3794760" cy="585216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0" y="3054096"/>
            <a:ext cx="4572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3090672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Abstracción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30368" y="3328416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Interfaces ILibroRepository ocultan la implementación SQL. El servicio solo conoce el contrato, no la BD concreta.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20640" y="3712464"/>
            <a:ext cx="3794760" cy="585216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3712464"/>
            <a:ext cx="45720" cy="5852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749040"/>
            <a:ext cx="3639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Composición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30368" y="3986784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Pedido tiene-una lista de DetallePedido (composición fuerte). Si el pedido se elimina, sus detalles se eliminan con él.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Prototipo Funcional — Catálogo de Libros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8631936" cy="4041648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13232"/>
            <a:ext cx="8631936" cy="347472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804672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804672"/>
            <a:ext cx="137160" cy="13716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804672"/>
            <a:ext cx="137160" cy="13716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768096"/>
            <a:ext cx="502920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768096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🔒  mundolibro.com/catalogo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46720" y="768096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7680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Entrar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1060704"/>
            <a:ext cx="8631936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106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📚 Mundo Libro SAC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Inicio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9476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Catálogo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Novedades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9788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Mis Pedidos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</a:rPr>
              <a:t>Contacto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83880" y="1115568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111556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🛒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1444752"/>
            <a:ext cx="8631936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1444752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15179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📖  Libros Educativos para Todas las Edades — Envío gratis en pedidos &gt; S/ 50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1536192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15361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Ver Ofertas 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2084832"/>
            <a:ext cx="457200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0848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🔍  Buscar libros por título, autor o ISBN...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2450592"/>
            <a:ext cx="1143000" cy="237744"/>
          </a:xfrm>
          <a:prstGeom prst="roundRect">
            <a:avLst>
              <a:gd name="adj" fmla="val 30769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45059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Todos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581912" y="2450592"/>
            <a:ext cx="1143000" cy="237744"/>
          </a:xfrm>
          <a:prstGeom prst="roundRect">
            <a:avLst>
              <a:gd name="adj" fmla="val 3076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81912" y="245059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Matemática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16352" y="2450592"/>
            <a:ext cx="1143000" cy="237744"/>
          </a:xfrm>
          <a:prstGeom prst="roundRect">
            <a:avLst>
              <a:gd name="adj" fmla="val 30769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245059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Ciencias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50792" y="2450592"/>
            <a:ext cx="1143000" cy="237744"/>
          </a:xfrm>
          <a:prstGeom prst="roundRect">
            <a:avLst>
              <a:gd name="adj" fmla="val 30769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0792" y="245059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Lengua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285232" y="2450592"/>
            <a:ext cx="1143000" cy="237744"/>
          </a:xfrm>
          <a:prstGeom prst="roundRect">
            <a:avLst>
              <a:gd name="adj" fmla="val 30769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245059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Historia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19672" y="2450592"/>
            <a:ext cx="1143000" cy="237744"/>
          </a:xfrm>
          <a:prstGeom prst="roundRect">
            <a:avLst>
              <a:gd name="adj" fmla="val 30769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9672" y="245059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Arte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54112" y="2450592"/>
            <a:ext cx="1143000" cy="237744"/>
          </a:xfrm>
          <a:prstGeom prst="roundRect">
            <a:avLst>
              <a:gd name="adj" fmla="val 30769"/>
            </a:avLst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54112" y="245059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Tecnología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7472" y="2761488"/>
            <a:ext cx="15727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47472" y="2761488"/>
            <a:ext cx="157276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276148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📗</a:t>
            </a:r>
            <a:endParaRPr lang="en-US" sz="2800" dirty="0"/>
          </a:p>
        </p:txBody>
      </p:sp>
      <p:sp>
        <p:nvSpPr>
          <p:cNvPr id="51" name="Shape 49"/>
          <p:cNvSpPr/>
          <p:nvPr/>
        </p:nvSpPr>
        <p:spPr>
          <a:xfrm>
            <a:off x="402336" y="278892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" y="27889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Matemática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02336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Álgebra Básica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02336" y="387705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García, M.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02336" y="40416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★★★★★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2336" y="420624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S/ 35.00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170432" y="4206240"/>
            <a:ext cx="685800" cy="201168"/>
          </a:xfrm>
          <a:prstGeom prst="roundRect">
            <a:avLst>
              <a:gd name="adj" fmla="val 2727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70432" y="420624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+ Agregar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066544" y="2761488"/>
            <a:ext cx="15727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066544" y="2761488"/>
            <a:ext cx="157276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66544" y="276148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📗</a:t>
            </a:r>
            <a:endParaRPr lang="en-US" sz="2800" dirty="0"/>
          </a:p>
        </p:txBody>
      </p:sp>
      <p:sp>
        <p:nvSpPr>
          <p:cNvPr id="62" name="Shape 60"/>
          <p:cNvSpPr/>
          <p:nvPr/>
        </p:nvSpPr>
        <p:spPr>
          <a:xfrm>
            <a:off x="2121408" y="278892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21408" y="27889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Historia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121408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Historia del Perú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121408" y="387705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Torres, R.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121408" y="40416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★★★★☆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121408" y="420624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S/ 42.00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889504" y="4206240"/>
            <a:ext cx="685800" cy="201168"/>
          </a:xfrm>
          <a:prstGeom prst="roundRect">
            <a:avLst>
              <a:gd name="adj" fmla="val 2727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89504" y="420624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+ Agregar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785616" y="2761488"/>
            <a:ext cx="15727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785616" y="2761488"/>
            <a:ext cx="1572768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85616" y="276148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📗</a:t>
            </a:r>
            <a:endParaRPr lang="en-US" sz="2800" dirty="0"/>
          </a:p>
        </p:txBody>
      </p:sp>
      <p:sp>
        <p:nvSpPr>
          <p:cNvPr id="73" name="Shape 71"/>
          <p:cNvSpPr/>
          <p:nvPr/>
        </p:nvSpPr>
        <p:spPr>
          <a:xfrm>
            <a:off x="3840480" y="278892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40480" y="27889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Ciencias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840480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Ciencias Naturales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840480" y="387705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López, A.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840480" y="40416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★★★★★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840480" y="420624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S/ 38.00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608576" y="4206240"/>
            <a:ext cx="685800" cy="201168"/>
          </a:xfrm>
          <a:prstGeom prst="roundRect">
            <a:avLst>
              <a:gd name="adj" fmla="val 2727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08576" y="420624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+ Agregar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504688" y="2761488"/>
            <a:ext cx="15727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504688" y="2761488"/>
            <a:ext cx="157276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04688" y="276148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📗</a:t>
            </a:r>
            <a:endParaRPr lang="en-US" sz="2800" dirty="0"/>
          </a:p>
        </p:txBody>
      </p:sp>
      <p:sp>
        <p:nvSpPr>
          <p:cNvPr id="84" name="Shape 82"/>
          <p:cNvSpPr/>
          <p:nvPr/>
        </p:nvSpPr>
        <p:spPr>
          <a:xfrm>
            <a:off x="5559552" y="278892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59552" y="27889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Lengua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559552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Lengua Castellana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5559552" y="387705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Vargas, P.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559552" y="40416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★★★☆☆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559552" y="420624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S/ 29.00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327648" y="4206240"/>
            <a:ext cx="685800" cy="201168"/>
          </a:xfrm>
          <a:prstGeom prst="roundRect">
            <a:avLst>
              <a:gd name="adj" fmla="val 2727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27648" y="420624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+ Agregar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223760" y="2761488"/>
            <a:ext cx="157276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7223760" y="2761488"/>
            <a:ext cx="1572768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23760" y="276148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📗</a:t>
            </a:r>
            <a:endParaRPr lang="en-US" sz="2800" dirty="0"/>
          </a:p>
        </p:txBody>
      </p:sp>
      <p:sp>
        <p:nvSpPr>
          <p:cNvPr id="95" name="Shape 93"/>
          <p:cNvSpPr/>
          <p:nvPr/>
        </p:nvSpPr>
        <p:spPr>
          <a:xfrm>
            <a:off x="7278624" y="278892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78624" y="27889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Tecnología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7278624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Tecnología 5to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7278624" y="387705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Medina, C.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7278624" y="40416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★★★★☆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278624" y="420624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S/ 45.00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8046720" y="4206240"/>
            <a:ext cx="685800" cy="201168"/>
          </a:xfrm>
          <a:prstGeom prst="roundRect">
            <a:avLst>
              <a:gd name="adj" fmla="val 2727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46720" y="420624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+ Agregar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Prototipo Funcional — Checkout y Mis Pedidos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4206240" cy="4041648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13232"/>
            <a:ext cx="420624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7680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🛒  Finalizar Compra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15214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143560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Carrito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3232" y="1280160"/>
            <a:ext cx="74980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115214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1152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25880" y="143560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Envío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719072" y="1280160"/>
            <a:ext cx="74980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1152144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1152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31720" y="143560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4ED8"/>
                </a:solidFill>
              </a:rPr>
              <a:t>Pago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24912" y="1280160"/>
            <a:ext cx="749808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1152144"/>
            <a:ext cx="256032" cy="25603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152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37560" y="143560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Confirmación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16916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Método de Pago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1975104"/>
            <a:ext cx="3977640" cy="256032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202082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19842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Tarjeta Crédito/Débito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295144"/>
            <a:ext cx="3977640" cy="25603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2340864"/>
            <a:ext cx="164592" cy="16459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23042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Yape / Plin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615184"/>
            <a:ext cx="3977640" cy="25603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2660904"/>
            <a:ext cx="164592" cy="164592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26243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Transferencia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980944"/>
            <a:ext cx="397764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2990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💳  1234  5678  9012  3456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346704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335584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MM/AA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0" y="3346704"/>
            <a:ext cx="20574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95728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CVV  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712464"/>
            <a:ext cx="397764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3749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Álgebra Básica x1 ................... S/ 35.00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" y="39136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</a:rPr>
              <a:t>Historia del Perú x1 ................ S/ 42.00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" y="40782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TOTAL:  S/ 77.00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4315968"/>
            <a:ext cx="3977640" cy="274320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3159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Confirmar y Pagar  S/ 77.00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713232"/>
            <a:ext cx="4224528" cy="4041648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713232"/>
            <a:ext cx="4224528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76809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Mis Pedidos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1152144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498080" y="1225296"/>
            <a:ext cx="1115568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0" y="1225296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Enviado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46320" y="12070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#PED-2401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46320" y="138988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12 Mar 2025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46320" y="155448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Álgebra Básica, Historia del Perú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772400" y="1554480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0" y="1554480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Ver detalle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46320" y="15544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A34A"/>
                </a:solidFill>
              </a:rPr>
              <a:t>S/ 77.00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54880" y="1883664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498080" y="1956816"/>
            <a:ext cx="1115568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1956816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Entregado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846320" y="19385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#PED-2355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46320" y="21214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05 Mar 2025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46320" y="228600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Ciencias Naturales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772400" y="2286000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0" y="2286000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Ver detalle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846320" y="22860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A34A"/>
                </a:solidFill>
              </a:rPr>
              <a:t>S/ 38.00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754880" y="2615184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498080" y="2688336"/>
            <a:ext cx="1115568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98080" y="2688336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Entregado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46320" y="26700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#PED-2301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846320" y="28529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20 Feb 2025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846320" y="301752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Lengua Castellana x2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772400" y="3017520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0" y="3017520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Ver detalle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846320" y="30175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A34A"/>
                </a:solidFill>
              </a:rPr>
              <a:t>S/ 58.00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754880" y="3346704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7498080" y="3419856"/>
            <a:ext cx="1115568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98080" y="3419856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Cancelado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846320" y="34015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#PED-2287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846320" y="358444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10 Feb 2025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846320" y="3749040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Tecnología 5to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772400" y="3749040"/>
            <a:ext cx="841248" cy="18288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772400" y="3749040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Ver detalle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846320" y="3749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A34A"/>
                </a:solidFill>
              </a:rPr>
              <a:t>S/ 45.00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1440"/>
            <a:ext cx="457200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1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7315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Prototipo Funcional — Panel Administrador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Sistema Comercial | Editorial Mundo Libro SAC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1645920" cy="4041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046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FAFB"/>
                </a:solidFill>
              </a:rPr>
              <a:t>⚙ Admin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097280"/>
            <a:ext cx="164592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170432"/>
            <a:ext cx="164592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1704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📊 Dashboard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15179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📦 Inventario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18653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🛒 Pedidos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2128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👥 Clientes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2560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🏭 Proveedores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" y="2907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↩️ Devoluciones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32552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📈 Reportes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36027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🔍 Competencia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01952" y="713232"/>
            <a:ext cx="6986016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768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Dashboard — Mundo Libro SAC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78638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Hoy: viernes, 13 Mar 2025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38528" y="1207008"/>
            <a:ext cx="16093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938528" y="1207008"/>
            <a:ext cx="1609344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38528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322576" y="1261872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 1,240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322576" y="153619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Ventas Hoy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38528" y="1755648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D4ED8"/>
                </a:solidFill>
              </a:rPr>
              <a:t>+12% vs ayer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75888" y="1207008"/>
            <a:ext cx="16093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75888" y="1207008"/>
            <a:ext cx="160934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059936" y="1261872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059936" y="153619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Pedidos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75888" y="1755648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</a:rPr>
              <a:t>5 pendientes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13248" y="1207008"/>
            <a:ext cx="16093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13248" y="1207008"/>
            <a:ext cx="160934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13248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797296" y="1261872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títulos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97296" y="153619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Stock Bajo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13248" y="1755648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2626"/>
                </a:solidFill>
              </a:rPr>
              <a:t>Reabastecer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150608" y="1207008"/>
            <a:ext cx="16093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50608" y="1207008"/>
            <a:ext cx="1609344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0608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534656" y="1261872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Álgebra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34656" y="1536192"/>
            <a:ext cx="1170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Libros + Vend.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150608" y="1755648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59669"/>
                </a:solidFill>
              </a:rPr>
              <a:t>38 unids/mes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938528" y="204825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Inventario — Stock Crítico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938528" y="2331720"/>
            <a:ext cx="1463040" cy="2377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38528" y="23317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Título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01568" y="2331720"/>
            <a:ext cx="777240" cy="2377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1568" y="233172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78808" y="2331720"/>
            <a:ext cx="548640" cy="2377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78808" y="233172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Stock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27448" y="2331720"/>
            <a:ext cx="685800" cy="2377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27448" y="233172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Precio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413248" y="2331720"/>
            <a:ext cx="868680" cy="2377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13248" y="233172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Acción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938528" y="2569464"/>
            <a:ext cx="1463040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75104" y="2569464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Álgebra Básica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401568" y="2569464"/>
            <a:ext cx="777240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38144" y="2569464"/>
            <a:ext cx="722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Mate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78808" y="2569464"/>
            <a:ext cx="548640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15384" y="2569464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</a:rPr>
              <a:t>⚠ 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27448" y="2569464"/>
            <a:ext cx="685800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64024" y="2569464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S/35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413248" y="2569464"/>
            <a:ext cx="868680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49824" y="2569464"/>
            <a:ext cx="813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Reabastecer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938528" y="2807208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75104" y="2807208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Ciencias 3ro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401568" y="2807208"/>
            <a:ext cx="777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38144" y="2807208"/>
            <a:ext cx="722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Cien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178808" y="2807208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15384" y="2807208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</a:rPr>
              <a:t>⚠ 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727448" y="2807208"/>
            <a:ext cx="685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64024" y="2807208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S/38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413248" y="2807208"/>
            <a:ext cx="8686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49824" y="2807208"/>
            <a:ext cx="813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Reabastecer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938528" y="3044952"/>
            <a:ext cx="1463040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75104" y="3044952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Historia Perú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401568" y="3044952"/>
            <a:ext cx="777240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38144" y="3044952"/>
            <a:ext cx="722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Hist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78808" y="3044952"/>
            <a:ext cx="548640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15384" y="3044952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12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727448" y="3044952"/>
            <a:ext cx="685800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64024" y="3044952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S/42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413248" y="3044952"/>
            <a:ext cx="868680" cy="237744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49824" y="3044952"/>
            <a:ext cx="813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OK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938528" y="3282696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75104" y="3282696"/>
            <a:ext cx="1408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Lengua Cast.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401568" y="3282696"/>
            <a:ext cx="777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438144" y="3282696"/>
            <a:ext cx="722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Leng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178808" y="3282696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15384" y="3282696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18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727448" y="3282696"/>
            <a:ext cx="6858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764024" y="3282696"/>
            <a:ext cx="630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S/29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413248" y="3282696"/>
            <a:ext cx="8686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49824" y="3282696"/>
            <a:ext cx="813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</a:rPr>
              <a:t>OK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040880" y="2048256"/>
            <a:ext cx="3584448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7150608" y="21031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Ventas por Categoría — Mes Actual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7150608" y="23957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Matemática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8092440" y="2432304"/>
            <a:ext cx="2084832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503920" y="23957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D4ED8"/>
                </a:solidFill>
              </a:rPr>
              <a:t>38%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7150608" y="27980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Historia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8092440" y="2834640"/>
            <a:ext cx="120700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503920" y="279806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C3AED"/>
                </a:solidFill>
              </a:rPr>
              <a:t>22%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7150608" y="3200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Ciencias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8092440" y="3236976"/>
            <a:ext cx="987552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503920" y="3200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59669"/>
                </a:solidFill>
              </a:rPr>
              <a:t>18%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7150608" y="36027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Lengua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8092440" y="3639312"/>
            <a:ext cx="6583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503920" y="360273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</a:rPr>
              <a:t>12%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7150608" y="40050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Arte/Tec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8092440" y="4041648"/>
            <a:ext cx="54864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503920" y="40050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</a:rPr>
              <a:t>10%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1938528" y="3547872"/>
            <a:ext cx="50292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011680" y="356616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Mostrando 4 de 47 títulos   |  Página 1 de 12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303520" y="3547872"/>
            <a:ext cx="1664208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303520" y="35478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+ Agregar Libro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1938528" y="3840480"/>
            <a:ext cx="685800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029968" y="38770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🔔  Alertas del Sistema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2029968" y="4078224"/>
            <a:ext cx="6629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ED8"/>
                </a:solidFill>
              </a:rPr>
              <a:t>• 7 productos con stock crítico (&lt; 5 unidades)  •  3 devoluciones pendientes de procesar  •  Nuevo pedido #PED-2402 recibido hace 5 min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39712" y="0"/>
            <a:ext cx="36576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65760"/>
            <a:ext cx="1828800" cy="1828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914400"/>
            <a:ext cx="1097280" cy="10972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926080"/>
            <a:ext cx="1645920" cy="1645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9144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✔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"/>
            <a:ext cx="1426464" cy="219456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EF7"/>
                </a:solidFill>
              </a:rPr>
              <a:t>EXPOSICIÓN FINAL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71323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126187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E0B"/>
                </a:solidFill>
              </a:rPr>
              <a:t>Sistema Comercial Editorial Mundo Libro SAC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6217920" cy="493776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64208"/>
            <a:ext cx="45720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1737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50976" y="1719072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Se identificaron 5 problemáticas críticas que impiden la digitalización de la editorial.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249424"/>
            <a:ext cx="6217920" cy="493776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249424"/>
            <a:ext cx="45720" cy="4937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32257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322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8EF7"/>
                </a:solidFill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50976" y="2304288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La arquitectura 3 capas + API REST garantiza escalabilidad y mantenibilidad futura.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6217920" cy="493776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34640"/>
            <a:ext cx="45720" cy="4937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9077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907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0976" y="2889504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Los 6 diagramas UML modelan completamente el ciclo de vida del sistema.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419856"/>
            <a:ext cx="6217920" cy="493776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419856"/>
            <a:ext cx="45720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4930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493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50976" y="347472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El diseño OO traduce fielmente el modelo UML aplicando los 5 principios de POO.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005072"/>
            <a:ext cx="6217920" cy="493776"/>
          </a:xfrm>
          <a:prstGeom prst="rect">
            <a:avLst/>
          </a:prstGeom>
          <a:solidFill>
            <a:srgbClr val="1A2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05072"/>
            <a:ext cx="45720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40782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078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50976" y="4059936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El prototipo cubre catálogo, checkout, admin y reportes con UX moderna.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681728"/>
            <a:ext cx="6217920" cy="2743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5488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Ingeniería de Software  ·  Editorial Mundo Libro SAC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1579</Words>
  <Application>Microsoft Office PowerPoint</Application>
  <PresentationFormat>Presentación en pantalla (16:9)</PresentationFormat>
  <Paragraphs>436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Comercial Editorial Mundo Libro SAC</dc:title>
  <dc:subject>PptxGenJS Presentation</dc:subject>
  <dc:creator>PptxGenJS</dc:creator>
  <cp:lastModifiedBy>Wimmer Roman Quispe</cp:lastModifiedBy>
  <cp:revision>2</cp:revision>
  <dcterms:created xsi:type="dcterms:W3CDTF">2026-03-13T17:03:55Z</dcterms:created>
  <dcterms:modified xsi:type="dcterms:W3CDTF">2026-03-13T17:08:18Z</dcterms:modified>
</cp:coreProperties>
</file>