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06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95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0B030">
              <a:alpha val="45000"/>
            </a:srgbClr>
          </a:solidFill>
          <a:ln w="12700">
            <a:solidFill>
              <a:srgbClr val="F0B03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400800" y="1371600"/>
            <a:ext cx="237744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8686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LOGÍSTICO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12344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411480" y="2395728"/>
            <a:ext cx="3657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11480" y="248716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Diseño de Sistemas  |  Caso 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880360"/>
            <a:ext cx="5943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Castillo Monrroy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50F1A"/>
          </a:solidFill>
          <a:ln w="12700">
            <a:solidFill>
              <a:srgbClr val="050F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Logístico Integrado  •  Transporte Nacional  •  2026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22960" y="4315968"/>
            <a:ext cx="118872" cy="118872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920240" y="4315968"/>
            <a:ext cx="118872" cy="118872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3017520" y="4315968"/>
            <a:ext cx="118872" cy="118872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389120" y="4315968"/>
            <a:ext cx="118872" cy="118872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5577840" y="4315968"/>
            <a:ext cx="118872" cy="118872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766560" y="4315968"/>
            <a:ext cx="118872" cy="118872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7955280" y="4315968"/>
            <a:ext cx="118872" cy="118872"/>
          </a:xfrm>
          <a:prstGeom prst="ellipse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75488" cy="59436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932688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General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1188720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 de TransAndes S.A.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475488" cy="59436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4320" y="1618488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163677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189280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identificados en la operación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76856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4320" y="2276856"/>
            <a:ext cx="475488" cy="59436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74320" y="2322576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234086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" y="2596896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y no funcionales del sistema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74320" y="2980944"/>
            <a:ext cx="475488" cy="59436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74320" y="3026664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3044952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3300984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clases, actividad, estados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86868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754880" y="868680"/>
            <a:ext cx="475488" cy="59436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0" y="91440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21808" y="932688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21808" y="1188720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orientado a objetos y componentes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572768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754880" y="1572768"/>
            <a:ext cx="475488" cy="59436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754880" y="1618488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21808" y="163677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21808" y="1892808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funcional del sistema propuesto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276856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4754880" y="2276856"/>
            <a:ext cx="475488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754880" y="2322576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21808" y="234086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21808" y="2596896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valor del sistema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  |  Análisis y Diseño de Sistemas  | 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91828"/>
          </a:solidFill>
          <a:ln w="12700">
            <a:solidFill>
              <a:srgbClr val="091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GENERAL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2057400"/>
          </a:xfrm>
          <a:prstGeom prst="rect">
            <a:avLst/>
          </a:prstGeom>
          <a:solidFill>
            <a:srgbClr val="0F2A45"/>
          </a:solidFill>
          <a:ln w="1905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33272" y="96012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42646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7432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14600" y="822960"/>
            <a:ext cx="2011680" cy="2057400"/>
          </a:xfrm>
          <a:prstGeom prst="rect">
            <a:avLst/>
          </a:prstGeom>
          <a:solidFill>
            <a:srgbClr val="0F2A45"/>
          </a:solidFill>
          <a:ln w="1905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514600" y="822960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3273552" y="96012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142646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251460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Empresariales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54880" y="822960"/>
            <a:ext cx="2011680" cy="2057400"/>
          </a:xfrm>
          <a:prstGeom prst="rect">
            <a:avLst/>
          </a:prstGeom>
          <a:solidFill>
            <a:srgbClr val="0F2A45"/>
          </a:solidFill>
          <a:ln w="1905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4754880" y="822960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513832" y="960120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142646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475488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995160" y="822960"/>
            <a:ext cx="2011680" cy="2057400"/>
          </a:xfrm>
          <a:prstGeom prst="rect">
            <a:avLst/>
          </a:prstGeom>
          <a:solidFill>
            <a:srgbClr val="0F2A45"/>
          </a:solidFill>
          <a:ln w="19050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6995160" y="822960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7754112" y="960120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142646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6995160" y="2103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Act.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74320" y="2999232"/>
            <a:ext cx="8595360" cy="1508760"/>
          </a:xfrm>
          <a:prstGeom prst="rect">
            <a:avLst/>
          </a:prstGeom>
          <a:solidFill>
            <a:srgbClr val="0A1F35"/>
          </a:solidFill>
          <a:ln w="12700">
            <a:solidFill>
              <a:srgbClr val="1E40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0"/>
          <p:cNvSpPr/>
          <p:nvPr/>
        </p:nvSpPr>
        <p:spPr>
          <a:xfrm>
            <a:off x="274320" y="2999232"/>
            <a:ext cx="64008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1"/>
          <p:cNvSpPr/>
          <p:nvPr/>
        </p:nvSpPr>
        <p:spPr>
          <a:xfrm>
            <a:off x="502920" y="3063240"/>
            <a:ext cx="8183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 es una empresa de transporte de mercancías a nivel nacional con 60 camiones y más de 120 clientes empresariales. Actualmente toda la operación se gestiona mediante hojas de cálculo y llamadas telefónicas, generando ineficiencias, errores y ausencia total de trazabilidad en sus procesos logísticos.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50F1A"/>
          </a:solidFill>
          <a:ln w="12700">
            <a:solidFill>
              <a:srgbClr val="050F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3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  |  Análisis y Diseño de Sistemas  | 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IDENTIFICADA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97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4864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1498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86868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seguimiento digital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32688" y="1216152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rastreo en tiempo real de vehículos ni envíos activos.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777240"/>
            <a:ext cx="4297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754880" y="777240"/>
            <a:ext cx="54864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1498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86868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trazabilidad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13248" y="1216152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de mercancía durante el transporte.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1874520"/>
            <a:ext cx="4297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274320" y="1874520"/>
            <a:ext cx="54864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112264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" y="196596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control de mantenimiento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932688" y="2313432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vehículos no tienen registro preventivo ni correctivo.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1874520"/>
            <a:ext cx="4297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4754880" y="1874520"/>
            <a:ext cx="54864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112264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13248" y="196596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Reportes manuales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13248" y="2313432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riesgo de error al generar reportes por hojas de cálculo.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2971800"/>
            <a:ext cx="4297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0"/>
          <p:cNvSpPr/>
          <p:nvPr/>
        </p:nvSpPr>
        <p:spPr>
          <a:xfrm>
            <a:off x="274320" y="2971800"/>
            <a:ext cx="54864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09544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32688" y="306324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control de rutas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32688" y="3410712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asignación optimizada de rutas ni recursos.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54880" y="2971800"/>
            <a:ext cx="42976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4"/>
          <p:cNvSpPr/>
          <p:nvPr/>
        </p:nvSpPr>
        <p:spPr>
          <a:xfrm>
            <a:off x="4754880" y="2971800"/>
            <a:ext cx="54864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209544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13248" y="306324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sistema centralizado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13248" y="3410712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área trabaja de forma aislada sin integración alguna.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28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  |  Análisis y Diseño de Sistemas  | 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29184" y="822960"/>
            <a:ext cx="804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70432" y="822960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Funcional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0" y="8229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9184" y="122529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70432" y="1225296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16368" y="1234440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516368" y="1234440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522476"/>
            <a:ext cx="8595360" cy="342900"/>
          </a:xfrm>
          <a:prstGeom prst="rect">
            <a:avLst/>
          </a:prstGeom>
          <a:solidFill>
            <a:srgbClr val="EEF3FA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9184" y="157734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70432" y="1577340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Transporte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16368" y="1586484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516368" y="158648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874520"/>
            <a:ext cx="85953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29184" y="192938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70432" y="1929384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Vehículos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16368" y="1938528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516368" y="1938528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226564"/>
            <a:ext cx="8595360" cy="342900"/>
          </a:xfrm>
          <a:prstGeom prst="rect">
            <a:avLst/>
          </a:prstGeom>
          <a:solidFill>
            <a:srgbClr val="EEF3FA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29184" y="228142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70432" y="2281428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GPS en Tiempo Real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16368" y="2290572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7516368" y="2290572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578608"/>
            <a:ext cx="85953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29184" y="263347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70432" y="263347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Entregas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16368" y="2642616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7516368" y="2642616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930652"/>
            <a:ext cx="8595360" cy="342900"/>
          </a:xfrm>
          <a:prstGeom prst="rect">
            <a:avLst/>
          </a:prstGeom>
          <a:solidFill>
            <a:srgbClr val="EEF3FA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29184" y="298551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70432" y="2985516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Mantenimiento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16368" y="2994660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7516368" y="2994660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282696"/>
            <a:ext cx="85953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329184" y="33375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RF-07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70432" y="3337560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Logísticos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16368" y="3346704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7516368" y="3346704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634740"/>
            <a:ext cx="8595360" cy="342900"/>
          </a:xfrm>
          <a:prstGeom prst="rect">
            <a:avLst/>
          </a:prstGeom>
          <a:solidFill>
            <a:srgbClr val="EEF3FA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29184" y="368960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RF-08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70432" y="3689604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Roles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16368" y="3698748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7516368" y="3698748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" y="3986784"/>
            <a:ext cx="859536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329184" y="404164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RF-09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170432" y="4041648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516368" y="4050792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7516368" y="4050792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4338828"/>
            <a:ext cx="8595360" cy="342900"/>
          </a:xfrm>
          <a:prstGeom prst="rect">
            <a:avLst/>
          </a:prstGeom>
          <a:solidFill>
            <a:srgbClr val="EEF3FA"/>
          </a:solidFill>
          <a:ln w="6350">
            <a:solidFill>
              <a:srgbClr val="D5E3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329184" y="439369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RF-10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70432" y="439369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Envíos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516368" y="4402836"/>
            <a:ext cx="1097280" cy="210312"/>
          </a:xfrm>
          <a:prstGeom prst="roundRect">
            <a:avLst>
              <a:gd name="adj" fmla="val 2173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7516368" y="4402836"/>
            <a:ext cx="1097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  |  Análisis y Diseño de Sistemas  | 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8B4500"/>
          </a:solidFill>
          <a:ln w="12700">
            <a:solidFill>
              <a:srgbClr val="8B45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1691640"/>
          </a:xfrm>
          <a:prstGeom prst="rect">
            <a:avLst/>
          </a:prstGeom>
          <a:solidFill>
            <a:srgbClr val="0F2A45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diagramas · 4 actores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804672"/>
            <a:ext cx="2743200" cy="1691640"/>
          </a:xfrm>
          <a:prstGeom prst="rect">
            <a:avLst/>
          </a:prstGeom>
          <a:solidFill>
            <a:srgbClr val="0F2A45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246120" y="804672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0058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diagramas · relaciones completas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804672"/>
            <a:ext cx="2743200" cy="1691640"/>
          </a:xfrm>
          <a:prstGeom prst="rect">
            <a:avLst/>
          </a:prstGeom>
          <a:solidFill>
            <a:srgbClr val="0F2A45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6217920" y="804672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058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1673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flujos documentados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" y="2798064"/>
            <a:ext cx="2743200" cy="1691640"/>
          </a:xfrm>
          <a:prstGeom prst="rect">
            <a:avLst/>
          </a:prstGeom>
          <a:solidFill>
            <a:srgbClr val="0F2A45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274320" y="2798064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99232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11480" y="36667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estados del envío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46120" y="2798064"/>
            <a:ext cx="2743200" cy="1691640"/>
          </a:xfrm>
          <a:prstGeom prst="rect">
            <a:avLst/>
          </a:prstGeom>
          <a:solidFill>
            <a:srgbClr val="0F2A45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0"/>
          <p:cNvSpPr/>
          <p:nvPr/>
        </p:nvSpPr>
        <p:spPr>
          <a:xfrm>
            <a:off x="3246120" y="2798064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2999232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83280" y="36667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Backend / BD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17920" y="2798064"/>
            <a:ext cx="2743200" cy="1691640"/>
          </a:xfrm>
          <a:prstGeom prst="rect">
            <a:avLst/>
          </a:prstGeom>
          <a:solidFill>
            <a:srgbClr val="0F2A45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4"/>
          <p:cNvSpPr/>
          <p:nvPr/>
        </p:nvSpPr>
        <p:spPr>
          <a:xfrm>
            <a:off x="6217920" y="2798064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999232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9516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55080" y="36667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cloud completa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50F1A"/>
          </a:solidFill>
          <a:ln w="12700">
            <a:solidFill>
              <a:srgbClr val="050F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28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  |  Análisis y Diseño de Sistemas  | 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1 — Gestión de Órdenes de Transporte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920240" y="749808"/>
            <a:ext cx="694944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920240" y="74980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«Sistema de Gestión de Órdenes»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19456" cy="219456"/>
          </a:xfrm>
          <a:prstGeom prst="ellipse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29768" y="1133856"/>
            <a:ext cx="0" cy="27432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65176" y="1216152"/>
            <a:ext cx="329184" cy="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29768" y="1408176"/>
            <a:ext cx="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29768" y="1408176"/>
            <a:ext cx="13716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" y="16367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219456" cy="219456"/>
          </a:xfrm>
          <a:prstGeom prst="ellipse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29768" y="2322576"/>
            <a:ext cx="0" cy="27432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65176" y="2404872"/>
            <a:ext cx="329184" cy="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29768" y="2596896"/>
            <a:ext cx="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29768" y="2596896"/>
            <a:ext cx="13716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4008" y="28254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219456" cy="219456"/>
          </a:xfrm>
          <a:prstGeom prst="ellipse">
            <a:avLst/>
          </a:prstGeom>
          <a:solidFill>
            <a:srgbClr val="2C7A2C"/>
          </a:solidFill>
          <a:ln w="12700">
            <a:solidFill>
              <a:srgbClr val="2C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29768" y="3511296"/>
            <a:ext cx="0" cy="274320"/>
          </a:xfrm>
          <a:prstGeom prst="line">
            <a:avLst/>
          </a:prstGeom>
          <a:noFill/>
          <a:ln w="19050">
            <a:solidFill>
              <a:srgbClr val="2C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65176" y="3593592"/>
            <a:ext cx="329184" cy="0"/>
          </a:xfrm>
          <a:prstGeom prst="line">
            <a:avLst/>
          </a:prstGeom>
          <a:noFill/>
          <a:ln w="19050">
            <a:solidFill>
              <a:srgbClr val="2C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29768" y="3785616"/>
            <a:ext cx="0" cy="201168"/>
          </a:xfrm>
          <a:prstGeom prst="line">
            <a:avLst/>
          </a:prstGeom>
          <a:noFill/>
          <a:ln w="19050">
            <a:solidFill>
              <a:srgbClr val="2C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29768" y="3785616"/>
            <a:ext cx="137160" cy="201168"/>
          </a:xfrm>
          <a:prstGeom prst="line">
            <a:avLst/>
          </a:prstGeom>
          <a:noFill/>
          <a:ln w="19050">
            <a:solidFill>
              <a:srgbClr val="2C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4008" y="40142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04504" y="1645920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8714232" y="1865376"/>
            <a:ext cx="0" cy="27432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8549640" y="1947672"/>
            <a:ext cx="32918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8714232" y="2139696"/>
            <a:ext cx="0" cy="201168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8714232" y="2139696"/>
            <a:ext cx="137160" cy="201168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8348472" y="23682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GPS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48840" y="93268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14884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Cliente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48840" y="148132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214884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Orden de Transporte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48840" y="202996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214884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Estado de Envío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48840" y="257860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21488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 de Envíos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48840" y="312724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214884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Reclamo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93268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07492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Vehículo y Conductor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74920" y="148132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507492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Entrega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74920" y="202996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507492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Mantenimiento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74920" y="257860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507492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74920" y="312724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507492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Usuarios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74920" y="367588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507492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Posición GPS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6928" y="1234440"/>
            <a:ext cx="158191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566928" y="1234440"/>
            <a:ext cx="1581912" cy="448056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566928" y="1234440"/>
            <a:ext cx="1581912" cy="996696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566928" y="1234440"/>
            <a:ext cx="1581912" cy="1545336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566928" y="2423160"/>
            <a:ext cx="158191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566928" y="2423160"/>
            <a:ext cx="450799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566928" y="2423160"/>
            <a:ext cx="450799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566928" y="3611880"/>
            <a:ext cx="450799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566928" y="3611880"/>
            <a:ext cx="450799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566928" y="3611880"/>
            <a:ext cx="450799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566928" y="3611880"/>
            <a:ext cx="4507992" cy="265176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7635240" y="3877056"/>
            <a:ext cx="85039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6355080" y="1133856"/>
            <a:ext cx="0" cy="548640"/>
          </a:xfrm>
          <a:prstGeom prst="line">
            <a:avLst/>
          </a:prstGeom>
          <a:noFill/>
          <a:ln w="12700">
            <a:solidFill>
              <a:srgbClr val="6B7A99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5852160" y="13167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principal: 11 casos de uso · 4 actores  |  Cliente crea órdenes · Conductor registra entregas · Admin gestiona sistema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2 — Gestión de Mantenimiento de Vehículos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920240" y="749808"/>
            <a:ext cx="694944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920240" y="74980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«Sistema de Mantenimiento»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19456" cy="219456"/>
          </a:xfrm>
          <a:prstGeom prst="ellipse">
            <a:avLst/>
          </a:prstGeom>
          <a:solidFill>
            <a:srgbClr val="1A4A7C"/>
          </a:solidFill>
          <a:ln w="1270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29768" y="1316736"/>
            <a:ext cx="0" cy="274320"/>
          </a:xfrm>
          <a:prstGeom prst="line">
            <a:avLst/>
          </a:prstGeom>
          <a:noFill/>
          <a:ln w="1905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65176" y="1399032"/>
            <a:ext cx="329184" cy="0"/>
          </a:xfrm>
          <a:prstGeom prst="line">
            <a:avLst/>
          </a:prstGeom>
          <a:noFill/>
          <a:ln w="1905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29768" y="1591056"/>
            <a:ext cx="0" cy="201168"/>
          </a:xfrm>
          <a:prstGeom prst="line">
            <a:avLst/>
          </a:prstGeom>
          <a:noFill/>
          <a:ln w="1905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29768" y="1591056"/>
            <a:ext cx="137160" cy="201168"/>
          </a:xfrm>
          <a:prstGeom prst="line">
            <a:avLst/>
          </a:prstGeom>
          <a:noFill/>
          <a:ln w="1905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" y="181965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219456" cy="219456"/>
          </a:xfrm>
          <a:prstGeom prst="ellipse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29768" y="2779776"/>
            <a:ext cx="0" cy="27432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65176" y="2862072"/>
            <a:ext cx="329184" cy="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29768" y="3054096"/>
            <a:ext cx="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29768" y="3054096"/>
            <a:ext cx="13716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4008" y="328269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04504" y="1828800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714232" y="2048256"/>
            <a:ext cx="0" cy="27432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8549640" y="2130552"/>
            <a:ext cx="32918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8714232" y="2322576"/>
            <a:ext cx="0" cy="201168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8714232" y="2322576"/>
            <a:ext cx="137160" cy="201168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348472" y="25511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48840" y="932688"/>
            <a:ext cx="260604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2148840" y="960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Mant. Correctivo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1572768"/>
            <a:ext cx="260604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148840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Mant. Preventivo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48840" y="2212848"/>
            <a:ext cx="260604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14884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Historial Mant.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0" y="932688"/>
            <a:ext cx="260604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120640" y="960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Vehículo No Disponible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20640" y="1572768"/>
            <a:ext cx="260604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120640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Fin de Mantenimiento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2212848"/>
            <a:ext cx="260604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12064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 Mantenimiento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1417320"/>
            <a:ext cx="158191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566928" y="1417320"/>
            <a:ext cx="1581912" cy="356616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566928" y="1417320"/>
            <a:ext cx="1581912" cy="996696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566928" y="1417320"/>
            <a:ext cx="455371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566928" y="1417320"/>
            <a:ext cx="4553712" cy="996696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566928" y="2880360"/>
            <a:ext cx="158191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566928" y="2880360"/>
            <a:ext cx="158191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7726680" y="1773936"/>
            <a:ext cx="758952" cy="256032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7726680" y="2414016"/>
            <a:ext cx="75895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4773168" y="1133856"/>
            <a:ext cx="347472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389120" y="96926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773168" y="2414016"/>
            <a:ext cx="347472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389120" y="243230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«extend»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3749040"/>
            <a:ext cx="8595360" cy="640080"/>
          </a:xfrm>
          <a:prstGeom prst="rect">
            <a:avLst/>
          </a:prstGeom>
          <a:solidFill>
            <a:srgbClr val="FFF8E8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57200" y="37856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Gestiona mantenimiento preventivo y correctivo. El Administrador programa y consulta historial. El Técnico registra el trabajo. El Sistema notifica automáticamente el fin de mantenimiento.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2: Mantenimiento preventivo y correctivo con relaciones include/extend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3 — Gestión de Incidencias en Ruta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920240" y="749808"/>
            <a:ext cx="69494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920240" y="74980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«Sistema de Incidencias»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19456" cy="219456"/>
          </a:xfrm>
          <a:prstGeom prst="ellipse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29768" y="1133856"/>
            <a:ext cx="0" cy="27432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65176" y="1216152"/>
            <a:ext cx="329184" cy="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29768" y="1408176"/>
            <a:ext cx="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29768" y="1408176"/>
            <a:ext cx="13716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" y="16367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219456" cy="219456"/>
          </a:xfrm>
          <a:prstGeom prst="ellipse">
            <a:avLst/>
          </a:prstGeom>
          <a:solidFill>
            <a:srgbClr val="1A4A7C"/>
          </a:solidFill>
          <a:ln w="1270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29768" y="2596896"/>
            <a:ext cx="0" cy="274320"/>
          </a:xfrm>
          <a:prstGeom prst="line">
            <a:avLst/>
          </a:prstGeom>
          <a:noFill/>
          <a:ln w="1905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65176" y="2679192"/>
            <a:ext cx="329184" cy="0"/>
          </a:xfrm>
          <a:prstGeom prst="line">
            <a:avLst/>
          </a:prstGeom>
          <a:noFill/>
          <a:ln w="1905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29768" y="2871216"/>
            <a:ext cx="0" cy="201168"/>
          </a:xfrm>
          <a:prstGeom prst="line">
            <a:avLst/>
          </a:prstGeom>
          <a:noFill/>
          <a:ln w="1905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29768" y="2871216"/>
            <a:ext cx="137160" cy="201168"/>
          </a:xfrm>
          <a:prstGeom prst="line">
            <a:avLst/>
          </a:prstGeom>
          <a:noFill/>
          <a:ln w="1905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4008" y="3099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04504" y="1371600"/>
            <a:ext cx="219456" cy="21945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714232" y="1591056"/>
            <a:ext cx="0" cy="27432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8549640" y="1673352"/>
            <a:ext cx="329184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8714232" y="1865376"/>
            <a:ext cx="0" cy="201168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8714232" y="1865376"/>
            <a:ext cx="137160" cy="201168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348472" y="20939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04504" y="2743200"/>
            <a:ext cx="219456" cy="219456"/>
          </a:xfrm>
          <a:prstGeom prst="ellipse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8714232" y="2962656"/>
            <a:ext cx="0" cy="27432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8549640" y="3044952"/>
            <a:ext cx="329184" cy="0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8714232" y="3236976"/>
            <a:ext cx="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8714232" y="3236976"/>
            <a:ext cx="137160" cy="201168"/>
          </a:xfrm>
          <a:prstGeom prst="line">
            <a:avLst/>
          </a:prstGeom>
          <a:noFill/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8348472" y="34655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48840" y="932688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14884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Incidencia en Ruta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48840" y="1508760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2148840" y="1536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Tipo de Incidencia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48840" y="2084832"/>
            <a:ext cx="256032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2148840" y="21122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Incidencia al Admin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932688"/>
            <a:ext cx="260604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029200" y="960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Reasignar Vehículo o Conductor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1508760"/>
            <a:ext cx="260604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5029200" y="15361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Retraso al Cliente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2084832"/>
            <a:ext cx="2606040" cy="40233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029200" y="211226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Incidencia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" y="1234440"/>
            <a:ext cx="158191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566928" y="1234440"/>
            <a:ext cx="1581912" cy="475488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566928" y="2697480"/>
            <a:ext cx="158191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566928" y="2697480"/>
            <a:ext cx="446227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566928" y="2697480"/>
            <a:ext cx="446227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7635240" y="2286000"/>
            <a:ext cx="850392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7635240" y="1709928"/>
            <a:ext cx="850392" cy="123444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709160" y="1133856"/>
            <a:ext cx="320040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343400" y="96926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709160" y="1709928"/>
            <a:ext cx="320040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343400" y="172821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«extend»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74320" y="3749040"/>
            <a:ext cx="8595360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57200" y="37856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El Conductor reporta problemas desde la App. El Sistema clasifica y notifica al Administrador. Según gravedad alta: reasigna recursos. En ambos casos notifica el retraso al Cliente.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3: Incidencias en ruta con escalado y reasignación de recursos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1 — Sistema Principal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1965960" cy="3200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28600" y="83210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124712"/>
            <a:ext cx="196596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01752" y="1152144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-idCliente: int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1752" y="1353312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-razonSocial: String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1752" y="155448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-ruc: String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8600" y="1801368"/>
            <a:ext cx="196596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01752" y="182880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+registrar()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1752" y="202996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+actualizar()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23160" y="804672"/>
            <a:ext cx="1965960" cy="3200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423160" y="83210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OrdenTransporte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1124712"/>
            <a:ext cx="196596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496312" y="1152144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-idOrden: int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96312" y="1353312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-fecha: Date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96312" y="155448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-estado: String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23160" y="1801368"/>
            <a:ext cx="196596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496312" y="182880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+crear()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496312" y="202996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+cancelar()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17720" y="804672"/>
            <a:ext cx="196596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617720" y="83210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124712"/>
            <a:ext cx="196596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690872" y="1152144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-idEnvio: int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90872" y="1353312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-ubicacion: GPS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90872" y="155448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-estado: String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17720" y="1801368"/>
            <a:ext cx="196596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690872" y="182880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+actualizarPos()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90872" y="202996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+regEntrega()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903720" y="804672"/>
            <a:ext cx="1965960" cy="320040"/>
          </a:xfrm>
          <a:prstGeom prst="rect">
            <a:avLst/>
          </a:prstGeom>
          <a:solidFill>
            <a:srgbClr val="2C7A2C"/>
          </a:solidFill>
          <a:ln w="12700">
            <a:solidFill>
              <a:srgbClr val="2C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6903720" y="83210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Vehiculo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1124712"/>
            <a:ext cx="196596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976872" y="1152144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-placa: String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976872" y="1353312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-capacidad: double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76872" y="155448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-disponible: bool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903720" y="1801368"/>
            <a:ext cx="196596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976872" y="182880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+asignar()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976872" y="202996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+liberar()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28600" y="2834640"/>
            <a:ext cx="1965960" cy="3200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228600" y="2862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Conductor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" y="3154680"/>
            <a:ext cx="196596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301752" y="3182112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-nombre: String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01752" y="338328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-licencia: String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01752" y="358444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-telefono: String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8600" y="3831336"/>
            <a:ext cx="196596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301752" y="385876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+reportarIncidencia()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01752" y="4059936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+actualizarPos()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423160" y="2834640"/>
            <a:ext cx="196596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2423160" y="2862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Mantenimiento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423160" y="3154680"/>
            <a:ext cx="196596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2496312" y="3182112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-tipo: String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496312" y="338328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-fecha: Date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496312" y="358444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-costo: double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423160" y="3831336"/>
            <a:ext cx="196596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2496312" y="385876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+registrar()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496312" y="4059936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+cerrar()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17720" y="2834640"/>
            <a:ext cx="196596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4617720" y="2862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17720" y="3154680"/>
            <a:ext cx="196596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4690872" y="3182112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-email: String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690872" y="338328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-rol: String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690872" y="358444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-password: String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617720" y="3831336"/>
            <a:ext cx="196596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4690872" y="385876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+iniciarSesion()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690872" y="4059936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+cerrarSesion()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903720" y="2834640"/>
            <a:ext cx="1965960" cy="32004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6903720" y="2862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903720" y="3154680"/>
            <a:ext cx="196596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6976872" y="3182112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-tipo: String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976872" y="3383280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-fecha: Date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976872" y="358444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-datos: JSON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903720" y="3831336"/>
            <a:ext cx="196596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6976872" y="3858768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+generar()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976872" y="4059936"/>
            <a:ext cx="1856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+exportar()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194560" y="1133856"/>
            <a:ext cx="228600" cy="0"/>
          </a:xfrm>
          <a:prstGeom prst="line">
            <a:avLst/>
          </a:prstGeom>
          <a:noFill/>
          <a:ln w="1524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76"/>
          <p:cNvSpPr/>
          <p:nvPr/>
        </p:nvSpPr>
        <p:spPr>
          <a:xfrm>
            <a:off x="1920240" y="106984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377440" y="10698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89120" y="1133856"/>
            <a:ext cx="228600" cy="0"/>
          </a:xfrm>
          <a:prstGeom prst="line">
            <a:avLst/>
          </a:prstGeom>
          <a:noFill/>
          <a:ln w="1524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9"/>
          <p:cNvSpPr/>
          <p:nvPr/>
        </p:nvSpPr>
        <p:spPr>
          <a:xfrm>
            <a:off x="4114800" y="106984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572000" y="106984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583680" y="1133856"/>
            <a:ext cx="320040" cy="0"/>
          </a:xfrm>
          <a:prstGeom prst="line">
            <a:avLst/>
          </a:prstGeom>
          <a:noFill/>
          <a:ln w="15240">
            <a:solidFill>
              <a:srgbClr val="2C7A2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2"/>
          <p:cNvSpPr/>
          <p:nvPr/>
        </p:nvSpPr>
        <p:spPr>
          <a:xfrm>
            <a:off x="6309360" y="106984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583680" y="10698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211580" y="2039112"/>
            <a:ext cx="0" cy="795528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914400" y="20482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68680" y="274320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886700" y="2066544"/>
            <a:ext cx="0" cy="768096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90" name="Text 88"/>
          <p:cNvSpPr/>
          <p:nvPr/>
        </p:nvSpPr>
        <p:spPr>
          <a:xfrm>
            <a:off x="6949440" y="205740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3931920" y="278892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28600" y="4434840"/>
            <a:ext cx="8686800" cy="347472"/>
          </a:xfrm>
          <a:prstGeom prst="rect">
            <a:avLst/>
          </a:prstGeom>
          <a:solidFill>
            <a:srgbClr val="EAF2FF"/>
          </a:solidFill>
          <a:ln w="1016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Text 91"/>
          <p:cNvSpPr/>
          <p:nvPr/>
        </p:nvSpPr>
        <p:spPr>
          <a:xfrm>
            <a:off x="320040" y="445312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 Cliente 1→1..* OrdenTransporte  |  OrdenTransporte 1→1 Envio  |  Envio 1→1..* Vehiculo  |  Conductor 1→1..* Envio  |  Vehiculo 1→0..* Mantenimiento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clases del dominio principal con multiplicidades y relaciones de asociación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2 — Rutas e Incidencias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210312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82880" y="832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124712"/>
            <a:ext cx="21031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56032" y="115214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-idRuta: int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56032" y="135331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-origen: String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155448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-destino: String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6032" y="175564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-distanciaKm: double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2002536"/>
            <a:ext cx="210312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56032" y="202996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+calcularDistancia()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6032" y="223113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+obtenerRuta()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520440" y="804672"/>
            <a:ext cx="2103120" cy="3200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520440" y="832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1124712"/>
            <a:ext cx="21031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593592" y="115214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-idEnvio: int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93592" y="135331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-estado: String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593592" y="155448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-fechaInicio: Date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20440" y="1801368"/>
            <a:ext cx="210312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593592" y="182880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+actualizarEstado()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93592" y="202996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+registrarEntrega()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58000" y="804672"/>
            <a:ext cx="2103120" cy="3200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858000" y="832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Conductor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1124712"/>
            <a:ext cx="21031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931152" y="115214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-nombre: String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31152" y="135331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-licencia: String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31152" y="155448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-telefono: String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58000" y="1801368"/>
            <a:ext cx="210312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931152" y="182880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+reportarIncidencia()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931152" y="202996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+actualizarPosicion()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645920" y="2743200"/>
            <a:ext cx="21031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1645920" y="2770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Incidencia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45920" y="3063240"/>
            <a:ext cx="21031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1719072" y="309067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-tipo: String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719072" y="329184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-descripcion: String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719072" y="349300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-fecha: Date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719072" y="369417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-estado: String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645920" y="3941064"/>
            <a:ext cx="2103120" cy="676656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1719072" y="396849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+registrar()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719072" y="416966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+resolver()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719072" y="437083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+escalar()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12080" y="2743200"/>
            <a:ext cx="2103120" cy="3200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212080" y="2770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Notificacion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12080" y="3063240"/>
            <a:ext cx="21031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5285232" y="309067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-mensaje: String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285232" y="329184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-canal: String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285232" y="349300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-fechaEnvio: Date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285232" y="369417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-estado: String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212080" y="3941064"/>
            <a:ext cx="210312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5285232" y="396849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+enviar()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285232" y="416966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+reenviar()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286000" y="1234440"/>
            <a:ext cx="1234440" cy="0"/>
          </a:xfrm>
          <a:prstGeom prst="line">
            <a:avLst/>
          </a:prstGeom>
          <a:noFill/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2011680" y="117043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456432" y="117043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623560" y="1234440"/>
            <a:ext cx="123444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5349240" y="117043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596128" y="117043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0" y="1965960"/>
            <a:ext cx="0" cy="777240"/>
          </a:xfrm>
          <a:prstGeom prst="line">
            <a:avLst/>
          </a:prstGeom>
          <a:noFill/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4617720" y="196596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828800" y="267004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909560" y="1965960"/>
            <a:ext cx="0" cy="77724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7772400" y="196596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749040" y="3337560"/>
            <a:ext cx="1463040" cy="0"/>
          </a:xfrm>
          <a:prstGeom prst="line">
            <a:avLst/>
          </a:prstGeom>
          <a:noFill/>
          <a:ln w="1524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Text 64"/>
          <p:cNvSpPr/>
          <p:nvPr/>
        </p:nvSpPr>
        <p:spPr>
          <a:xfrm>
            <a:off x="3474720" y="32735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66360" y="327355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0..*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1→1 Envio · Envio 1→1 Conductor · Envio 1→0..* Incidencia · Incidencia 1→0..* Notificacion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3 — Usuarios y Roles (Seguridad)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520440" y="804672"/>
            <a:ext cx="210312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520440" y="832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1124712"/>
            <a:ext cx="2103120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593592" y="115214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-idUsuario: int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593592" y="135331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-email: String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93592" y="155448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-password: String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93592" y="175564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-estado: String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520440" y="2002536"/>
            <a:ext cx="210312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593592" y="202996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+iniciarSesion()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593592" y="223113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+cerrarSesion()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103120" cy="3200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57200" y="2770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1031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30352" y="309067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-nivel: String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210312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30352" y="336499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+gestionarUsuarios()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0352" y="356616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+generarReportes()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583680" y="2743200"/>
            <a:ext cx="2103120" cy="3200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583680" y="2770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Conductor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3063240"/>
            <a:ext cx="21031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656832" y="309067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-licencia: String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656832" y="329184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-disponible: bool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583680" y="3538728"/>
            <a:ext cx="210312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656832" y="356616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+reportarIncidencia()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56832" y="376732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+registrarEntrega()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45920" y="2770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19072" y="309067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719072" y="329184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212080" y="2743200"/>
            <a:ext cx="2103120" cy="32004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5212080" y="2770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12080" y="3063240"/>
            <a:ext cx="21031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285232" y="309067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-idPermiso: int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285232" y="329184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-modulo: String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285232" y="349300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-accion: String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212080" y="3739896"/>
            <a:ext cx="2103120" cy="274320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5285232" y="376732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+verificar()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508760" y="2743200"/>
            <a:ext cx="3063240" cy="0"/>
          </a:xfrm>
          <a:prstGeom prst="line">
            <a:avLst/>
          </a:prstGeom>
          <a:noFill/>
          <a:ln w="1524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1005840" y="2103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635240" y="2743200"/>
            <a:ext cx="0" cy="0"/>
          </a:xfrm>
          <a:prstGeom prst="line">
            <a:avLst/>
          </a:prstGeom>
          <a:noFill/>
          <a:ln w="1524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6400800" y="2103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520440" y="1417320"/>
            <a:ext cx="0" cy="1325880"/>
          </a:xfrm>
          <a:prstGeom prst="line">
            <a:avLst/>
          </a:prstGeom>
          <a:noFill/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3246120" y="1417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920240" y="26334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49040" y="3337560"/>
            <a:ext cx="1463040" cy="0"/>
          </a:xfrm>
          <a:prstGeom prst="line">
            <a:avLst/>
          </a:prstGeom>
          <a:noFill/>
          <a:ln w="1524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3474720" y="32735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66360" y="32735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seguridad: Usuario base con herencia a Administrador y Conductor · Roles y Permisos por módulo</a:t>
            </a:r>
            <a:endParaRPr lang="en-US" sz="850" dirty="0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D983829D-6153-D584-7737-91FD5F7C6DEF}"/>
              </a:ext>
            </a:extLst>
          </p:cNvPr>
          <p:cNvSpPr/>
          <p:nvPr/>
        </p:nvSpPr>
        <p:spPr>
          <a:xfrm>
            <a:off x="2980944" y="2702052"/>
            <a:ext cx="210312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FD605956-11C3-269D-3942-3B63F7B3DFB4}"/>
              </a:ext>
            </a:extLst>
          </p:cNvPr>
          <p:cNvSpPr/>
          <p:nvPr/>
        </p:nvSpPr>
        <p:spPr>
          <a:xfrm>
            <a:off x="2980944" y="27294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endParaRPr lang="en-US" sz="1000" dirty="0"/>
          </a:p>
        </p:txBody>
      </p:sp>
      <p:sp>
        <p:nvSpPr>
          <p:cNvPr id="61" name="Shape 30">
            <a:extLst>
              <a:ext uri="{FF2B5EF4-FFF2-40B4-BE49-F238E27FC236}">
                <a16:creationId xmlns:a16="http://schemas.microsoft.com/office/drawing/2014/main" id="{4F85CE6A-A5F5-BA36-D5C3-5CE8DF94226E}"/>
              </a:ext>
            </a:extLst>
          </p:cNvPr>
          <p:cNvSpPr/>
          <p:nvPr/>
        </p:nvSpPr>
        <p:spPr>
          <a:xfrm>
            <a:off x="2980944" y="3022092"/>
            <a:ext cx="210312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499BB7A5-D1E0-8E65-4DF1-8086E9940171}"/>
              </a:ext>
            </a:extLst>
          </p:cNvPr>
          <p:cNvSpPr/>
          <p:nvPr/>
        </p:nvSpPr>
        <p:spPr>
          <a:xfrm>
            <a:off x="3054096" y="3049524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-idRol: int</a:t>
            </a:r>
            <a:endParaRPr lang="en-US" sz="750" dirty="0"/>
          </a:p>
        </p:txBody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B6786D2E-10CF-6C06-9AC7-6A549698DD91}"/>
              </a:ext>
            </a:extLst>
          </p:cNvPr>
          <p:cNvSpPr/>
          <p:nvPr/>
        </p:nvSpPr>
        <p:spPr>
          <a:xfrm>
            <a:off x="3054096" y="325069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-nombre: String</a:t>
            </a:r>
            <a:endParaRPr lang="en-US" sz="750" dirty="0"/>
          </a:p>
        </p:txBody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6159A6CB-FF6F-DB3E-3D4B-0E550A208175}"/>
              </a:ext>
            </a:extLst>
          </p:cNvPr>
          <p:cNvSpPr/>
          <p:nvPr/>
        </p:nvSpPr>
        <p:spPr>
          <a:xfrm>
            <a:off x="2980944" y="3698748"/>
            <a:ext cx="2103120" cy="475488"/>
          </a:xfrm>
          <a:prstGeom prst="rect">
            <a:avLst/>
          </a:prstGeom>
          <a:solidFill>
            <a:srgbClr val="F5F9FF"/>
          </a:solidFill>
          <a:ln w="10160">
            <a:solidFill>
              <a:srgbClr val="C0D4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35">
            <a:extLst>
              <a:ext uri="{FF2B5EF4-FFF2-40B4-BE49-F238E27FC236}">
                <a16:creationId xmlns:a16="http://schemas.microsoft.com/office/drawing/2014/main" id="{6156AF8F-5FC7-F3FA-BBB4-E10B3AE61878}"/>
              </a:ext>
            </a:extLst>
          </p:cNvPr>
          <p:cNvSpPr/>
          <p:nvPr/>
        </p:nvSpPr>
        <p:spPr>
          <a:xfrm>
            <a:off x="3054096" y="372618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+asignarPermiso()</a:t>
            </a:r>
            <a:endParaRPr lang="en-US" sz="750" dirty="0"/>
          </a:p>
        </p:txBody>
      </p:sp>
      <p:sp>
        <p:nvSpPr>
          <p:cNvPr id="66" name="Text 36">
            <a:extLst>
              <a:ext uri="{FF2B5EF4-FFF2-40B4-BE49-F238E27FC236}">
                <a16:creationId xmlns:a16="http://schemas.microsoft.com/office/drawing/2014/main" id="{56D8167F-D185-0C0D-F85E-3F6ABE2576FF}"/>
              </a:ext>
            </a:extLst>
          </p:cNvPr>
          <p:cNvSpPr/>
          <p:nvPr/>
        </p:nvSpPr>
        <p:spPr>
          <a:xfrm>
            <a:off x="3054096" y="3927348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+revocarPermiso()</a:t>
            </a:r>
            <a:endParaRPr lang="en-US" sz="750" dirty="0"/>
          </a:p>
        </p:txBody>
      </p:sp>
      <p:sp>
        <p:nvSpPr>
          <p:cNvPr id="77" name="Text 33">
            <a:extLst>
              <a:ext uri="{FF2B5EF4-FFF2-40B4-BE49-F238E27FC236}">
                <a16:creationId xmlns:a16="http://schemas.microsoft.com/office/drawing/2014/main" id="{77B72213-48F5-49CA-72C1-3CDE870BC3A3}"/>
              </a:ext>
            </a:extLst>
          </p:cNvPr>
          <p:cNvSpPr/>
          <p:nvPr/>
        </p:nvSpPr>
        <p:spPr>
          <a:xfrm>
            <a:off x="3054096" y="347853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-descripcion: String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ACTIVIDAD 1 — Proceso de Orden de Transporte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" y="749808"/>
            <a:ext cx="2148840" cy="4041648"/>
          </a:xfrm>
          <a:prstGeom prst="rect">
            <a:avLst/>
          </a:prstGeom>
          <a:solidFill>
            <a:srgbClr val="F8FAFD"/>
          </a:solidFill>
          <a:ln w="1016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1440" y="749808"/>
            <a:ext cx="548640" cy="4041648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 rot="16200000">
            <a:off x="109728" y="2313432"/>
            <a:ext cx="512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40280" y="749808"/>
            <a:ext cx="2148840" cy="4041648"/>
          </a:xfrm>
          <a:prstGeom prst="rect">
            <a:avLst/>
          </a:prstGeom>
          <a:solidFill>
            <a:srgbClr val="F8FAFD"/>
          </a:solidFill>
          <a:ln w="1016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240280" y="749808"/>
            <a:ext cx="548640" cy="40416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 rot="16200000">
            <a:off x="2258568" y="2313432"/>
            <a:ext cx="512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89120" y="749808"/>
            <a:ext cx="2148840" cy="4041648"/>
          </a:xfrm>
          <a:prstGeom prst="rect">
            <a:avLst/>
          </a:prstGeom>
          <a:solidFill>
            <a:srgbClr val="F8FAFD"/>
          </a:solidFill>
          <a:ln w="1016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389120" y="749808"/>
            <a:ext cx="548640" cy="4041648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 rot="16200000">
            <a:off x="4407408" y="2313432"/>
            <a:ext cx="512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537960" y="749808"/>
            <a:ext cx="2377440" cy="4041648"/>
          </a:xfrm>
          <a:prstGeom prst="rect">
            <a:avLst/>
          </a:prstGeom>
          <a:solidFill>
            <a:srgbClr val="F8FAFD"/>
          </a:solidFill>
          <a:ln w="10160">
            <a:solidFill>
              <a:srgbClr val="C8D8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537960" y="749808"/>
            <a:ext cx="548640" cy="40416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 rot="16200000">
            <a:off x="6556248" y="2313432"/>
            <a:ext cx="512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" y="7680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62072" y="7680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10912" y="7680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59752" y="7680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0120" y="1078992"/>
            <a:ext cx="237744" cy="23774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85800" y="141732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143560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Orden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77440" y="141732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423160" y="14356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 Sistema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78992" y="141732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1078992" y="1316736"/>
            <a:ext cx="0" cy="10058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2331720" y="1591056"/>
            <a:ext cx="45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2377440" y="193852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423160" y="195681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Vehículo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1764792"/>
            <a:ext cx="0" cy="17373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291840" y="2286000"/>
            <a:ext cx="457200" cy="2743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3749040" y="2560320"/>
            <a:ext cx="0" cy="2743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291840" y="283464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2834640" y="2560320"/>
            <a:ext cx="457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2651760" y="24871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¿Disponible?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91840" y="228600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291840" y="228600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3291840" y="228600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2377440" y="301752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FFF3CD"/>
          </a:solidFill>
          <a:ln w="12700">
            <a:solidFill>
              <a:srgbClr val="E0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2423160" y="3035808"/>
            <a:ext cx="1737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67328" y="25328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749040" y="2560320"/>
            <a:ext cx="457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4206240" y="2560320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4206240" y="301752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4526280" y="228600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572000" y="23042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Vehículo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Conductor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46120" y="28529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91840" y="2834640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2834640" y="256032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2377440" y="2560320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685800" y="1938528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731520" y="195681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al Cliente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26280" y="288036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572000" y="289864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Envío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75120" y="288036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6720840" y="289864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GPS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26280" y="340156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572000" y="341985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Entrega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5800" y="3401568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731520" y="341985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Entrega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96696" y="3913632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1051560" y="3968496"/>
            <a:ext cx="182880" cy="18288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1078992" y="1655064"/>
            <a:ext cx="0" cy="2834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1078992" y="2286000"/>
            <a:ext cx="0" cy="111556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5440680" y="272491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7" name="Shape 65"/>
          <p:cNvSpPr/>
          <p:nvPr/>
        </p:nvSpPr>
        <p:spPr>
          <a:xfrm>
            <a:off x="5440680" y="3227832"/>
            <a:ext cx="0" cy="17373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5440680" y="3913632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1078992" y="3749040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6355080" y="2880360"/>
            <a:ext cx="320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71" name="Shape 69"/>
          <p:cNvSpPr/>
          <p:nvPr/>
        </p:nvSpPr>
        <p:spPr>
          <a:xfrm>
            <a:off x="6675120" y="3054096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4526280" y="2505456"/>
            <a:ext cx="0" cy="5486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completo: solicitud → verificación → asignación → seguimiento GPS → entrega confirmada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ACTIVIDAD 2 — Proceso de Mantenimiento de Vehículo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261104" y="822960"/>
            <a:ext cx="256032" cy="25603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389120" y="107899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560320" y="123444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606040" y="125272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necesidad de mantenimiento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560320" y="1755648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06040" y="177393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vehículo en sistema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21408"/>
            <a:ext cx="0" cy="1828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389120" y="2304288"/>
            <a:ext cx="457200" cy="25603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846320" y="2560320"/>
            <a:ext cx="0" cy="25603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389120" y="2816352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931920" y="2560320"/>
            <a:ext cx="457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977640" y="24323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¿Tipo?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0" y="25054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31920" y="256032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011680" y="2560320"/>
            <a:ext cx="0" cy="3383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97280" y="291693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fecha preventiva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5054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0320"/>
            <a:ext cx="1463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766560" y="2560320"/>
            <a:ext cx="0" cy="33832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806440" y="2898648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852160" y="291693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técnico urgente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3246120"/>
            <a:ext cx="0" cy="2743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6766560" y="3246120"/>
            <a:ext cx="0" cy="2743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2011680" y="352044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389120" y="3520440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2560320" y="3675888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2606040" y="36941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vehículo No Disponible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4023360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2560320" y="4178808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2606040" y="41970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mantenimiento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4526280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4389120" y="4681728"/>
            <a:ext cx="402336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4791456" y="4910328"/>
            <a:ext cx="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4389120" y="5138928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3986784" y="4910328"/>
            <a:ext cx="40233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023360" y="47914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¿Exitoso?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46320" y="48646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repetir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91456" y="4910328"/>
            <a:ext cx="7315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5522976" y="4910328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4389120" y="5138928"/>
            <a:ext cx="0" cy="16459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434840" y="513892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377440" y="530352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2423160" y="53218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completado · Marcar Disponible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242816" y="5733288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4297680" y="5788152"/>
            <a:ext cx="182880" cy="18288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preventivo (programado) del correctivo (urgente) · Loop si no exitoso · Cierra marcando disponible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ACTIVIDAD 3 — Registro de Incidencia en Ruta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072384" y="822960"/>
            <a:ext cx="256032" cy="25603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0" y="107899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371600" y="123444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417320" y="12527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detecta problema en ruta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8191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371600" y="173736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417320" y="17556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formulario de incidencia en 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08483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371600" y="224028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417320" y="225856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tipo y descripción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58775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371600" y="274320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417320" y="27614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reporte al sistema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309067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200400" y="3246120"/>
            <a:ext cx="457200" cy="25603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657600" y="3502152"/>
            <a:ext cx="0" cy="25603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200400" y="3758184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743200" y="3502152"/>
            <a:ext cx="4572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788920" y="33741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¿Gravedad?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" y="344728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0" y="3502152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1143000" y="3502152"/>
            <a:ext cx="0" cy="3108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28600" y="3813048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FFEBE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74320" y="38313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Admin inmediatamente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143000" y="414223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228600" y="4297680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274320" y="43159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Reasignar conductor/vehículo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43000" y="4626864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703320" y="344728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0" y="3502152"/>
            <a:ext cx="2011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5669280" y="3502152"/>
            <a:ext cx="0" cy="31089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4800600" y="381304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846320" y="38313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incidencia pendiente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9280" y="4142232"/>
            <a:ext cx="0" cy="6400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2286000" y="4782312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2331720" y="480060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retraso al Cliente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43000" y="4782312"/>
            <a:ext cx="1143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5669280" y="4782312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3511296" y="5212080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566160" y="5266944"/>
            <a:ext cx="182880" cy="18288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reporta desde App · Gravedad alta: notifica Admin y reasigna recursos · Siempre notifica retraso al Cliente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ACTIVIDAD 4 — Generación de Reporte Logístico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443984" y="822960"/>
            <a:ext cx="256032" cy="256032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0" y="107899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0" y="123444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88920" y="125272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accede al módulo de reportes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58191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743200" y="173736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788920" y="17556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tipo de reporte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08483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43200" y="224028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88920" y="225856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rango de fechas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587752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572000" y="2743200"/>
            <a:ext cx="402336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974336" y="2971800"/>
            <a:ext cx="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572000" y="320040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169664" y="2971800"/>
            <a:ext cx="40233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206240" y="28529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¿Tipo?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97280" y="29077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69664" y="2971800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655064" y="2971800"/>
            <a:ext cx="0" cy="3200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777240" y="3291840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22960" y="33101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Envíos en BD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0" y="32186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3200400"/>
            <a:ext cx="0" cy="914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703320" y="3291840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749040" y="33101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Vehículos en BD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29077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74336" y="2971800"/>
            <a:ext cx="2514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7488936" y="2971800"/>
            <a:ext cx="0" cy="3200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629400" y="3291840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675120" y="33101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Incidencias BD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55064" y="3621024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4572000" y="3621024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7488936" y="3621024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1655064" y="3950208"/>
            <a:ext cx="5833872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4572000" y="4023360"/>
            <a:ext cx="0" cy="14630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2743200" y="4169664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2788920" y="41879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y consolidar datos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4517136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4572000" y="4672584"/>
            <a:ext cx="402336" cy="21945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4974336" y="4892040"/>
            <a:ext cx="0" cy="21945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4572000" y="5111496"/>
            <a:ext cx="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4169664" y="4892040"/>
            <a:ext cx="402336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187952" y="4764024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¿Suficientes?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029200" y="483717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reintentar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74336" y="4892040"/>
            <a:ext cx="548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4069080" y="51114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0" y="5111496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2743200" y="5266944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2788920" y="528523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 en pantalla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0" y="5614416"/>
            <a:ext cx="0" cy="15544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2743200" y="5769864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2788920" y="57881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PDF / Excel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425696" y="6181344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4480560" y="6236208"/>
            <a:ext cx="182880" cy="18288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elige tipo (Envíos/Vehículos/Incidencias) y rango de fechas · Consulta BD en paralelo · Exporta PDF o Excel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ESTADOS — Ciclo de Vida del Envío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315968" y="822960"/>
            <a:ext cx="237744" cy="23774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34840" y="1060704"/>
            <a:ext cx="0" cy="20116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474720" y="1261872"/>
            <a:ext cx="1737360" cy="402336"/>
          </a:xfrm>
          <a:prstGeom prst="roundRect">
            <a:avLst>
              <a:gd name="adj" fmla="val 40909"/>
            </a:avLst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474720" y="130759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1737360" cy="402336"/>
          </a:xfrm>
          <a:prstGeom prst="roundRect">
            <a:avLst>
              <a:gd name="adj" fmla="val 4090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2761488"/>
            <a:ext cx="1737360" cy="402336"/>
          </a:xfrm>
          <a:prstGeom prst="roundRect">
            <a:avLst>
              <a:gd name="adj" fmla="val 4090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74720" y="28072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3511296"/>
            <a:ext cx="1737360" cy="402336"/>
          </a:xfrm>
          <a:prstGeom prst="roundRect">
            <a:avLst>
              <a:gd name="adj" fmla="val 4090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474720" y="355701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1737360" cy="402336"/>
          </a:xfrm>
          <a:prstGeom prst="roundRect">
            <a:avLst>
              <a:gd name="adj" fmla="val 4090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217920" y="205740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761488"/>
            <a:ext cx="1737360" cy="402336"/>
          </a:xfrm>
          <a:prstGeom prst="roundRect">
            <a:avLst>
              <a:gd name="adj" fmla="val 40909"/>
            </a:avLst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217920" y="28072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INCIDENCIA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34840" y="1664208"/>
            <a:ext cx="0" cy="3474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462272" y="17830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asignar()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4840" y="2414016"/>
            <a:ext cx="0" cy="3474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462272" y="253288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iniciar()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434840" y="3163824"/>
            <a:ext cx="0" cy="347472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462272" y="328269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registrarEntrega()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12080" y="1463040"/>
            <a:ext cx="1005840" cy="5486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440680" y="157276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cancelar()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212080" y="2212848"/>
            <a:ext cx="1005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257800" y="20574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cancelar()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12080" y="2962656"/>
            <a:ext cx="1005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257800" y="280720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reportarIncidencia()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17920" y="3063240"/>
            <a:ext cx="0" cy="22860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413248" y="3273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resolver()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288536" y="4041648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4343400" y="4096512"/>
            <a:ext cx="182880" cy="18288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434840" y="3913632"/>
            <a:ext cx="0" cy="12801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7086600" y="2414016"/>
            <a:ext cx="0" cy="179222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4434840" y="4334256"/>
            <a:ext cx="26517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182880" y="804672"/>
            <a:ext cx="310896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0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228600" y="822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DEL ENVÍO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1170432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8F4FD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11480" y="11978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11480" y="14264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creada, sin asignación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17373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11480" y="17647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1993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 y conductor asignados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" y="2304288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11480" y="23317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11480" y="2560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en ruta con GPS activo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2871216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411480" y="28986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ENTREGADA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11480" y="31272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Mercancía entregada con éxito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3438144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FEBEE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11480" y="346557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11480" y="3694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anulada por cualquier causa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" y="4005072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FFF8E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411480" y="403250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INCIDENCIA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11480" y="42611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reportado en ruta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estados principales + estado de incidencia · Transiciones con nombre de método · Ciclo completo del envío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COMPONENTES — Arquitectura del Sistema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8778240" cy="1005840"/>
          </a:xfrm>
          <a:prstGeom prst="rect">
            <a:avLst/>
          </a:prstGeom>
          <a:solidFill>
            <a:srgbClr val="F0F6FF"/>
          </a:solidFill>
          <a:ln w="1524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56032" y="81381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051560"/>
            <a:ext cx="16459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41248" y="1143000"/>
            <a:ext cx="146304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41248" y="1307592"/>
            <a:ext cx="146304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24128" y="1106424"/>
            <a:ext cx="14904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(React.js)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1051560"/>
            <a:ext cx="16459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F5A62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761488" y="1143000"/>
            <a:ext cx="146304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61488" y="1307592"/>
            <a:ext cx="146304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944368" y="1106424"/>
            <a:ext cx="14904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(Android/iOS)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1965960"/>
            <a:ext cx="8778240" cy="1005840"/>
          </a:xfrm>
          <a:prstGeom prst="rect">
            <a:avLst/>
          </a:prstGeom>
          <a:solidFill>
            <a:srgbClr val="F0F6FF"/>
          </a:solidFill>
          <a:ln w="1524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56032" y="200253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LÓGICA DE NEGOCIO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146304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5A9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46888" y="2331720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46888" y="2496312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29768" y="2295144"/>
            <a:ext cx="13075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65960" y="2240280"/>
            <a:ext cx="13716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5A9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892808" y="2331720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892808" y="2496312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075688" y="2295144"/>
            <a:ext cx="12161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20440" y="2240280"/>
            <a:ext cx="13716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5A9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447288" y="2331720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447288" y="2496312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630168" y="2295144"/>
            <a:ext cx="12161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2240280"/>
            <a:ext cx="13716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5A9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5001768" y="2331720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001768" y="2496312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184648" y="2295144"/>
            <a:ext cx="12161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GPS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2240280"/>
            <a:ext cx="14173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5A9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556248" y="2331720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556248" y="2496312"/>
            <a:ext cx="146304" cy="91440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739128" y="2295144"/>
            <a:ext cx="12618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" y="3200400"/>
            <a:ext cx="8778240" cy="1005840"/>
          </a:xfrm>
          <a:prstGeom prst="rect">
            <a:avLst/>
          </a:prstGeom>
          <a:solidFill>
            <a:srgbClr val="F0F6FF"/>
          </a:solidFill>
          <a:ln w="152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256032" y="323697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97280" y="3474720"/>
            <a:ext cx="18288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1024128" y="3566160"/>
            <a:ext cx="146304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1024128" y="3730752"/>
            <a:ext cx="146304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1207008" y="3529584"/>
            <a:ext cx="1673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0" y="3474720"/>
            <a:ext cx="16459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127248" y="3566160"/>
            <a:ext cx="146304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3127248" y="3730752"/>
            <a:ext cx="146304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3310128" y="3529584"/>
            <a:ext cx="14904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 API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120640" y="3474720"/>
            <a:ext cx="18288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5047488" y="3566160"/>
            <a:ext cx="146304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5047488" y="3730752"/>
            <a:ext cx="146304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5230368" y="3529584"/>
            <a:ext cx="1673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737360" y="1783080"/>
            <a:ext cx="685800" cy="1828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3657600" y="1783080"/>
            <a:ext cx="0" cy="1828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1783080" y="2487168"/>
            <a:ext cx="914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1783080" y="2487168"/>
            <a:ext cx="24231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1783080" y="2487168"/>
            <a:ext cx="3977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1783080" y="2487168"/>
            <a:ext cx="5532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 dirty="0"/>
          </a:p>
        </p:txBody>
      </p:sp>
      <p:sp>
        <p:nvSpPr>
          <p:cNvPr id="57" name="Shape 55"/>
          <p:cNvSpPr/>
          <p:nvPr/>
        </p:nvSpPr>
        <p:spPr>
          <a:xfrm>
            <a:off x="2697480" y="2971800"/>
            <a:ext cx="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5760720" y="2971800"/>
            <a:ext cx="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5760720" y="2971800"/>
            <a:ext cx="27432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182880" y="4315968"/>
            <a:ext cx="8778240" cy="457200"/>
          </a:xfrm>
          <a:prstGeom prst="rect">
            <a:avLst/>
          </a:prstGeom>
          <a:solidFill>
            <a:srgbClr val="E8F4FD"/>
          </a:solidFill>
          <a:ln w="1016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320040" y="4352544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HTTPS  |  🔑  JWT Auth  |  ⚡  REST API  |  📡  WebSocket GPS  |  🔐  Cifrado en tránsito (TLS 1.3)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3 capas: Presentación → Lógica de Negocio → Datos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DESPLIEGUE — Infraestructura Cloud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920240" cy="950976"/>
          </a:xfrm>
          <a:prstGeom prst="rect">
            <a:avLst/>
          </a:prstGeom>
          <a:solidFill>
            <a:srgbClr val="F0F6FF"/>
          </a:solidFill>
          <a:ln w="19050">
            <a:solidFill>
              <a:srgbClr val="1E5A9C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82880" y="777240"/>
            <a:ext cx="1920240" cy="329184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56032" y="813816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«device» PC Cliente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79576"/>
            <a:ext cx="173736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92608" y="1197864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173736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92608" y="143560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App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2560320"/>
            <a:ext cx="1920240" cy="950976"/>
          </a:xfrm>
          <a:prstGeom prst="rect">
            <a:avLst/>
          </a:prstGeom>
          <a:solidFill>
            <a:srgbClr val="F0F6FF"/>
          </a:solidFill>
          <a:ln w="19050">
            <a:solidFill>
              <a:srgbClr val="1E5A9C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82880" y="2560320"/>
            <a:ext cx="1920240" cy="329184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56032" y="2596896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«device» Smartphone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962656"/>
            <a:ext cx="173736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92608" y="2980944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173736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92608" y="3218688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777240"/>
            <a:ext cx="5029200" cy="4023360"/>
          </a:xfrm>
          <a:prstGeom prst="rect">
            <a:avLst/>
          </a:prstGeom>
          <a:solidFill>
            <a:srgbClr val="F8FEFF"/>
          </a:solidFill>
          <a:ln w="19050">
            <a:solidFill>
              <a:srgbClr val="0E749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377440" y="777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«cloud» AWS / Azure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14600" y="1051560"/>
            <a:ext cx="2194560" cy="950976"/>
          </a:xfrm>
          <a:prstGeom prst="rect">
            <a:avLst/>
          </a:prstGeom>
          <a:solidFill>
            <a:srgbClr val="F0F6FF"/>
          </a:solidFill>
          <a:ln w="19050">
            <a:solidFill>
              <a:srgbClr val="1E5A9C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514600" y="1051560"/>
            <a:ext cx="2194560" cy="329184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587752" y="108813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«server» Web Server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1453896"/>
            <a:ext cx="201168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624328" y="1472184"/>
            <a:ext cx="19751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Load Balancer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06040" y="1691640"/>
            <a:ext cx="201168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2624328" y="1709928"/>
            <a:ext cx="19751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Termination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0" y="1051560"/>
            <a:ext cx="2240280" cy="950976"/>
          </a:xfrm>
          <a:prstGeom prst="rect">
            <a:avLst/>
          </a:prstGeom>
          <a:solidFill>
            <a:srgbClr val="F0F6FF"/>
          </a:solidFill>
          <a:ln w="19050">
            <a:solidFill>
              <a:srgbClr val="0E7490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937760" y="1051560"/>
            <a:ext cx="2240280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010912" y="1088136"/>
            <a:ext cx="2130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«server» App Server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1453896"/>
            <a:ext cx="205740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047488" y="1472184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Spring Boot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0" y="1691640"/>
            <a:ext cx="205740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047488" y="1709928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14600" y="2880360"/>
            <a:ext cx="2194560" cy="950976"/>
          </a:xfrm>
          <a:prstGeom prst="rect">
            <a:avLst/>
          </a:prstGeom>
          <a:solidFill>
            <a:srgbClr val="F0F6FF"/>
          </a:solidFill>
          <a:ln w="19050">
            <a:solidFill>
              <a:srgbClr val="27AE60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2514600" y="2880360"/>
            <a:ext cx="219456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587752" y="291693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«server» DB Server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6040" y="3282696"/>
            <a:ext cx="201168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2624328" y="3300984"/>
            <a:ext cx="19751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606040" y="3520440"/>
            <a:ext cx="201168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2624328" y="3538728"/>
            <a:ext cx="19751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+ Backup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37760" y="2880360"/>
            <a:ext cx="2240280" cy="950976"/>
          </a:xfrm>
          <a:prstGeom prst="rect">
            <a:avLst/>
          </a:prstGeom>
          <a:solidFill>
            <a:srgbClr val="F0F6FF"/>
          </a:solidFill>
          <a:ln w="19050">
            <a:solidFill>
              <a:srgbClr val="1E5A9C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4937760" y="2880360"/>
            <a:ext cx="2240280" cy="329184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5010912" y="2916936"/>
            <a:ext cx="2130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«service» GPS Service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0" y="3282696"/>
            <a:ext cx="205740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5047488" y="3300984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API Externa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0" y="3520440"/>
            <a:ext cx="205740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5047488" y="3538728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89520" y="1645920"/>
            <a:ext cx="1371600" cy="950976"/>
          </a:xfrm>
          <a:prstGeom prst="rect">
            <a:avLst/>
          </a:prstGeom>
          <a:solidFill>
            <a:srgbClr val="F0F6FF"/>
          </a:solidFill>
          <a:ln w="19050">
            <a:solidFill>
              <a:srgbClr val="6B7A99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7589520" y="1645920"/>
            <a:ext cx="1371600" cy="329184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7662672" y="1682496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«external» Email/SMS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80960" y="2048256"/>
            <a:ext cx="118872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7699248" y="2066544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680960" y="2286000"/>
            <a:ext cx="1188720" cy="201168"/>
          </a:xfrm>
          <a:prstGeom prst="rect">
            <a:avLst/>
          </a:prstGeom>
          <a:solidFill>
            <a:srgbClr val="DDEEFF"/>
          </a:solidFill>
          <a:ln w="635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7699248" y="2304288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API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103120" y="1234440"/>
            <a:ext cx="411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2029968" y="109728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103120" y="2834640"/>
            <a:ext cx="411480" cy="2743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2029968" y="292608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709160" y="1417320"/>
            <a:ext cx="228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4681728" y="12618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035040" y="2057400"/>
            <a:ext cx="0" cy="1143000"/>
          </a:xfrm>
          <a:prstGeom prst="line">
            <a:avLst/>
          </a:prstGeom>
          <a:noFill/>
          <a:ln w="12700">
            <a:solidFill>
              <a:srgbClr val="27AE60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6080760" y="246888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035040" y="2377440"/>
            <a:ext cx="0" cy="50292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6080760" y="257860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178040" y="1645920"/>
            <a:ext cx="411480" cy="18288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7205472" y="15727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514600" y="3886200"/>
            <a:ext cx="2194560" cy="320040"/>
          </a:xfrm>
          <a:prstGeom prst="rect">
            <a:avLst/>
          </a:prstGeom>
          <a:solidFill>
            <a:srgbClr val="E8F5E9"/>
          </a:solidFill>
          <a:ln w="10160">
            <a:solidFill>
              <a:srgbClr val="27AE60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2542032" y="3904488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Backup automático diario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cloud: Load Balancer → App Server → DB PostgreSQL + GPS externo + notificaciones Email/SMS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A7C"/>
          </a:solidFill>
          <a:ln w="12700">
            <a:solidFill>
              <a:srgbClr val="1A4A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078992"/>
          </a:xfrm>
          <a:prstGeom prst="rect">
            <a:avLst/>
          </a:prstGeom>
          <a:solidFill>
            <a:srgbClr val="0A1F35"/>
          </a:solidFill>
          <a:ln w="19050">
            <a:solidFill>
              <a:srgbClr val="F5A623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47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8961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PRESENTACIÓN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87552" y="12070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Frontend Web (React.js)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87552" y="149961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Móvil Conductor (Android / iOS)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2048256"/>
            <a:ext cx="8595360" cy="1078992"/>
          </a:xfrm>
          <a:prstGeom prst="rect">
            <a:avLst/>
          </a:prstGeom>
          <a:solidFill>
            <a:srgbClr val="0A1F35"/>
          </a:solidFill>
          <a:ln w="19050">
            <a:solidFill>
              <a:srgbClr val="1E5A9C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274320" y="2048256"/>
            <a:ext cx="64008" cy="1078992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68296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1396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LÓGICA DE NEGOCIO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87552" y="245059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REST (Node.js / Spring Boot)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87552" y="2743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Módulos: Clientes · Órdenes · GPS · Vehículos · Reportes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74320" y="3291840"/>
            <a:ext cx="8595360" cy="1078992"/>
          </a:xfrm>
          <a:prstGeom prst="rect">
            <a:avLst/>
          </a:prstGeom>
          <a:solidFill>
            <a:srgbClr val="0A1F35"/>
          </a:solidFill>
          <a:ln w="19050">
            <a:solidFill>
              <a:srgbClr val="27AE60"/>
            </a:solidFill>
            <a:prstDash val="solid"/>
          </a:ln>
          <a:effectLst>
            <a:outerShdw blurRad="762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274320" y="3291840"/>
            <a:ext cx="64008" cy="10789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1188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7552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987552" y="369417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Base de Datos PostgreSQL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987552" y="39867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GPS Externo  |  Notificaciones Email / SMS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274320" y="44988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HTTPS  |  Autenticación JWT  |  Cifrado TLS 1.3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50F1A"/>
          </a:solidFill>
          <a:ln w="12700">
            <a:solidFill>
              <a:srgbClr val="050F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0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  |  Análisis y Diseño de Sistemas  |  2026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920A"/>
          </a:solidFill>
          <a:ln w="12700">
            <a:solidFill>
              <a:srgbClr val="E892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"/>
          </a:xfrm>
          <a:prstGeom prst="rect">
            <a:avLst/>
          </a:prstGeom>
          <a:solidFill>
            <a:srgbClr val="8B4500"/>
          </a:solidFill>
          <a:ln w="12700">
            <a:solidFill>
              <a:srgbClr val="8B45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0918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TransAndes S.A.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0" y="8229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77640" y="8229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0" y="8229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46520" y="8229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80960" y="8229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207008"/>
            <a:ext cx="2011680" cy="868680"/>
          </a:xfrm>
          <a:prstGeom prst="rect">
            <a:avLst/>
          </a:prstGeom>
          <a:solidFill>
            <a:srgbClr val="0A1F35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4320" y="1207008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4320" y="12618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432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Activas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1207008"/>
            <a:ext cx="2011680" cy="868680"/>
          </a:xfrm>
          <a:prstGeom prst="rect">
            <a:avLst/>
          </a:prstGeom>
          <a:solidFill>
            <a:srgbClr val="0A1F35"/>
          </a:solidFill>
          <a:ln w="1905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423160" y="1207008"/>
            <a:ext cx="2011680" cy="54864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423160" y="12618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42316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207008"/>
            <a:ext cx="2011680" cy="868680"/>
          </a:xfrm>
          <a:prstGeom prst="rect">
            <a:avLst/>
          </a:prstGeom>
          <a:solidFill>
            <a:srgbClr val="0A1F35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572000" y="1207008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572000" y="12618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1207008"/>
            <a:ext cx="2011680" cy="868680"/>
          </a:xfrm>
          <a:prstGeom prst="rect">
            <a:avLst/>
          </a:prstGeom>
          <a:solidFill>
            <a:srgbClr val="0A1F35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720840" y="1207008"/>
            <a:ext cx="201168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720840" y="12618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2084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Hoy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176272"/>
            <a:ext cx="8595360" cy="310896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47472" y="2194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Orden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27632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30752" y="2194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3232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2505456"/>
            <a:ext cx="8595360" cy="374904"/>
          </a:xfrm>
          <a:prstGeom prst="rect">
            <a:avLst/>
          </a:prstGeom>
          <a:solidFill>
            <a:srgbClr val="0D25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47472" y="258775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27632" y="25877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 Sur S.A.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30752" y="2587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Arequipa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258775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2587752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Quispe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898648"/>
            <a:ext cx="8595360" cy="374904"/>
          </a:xfrm>
          <a:prstGeom prst="rect">
            <a:avLst/>
          </a:prstGeom>
          <a:solidFill>
            <a:srgbClr val="0918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47472" y="29809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27632" y="29809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Lima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730752" y="298094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Trujillo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0" y="2980944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32320" y="298094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Mamani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291840"/>
            <a:ext cx="8595360" cy="374904"/>
          </a:xfrm>
          <a:prstGeom prst="rect">
            <a:avLst/>
          </a:prstGeom>
          <a:solidFill>
            <a:srgbClr val="0D25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47472" y="337413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627632" y="337413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Export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730752" y="33741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Piura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0" y="3374136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32320" y="3374136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Torres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50F1A"/>
          </a:solidFill>
          <a:ln w="12700">
            <a:solidFill>
              <a:srgbClr val="050F1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  |  Análisis y Diseño de Sistemas  |  2026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91828"/>
          </a:solidFill>
          <a:ln w="12700">
            <a:solidFill>
              <a:srgbClr val="091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TransAndes S.A.  |  Análisis y Diseño de Sistemas  |  2025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04672"/>
          </a:xfrm>
          <a:prstGeom prst="rect">
            <a:avLst/>
          </a:prstGeom>
          <a:solidFill>
            <a:srgbClr val="0A1F35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64008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1615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108813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Integral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508760" y="1408176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resuelve los 5 problemas críticos: trazabilidad, seguimiento, mantenimiento, reportes y gestión centralizada.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1965960"/>
            <a:ext cx="8595360" cy="804672"/>
          </a:xfrm>
          <a:prstGeom prst="rect">
            <a:avLst/>
          </a:prstGeom>
          <a:solidFill>
            <a:srgbClr val="0A1F35"/>
          </a:solidFill>
          <a:ln w="12700">
            <a:solidFill>
              <a:srgbClr val="1E5A9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274320" y="1965960"/>
            <a:ext cx="64008" cy="804672"/>
          </a:xfrm>
          <a:prstGeom prst="rect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57200" y="2148840"/>
            <a:ext cx="420624" cy="420624"/>
          </a:xfrm>
          <a:prstGeom prst="ellipse">
            <a:avLst/>
          </a:prstGeom>
          <a:solidFill>
            <a:srgbClr val="1E5A9C"/>
          </a:solidFill>
          <a:ln w="12700">
            <a:solidFill>
              <a:srgbClr val="1E5A9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57200" y="2148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7627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08760" y="204825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Escalable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508760" y="2368296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en 3 capas con API REST permite crecer de 60 a cientos de vehículos sin cambios estructurales.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74320" y="2926080"/>
            <a:ext cx="8595360" cy="804672"/>
          </a:xfrm>
          <a:prstGeom prst="rect">
            <a:avLst/>
          </a:prstGeom>
          <a:solidFill>
            <a:srgbClr val="0A1F35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274320" y="2926080"/>
            <a:ext cx="6400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8"/>
          <p:cNvSpPr/>
          <p:nvPr/>
        </p:nvSpPr>
        <p:spPr>
          <a:xfrm>
            <a:off x="457200" y="3108960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457200" y="3108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13639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08760" y="300837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Operativa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508760" y="3328416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estima una reducción del 60% en tiempo de gestión y eliminación total de errores por registro manual.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74320" y="3886200"/>
            <a:ext cx="8595360" cy="804672"/>
          </a:xfrm>
          <a:prstGeom prst="rect">
            <a:avLst/>
          </a:prstGeom>
          <a:solidFill>
            <a:srgbClr val="0A1F35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3"/>
          <p:cNvSpPr/>
          <p:nvPr/>
        </p:nvSpPr>
        <p:spPr>
          <a:xfrm>
            <a:off x="274320" y="3886200"/>
            <a:ext cx="64008" cy="8046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4"/>
          <p:cNvSpPr/>
          <p:nvPr/>
        </p:nvSpPr>
        <p:spPr>
          <a:xfrm>
            <a:off x="457200" y="406908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5"/>
          <p:cNvSpPr/>
          <p:nvPr/>
        </p:nvSpPr>
        <p:spPr>
          <a:xfrm>
            <a:off x="457200" y="4069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096512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08760" y="396849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para el Cliente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1508760" y="4288536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en tiempo real y seguimiento GPS elevan la satisfacción de los 120+ clientes empresariales.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2013</Words>
  <Application>Microsoft Office PowerPoint</Application>
  <PresentationFormat>Presentación en pantalla (16:9)</PresentationFormat>
  <Paragraphs>536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TransAndes S.A. - Sistema Logístico</dc:title>
  <dc:subject>PptxGenJS Presentation</dc:subject>
  <dc:creator>PptxGenJS</dc:creator>
  <cp:lastModifiedBy>CASTILLO MONRROY, FRANCISCO JAVIER</cp:lastModifiedBy>
  <cp:revision>3</cp:revision>
  <dcterms:created xsi:type="dcterms:W3CDTF">2026-03-12T04:34:43Z</dcterms:created>
  <dcterms:modified xsi:type="dcterms:W3CDTF">2026-03-12T04:47:47Z</dcterms:modified>
</cp:coreProperties>
</file>