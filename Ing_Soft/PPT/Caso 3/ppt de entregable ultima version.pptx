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75" r:id="rId15"/>
    <p:sldId id="276" r:id="rId16"/>
    <p:sldId id="277" r:id="rId17"/>
    <p:sldId id="278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363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FCD23-DC28-D378-FA58-779C6EE2C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1AECF9-9CE3-D0B8-7AF4-6DC09F2D1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7B66F9-1C0A-F2C1-B9FB-3817B07A2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17B7E-C7E5-D20D-2452-BFBAB19848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66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05EA2-86E7-3D0B-F4BD-646CFD42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3EEEB-BA57-36E9-3EA7-42EE07467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5A8FF-9FC6-F547-20FA-5A4A13E72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59588-A6CE-19E0-C386-3529B115A4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842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EA4D9-60A9-5C23-AB9A-B037EAA6A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360D4-60AD-A192-E7AE-02CC032BD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931ABE-2289-5B67-BF36-0582598EA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72B29-0487-8C95-D13D-F59FB8BF63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456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D3E2C-50C8-BB3F-FE82-A202859F0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C2F5B-58A8-45C0-1C05-88720866F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385F5-8BC0-8F55-18A2-8AF31404A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CC668-64D8-B906-3CC7-4D5D1CAE4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774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5848-89EA-C77C-BC47-9A179C7A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AC09F-30FC-8C6F-FF24-C13318DBE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8DF8C-6CCC-CE24-540F-9C4E77BFD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4AFB3-FC53-699D-5992-E9A952DCC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51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029200" y="-1645920"/>
            <a:ext cx="6400800" cy="6400800"/>
          </a:xfrm>
          <a:prstGeom prst="ellipse">
            <a:avLst/>
          </a:prstGeom>
          <a:solidFill>
            <a:srgbClr val="0077B6">
              <a:alpha val="22000"/>
            </a:srgbClr>
          </a:solidFill>
          <a:ln w="12700">
            <a:solidFill>
              <a:srgbClr val="0077B6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5943600" y="-54864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6217920" y="2377440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6601968" y="2377440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6986016" y="2377440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7370064" y="2377440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7754112" y="2377440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8138160" y="2377440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522208" y="2377440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6217920" y="2761488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6601968" y="2761488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6986016" y="2761488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7370064" y="2761488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7754112" y="2761488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8138160" y="2761488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8522208" y="2761488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6217920" y="3145536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6601968" y="3145536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6986016" y="3145536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7370064" y="3145536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7754112" y="3145536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8138160" y="3145536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8522208" y="3145536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Shape 24"/>
          <p:cNvSpPr/>
          <p:nvPr/>
        </p:nvSpPr>
        <p:spPr>
          <a:xfrm>
            <a:off x="6217920" y="3529584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6601968" y="3529584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Shape 26"/>
          <p:cNvSpPr/>
          <p:nvPr/>
        </p:nvSpPr>
        <p:spPr>
          <a:xfrm>
            <a:off x="6986016" y="3529584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7370064" y="3529584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Shape 28"/>
          <p:cNvSpPr/>
          <p:nvPr/>
        </p:nvSpPr>
        <p:spPr>
          <a:xfrm>
            <a:off x="7754112" y="3529584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Shape 29"/>
          <p:cNvSpPr/>
          <p:nvPr/>
        </p:nvSpPr>
        <p:spPr>
          <a:xfrm>
            <a:off x="8138160" y="3529584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Shape 30"/>
          <p:cNvSpPr/>
          <p:nvPr/>
        </p:nvSpPr>
        <p:spPr>
          <a:xfrm>
            <a:off x="8522208" y="3529584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Shape 31"/>
          <p:cNvSpPr/>
          <p:nvPr/>
        </p:nvSpPr>
        <p:spPr>
          <a:xfrm>
            <a:off x="6217920" y="3913632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Shape 32"/>
          <p:cNvSpPr/>
          <p:nvPr/>
        </p:nvSpPr>
        <p:spPr>
          <a:xfrm>
            <a:off x="6601968" y="3913632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Shape 33"/>
          <p:cNvSpPr/>
          <p:nvPr/>
        </p:nvSpPr>
        <p:spPr>
          <a:xfrm>
            <a:off x="6986016" y="3913632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Shape 34"/>
          <p:cNvSpPr/>
          <p:nvPr/>
        </p:nvSpPr>
        <p:spPr>
          <a:xfrm>
            <a:off x="7370064" y="3913632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Shape 35"/>
          <p:cNvSpPr/>
          <p:nvPr/>
        </p:nvSpPr>
        <p:spPr>
          <a:xfrm>
            <a:off x="7754112" y="3913632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8" name="Shape 36"/>
          <p:cNvSpPr/>
          <p:nvPr/>
        </p:nvSpPr>
        <p:spPr>
          <a:xfrm>
            <a:off x="8138160" y="3913632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Shape 37"/>
          <p:cNvSpPr/>
          <p:nvPr/>
        </p:nvSpPr>
        <p:spPr>
          <a:xfrm>
            <a:off x="8522208" y="3913632"/>
            <a:ext cx="64008" cy="64008"/>
          </a:xfrm>
          <a:prstGeom prst="ellipse">
            <a:avLst/>
          </a:prstGeom>
          <a:solidFill>
            <a:srgbClr val="00B4D8">
              <a:alpha val="38000"/>
            </a:srgbClr>
          </a:solidFill>
          <a:ln w="12700">
            <a:solidFill>
              <a:srgbClr val="00B4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0" name="Shape 38"/>
          <p:cNvSpPr/>
          <p:nvPr/>
        </p:nvSpPr>
        <p:spPr>
          <a:xfrm>
            <a:off x="457200" y="347472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39"/>
          <p:cNvSpPr/>
          <p:nvPr/>
        </p:nvSpPr>
        <p:spPr>
          <a:xfrm>
            <a:off x="457200" y="347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48CAE4"/>
                </a:solidFill>
              </a:rPr>
              <a:t>PROYECTO DE DESARROLLO DE SOFTWARE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11480" y="86868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GlobalTrade</a:t>
            </a:r>
            <a:endParaRPr lang="en-US" sz="6200" dirty="0"/>
          </a:p>
        </p:txBody>
      </p:sp>
      <p:sp>
        <p:nvSpPr>
          <p:cNvPr id="43" name="Text 41"/>
          <p:cNvSpPr/>
          <p:nvPr/>
        </p:nvSpPr>
        <p:spPr>
          <a:xfrm>
            <a:off x="411480" y="17373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Importaciones</a:t>
            </a:r>
            <a:endParaRPr lang="en-US" sz="4000" dirty="0"/>
          </a:p>
        </p:txBody>
      </p:sp>
      <p:sp>
        <p:nvSpPr>
          <p:cNvPr id="44" name="Shape 42"/>
          <p:cNvSpPr/>
          <p:nvPr/>
        </p:nvSpPr>
        <p:spPr>
          <a:xfrm>
            <a:off x="411480" y="2670048"/>
            <a:ext cx="4754880" cy="36576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5" name="Text 43"/>
          <p:cNvSpPr/>
          <p:nvPr/>
        </p:nvSpPr>
        <p:spPr>
          <a:xfrm>
            <a:off x="411480" y="276148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92A4"/>
                </a:solidFill>
              </a:rPr>
              <a:t>Sistema Integrado de Control de Inventarios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384048" y="35935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8CAE4"/>
                </a:solidFill>
              </a:rPr>
              <a:t>Compras  ·  Almacén  ·  Ventas  ·  Reportes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11480" y="4526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8892A4"/>
                </a:solidFill>
              </a:rPr>
              <a:t>Integrantes</a:t>
            </a:r>
            <a:r>
              <a:rPr lang="en-US" sz="1600" dirty="0">
                <a:solidFill>
                  <a:srgbClr val="8892A4"/>
                </a:solidFill>
              </a:rPr>
              <a:t> : Wimmer Roman Quispe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8892A4"/>
                </a:solidFill>
              </a:rPr>
              <a:t>                         Eddy Bryan Gutierrez Marin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8892A4"/>
                </a:solidFill>
              </a:rPr>
              <a:t>                          Damian Pedro Zambrano Rivas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02  /  CONTEXTO DEL PROBLEMA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Panorama Empresarial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2103120" cy="324612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56032" y="1444752"/>
            <a:ext cx="210312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256032" y="15727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Empresa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724912"/>
            <a:ext cx="1883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GlobalTrade Importaciones opera en el mercado nacional importando electrónicos desde Asia.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42032" y="1444752"/>
            <a:ext cx="2103120" cy="324612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2542032" y="1444752"/>
            <a:ext cx="2103120" cy="54864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2542032" y="15727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51760" y="233172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Productos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724912"/>
            <a:ext cx="1883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Teléfonos, accesorios tecnológicos, dispositivos inteligentes y componentes electrónicos.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28032" y="1444752"/>
            <a:ext cx="2103120" cy="324612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4828032" y="1444752"/>
            <a:ext cx="210312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4828032" y="15727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937760" y="233172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Crecimiento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724912"/>
            <a:ext cx="1883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Volumen logístico en aumento significativo, con mayor número de proveedores y clientes.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14032" y="1444752"/>
            <a:ext cx="2103120" cy="324612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7114032" y="1444752"/>
            <a:ext cx="2103120" cy="54864"/>
          </a:xfrm>
          <a:prstGeom prst="rect">
            <a:avLst/>
          </a:prstGeom>
          <a:solidFill>
            <a:srgbClr val="EF23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7114032" y="15727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223760" y="233172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233C"/>
                </a:solidFill>
              </a:rPr>
              <a:t>Desafío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2724912"/>
            <a:ext cx="1883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Sistemas independientes en compras, almacén y ventas generan inconsistencias críticas.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F23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03  /  PROBLEMA IDENTIFICADO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Diagnóstico del Sistema Actual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5303520" cy="68580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54864" cy="685800"/>
          </a:xfrm>
          <a:prstGeom prst="rect">
            <a:avLst/>
          </a:prstGeom>
          <a:solidFill>
            <a:srgbClr val="EF23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438912" y="1618488"/>
            <a:ext cx="384048" cy="384048"/>
          </a:xfrm>
          <a:prstGeom prst="ellipse">
            <a:avLst/>
          </a:prstGeom>
          <a:solidFill>
            <a:srgbClr val="EF233C">
              <a:alpha val="40000"/>
            </a:srgbClr>
          </a:solidFill>
          <a:ln w="1270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38912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5453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Inconsistencias en inventario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828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Datos desactualizados entre áreas generan errores de stock real vs registrado.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5303520" cy="68580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54864" cy="6858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438912" y="2423160"/>
            <a:ext cx="384048" cy="384048"/>
          </a:xfrm>
          <a:prstGeom prst="ellipse">
            <a:avLst/>
          </a:prstGeom>
          <a:solidFill>
            <a:srgbClr val="FF6B6B">
              <a:alpha val="4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38912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350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Ventas sin stock registrado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633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El área comercial vende productos que no están confirmados en almacén.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090672"/>
            <a:ext cx="5303520" cy="68580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274320" y="3090672"/>
            <a:ext cx="54864" cy="68580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438912" y="3227832"/>
            <a:ext cx="384048" cy="384048"/>
          </a:xfrm>
          <a:prstGeom prst="ellipse">
            <a:avLst/>
          </a:prstGeom>
          <a:solidFill>
            <a:srgbClr val="FFB703">
              <a:alpha val="4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38912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154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Pedidos duplicados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4381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Sin visibilidad compartida, compras genera órdenes innecesarias o redundantes.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895344"/>
            <a:ext cx="5303520" cy="68580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274320" y="3895344"/>
            <a:ext cx="54864" cy="6858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Shape 24"/>
          <p:cNvSpPr/>
          <p:nvPr/>
        </p:nvSpPr>
        <p:spPr>
          <a:xfrm>
            <a:off x="438912" y="4032504"/>
            <a:ext cx="384048" cy="384048"/>
          </a:xfrm>
          <a:prstGeom prst="ellipse">
            <a:avLst/>
          </a:prstGeom>
          <a:solidFill>
            <a:srgbClr val="FFD166">
              <a:alpha val="4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438912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959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Sin indicadores de rotación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242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Imposible identificar productos de alta o baja demanda para planificar reposición.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60720" y="1444752"/>
            <a:ext cx="3108960" cy="347472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5760720" y="1508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Estado Actual — Sistemas Aislados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89320" y="192024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00B4D8">
              <a:alpha val="32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598932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COMPRAS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15200" y="2514600"/>
            <a:ext cx="0" cy="365760"/>
          </a:xfrm>
          <a:prstGeom prst="line">
            <a:avLst/>
          </a:prstGeom>
          <a:noFill/>
          <a:ln w="12700">
            <a:solidFill>
              <a:srgbClr val="EF233C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5989320" y="25603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233C"/>
                </a:solidFill>
              </a:rPr>
              <a:t>✗  SIN INTEGRACIÓN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89320" y="278892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FFB703">
              <a:alpha val="32000"/>
            </a:srgbClr>
          </a:solidFill>
          <a:ln w="1905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/>
          <p:nvPr/>
        </p:nvSpPr>
        <p:spPr>
          <a:xfrm>
            <a:off x="5989320" y="2788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ALMACÉN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315200" y="3383280"/>
            <a:ext cx="0" cy="365760"/>
          </a:xfrm>
          <a:prstGeom prst="line">
            <a:avLst/>
          </a:prstGeom>
          <a:noFill/>
          <a:ln w="12700">
            <a:solidFill>
              <a:srgbClr val="EF233C"/>
            </a:solidFill>
            <a:prstDash val="dash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598932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233C"/>
                </a:solidFill>
              </a:rPr>
              <a:t>✗  SIN INTEGRACIÓN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9320" y="365760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06D6A0">
              <a:alpha val="32000"/>
            </a:srgbClr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39"/>
          <p:cNvSpPr/>
          <p:nvPr/>
        </p:nvSpPr>
        <p:spPr>
          <a:xfrm>
            <a:off x="5989320" y="3657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VENTAS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04  /  OBJETIVO DEL SISTEMA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¿Qué buscamos lograr?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8595360" cy="1005840"/>
          </a:xfrm>
          <a:prstGeom prst="rect">
            <a:avLst/>
          </a:prstGeom>
          <a:solidFill>
            <a:srgbClr val="0077B6">
              <a:alpha val="65000"/>
            </a:srgbClr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54864" cy="10058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457200" y="14996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B703"/>
                </a:solidFill>
              </a:rPr>
              <a:t>OBJETIVO GENERAL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Desarrollar un sistema integrado que unifique compras, inventario y ventas en una sola plataforma, mejorando la trazabilidad de productos y optimizando la toma de decisiones estratégicas en GlobalTrade Importaciones.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2788920" cy="21945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274320" y="2606040"/>
            <a:ext cx="278892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438912" y="2761488"/>
            <a:ext cx="502920" cy="502920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38912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33649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Integración Total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7490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Unificar compras, almacén y ventas en un único sistema centralizado con datos en tiempo real.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73552" y="2606040"/>
            <a:ext cx="2788920" cy="21945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3273552" y="2606040"/>
            <a:ext cx="278892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3438144" y="2761488"/>
            <a:ext cx="502920" cy="502920"/>
          </a:xfrm>
          <a:prstGeom prst="ellipse">
            <a:avLst/>
          </a:prstGeom>
          <a:solidFill>
            <a:srgbClr val="FFB703">
              <a:alpha val="35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3438144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10712" y="33649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Trazabilidad Completa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10712" y="37490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Seguimiento total del ciclo de vida de cada producto desde importación hasta la venta final.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72784" y="2606040"/>
            <a:ext cx="2788920" cy="21945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6272784" y="2606040"/>
            <a:ext cx="278892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6437376" y="2761488"/>
            <a:ext cx="502920" cy="502920"/>
          </a:xfrm>
          <a:prstGeom prst="ellipse">
            <a:avLst/>
          </a:prstGeom>
          <a:solidFill>
            <a:srgbClr val="06D6A0">
              <a:alpha val="3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6437376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9944" y="33649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Inteligencia Inventario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9944" y="37490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Identificar rotación de productos y generar alertas automáticas de reposición de stock.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05  /  ACTORES DEL SISTEMA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Usuarios y Roles del Sistema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481328"/>
            <a:ext cx="2029968" cy="33375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28600" y="1481328"/>
            <a:ext cx="2029968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914400" y="1664208"/>
            <a:ext cx="658368" cy="658368"/>
          </a:xfrm>
          <a:prstGeom prst="ellipse">
            <a:avLst/>
          </a:prstGeom>
          <a:solidFill>
            <a:srgbClr val="FFB703">
              <a:alpha val="28000"/>
            </a:srgbClr>
          </a:solidFill>
          <a:ln w="1905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914400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👑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" y="24323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703"/>
                </a:solidFill>
              </a:rPr>
              <a:t>Administrador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703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Acceso completo al sistema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703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Gestionar usuarios y roles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3739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703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Generar reportes globales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4169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703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Supervisar todos los módulos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41448" y="1481328"/>
            <a:ext cx="2029968" cy="33375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2441448" y="1481328"/>
            <a:ext cx="2029968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3127248" y="1664208"/>
            <a:ext cx="658368" cy="658368"/>
          </a:xfrm>
          <a:prstGeom prst="ellipse">
            <a:avLst/>
          </a:prstGeom>
          <a:solidFill>
            <a:srgbClr val="00B4D8">
              <a:alpha val="28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3127248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32888" y="24323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Jefe de Compras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51176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Registrar proveedores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51176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Crear y aprobar OC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51176" y="3739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Consultar stock mínimo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51176" y="4169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Seguimiento de pedidos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54296" y="1481328"/>
            <a:ext cx="2029968" cy="33375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4654296" y="1481328"/>
            <a:ext cx="2029968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Shape 24"/>
          <p:cNvSpPr/>
          <p:nvPr/>
        </p:nvSpPr>
        <p:spPr>
          <a:xfrm>
            <a:off x="5340096" y="1664208"/>
            <a:ext cx="658368" cy="658368"/>
          </a:xfrm>
          <a:prstGeom prst="ellipse">
            <a:avLst/>
          </a:prstGeom>
          <a:solidFill>
            <a:srgbClr val="06D6A0">
              <a:alpha val="28000"/>
            </a:srgbClr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5340096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745736" y="24323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Jefe de Almacén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64024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Registrar entradas/salidas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64024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Validar recepciones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64024" y="3739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Actualizar stock real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64024" y="4169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Gestionar ubicaciones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67144" y="1481328"/>
            <a:ext cx="2029968" cy="33375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4" name="Shape 32"/>
          <p:cNvSpPr/>
          <p:nvPr/>
        </p:nvSpPr>
        <p:spPr>
          <a:xfrm>
            <a:off x="6867144" y="1481328"/>
            <a:ext cx="2029968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Shape 33"/>
          <p:cNvSpPr/>
          <p:nvPr/>
        </p:nvSpPr>
        <p:spPr>
          <a:xfrm>
            <a:off x="7552944" y="1664208"/>
            <a:ext cx="658368" cy="658368"/>
          </a:xfrm>
          <a:prstGeom prst="ellipse">
            <a:avLst/>
          </a:prstGeom>
          <a:solidFill>
            <a:srgbClr val="A78BFA">
              <a:alpha val="28000"/>
            </a:srgbClr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7552944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958584" y="24323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</a:rPr>
              <a:t>Área Comercial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76872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Registrar órdenes de venta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76872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Consultar disponibilidad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76872" y="37398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Emitir comprobantes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76872" y="4169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</a:rPr>
              <a:t>▸ </a:t>
            </a:r>
            <a:r>
              <a:rPr lang="en-US" sz="900" dirty="0">
                <a:solidFill>
                  <a:srgbClr val="8892A4"/>
                </a:solidFill>
              </a:rPr>
              <a:t>Ver historial clientes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06  /  REQUERIMIENTOS FUNCIONALES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¿Qué debe hacer el sistema?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2788920" cy="162763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278892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RF-01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7647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Gestión de Productos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1305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Registrar/editar productos y SKU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4048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Control de stock mínimo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67919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Categorías y proveedores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55264" y="1417320"/>
            <a:ext cx="2788920" cy="162763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3255264" y="1417320"/>
            <a:ext cx="278892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3364992" y="15087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703"/>
                </a:solidFill>
              </a:rPr>
              <a:t>RF-02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64992" y="17647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Módulo de Compras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64992" y="21305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Órdenes de compra a proveedores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64992" y="24048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Seguimiento y aprobación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64992" y="267919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Recepción de mercancía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54496" y="1417320"/>
            <a:ext cx="2788920" cy="162763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6254496" y="1417320"/>
            <a:ext cx="278892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6364224" y="15087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D6A0"/>
                </a:solidFill>
              </a:rPr>
              <a:t>RF-03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64224" y="17647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Gestión de Almacén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64224" y="21305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Entrada/salida de inventario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64224" y="24048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Ajustes y movimientos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64224" y="267919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Alertas de reposición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3200400"/>
            <a:ext cx="2788920" cy="162763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8" name="Shape 26"/>
          <p:cNvSpPr/>
          <p:nvPr/>
        </p:nvSpPr>
        <p:spPr>
          <a:xfrm>
            <a:off x="256032" y="3200400"/>
            <a:ext cx="2788920" cy="45720"/>
          </a:xfrm>
          <a:prstGeom prst="rect">
            <a:avLst/>
          </a:prstGeom>
          <a:solidFill>
            <a:srgbClr val="EF23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365760" y="329184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233C"/>
                </a:solidFill>
              </a:rPr>
              <a:t>RF-04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35478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Módulo de Ventas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65760" y="391363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233C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Registro y validación de ventas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1879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233C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Comprobantes electrónicos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4622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233C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Historial por cliente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55264" y="3200400"/>
            <a:ext cx="2788920" cy="162763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5" name="Shape 33"/>
          <p:cNvSpPr/>
          <p:nvPr/>
        </p:nvSpPr>
        <p:spPr>
          <a:xfrm>
            <a:off x="3255264" y="3200400"/>
            <a:ext cx="2788920" cy="457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3364992" y="329184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CAE4"/>
                </a:solidFill>
              </a:rPr>
              <a:t>RF-05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364992" y="35478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Reportes y KPIs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364992" y="391363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8CAE4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Dashboard en tiempo real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64992" y="41879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8CAE4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Rotación de inventario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64992" y="44622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8CAE4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Exportar a Excel/PDF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54496" y="3200400"/>
            <a:ext cx="2788920" cy="162763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2" name="Shape 40"/>
          <p:cNvSpPr/>
          <p:nvPr/>
        </p:nvSpPr>
        <p:spPr>
          <a:xfrm>
            <a:off x="6254496" y="3200400"/>
            <a:ext cx="278892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3" name="Text 41"/>
          <p:cNvSpPr/>
          <p:nvPr/>
        </p:nvSpPr>
        <p:spPr>
          <a:xfrm>
            <a:off x="6364224" y="329184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78BFA"/>
                </a:solidFill>
              </a:rPr>
              <a:t>RF-06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64224" y="35478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Gestión de Usuarios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364224" y="391363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Control de accesos por rol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64224" y="41879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Auditoría de acciones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64224" y="44622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</a:rPr>
              <a:t>· </a:t>
            </a:r>
            <a:r>
              <a:rPr lang="en-US" sz="950" dirty="0">
                <a:solidFill>
                  <a:srgbClr val="8892A4"/>
                </a:solidFill>
              </a:rPr>
              <a:t>Cambio de contraseñas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07  /  REQUERIMIENTOS NO FUNCIONALES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Atributos de Calidad del Sistema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2788920" cy="153619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393192" y="1572768"/>
            <a:ext cx="502920" cy="502920"/>
          </a:xfrm>
          <a:prstGeom prst="ellipse">
            <a:avLst/>
          </a:prstGeom>
          <a:solidFill>
            <a:srgbClr val="FFB703">
              <a:alpha val="32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393192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59105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Rendimiento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19456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Resp. &lt; 2s. Soporte 50 usuarios simultáneos.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55264" y="1389888"/>
            <a:ext cx="2788920" cy="153619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3392424" y="1572768"/>
            <a:ext cx="502920" cy="502920"/>
          </a:xfrm>
          <a:prstGeom prst="ellipse">
            <a:avLst/>
          </a:prstGeom>
          <a:solidFill>
            <a:srgbClr val="EF233C">
              <a:alpha val="32000"/>
            </a:srgbClr>
          </a:solidFill>
          <a:ln w="1270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3392424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05072" y="159105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233C"/>
                </a:solidFill>
              </a:rPr>
              <a:t>Seguridad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92424" y="219456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Auth con roles, HTTPS, CSRF, auditoría.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54496" y="1389888"/>
            <a:ext cx="2788920" cy="153619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6391656" y="1572768"/>
            <a:ext cx="502920" cy="502920"/>
          </a:xfrm>
          <a:prstGeom prst="ellipse">
            <a:avLst/>
          </a:prstGeom>
          <a:solidFill>
            <a:srgbClr val="00B4D8">
              <a:alpha val="3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391656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04304" y="159105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Disponibilidad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91656" y="219456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Uptime 99.5%, backups diarios automáticos.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127248"/>
            <a:ext cx="2788920" cy="153619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393192" y="3310128"/>
            <a:ext cx="502920" cy="502920"/>
          </a:xfrm>
          <a:prstGeom prst="ellipse">
            <a:avLst/>
          </a:prstGeom>
          <a:solidFill>
            <a:srgbClr val="06D6A0">
              <a:alpha val="32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393192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0" y="332841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Usabilidad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" y="39319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Interfaz responsive para escritorio y tablet.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55264" y="3127248"/>
            <a:ext cx="2788920" cy="153619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3392424" y="3310128"/>
            <a:ext cx="502920" cy="502920"/>
          </a:xfrm>
          <a:prstGeom prst="ellipse">
            <a:avLst/>
          </a:prstGeom>
          <a:solidFill>
            <a:srgbClr val="A78BFA">
              <a:alpha val="3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3392424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005072" y="332841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</a:rPr>
              <a:t>Mantenibilidad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92424" y="39319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Código modular documentado con pruebas.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54496" y="3127248"/>
            <a:ext cx="2788920" cy="1536192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2" name="Shape 30"/>
          <p:cNvSpPr/>
          <p:nvPr/>
        </p:nvSpPr>
        <p:spPr>
          <a:xfrm>
            <a:off x="6391656" y="3310128"/>
            <a:ext cx="502920" cy="502920"/>
          </a:xfrm>
          <a:prstGeom prst="ellipse">
            <a:avLst/>
          </a:prstGeom>
          <a:solidFill>
            <a:srgbClr val="48CAE4">
              <a:alpha val="32000"/>
            </a:srgbClr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6391656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004304" y="332841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</a:rPr>
              <a:t>Escalabilidad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91656" y="39319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Arquitectura extensible para nuevos módulos.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08  /  DIAGRAMA DE CASOS DE USO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UML 2.5  —  draw.io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Actores · Módulos · Relaciones include/extend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" y="491947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2A4"/>
                </a:solidFill>
              </a:rPr>
              <a:t>Ver archivo draw.io completo incluido en el paquete del proyecto</a:t>
            </a:r>
            <a:endParaRPr lang="en-US" sz="8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76B03FD-75D2-FF1B-BA60-813BAAE35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217" y="1463040"/>
            <a:ext cx="6337264" cy="36027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09  /  DIAGRAMA DE CLASES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Diagrama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Clases</a:t>
            </a:r>
            <a:endParaRPr lang="en-US" sz="22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0AAD264-7080-D402-08F8-29E1495F3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143" y="1600199"/>
            <a:ext cx="3185107" cy="34840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10  /  DIAGRAMA DE SECUENCIA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Flujo: Registro de Venta con Validación de Stock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7 participantes · 13 mensajes · Fragmento alt</a:t>
            </a:r>
            <a:endParaRPr lang="en-US" sz="11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865A4EE-D85E-805F-E22A-42CE3F2618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87"/>
          <a:stretch>
            <a:fillRect/>
          </a:stretch>
        </p:blipFill>
        <p:spPr>
          <a:xfrm>
            <a:off x="1630127" y="1463040"/>
            <a:ext cx="5883745" cy="36131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11  /  DIAGRAMA BPMN 2.0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Proceso de Gestión de Inventario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5 swimlanes · Compras · Almacén · Comercial · Sistema · Proveedor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" y="491947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2A4"/>
                </a:solidFill>
              </a:rPr>
              <a:t>Ver archivo draw.io completo incluido en el paquete del proyecto</a:t>
            </a:r>
            <a:endParaRPr lang="en-US" sz="800" dirty="0"/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3A4209A0-FB90-5AD7-F96A-C14E148A97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485C25-F832-898B-3BB8-2B191AAA99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29"/>
          <a:stretch>
            <a:fillRect/>
          </a:stretch>
        </p:blipFill>
        <p:spPr>
          <a:xfrm>
            <a:off x="225825" y="1508760"/>
            <a:ext cx="8689575" cy="3069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12  /  ACTIVIDADES · COMPONENTES · DESPLIEGUE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Diagrama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Actividades</a:t>
            </a:r>
            <a:endParaRPr lang="en-US" sz="22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93F3796-A20D-B924-EFF9-79EA7188D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56" y="1261872"/>
            <a:ext cx="4386394" cy="35234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71C8F-2925-CE84-C9C4-0BD0DE901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8AC5CE-C5D0-2EA1-5DF9-7900D17B68A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DF7328A-4450-B882-D553-E574E475003C}"/>
              </a:ext>
            </a:extLst>
          </p:cNvPr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C6B2E4-011D-D636-BB45-F5CB91E43488}"/>
              </a:ext>
            </a:extLst>
          </p:cNvPr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12  /  ACTIVIDADES · COMPONENTES · DESPLIEGUE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D1F830C-6D04-F29B-BAFF-F8C23705D300}"/>
              </a:ext>
            </a:extLst>
          </p:cNvPr>
          <p:cNvSpPr/>
          <p:nvPr/>
        </p:nvSpPr>
        <p:spPr>
          <a:xfrm>
            <a:off x="365760" y="777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Diagrama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Modelo</a:t>
            </a:r>
            <a:r>
              <a:rPr lang="en-US" sz="2200" b="1" dirty="0">
                <a:solidFill>
                  <a:srgbClr val="FFFFFF"/>
                </a:solidFill>
              </a:rPr>
              <a:t> E-R</a:t>
            </a:r>
            <a:endParaRPr lang="en-US" sz="22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2B1AEB7-3A73-D32B-3D66-3B986A862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497" y="1362456"/>
            <a:ext cx="4362653" cy="34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483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6BC50-4E25-851C-7973-3FD17D913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30F35E-2E07-9B8F-F785-06B9FA472502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F88D28A-B237-815D-8EB0-C9B0313ABB4B}"/>
              </a:ext>
            </a:extLst>
          </p:cNvPr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CCB673-D8B6-5238-9975-37AE900404A2}"/>
              </a:ext>
            </a:extLst>
          </p:cNvPr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12  /  ACTIVIDADES · COMPONENTES · DESPLIEGUE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3CAA59-6DD2-BB1D-78E3-3BE89428445E}"/>
              </a:ext>
            </a:extLst>
          </p:cNvPr>
          <p:cNvSpPr/>
          <p:nvPr/>
        </p:nvSpPr>
        <p:spPr>
          <a:xfrm>
            <a:off x="365760" y="777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Diagrana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Componentes</a:t>
            </a:r>
            <a:endParaRPr lang="en-US" sz="22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C8383C0-B864-9281-5643-C16744DBA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389" y="1316736"/>
            <a:ext cx="4403861" cy="359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09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E777C-31B0-0DFF-F7F6-7EA2BFA67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6DBAFB31-2411-CC95-2F7A-8DF554AF216F}"/>
              </a:ext>
            </a:extLst>
          </p:cNvPr>
          <p:cNvSpPr/>
          <p:nvPr/>
        </p:nvSpPr>
        <p:spPr>
          <a:xfrm>
            <a:off x="0" y="187118"/>
            <a:ext cx="9144000" cy="457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4730E2-B069-58FE-9EBD-A842F2C7F677}"/>
              </a:ext>
            </a:extLst>
          </p:cNvPr>
          <p:cNvSpPr/>
          <p:nvPr/>
        </p:nvSpPr>
        <p:spPr>
          <a:xfrm>
            <a:off x="365760" y="777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Diagrana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Despliegue</a:t>
            </a:r>
            <a:endParaRPr lang="en-US" sz="22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8C11353-80B1-1311-266E-8F6DB9299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828" y="1285240"/>
            <a:ext cx="5205214" cy="333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60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65C9A-CB09-45E9-465E-386211B30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E5BCC5CD-BE84-F529-1DE2-F507D91E4CB4}"/>
              </a:ext>
            </a:extLst>
          </p:cNvPr>
          <p:cNvSpPr/>
          <p:nvPr/>
        </p:nvSpPr>
        <p:spPr>
          <a:xfrm>
            <a:off x="0" y="187118"/>
            <a:ext cx="9144000" cy="457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9C8B021-5346-FFF1-81F7-1F482B27535F}"/>
              </a:ext>
            </a:extLst>
          </p:cNvPr>
          <p:cNvSpPr/>
          <p:nvPr/>
        </p:nvSpPr>
        <p:spPr>
          <a:xfrm>
            <a:off x="365760" y="777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Diagrana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Comunicación</a:t>
            </a:r>
            <a:endParaRPr lang="en-US" sz="2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9CA201-6C46-881E-823F-D70DA2325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45170"/>
            <a:ext cx="7893050" cy="342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901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E2469-3159-9516-9EE2-30F7E65EE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6E3FA3A1-62E1-0419-7F39-5494B53485F7}"/>
              </a:ext>
            </a:extLst>
          </p:cNvPr>
          <p:cNvSpPr/>
          <p:nvPr/>
        </p:nvSpPr>
        <p:spPr>
          <a:xfrm>
            <a:off x="0" y="187118"/>
            <a:ext cx="9144000" cy="4572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91B509C-A3F9-D839-838A-E4AB587CAC4B}"/>
              </a:ext>
            </a:extLst>
          </p:cNvPr>
          <p:cNvSpPr/>
          <p:nvPr/>
        </p:nvSpPr>
        <p:spPr>
          <a:xfrm>
            <a:off x="365760" y="777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</a:rPr>
              <a:t>Modelo</a:t>
            </a:r>
            <a:r>
              <a:rPr lang="en-US" sz="2200" b="1" dirty="0">
                <a:solidFill>
                  <a:srgbClr val="FFFFFF"/>
                </a:solidFill>
              </a:rPr>
              <a:t> Business Model Canvas</a:t>
            </a:r>
            <a:endParaRPr lang="en-US" sz="2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54D6C2E-BF14-E5AA-2717-5A334FA0A7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803"/>
          <a:stretch>
            <a:fillRect/>
          </a:stretch>
        </p:blipFill>
        <p:spPr>
          <a:xfrm>
            <a:off x="176784" y="1824847"/>
            <a:ext cx="8224571" cy="212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596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13  /  ARQUITECTURA DEL SISTEMA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Arquitectura MVC en 3 Capas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6035040" cy="896112"/>
          </a:xfrm>
          <a:prstGeom prst="rect">
            <a:avLst/>
          </a:prstGeom>
          <a:solidFill>
            <a:srgbClr val="00B4D8">
              <a:alpha val="22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56032" y="1444752"/>
            <a:ext cx="603504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411480" y="1517904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B4D8"/>
                </a:solidFill>
              </a:rPr>
              <a:t>CAPA DE PRESENTACIÓN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HTML5 / CSS3 / Bootstrap 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84248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Jinja2 Templates (Server-Side Rendering)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157984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JavaScript / Chart.js (visualizaciones)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73552" y="2340864"/>
            <a:ext cx="0" cy="128016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256032" y="2487168"/>
            <a:ext cx="6035040" cy="896112"/>
          </a:xfrm>
          <a:prstGeom prst="rect">
            <a:avLst/>
          </a:prstGeom>
          <a:solidFill>
            <a:srgbClr val="FFB703">
              <a:alpha val="22000"/>
            </a:srgbClr>
          </a:solidFill>
          <a:ln w="19050">
            <a:solidFill>
              <a:srgbClr val="FFB70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256032" y="2487168"/>
            <a:ext cx="603504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11480" y="256032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B703"/>
                </a:solidFill>
              </a:rPr>
              <a:t>CAPA DE LÓGICA DE NEGOCIO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852928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Python 3.11 / Flask 3.x Framework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026664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Módulos: Compras | Almacén | Ventas | Reportes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200400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703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Autenticación, Autorización y Auditoría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73552" y="3383280"/>
            <a:ext cx="0" cy="128016"/>
          </a:xfrm>
          <a:prstGeom prst="line">
            <a:avLst/>
          </a:prstGeom>
          <a:noFill/>
          <a:ln w="190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256032" y="3529584"/>
            <a:ext cx="6035040" cy="896112"/>
          </a:xfrm>
          <a:prstGeom prst="rect">
            <a:avLst/>
          </a:prstGeom>
          <a:solidFill>
            <a:srgbClr val="A78BFA">
              <a:alpha val="22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256032" y="3529584"/>
            <a:ext cx="603504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411480" y="360273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78BFA"/>
                </a:solidFill>
              </a:rPr>
              <a:t>CAPA DE DATOS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895344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SQLAlchemy ORM — Abstracción BD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069080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SQLite (desarrollo) / PostgreSQL (producción)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4242816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</a:rPr>
              <a:t>▸ </a:t>
            </a:r>
            <a:r>
              <a:rPr lang="en-US" sz="950" dirty="0">
                <a:solidFill>
                  <a:srgbClr val="FFFFFF"/>
                </a:solidFill>
              </a:rPr>
              <a:t>Migraciones con Flask-Migrate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37960" y="1444752"/>
            <a:ext cx="2377440" cy="2980944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6537960" y="1508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B4D8"/>
                </a:solidFill>
              </a:rPr>
              <a:t>STACK TECNOLÓGICO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56832" y="187452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28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6656832" y="18745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Python 3.11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56832" y="2203704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28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6656832" y="22037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Flask 3.x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56832" y="2532888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28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6656832" y="25328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SQLAlchemy 2.x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56832" y="2862072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28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6656832" y="28620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SQLite / PostgreSQL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56832" y="3191256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28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/>
          <p:nvPr/>
        </p:nvSpPr>
        <p:spPr>
          <a:xfrm>
            <a:off x="6656832" y="31912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Bootstrap 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56832" y="352044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28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6656832" y="35204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Chart.js 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56832" y="3849624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28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39"/>
          <p:cNvSpPr/>
          <p:nvPr/>
        </p:nvSpPr>
        <p:spPr>
          <a:xfrm>
            <a:off x="6656832" y="38496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Jinja2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656832" y="4178808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00B4D8">
              <a:alpha val="28000"/>
            </a:srgbClr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1"/>
          <p:cNvSpPr/>
          <p:nvPr/>
        </p:nvSpPr>
        <p:spPr>
          <a:xfrm>
            <a:off x="6656832" y="41788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Werkzeug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14  /  PROTOTIPO DE INTERFAZ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Principal — Sistema Web Python/Flask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353312"/>
            <a:ext cx="8631936" cy="3566160"/>
          </a:xfrm>
          <a:prstGeom prst="rect">
            <a:avLst/>
          </a:prstGeom>
          <a:solidFill>
            <a:srgbClr val="0D1B2A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56032" y="1353312"/>
            <a:ext cx="8631936" cy="310896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384048" y="1417320"/>
            <a:ext cx="109728" cy="109728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713232" y="1417320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960120" y="1399032"/>
            <a:ext cx="5029200" cy="164592"/>
          </a:xfrm>
          <a:prstGeom prst="roundRect">
            <a:avLst>
              <a:gd name="adj" fmla="val 22222"/>
            </a:avLst>
          </a:prstGeom>
          <a:solidFill>
            <a:srgbClr val="0A1628"/>
          </a:solidFill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960120" y="139903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A4"/>
                </a:solidFill>
              </a:rPr>
              <a:t>localhost:5000/dashboard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6032" y="1664208"/>
            <a:ext cx="1389888" cy="3255264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256032" y="171907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</a:rPr>
              <a:t>GT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56032" y="2148840"/>
            <a:ext cx="1389888" cy="347472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310896" y="2148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📊 Dashboard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0896" y="25511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</a:rPr>
              <a:t>🛒 Compras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0896" y="29535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</a:rPr>
              <a:t>📦 Almacén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" y="33558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</a:rPr>
              <a:t>💼 Ventas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10896" y="37581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</a:rPr>
              <a:t>📋 Reportes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0896" y="41605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</a:rPr>
              <a:t>⚙️ Config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755648" y="1737360"/>
            <a:ext cx="1645920" cy="713232"/>
          </a:xfrm>
          <a:prstGeom prst="rect">
            <a:avLst/>
          </a:prstGeom>
          <a:solidFill>
            <a:srgbClr val="132033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1755648" y="1737360"/>
            <a:ext cx="164592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1755648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1,248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755648" y="2194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</a:rPr>
              <a:t>Productos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547872" y="1737360"/>
            <a:ext cx="1645920" cy="713232"/>
          </a:xfrm>
          <a:prstGeom prst="rect">
            <a:avLst/>
          </a:prstGeom>
          <a:solidFill>
            <a:srgbClr val="132033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3547872" y="1737360"/>
            <a:ext cx="1645920" cy="36576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3547872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</a:rPr>
              <a:t>S/ 284K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547872" y="2194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</a:rPr>
              <a:t>Ventas Mes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40096" y="1737360"/>
            <a:ext cx="1645920" cy="713232"/>
          </a:xfrm>
          <a:prstGeom prst="rect">
            <a:avLst/>
          </a:prstGeom>
          <a:solidFill>
            <a:srgbClr val="132033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1" name="Shape 29"/>
          <p:cNvSpPr/>
          <p:nvPr/>
        </p:nvSpPr>
        <p:spPr>
          <a:xfrm>
            <a:off x="5340096" y="1737360"/>
            <a:ext cx="1645920" cy="36576"/>
          </a:xfrm>
          <a:prstGeom prst="rect">
            <a:avLst/>
          </a:prstGeom>
          <a:solidFill>
            <a:srgbClr val="EF23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5340096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233C"/>
                </a:solidFill>
              </a:rPr>
              <a:t>47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40096" y="2194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</a:rPr>
              <a:t>Alertas Stock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132320" y="1737360"/>
            <a:ext cx="1645920" cy="713232"/>
          </a:xfrm>
          <a:prstGeom prst="rect">
            <a:avLst/>
          </a:prstGeom>
          <a:solidFill>
            <a:srgbClr val="132033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5" name="Shape 33"/>
          <p:cNvSpPr/>
          <p:nvPr/>
        </p:nvSpPr>
        <p:spPr>
          <a:xfrm>
            <a:off x="7132320" y="1737360"/>
            <a:ext cx="1645920" cy="36576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7132320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03"/>
                </a:solidFill>
              </a:rPr>
              <a:t>98.5%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132320" y="2194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</a:rPr>
              <a:t>Exactitud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755648" y="2578608"/>
            <a:ext cx="4663440" cy="2084832"/>
          </a:xfrm>
          <a:prstGeom prst="rect">
            <a:avLst/>
          </a:prstGeom>
          <a:solidFill>
            <a:srgbClr val="132033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1810512" y="2633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</a:rPr>
              <a:t>Ventas por Categoría — Últimos 6 meses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920240" y="4057193"/>
            <a:ext cx="457200" cy="606247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1" name="Shape 39"/>
          <p:cNvSpPr/>
          <p:nvPr/>
        </p:nvSpPr>
        <p:spPr>
          <a:xfrm>
            <a:off x="2578608" y="3736238"/>
            <a:ext cx="457200" cy="927202"/>
          </a:xfrm>
          <a:prstGeom prst="rect">
            <a:avLst/>
          </a:prstGeom>
          <a:solidFill>
            <a:srgbClr val="FFB703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2" name="Shape 40"/>
          <p:cNvSpPr/>
          <p:nvPr/>
        </p:nvSpPr>
        <p:spPr>
          <a:xfrm>
            <a:off x="3236976" y="3985870"/>
            <a:ext cx="457200" cy="677570"/>
          </a:xfrm>
          <a:prstGeom prst="rect">
            <a:avLst/>
          </a:prstGeom>
          <a:solidFill>
            <a:srgbClr val="06D6A0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3" name="Shape 41"/>
          <p:cNvSpPr/>
          <p:nvPr/>
        </p:nvSpPr>
        <p:spPr>
          <a:xfrm>
            <a:off x="3895344" y="3522269"/>
            <a:ext cx="457200" cy="1141171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4" name="Shape 42"/>
          <p:cNvSpPr/>
          <p:nvPr/>
        </p:nvSpPr>
        <p:spPr>
          <a:xfrm>
            <a:off x="4553712" y="3843223"/>
            <a:ext cx="457200" cy="820217"/>
          </a:xfrm>
          <a:prstGeom prst="rect">
            <a:avLst/>
          </a:prstGeom>
          <a:solidFill>
            <a:srgbClr val="FFB703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5" name="Shape 43"/>
          <p:cNvSpPr/>
          <p:nvPr/>
        </p:nvSpPr>
        <p:spPr>
          <a:xfrm>
            <a:off x="5212080" y="3379622"/>
            <a:ext cx="457200" cy="1283818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6" name="Shape 44"/>
          <p:cNvSpPr/>
          <p:nvPr/>
        </p:nvSpPr>
        <p:spPr>
          <a:xfrm>
            <a:off x="1755648" y="4663440"/>
            <a:ext cx="4663440" cy="0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7" name="Shape 45"/>
          <p:cNvSpPr/>
          <p:nvPr/>
        </p:nvSpPr>
        <p:spPr>
          <a:xfrm>
            <a:off x="6537960" y="2578608"/>
            <a:ext cx="2286000" cy="2084832"/>
          </a:xfrm>
          <a:prstGeom prst="rect">
            <a:avLst/>
          </a:prstGeom>
          <a:solidFill>
            <a:srgbClr val="132033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8" name="Text 46"/>
          <p:cNvSpPr/>
          <p:nvPr/>
        </p:nvSpPr>
        <p:spPr>
          <a:xfrm>
            <a:off x="6583680" y="26334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2A4"/>
                </a:solidFill>
              </a:rPr>
              <a:t>Actividad Reciente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583680" y="29077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4"/>
                </a:solidFill>
              </a:rPr>
              <a:t>✅ Venta #1024 confirmada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537960" y="3255264"/>
            <a:ext cx="2286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1" name="Text 49"/>
          <p:cNvSpPr/>
          <p:nvPr/>
        </p:nvSpPr>
        <p:spPr>
          <a:xfrm>
            <a:off x="6583680" y="33284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4"/>
                </a:solidFill>
              </a:rPr>
              <a:t>📦 Recepción 200u iPhone 15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537960" y="3675888"/>
            <a:ext cx="2286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3" name="Text 51"/>
          <p:cNvSpPr/>
          <p:nvPr/>
        </p:nvSpPr>
        <p:spPr>
          <a:xfrm>
            <a:off x="6583680" y="3749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4"/>
                </a:solidFill>
              </a:rPr>
              <a:t>⚠️ Stock bajo: Cable USB-C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537960" y="4096512"/>
            <a:ext cx="2286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5" name="Text 53"/>
          <p:cNvSpPr/>
          <p:nvPr/>
        </p:nvSpPr>
        <p:spPr>
          <a:xfrm>
            <a:off x="6583680" y="41696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2A4"/>
                </a:solidFill>
              </a:rPr>
              <a:t>🛒 Orden #89 enviada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15  /  METODOLOGÍA DE PROYECTO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Fases, Riesgos y Entregables — Scrum Adaptado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5943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56032" y="1444752"/>
            <a:ext cx="45720" cy="594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411480" y="1536192"/>
            <a:ext cx="402336" cy="40233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490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Análisis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1773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Sem 1-2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12848" y="1536192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2331720" y="14904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Entregable: Documento de requerimientos, casos de uso UML, stakeholders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95160" y="1536192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7086600" y="1609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⚠️ </a:t>
            </a:r>
            <a:r>
              <a:rPr lang="en-US" sz="900" dirty="0">
                <a:solidFill>
                  <a:srgbClr val="EF233C"/>
                </a:solidFill>
              </a:rPr>
              <a:t>Cambios de alcance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" y="2157984"/>
            <a:ext cx="8631936" cy="5943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256032" y="2157984"/>
            <a:ext cx="45720" cy="59436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411480" y="2249424"/>
            <a:ext cx="402336" cy="402336"/>
          </a:xfrm>
          <a:prstGeom prst="ellipse">
            <a:avLst/>
          </a:prstGeom>
          <a:solidFill>
            <a:srgbClr val="FFB703">
              <a:alpha val="4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411480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2203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</a:rPr>
              <a:t>Diseño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24871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Sem 3-4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12848" y="2249424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2331720" y="22037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Entregable: Diagramas UML completos, prototipo Figma, arquitectura MVC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95160" y="2249424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7086600" y="2322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⚠️ </a:t>
            </a:r>
            <a:r>
              <a:rPr lang="en-US" sz="900" dirty="0">
                <a:solidFill>
                  <a:srgbClr val="EF233C"/>
                </a:solidFill>
              </a:rPr>
              <a:t>Diseño inconsistente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" y="2871216"/>
            <a:ext cx="8631936" cy="5943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256032" y="2871216"/>
            <a:ext cx="45720" cy="5943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8" name="Shape 26"/>
          <p:cNvSpPr/>
          <p:nvPr/>
        </p:nvSpPr>
        <p:spPr>
          <a:xfrm>
            <a:off x="411480" y="2962656"/>
            <a:ext cx="402336" cy="402336"/>
          </a:xfrm>
          <a:prstGeom prst="ellipse">
            <a:avLst/>
          </a:prstGeom>
          <a:solidFill>
            <a:srgbClr val="06D6A0">
              <a:alpha val="4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41148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2688" y="2916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Desarrollo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2688" y="3200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Sem 5-10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12848" y="2962656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2331720" y="29169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Entregable: Módulos funcionales, base de datos, API REST, tests unitarios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95160" y="2962656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708660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⚠️ </a:t>
            </a:r>
            <a:r>
              <a:rPr lang="en-US" sz="900" dirty="0">
                <a:solidFill>
                  <a:srgbClr val="EF233C"/>
                </a:solidFill>
              </a:rPr>
              <a:t>Retrasos en sprint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56032" y="3584448"/>
            <a:ext cx="8631936" cy="5943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7" name="Shape 35"/>
          <p:cNvSpPr/>
          <p:nvPr/>
        </p:nvSpPr>
        <p:spPr>
          <a:xfrm>
            <a:off x="256032" y="3584448"/>
            <a:ext cx="45720" cy="594360"/>
          </a:xfrm>
          <a:prstGeom prst="rect">
            <a:avLst/>
          </a:prstGeom>
          <a:solidFill>
            <a:srgbClr val="EF23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8" name="Shape 36"/>
          <p:cNvSpPr/>
          <p:nvPr/>
        </p:nvSpPr>
        <p:spPr>
          <a:xfrm>
            <a:off x="411480" y="3675888"/>
            <a:ext cx="402336" cy="402336"/>
          </a:xfrm>
          <a:prstGeom prst="ellipse">
            <a:avLst/>
          </a:prstGeom>
          <a:solidFill>
            <a:srgbClr val="EF233C">
              <a:alpha val="40000"/>
            </a:srgbClr>
          </a:solidFill>
          <a:ln w="12700">
            <a:solidFill>
              <a:srgbClr val="EF233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411480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32688" y="3630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233C"/>
                </a:solidFill>
              </a:rPr>
              <a:t>Pruebas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32688" y="3913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Sem 11-12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12848" y="3675888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1"/>
          <p:cNvSpPr/>
          <p:nvPr/>
        </p:nvSpPr>
        <p:spPr>
          <a:xfrm>
            <a:off x="2331720" y="36301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Entregable: Informe de pruebas, correcciones, pruebas UAT con usuarios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995160" y="3675888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5" name="Text 43"/>
          <p:cNvSpPr/>
          <p:nvPr/>
        </p:nvSpPr>
        <p:spPr>
          <a:xfrm>
            <a:off x="708660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⚠️ </a:t>
            </a:r>
            <a:r>
              <a:rPr lang="en-US" sz="900" dirty="0">
                <a:solidFill>
                  <a:srgbClr val="EF233C"/>
                </a:solidFill>
              </a:rPr>
              <a:t>Bugs críticos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56032" y="4297680"/>
            <a:ext cx="8631936" cy="594360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7" name="Shape 45"/>
          <p:cNvSpPr/>
          <p:nvPr/>
        </p:nvSpPr>
        <p:spPr>
          <a:xfrm>
            <a:off x="256032" y="4297680"/>
            <a:ext cx="45720" cy="59436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8" name="Shape 46"/>
          <p:cNvSpPr/>
          <p:nvPr/>
        </p:nvSpPr>
        <p:spPr>
          <a:xfrm>
            <a:off x="411480" y="4389120"/>
            <a:ext cx="402336" cy="402336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9" name="Text 47"/>
          <p:cNvSpPr/>
          <p:nvPr/>
        </p:nvSpPr>
        <p:spPr>
          <a:xfrm>
            <a:off x="41148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32688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</a:rPr>
              <a:t>Despliegue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32688" y="46268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Sem 13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12848" y="4389120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3" name="Text 51"/>
          <p:cNvSpPr/>
          <p:nvPr/>
        </p:nvSpPr>
        <p:spPr>
          <a:xfrm>
            <a:off x="2331720" y="4343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Entregable: Sistema en producción, manual de usuario, capacitación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95160" y="4389120"/>
            <a:ext cx="0" cy="402336"/>
          </a:xfrm>
          <a:prstGeom prst="line">
            <a:avLst/>
          </a:prstGeom>
          <a:noFill/>
          <a:ln w="635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5" name="Text 53"/>
          <p:cNvSpPr/>
          <p:nvPr/>
        </p:nvSpPr>
        <p:spPr>
          <a:xfrm>
            <a:off x="7086600" y="4462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⚠️ </a:t>
            </a:r>
            <a:r>
              <a:rPr lang="en-US" sz="900" dirty="0">
                <a:solidFill>
                  <a:srgbClr val="EF233C"/>
                </a:solidFill>
              </a:rPr>
              <a:t>Fallo de migración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16  /  BENEFICIOS DE LA SOLUCIÓN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Impacto Esperado en GlobalTrade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2788920" cy="1609344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278892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39319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33272" y="15087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6D6A0"/>
                </a:solidFill>
              </a:rPr>
              <a:t>95%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393192" y="2258568"/>
            <a:ext cx="2514600" cy="0"/>
          </a:xfrm>
          <a:prstGeom prst="line">
            <a:avLst/>
          </a:prstGeom>
          <a:noFill/>
          <a:ln w="6350">
            <a:solidFill>
              <a:srgbClr val="06D6A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393192" y="23317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Reducción de errores de inventario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55264" y="1417320"/>
            <a:ext cx="2788920" cy="1609344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3255264" y="1417320"/>
            <a:ext cx="278892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339242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032504" y="15087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4D8"/>
                </a:solidFill>
              </a:rPr>
              <a:t>40%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3392424" y="2258568"/>
            <a:ext cx="2514600" cy="0"/>
          </a:xfrm>
          <a:prstGeom prst="line">
            <a:avLst/>
          </a:prstGeom>
          <a:noFill/>
          <a:ln w="6350">
            <a:solidFill>
              <a:srgbClr val="00B4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3392424" y="23317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Menos tiempo en gestión de pedidos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54496" y="1417320"/>
            <a:ext cx="2788920" cy="1609344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6254496" y="1417320"/>
            <a:ext cx="2788920" cy="457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639165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031736" y="15087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B703"/>
                </a:solidFill>
              </a:rPr>
              <a:t>100%</a:t>
            </a:r>
            <a:endParaRPr lang="en-US" sz="3800" dirty="0"/>
          </a:p>
        </p:txBody>
      </p:sp>
      <p:sp>
        <p:nvSpPr>
          <p:cNvPr id="22" name="Shape 20"/>
          <p:cNvSpPr/>
          <p:nvPr/>
        </p:nvSpPr>
        <p:spPr>
          <a:xfrm>
            <a:off x="6391656" y="2258568"/>
            <a:ext cx="2514600" cy="0"/>
          </a:xfrm>
          <a:prstGeom prst="line">
            <a:avLst/>
          </a:prstGeom>
          <a:noFill/>
          <a:ln w="6350">
            <a:solidFill>
              <a:srgbClr val="FFB70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6391656" y="23317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Visibilidad en tiempo real del stock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227832"/>
            <a:ext cx="2788920" cy="1609344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256032" y="3227832"/>
            <a:ext cx="278892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393192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033272" y="331927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78BFA"/>
                </a:solidFill>
              </a:rPr>
              <a:t>3x</a:t>
            </a:r>
            <a:endParaRPr lang="en-US" sz="3800" dirty="0"/>
          </a:p>
        </p:txBody>
      </p:sp>
      <p:sp>
        <p:nvSpPr>
          <p:cNvPr id="28" name="Shape 26"/>
          <p:cNvSpPr/>
          <p:nvPr/>
        </p:nvSpPr>
        <p:spPr>
          <a:xfrm>
            <a:off x="393192" y="4069080"/>
            <a:ext cx="2514600" cy="0"/>
          </a:xfrm>
          <a:prstGeom prst="line">
            <a:avLst/>
          </a:prstGeom>
          <a:noFill/>
          <a:ln w="6350">
            <a:solidFill>
              <a:srgbClr val="A78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393192" y="414223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Mayor velocidad en despacho comercial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55264" y="3227832"/>
            <a:ext cx="2788920" cy="1609344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1" name="Shape 29"/>
          <p:cNvSpPr/>
          <p:nvPr/>
        </p:nvSpPr>
        <p:spPr>
          <a:xfrm>
            <a:off x="3255264" y="3227832"/>
            <a:ext cx="2788920" cy="457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3392424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032504" y="331927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6D6A0"/>
                </a:solidFill>
              </a:rPr>
              <a:t>0</a:t>
            </a:r>
            <a:endParaRPr lang="en-US" sz="3800" dirty="0"/>
          </a:p>
        </p:txBody>
      </p:sp>
      <p:sp>
        <p:nvSpPr>
          <p:cNvPr id="34" name="Shape 32"/>
          <p:cNvSpPr/>
          <p:nvPr/>
        </p:nvSpPr>
        <p:spPr>
          <a:xfrm>
            <a:off x="3392424" y="4069080"/>
            <a:ext cx="2514600" cy="0"/>
          </a:xfrm>
          <a:prstGeom prst="line">
            <a:avLst/>
          </a:prstGeom>
          <a:noFill/>
          <a:ln w="6350">
            <a:solidFill>
              <a:srgbClr val="06D6A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3392424" y="414223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Pedidos duplicados con integración total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54496" y="3227832"/>
            <a:ext cx="2788920" cy="1609344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7" name="Shape 35"/>
          <p:cNvSpPr/>
          <p:nvPr/>
        </p:nvSpPr>
        <p:spPr>
          <a:xfrm>
            <a:off x="6254496" y="3227832"/>
            <a:ext cx="278892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8" name="Text 36"/>
          <p:cNvSpPr/>
          <p:nvPr/>
        </p:nvSpPr>
        <p:spPr>
          <a:xfrm>
            <a:off x="639165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031736" y="331927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4D8"/>
                </a:solidFill>
              </a:rPr>
              <a:t>360°</a:t>
            </a:r>
            <a:endParaRPr lang="en-US" sz="3800" dirty="0"/>
          </a:p>
        </p:txBody>
      </p:sp>
      <p:sp>
        <p:nvSpPr>
          <p:cNvPr id="40" name="Shape 38"/>
          <p:cNvSpPr/>
          <p:nvPr/>
        </p:nvSpPr>
        <p:spPr>
          <a:xfrm>
            <a:off x="6391656" y="4069080"/>
            <a:ext cx="2514600" cy="0"/>
          </a:xfrm>
          <a:prstGeom prst="line">
            <a:avLst/>
          </a:prstGeom>
          <a:noFill/>
          <a:ln w="6350">
            <a:solidFill>
              <a:srgbClr val="00B4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ext 39"/>
          <p:cNvSpPr/>
          <p:nvPr/>
        </p:nvSpPr>
        <p:spPr>
          <a:xfrm>
            <a:off x="6391656" y="414223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Trazabilidad del producto importado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224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8892A4"/>
                </a:solidFill>
              </a:rPr>
              <a:t>17  /  CONCLUSIONES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Reflexiones Finales del Proyecto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8631936" cy="749808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54864" cy="7498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420624" y="1581912"/>
            <a:ext cx="402336" cy="402336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20624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Integración como solución clave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737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Unificar los módulos de compras, almacén y ventas eliminará las inconsistencias que actualmente afectan a GlobalTrade, transformando procesos fragmentados en un flujo continuo.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2295144"/>
            <a:ext cx="8631936" cy="749808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256032" y="2295144"/>
            <a:ext cx="54864" cy="749808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420624" y="2459736"/>
            <a:ext cx="402336" cy="402336"/>
          </a:xfrm>
          <a:prstGeom prst="ellipse">
            <a:avLst/>
          </a:prstGeom>
          <a:solidFill>
            <a:srgbClr val="FFB703">
              <a:alpha val="40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20624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34086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</a:rPr>
              <a:t>Arquitectura robusta y escalable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6151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La arquitectura MVC en 3 capas con Python/Flask garantiza escalabilidad, mantenibilidad y una base sólida que permite incorporar nuevas funcionalidades sin reestructurar el sistema.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172968"/>
            <a:ext cx="8631936" cy="749808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256032" y="3172968"/>
            <a:ext cx="54864" cy="7498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420624" y="3337560"/>
            <a:ext cx="402336" cy="402336"/>
          </a:xfrm>
          <a:prstGeom prst="ellipse">
            <a:avLst/>
          </a:prstGeom>
          <a:solidFill>
            <a:srgbClr val="06D6A0">
              <a:alpha val="4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20624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218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Diagramas UML como hoja de ruta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4930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Los 7 diagramas UML 2.5 elaborados (Casos de Uso, Clases, Secuencia, BPMN, Actividades, Componentes y Despliegue) proveen la documentación técnica completa del sistema.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4050792"/>
            <a:ext cx="8631936" cy="749808"/>
          </a:xfrm>
          <a:prstGeom prst="rect">
            <a:avLst/>
          </a:prstGeom>
          <a:solidFill>
            <a:srgbClr val="152035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256032" y="4050792"/>
            <a:ext cx="54864" cy="7498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Shape 24"/>
          <p:cNvSpPr/>
          <p:nvPr/>
        </p:nvSpPr>
        <p:spPr>
          <a:xfrm>
            <a:off x="420624" y="4215384"/>
            <a:ext cx="402336" cy="402336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420624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0965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Decisiones basadas en datos reales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3708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A4"/>
                </a:solidFill>
              </a:rPr>
              <a:t>El sistema posicionará a GlobalTrade para tomar decisiones estratégicas basadas en datos reales, mejorando rentabilidad, reduciendo pérdidas por errores y optimizando la cadena logística.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6032" y="4892040"/>
            <a:ext cx="8631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</a:rPr>
              <a:t>🎓  GlobalTrade Importaciones  ·  Sistema de Control de Inventarios  ·  2025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77B6">
              <a:alpha val="18000"/>
            </a:srgbClr>
          </a:solidFill>
          <a:ln w="12700">
            <a:solidFill>
              <a:srgbClr val="0077B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486400" y="1828800"/>
            <a:ext cx="5486400" cy="54864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6217920" y="731520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6601968" y="731520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6986016" y="731520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7370064" y="731520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7754112" y="731520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138160" y="731520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6217920" y="1115568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6601968" y="1115568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6986016" y="1115568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7370064" y="1115568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7754112" y="1115568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8138160" y="1115568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6217920" y="1499616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6601968" y="1499616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6986016" y="1499616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370064" y="1499616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7754112" y="1499616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8138160" y="1499616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6217920" y="1883664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6601968" y="1883664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Shape 24"/>
          <p:cNvSpPr/>
          <p:nvPr/>
        </p:nvSpPr>
        <p:spPr>
          <a:xfrm>
            <a:off x="6986016" y="1883664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7370064" y="1883664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Shape 26"/>
          <p:cNvSpPr/>
          <p:nvPr/>
        </p:nvSpPr>
        <p:spPr>
          <a:xfrm>
            <a:off x="7754112" y="1883664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8138160" y="1883664"/>
            <a:ext cx="64008" cy="64008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914400" y="73152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7800" dirty="0"/>
          </a:p>
        </p:txBody>
      </p:sp>
      <p:sp>
        <p:nvSpPr>
          <p:cNvPr id="31" name="Text 29"/>
          <p:cNvSpPr/>
          <p:nvPr/>
        </p:nvSpPr>
        <p:spPr>
          <a:xfrm>
            <a:off x="914400" y="23317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Sistema Integrado de Control de Inventarios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40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A4"/>
                </a:solidFill>
              </a:rPr>
              <a:t>GlobalTrade Importaciones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743200" y="3401568"/>
            <a:ext cx="3657600" cy="36576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/>
          <p:nvPr/>
        </p:nvSpPr>
        <p:spPr>
          <a:xfrm>
            <a:off x="914400" y="35478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2A4"/>
                </a:solidFill>
              </a:rPr>
              <a:t>Compras  ·  Almacén  ·  Ventas  ·  Integración Total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40050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</a:rPr>
              <a:t>Python / Flask  ·  SQLAlchemy  ·  UML 2.5  ·  draw.io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1259</Words>
  <Application>Microsoft Office PowerPoint</Application>
  <PresentationFormat>Presentación en pantalla (16:9)</PresentationFormat>
  <Paragraphs>292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GlobalTrade — Sistema de Control de Inventarios</dc:title>
  <dc:subject>PptxGenJS Presentation</dc:subject>
  <dc:creator>PptxGenJS</dc:creator>
  <cp:lastModifiedBy>GUTIERREZ MARIN, EDDY BRYAN</cp:lastModifiedBy>
  <cp:revision>4</cp:revision>
  <dcterms:created xsi:type="dcterms:W3CDTF">2026-04-04T12:56:19Z</dcterms:created>
  <dcterms:modified xsi:type="dcterms:W3CDTF">2026-04-09T03:49:18Z</dcterms:modified>
</cp:coreProperties>
</file>