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3" r:id="rId15"/>
    <p:sldId id="269" r:id="rId16"/>
    <p:sldId id="270" r:id="rId17"/>
    <p:sldId id="271" r:id="rId18"/>
    <p:sldId id="272" r:id="rId19"/>
    <p:sldId id="275" r:id="rId20"/>
    <p:sldId id="276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548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400000" cy="5148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3"/>
          <p:cNvSpPr/>
          <p:nvPr/>
        </p:nvSpPr>
        <p:spPr>
          <a:xfrm>
            <a:off x="400000" y="0"/>
            <a:ext cx="8744000" cy="514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6"/>
          <p:cNvSpPr/>
          <p:nvPr/>
        </p:nvSpPr>
        <p:spPr>
          <a:xfrm>
            <a:off x="620000" y="380000"/>
            <a:ext cx="800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3600" b="1" dirty="0">
                <a:solidFill>
                  <a:srgbClr val="CC0000"/>
                </a:solidFill>
                <a:latin typeface="Calibri" pitchFamily="34" charset="0"/>
              </a:rPr>
              <a:t>GESTIÓN DE INFRAESTRUCTURA</a:t>
            </a:r>
          </a:p>
        </p:txBody>
      </p:sp>
      <p:sp>
        <p:nvSpPr>
          <p:cNvPr id="7" name="T7"/>
          <p:cNvSpPr/>
          <p:nvPr/>
        </p:nvSpPr>
        <p:spPr>
          <a:xfrm>
            <a:off x="620000" y="980000"/>
            <a:ext cx="75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900" dirty="0">
                <a:solidFill>
                  <a:srgbClr val="CCCCCC"/>
                </a:solidFill>
                <a:latin typeface="Calibri" pitchFamily="34" charset="0"/>
              </a:rPr>
              <a:t>EN UNA EMPRESA DE TELECOMUNICACIONES</a:t>
            </a:r>
          </a:p>
        </p:txBody>
      </p:sp>
      <p:sp>
        <p:nvSpPr>
          <p:cNvPr id="8" name="T8"/>
          <p:cNvSpPr/>
          <p:nvPr/>
        </p:nvSpPr>
        <p:spPr>
          <a:xfrm>
            <a:off x="620000" y="1500000"/>
            <a:ext cx="28000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5400" b="1" dirty="0">
                <a:solidFill>
                  <a:srgbClr val="CC0000"/>
                </a:solidFill>
                <a:latin typeface="Calibri" pitchFamily="34" charset="0"/>
              </a:rPr>
              <a:t>CASO 5</a:t>
            </a:r>
          </a:p>
        </p:txBody>
      </p:sp>
      <p:sp>
        <p:nvSpPr>
          <p:cNvPr id="9" name="R9"/>
          <p:cNvSpPr/>
          <p:nvPr/>
        </p:nvSpPr>
        <p:spPr>
          <a:xfrm>
            <a:off x="620000" y="2380000"/>
            <a:ext cx="7500000" cy="5000"/>
          </a:xfrm>
          <a:prstGeom prst="rect">
            <a:avLst/>
          </a:prstGeom>
          <a:solidFill>
            <a:srgbClr val="44444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10"/>
          <p:cNvSpPr/>
          <p:nvPr/>
        </p:nvSpPr>
        <p:spPr>
          <a:xfrm>
            <a:off x="620000" y="2520000"/>
            <a:ext cx="5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000" b="1" dirty="0">
                <a:solidFill>
                  <a:srgbClr val="FFFFFF"/>
                </a:solidFill>
                <a:latin typeface="Calibri" pitchFamily="34" charset="0"/>
              </a:rPr>
              <a:t>TeleAndes Comunicaciones</a:t>
            </a:r>
          </a:p>
        </p:txBody>
      </p:sp>
      <p:sp>
        <p:nvSpPr>
          <p:cNvPr id="11" name="T11"/>
          <p:cNvSpPr/>
          <p:nvPr/>
        </p:nvSpPr>
        <p:spPr>
          <a:xfrm>
            <a:off x="620000" y="2900000"/>
            <a:ext cx="58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dirty="0">
                <a:solidFill>
                  <a:srgbClr val="999999"/>
                </a:solidFill>
                <a:latin typeface="Calibri" pitchFamily="34" charset="0"/>
              </a:rPr>
              <a:t>Ingeniería de Software  ·  SENATI 2026  ·  Grupo N°4</a:t>
            </a:r>
          </a:p>
        </p:txBody>
      </p:sp>
      <p:sp>
        <p:nvSpPr>
          <p:cNvPr id="12" name="R12"/>
          <p:cNvSpPr/>
          <p:nvPr/>
        </p:nvSpPr>
        <p:spPr>
          <a:xfrm>
            <a:off x="620000" y="3280000"/>
            <a:ext cx="3000000" cy="500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13"/>
          <p:cNvSpPr/>
          <p:nvPr/>
        </p:nvSpPr>
        <p:spPr>
          <a:xfrm>
            <a:off x="620000" y="3420000"/>
            <a:ext cx="7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CC0000"/>
                </a:solidFill>
                <a:latin typeface="Calibri" pitchFamily="34" charset="0"/>
              </a:rPr>
              <a:t>Integrantes:</a:t>
            </a:r>
          </a:p>
        </p:txBody>
      </p:sp>
      <p:sp>
        <p:nvSpPr>
          <p:cNvPr id="14" name="T14"/>
          <p:cNvSpPr/>
          <p:nvPr/>
        </p:nvSpPr>
        <p:spPr>
          <a:xfrm>
            <a:off x="620000" y="3720000"/>
            <a:ext cx="7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50" dirty="0">
                <a:solidFill>
                  <a:srgbClr val="CCCCCC"/>
                </a:solidFill>
                <a:latin typeface="Calibri" pitchFamily="34" charset="0"/>
              </a:rPr>
              <a:t>Francisco Castillo Monrroy</a:t>
            </a:r>
          </a:p>
        </p:txBody>
      </p:sp>
      <p:sp>
        <p:nvSpPr>
          <p:cNvPr id="15" name="T15"/>
          <p:cNvSpPr/>
          <p:nvPr/>
        </p:nvSpPr>
        <p:spPr>
          <a:xfrm>
            <a:off x="620000" y="3990000"/>
            <a:ext cx="7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50" dirty="0">
                <a:solidFill>
                  <a:srgbClr val="CCCCCC"/>
                </a:solidFill>
                <a:latin typeface="Calibri" pitchFamily="34" charset="0"/>
              </a:rPr>
              <a:t>Moises Palomino Sanchez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ect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Contexto del Problema</a:t>
            </a:r>
          </a:p>
        </p:txBody>
      </p:sp>
      <p:sp>
        <p:nvSpPr>
          <p:cNvPr id="5" name="Tex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¿Quiénes somos y cuál es la situación actual?</a:t>
            </a:r>
          </a:p>
        </p:txBody>
      </p:sp>
      <p:sp>
        <p:nvSpPr>
          <p:cNvPr id="6" name="Tex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2 / 20</a:t>
            </a:r>
          </a:p>
        </p:txBody>
      </p:sp>
      <p:sp>
        <p:nvSpPr>
          <p:cNvPr id="7" name="Rect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10" name="Rect10"/>
          <p:cNvSpPr/>
          <p:nvPr/>
        </p:nvSpPr>
        <p:spPr>
          <a:xfrm>
            <a:off x="200000" y="780000"/>
            <a:ext cx="4300000" cy="40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Rect11"/>
          <p:cNvSpPr/>
          <p:nvPr/>
        </p:nvSpPr>
        <p:spPr>
          <a:xfrm>
            <a:off x="200000" y="780000"/>
            <a:ext cx="8000" cy="40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12"/>
          <p:cNvSpPr/>
          <p:nvPr/>
        </p:nvSpPr>
        <p:spPr>
          <a:xfrm>
            <a:off x="310000" y="820000"/>
            <a:ext cx="4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CC0000"/>
                </a:solidFill>
                <a:latin typeface="Calibri" pitchFamily="34" charset="0"/>
              </a:rPr>
              <a:t>TeleAndes Comunicaciones</a:t>
            </a:r>
          </a:p>
        </p:txBody>
      </p:sp>
      <p:sp>
        <p:nvSpPr>
          <p:cNvPr id="13" name="Text13"/>
          <p:cNvSpPr/>
          <p:nvPr/>
        </p:nvSpPr>
        <p:spPr>
          <a:xfrm>
            <a:off x="310000" y="1110000"/>
            <a:ext cx="40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Proveedor regional de servicios de internet y telefonía</a:t>
            </a:r>
          </a:p>
        </p:txBody>
      </p:sp>
      <p:sp>
        <p:nvSpPr>
          <p:cNvPr id="14" name="Text14"/>
          <p:cNvSpPr/>
          <p:nvPr/>
        </p:nvSpPr>
        <p:spPr>
          <a:xfrm>
            <a:off x="310000" y="1380000"/>
            <a:ext cx="40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con infraestructura distribuida en múltiples ciudades.</a:t>
            </a:r>
          </a:p>
        </p:txBody>
      </p:sp>
      <p:sp>
        <p:nvSpPr>
          <p:cNvPr id="15" name="Text15"/>
          <p:cNvSpPr/>
          <p:nvPr/>
        </p:nvSpPr>
        <p:spPr>
          <a:xfrm>
            <a:off x="310000" y="1700000"/>
            <a:ext cx="3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CC0000"/>
                </a:solidFill>
                <a:latin typeface="Calibri" pitchFamily="34" charset="0"/>
              </a:rPr>
              <a:t>Situación Actual</a:t>
            </a:r>
          </a:p>
        </p:txBody>
      </p:sp>
      <p:sp>
        <p:nvSpPr>
          <p:cNvPr id="39" name="Text39"/>
          <p:cNvSpPr/>
          <p:nvPr/>
        </p:nvSpPr>
        <p:spPr>
          <a:xfrm>
            <a:off x="310000" y="1980000"/>
            <a:ext cx="3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  Antenas de transmisión</a:t>
            </a:r>
          </a:p>
        </p:txBody>
      </p:sp>
      <p:sp>
        <p:nvSpPr>
          <p:cNvPr id="42" name="Text42"/>
          <p:cNvSpPr/>
          <p:nvPr/>
        </p:nvSpPr>
        <p:spPr>
          <a:xfrm>
            <a:off x="310000" y="2270000"/>
            <a:ext cx="3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  Centros de datos</a:t>
            </a:r>
          </a:p>
        </p:txBody>
      </p:sp>
      <p:sp>
        <p:nvSpPr>
          <p:cNvPr id="45" name="Text45"/>
          <p:cNvSpPr/>
          <p:nvPr/>
        </p:nvSpPr>
        <p:spPr>
          <a:xfrm>
            <a:off x="310000" y="2560000"/>
            <a:ext cx="3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  Equipos de red</a:t>
            </a:r>
          </a:p>
        </p:txBody>
      </p:sp>
      <p:sp>
        <p:nvSpPr>
          <p:cNvPr id="48" name="Text48"/>
          <p:cNvSpPr/>
          <p:nvPr/>
        </p:nvSpPr>
        <p:spPr>
          <a:xfrm>
            <a:off x="310000" y="2850000"/>
            <a:ext cx="3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  Routers y estaciones</a:t>
            </a:r>
          </a:p>
        </p:txBody>
      </p:sp>
      <p:sp>
        <p:nvSpPr>
          <p:cNvPr id="50" name="Rect50"/>
          <p:cNvSpPr/>
          <p:nvPr/>
        </p:nvSpPr>
        <p:spPr>
          <a:xfrm>
            <a:off x="4650000" y="780000"/>
            <a:ext cx="4300000" cy="40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Rect51"/>
          <p:cNvSpPr/>
          <p:nvPr/>
        </p:nvSpPr>
        <p:spPr>
          <a:xfrm>
            <a:off x="4650000" y="780000"/>
            <a:ext cx="8000" cy="40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52"/>
          <p:cNvSpPr/>
          <p:nvPr/>
        </p:nvSpPr>
        <p:spPr>
          <a:xfrm>
            <a:off x="4760000" y="820000"/>
            <a:ext cx="4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CC0000"/>
                </a:solidFill>
                <a:latin typeface="Calibri" pitchFamily="34" charset="0"/>
              </a:rPr>
              <a:t>Problemas Detectados</a:t>
            </a:r>
          </a:p>
        </p:txBody>
      </p:sp>
      <p:sp>
        <p:nvSpPr>
          <p:cNvPr id="71" name="Rect71"/>
          <p:cNvSpPr/>
          <p:nvPr/>
        </p:nvSpPr>
        <p:spPr>
          <a:xfrm>
            <a:off x="4760000" y="1150000"/>
            <a:ext cx="160000" cy="1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1" name="Text81"/>
          <p:cNvSpPr/>
          <p:nvPr/>
        </p:nvSpPr>
        <p:spPr>
          <a:xfrm>
            <a:off x="4970000" y="1130000"/>
            <a:ext cx="38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Monitoreo con herramientas NO integradas</a:t>
            </a:r>
          </a:p>
        </p:txBody>
      </p:sp>
      <p:sp>
        <p:nvSpPr>
          <p:cNvPr id="77" name="Rect77"/>
          <p:cNvSpPr/>
          <p:nvPr/>
        </p:nvSpPr>
        <p:spPr>
          <a:xfrm>
            <a:off x="4760000" y="1710000"/>
            <a:ext cx="160000" cy="1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7" name="Text87"/>
          <p:cNvSpPr/>
          <p:nvPr/>
        </p:nvSpPr>
        <p:spPr>
          <a:xfrm>
            <a:off x="4970000" y="1690000"/>
            <a:ext cx="38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Revisión manual de múltiples sistemas ante fallas</a:t>
            </a:r>
          </a:p>
        </p:txBody>
      </p:sp>
      <p:sp>
        <p:nvSpPr>
          <p:cNvPr id="82" name="Rect82"/>
          <p:cNvSpPr/>
          <p:nvPr/>
        </p:nvSpPr>
        <p:spPr>
          <a:xfrm>
            <a:off x="4760000" y="2270000"/>
            <a:ext cx="160000" cy="1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2" name="Text92"/>
          <p:cNvSpPr/>
          <p:nvPr/>
        </p:nvSpPr>
        <p:spPr>
          <a:xfrm>
            <a:off x="4970000" y="2250000"/>
            <a:ext cx="38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Proceso de diagnóstico de varias horas</a:t>
            </a:r>
          </a:p>
        </p:txBody>
      </p:sp>
      <p:sp>
        <p:nvSpPr>
          <p:cNvPr id="88" name="Rect88"/>
          <p:cNvSpPr/>
          <p:nvPr/>
        </p:nvSpPr>
        <p:spPr>
          <a:xfrm>
            <a:off x="4760000" y="2830000"/>
            <a:ext cx="160000" cy="1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8" name="Text98"/>
          <p:cNvSpPr/>
          <p:nvPr/>
        </p:nvSpPr>
        <p:spPr>
          <a:xfrm>
            <a:off x="4970000" y="2810000"/>
            <a:ext cx="38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Sin registro centralizado de incidentes</a:t>
            </a:r>
          </a:p>
        </p:txBody>
      </p:sp>
      <p:sp>
        <p:nvSpPr>
          <p:cNvPr id="93" name="Rect93"/>
          <p:cNvSpPr/>
          <p:nvPr/>
        </p:nvSpPr>
        <p:spPr>
          <a:xfrm>
            <a:off x="4760000" y="3390000"/>
            <a:ext cx="160000" cy="1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3" name="Text103"/>
          <p:cNvSpPr/>
          <p:nvPr/>
        </p:nvSpPr>
        <p:spPr>
          <a:xfrm>
            <a:off x="4970000" y="3370000"/>
            <a:ext cx="38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Sin programación de mantenimientos preventivos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ect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Problema Identificado</a:t>
            </a:r>
          </a:p>
        </p:txBody>
      </p:sp>
      <p:sp>
        <p:nvSpPr>
          <p:cNvPr id="5" name="Tex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Diagnóstico de la problemática actual</a:t>
            </a:r>
          </a:p>
        </p:txBody>
      </p:sp>
      <p:sp>
        <p:nvSpPr>
          <p:cNvPr id="6" name="Tex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3 / 20</a:t>
            </a:r>
          </a:p>
        </p:txBody>
      </p:sp>
      <p:sp>
        <p:nvSpPr>
          <p:cNvPr id="7" name="Rect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10" name="Rect10"/>
          <p:cNvSpPr/>
          <p:nvPr/>
        </p:nvSpPr>
        <p:spPr>
          <a:xfrm>
            <a:off x="200000" y="790000"/>
            <a:ext cx="4300000" cy="176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Rect11"/>
          <p:cNvSpPr/>
          <p:nvPr/>
        </p:nvSpPr>
        <p:spPr>
          <a:xfrm>
            <a:off x="200000" y="790000"/>
            <a:ext cx="8000" cy="17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12"/>
          <p:cNvSpPr/>
          <p:nvPr/>
        </p:nvSpPr>
        <p:spPr>
          <a:xfrm>
            <a:off x="260000" y="850000"/>
            <a:ext cx="4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CC0000"/>
                </a:solidFill>
                <a:latin typeface="Calibri" pitchFamily="34" charset="0"/>
              </a:rPr>
              <a:t>⏱  Interrupciones Prolongadas</a:t>
            </a:r>
          </a:p>
        </p:txBody>
      </p:sp>
      <p:sp>
        <p:nvSpPr>
          <p:cNvPr id="13" name="Text13"/>
          <p:cNvSpPr/>
          <p:nvPr/>
        </p:nvSpPr>
        <p:spPr>
          <a:xfrm>
            <a:off x="260000" y="1160000"/>
            <a:ext cx="400000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Los técnicos deben revisar múltiples sistemas independientes para identificar el origen de una falla, generando demoras de horas.</a:t>
            </a:r>
          </a:p>
        </p:txBody>
      </p:sp>
      <p:sp>
        <p:nvSpPr>
          <p:cNvPr id="20" name="Rect20"/>
          <p:cNvSpPr/>
          <p:nvPr/>
        </p:nvSpPr>
        <p:spPr>
          <a:xfrm>
            <a:off x="4670000" y="790000"/>
            <a:ext cx="4300000" cy="176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Rect21"/>
          <p:cNvSpPr/>
          <p:nvPr/>
        </p:nvSpPr>
        <p:spPr>
          <a:xfrm>
            <a:off x="4670000" y="790000"/>
            <a:ext cx="8000" cy="17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22"/>
          <p:cNvSpPr/>
          <p:nvPr/>
        </p:nvSpPr>
        <p:spPr>
          <a:xfrm>
            <a:off x="4730000" y="850000"/>
            <a:ext cx="4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CC0000"/>
                </a:solidFill>
                <a:latin typeface="Calibri" pitchFamily="34" charset="0"/>
              </a:rPr>
              <a:t>😠  Reclamos de Clientes</a:t>
            </a:r>
          </a:p>
        </p:txBody>
      </p:sp>
      <p:sp>
        <p:nvSpPr>
          <p:cNvPr id="23" name="Text23"/>
          <p:cNvSpPr/>
          <p:nvPr/>
        </p:nvSpPr>
        <p:spPr>
          <a:xfrm>
            <a:off x="4730000" y="1160000"/>
            <a:ext cx="400000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La tardanza en la resolución de incidentes impacta directamente en la satisfacción y retención de clientes.</a:t>
            </a:r>
          </a:p>
        </p:txBody>
      </p:sp>
      <p:sp>
        <p:nvSpPr>
          <p:cNvPr id="30" name="Rect30"/>
          <p:cNvSpPr/>
          <p:nvPr/>
        </p:nvSpPr>
        <p:spPr>
          <a:xfrm>
            <a:off x="200000" y="2680000"/>
            <a:ext cx="4300000" cy="176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Rect31"/>
          <p:cNvSpPr/>
          <p:nvPr/>
        </p:nvSpPr>
        <p:spPr>
          <a:xfrm>
            <a:off x="200000" y="2680000"/>
            <a:ext cx="8000" cy="17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32"/>
          <p:cNvSpPr/>
          <p:nvPr/>
        </p:nvSpPr>
        <p:spPr>
          <a:xfrm>
            <a:off x="260000" y="2740000"/>
            <a:ext cx="4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CC0000"/>
                </a:solidFill>
                <a:latin typeface="Calibri" pitchFamily="34" charset="0"/>
              </a:rPr>
              <a:t>📂  Sin Registro de Incidentes</a:t>
            </a:r>
          </a:p>
        </p:txBody>
      </p:sp>
      <p:sp>
        <p:nvSpPr>
          <p:cNvPr id="33" name="Text33"/>
          <p:cNvSpPr/>
          <p:nvPr/>
        </p:nvSpPr>
        <p:spPr>
          <a:xfrm>
            <a:off x="260000" y="3050000"/>
            <a:ext cx="400000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No existe un sistema centralizado para registrar, gestionar ni hacer seguimiento de los incidentes reportados.</a:t>
            </a:r>
          </a:p>
        </p:txBody>
      </p:sp>
      <p:sp>
        <p:nvSpPr>
          <p:cNvPr id="40" name="Rect40"/>
          <p:cNvSpPr/>
          <p:nvPr/>
        </p:nvSpPr>
        <p:spPr>
          <a:xfrm>
            <a:off x="4670000" y="2680000"/>
            <a:ext cx="4300000" cy="176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Rect41"/>
          <p:cNvSpPr/>
          <p:nvPr/>
        </p:nvSpPr>
        <p:spPr>
          <a:xfrm>
            <a:off x="4670000" y="2680000"/>
            <a:ext cx="8000" cy="17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42"/>
          <p:cNvSpPr/>
          <p:nvPr/>
        </p:nvSpPr>
        <p:spPr>
          <a:xfrm>
            <a:off x="4730000" y="2740000"/>
            <a:ext cx="4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CC0000"/>
                </a:solidFill>
                <a:latin typeface="Calibri" pitchFamily="34" charset="0"/>
              </a:rPr>
              <a:t>📊  Sin Reportes de Disponibilidad</a:t>
            </a:r>
          </a:p>
        </p:txBody>
      </p:sp>
      <p:sp>
        <p:nvSpPr>
          <p:cNvPr id="43" name="Text43"/>
          <p:cNvSpPr/>
          <p:nvPr/>
        </p:nvSpPr>
        <p:spPr>
          <a:xfrm>
            <a:off x="4730000" y="3050000"/>
            <a:ext cx="4000000" cy="1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Imposibilidad de generar reportes de rendimiento y disponibilidad del servicio para la toma de decisiones.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Objetivo del Sistema</a:t>
            </a:r>
          </a:p>
        </p:txBody>
      </p:sp>
      <p:sp>
        <p:nvSpPr>
          <p:cNvPr id="5" name="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¿Qué se busca lograr con la solución?</a:t>
            </a:r>
          </a:p>
        </p:txBody>
      </p:sp>
      <p:sp>
        <p:nvSpPr>
          <p:cNvPr id="6" name="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4 / 20</a:t>
            </a:r>
          </a:p>
        </p:txBody>
      </p:sp>
      <p:sp>
        <p:nvSpPr>
          <p:cNvPr id="7" name="R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10" name="R10"/>
          <p:cNvSpPr/>
          <p:nvPr/>
        </p:nvSpPr>
        <p:spPr>
          <a:xfrm>
            <a:off x="200000" y="790000"/>
            <a:ext cx="8744000" cy="78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R11"/>
          <p:cNvSpPr/>
          <p:nvPr/>
        </p:nvSpPr>
        <p:spPr>
          <a:xfrm>
            <a:off x="200000" y="790000"/>
            <a:ext cx="8000" cy="78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12"/>
          <p:cNvSpPr/>
          <p:nvPr/>
        </p:nvSpPr>
        <p:spPr>
          <a:xfrm>
            <a:off x="320000" y="830000"/>
            <a:ext cx="82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dirty="0">
                <a:solidFill>
                  <a:srgbClr val="CC0000"/>
                </a:solidFill>
                <a:latin typeface="Calibri" pitchFamily="34" charset="0"/>
              </a:rPr>
              <a:t>Objetivo General</a:t>
            </a:r>
          </a:p>
        </p:txBody>
      </p:sp>
      <p:sp>
        <p:nvSpPr>
          <p:cNvPr id="13" name="T13"/>
          <p:cNvSpPr/>
          <p:nvPr/>
        </p:nvSpPr>
        <p:spPr>
          <a:xfrm>
            <a:off x="320000" y="1130000"/>
            <a:ext cx="82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Implementar una plataforma centralizada y en tiempo real para gestionar la infraestructura de TeleAndes, reduciendo tiempos de respuesta ante fallas y mejorando la disponibilidad del servicio.</a:t>
            </a:r>
          </a:p>
        </p:txBody>
      </p:sp>
      <p:sp>
        <p:nvSpPr>
          <p:cNvPr id="20" name="R20"/>
          <p:cNvSpPr/>
          <p:nvPr/>
        </p:nvSpPr>
        <p:spPr>
          <a:xfrm>
            <a:off x="200000" y="1680000"/>
            <a:ext cx="4300000" cy="139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R21"/>
          <p:cNvSpPr/>
          <p:nvPr/>
        </p:nvSpPr>
        <p:spPr>
          <a:xfrm>
            <a:off x="200000" y="1680000"/>
            <a:ext cx="8000" cy="139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22"/>
          <p:cNvSpPr/>
          <p:nvPr/>
        </p:nvSpPr>
        <p:spPr>
          <a:xfrm>
            <a:off x="260000" y="1760000"/>
            <a:ext cx="6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CC0000"/>
                </a:solidFill>
                <a:latin typeface="Calibri" pitchFamily="34" charset="0"/>
              </a:rPr>
              <a:t>01</a:t>
            </a:r>
          </a:p>
        </p:txBody>
      </p:sp>
      <p:sp>
        <p:nvSpPr>
          <p:cNvPr id="23" name="T23"/>
          <p:cNvSpPr/>
          <p:nvPr/>
        </p:nvSpPr>
        <p:spPr>
          <a:xfrm>
            <a:off x="930000" y="1780000"/>
            <a:ext cx="34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FFFFFF"/>
                </a:solidFill>
                <a:latin typeface="Calibri" pitchFamily="34" charset="0"/>
              </a:rPr>
              <a:t>Monitoreo Centralizado</a:t>
            </a:r>
          </a:p>
        </p:txBody>
      </p:sp>
      <p:sp>
        <p:nvSpPr>
          <p:cNvPr id="24" name="T24"/>
          <p:cNvSpPr/>
          <p:nvPr/>
        </p:nvSpPr>
        <p:spPr>
          <a:xfrm>
            <a:off x="930000" y="2110000"/>
            <a:ext cx="34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Integrar todas las herramientas de monitoreo en una única plataforma en tiempo real.</a:t>
            </a:r>
          </a:p>
        </p:txBody>
      </p:sp>
      <p:sp>
        <p:nvSpPr>
          <p:cNvPr id="30" name="R30"/>
          <p:cNvSpPr/>
          <p:nvPr/>
        </p:nvSpPr>
        <p:spPr>
          <a:xfrm>
            <a:off x="4670000" y="1680000"/>
            <a:ext cx="4300000" cy="139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R31"/>
          <p:cNvSpPr/>
          <p:nvPr/>
        </p:nvSpPr>
        <p:spPr>
          <a:xfrm>
            <a:off x="4670000" y="1680000"/>
            <a:ext cx="8000" cy="139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4730000" y="1760000"/>
            <a:ext cx="6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CC0000"/>
                </a:solidFill>
                <a:latin typeface="Calibri" pitchFamily="34" charset="0"/>
              </a:rPr>
              <a:t>02</a:t>
            </a:r>
          </a:p>
        </p:txBody>
      </p:sp>
      <p:sp>
        <p:nvSpPr>
          <p:cNvPr id="33" name="T33"/>
          <p:cNvSpPr/>
          <p:nvPr/>
        </p:nvSpPr>
        <p:spPr>
          <a:xfrm>
            <a:off x="5400000" y="1780000"/>
            <a:ext cx="34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FFFFFF"/>
                </a:solidFill>
                <a:latin typeface="Calibri" pitchFamily="34" charset="0"/>
              </a:rPr>
              <a:t>Gestión de Incidentes</a:t>
            </a:r>
          </a:p>
        </p:txBody>
      </p:sp>
      <p:sp>
        <p:nvSpPr>
          <p:cNvPr id="34" name="T34"/>
          <p:cNvSpPr/>
          <p:nvPr/>
        </p:nvSpPr>
        <p:spPr>
          <a:xfrm>
            <a:off x="5400000" y="2110000"/>
            <a:ext cx="34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Implementar un módulo para registrar, asignar y hacer seguimiento de incidentes técnicos.</a:t>
            </a:r>
          </a:p>
        </p:txBody>
      </p:sp>
      <p:sp>
        <p:nvSpPr>
          <p:cNvPr id="40" name="R40"/>
          <p:cNvSpPr/>
          <p:nvPr/>
        </p:nvSpPr>
        <p:spPr>
          <a:xfrm>
            <a:off x="200000" y="3210000"/>
            <a:ext cx="4300000" cy="139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R41"/>
          <p:cNvSpPr/>
          <p:nvPr/>
        </p:nvSpPr>
        <p:spPr>
          <a:xfrm>
            <a:off x="200000" y="3210000"/>
            <a:ext cx="8000" cy="139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42"/>
          <p:cNvSpPr/>
          <p:nvPr/>
        </p:nvSpPr>
        <p:spPr>
          <a:xfrm>
            <a:off x="260000" y="3290000"/>
            <a:ext cx="6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CC0000"/>
                </a:solidFill>
                <a:latin typeface="Calibri" pitchFamily="34" charset="0"/>
              </a:rPr>
              <a:t>03</a:t>
            </a:r>
          </a:p>
        </p:txBody>
      </p:sp>
      <p:sp>
        <p:nvSpPr>
          <p:cNvPr id="43" name="T43"/>
          <p:cNvSpPr/>
          <p:nvPr/>
        </p:nvSpPr>
        <p:spPr>
          <a:xfrm>
            <a:off x="930000" y="3310000"/>
            <a:ext cx="34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FFFFFF"/>
                </a:solidFill>
                <a:latin typeface="Calibri" pitchFamily="34" charset="0"/>
              </a:rPr>
              <a:t>Mantenimiento Preventivo</a:t>
            </a:r>
          </a:p>
        </p:txBody>
      </p:sp>
      <p:sp>
        <p:nvSpPr>
          <p:cNvPr id="44" name="T44"/>
          <p:cNvSpPr/>
          <p:nvPr/>
        </p:nvSpPr>
        <p:spPr>
          <a:xfrm>
            <a:off x="930000" y="3640000"/>
            <a:ext cx="34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Programar y gestionar mantenimientos preventivos de equipos e infraestructura.</a:t>
            </a:r>
          </a:p>
        </p:txBody>
      </p:sp>
      <p:sp>
        <p:nvSpPr>
          <p:cNvPr id="50" name="R50"/>
          <p:cNvSpPr/>
          <p:nvPr/>
        </p:nvSpPr>
        <p:spPr>
          <a:xfrm>
            <a:off x="4670000" y="3210000"/>
            <a:ext cx="4300000" cy="139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R51"/>
          <p:cNvSpPr/>
          <p:nvPr/>
        </p:nvSpPr>
        <p:spPr>
          <a:xfrm>
            <a:off x="4670000" y="3210000"/>
            <a:ext cx="8000" cy="139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52"/>
          <p:cNvSpPr/>
          <p:nvPr/>
        </p:nvSpPr>
        <p:spPr>
          <a:xfrm>
            <a:off x="4730000" y="3290000"/>
            <a:ext cx="6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CC0000"/>
                </a:solidFill>
                <a:latin typeface="Calibri" pitchFamily="34" charset="0"/>
              </a:rPr>
              <a:t>04</a:t>
            </a:r>
          </a:p>
        </p:txBody>
      </p:sp>
      <p:sp>
        <p:nvSpPr>
          <p:cNvPr id="53" name="T53"/>
          <p:cNvSpPr/>
          <p:nvPr/>
        </p:nvSpPr>
        <p:spPr>
          <a:xfrm>
            <a:off x="5400000" y="3310000"/>
            <a:ext cx="34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FFFFFF"/>
                </a:solidFill>
                <a:latin typeface="Calibri" pitchFamily="34" charset="0"/>
              </a:rPr>
              <a:t>Reportes de Disponibilidad</a:t>
            </a:r>
          </a:p>
        </p:txBody>
      </p:sp>
      <p:sp>
        <p:nvSpPr>
          <p:cNvPr id="54" name="T54"/>
          <p:cNvSpPr/>
          <p:nvPr/>
        </p:nvSpPr>
        <p:spPr>
          <a:xfrm>
            <a:off x="5400000" y="3640000"/>
            <a:ext cx="34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Generar reportes automáticos de rendimiento y disponibilidad del servicio.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ect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Actores del Sistema</a:t>
            </a:r>
          </a:p>
        </p:txBody>
      </p:sp>
      <p:sp>
        <p:nvSpPr>
          <p:cNvPr id="5" name="Tex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Usuarios y roles que interactúan con la plataforma</a:t>
            </a:r>
          </a:p>
        </p:txBody>
      </p:sp>
      <p:sp>
        <p:nvSpPr>
          <p:cNvPr id="6" name="Tex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5 / 20</a:t>
            </a:r>
          </a:p>
        </p:txBody>
      </p:sp>
      <p:sp>
        <p:nvSpPr>
          <p:cNvPr id="7" name="Rect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10" name="Rect10"/>
          <p:cNvSpPr/>
          <p:nvPr/>
        </p:nvSpPr>
        <p:spPr>
          <a:xfrm>
            <a:off x="200000" y="790000"/>
            <a:ext cx="2100000" cy="40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Rect11"/>
          <p:cNvSpPr/>
          <p:nvPr/>
        </p:nvSpPr>
        <p:spPr>
          <a:xfrm>
            <a:off x="200000" y="790000"/>
            <a:ext cx="8000" cy="40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12"/>
          <p:cNvSpPr/>
          <p:nvPr/>
        </p:nvSpPr>
        <p:spPr>
          <a:xfrm>
            <a:off x="250000" y="840000"/>
            <a:ext cx="2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dirty="0">
                <a:solidFill>
                  <a:srgbClr val="FFFFFF"/>
                </a:solidFill>
                <a:latin typeface="Calibri" pitchFamily="34" charset="0"/>
              </a:rPr>
              <a:t>👨‍💼</a:t>
            </a:r>
          </a:p>
        </p:txBody>
      </p:sp>
      <p:sp>
        <p:nvSpPr>
          <p:cNvPr id="13" name="Text13"/>
          <p:cNvSpPr/>
          <p:nvPr/>
        </p:nvSpPr>
        <p:spPr>
          <a:xfrm>
            <a:off x="250000" y="1300000"/>
            <a:ext cx="2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Administrador</a:t>
            </a:r>
          </a:p>
        </p:txBody>
      </p:sp>
      <p:sp>
        <p:nvSpPr>
          <p:cNvPr id="30" name="Text30"/>
          <p:cNvSpPr/>
          <p:nvPr/>
        </p:nvSpPr>
        <p:spPr>
          <a:xfrm>
            <a:off x="250000" y="1650000"/>
            <a:ext cx="1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CCCCC"/>
                </a:solidFill>
                <a:latin typeface="Calibri" pitchFamily="34" charset="0"/>
              </a:rPr>
              <a:t>• Gestión de usuarios y roles</a:t>
            </a:r>
          </a:p>
        </p:txBody>
      </p:sp>
      <p:sp>
        <p:nvSpPr>
          <p:cNvPr id="35" name="Text35"/>
          <p:cNvSpPr/>
          <p:nvPr/>
        </p:nvSpPr>
        <p:spPr>
          <a:xfrm>
            <a:off x="250000" y="2130000"/>
            <a:ext cx="1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CCCCC"/>
                </a:solidFill>
                <a:latin typeface="Calibri" pitchFamily="34" charset="0"/>
              </a:rPr>
              <a:t>• Configuración del sistema</a:t>
            </a:r>
          </a:p>
        </p:txBody>
      </p:sp>
      <p:sp>
        <p:nvSpPr>
          <p:cNvPr id="40" name="Text40"/>
          <p:cNvSpPr/>
          <p:nvPr/>
        </p:nvSpPr>
        <p:spPr>
          <a:xfrm>
            <a:off x="250000" y="2610000"/>
            <a:ext cx="1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CCCCC"/>
                </a:solidFill>
                <a:latin typeface="Calibri" pitchFamily="34" charset="0"/>
              </a:rPr>
              <a:t>• Acceso total a módulos</a:t>
            </a:r>
          </a:p>
        </p:txBody>
      </p:sp>
      <p:sp>
        <p:nvSpPr>
          <p:cNvPr id="44" name="Text44"/>
          <p:cNvSpPr/>
          <p:nvPr/>
        </p:nvSpPr>
        <p:spPr>
          <a:xfrm>
            <a:off x="250000" y="3090000"/>
            <a:ext cx="1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CCCCC"/>
                </a:solidFill>
                <a:latin typeface="Calibri" pitchFamily="34" charset="0"/>
              </a:rPr>
              <a:t>• Generación de reportes</a:t>
            </a:r>
          </a:p>
        </p:txBody>
      </p:sp>
      <p:sp>
        <p:nvSpPr>
          <p:cNvPr id="9" name="Rect30"/>
          <p:cNvSpPr/>
          <p:nvPr/>
        </p:nvSpPr>
        <p:spPr>
          <a:xfrm>
            <a:off x="2470000" y="790000"/>
            <a:ext cx="2100000" cy="40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Rect31"/>
          <p:cNvSpPr/>
          <p:nvPr/>
        </p:nvSpPr>
        <p:spPr>
          <a:xfrm>
            <a:off x="2470000" y="790000"/>
            <a:ext cx="8000" cy="40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32"/>
          <p:cNvSpPr/>
          <p:nvPr/>
        </p:nvSpPr>
        <p:spPr>
          <a:xfrm>
            <a:off x="2520000" y="840000"/>
            <a:ext cx="2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dirty="0">
                <a:solidFill>
                  <a:srgbClr val="FFFFFF"/>
                </a:solidFill>
                <a:latin typeface="Calibri" pitchFamily="34" charset="0"/>
              </a:rPr>
              <a:t>🔧</a:t>
            </a:r>
          </a:p>
        </p:txBody>
      </p:sp>
      <p:sp>
        <p:nvSpPr>
          <p:cNvPr id="33" name="Text33"/>
          <p:cNvSpPr/>
          <p:nvPr/>
        </p:nvSpPr>
        <p:spPr>
          <a:xfrm>
            <a:off x="2520000" y="1300000"/>
            <a:ext cx="2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Técnico de Campo</a:t>
            </a:r>
          </a:p>
        </p:txBody>
      </p:sp>
      <p:sp>
        <p:nvSpPr>
          <p:cNvPr id="50" name="Text50"/>
          <p:cNvSpPr/>
          <p:nvPr/>
        </p:nvSpPr>
        <p:spPr>
          <a:xfrm>
            <a:off x="2520000" y="1650000"/>
            <a:ext cx="1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CCCCC"/>
                </a:solidFill>
                <a:latin typeface="Calibri" pitchFamily="34" charset="0"/>
              </a:rPr>
              <a:t>• Recibir asignación de incidentes</a:t>
            </a:r>
          </a:p>
        </p:txBody>
      </p:sp>
      <p:sp>
        <p:nvSpPr>
          <p:cNvPr id="55" name="Text55"/>
          <p:cNvSpPr/>
          <p:nvPr/>
        </p:nvSpPr>
        <p:spPr>
          <a:xfrm>
            <a:off x="2520000" y="2130000"/>
            <a:ext cx="1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CCCCC"/>
                </a:solidFill>
                <a:latin typeface="Calibri" pitchFamily="34" charset="0"/>
              </a:rPr>
              <a:t>• Registrar atención de incidentes</a:t>
            </a:r>
          </a:p>
        </p:txBody>
      </p:sp>
      <p:sp>
        <p:nvSpPr>
          <p:cNvPr id="60" name="Text60"/>
          <p:cNvSpPr/>
          <p:nvPr/>
        </p:nvSpPr>
        <p:spPr>
          <a:xfrm>
            <a:off x="2520000" y="2610000"/>
            <a:ext cx="1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CCCCC"/>
                </a:solidFill>
                <a:latin typeface="Calibri" pitchFamily="34" charset="0"/>
              </a:rPr>
              <a:t>• Reportar estado de equipos</a:t>
            </a:r>
          </a:p>
        </p:txBody>
      </p:sp>
      <p:sp>
        <p:nvSpPr>
          <p:cNvPr id="64" name="Text64"/>
          <p:cNvSpPr/>
          <p:nvPr/>
        </p:nvSpPr>
        <p:spPr>
          <a:xfrm>
            <a:off x="2520000" y="3090000"/>
            <a:ext cx="1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CCCCC"/>
                </a:solidFill>
                <a:latin typeface="Calibri" pitchFamily="34" charset="0"/>
              </a:rPr>
              <a:t>• Registrar mantenimientos</a:t>
            </a:r>
          </a:p>
        </p:txBody>
      </p:sp>
      <p:sp>
        <p:nvSpPr>
          <p:cNvPr id="14" name="Rect50"/>
          <p:cNvSpPr/>
          <p:nvPr/>
        </p:nvSpPr>
        <p:spPr>
          <a:xfrm>
            <a:off x="4740000" y="790000"/>
            <a:ext cx="2100000" cy="40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Rect51"/>
          <p:cNvSpPr/>
          <p:nvPr/>
        </p:nvSpPr>
        <p:spPr>
          <a:xfrm>
            <a:off x="4740000" y="790000"/>
            <a:ext cx="8000" cy="40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52"/>
          <p:cNvSpPr/>
          <p:nvPr/>
        </p:nvSpPr>
        <p:spPr>
          <a:xfrm>
            <a:off x="4790000" y="840000"/>
            <a:ext cx="2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dirty="0">
                <a:solidFill>
                  <a:srgbClr val="FFFFFF"/>
                </a:solidFill>
                <a:latin typeface="Calibri" pitchFamily="34" charset="0"/>
              </a:rPr>
              <a:t>📊</a:t>
            </a:r>
          </a:p>
        </p:txBody>
      </p:sp>
      <p:sp>
        <p:nvSpPr>
          <p:cNvPr id="53" name="Text53"/>
          <p:cNvSpPr/>
          <p:nvPr/>
        </p:nvSpPr>
        <p:spPr>
          <a:xfrm>
            <a:off x="4790000" y="1300000"/>
            <a:ext cx="2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Supervisor/Gerente</a:t>
            </a:r>
          </a:p>
        </p:txBody>
      </p:sp>
      <p:sp>
        <p:nvSpPr>
          <p:cNvPr id="70" name="Text70"/>
          <p:cNvSpPr/>
          <p:nvPr/>
        </p:nvSpPr>
        <p:spPr>
          <a:xfrm>
            <a:off x="4790000" y="1650000"/>
            <a:ext cx="1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CCCCC"/>
                </a:solidFill>
                <a:latin typeface="Calibri" pitchFamily="34" charset="0"/>
              </a:rPr>
              <a:t>• Visualizar dashboard general</a:t>
            </a:r>
          </a:p>
        </p:txBody>
      </p:sp>
      <p:sp>
        <p:nvSpPr>
          <p:cNvPr id="75" name="Text75"/>
          <p:cNvSpPr/>
          <p:nvPr/>
        </p:nvSpPr>
        <p:spPr>
          <a:xfrm>
            <a:off x="4790000" y="2130000"/>
            <a:ext cx="1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CCCCC"/>
                </a:solidFill>
                <a:latin typeface="Calibri" pitchFamily="34" charset="0"/>
              </a:rPr>
              <a:t>• Aprobar mantenimientos</a:t>
            </a:r>
          </a:p>
        </p:txBody>
      </p:sp>
      <p:sp>
        <p:nvSpPr>
          <p:cNvPr id="80" name="Text80"/>
          <p:cNvSpPr/>
          <p:nvPr/>
        </p:nvSpPr>
        <p:spPr>
          <a:xfrm>
            <a:off x="4790000" y="2610000"/>
            <a:ext cx="1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CCCCC"/>
                </a:solidFill>
                <a:latin typeface="Calibri" pitchFamily="34" charset="0"/>
              </a:rPr>
              <a:t>• Consultar reportes</a:t>
            </a:r>
          </a:p>
        </p:txBody>
      </p:sp>
      <p:sp>
        <p:nvSpPr>
          <p:cNvPr id="84" name="Text84"/>
          <p:cNvSpPr/>
          <p:nvPr/>
        </p:nvSpPr>
        <p:spPr>
          <a:xfrm>
            <a:off x="4790000" y="3090000"/>
            <a:ext cx="1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CCCCC"/>
                </a:solidFill>
                <a:latin typeface="Calibri" pitchFamily="34" charset="0"/>
              </a:rPr>
              <a:t>• Gestionar prioridades</a:t>
            </a:r>
          </a:p>
        </p:txBody>
      </p:sp>
      <p:sp>
        <p:nvSpPr>
          <p:cNvPr id="15" name="Rect70"/>
          <p:cNvSpPr/>
          <p:nvPr/>
        </p:nvSpPr>
        <p:spPr>
          <a:xfrm>
            <a:off x="7010000" y="790000"/>
            <a:ext cx="2100000" cy="40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1" name="Rect71"/>
          <p:cNvSpPr/>
          <p:nvPr/>
        </p:nvSpPr>
        <p:spPr>
          <a:xfrm>
            <a:off x="7010000" y="790000"/>
            <a:ext cx="8000" cy="40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Text72"/>
          <p:cNvSpPr/>
          <p:nvPr/>
        </p:nvSpPr>
        <p:spPr>
          <a:xfrm>
            <a:off x="7060000" y="840000"/>
            <a:ext cx="2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dirty="0">
                <a:solidFill>
                  <a:srgbClr val="FFFFFF"/>
                </a:solidFill>
                <a:latin typeface="Calibri" pitchFamily="34" charset="0"/>
              </a:rPr>
              <a:t>🖥️</a:t>
            </a:r>
          </a:p>
        </p:txBody>
      </p:sp>
      <p:sp>
        <p:nvSpPr>
          <p:cNvPr id="73" name="Text73"/>
          <p:cNvSpPr/>
          <p:nvPr/>
        </p:nvSpPr>
        <p:spPr>
          <a:xfrm>
            <a:off x="7060000" y="1300000"/>
            <a:ext cx="2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Sistema de Monitoreo</a:t>
            </a:r>
          </a:p>
        </p:txBody>
      </p:sp>
      <p:sp>
        <p:nvSpPr>
          <p:cNvPr id="90" name="Text90"/>
          <p:cNvSpPr/>
          <p:nvPr/>
        </p:nvSpPr>
        <p:spPr>
          <a:xfrm>
            <a:off x="7060000" y="1650000"/>
            <a:ext cx="1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CCCCC"/>
                </a:solidFill>
                <a:latin typeface="Calibri" pitchFamily="34" charset="0"/>
              </a:rPr>
              <a:t>• Detectar fallas automáticas</a:t>
            </a:r>
          </a:p>
        </p:txBody>
      </p:sp>
      <p:sp>
        <p:nvSpPr>
          <p:cNvPr id="95" name="Text95"/>
          <p:cNvSpPr/>
          <p:nvPr/>
        </p:nvSpPr>
        <p:spPr>
          <a:xfrm>
            <a:off x="7060000" y="2130000"/>
            <a:ext cx="1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CCCCC"/>
                </a:solidFill>
                <a:latin typeface="Calibri" pitchFamily="34" charset="0"/>
              </a:rPr>
              <a:t>• Generar alertas en tiempo real</a:t>
            </a:r>
          </a:p>
        </p:txBody>
      </p:sp>
      <p:sp>
        <p:nvSpPr>
          <p:cNvPr id="100" name="Text100"/>
          <p:cNvSpPr/>
          <p:nvPr/>
        </p:nvSpPr>
        <p:spPr>
          <a:xfrm>
            <a:off x="7060000" y="2610000"/>
            <a:ext cx="1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CCCCC"/>
                </a:solidFill>
                <a:latin typeface="Calibri" pitchFamily="34" charset="0"/>
              </a:rPr>
              <a:t>• Enviar notificaciones</a:t>
            </a:r>
          </a:p>
        </p:txBody>
      </p:sp>
      <p:sp>
        <p:nvSpPr>
          <p:cNvPr id="104" name="Text104"/>
          <p:cNvSpPr/>
          <p:nvPr/>
        </p:nvSpPr>
        <p:spPr>
          <a:xfrm>
            <a:off x="7060000" y="3090000"/>
            <a:ext cx="1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00" dirty="0">
                <a:solidFill>
                  <a:srgbClr val="CCCCCC"/>
                </a:solidFill>
                <a:latin typeface="Calibri" pitchFamily="34" charset="0"/>
              </a:rPr>
              <a:t>• Actualizar estado de equipos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ect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Requerimientos Funcionales</a:t>
            </a:r>
          </a:p>
        </p:txBody>
      </p:sp>
      <p:sp>
        <p:nvSpPr>
          <p:cNvPr id="5" name="Tex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RF — Funciones que debe realizar el sistema</a:t>
            </a:r>
          </a:p>
        </p:txBody>
      </p:sp>
      <p:sp>
        <p:nvSpPr>
          <p:cNvPr id="6" name="Tex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6 / 20</a:t>
            </a:r>
          </a:p>
        </p:txBody>
      </p:sp>
      <p:sp>
        <p:nvSpPr>
          <p:cNvPr id="7" name="Rect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10" name="Rect10"/>
          <p:cNvSpPr/>
          <p:nvPr/>
        </p:nvSpPr>
        <p:spPr>
          <a:xfrm>
            <a:off x="200000" y="790000"/>
            <a:ext cx="4300000" cy="81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Rect11"/>
          <p:cNvSpPr/>
          <p:nvPr/>
        </p:nvSpPr>
        <p:spPr>
          <a:xfrm>
            <a:off x="200000" y="790000"/>
            <a:ext cx="8000" cy="81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12"/>
          <p:cNvSpPr/>
          <p:nvPr/>
        </p:nvSpPr>
        <p:spPr>
          <a:xfrm>
            <a:off x="260000" y="840000"/>
            <a:ext cx="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RF01</a:t>
            </a:r>
          </a:p>
        </p:txBody>
      </p:sp>
      <p:sp>
        <p:nvSpPr>
          <p:cNvPr id="13" name="Text13"/>
          <p:cNvSpPr/>
          <p:nvPr/>
        </p:nvSpPr>
        <p:spPr>
          <a:xfrm>
            <a:off x="980000" y="840000"/>
            <a:ext cx="33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FFFFFF"/>
                </a:solidFill>
                <a:latin typeface="Calibri" pitchFamily="34" charset="0"/>
              </a:rPr>
              <a:t>Monitoreo</a:t>
            </a:r>
          </a:p>
        </p:txBody>
      </p:sp>
      <p:sp>
        <p:nvSpPr>
          <p:cNvPr id="14" name="Text14"/>
          <p:cNvSpPr/>
          <p:nvPr/>
        </p:nvSpPr>
        <p:spPr>
          <a:xfrm>
            <a:off x="260000" y="1120000"/>
            <a:ext cx="41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Visualizar estado en tiempo real de todos los equipos.</a:t>
            </a:r>
          </a:p>
        </p:txBody>
      </p:sp>
      <p:sp>
        <p:nvSpPr>
          <p:cNvPr id="20" name="Rect20"/>
          <p:cNvSpPr/>
          <p:nvPr/>
        </p:nvSpPr>
        <p:spPr>
          <a:xfrm>
            <a:off x="4670000" y="790000"/>
            <a:ext cx="4300000" cy="81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Rect21"/>
          <p:cNvSpPr/>
          <p:nvPr/>
        </p:nvSpPr>
        <p:spPr>
          <a:xfrm>
            <a:off x="4670000" y="790000"/>
            <a:ext cx="8000" cy="81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22"/>
          <p:cNvSpPr/>
          <p:nvPr/>
        </p:nvSpPr>
        <p:spPr>
          <a:xfrm>
            <a:off x="4730000" y="840000"/>
            <a:ext cx="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RF02</a:t>
            </a:r>
          </a:p>
        </p:txBody>
      </p:sp>
      <p:sp>
        <p:nvSpPr>
          <p:cNvPr id="23" name="Text23"/>
          <p:cNvSpPr/>
          <p:nvPr/>
        </p:nvSpPr>
        <p:spPr>
          <a:xfrm>
            <a:off x="5450000" y="840000"/>
            <a:ext cx="33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FFFFFF"/>
                </a:solidFill>
                <a:latin typeface="Calibri" pitchFamily="34" charset="0"/>
              </a:rPr>
              <a:t>Incidentes</a:t>
            </a:r>
          </a:p>
        </p:txBody>
      </p:sp>
      <p:sp>
        <p:nvSpPr>
          <p:cNvPr id="24" name="Text24"/>
          <p:cNvSpPr/>
          <p:nvPr/>
        </p:nvSpPr>
        <p:spPr>
          <a:xfrm>
            <a:off x="4730000" y="1120000"/>
            <a:ext cx="41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Registrar, asignar y hacer seguimiento de incidentes técnicos.</a:t>
            </a:r>
          </a:p>
        </p:txBody>
      </p:sp>
      <p:sp>
        <p:nvSpPr>
          <p:cNvPr id="30" name="Rect30"/>
          <p:cNvSpPr/>
          <p:nvPr/>
        </p:nvSpPr>
        <p:spPr>
          <a:xfrm>
            <a:off x="200000" y="1740000"/>
            <a:ext cx="4300000" cy="81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Rect31"/>
          <p:cNvSpPr/>
          <p:nvPr/>
        </p:nvSpPr>
        <p:spPr>
          <a:xfrm>
            <a:off x="200000" y="1740000"/>
            <a:ext cx="8000" cy="81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32"/>
          <p:cNvSpPr/>
          <p:nvPr/>
        </p:nvSpPr>
        <p:spPr>
          <a:xfrm>
            <a:off x="260000" y="1790000"/>
            <a:ext cx="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RF03</a:t>
            </a:r>
          </a:p>
        </p:txBody>
      </p:sp>
      <p:sp>
        <p:nvSpPr>
          <p:cNvPr id="33" name="Text33"/>
          <p:cNvSpPr/>
          <p:nvPr/>
        </p:nvSpPr>
        <p:spPr>
          <a:xfrm>
            <a:off x="980000" y="1790000"/>
            <a:ext cx="33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FFFFFF"/>
                </a:solidFill>
                <a:latin typeface="Calibri" pitchFamily="34" charset="0"/>
              </a:rPr>
              <a:t>Alertas</a:t>
            </a:r>
          </a:p>
        </p:txBody>
      </p:sp>
      <p:sp>
        <p:nvSpPr>
          <p:cNvPr id="34" name="Text34"/>
          <p:cNvSpPr/>
          <p:nvPr/>
        </p:nvSpPr>
        <p:spPr>
          <a:xfrm>
            <a:off x="260000" y="2070000"/>
            <a:ext cx="41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Enviar alertas automáticas al detectar una falla en la red.</a:t>
            </a:r>
          </a:p>
        </p:txBody>
      </p:sp>
      <p:sp>
        <p:nvSpPr>
          <p:cNvPr id="40" name="Rect40"/>
          <p:cNvSpPr/>
          <p:nvPr/>
        </p:nvSpPr>
        <p:spPr>
          <a:xfrm>
            <a:off x="4670000" y="1740000"/>
            <a:ext cx="4300000" cy="81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Rect41"/>
          <p:cNvSpPr/>
          <p:nvPr/>
        </p:nvSpPr>
        <p:spPr>
          <a:xfrm>
            <a:off x="4670000" y="1740000"/>
            <a:ext cx="8000" cy="81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42"/>
          <p:cNvSpPr/>
          <p:nvPr/>
        </p:nvSpPr>
        <p:spPr>
          <a:xfrm>
            <a:off x="4730000" y="1790000"/>
            <a:ext cx="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RF04</a:t>
            </a:r>
          </a:p>
        </p:txBody>
      </p:sp>
      <p:sp>
        <p:nvSpPr>
          <p:cNvPr id="43" name="Text43"/>
          <p:cNvSpPr/>
          <p:nvPr/>
        </p:nvSpPr>
        <p:spPr>
          <a:xfrm>
            <a:off x="5450000" y="1790000"/>
            <a:ext cx="33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FFFFFF"/>
                </a:solidFill>
                <a:latin typeface="Calibri" pitchFamily="34" charset="0"/>
              </a:rPr>
              <a:t>Mantenimiento</a:t>
            </a:r>
          </a:p>
        </p:txBody>
      </p:sp>
      <p:sp>
        <p:nvSpPr>
          <p:cNvPr id="44" name="Text44"/>
          <p:cNvSpPr/>
          <p:nvPr/>
        </p:nvSpPr>
        <p:spPr>
          <a:xfrm>
            <a:off x="4730000" y="2070000"/>
            <a:ext cx="41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Programar y gestionar mantenimientos preventivos de equipos.</a:t>
            </a:r>
          </a:p>
        </p:txBody>
      </p:sp>
      <p:sp>
        <p:nvSpPr>
          <p:cNvPr id="50" name="Rect50"/>
          <p:cNvSpPr/>
          <p:nvPr/>
        </p:nvSpPr>
        <p:spPr>
          <a:xfrm>
            <a:off x="200000" y="2690000"/>
            <a:ext cx="4300000" cy="81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Rect51"/>
          <p:cNvSpPr/>
          <p:nvPr/>
        </p:nvSpPr>
        <p:spPr>
          <a:xfrm>
            <a:off x="200000" y="2690000"/>
            <a:ext cx="8000" cy="81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52"/>
          <p:cNvSpPr/>
          <p:nvPr/>
        </p:nvSpPr>
        <p:spPr>
          <a:xfrm>
            <a:off x="260000" y="2740000"/>
            <a:ext cx="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RF05</a:t>
            </a:r>
          </a:p>
        </p:txBody>
      </p:sp>
      <p:sp>
        <p:nvSpPr>
          <p:cNvPr id="53" name="Text53"/>
          <p:cNvSpPr/>
          <p:nvPr/>
        </p:nvSpPr>
        <p:spPr>
          <a:xfrm>
            <a:off x="980000" y="2740000"/>
            <a:ext cx="33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FFFFFF"/>
                </a:solidFill>
                <a:latin typeface="Calibri" pitchFamily="34" charset="0"/>
              </a:rPr>
              <a:t>Historial</a:t>
            </a:r>
          </a:p>
        </p:txBody>
      </p:sp>
      <p:sp>
        <p:nvSpPr>
          <p:cNvPr id="54" name="Text54"/>
          <p:cNvSpPr/>
          <p:nvPr/>
        </p:nvSpPr>
        <p:spPr>
          <a:xfrm>
            <a:off x="260000" y="3020000"/>
            <a:ext cx="41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Registrar historial de mantenimientos realizados por equipo.</a:t>
            </a:r>
          </a:p>
        </p:txBody>
      </p:sp>
      <p:sp>
        <p:nvSpPr>
          <p:cNvPr id="60" name="Rect60"/>
          <p:cNvSpPr/>
          <p:nvPr/>
        </p:nvSpPr>
        <p:spPr>
          <a:xfrm>
            <a:off x="4670000" y="2690000"/>
            <a:ext cx="4300000" cy="81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Rect61"/>
          <p:cNvSpPr/>
          <p:nvPr/>
        </p:nvSpPr>
        <p:spPr>
          <a:xfrm>
            <a:off x="4670000" y="2690000"/>
            <a:ext cx="8000" cy="81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2" name="Text62"/>
          <p:cNvSpPr/>
          <p:nvPr/>
        </p:nvSpPr>
        <p:spPr>
          <a:xfrm>
            <a:off x="4730000" y="2740000"/>
            <a:ext cx="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RF06</a:t>
            </a:r>
          </a:p>
        </p:txBody>
      </p:sp>
      <p:sp>
        <p:nvSpPr>
          <p:cNvPr id="63" name="Text63"/>
          <p:cNvSpPr/>
          <p:nvPr/>
        </p:nvSpPr>
        <p:spPr>
          <a:xfrm>
            <a:off x="5450000" y="2740000"/>
            <a:ext cx="33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FFFFFF"/>
                </a:solidFill>
                <a:latin typeface="Calibri" pitchFamily="34" charset="0"/>
              </a:rPr>
              <a:t>Reportes</a:t>
            </a:r>
          </a:p>
        </p:txBody>
      </p:sp>
      <p:sp>
        <p:nvSpPr>
          <p:cNvPr id="64" name="Text64"/>
          <p:cNvSpPr/>
          <p:nvPr/>
        </p:nvSpPr>
        <p:spPr>
          <a:xfrm>
            <a:off x="4730000" y="3020000"/>
            <a:ext cx="41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Generar reportes de disponibilidad del servicio por período.</a:t>
            </a:r>
          </a:p>
        </p:txBody>
      </p:sp>
      <p:sp>
        <p:nvSpPr>
          <p:cNvPr id="70" name="Rect70"/>
          <p:cNvSpPr/>
          <p:nvPr/>
        </p:nvSpPr>
        <p:spPr>
          <a:xfrm>
            <a:off x="200000" y="3640000"/>
            <a:ext cx="4300000" cy="81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1" name="Rect71"/>
          <p:cNvSpPr/>
          <p:nvPr/>
        </p:nvSpPr>
        <p:spPr>
          <a:xfrm>
            <a:off x="200000" y="3640000"/>
            <a:ext cx="8000" cy="81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2" name="Text72"/>
          <p:cNvSpPr/>
          <p:nvPr/>
        </p:nvSpPr>
        <p:spPr>
          <a:xfrm>
            <a:off x="260000" y="3690000"/>
            <a:ext cx="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RF07</a:t>
            </a:r>
          </a:p>
        </p:txBody>
      </p:sp>
      <p:sp>
        <p:nvSpPr>
          <p:cNvPr id="73" name="Text73"/>
          <p:cNvSpPr/>
          <p:nvPr/>
        </p:nvSpPr>
        <p:spPr>
          <a:xfrm>
            <a:off x="980000" y="3690000"/>
            <a:ext cx="33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FFFFFF"/>
                </a:solidFill>
                <a:latin typeface="Calibri" pitchFamily="34" charset="0"/>
              </a:rPr>
              <a:t>Exportar</a:t>
            </a:r>
          </a:p>
        </p:txBody>
      </p:sp>
      <p:sp>
        <p:nvSpPr>
          <p:cNvPr id="74" name="Text74"/>
          <p:cNvSpPr/>
          <p:nvPr/>
        </p:nvSpPr>
        <p:spPr>
          <a:xfrm>
            <a:off x="260000" y="3970000"/>
            <a:ext cx="41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Exportar reportes en formatos PDF y Excel.</a:t>
            </a:r>
          </a:p>
        </p:txBody>
      </p:sp>
      <p:sp>
        <p:nvSpPr>
          <p:cNvPr id="80" name="Rect80"/>
          <p:cNvSpPr/>
          <p:nvPr/>
        </p:nvSpPr>
        <p:spPr>
          <a:xfrm>
            <a:off x="4670000" y="3640000"/>
            <a:ext cx="4300000" cy="81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1" name="Rect81"/>
          <p:cNvSpPr/>
          <p:nvPr/>
        </p:nvSpPr>
        <p:spPr>
          <a:xfrm>
            <a:off x="4670000" y="3640000"/>
            <a:ext cx="8000" cy="81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2" name="Text82"/>
          <p:cNvSpPr/>
          <p:nvPr/>
        </p:nvSpPr>
        <p:spPr>
          <a:xfrm>
            <a:off x="4730000" y="3690000"/>
            <a:ext cx="7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RF08</a:t>
            </a:r>
          </a:p>
        </p:txBody>
      </p:sp>
      <p:sp>
        <p:nvSpPr>
          <p:cNvPr id="83" name="Text83"/>
          <p:cNvSpPr/>
          <p:nvPr/>
        </p:nvSpPr>
        <p:spPr>
          <a:xfrm>
            <a:off x="5450000" y="3690000"/>
            <a:ext cx="33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FFFFFF"/>
                </a:solidFill>
                <a:latin typeface="Calibri" pitchFamily="34" charset="0"/>
              </a:rPr>
              <a:t>Usuarios</a:t>
            </a:r>
          </a:p>
        </p:txBody>
      </p:sp>
      <p:sp>
        <p:nvSpPr>
          <p:cNvPr id="84" name="Text84"/>
          <p:cNvSpPr/>
          <p:nvPr/>
        </p:nvSpPr>
        <p:spPr>
          <a:xfrm>
            <a:off x="4730000" y="3970000"/>
            <a:ext cx="410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Gestionar usuarios, roles y permisos de acceso al sistema.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ect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Requerimientos No Funcionales</a:t>
            </a:r>
          </a:p>
        </p:txBody>
      </p:sp>
      <p:sp>
        <p:nvSpPr>
          <p:cNvPr id="5" name="Tex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RNF — Atributos de calidad del sistema</a:t>
            </a:r>
          </a:p>
        </p:txBody>
      </p:sp>
      <p:sp>
        <p:nvSpPr>
          <p:cNvPr id="6" name="Tex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7 / 20</a:t>
            </a:r>
          </a:p>
        </p:txBody>
      </p:sp>
      <p:sp>
        <p:nvSpPr>
          <p:cNvPr id="7" name="Rect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10" name="Rect10"/>
          <p:cNvSpPr/>
          <p:nvPr/>
        </p:nvSpPr>
        <p:spPr>
          <a:xfrm>
            <a:off x="200000" y="790000"/>
            <a:ext cx="4300000" cy="116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Rect11"/>
          <p:cNvSpPr/>
          <p:nvPr/>
        </p:nvSpPr>
        <p:spPr>
          <a:xfrm>
            <a:off x="200000" y="790000"/>
            <a:ext cx="8000" cy="11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12"/>
          <p:cNvSpPr/>
          <p:nvPr/>
        </p:nvSpPr>
        <p:spPr>
          <a:xfrm>
            <a:off x="260000" y="850000"/>
            <a:ext cx="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dirty="0">
                <a:solidFill>
                  <a:srgbClr val="FFFFFF"/>
                </a:solidFill>
                <a:latin typeface="Calibri" pitchFamily="34" charset="0"/>
              </a:rPr>
              <a:t>⚡</a:t>
            </a:r>
          </a:p>
        </p:txBody>
      </p:sp>
      <p:sp>
        <p:nvSpPr>
          <p:cNvPr id="13" name="Text13"/>
          <p:cNvSpPr/>
          <p:nvPr/>
        </p:nvSpPr>
        <p:spPr>
          <a:xfrm>
            <a:off x="880000" y="870000"/>
            <a:ext cx="3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RNF01 · Rendimiento</a:t>
            </a:r>
          </a:p>
        </p:txBody>
      </p:sp>
      <p:sp>
        <p:nvSpPr>
          <p:cNvPr id="14" name="Text14"/>
          <p:cNvSpPr/>
          <p:nvPr/>
        </p:nvSpPr>
        <p:spPr>
          <a:xfrm>
            <a:off x="260000" y="1240000"/>
            <a:ext cx="41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El sistema debe responder en menos de 2 segundos ante cualquier consulta o acción del usuario.</a:t>
            </a:r>
          </a:p>
        </p:txBody>
      </p:sp>
      <p:sp>
        <p:nvSpPr>
          <p:cNvPr id="20" name="Rect20"/>
          <p:cNvSpPr/>
          <p:nvPr/>
        </p:nvSpPr>
        <p:spPr>
          <a:xfrm>
            <a:off x="4670000" y="790000"/>
            <a:ext cx="4300000" cy="116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Rect21"/>
          <p:cNvSpPr/>
          <p:nvPr/>
        </p:nvSpPr>
        <p:spPr>
          <a:xfrm>
            <a:off x="4670000" y="790000"/>
            <a:ext cx="8000" cy="11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22"/>
          <p:cNvSpPr/>
          <p:nvPr/>
        </p:nvSpPr>
        <p:spPr>
          <a:xfrm>
            <a:off x="4730000" y="850000"/>
            <a:ext cx="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dirty="0">
                <a:solidFill>
                  <a:srgbClr val="FFFFFF"/>
                </a:solidFill>
                <a:latin typeface="Calibri" pitchFamily="34" charset="0"/>
              </a:rPr>
              <a:t>🔒</a:t>
            </a:r>
          </a:p>
        </p:txBody>
      </p:sp>
      <p:sp>
        <p:nvSpPr>
          <p:cNvPr id="23" name="Text23"/>
          <p:cNvSpPr/>
          <p:nvPr/>
        </p:nvSpPr>
        <p:spPr>
          <a:xfrm>
            <a:off x="5350000" y="870000"/>
            <a:ext cx="3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RNF02 · Seguridad</a:t>
            </a:r>
          </a:p>
        </p:txBody>
      </p:sp>
      <p:sp>
        <p:nvSpPr>
          <p:cNvPr id="24" name="Text24"/>
          <p:cNvSpPr/>
          <p:nvPr/>
        </p:nvSpPr>
        <p:spPr>
          <a:xfrm>
            <a:off x="4730000" y="1240000"/>
            <a:ext cx="41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Autenticación mediante usuario/contraseña con cifrado SSL/TLS. Control de acceso por roles.</a:t>
            </a:r>
          </a:p>
        </p:txBody>
      </p:sp>
      <p:sp>
        <p:nvSpPr>
          <p:cNvPr id="30" name="Rect30"/>
          <p:cNvSpPr/>
          <p:nvPr/>
        </p:nvSpPr>
        <p:spPr>
          <a:xfrm>
            <a:off x="200000" y="2090000"/>
            <a:ext cx="4300000" cy="116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Rect31"/>
          <p:cNvSpPr/>
          <p:nvPr/>
        </p:nvSpPr>
        <p:spPr>
          <a:xfrm>
            <a:off x="200000" y="2090000"/>
            <a:ext cx="8000" cy="11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32"/>
          <p:cNvSpPr/>
          <p:nvPr/>
        </p:nvSpPr>
        <p:spPr>
          <a:xfrm>
            <a:off x="260000" y="2150000"/>
            <a:ext cx="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dirty="0">
                <a:solidFill>
                  <a:srgbClr val="FFFFFF"/>
                </a:solidFill>
                <a:latin typeface="Calibri" pitchFamily="34" charset="0"/>
              </a:rPr>
              <a:t>📈</a:t>
            </a:r>
          </a:p>
        </p:txBody>
      </p:sp>
      <p:sp>
        <p:nvSpPr>
          <p:cNvPr id="33" name="Text33"/>
          <p:cNvSpPr/>
          <p:nvPr/>
        </p:nvSpPr>
        <p:spPr>
          <a:xfrm>
            <a:off x="880000" y="2170000"/>
            <a:ext cx="3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RNF03 · Escalabilidad</a:t>
            </a:r>
          </a:p>
        </p:txBody>
      </p:sp>
      <p:sp>
        <p:nvSpPr>
          <p:cNvPr id="34" name="Text34"/>
          <p:cNvSpPr/>
          <p:nvPr/>
        </p:nvSpPr>
        <p:spPr>
          <a:xfrm>
            <a:off x="260000" y="2540000"/>
            <a:ext cx="41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La plataforma debe soportar el crecimiento en número de equipos monitoreados sin degradar el rendimiento.</a:t>
            </a:r>
          </a:p>
        </p:txBody>
      </p:sp>
      <p:sp>
        <p:nvSpPr>
          <p:cNvPr id="40" name="Rect40"/>
          <p:cNvSpPr/>
          <p:nvPr/>
        </p:nvSpPr>
        <p:spPr>
          <a:xfrm>
            <a:off x="4670000" y="2090000"/>
            <a:ext cx="4300000" cy="116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Rect41"/>
          <p:cNvSpPr/>
          <p:nvPr/>
        </p:nvSpPr>
        <p:spPr>
          <a:xfrm>
            <a:off x="4670000" y="2090000"/>
            <a:ext cx="8000" cy="11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42"/>
          <p:cNvSpPr/>
          <p:nvPr/>
        </p:nvSpPr>
        <p:spPr>
          <a:xfrm>
            <a:off x="4730000" y="2150000"/>
            <a:ext cx="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dirty="0">
                <a:solidFill>
                  <a:srgbClr val="FFFFFF"/>
                </a:solidFill>
                <a:latin typeface="Calibri" pitchFamily="34" charset="0"/>
              </a:rPr>
              <a:t>✅</a:t>
            </a:r>
          </a:p>
        </p:txBody>
      </p:sp>
      <p:sp>
        <p:nvSpPr>
          <p:cNvPr id="43" name="Text43"/>
          <p:cNvSpPr/>
          <p:nvPr/>
        </p:nvSpPr>
        <p:spPr>
          <a:xfrm>
            <a:off x="5350000" y="2170000"/>
            <a:ext cx="3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RNF04 · Disponibilidad</a:t>
            </a:r>
          </a:p>
        </p:txBody>
      </p:sp>
      <p:sp>
        <p:nvSpPr>
          <p:cNvPr id="44" name="Text44"/>
          <p:cNvSpPr/>
          <p:nvPr/>
        </p:nvSpPr>
        <p:spPr>
          <a:xfrm>
            <a:off x="4730000" y="2540000"/>
            <a:ext cx="41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El sistema debe tener una disponibilidad mínima del 99.5% mensual (menos de 3.6 horas de inactividad).</a:t>
            </a:r>
          </a:p>
        </p:txBody>
      </p:sp>
      <p:sp>
        <p:nvSpPr>
          <p:cNvPr id="50" name="Rect50"/>
          <p:cNvSpPr/>
          <p:nvPr/>
        </p:nvSpPr>
        <p:spPr>
          <a:xfrm>
            <a:off x="200000" y="3390000"/>
            <a:ext cx="4300000" cy="116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Rect51"/>
          <p:cNvSpPr/>
          <p:nvPr/>
        </p:nvSpPr>
        <p:spPr>
          <a:xfrm>
            <a:off x="200000" y="3390000"/>
            <a:ext cx="8000" cy="11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52"/>
          <p:cNvSpPr/>
          <p:nvPr/>
        </p:nvSpPr>
        <p:spPr>
          <a:xfrm>
            <a:off x="260000" y="3450000"/>
            <a:ext cx="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dirty="0">
                <a:solidFill>
                  <a:srgbClr val="FFFFFF"/>
                </a:solidFill>
                <a:latin typeface="Calibri" pitchFamily="34" charset="0"/>
              </a:rPr>
              <a:t>🖱️</a:t>
            </a:r>
          </a:p>
        </p:txBody>
      </p:sp>
      <p:sp>
        <p:nvSpPr>
          <p:cNvPr id="53" name="Text53"/>
          <p:cNvSpPr/>
          <p:nvPr/>
        </p:nvSpPr>
        <p:spPr>
          <a:xfrm>
            <a:off x="880000" y="3470000"/>
            <a:ext cx="3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RNF05 · Usabilidad</a:t>
            </a:r>
          </a:p>
        </p:txBody>
      </p:sp>
      <p:sp>
        <p:nvSpPr>
          <p:cNvPr id="54" name="Text54"/>
          <p:cNvSpPr/>
          <p:nvPr/>
        </p:nvSpPr>
        <p:spPr>
          <a:xfrm>
            <a:off x="260000" y="3840000"/>
            <a:ext cx="41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Interfaz web intuitiva y responsiva, accesible desde navegadores modernos sin instalación adicional.</a:t>
            </a:r>
          </a:p>
        </p:txBody>
      </p:sp>
      <p:sp>
        <p:nvSpPr>
          <p:cNvPr id="60" name="Rect60"/>
          <p:cNvSpPr/>
          <p:nvPr/>
        </p:nvSpPr>
        <p:spPr>
          <a:xfrm>
            <a:off x="4670000" y="3390000"/>
            <a:ext cx="4300000" cy="116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Rect61"/>
          <p:cNvSpPr/>
          <p:nvPr/>
        </p:nvSpPr>
        <p:spPr>
          <a:xfrm>
            <a:off x="4670000" y="3390000"/>
            <a:ext cx="8000" cy="11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2" name="Text62"/>
          <p:cNvSpPr/>
          <p:nvPr/>
        </p:nvSpPr>
        <p:spPr>
          <a:xfrm>
            <a:off x="4730000" y="3450000"/>
            <a:ext cx="6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800" dirty="0">
                <a:solidFill>
                  <a:srgbClr val="FFFFFF"/>
                </a:solidFill>
                <a:latin typeface="Calibri" pitchFamily="34" charset="0"/>
              </a:rPr>
              <a:t>🗄️</a:t>
            </a:r>
          </a:p>
        </p:txBody>
      </p:sp>
      <p:sp>
        <p:nvSpPr>
          <p:cNvPr id="63" name="Text63"/>
          <p:cNvSpPr/>
          <p:nvPr/>
        </p:nvSpPr>
        <p:spPr>
          <a:xfrm>
            <a:off x="5350000" y="3470000"/>
            <a:ext cx="35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RNF06 · Mantenibilidad</a:t>
            </a:r>
          </a:p>
        </p:txBody>
      </p:sp>
      <p:sp>
        <p:nvSpPr>
          <p:cNvPr id="64" name="Text64"/>
          <p:cNvSpPr/>
          <p:nvPr/>
        </p:nvSpPr>
        <p:spPr>
          <a:xfrm>
            <a:off x="4730000" y="3840000"/>
            <a:ext cx="41000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Código modular, documentado y bajo estándares que faciliten futuras modificaciones o ampliaciones.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ect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Diagrama de Casos de Uso</a:t>
            </a:r>
          </a:p>
        </p:txBody>
      </p:sp>
      <p:sp>
        <p:nvSpPr>
          <p:cNvPr id="5" name="Tex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UML — Interacciones entre actores y el sistema</a:t>
            </a:r>
          </a:p>
        </p:txBody>
      </p:sp>
      <p:sp>
        <p:nvSpPr>
          <p:cNvPr id="6" name="Tex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8 / 20</a:t>
            </a:r>
          </a:p>
        </p:txBody>
      </p:sp>
      <p:sp>
        <p:nvSpPr>
          <p:cNvPr id="7" name="Rect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20" name="Rect20"/>
          <p:cNvSpPr/>
          <p:nvPr/>
        </p:nvSpPr>
        <p:spPr>
          <a:xfrm>
            <a:off x="200000" y="780000"/>
            <a:ext cx="8744000" cy="40600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Rect21"/>
          <p:cNvSpPr/>
          <p:nvPr/>
        </p:nvSpPr>
        <p:spPr>
          <a:xfrm>
            <a:off x="200000" y="780000"/>
            <a:ext cx="6000" cy="40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2" name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00" y="810000"/>
            <a:ext cx="8620000" cy="3990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ect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Diagrama de Clases</a:t>
            </a:r>
          </a:p>
        </p:txBody>
      </p:sp>
      <p:sp>
        <p:nvSpPr>
          <p:cNvPr id="5" name="Tex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UML — Estructura estática del sistema</a:t>
            </a:r>
          </a:p>
        </p:txBody>
      </p:sp>
      <p:sp>
        <p:nvSpPr>
          <p:cNvPr id="6" name="Tex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9 / 20</a:t>
            </a:r>
          </a:p>
        </p:txBody>
      </p:sp>
      <p:sp>
        <p:nvSpPr>
          <p:cNvPr id="7" name="Rect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20" name="Rect20"/>
          <p:cNvSpPr/>
          <p:nvPr/>
        </p:nvSpPr>
        <p:spPr>
          <a:xfrm>
            <a:off x="200000" y="780000"/>
            <a:ext cx="8744000" cy="40600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Rect21"/>
          <p:cNvSpPr/>
          <p:nvPr/>
        </p:nvSpPr>
        <p:spPr>
          <a:xfrm>
            <a:off x="200000" y="780000"/>
            <a:ext cx="6000" cy="40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2" name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00" y="810000"/>
            <a:ext cx="8620000" cy="3990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ect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Diagrama de Secuencia</a:t>
            </a:r>
          </a:p>
        </p:txBody>
      </p:sp>
      <p:sp>
        <p:nvSpPr>
          <p:cNvPr id="5" name="Tex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UML — Flujo temporal de mensajes entre objetos</a:t>
            </a:r>
          </a:p>
        </p:txBody>
      </p:sp>
      <p:sp>
        <p:nvSpPr>
          <p:cNvPr id="6" name="Tex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10 / 20</a:t>
            </a:r>
          </a:p>
        </p:txBody>
      </p:sp>
      <p:sp>
        <p:nvSpPr>
          <p:cNvPr id="7" name="Rect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20" name="Rect20"/>
          <p:cNvSpPr/>
          <p:nvPr/>
        </p:nvSpPr>
        <p:spPr>
          <a:xfrm>
            <a:off x="200000" y="780000"/>
            <a:ext cx="8744000" cy="40600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Rect21"/>
          <p:cNvSpPr/>
          <p:nvPr/>
        </p:nvSpPr>
        <p:spPr>
          <a:xfrm>
            <a:off x="200000" y="780000"/>
            <a:ext cx="6000" cy="40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43458FAA-1FC9-C76D-6330-788129F545E8}"/>
              </a:ext>
            </a:extLst>
          </p:cNvPr>
          <p:cNvSpPr/>
          <p:nvPr/>
        </p:nvSpPr>
        <p:spPr>
          <a:xfrm>
            <a:off x="256000" y="765000"/>
            <a:ext cx="8744000" cy="40985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pic>
        <p:nvPicPr>
          <p:cNvPr id="22" name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000" y="810000"/>
            <a:ext cx="8620000" cy="3990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ect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Diagrama BPMN</a:t>
            </a:r>
          </a:p>
        </p:txBody>
      </p:sp>
      <p:sp>
        <p:nvSpPr>
          <p:cNvPr id="5" name="Tex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Modelado del proceso de negocio — Gestión de Incidentes</a:t>
            </a:r>
          </a:p>
        </p:txBody>
      </p:sp>
      <p:sp>
        <p:nvSpPr>
          <p:cNvPr id="6" name="Tex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11 / 20</a:t>
            </a:r>
          </a:p>
        </p:txBody>
      </p:sp>
      <p:sp>
        <p:nvSpPr>
          <p:cNvPr id="7" name="Rect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20" name="Rect20"/>
          <p:cNvSpPr/>
          <p:nvPr/>
        </p:nvSpPr>
        <p:spPr>
          <a:xfrm>
            <a:off x="200000" y="780000"/>
            <a:ext cx="8744000" cy="40600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Rect21"/>
          <p:cNvSpPr/>
          <p:nvPr/>
        </p:nvSpPr>
        <p:spPr>
          <a:xfrm>
            <a:off x="200000" y="780000"/>
            <a:ext cx="6000" cy="40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2" name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00" y="810000"/>
            <a:ext cx="8620000" cy="3990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ect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Diagrama de Actividades</a:t>
            </a:r>
          </a:p>
        </p:txBody>
      </p:sp>
      <p:sp>
        <p:nvSpPr>
          <p:cNvPr id="5" name="Tex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UML — Flujo de actividades del proceso principal</a:t>
            </a:r>
          </a:p>
        </p:txBody>
      </p:sp>
      <p:sp>
        <p:nvSpPr>
          <p:cNvPr id="6" name="Tex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12 / 20</a:t>
            </a:r>
          </a:p>
        </p:txBody>
      </p:sp>
      <p:sp>
        <p:nvSpPr>
          <p:cNvPr id="7" name="Rect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20" name="Rect20"/>
          <p:cNvSpPr/>
          <p:nvPr/>
        </p:nvSpPr>
        <p:spPr>
          <a:xfrm>
            <a:off x="200000" y="780000"/>
            <a:ext cx="8744000" cy="40600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Rect21"/>
          <p:cNvSpPr/>
          <p:nvPr/>
        </p:nvSpPr>
        <p:spPr>
          <a:xfrm>
            <a:off x="200000" y="780000"/>
            <a:ext cx="6000" cy="40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2" name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743" y="907500"/>
            <a:ext cx="3240119" cy="3885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ect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Diagrama de Componentes</a:t>
            </a:r>
          </a:p>
        </p:txBody>
      </p:sp>
      <p:sp>
        <p:nvSpPr>
          <p:cNvPr id="5" name="Tex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Arquitectura — Organización de componentes del sistema</a:t>
            </a:r>
          </a:p>
        </p:txBody>
      </p:sp>
      <p:sp>
        <p:nvSpPr>
          <p:cNvPr id="6" name="Tex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13 / 20</a:t>
            </a:r>
          </a:p>
        </p:txBody>
      </p:sp>
      <p:sp>
        <p:nvSpPr>
          <p:cNvPr id="7" name="Rect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20" name="Rect20"/>
          <p:cNvSpPr/>
          <p:nvPr/>
        </p:nvSpPr>
        <p:spPr>
          <a:xfrm>
            <a:off x="200000" y="780000"/>
            <a:ext cx="8744000" cy="40600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Rect21"/>
          <p:cNvSpPr/>
          <p:nvPr/>
        </p:nvSpPr>
        <p:spPr>
          <a:xfrm>
            <a:off x="200000" y="780000"/>
            <a:ext cx="6000" cy="40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2" name="Diagra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000" y="810000"/>
            <a:ext cx="8620000" cy="399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ect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Diagrama de Despliegue</a:t>
            </a:r>
          </a:p>
        </p:txBody>
      </p:sp>
      <p:sp>
        <p:nvSpPr>
          <p:cNvPr id="5" name="Tex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Arquitectura — Infraestructura y tecnologías de despliegue</a:t>
            </a:r>
          </a:p>
        </p:txBody>
      </p:sp>
      <p:sp>
        <p:nvSpPr>
          <p:cNvPr id="6" name="Tex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14 / 20</a:t>
            </a:r>
          </a:p>
        </p:txBody>
      </p:sp>
      <p:sp>
        <p:nvSpPr>
          <p:cNvPr id="7" name="Rect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20" name="Rect20"/>
          <p:cNvSpPr/>
          <p:nvPr/>
        </p:nvSpPr>
        <p:spPr>
          <a:xfrm>
            <a:off x="200000" y="780000"/>
            <a:ext cx="8744000" cy="40600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Rect21"/>
          <p:cNvSpPr/>
          <p:nvPr/>
        </p:nvSpPr>
        <p:spPr>
          <a:xfrm>
            <a:off x="200000" y="780000"/>
            <a:ext cx="6000" cy="406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2" name="Diagr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00" y="810000"/>
            <a:ext cx="8620000" cy="399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ect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Arquitectura del Sistema</a:t>
            </a:r>
          </a:p>
        </p:txBody>
      </p:sp>
      <p:sp>
        <p:nvSpPr>
          <p:cNvPr id="5" name="Tex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Stack tecnológico e interacción entre módulos</a:t>
            </a:r>
          </a:p>
        </p:txBody>
      </p:sp>
      <p:sp>
        <p:nvSpPr>
          <p:cNvPr id="6" name="Tex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15 / 20</a:t>
            </a:r>
          </a:p>
        </p:txBody>
      </p:sp>
      <p:sp>
        <p:nvSpPr>
          <p:cNvPr id="7" name="Rect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10" name="Rect10"/>
          <p:cNvSpPr/>
          <p:nvPr/>
        </p:nvSpPr>
        <p:spPr>
          <a:xfrm>
            <a:off x="200000" y="790000"/>
            <a:ext cx="8744000" cy="3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Rect11"/>
          <p:cNvSpPr/>
          <p:nvPr/>
        </p:nvSpPr>
        <p:spPr>
          <a:xfrm>
            <a:off x="200000" y="790000"/>
            <a:ext cx="8000" cy="3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12"/>
          <p:cNvSpPr/>
          <p:nvPr/>
        </p:nvSpPr>
        <p:spPr>
          <a:xfrm>
            <a:off x="320000" y="830000"/>
            <a:ext cx="4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CC0000"/>
                </a:solidFill>
                <a:latin typeface="Calibri" pitchFamily="34" charset="0"/>
              </a:rPr>
              <a:t>Stack Tecnológico</a:t>
            </a:r>
          </a:p>
        </p:txBody>
      </p:sp>
      <p:sp>
        <p:nvSpPr>
          <p:cNvPr id="20" name="Rect20"/>
          <p:cNvSpPr/>
          <p:nvPr/>
        </p:nvSpPr>
        <p:spPr>
          <a:xfrm>
            <a:off x="200000" y="1280000"/>
            <a:ext cx="2800000" cy="100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Rect21"/>
          <p:cNvSpPr/>
          <p:nvPr/>
        </p:nvSpPr>
        <p:spPr>
          <a:xfrm>
            <a:off x="200000" y="1280000"/>
            <a:ext cx="8000" cy="10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ext22"/>
          <p:cNvSpPr/>
          <p:nvPr/>
        </p:nvSpPr>
        <p:spPr>
          <a:xfrm>
            <a:off x="260000" y="136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Frontend</a:t>
            </a:r>
          </a:p>
        </p:txBody>
      </p:sp>
      <p:sp>
        <p:nvSpPr>
          <p:cNvPr id="23" name="Text23"/>
          <p:cNvSpPr/>
          <p:nvPr/>
        </p:nvSpPr>
        <p:spPr>
          <a:xfrm>
            <a:off x="260000" y="166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CCCCCC"/>
                </a:solidFill>
                <a:latin typeface="Calibri" pitchFamily="34" charset="0"/>
              </a:rPr>
              <a:t>React.js / Angular</a:t>
            </a:r>
          </a:p>
        </p:txBody>
      </p:sp>
      <p:sp>
        <p:nvSpPr>
          <p:cNvPr id="25" name="Rect25"/>
          <p:cNvSpPr/>
          <p:nvPr/>
        </p:nvSpPr>
        <p:spPr>
          <a:xfrm>
            <a:off x="3150000" y="1280000"/>
            <a:ext cx="2800000" cy="100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Rect26"/>
          <p:cNvSpPr/>
          <p:nvPr/>
        </p:nvSpPr>
        <p:spPr>
          <a:xfrm>
            <a:off x="3150000" y="1280000"/>
            <a:ext cx="8000" cy="10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27"/>
          <p:cNvSpPr/>
          <p:nvPr/>
        </p:nvSpPr>
        <p:spPr>
          <a:xfrm>
            <a:off x="3210000" y="136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Backend</a:t>
            </a:r>
          </a:p>
        </p:txBody>
      </p:sp>
      <p:sp>
        <p:nvSpPr>
          <p:cNvPr id="28" name="Text28"/>
          <p:cNvSpPr/>
          <p:nvPr/>
        </p:nvSpPr>
        <p:spPr>
          <a:xfrm>
            <a:off x="3210000" y="166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CCCCCC"/>
                </a:solidFill>
                <a:latin typeface="Calibri" pitchFamily="34" charset="0"/>
              </a:rPr>
              <a:t>Node.js / Django</a:t>
            </a:r>
          </a:p>
        </p:txBody>
      </p:sp>
      <p:sp>
        <p:nvSpPr>
          <p:cNvPr id="30" name="Rect30"/>
          <p:cNvSpPr/>
          <p:nvPr/>
        </p:nvSpPr>
        <p:spPr>
          <a:xfrm>
            <a:off x="6100000" y="1280000"/>
            <a:ext cx="2800000" cy="100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Rect31"/>
          <p:cNvSpPr/>
          <p:nvPr/>
        </p:nvSpPr>
        <p:spPr>
          <a:xfrm>
            <a:off x="6100000" y="1280000"/>
            <a:ext cx="8000" cy="10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32"/>
          <p:cNvSpPr/>
          <p:nvPr/>
        </p:nvSpPr>
        <p:spPr>
          <a:xfrm>
            <a:off x="6160000" y="136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Base de Datos</a:t>
            </a:r>
          </a:p>
        </p:txBody>
      </p:sp>
      <p:sp>
        <p:nvSpPr>
          <p:cNvPr id="33" name="Text33"/>
          <p:cNvSpPr/>
          <p:nvPr/>
        </p:nvSpPr>
        <p:spPr>
          <a:xfrm>
            <a:off x="6160000" y="166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CCCCCC"/>
                </a:solidFill>
                <a:latin typeface="Calibri" pitchFamily="34" charset="0"/>
              </a:rPr>
              <a:t>PostgreSQL / MySQL</a:t>
            </a:r>
          </a:p>
        </p:txBody>
      </p:sp>
      <p:sp>
        <p:nvSpPr>
          <p:cNvPr id="35" name="Rect35"/>
          <p:cNvSpPr/>
          <p:nvPr/>
        </p:nvSpPr>
        <p:spPr>
          <a:xfrm>
            <a:off x="200000" y="2450000"/>
            <a:ext cx="2800000" cy="100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Rect36"/>
          <p:cNvSpPr/>
          <p:nvPr/>
        </p:nvSpPr>
        <p:spPr>
          <a:xfrm>
            <a:off x="200000" y="2450000"/>
            <a:ext cx="8000" cy="10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37"/>
          <p:cNvSpPr/>
          <p:nvPr/>
        </p:nvSpPr>
        <p:spPr>
          <a:xfrm>
            <a:off x="260000" y="253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Monitoreo</a:t>
            </a:r>
          </a:p>
        </p:txBody>
      </p:sp>
      <p:sp>
        <p:nvSpPr>
          <p:cNvPr id="38" name="Text38"/>
          <p:cNvSpPr/>
          <p:nvPr/>
        </p:nvSpPr>
        <p:spPr>
          <a:xfrm>
            <a:off x="260000" y="283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CCCCCC"/>
                </a:solidFill>
                <a:latin typeface="Calibri" pitchFamily="34" charset="0"/>
              </a:rPr>
              <a:t>SNMP / Zabbix API</a:t>
            </a:r>
          </a:p>
        </p:txBody>
      </p:sp>
      <p:sp>
        <p:nvSpPr>
          <p:cNvPr id="40" name="Rect40"/>
          <p:cNvSpPr/>
          <p:nvPr/>
        </p:nvSpPr>
        <p:spPr>
          <a:xfrm>
            <a:off x="3150000" y="2450000"/>
            <a:ext cx="2800000" cy="100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Rect41"/>
          <p:cNvSpPr/>
          <p:nvPr/>
        </p:nvSpPr>
        <p:spPr>
          <a:xfrm>
            <a:off x="3150000" y="2450000"/>
            <a:ext cx="8000" cy="10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ext42"/>
          <p:cNvSpPr/>
          <p:nvPr/>
        </p:nvSpPr>
        <p:spPr>
          <a:xfrm>
            <a:off x="3210000" y="253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Autenticación</a:t>
            </a:r>
          </a:p>
        </p:txBody>
      </p:sp>
      <p:sp>
        <p:nvSpPr>
          <p:cNvPr id="43" name="Text43"/>
          <p:cNvSpPr/>
          <p:nvPr/>
        </p:nvSpPr>
        <p:spPr>
          <a:xfrm>
            <a:off x="3210000" y="283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CCCCCC"/>
                </a:solidFill>
                <a:latin typeface="Calibri" pitchFamily="34" charset="0"/>
              </a:rPr>
              <a:t>JWT / OAuth 2.0</a:t>
            </a:r>
          </a:p>
        </p:txBody>
      </p:sp>
      <p:sp>
        <p:nvSpPr>
          <p:cNvPr id="45" name="Rect45"/>
          <p:cNvSpPr/>
          <p:nvPr/>
        </p:nvSpPr>
        <p:spPr>
          <a:xfrm>
            <a:off x="6100000" y="2450000"/>
            <a:ext cx="2800000" cy="100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6" name="Rect46"/>
          <p:cNvSpPr/>
          <p:nvPr/>
        </p:nvSpPr>
        <p:spPr>
          <a:xfrm>
            <a:off x="6100000" y="2450000"/>
            <a:ext cx="8000" cy="10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7" name="Text47"/>
          <p:cNvSpPr/>
          <p:nvPr/>
        </p:nvSpPr>
        <p:spPr>
          <a:xfrm>
            <a:off x="6160000" y="253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50" b="1" dirty="0">
                <a:solidFill>
                  <a:srgbClr val="CC0000"/>
                </a:solidFill>
                <a:latin typeface="Calibri" pitchFamily="34" charset="0"/>
              </a:rPr>
              <a:t>Infraestructura</a:t>
            </a:r>
          </a:p>
        </p:txBody>
      </p:sp>
      <p:sp>
        <p:nvSpPr>
          <p:cNvPr id="48" name="Text48"/>
          <p:cNvSpPr/>
          <p:nvPr/>
        </p:nvSpPr>
        <p:spPr>
          <a:xfrm>
            <a:off x="6160000" y="2830000"/>
            <a:ext cx="26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dirty="0">
                <a:solidFill>
                  <a:srgbClr val="CCCCCC"/>
                </a:solidFill>
                <a:latin typeface="Calibri" pitchFamily="34" charset="0"/>
              </a:rPr>
              <a:t>AWS / Azure / On-premise</a:t>
            </a:r>
          </a:p>
        </p:txBody>
      </p:sp>
      <p:sp>
        <p:nvSpPr>
          <p:cNvPr id="60" name="Rect60"/>
          <p:cNvSpPr/>
          <p:nvPr/>
        </p:nvSpPr>
        <p:spPr>
          <a:xfrm>
            <a:off x="200000" y="3590000"/>
            <a:ext cx="8744000" cy="120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Rect61"/>
          <p:cNvSpPr/>
          <p:nvPr/>
        </p:nvSpPr>
        <p:spPr>
          <a:xfrm>
            <a:off x="200000" y="3590000"/>
            <a:ext cx="8000" cy="12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2" name="Text62"/>
          <p:cNvSpPr/>
          <p:nvPr/>
        </p:nvSpPr>
        <p:spPr>
          <a:xfrm>
            <a:off x="320000" y="3640000"/>
            <a:ext cx="84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b="1" dirty="0">
                <a:solidFill>
                  <a:srgbClr val="CC0000"/>
                </a:solidFill>
                <a:latin typeface="Calibri" pitchFamily="34" charset="0"/>
              </a:rPr>
              <a:t>Interacción entre Módulos</a:t>
            </a:r>
          </a:p>
        </p:txBody>
      </p:sp>
      <p:sp>
        <p:nvSpPr>
          <p:cNvPr id="63" name="Text63"/>
          <p:cNvSpPr/>
          <p:nvPr/>
        </p:nvSpPr>
        <p:spPr>
          <a:xfrm>
            <a:off x="320000" y="3940000"/>
            <a:ext cx="84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El Frontend consume APIs REST del Backend. El Backend gestiona la lógica de negocio, procesa datos de monitoreo (SNMP/Zabbix) y persiste en la BD. El módulo de autenticación protege todos los endpoints mediante JWT/OAuth 2.0. La infraestructura cloud permite escalabilidad horizontal.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ect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Prototipo de Interfaz</a:t>
            </a:r>
          </a:p>
        </p:txBody>
      </p:sp>
      <p:sp>
        <p:nvSpPr>
          <p:cNvPr id="5" name="Tex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Mockups del sistema — Diseñado en Figma</a:t>
            </a:r>
          </a:p>
        </p:txBody>
      </p:sp>
      <p:sp>
        <p:nvSpPr>
          <p:cNvPr id="6" name="Tex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16 / 20</a:t>
            </a:r>
          </a:p>
        </p:txBody>
      </p:sp>
      <p:sp>
        <p:nvSpPr>
          <p:cNvPr id="7" name="Rect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10" name="Rect10"/>
          <p:cNvSpPr/>
          <p:nvPr/>
        </p:nvSpPr>
        <p:spPr>
          <a:xfrm>
            <a:off x="200000" y="790000"/>
            <a:ext cx="8000" cy="40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11"/>
          <p:cNvSpPr/>
          <p:nvPr/>
        </p:nvSpPr>
        <p:spPr>
          <a:xfrm>
            <a:off x="2820000" y="631123"/>
            <a:ext cx="4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CC0000"/>
                </a:solidFill>
                <a:latin typeface="Calibri" pitchFamily="34" charset="0"/>
              </a:rPr>
              <a:t>Dashboard Principal</a:t>
            </a:r>
          </a:p>
        </p:txBody>
      </p:sp>
      <p:sp>
        <p:nvSpPr>
          <p:cNvPr id="12" name="Text12"/>
          <p:cNvSpPr/>
          <p:nvPr/>
        </p:nvSpPr>
        <p:spPr>
          <a:xfrm>
            <a:off x="5897500" y="622246"/>
            <a:ext cx="4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CC0000"/>
                </a:solidFill>
                <a:latin typeface="Calibri" pitchFamily="34" charset="0"/>
              </a:rPr>
              <a:t>Gestión de Incidentes</a:t>
            </a:r>
          </a:p>
        </p:txBody>
      </p:sp>
      <p:sp>
        <p:nvSpPr>
          <p:cNvPr id="13" name="Rect13"/>
          <p:cNvSpPr/>
          <p:nvPr/>
        </p:nvSpPr>
        <p:spPr>
          <a:xfrm>
            <a:off x="2737480" y="960000"/>
            <a:ext cx="2990480" cy="3494434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Rect14"/>
          <p:cNvSpPr/>
          <p:nvPr/>
        </p:nvSpPr>
        <p:spPr>
          <a:xfrm>
            <a:off x="5784473" y="952246"/>
            <a:ext cx="3255000" cy="3502188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0" name="Dashboar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7297" y="1333294"/>
            <a:ext cx="2743200" cy="2693411"/>
          </a:xfrm>
          <a:prstGeom prst="rect">
            <a:avLst/>
          </a:prstGeom>
        </p:spPr>
      </p:pic>
      <p:pic>
        <p:nvPicPr>
          <p:cNvPr id="21" name="Incident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2952" y="1272246"/>
            <a:ext cx="3136521" cy="2791708"/>
          </a:xfrm>
          <a:prstGeom prst="rect">
            <a:avLst/>
          </a:prstGeom>
        </p:spPr>
      </p:pic>
      <p:sp>
        <p:nvSpPr>
          <p:cNvPr id="9" name="Rect13">
            <a:extLst>
              <a:ext uri="{FF2B5EF4-FFF2-40B4-BE49-F238E27FC236}">
                <a16:creationId xmlns:a16="http://schemas.microsoft.com/office/drawing/2014/main" id="{4A146EB7-AFB4-4F38-6DFD-F7911F2E97FD}"/>
              </a:ext>
            </a:extLst>
          </p:cNvPr>
          <p:cNvSpPr/>
          <p:nvPr/>
        </p:nvSpPr>
        <p:spPr>
          <a:xfrm>
            <a:off x="422412" y="959999"/>
            <a:ext cx="2258555" cy="3494433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11">
            <a:extLst>
              <a:ext uri="{FF2B5EF4-FFF2-40B4-BE49-F238E27FC236}">
                <a16:creationId xmlns:a16="http://schemas.microsoft.com/office/drawing/2014/main" id="{E8FA1487-BBFF-73E7-8127-518A333EAFA6}"/>
              </a:ext>
            </a:extLst>
          </p:cNvPr>
          <p:cNvSpPr/>
          <p:nvPr/>
        </p:nvSpPr>
        <p:spPr>
          <a:xfrm>
            <a:off x="422412" y="653903"/>
            <a:ext cx="400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 err="1">
                <a:solidFill>
                  <a:srgbClr val="CC0000"/>
                </a:solidFill>
                <a:latin typeface="Calibri" pitchFamily="34" charset="0"/>
              </a:rPr>
              <a:t>Login</a:t>
            </a:r>
            <a:endParaRPr lang="es-ES" sz="1200" b="1" dirty="0">
              <a:solidFill>
                <a:srgbClr val="CC0000"/>
              </a:solidFill>
              <a:latin typeface="Calibri" pitchFamily="34" charset="0"/>
            </a:endParaRP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D2CAECA5-79BA-21FC-426D-28F347292F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57" y="1144754"/>
            <a:ext cx="2084126" cy="288195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ect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Metodología de Desarrollo</a:t>
            </a:r>
          </a:p>
        </p:txBody>
      </p:sp>
      <p:sp>
        <p:nvSpPr>
          <p:cNvPr id="5" name="Tex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Scrum — Justificación, roles y sprints</a:t>
            </a:r>
          </a:p>
        </p:txBody>
      </p:sp>
      <p:sp>
        <p:nvSpPr>
          <p:cNvPr id="6" name="Tex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17 / 20</a:t>
            </a:r>
          </a:p>
        </p:txBody>
      </p:sp>
      <p:sp>
        <p:nvSpPr>
          <p:cNvPr id="7" name="Rect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10" name="Rect10"/>
          <p:cNvSpPr/>
          <p:nvPr/>
        </p:nvSpPr>
        <p:spPr>
          <a:xfrm>
            <a:off x="200000" y="790000"/>
            <a:ext cx="4300000" cy="8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Rect11"/>
          <p:cNvSpPr/>
          <p:nvPr/>
        </p:nvSpPr>
        <p:spPr>
          <a:xfrm>
            <a:off x="200000" y="790000"/>
            <a:ext cx="8000" cy="8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12"/>
          <p:cNvSpPr/>
          <p:nvPr/>
        </p:nvSpPr>
        <p:spPr>
          <a:xfrm>
            <a:off x="310000" y="830000"/>
            <a:ext cx="4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CC0000"/>
                </a:solidFill>
                <a:latin typeface="Calibri" pitchFamily="34" charset="0"/>
              </a:rPr>
              <a:t>¿Por qué Scrum?</a:t>
            </a:r>
          </a:p>
        </p:txBody>
      </p:sp>
      <p:sp>
        <p:nvSpPr>
          <p:cNvPr id="13" name="Text13"/>
          <p:cNvSpPr/>
          <p:nvPr/>
        </p:nvSpPr>
        <p:spPr>
          <a:xfrm>
            <a:off x="310000" y="1130000"/>
            <a:ext cx="41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Requisitos evolutivos, entregas iterativas, feedback continuo y equipo multidisciplinario lo hacen idóneo.</a:t>
            </a:r>
          </a:p>
        </p:txBody>
      </p:sp>
      <p:sp>
        <p:nvSpPr>
          <p:cNvPr id="14" name="Rect14"/>
          <p:cNvSpPr/>
          <p:nvPr/>
        </p:nvSpPr>
        <p:spPr>
          <a:xfrm>
            <a:off x="200000" y="1790000"/>
            <a:ext cx="4300000" cy="290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5" name="Rect15"/>
          <p:cNvSpPr/>
          <p:nvPr/>
        </p:nvSpPr>
        <p:spPr>
          <a:xfrm>
            <a:off x="200000" y="1790000"/>
            <a:ext cx="8000" cy="29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16"/>
          <p:cNvSpPr/>
          <p:nvPr/>
        </p:nvSpPr>
        <p:spPr>
          <a:xfrm>
            <a:off x="310000" y="1840000"/>
            <a:ext cx="40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CC0000"/>
                </a:solidFill>
                <a:latin typeface="Calibri" pitchFamily="34" charset="0"/>
              </a:rPr>
              <a:t>Roles del Equipo</a:t>
            </a:r>
          </a:p>
        </p:txBody>
      </p:sp>
      <p:sp>
        <p:nvSpPr>
          <p:cNvPr id="51" name="Rect51"/>
          <p:cNvSpPr/>
          <p:nvPr/>
        </p:nvSpPr>
        <p:spPr>
          <a:xfrm>
            <a:off x="360000" y="2180000"/>
            <a:ext cx="120000" cy="12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52"/>
          <p:cNvSpPr/>
          <p:nvPr/>
        </p:nvSpPr>
        <p:spPr>
          <a:xfrm>
            <a:off x="550000" y="2150000"/>
            <a:ext cx="37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Product Owner</a:t>
            </a:r>
          </a:p>
        </p:txBody>
      </p:sp>
      <p:sp>
        <p:nvSpPr>
          <p:cNvPr id="56" name="Rect56"/>
          <p:cNvSpPr/>
          <p:nvPr/>
        </p:nvSpPr>
        <p:spPr>
          <a:xfrm>
            <a:off x="360000" y="2620000"/>
            <a:ext cx="120000" cy="12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Text57"/>
          <p:cNvSpPr/>
          <p:nvPr/>
        </p:nvSpPr>
        <p:spPr>
          <a:xfrm>
            <a:off x="550000" y="2590000"/>
            <a:ext cx="37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Scrum Master</a:t>
            </a:r>
          </a:p>
        </p:txBody>
      </p:sp>
      <p:sp>
        <p:nvSpPr>
          <p:cNvPr id="60" name="Rect60"/>
          <p:cNvSpPr/>
          <p:nvPr/>
        </p:nvSpPr>
        <p:spPr>
          <a:xfrm>
            <a:off x="360000" y="3060000"/>
            <a:ext cx="120000" cy="12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Text61"/>
          <p:cNvSpPr/>
          <p:nvPr/>
        </p:nvSpPr>
        <p:spPr>
          <a:xfrm>
            <a:off x="550000" y="3030000"/>
            <a:ext cx="37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Dev Frontend</a:t>
            </a:r>
          </a:p>
        </p:txBody>
      </p:sp>
      <p:sp>
        <p:nvSpPr>
          <p:cNvPr id="65" name="Rect65"/>
          <p:cNvSpPr/>
          <p:nvPr/>
        </p:nvSpPr>
        <p:spPr>
          <a:xfrm>
            <a:off x="360000" y="3500000"/>
            <a:ext cx="120000" cy="12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6" name="Text66"/>
          <p:cNvSpPr/>
          <p:nvPr/>
        </p:nvSpPr>
        <p:spPr>
          <a:xfrm>
            <a:off x="550000" y="3470000"/>
            <a:ext cx="37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Dev Backend</a:t>
            </a:r>
          </a:p>
        </p:txBody>
      </p:sp>
      <p:sp>
        <p:nvSpPr>
          <p:cNvPr id="69" name="Rect69"/>
          <p:cNvSpPr/>
          <p:nvPr/>
        </p:nvSpPr>
        <p:spPr>
          <a:xfrm>
            <a:off x="360000" y="3940000"/>
            <a:ext cx="120000" cy="12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0" name="Text70"/>
          <p:cNvSpPr/>
          <p:nvPr/>
        </p:nvSpPr>
        <p:spPr>
          <a:xfrm>
            <a:off x="550000" y="3910000"/>
            <a:ext cx="3700000" cy="2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QA Tester</a:t>
            </a:r>
          </a:p>
        </p:txBody>
      </p:sp>
      <p:sp>
        <p:nvSpPr>
          <p:cNvPr id="9" name="Rect60"/>
          <p:cNvSpPr/>
          <p:nvPr/>
        </p:nvSpPr>
        <p:spPr>
          <a:xfrm>
            <a:off x="4660000" y="790000"/>
            <a:ext cx="4290000" cy="390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Rect61"/>
          <p:cNvSpPr/>
          <p:nvPr/>
        </p:nvSpPr>
        <p:spPr>
          <a:xfrm>
            <a:off x="4660000" y="790000"/>
            <a:ext cx="8000" cy="39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2" name="Text62"/>
          <p:cNvSpPr/>
          <p:nvPr/>
        </p:nvSpPr>
        <p:spPr>
          <a:xfrm>
            <a:off x="4770000" y="840000"/>
            <a:ext cx="41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CC0000"/>
                </a:solidFill>
                <a:latin typeface="Calibri" pitchFamily="34" charset="0"/>
              </a:rPr>
              <a:t>Fases / Sprints</a:t>
            </a:r>
          </a:p>
        </p:txBody>
      </p:sp>
      <p:sp>
        <p:nvSpPr>
          <p:cNvPr id="18" name="Rect70"/>
          <p:cNvSpPr/>
          <p:nvPr/>
        </p:nvSpPr>
        <p:spPr>
          <a:xfrm>
            <a:off x="4760000" y="1200000"/>
            <a:ext cx="4070000" cy="380000"/>
          </a:xfrm>
          <a:prstGeom prst="rect">
            <a:avLst/>
          </a:prstGeom>
          <a:solidFill>
            <a:srgbClr val="8B0000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1" name="Text71"/>
          <p:cNvSpPr/>
          <p:nvPr/>
        </p:nvSpPr>
        <p:spPr>
          <a:xfrm>
            <a:off x="4820000" y="1240000"/>
            <a:ext cx="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CC0000"/>
                </a:solidFill>
                <a:latin typeface="Calibri" pitchFamily="34" charset="0"/>
              </a:rPr>
              <a:t>Sprint 0</a:t>
            </a:r>
          </a:p>
        </p:txBody>
      </p:sp>
      <p:sp>
        <p:nvSpPr>
          <p:cNvPr id="72" name="Text72"/>
          <p:cNvSpPr/>
          <p:nvPr/>
        </p:nvSpPr>
        <p:spPr>
          <a:xfrm>
            <a:off x="5780000" y="1240000"/>
            <a:ext cx="2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dirty="0">
                <a:solidFill>
                  <a:srgbClr val="CCCCCC"/>
                </a:solidFill>
                <a:latin typeface="Calibri" pitchFamily="34" charset="0"/>
              </a:rPr>
              <a:t>Levantamiento de requisitos, configuración del entorno de desarrollo</a:t>
            </a:r>
          </a:p>
        </p:txBody>
      </p:sp>
      <p:sp>
        <p:nvSpPr>
          <p:cNvPr id="75" name="Rect75"/>
          <p:cNvSpPr/>
          <p:nvPr/>
        </p:nvSpPr>
        <p:spPr>
          <a:xfrm>
            <a:off x="4760000" y="1620000"/>
            <a:ext cx="4070000" cy="380000"/>
          </a:xfrm>
          <a:prstGeom prst="rect">
            <a:avLst/>
          </a:prstGeom>
          <a:solidFill>
            <a:srgbClr val="8B0000">
              <a:alpha val="4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6" name="Text76"/>
          <p:cNvSpPr/>
          <p:nvPr/>
        </p:nvSpPr>
        <p:spPr>
          <a:xfrm>
            <a:off x="4820000" y="1660000"/>
            <a:ext cx="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CC0000"/>
                </a:solidFill>
                <a:latin typeface="Calibri" pitchFamily="34" charset="0"/>
              </a:rPr>
              <a:t>Sprint 1</a:t>
            </a:r>
          </a:p>
        </p:txBody>
      </p:sp>
      <p:sp>
        <p:nvSpPr>
          <p:cNvPr id="77" name="Text77"/>
          <p:cNvSpPr/>
          <p:nvPr/>
        </p:nvSpPr>
        <p:spPr>
          <a:xfrm>
            <a:off x="5780000" y="1660000"/>
            <a:ext cx="2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dirty="0">
                <a:solidFill>
                  <a:srgbClr val="CCCCCC"/>
                </a:solidFill>
                <a:latin typeface="Calibri" pitchFamily="34" charset="0"/>
              </a:rPr>
              <a:t>Módulo de autenticación y gestión de usuarios</a:t>
            </a:r>
          </a:p>
        </p:txBody>
      </p:sp>
      <p:sp>
        <p:nvSpPr>
          <p:cNvPr id="80" name="Rect80"/>
          <p:cNvSpPr/>
          <p:nvPr/>
        </p:nvSpPr>
        <p:spPr>
          <a:xfrm>
            <a:off x="4760000" y="2040000"/>
            <a:ext cx="4070000" cy="380000"/>
          </a:xfrm>
          <a:prstGeom prst="rect">
            <a:avLst/>
          </a:prstGeom>
          <a:solidFill>
            <a:srgbClr val="8B0000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1" name="Text81"/>
          <p:cNvSpPr/>
          <p:nvPr/>
        </p:nvSpPr>
        <p:spPr>
          <a:xfrm>
            <a:off x="4820000" y="2080000"/>
            <a:ext cx="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CC0000"/>
                </a:solidFill>
                <a:latin typeface="Calibri" pitchFamily="34" charset="0"/>
              </a:rPr>
              <a:t>Sprint 2</a:t>
            </a:r>
          </a:p>
        </p:txBody>
      </p:sp>
      <p:sp>
        <p:nvSpPr>
          <p:cNvPr id="82" name="Text82"/>
          <p:cNvSpPr/>
          <p:nvPr/>
        </p:nvSpPr>
        <p:spPr>
          <a:xfrm>
            <a:off x="5780000" y="2080000"/>
            <a:ext cx="2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dirty="0">
                <a:solidFill>
                  <a:srgbClr val="CCCCCC"/>
                </a:solidFill>
                <a:latin typeface="Calibri" pitchFamily="34" charset="0"/>
              </a:rPr>
              <a:t>Dashboard de monitoreo en tiempo real</a:t>
            </a:r>
          </a:p>
        </p:txBody>
      </p:sp>
      <p:sp>
        <p:nvSpPr>
          <p:cNvPr id="85" name="Rect85"/>
          <p:cNvSpPr/>
          <p:nvPr/>
        </p:nvSpPr>
        <p:spPr>
          <a:xfrm>
            <a:off x="4760000" y="2460000"/>
            <a:ext cx="4070000" cy="380000"/>
          </a:xfrm>
          <a:prstGeom prst="rect">
            <a:avLst/>
          </a:prstGeom>
          <a:solidFill>
            <a:srgbClr val="8B0000">
              <a:alpha val="4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6" name="Text86"/>
          <p:cNvSpPr/>
          <p:nvPr/>
        </p:nvSpPr>
        <p:spPr>
          <a:xfrm>
            <a:off x="4820000" y="2500000"/>
            <a:ext cx="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CC0000"/>
                </a:solidFill>
                <a:latin typeface="Calibri" pitchFamily="34" charset="0"/>
              </a:rPr>
              <a:t>Sprint 3</a:t>
            </a:r>
          </a:p>
        </p:txBody>
      </p:sp>
      <p:sp>
        <p:nvSpPr>
          <p:cNvPr id="87" name="Text87"/>
          <p:cNvSpPr/>
          <p:nvPr/>
        </p:nvSpPr>
        <p:spPr>
          <a:xfrm>
            <a:off x="5780000" y="2500000"/>
            <a:ext cx="2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dirty="0">
                <a:solidFill>
                  <a:srgbClr val="CCCCCC"/>
                </a:solidFill>
                <a:latin typeface="Calibri" pitchFamily="34" charset="0"/>
              </a:rPr>
              <a:t>Módulo de gestión de incidentes y alertas</a:t>
            </a:r>
          </a:p>
        </p:txBody>
      </p:sp>
      <p:sp>
        <p:nvSpPr>
          <p:cNvPr id="90" name="Rect90"/>
          <p:cNvSpPr/>
          <p:nvPr/>
        </p:nvSpPr>
        <p:spPr>
          <a:xfrm>
            <a:off x="4760000" y="2880000"/>
            <a:ext cx="4070000" cy="380000"/>
          </a:xfrm>
          <a:prstGeom prst="rect">
            <a:avLst/>
          </a:prstGeom>
          <a:solidFill>
            <a:srgbClr val="8B0000">
              <a:alpha val="8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1" name="Text91"/>
          <p:cNvSpPr/>
          <p:nvPr/>
        </p:nvSpPr>
        <p:spPr>
          <a:xfrm>
            <a:off x="4820000" y="2920000"/>
            <a:ext cx="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CC0000"/>
                </a:solidFill>
                <a:latin typeface="Calibri" pitchFamily="34" charset="0"/>
              </a:rPr>
              <a:t>Sprint 4</a:t>
            </a:r>
          </a:p>
        </p:txBody>
      </p:sp>
      <p:sp>
        <p:nvSpPr>
          <p:cNvPr id="92" name="Text92"/>
          <p:cNvSpPr/>
          <p:nvPr/>
        </p:nvSpPr>
        <p:spPr>
          <a:xfrm>
            <a:off x="5780000" y="2920000"/>
            <a:ext cx="2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dirty="0">
                <a:solidFill>
                  <a:srgbClr val="CCCCCC"/>
                </a:solidFill>
                <a:latin typeface="Calibri" pitchFamily="34" charset="0"/>
              </a:rPr>
              <a:t>Módulo de mantenimientos preventivos</a:t>
            </a:r>
          </a:p>
        </p:txBody>
      </p:sp>
      <p:sp>
        <p:nvSpPr>
          <p:cNvPr id="95" name="Rect95"/>
          <p:cNvSpPr/>
          <p:nvPr/>
        </p:nvSpPr>
        <p:spPr>
          <a:xfrm>
            <a:off x="4760000" y="3300000"/>
            <a:ext cx="4070000" cy="380000"/>
          </a:xfrm>
          <a:prstGeom prst="rect">
            <a:avLst/>
          </a:prstGeom>
          <a:solidFill>
            <a:srgbClr val="8B0000">
              <a:alpha val="40000"/>
            </a:srgb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6" name="Text96"/>
          <p:cNvSpPr/>
          <p:nvPr/>
        </p:nvSpPr>
        <p:spPr>
          <a:xfrm>
            <a:off x="4820000" y="3340000"/>
            <a:ext cx="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000" b="1" dirty="0">
                <a:solidFill>
                  <a:srgbClr val="CC0000"/>
                </a:solidFill>
                <a:latin typeface="Calibri" pitchFamily="34" charset="0"/>
              </a:rPr>
              <a:t>Sprint 5</a:t>
            </a:r>
          </a:p>
        </p:txBody>
      </p:sp>
      <p:sp>
        <p:nvSpPr>
          <p:cNvPr id="97" name="Text97"/>
          <p:cNvSpPr/>
          <p:nvPr/>
        </p:nvSpPr>
        <p:spPr>
          <a:xfrm>
            <a:off x="5780000" y="3340000"/>
            <a:ext cx="29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dirty="0">
                <a:solidFill>
                  <a:srgbClr val="CCCCCC"/>
                </a:solidFill>
                <a:latin typeface="Calibri" pitchFamily="34" charset="0"/>
              </a:rPr>
              <a:t>Reportes, pruebas finales y despliegue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ect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ex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Seguimiento del Proyecto</a:t>
            </a:r>
          </a:p>
        </p:txBody>
      </p:sp>
      <p:sp>
        <p:nvSpPr>
          <p:cNvPr id="5" name="Tex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Scrum — Daily Scrum · Sprint Review · Sprint Retrospective</a:t>
            </a:r>
          </a:p>
        </p:txBody>
      </p:sp>
      <p:sp>
        <p:nvSpPr>
          <p:cNvPr id="6" name="Tex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18 / 20</a:t>
            </a:r>
          </a:p>
        </p:txBody>
      </p:sp>
      <p:sp>
        <p:nvSpPr>
          <p:cNvPr id="7" name="Rect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10" name="Rect10"/>
          <p:cNvSpPr/>
          <p:nvPr/>
        </p:nvSpPr>
        <p:spPr>
          <a:xfrm>
            <a:off x="200000" y="790000"/>
            <a:ext cx="2800000" cy="40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Rect11"/>
          <p:cNvSpPr/>
          <p:nvPr/>
        </p:nvSpPr>
        <p:spPr>
          <a:xfrm>
            <a:off x="200000" y="790000"/>
            <a:ext cx="8000" cy="40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ext12"/>
          <p:cNvSpPr/>
          <p:nvPr/>
        </p:nvSpPr>
        <p:spPr>
          <a:xfrm>
            <a:off x="260000" y="840000"/>
            <a:ext cx="26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dirty="0">
                <a:solidFill>
                  <a:srgbClr val="FFFFFF"/>
                </a:solidFill>
                <a:latin typeface="Calibri" pitchFamily="34" charset="0"/>
              </a:rPr>
              <a:t>📅</a:t>
            </a:r>
          </a:p>
        </p:txBody>
      </p:sp>
      <p:sp>
        <p:nvSpPr>
          <p:cNvPr id="13" name="Text13"/>
          <p:cNvSpPr/>
          <p:nvPr/>
        </p:nvSpPr>
        <p:spPr>
          <a:xfrm>
            <a:off x="260000" y="1240000"/>
            <a:ext cx="26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CC0000"/>
                </a:solidFill>
                <a:latin typeface="Calibri" pitchFamily="34" charset="0"/>
              </a:rPr>
              <a:t>Daily Scrum</a:t>
            </a:r>
          </a:p>
        </p:txBody>
      </p:sp>
      <p:sp>
        <p:nvSpPr>
          <p:cNvPr id="14" name="Text14"/>
          <p:cNvSpPr/>
          <p:nvPr/>
        </p:nvSpPr>
        <p:spPr>
          <a:xfrm>
            <a:off x="260000" y="1560000"/>
            <a:ext cx="26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Reunión diaria de 15 minutos con el equipo de desarrollo.</a:t>
            </a:r>
          </a:p>
        </p:txBody>
      </p:sp>
      <p:sp>
        <p:nvSpPr>
          <p:cNvPr id="15" name="Rect15"/>
          <p:cNvSpPr/>
          <p:nvPr/>
        </p:nvSpPr>
        <p:spPr>
          <a:xfrm>
            <a:off x="260000" y="1960000"/>
            <a:ext cx="2000000" cy="600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6" name="Rect36"/>
          <p:cNvSpPr/>
          <p:nvPr/>
        </p:nvSpPr>
        <p:spPr>
          <a:xfrm>
            <a:off x="260000" y="2100000"/>
            <a:ext cx="100000" cy="1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7" name="Text37"/>
          <p:cNvSpPr/>
          <p:nvPr/>
        </p:nvSpPr>
        <p:spPr>
          <a:xfrm>
            <a:off x="410000" y="2070000"/>
            <a:ext cx="2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dirty="0">
                <a:solidFill>
                  <a:srgbClr val="CCCCCC"/>
                </a:solidFill>
                <a:latin typeface="Calibri" pitchFamily="34" charset="0"/>
              </a:rPr>
              <a:t>¿Qué hice ayer?</a:t>
            </a:r>
          </a:p>
        </p:txBody>
      </p:sp>
      <p:sp>
        <p:nvSpPr>
          <p:cNvPr id="42" name="Rect42"/>
          <p:cNvSpPr/>
          <p:nvPr/>
        </p:nvSpPr>
        <p:spPr>
          <a:xfrm>
            <a:off x="260000" y="2650000"/>
            <a:ext cx="100000" cy="1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3" name="Text43"/>
          <p:cNvSpPr/>
          <p:nvPr/>
        </p:nvSpPr>
        <p:spPr>
          <a:xfrm>
            <a:off x="410000" y="2620000"/>
            <a:ext cx="2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dirty="0">
                <a:solidFill>
                  <a:srgbClr val="CCCCCC"/>
                </a:solidFill>
                <a:latin typeface="Calibri" pitchFamily="34" charset="0"/>
              </a:rPr>
              <a:t>¿Qué haré hoy?</a:t>
            </a:r>
          </a:p>
        </p:txBody>
      </p:sp>
      <p:sp>
        <p:nvSpPr>
          <p:cNvPr id="47" name="Rect47"/>
          <p:cNvSpPr/>
          <p:nvPr/>
        </p:nvSpPr>
        <p:spPr>
          <a:xfrm>
            <a:off x="260000" y="3200000"/>
            <a:ext cx="100000" cy="1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8" name="Text48"/>
          <p:cNvSpPr/>
          <p:nvPr/>
        </p:nvSpPr>
        <p:spPr>
          <a:xfrm>
            <a:off x="410000" y="3170000"/>
            <a:ext cx="2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dirty="0">
                <a:solidFill>
                  <a:srgbClr val="CCCCCC"/>
                </a:solidFill>
                <a:latin typeface="Calibri" pitchFamily="34" charset="0"/>
              </a:rPr>
              <a:t>¿Hay algún impedimento?</a:t>
            </a:r>
          </a:p>
        </p:txBody>
      </p:sp>
      <p:sp>
        <p:nvSpPr>
          <p:cNvPr id="30" name="Rect30"/>
          <p:cNvSpPr/>
          <p:nvPr/>
        </p:nvSpPr>
        <p:spPr>
          <a:xfrm>
            <a:off x="3150000" y="790000"/>
            <a:ext cx="2800000" cy="40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Rect31"/>
          <p:cNvSpPr/>
          <p:nvPr/>
        </p:nvSpPr>
        <p:spPr>
          <a:xfrm>
            <a:off x="3150000" y="790000"/>
            <a:ext cx="8000" cy="40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32"/>
          <p:cNvSpPr/>
          <p:nvPr/>
        </p:nvSpPr>
        <p:spPr>
          <a:xfrm>
            <a:off x="3210000" y="840000"/>
            <a:ext cx="26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dirty="0">
                <a:solidFill>
                  <a:srgbClr val="FFFFFF"/>
                </a:solidFill>
                <a:latin typeface="Calibri" pitchFamily="34" charset="0"/>
              </a:rPr>
              <a:t>🔍</a:t>
            </a:r>
          </a:p>
        </p:txBody>
      </p:sp>
      <p:sp>
        <p:nvSpPr>
          <p:cNvPr id="33" name="Text33"/>
          <p:cNvSpPr/>
          <p:nvPr/>
        </p:nvSpPr>
        <p:spPr>
          <a:xfrm>
            <a:off x="3210000" y="1240000"/>
            <a:ext cx="26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CC0000"/>
                </a:solidFill>
                <a:latin typeface="Calibri" pitchFamily="34" charset="0"/>
              </a:rPr>
              <a:t>Sprint Review</a:t>
            </a:r>
          </a:p>
        </p:txBody>
      </p:sp>
      <p:sp>
        <p:nvSpPr>
          <p:cNvPr id="34" name="Text34"/>
          <p:cNvSpPr/>
          <p:nvPr/>
        </p:nvSpPr>
        <p:spPr>
          <a:xfrm>
            <a:off x="3210000" y="1560000"/>
            <a:ext cx="26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Revisión al final de cada sprint con el Product Owner y stakeholders.</a:t>
            </a:r>
          </a:p>
        </p:txBody>
      </p:sp>
      <p:sp>
        <p:nvSpPr>
          <p:cNvPr id="35" name="Rect35"/>
          <p:cNvSpPr/>
          <p:nvPr/>
        </p:nvSpPr>
        <p:spPr>
          <a:xfrm>
            <a:off x="3210000" y="1960000"/>
            <a:ext cx="2000000" cy="600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6" name="Rect56"/>
          <p:cNvSpPr/>
          <p:nvPr/>
        </p:nvSpPr>
        <p:spPr>
          <a:xfrm>
            <a:off x="3210000" y="2100000"/>
            <a:ext cx="100000" cy="1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7" name="Text57"/>
          <p:cNvSpPr/>
          <p:nvPr/>
        </p:nvSpPr>
        <p:spPr>
          <a:xfrm>
            <a:off x="3360000" y="2070000"/>
            <a:ext cx="2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dirty="0">
                <a:solidFill>
                  <a:srgbClr val="CCCCCC"/>
                </a:solidFill>
                <a:latin typeface="Calibri" pitchFamily="34" charset="0"/>
              </a:rPr>
              <a:t>Demostración de funcionalidades completadas</a:t>
            </a:r>
          </a:p>
        </p:txBody>
      </p:sp>
      <p:sp>
        <p:nvSpPr>
          <p:cNvPr id="62" name="Rect62"/>
          <p:cNvSpPr/>
          <p:nvPr/>
        </p:nvSpPr>
        <p:spPr>
          <a:xfrm>
            <a:off x="3210000" y="2650000"/>
            <a:ext cx="100000" cy="1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3" name="Text63"/>
          <p:cNvSpPr/>
          <p:nvPr/>
        </p:nvSpPr>
        <p:spPr>
          <a:xfrm>
            <a:off x="3360000" y="2620000"/>
            <a:ext cx="2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dirty="0">
                <a:solidFill>
                  <a:srgbClr val="CCCCCC"/>
                </a:solidFill>
                <a:latin typeface="Calibri" pitchFamily="34" charset="0"/>
              </a:rPr>
              <a:t>Validación con criterios de aceptación</a:t>
            </a:r>
          </a:p>
        </p:txBody>
      </p:sp>
      <p:sp>
        <p:nvSpPr>
          <p:cNvPr id="67" name="Rect67"/>
          <p:cNvSpPr/>
          <p:nvPr/>
        </p:nvSpPr>
        <p:spPr>
          <a:xfrm>
            <a:off x="3210000" y="3200000"/>
            <a:ext cx="100000" cy="1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8" name="Text68"/>
          <p:cNvSpPr/>
          <p:nvPr/>
        </p:nvSpPr>
        <p:spPr>
          <a:xfrm>
            <a:off x="3360000" y="3170000"/>
            <a:ext cx="2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dirty="0">
                <a:solidFill>
                  <a:srgbClr val="CCCCCC"/>
                </a:solidFill>
                <a:latin typeface="Calibri" pitchFamily="34" charset="0"/>
              </a:rPr>
              <a:t>Ajuste del Product Backlog según feedback</a:t>
            </a:r>
          </a:p>
        </p:txBody>
      </p:sp>
      <p:sp>
        <p:nvSpPr>
          <p:cNvPr id="50" name="Rect50"/>
          <p:cNvSpPr/>
          <p:nvPr/>
        </p:nvSpPr>
        <p:spPr>
          <a:xfrm>
            <a:off x="6100000" y="790000"/>
            <a:ext cx="2800000" cy="40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Rect51"/>
          <p:cNvSpPr/>
          <p:nvPr/>
        </p:nvSpPr>
        <p:spPr>
          <a:xfrm>
            <a:off x="6100000" y="790000"/>
            <a:ext cx="8000" cy="40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ext52"/>
          <p:cNvSpPr/>
          <p:nvPr/>
        </p:nvSpPr>
        <p:spPr>
          <a:xfrm>
            <a:off x="6160000" y="840000"/>
            <a:ext cx="26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dirty="0">
                <a:solidFill>
                  <a:srgbClr val="FFFFFF"/>
                </a:solidFill>
                <a:latin typeface="Calibri" pitchFamily="34" charset="0"/>
              </a:rPr>
              <a:t>🔄</a:t>
            </a:r>
          </a:p>
        </p:txBody>
      </p:sp>
      <p:sp>
        <p:nvSpPr>
          <p:cNvPr id="53" name="Text53"/>
          <p:cNvSpPr/>
          <p:nvPr/>
        </p:nvSpPr>
        <p:spPr>
          <a:xfrm>
            <a:off x="6160000" y="1240000"/>
            <a:ext cx="260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200" b="1" dirty="0">
                <a:solidFill>
                  <a:srgbClr val="CC0000"/>
                </a:solidFill>
                <a:latin typeface="Calibri" pitchFamily="34" charset="0"/>
              </a:rPr>
              <a:t>Sprint Retrospective</a:t>
            </a:r>
          </a:p>
        </p:txBody>
      </p:sp>
      <p:sp>
        <p:nvSpPr>
          <p:cNvPr id="54" name="Text54"/>
          <p:cNvSpPr/>
          <p:nvPr/>
        </p:nvSpPr>
        <p:spPr>
          <a:xfrm>
            <a:off x="6160000" y="1560000"/>
            <a:ext cx="26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Mejora continua del proceso de trabajo del equipo.</a:t>
            </a:r>
          </a:p>
        </p:txBody>
      </p:sp>
      <p:sp>
        <p:nvSpPr>
          <p:cNvPr id="55" name="Rect55"/>
          <p:cNvSpPr/>
          <p:nvPr/>
        </p:nvSpPr>
        <p:spPr>
          <a:xfrm>
            <a:off x="6160000" y="1960000"/>
            <a:ext cx="2000000" cy="6000"/>
          </a:xfrm>
          <a:prstGeom prst="rect">
            <a:avLst/>
          </a:prstGeom>
          <a:solidFill>
            <a:srgbClr val="999999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6" name="Rect76"/>
          <p:cNvSpPr/>
          <p:nvPr/>
        </p:nvSpPr>
        <p:spPr>
          <a:xfrm>
            <a:off x="6160000" y="2100000"/>
            <a:ext cx="100000" cy="1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7" name="Text77"/>
          <p:cNvSpPr/>
          <p:nvPr/>
        </p:nvSpPr>
        <p:spPr>
          <a:xfrm>
            <a:off x="6310000" y="2070000"/>
            <a:ext cx="2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dirty="0">
                <a:solidFill>
                  <a:srgbClr val="CCCCCC"/>
                </a:solidFill>
                <a:latin typeface="Calibri" pitchFamily="34" charset="0"/>
              </a:rPr>
              <a:t>¿Qué salió bien en el sprint?</a:t>
            </a:r>
          </a:p>
        </p:txBody>
      </p:sp>
      <p:sp>
        <p:nvSpPr>
          <p:cNvPr id="82" name="Rect82"/>
          <p:cNvSpPr/>
          <p:nvPr/>
        </p:nvSpPr>
        <p:spPr>
          <a:xfrm>
            <a:off x="6160000" y="2650000"/>
            <a:ext cx="100000" cy="1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3" name="Text83"/>
          <p:cNvSpPr/>
          <p:nvPr/>
        </p:nvSpPr>
        <p:spPr>
          <a:xfrm>
            <a:off x="6310000" y="2620000"/>
            <a:ext cx="2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dirty="0">
                <a:solidFill>
                  <a:srgbClr val="CCCCCC"/>
                </a:solidFill>
                <a:latin typeface="Calibri" pitchFamily="34" charset="0"/>
              </a:rPr>
              <a:t>¿Qué puede mejorar?</a:t>
            </a:r>
          </a:p>
        </p:txBody>
      </p:sp>
      <p:sp>
        <p:nvSpPr>
          <p:cNvPr id="87" name="Rect87"/>
          <p:cNvSpPr/>
          <p:nvPr/>
        </p:nvSpPr>
        <p:spPr>
          <a:xfrm>
            <a:off x="6160000" y="3200000"/>
            <a:ext cx="100000" cy="1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8" name="Text88"/>
          <p:cNvSpPr/>
          <p:nvPr/>
        </p:nvSpPr>
        <p:spPr>
          <a:xfrm>
            <a:off x="6310000" y="3170000"/>
            <a:ext cx="25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850" dirty="0">
                <a:solidFill>
                  <a:srgbClr val="CCCCCC"/>
                </a:solidFill>
                <a:latin typeface="Calibri" pitchFamily="34" charset="0"/>
              </a:rPr>
              <a:t>Plan de acción para el siguiente sprint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Beneficios de la Solución</a:t>
            </a:r>
          </a:p>
        </p:txBody>
      </p:sp>
      <p:sp>
        <p:nvSpPr>
          <p:cNvPr id="5" name="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Impacto esperado con la implementación del sistema</a:t>
            </a:r>
          </a:p>
        </p:txBody>
      </p:sp>
      <p:sp>
        <p:nvSpPr>
          <p:cNvPr id="6" name="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20 / 20</a:t>
            </a:r>
          </a:p>
        </p:txBody>
      </p:sp>
      <p:sp>
        <p:nvSpPr>
          <p:cNvPr id="7" name="R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10" name="R10"/>
          <p:cNvSpPr/>
          <p:nvPr/>
        </p:nvSpPr>
        <p:spPr>
          <a:xfrm>
            <a:off x="200000" y="790000"/>
            <a:ext cx="2800000" cy="17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R11"/>
          <p:cNvSpPr/>
          <p:nvPr/>
        </p:nvSpPr>
        <p:spPr>
          <a:xfrm>
            <a:off x="200000" y="790000"/>
            <a:ext cx="8000" cy="17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12"/>
          <p:cNvSpPr/>
          <p:nvPr/>
        </p:nvSpPr>
        <p:spPr>
          <a:xfrm>
            <a:off x="280000" y="890000"/>
            <a:ext cx="6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dirty="0">
                <a:solidFill>
                  <a:srgbClr val="FFFFFF"/>
                </a:solidFill>
                <a:latin typeface="Calibri" pitchFamily="34" charset="0"/>
              </a:rPr>
              <a:t>📉</a:t>
            </a:r>
          </a:p>
        </p:txBody>
      </p:sp>
      <p:sp>
        <p:nvSpPr>
          <p:cNvPr id="13" name="T13"/>
          <p:cNvSpPr/>
          <p:nvPr/>
        </p:nvSpPr>
        <p:spPr>
          <a:xfrm>
            <a:off x="280000" y="1290000"/>
            <a:ext cx="2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CC0000"/>
                </a:solidFill>
                <a:latin typeface="Calibri" pitchFamily="34" charset="0"/>
              </a:rPr>
              <a:t>−70%</a:t>
            </a:r>
          </a:p>
        </p:txBody>
      </p:sp>
      <p:sp>
        <p:nvSpPr>
          <p:cNvPr id="14" name="T14"/>
          <p:cNvSpPr/>
          <p:nvPr/>
        </p:nvSpPr>
        <p:spPr>
          <a:xfrm>
            <a:off x="280000" y="1890000"/>
            <a:ext cx="2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Tiempo de diagnóstico de fallas</a:t>
            </a:r>
          </a:p>
        </p:txBody>
      </p:sp>
      <p:sp>
        <p:nvSpPr>
          <p:cNvPr id="20" name="R20"/>
          <p:cNvSpPr/>
          <p:nvPr/>
        </p:nvSpPr>
        <p:spPr>
          <a:xfrm>
            <a:off x="3150000" y="790000"/>
            <a:ext cx="2800000" cy="17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R21"/>
          <p:cNvSpPr/>
          <p:nvPr/>
        </p:nvSpPr>
        <p:spPr>
          <a:xfrm>
            <a:off x="3150000" y="790000"/>
            <a:ext cx="8000" cy="17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22"/>
          <p:cNvSpPr/>
          <p:nvPr/>
        </p:nvSpPr>
        <p:spPr>
          <a:xfrm>
            <a:off x="3230000" y="890000"/>
            <a:ext cx="6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dirty="0">
                <a:solidFill>
                  <a:srgbClr val="FFFFFF"/>
                </a:solidFill>
                <a:latin typeface="Calibri" pitchFamily="34" charset="0"/>
              </a:rPr>
              <a:t>📡</a:t>
            </a:r>
          </a:p>
        </p:txBody>
      </p:sp>
      <p:sp>
        <p:nvSpPr>
          <p:cNvPr id="23" name="T23"/>
          <p:cNvSpPr/>
          <p:nvPr/>
        </p:nvSpPr>
        <p:spPr>
          <a:xfrm>
            <a:off x="3230000" y="1290000"/>
            <a:ext cx="2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CC0000"/>
                </a:solidFill>
                <a:latin typeface="Calibri" pitchFamily="34" charset="0"/>
              </a:rPr>
              <a:t>99.5%</a:t>
            </a:r>
          </a:p>
        </p:txBody>
      </p:sp>
      <p:sp>
        <p:nvSpPr>
          <p:cNvPr id="24" name="T24"/>
          <p:cNvSpPr/>
          <p:nvPr/>
        </p:nvSpPr>
        <p:spPr>
          <a:xfrm>
            <a:off x="3230000" y="1890000"/>
            <a:ext cx="2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Disponibilidad del servicio garantizada</a:t>
            </a:r>
          </a:p>
        </p:txBody>
      </p:sp>
      <p:sp>
        <p:nvSpPr>
          <p:cNvPr id="30" name="R30"/>
          <p:cNvSpPr/>
          <p:nvPr/>
        </p:nvSpPr>
        <p:spPr>
          <a:xfrm>
            <a:off x="6100000" y="790000"/>
            <a:ext cx="2800000" cy="17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R31"/>
          <p:cNvSpPr/>
          <p:nvPr/>
        </p:nvSpPr>
        <p:spPr>
          <a:xfrm>
            <a:off x="6100000" y="790000"/>
            <a:ext cx="8000" cy="17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32"/>
          <p:cNvSpPr/>
          <p:nvPr/>
        </p:nvSpPr>
        <p:spPr>
          <a:xfrm>
            <a:off x="6180000" y="890000"/>
            <a:ext cx="6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dirty="0">
                <a:solidFill>
                  <a:srgbClr val="FFFFFF"/>
                </a:solidFill>
                <a:latin typeface="Calibri" pitchFamily="34" charset="0"/>
              </a:rPr>
              <a:t>⚡</a:t>
            </a:r>
          </a:p>
        </p:txBody>
      </p:sp>
      <p:sp>
        <p:nvSpPr>
          <p:cNvPr id="33" name="T33"/>
          <p:cNvSpPr/>
          <p:nvPr/>
        </p:nvSpPr>
        <p:spPr>
          <a:xfrm>
            <a:off x="6180000" y="1290000"/>
            <a:ext cx="2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CC0000"/>
                </a:solidFill>
                <a:latin typeface="Calibri" pitchFamily="34" charset="0"/>
              </a:rPr>
              <a:t>Tiempo Real</a:t>
            </a:r>
          </a:p>
        </p:txBody>
      </p:sp>
      <p:sp>
        <p:nvSpPr>
          <p:cNvPr id="34" name="T34"/>
          <p:cNvSpPr/>
          <p:nvPr/>
        </p:nvSpPr>
        <p:spPr>
          <a:xfrm>
            <a:off x="6180000" y="1890000"/>
            <a:ext cx="2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Monitoreo centralizado e integrado</a:t>
            </a:r>
          </a:p>
        </p:txBody>
      </p:sp>
      <p:sp>
        <p:nvSpPr>
          <p:cNvPr id="40" name="R40"/>
          <p:cNvSpPr/>
          <p:nvPr/>
        </p:nvSpPr>
        <p:spPr>
          <a:xfrm>
            <a:off x="200000" y="2680000"/>
            <a:ext cx="2800000" cy="17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1" name="R41"/>
          <p:cNvSpPr/>
          <p:nvPr/>
        </p:nvSpPr>
        <p:spPr>
          <a:xfrm>
            <a:off x="200000" y="2680000"/>
            <a:ext cx="8000" cy="17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2" name="T42"/>
          <p:cNvSpPr/>
          <p:nvPr/>
        </p:nvSpPr>
        <p:spPr>
          <a:xfrm>
            <a:off x="280000" y="2780000"/>
            <a:ext cx="6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dirty="0">
                <a:solidFill>
                  <a:srgbClr val="FFFFFF"/>
                </a:solidFill>
                <a:latin typeface="Calibri" pitchFamily="34" charset="0"/>
              </a:rPr>
              <a:t>😊</a:t>
            </a:r>
          </a:p>
        </p:txBody>
      </p:sp>
      <p:sp>
        <p:nvSpPr>
          <p:cNvPr id="43" name="T43"/>
          <p:cNvSpPr/>
          <p:nvPr/>
        </p:nvSpPr>
        <p:spPr>
          <a:xfrm>
            <a:off x="280000" y="3180000"/>
            <a:ext cx="2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CC0000"/>
                </a:solidFill>
                <a:latin typeface="Calibri" pitchFamily="34" charset="0"/>
              </a:rPr>
              <a:t>−60%</a:t>
            </a:r>
          </a:p>
        </p:txBody>
      </p:sp>
      <p:sp>
        <p:nvSpPr>
          <p:cNvPr id="44" name="T44"/>
          <p:cNvSpPr/>
          <p:nvPr/>
        </p:nvSpPr>
        <p:spPr>
          <a:xfrm>
            <a:off x="280000" y="3780000"/>
            <a:ext cx="2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Reclamos de clientes esperados</a:t>
            </a:r>
          </a:p>
        </p:txBody>
      </p:sp>
      <p:sp>
        <p:nvSpPr>
          <p:cNvPr id="50" name="R50"/>
          <p:cNvSpPr/>
          <p:nvPr/>
        </p:nvSpPr>
        <p:spPr>
          <a:xfrm>
            <a:off x="3150000" y="2680000"/>
            <a:ext cx="2800000" cy="17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1" name="R51"/>
          <p:cNvSpPr/>
          <p:nvPr/>
        </p:nvSpPr>
        <p:spPr>
          <a:xfrm>
            <a:off x="3150000" y="2680000"/>
            <a:ext cx="8000" cy="17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2" name="T52"/>
          <p:cNvSpPr/>
          <p:nvPr/>
        </p:nvSpPr>
        <p:spPr>
          <a:xfrm>
            <a:off x="3230000" y="2780000"/>
            <a:ext cx="6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dirty="0">
                <a:solidFill>
                  <a:srgbClr val="FFFFFF"/>
                </a:solidFill>
                <a:latin typeface="Calibri" pitchFamily="34" charset="0"/>
              </a:rPr>
              <a:t>🛠️</a:t>
            </a:r>
          </a:p>
        </p:txBody>
      </p:sp>
      <p:sp>
        <p:nvSpPr>
          <p:cNvPr id="53" name="T53"/>
          <p:cNvSpPr/>
          <p:nvPr/>
        </p:nvSpPr>
        <p:spPr>
          <a:xfrm>
            <a:off x="3230000" y="3180000"/>
            <a:ext cx="2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CC0000"/>
                </a:solidFill>
                <a:latin typeface="Calibri" pitchFamily="34" charset="0"/>
              </a:rPr>
              <a:t>100%</a:t>
            </a:r>
          </a:p>
        </p:txBody>
      </p:sp>
      <p:sp>
        <p:nvSpPr>
          <p:cNvPr id="54" name="T54"/>
          <p:cNvSpPr/>
          <p:nvPr/>
        </p:nvSpPr>
        <p:spPr>
          <a:xfrm>
            <a:off x="3230000" y="3780000"/>
            <a:ext cx="2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Mantenimientos preventivos programados</a:t>
            </a:r>
          </a:p>
        </p:txBody>
      </p:sp>
      <p:sp>
        <p:nvSpPr>
          <p:cNvPr id="60" name="R60"/>
          <p:cNvSpPr/>
          <p:nvPr/>
        </p:nvSpPr>
        <p:spPr>
          <a:xfrm>
            <a:off x="6100000" y="2680000"/>
            <a:ext cx="2800000" cy="175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1" name="R61"/>
          <p:cNvSpPr/>
          <p:nvPr/>
        </p:nvSpPr>
        <p:spPr>
          <a:xfrm>
            <a:off x="6100000" y="2680000"/>
            <a:ext cx="8000" cy="175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2" name="T62"/>
          <p:cNvSpPr/>
          <p:nvPr/>
        </p:nvSpPr>
        <p:spPr>
          <a:xfrm>
            <a:off x="6180000" y="2780000"/>
            <a:ext cx="600000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dirty="0">
                <a:solidFill>
                  <a:srgbClr val="FFFFFF"/>
                </a:solidFill>
                <a:latin typeface="Calibri" pitchFamily="34" charset="0"/>
              </a:rPr>
              <a:t>📊</a:t>
            </a:r>
          </a:p>
        </p:txBody>
      </p:sp>
      <p:sp>
        <p:nvSpPr>
          <p:cNvPr id="63" name="T63"/>
          <p:cNvSpPr/>
          <p:nvPr/>
        </p:nvSpPr>
        <p:spPr>
          <a:xfrm>
            <a:off x="6180000" y="3180000"/>
            <a:ext cx="2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dirty="0">
                <a:solidFill>
                  <a:srgbClr val="CC0000"/>
                </a:solidFill>
                <a:latin typeface="Calibri" pitchFamily="34" charset="0"/>
              </a:rPr>
              <a:t>Automático</a:t>
            </a:r>
          </a:p>
        </p:txBody>
      </p:sp>
      <p:sp>
        <p:nvSpPr>
          <p:cNvPr id="64" name="T64"/>
          <p:cNvSpPr/>
          <p:nvPr/>
        </p:nvSpPr>
        <p:spPr>
          <a:xfrm>
            <a:off x="6180000" y="3780000"/>
            <a:ext cx="2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00" dirty="0">
                <a:solidFill>
                  <a:srgbClr val="CCCCCC"/>
                </a:solidFill>
                <a:latin typeface="Calibri" pitchFamily="34" charset="0"/>
              </a:rPr>
              <a:t>Generación de reportes de disponibilidad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2"/>
          <p:cNvSpPr/>
          <p:nvPr/>
        </p:nvSpPr>
        <p:spPr>
          <a:xfrm>
            <a:off x="0" y="0"/>
            <a:ext cx="9144000" cy="730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R3"/>
          <p:cNvSpPr/>
          <p:nvPr/>
        </p:nvSpPr>
        <p:spPr>
          <a:xfrm>
            <a:off x="0" y="0"/>
            <a:ext cx="180000" cy="73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T4"/>
          <p:cNvSpPr/>
          <p:nvPr/>
        </p:nvSpPr>
        <p:spPr>
          <a:xfrm>
            <a:off x="250000" y="80000"/>
            <a:ext cx="6500000" cy="3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200" b="1" dirty="0">
                <a:solidFill>
                  <a:srgbClr val="FFFFFF"/>
                </a:solidFill>
                <a:latin typeface="Calibri" pitchFamily="34" charset="0"/>
              </a:rPr>
              <a:t>Conclusiones</a:t>
            </a:r>
          </a:p>
        </p:txBody>
      </p:sp>
      <p:sp>
        <p:nvSpPr>
          <p:cNvPr id="5" name="T5"/>
          <p:cNvSpPr/>
          <p:nvPr/>
        </p:nvSpPr>
        <p:spPr>
          <a:xfrm>
            <a:off x="250000" y="430000"/>
            <a:ext cx="65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100" dirty="0">
                <a:solidFill>
                  <a:srgbClr val="CC0000"/>
                </a:solidFill>
                <a:latin typeface="Calibri" pitchFamily="34" charset="0"/>
              </a:rPr>
              <a:t>TeleAndes Comunicaciones · Ingeniería de Software · SENATI 2026</a:t>
            </a:r>
          </a:p>
        </p:txBody>
      </p:sp>
      <p:sp>
        <p:nvSpPr>
          <p:cNvPr id="6" name="T6"/>
          <p:cNvSpPr/>
          <p:nvPr/>
        </p:nvSpPr>
        <p:spPr>
          <a:xfrm>
            <a:off x="8200000" y="280000"/>
            <a:ext cx="8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21 / 20</a:t>
            </a:r>
          </a:p>
        </p:txBody>
      </p:sp>
      <p:sp>
        <p:nvSpPr>
          <p:cNvPr id="7" name="R7"/>
          <p:cNvSpPr/>
          <p:nvPr/>
        </p:nvSpPr>
        <p:spPr>
          <a:xfrm>
            <a:off x="0" y="4970000"/>
            <a:ext cx="9144000" cy="178000"/>
          </a:xfrm>
          <a:prstGeom prst="rect">
            <a:avLst/>
          </a:prstGeom>
          <a:solidFill>
            <a:srgbClr val="0D0D0D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8"/>
          <p:cNvSpPr/>
          <p:nvPr/>
        </p:nvSpPr>
        <p:spPr>
          <a:xfrm>
            <a:off x="250000" y="4985000"/>
            <a:ext cx="7000000" cy="1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700" dirty="0">
                <a:solidFill>
                  <a:srgbClr val="999999"/>
                </a:solidFill>
                <a:latin typeface="Calibri" pitchFamily="34" charset="0"/>
              </a:rPr>
              <a:t>Caso 5 · TeleAndes Comunicaciones · SENATI 2026</a:t>
            </a:r>
          </a:p>
        </p:txBody>
      </p:sp>
      <p:sp>
        <p:nvSpPr>
          <p:cNvPr id="10" name="R10"/>
          <p:cNvSpPr/>
          <p:nvPr/>
        </p:nvSpPr>
        <p:spPr>
          <a:xfrm>
            <a:off x="200000" y="820000"/>
            <a:ext cx="8744000" cy="170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R11"/>
          <p:cNvSpPr/>
          <p:nvPr/>
        </p:nvSpPr>
        <p:spPr>
          <a:xfrm>
            <a:off x="200000" y="820000"/>
            <a:ext cx="8000" cy="17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2" name="T12"/>
          <p:cNvSpPr/>
          <p:nvPr/>
        </p:nvSpPr>
        <p:spPr>
          <a:xfrm>
            <a:off x="280000" y="900000"/>
            <a:ext cx="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4400" b="1" dirty="0">
                <a:solidFill>
                  <a:srgbClr val="CC0000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3" name="T13"/>
          <p:cNvSpPr/>
          <p:nvPr/>
        </p:nvSpPr>
        <p:spPr>
          <a:xfrm>
            <a:off x="900000" y="920000"/>
            <a:ext cx="79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dirty="0">
                <a:solidFill>
                  <a:srgbClr val="FFFFFF"/>
                </a:solidFill>
                <a:latin typeface="Calibri" pitchFamily="34" charset="0"/>
              </a:rPr>
              <a:t>La centralización como clave de eficiencia</a:t>
            </a:r>
          </a:p>
        </p:txBody>
      </p:sp>
      <p:sp>
        <p:nvSpPr>
          <p:cNvPr id="14" name="T14"/>
          <p:cNvSpPr/>
          <p:nvPr/>
        </p:nvSpPr>
        <p:spPr>
          <a:xfrm>
            <a:off x="900000" y="1270000"/>
            <a:ext cx="79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La implementación de una plataforma centralizada de monitoreo permitirá a TeleAndes reducir drásticamente los tiempos de respuesta ante fallas, pasando de un proceso manual de horas a una detección y asignación automática en minutos.</a:t>
            </a:r>
          </a:p>
        </p:txBody>
      </p:sp>
      <p:sp>
        <p:nvSpPr>
          <p:cNvPr id="20" name="R20"/>
          <p:cNvSpPr/>
          <p:nvPr/>
        </p:nvSpPr>
        <p:spPr>
          <a:xfrm>
            <a:off x="200000" y="2720000"/>
            <a:ext cx="8744000" cy="1700000"/>
          </a:xfrm>
          <a:prstGeom prst="rect">
            <a:avLst/>
          </a:prstGeom>
          <a:solidFill>
            <a:srgbClr val="16161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1" name="R21"/>
          <p:cNvSpPr/>
          <p:nvPr/>
        </p:nvSpPr>
        <p:spPr>
          <a:xfrm>
            <a:off x="200000" y="2720000"/>
            <a:ext cx="8000" cy="1700000"/>
          </a:xfrm>
          <a:prstGeom prst="rect">
            <a:avLst/>
          </a:prstGeom>
          <a:solidFill>
            <a:srgbClr val="CC0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T22"/>
          <p:cNvSpPr/>
          <p:nvPr/>
        </p:nvSpPr>
        <p:spPr>
          <a:xfrm>
            <a:off x="280000" y="2800000"/>
            <a:ext cx="5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4400" b="1" dirty="0">
                <a:solidFill>
                  <a:srgbClr val="CC0000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23" name="T23"/>
          <p:cNvSpPr/>
          <p:nvPr/>
        </p:nvSpPr>
        <p:spPr>
          <a:xfrm>
            <a:off x="900000" y="2820000"/>
            <a:ext cx="790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1300" b="1" dirty="0">
                <a:solidFill>
                  <a:srgbClr val="FFFFFF"/>
                </a:solidFill>
                <a:latin typeface="Calibri" pitchFamily="34" charset="0"/>
              </a:rPr>
              <a:t>Una solución sostenible y escalable</a:t>
            </a:r>
          </a:p>
        </p:txBody>
      </p:sp>
      <p:sp>
        <p:nvSpPr>
          <p:cNvPr id="24" name="T24"/>
          <p:cNvSpPr/>
          <p:nvPr/>
        </p:nvSpPr>
        <p:spPr>
          <a:xfrm>
            <a:off x="900000" y="3170000"/>
            <a:ext cx="79000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950" dirty="0">
                <a:solidFill>
                  <a:srgbClr val="CCCCCC"/>
                </a:solidFill>
                <a:latin typeface="Calibri" pitchFamily="34" charset="0"/>
              </a:rPr>
              <a:t>El sistema propuesto, desarrollado bajo metodología Scrum y con una arquitectura escalable, establece una base tecnológica sólida que permitirá a la empresa crecer y adaptarse a nuevas necesidades sin comprometer la disponibilidad del servicio.</a:t>
            </a:r>
          </a:p>
        </p:txBody>
      </p:sp>
      <p:sp>
        <p:nvSpPr>
          <p:cNvPr id="50" name="T50"/>
          <p:cNvSpPr/>
          <p:nvPr/>
        </p:nvSpPr>
        <p:spPr>
          <a:xfrm>
            <a:off x="200000" y="4640000"/>
            <a:ext cx="8744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900" dirty="0">
                <a:solidFill>
                  <a:srgbClr val="999999"/>
                </a:solidFill>
                <a:latin typeface="Calibri" pitchFamily="34" charset="0"/>
              </a:rPr>
              <a:t>TeleAndes Comunicaciones  ·  Ingeniería de Software  ·  SENATI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273</TotalTime>
  <Words>1410</Words>
  <Application>Microsoft Office PowerPoint</Application>
  <PresentationFormat>Presentación en pantalla (16:9)</PresentationFormat>
  <Paragraphs>284</Paragraphs>
  <Slides>20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TeleAndes Comunicaciones - Gestión de Infraestructura</dc:title>
  <dc:subject>PptxGenJS Presentation</dc:subject>
  <dc:creator>PptxGenJS</dc:creator>
  <cp:lastModifiedBy>PALOMINO SANCHEZ, MOISÉS RODOLFO</cp:lastModifiedBy>
  <cp:revision>5</cp:revision>
  <dcterms:created xsi:type="dcterms:W3CDTF">2026-04-07T17:04:39Z</dcterms:created>
  <dcterms:modified xsi:type="dcterms:W3CDTF">2026-04-08T20:51:41Z</dcterms:modified>
</cp:coreProperties>
</file>